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notesSlides/notesSlide6.xml" ContentType="application/vnd.openxmlformats-officedocument.presentationml.notesSlide+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notesSlides/notesSlide7.xml" ContentType="application/vnd.openxmlformats-officedocument.presentationml.notesSlide+xml"/>
  <Override PartName="/ppt/tags/tag54.xml" ContentType="application/vnd.openxmlformats-officedocument.presentationml.tags+xml"/>
  <Override PartName="/ppt/notesSlides/notesSlide8.xml" ContentType="application/vnd.openxmlformats-officedocument.presentationml.notesSlide+xml"/>
  <Override PartName="/ppt/tags/tag55.xml" ContentType="application/vnd.openxmlformats-officedocument.presentationml.tags+xml"/>
  <Override PartName="/ppt/notesSlides/notesSlide9.xml" ContentType="application/vnd.openxmlformats-officedocument.presentationml.notesSlide+xml"/>
  <Override PartName="/ppt/tags/tag56.xml" ContentType="application/vnd.openxmlformats-officedocument.presentationml.tags+xml"/>
  <Override PartName="/ppt/notesSlides/notesSlide10.xml" ContentType="application/vnd.openxmlformats-officedocument.presentationml.notesSlide+xml"/>
  <Override PartName="/ppt/tags/tag57.xml" ContentType="application/vnd.openxmlformats-officedocument.presentationml.tags+xml"/>
  <Override PartName="/ppt/notesSlides/notesSlide11.xml" ContentType="application/vnd.openxmlformats-officedocument.presentationml.notesSlide+xml"/>
  <Override PartName="/ppt/tags/tag58.xml" ContentType="application/vnd.openxmlformats-officedocument.presentationml.tags+xml"/>
  <Override PartName="/ppt/notesSlides/notesSlide12.xml" ContentType="application/vnd.openxmlformats-officedocument.presentationml.notesSlide+xml"/>
  <Override PartName="/ppt/tags/tag59.xml" ContentType="application/vnd.openxmlformats-officedocument.presentationml.tags+xml"/>
  <Override PartName="/ppt/notesSlides/notesSlide13.xml" ContentType="application/vnd.openxmlformats-officedocument.presentationml.notesSlide+xml"/>
  <Override PartName="/ppt/tags/tag60.xml" ContentType="application/vnd.openxmlformats-officedocument.presentationml.tags+xml"/>
  <Override PartName="/ppt/notesSlides/notesSlide14.xml" ContentType="application/vnd.openxmlformats-officedocument.presentationml.notesSlide+xml"/>
  <Override PartName="/ppt/tags/tag61.xml" ContentType="application/vnd.openxmlformats-officedocument.presentationml.tags+xml"/>
  <Override PartName="/ppt/notesSlides/notesSlide15.xml" ContentType="application/vnd.openxmlformats-officedocument.presentationml.notesSlide+xml"/>
  <Override PartName="/ppt/tags/tag62.xml" ContentType="application/vnd.openxmlformats-officedocument.presentationml.tags+xml"/>
  <Override PartName="/ppt/notesSlides/notesSlide16.xml" ContentType="application/vnd.openxmlformats-officedocument.presentationml.notesSlide+xml"/>
  <Override PartName="/ppt/tags/tag63.xml" ContentType="application/vnd.openxmlformats-officedocument.presentationml.tags+xml"/>
  <Override PartName="/ppt/notesSlides/notesSlide17.xml" ContentType="application/vnd.openxmlformats-officedocument.presentationml.notesSlide+xml"/>
  <Override PartName="/ppt/tags/tag64.xml" ContentType="application/vnd.openxmlformats-officedocument.presentationml.tags+xml"/>
  <Override PartName="/ppt/notesSlides/notesSlide18.xml" ContentType="application/vnd.openxmlformats-officedocument.presentationml.notesSlide+xml"/>
  <Override PartName="/ppt/tags/tag65.xml" ContentType="application/vnd.openxmlformats-officedocument.presentationml.tags+xml"/>
  <Override PartName="/ppt/notesSlides/notesSlide19.xml" ContentType="application/vnd.openxmlformats-officedocument.presentationml.notesSlide+xml"/>
  <Override PartName="/ppt/tags/tag66.xml" ContentType="application/vnd.openxmlformats-officedocument.presentationml.tags+xml"/>
  <Override PartName="/ppt/notesSlides/notesSlide20.xml" ContentType="application/vnd.openxmlformats-officedocument.presentationml.notesSlide+xml"/>
  <Override PartName="/ppt/tags/tag67.xml" ContentType="application/vnd.openxmlformats-officedocument.presentationml.tags+xml"/>
  <Override PartName="/ppt/notesSlides/notesSlide21.xml" ContentType="application/vnd.openxmlformats-officedocument.presentationml.notesSlide+xml"/>
  <Override PartName="/ppt/tags/tag68.xml" ContentType="application/vnd.openxmlformats-officedocument.presentationml.tags+xml"/>
  <Override PartName="/ppt/notesSlides/notesSlide22.xml" ContentType="application/vnd.openxmlformats-officedocument.presentationml.notesSlide+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notesSlides/notesSlide23.xml" ContentType="application/vnd.openxmlformats-officedocument.presentationml.notesSlide+xml"/>
  <Override PartName="/ppt/tags/tag74.xml" ContentType="application/vnd.openxmlformats-officedocument.presentationml.tags+xml"/>
  <Override PartName="/ppt/tags/tag75.xml" ContentType="application/vnd.openxmlformats-officedocument.presentationml.tags+xml"/>
  <Override PartName="/ppt/notesSlides/notesSlide24.xml" ContentType="application/vnd.openxmlformats-officedocument.presentationml.notesSlide+xml"/>
  <Override PartName="/ppt/tags/tag76.xml" ContentType="application/vnd.openxmlformats-officedocument.presentationml.tags+xml"/>
  <Override PartName="/ppt/notesSlides/notesSlide25.xml" ContentType="application/vnd.openxmlformats-officedocument.presentationml.notesSlide+xml"/>
  <Override PartName="/ppt/tags/tag77.xml" ContentType="application/vnd.openxmlformats-officedocument.presentationml.tags+xml"/>
  <Override PartName="/ppt/notesSlides/notesSlide26.xml" ContentType="application/vnd.openxmlformats-officedocument.presentationml.notesSlide+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notesSlides/notesSlide27.xml" ContentType="application/vnd.openxmlformats-officedocument.presentationml.notesSlide+xml"/>
  <Override PartName="/ppt/tags/tag82.xml" ContentType="application/vnd.openxmlformats-officedocument.presentationml.tags+xml"/>
  <Override PartName="/ppt/notesSlides/notesSlide28.xml" ContentType="application/vnd.openxmlformats-officedocument.presentationml.notesSlide+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notesSlides/notesSlide29.xml" ContentType="application/vnd.openxmlformats-officedocument.presentationml.notesSlide+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notesSlides/notesSlide30.xml" ContentType="application/vnd.openxmlformats-officedocument.presentationml.notesSlide+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notesSlides/notesSlide31.xml" ContentType="application/vnd.openxmlformats-officedocument.presentationml.notesSlide+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notesSlides/notesSlide32.xml" ContentType="application/vnd.openxmlformats-officedocument.presentationml.notesSlide+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notesSlides/notesSlide33.xml" ContentType="application/vnd.openxmlformats-officedocument.presentationml.notesSlide+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notesSlides/notesSlide34.xml" ContentType="application/vnd.openxmlformats-officedocument.presentationml.notesSlide+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notesSlides/notesSlide35.xml" ContentType="application/vnd.openxmlformats-officedocument.presentationml.notesSlide+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notesSlides/notesSlide36.xml" ContentType="application/vnd.openxmlformats-officedocument.presentationml.notesSlide+xml"/>
  <Override PartName="/ppt/tags/tag222.xml" ContentType="application/vnd.openxmlformats-officedocument.presentationml.tags+xml"/>
  <Override PartName="/ppt/tags/tag223.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510" r:id="rId2"/>
    <p:sldId id="626" r:id="rId3"/>
    <p:sldId id="628" r:id="rId4"/>
    <p:sldId id="512" r:id="rId5"/>
    <p:sldId id="514" r:id="rId6"/>
    <p:sldId id="515" r:id="rId7"/>
    <p:sldId id="516" r:id="rId8"/>
    <p:sldId id="517" r:id="rId9"/>
    <p:sldId id="558" r:id="rId10"/>
    <p:sldId id="559" r:id="rId11"/>
    <p:sldId id="557" r:id="rId12"/>
    <p:sldId id="560" r:id="rId13"/>
    <p:sldId id="561" r:id="rId14"/>
    <p:sldId id="562" r:id="rId15"/>
    <p:sldId id="563" r:id="rId16"/>
    <p:sldId id="564" r:id="rId17"/>
    <p:sldId id="565" r:id="rId18"/>
    <p:sldId id="566" r:id="rId19"/>
    <p:sldId id="567" r:id="rId20"/>
    <p:sldId id="595" r:id="rId21"/>
    <p:sldId id="570" r:id="rId22"/>
    <p:sldId id="571" r:id="rId23"/>
    <p:sldId id="568" r:id="rId24"/>
    <p:sldId id="531" r:id="rId25"/>
    <p:sldId id="541" r:id="rId26"/>
    <p:sldId id="593" r:id="rId27"/>
    <p:sldId id="594" r:id="rId28"/>
    <p:sldId id="573" r:id="rId29"/>
    <p:sldId id="574" r:id="rId30"/>
    <p:sldId id="576" r:id="rId31"/>
    <p:sldId id="625" r:id="rId32"/>
    <p:sldId id="577" r:id="rId33"/>
    <p:sldId id="550" r:id="rId34"/>
    <p:sldId id="578" r:id="rId35"/>
    <p:sldId id="551" r:id="rId36"/>
    <p:sldId id="580" r:id="rId37"/>
    <p:sldId id="579" r:id="rId38"/>
    <p:sldId id="554" r:id="rId39"/>
    <p:sldId id="581" r:id="rId40"/>
    <p:sldId id="582" r:id="rId41"/>
    <p:sldId id="583" r:id="rId42"/>
    <p:sldId id="585" r:id="rId43"/>
    <p:sldId id="586" r:id="rId44"/>
    <p:sldId id="587" r:id="rId45"/>
    <p:sldId id="588" r:id="rId46"/>
    <p:sldId id="589" r:id="rId47"/>
    <p:sldId id="590" r:id="rId48"/>
    <p:sldId id="591" r:id="rId49"/>
    <p:sldId id="592" r:id="rId50"/>
    <p:sldId id="584" r:id="rId51"/>
  </p:sldIdLst>
  <p:sldSz cx="9144000" cy="6858000" type="screen4x3"/>
  <p:notesSz cx="7010400" cy="9296400"/>
  <p:custDataLst>
    <p:tags r:id="rId5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493" autoAdjust="0"/>
    <p:restoredTop sz="94587" autoAdjust="0"/>
  </p:normalViewPr>
  <p:slideViewPr>
    <p:cSldViewPr snapToGrid="0" showGuides="1">
      <p:cViewPr varScale="1">
        <p:scale>
          <a:sx n="108" d="100"/>
          <a:sy n="108" d="100"/>
        </p:scale>
        <p:origin x="1260"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gs" Target="tags/tag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D492CD9C-0936-4CB5-8F47-4F37A3C1BD80}" type="datetimeFigureOut">
              <a:rPr lang="en-US" smtClean="0"/>
              <a:t>10/7/2024</a:t>
            </a:fld>
            <a:endParaRPr lang="en-US"/>
          </a:p>
        </p:txBody>
      </p:sp>
      <p:sp>
        <p:nvSpPr>
          <p:cNvPr id="4" name="Slide Image Placeholder 3"/>
          <p:cNvSpPr>
            <a:spLocks noGrp="1" noRot="1" noChangeAspect="1"/>
          </p:cNvSpPr>
          <p:nvPr>
            <p:ph type="sldImg" idx="2"/>
          </p:nvPr>
        </p:nvSpPr>
        <p:spPr>
          <a:xfrm>
            <a:off x="1181100" y="696913"/>
            <a:ext cx="4648200"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2A8A4206-02EB-4F55-B83C-8E908C558B6E}"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平移变换（Translation）</a:t>
            </a:r>
          </a:p>
          <a:p>
            <a:r>
              <a:rPr lang="zh-CN" altLang="en-US"/>
              <a:t>欧基里德变换（</a:t>
            </a:r>
            <a:r>
              <a:rPr lang="en-US" altLang="zh-CN"/>
              <a:t>Euclidean</a:t>
            </a:r>
            <a:r>
              <a:rPr lang="zh-CN" altLang="en-US"/>
              <a:t>）是平移加旋转变换（Rotation）</a:t>
            </a:r>
          </a:p>
          <a:p>
            <a:r>
              <a:rPr lang="zh-CN" altLang="en-US"/>
              <a:t>相似变换（</a:t>
            </a:r>
            <a:r>
              <a:rPr lang="en-US" altLang="zh-CN"/>
              <a:t>similarity</a:t>
            </a:r>
            <a:r>
              <a:rPr lang="zh-CN" altLang="en-US"/>
              <a:t>）是平移旋转加放缩</a:t>
            </a:r>
          </a:p>
          <a:p>
            <a:r>
              <a:rPr lang="zh-CN" altLang="en-US"/>
              <a:t>仿射变换（</a:t>
            </a:r>
            <a:r>
              <a:rPr lang="en-US" altLang="zh-CN"/>
              <a:t>affine</a:t>
            </a:r>
            <a:r>
              <a:rPr lang="zh-CN" altLang="en-US"/>
              <a:t>）在仿射变换中，每个轴不再是像相似性变换中一样都是放缩同样的倍数了，而是可能放缩不同的尺度。</a:t>
            </a:r>
          </a:p>
          <a:p>
            <a:r>
              <a:rPr lang="zh-CN" altLang="en-US"/>
              <a:t>在仿射相机角度下的立方体，是没有任何立体感的，因为其线条长度的比例不能体现因为客体不同部件距离相机的距离不同而导致的投影变形，这种变形对于我们人类在平面上认识客体的深度信息，却是非常关键的。</a:t>
            </a:r>
          </a:p>
          <a:p>
            <a:r>
              <a:rPr lang="zh-CN" altLang="en-US"/>
              <a:t>因此我们还需要引入一个变换形式，我们称之为投影变换（projective transformations），注意到，投影变换包括了仿射变换，相似性变换，欧几里德变换</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平移变换（Translation）</a:t>
            </a:r>
          </a:p>
          <a:p>
            <a:r>
              <a:rPr lang="zh-CN" altLang="en-US"/>
              <a:t>欧基里德变换（</a:t>
            </a:r>
            <a:r>
              <a:rPr lang="en-US" altLang="zh-CN"/>
              <a:t>Euclidean</a:t>
            </a:r>
            <a:r>
              <a:rPr lang="zh-CN" altLang="en-US"/>
              <a:t>）是平移加旋转变换（Rotation）</a:t>
            </a:r>
          </a:p>
          <a:p>
            <a:r>
              <a:rPr lang="zh-CN" altLang="en-US"/>
              <a:t>相似变换（</a:t>
            </a:r>
            <a:r>
              <a:rPr lang="en-US" altLang="zh-CN"/>
              <a:t>similarity</a:t>
            </a:r>
            <a:r>
              <a:rPr lang="zh-CN" altLang="en-US"/>
              <a:t>）是平移旋转加放缩</a:t>
            </a:r>
          </a:p>
          <a:p>
            <a:r>
              <a:rPr lang="zh-CN" altLang="en-US"/>
              <a:t>仿射变换（</a:t>
            </a:r>
            <a:r>
              <a:rPr lang="en-US" altLang="zh-CN"/>
              <a:t>affine</a:t>
            </a:r>
            <a:r>
              <a:rPr lang="zh-CN" altLang="en-US"/>
              <a:t>）在仿射变换中，每个轴不再是像相似性变换中一样都是放缩同样的倍数了，而是可能放缩不同的尺度。</a:t>
            </a:r>
          </a:p>
          <a:p>
            <a:r>
              <a:rPr lang="zh-CN" altLang="en-US"/>
              <a:t>在仿射相机角度下的立方体，是没有任何立体感的，因为其线条长度的比例不能体现因为客体不同部件距离相机的距离不同而导致的投影变形，这种变形对于我们人类在平面上认识客体的深度信息，却是非常关键的。</a:t>
            </a:r>
          </a:p>
          <a:p>
            <a:r>
              <a:rPr lang="zh-CN" altLang="en-US"/>
              <a:t>因此我们还需要引入一个变换形式，我们称之为投影变换（projective transformations），注意到，投影变换包括了仿射变换，相似性变换，欧几里德变换</a:t>
            </a:r>
          </a:p>
        </p:txBody>
      </p:sp>
    </p:spTree>
    <p:extLst>
      <p:ext uri="{BB962C8B-B14F-4D97-AF65-F5344CB8AC3E}">
        <p14:creationId xmlns:p14="http://schemas.microsoft.com/office/powerpoint/2010/main" val="1947528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平移变换（Translation）</a:t>
            </a:r>
          </a:p>
          <a:p>
            <a:r>
              <a:rPr lang="zh-CN" altLang="en-US"/>
              <a:t>欧基里德变换（</a:t>
            </a:r>
            <a:r>
              <a:rPr lang="en-US" altLang="zh-CN"/>
              <a:t>Euclidean</a:t>
            </a:r>
            <a:r>
              <a:rPr lang="zh-CN" altLang="en-US"/>
              <a:t>）是平移加旋转变换（Rotation）</a:t>
            </a:r>
          </a:p>
          <a:p>
            <a:r>
              <a:rPr lang="zh-CN" altLang="en-US"/>
              <a:t>相似变换（</a:t>
            </a:r>
            <a:r>
              <a:rPr lang="en-US" altLang="zh-CN"/>
              <a:t>similarity</a:t>
            </a:r>
            <a:r>
              <a:rPr lang="zh-CN" altLang="en-US"/>
              <a:t>）是平移旋转加放缩</a:t>
            </a:r>
          </a:p>
          <a:p>
            <a:r>
              <a:rPr lang="zh-CN" altLang="en-US"/>
              <a:t>仿射变换（</a:t>
            </a:r>
            <a:r>
              <a:rPr lang="en-US" altLang="zh-CN"/>
              <a:t>affine</a:t>
            </a:r>
            <a:r>
              <a:rPr lang="zh-CN" altLang="en-US"/>
              <a:t>）在仿射变换中，每个轴不再是像相似性变换中一样都是放缩同样的倍数了，而是可能放缩不同的尺度。</a:t>
            </a:r>
          </a:p>
          <a:p>
            <a:r>
              <a:rPr lang="zh-CN" altLang="en-US"/>
              <a:t>在仿射相机角度下的立方体，是没有任何立体感的，因为其线条长度的比例不能体现因为客体不同部件距离相机的距离不同而导致的投影变形，这种变形对于我们人类在平面上认识客体的深度信息，却是非常关键的。</a:t>
            </a:r>
          </a:p>
          <a:p>
            <a:r>
              <a:rPr lang="zh-CN" altLang="en-US"/>
              <a:t>因此我们还需要引入一个变换形式，我们称之为投影变换（projective transformations），注意到，投影变换包括了仿射变换，相似性变换，欧几里德变换</a:t>
            </a:r>
          </a:p>
        </p:txBody>
      </p:sp>
    </p:spTree>
    <p:extLst>
      <p:ext uri="{BB962C8B-B14F-4D97-AF65-F5344CB8AC3E}">
        <p14:creationId xmlns:p14="http://schemas.microsoft.com/office/powerpoint/2010/main" val="4150619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在许多应用程序中，我们具有相同场景或相同文档的两个图像，但是它们没有对齐。换句话说，如果您在一幅图像上选择一个要素（例如一个角点），则另一幅图像中相同角的坐标会非常不同。</a:t>
            </a:r>
          </a:p>
          <a:p>
            <a:endParaRPr lang="zh-CN" altLang="en-US"/>
          </a:p>
          <a:p>
            <a:r>
              <a:rPr lang="zh-CN" altLang="en-US"/>
              <a:t>图像对齐（也称为图像配准）是使一个图像（或有时两个图像）变形以使两个图像中的特征完美对齐的技术。</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1100" y="696913"/>
            <a:ext cx="4648200" cy="3486150"/>
          </a:xfrm>
        </p:spPr>
      </p:sp>
      <p:sp>
        <p:nvSpPr>
          <p:cNvPr id="3" name="Notes Placeholder 2"/>
          <p:cNvSpPr>
            <a:spLocks noGrp="1"/>
          </p:cNvSpPr>
          <p:nvPr>
            <p:ph type="body" idx="1"/>
          </p:nvPr>
        </p:nvSpPr>
        <p:spPr/>
        <p:txBody>
          <a:bodyPr>
            <a:normAutofit/>
          </a:bodyPr>
          <a:lstStyle/>
          <a:p>
            <a:r>
              <a:rPr lang="en-US" dirty="0"/>
              <a:t>图像对齐最有趣的应用可能是创建全景图。</a:t>
            </a:r>
          </a:p>
        </p:txBody>
      </p:sp>
      <p:sp>
        <p:nvSpPr>
          <p:cNvPr id="4" name="Slide Number Placeholder 3"/>
          <p:cNvSpPr>
            <a:spLocks noGrp="1"/>
          </p:cNvSpPr>
          <p:nvPr>
            <p:ph type="sldNum" sz="quarter" idx="10"/>
          </p:nvPr>
        </p:nvSpPr>
        <p:spPr/>
        <p:txBody>
          <a:bodyPr/>
          <a:lstStyle/>
          <a:p>
            <a:fld id="{2A8A4206-02EB-4F55-B83C-8E908C558B6E}" type="slidenum">
              <a:rPr lang="en-US" smtClean="0"/>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DA9DF41F-8483-408D-BE6C-C8117F745841}" type="slidenum">
              <a:rPr lang="en-US"/>
              <a:t>7</a:t>
            </a:fld>
            <a:endParaRPr lang="en-US"/>
          </a:p>
        </p:txBody>
      </p:sp>
      <p:sp>
        <p:nvSpPr>
          <p:cNvPr id="491522" name="Rectangle 2"/>
          <p:cNvSpPr>
            <a:spLocks noGrp="1" noRot="1" noChangeAspect="1" noChangeArrowheads="1" noTextEdit="1"/>
          </p:cNvSpPr>
          <p:nvPr>
            <p:ph type="sldImg"/>
          </p:nvPr>
        </p:nvSpPr>
        <p:spPr>
          <a:xfrm>
            <a:off x="1181100" y="696913"/>
            <a:ext cx="4648200" cy="3486150"/>
          </a:xfrm>
        </p:spPr>
      </p:sp>
      <p:sp>
        <p:nvSpPr>
          <p:cNvPr id="491523" name="Rectangle 3"/>
          <p:cNvSpPr>
            <a:spLocks noGrp="1" noChangeArrowheads="1"/>
          </p:cNvSpPr>
          <p:nvPr>
            <p:ph type="body" idx="1"/>
          </p:nvPr>
        </p:nvSpPr>
        <p:spPr/>
        <p:txBody>
          <a:bodyPr/>
          <a:lstStyle/>
          <a:p>
            <a:r>
              <a:rPr lang="en-US"/>
              <a:t>图像滤波，即在尽量保留图像细节特征的条件下对目标图像的噪声进行抑制，是图像预处理中不可缺少的操作，其处理效果的好坏将直接影响到后续图像处理和分析的有效性和可靠性。</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338873A7-87E4-420C-96F6-58DFB1FC7D6C}" type="slidenum">
              <a:rPr lang="en-US"/>
              <a:t>8</a:t>
            </a:fld>
            <a:endParaRPr lang="en-US"/>
          </a:p>
        </p:txBody>
      </p:sp>
      <p:sp>
        <p:nvSpPr>
          <p:cNvPr id="492546" name="Rectangle 2"/>
          <p:cNvSpPr>
            <a:spLocks noGrp="1" noRot="1" noChangeAspect="1" noChangeArrowheads="1" noTextEdit="1"/>
          </p:cNvSpPr>
          <p:nvPr>
            <p:ph type="sldImg"/>
          </p:nvPr>
        </p:nvSpPr>
        <p:spPr>
          <a:xfrm>
            <a:off x="1181100" y="696913"/>
            <a:ext cx="4648200" cy="3486150"/>
          </a:xfrm>
        </p:spPr>
      </p:sp>
      <p:sp>
        <p:nvSpPr>
          <p:cNvPr id="492547" name="Rectangle 3"/>
          <p:cNvSpPr>
            <a:spLocks noGrp="1" noChangeArrowheads="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9</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r>
              <a:rPr lang="zh-CN" altLang="en-US"/>
              <a:t>旋转变换不改变目标的形状</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10</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11</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r>
              <a:rPr lang="en-US"/>
              <a:t>平移无法写成和上面旋转一样的矩阵乘法形式。所以引入齐次坐标</a:t>
            </a:r>
          </a:p>
          <a:p>
            <a:pPr>
              <a:lnSpc>
                <a:spcPct val="100000"/>
              </a:lnSpc>
            </a:pPr>
            <a:r>
              <a:rPr lang="zh-CN" altLang="en-US">
                <a:latin typeface="Times New Roman" panose="02020603050405020304" pitchFamily="18" charset="0"/>
                <a:ea typeface="华康简宋" charset="-122"/>
                <a:sym typeface="+mn-ea"/>
              </a:rPr>
              <a:t>可以看出，平移变换的处理方法与其他两种变换的形式不一样，但我们希望能够用一种一致的或同类的方法来处理这三种变换，使得这三种基本变换能很容易地结合在一起，形成各种复杂的组合变换。为了解决这个问题，引入齐次坐标这一概念。 </a:t>
            </a:r>
            <a:endParaRPr lang="zh-CN" altLang="en-US">
              <a:latin typeface="Times New Roman" panose="02020603050405020304" pitchFamily="18" charset="0"/>
              <a:ea typeface="华康简宋" charset="-122"/>
            </a:endParaRPr>
          </a:p>
          <a:p>
            <a:pPr>
              <a:lnSpc>
                <a:spcPct val="100000"/>
              </a:lnSpc>
            </a:pPr>
            <a:r>
              <a:rPr lang="zh-CN" altLang="en-US">
                <a:solidFill>
                  <a:srgbClr val="FF0000"/>
                </a:solidFill>
                <a:latin typeface="Times New Roman" panose="02020603050405020304" pitchFamily="18" charset="0"/>
                <a:ea typeface="华康简宋" charset="-122"/>
                <a:sym typeface="+mn-ea"/>
              </a:rPr>
              <a:t>基本思想</a:t>
            </a:r>
            <a:r>
              <a:rPr lang="en-US" altLang="zh-CN">
                <a:solidFill>
                  <a:srgbClr val="FF0000"/>
                </a:solidFill>
                <a:latin typeface="Times New Roman" panose="02020603050405020304" pitchFamily="18" charset="0"/>
                <a:ea typeface="华康简宋" charset="-122"/>
                <a:sym typeface="+mn-ea"/>
              </a:rPr>
              <a:t>:</a:t>
            </a:r>
            <a:r>
              <a:rPr lang="zh-CN" altLang="en-US">
                <a:latin typeface="Times New Roman" panose="02020603050405020304" pitchFamily="18" charset="0"/>
                <a:ea typeface="华康简宋" charset="-122"/>
                <a:sym typeface="+mn-ea"/>
              </a:rPr>
              <a:t>把一个</a:t>
            </a:r>
            <a:r>
              <a:rPr lang="en-US" altLang="zh-CN">
                <a:solidFill>
                  <a:srgbClr val="FF0000"/>
                </a:solidFill>
                <a:latin typeface="Times New Roman" panose="02020603050405020304" pitchFamily="18" charset="0"/>
                <a:ea typeface="华康简宋" charset="-122"/>
                <a:sym typeface="+mn-ea"/>
              </a:rPr>
              <a:t>n</a:t>
            </a:r>
            <a:r>
              <a:rPr lang="zh-CN" altLang="en-US">
                <a:latin typeface="Times New Roman" panose="02020603050405020304" pitchFamily="18" charset="0"/>
                <a:ea typeface="华康简宋" charset="-122"/>
                <a:sym typeface="+mn-ea"/>
              </a:rPr>
              <a:t>维空间的几何问题</a:t>
            </a:r>
            <a:r>
              <a:rPr lang="en-US" altLang="zh-CN">
                <a:latin typeface="Times New Roman" panose="02020603050405020304" pitchFamily="18" charset="0"/>
                <a:ea typeface="华康简宋" charset="-122"/>
                <a:sym typeface="+mn-ea"/>
              </a:rPr>
              <a:t>, </a:t>
            </a:r>
            <a:r>
              <a:rPr lang="zh-CN" altLang="en-US">
                <a:latin typeface="Times New Roman" panose="02020603050405020304" pitchFamily="18" charset="0"/>
                <a:ea typeface="华康简宋" charset="-122"/>
                <a:sym typeface="+mn-ea"/>
              </a:rPr>
              <a:t>转换到</a:t>
            </a:r>
            <a:r>
              <a:rPr lang="en-US" altLang="zh-CN">
                <a:solidFill>
                  <a:srgbClr val="FF0000"/>
                </a:solidFill>
                <a:latin typeface="Times New Roman" panose="02020603050405020304" pitchFamily="18" charset="0"/>
                <a:ea typeface="华康简宋" charset="-122"/>
                <a:sym typeface="+mn-ea"/>
              </a:rPr>
              <a:t>n+1</a:t>
            </a:r>
            <a:r>
              <a:rPr lang="zh-CN" altLang="en-US">
                <a:latin typeface="Times New Roman" panose="02020603050405020304" pitchFamily="18" charset="0"/>
                <a:ea typeface="华康简宋" charset="-122"/>
                <a:sym typeface="+mn-ea"/>
              </a:rPr>
              <a:t>维空间中去解决。即用一个有</a:t>
            </a:r>
            <a:r>
              <a:rPr lang="en-US" altLang="zh-CN">
                <a:solidFill>
                  <a:srgbClr val="FF0000"/>
                </a:solidFill>
                <a:latin typeface="Times New Roman" panose="02020603050405020304" pitchFamily="18" charset="0"/>
                <a:ea typeface="华康简宋" charset="-122"/>
                <a:sym typeface="+mn-ea"/>
              </a:rPr>
              <a:t>n+1</a:t>
            </a:r>
            <a:r>
              <a:rPr lang="zh-CN" altLang="en-US">
                <a:latin typeface="Times New Roman" panose="02020603050405020304" pitchFamily="18" charset="0"/>
                <a:ea typeface="华康简宋" charset="-122"/>
                <a:sym typeface="+mn-ea"/>
              </a:rPr>
              <a:t>个分量的向量去表示一个有</a:t>
            </a:r>
            <a:r>
              <a:rPr lang="en-US" altLang="zh-CN">
                <a:solidFill>
                  <a:srgbClr val="FF0000"/>
                </a:solidFill>
                <a:latin typeface="Times New Roman" panose="02020603050405020304" pitchFamily="18" charset="0"/>
                <a:ea typeface="华康简宋" charset="-122"/>
                <a:sym typeface="+mn-ea"/>
              </a:rPr>
              <a:t>n</a:t>
            </a:r>
            <a:r>
              <a:rPr lang="zh-CN" altLang="en-US">
                <a:latin typeface="Times New Roman" panose="02020603050405020304" pitchFamily="18" charset="0"/>
                <a:ea typeface="华康简宋" charset="-122"/>
                <a:sym typeface="+mn-ea"/>
              </a:rPr>
              <a:t>个分量的向量。</a:t>
            </a:r>
            <a:endParaRPr lang="zh-CN" altLang="en-US">
              <a:latin typeface="Times New Roman" panose="02020603050405020304" pitchFamily="18" charset="0"/>
              <a:ea typeface="华康简宋" charset="-122"/>
            </a:endParaRPr>
          </a:p>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12</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r>
              <a:rPr lang="zh-CN" altLang="en-US"/>
              <a:t>刚体变换就是欧几里得变换，会保持欧氏距离不变</a:t>
            </a:r>
          </a:p>
          <a:p>
            <a:r>
              <a:rPr lang="zh-CN" altLang="en-US"/>
              <a:t>相似变换比欧氏变换多了一个自由度，它允许物体进行均匀缩放</a:t>
            </a:r>
          </a:p>
          <a:p>
            <a:r>
              <a:rPr lang="zh-CN" altLang="en-US"/>
              <a:t>旋转部分多了一个缩放因子 s，表示我们在对向量旋转之后，可以在 x,y,z 三个坐标上进行均匀缩放。由于含有缩放，相似变换不再保持图形的面积不变。可以想象一个边长为 1 的立方体通过相似变换后，变成边长为 10 的样子（但仍然是立方体）。三维相似变换的集合也叫做相似变换群。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13</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r>
              <a:rPr lang="en-US"/>
              <a:t>仿射变换只要求 A 是一个可逆矩阵，而不必是正交矩阵</a:t>
            </a:r>
            <a:r>
              <a:rPr lang="zh-CN" altLang="en-US"/>
              <a:t>。</a:t>
            </a:r>
          </a:p>
          <a:p>
            <a:r>
              <a:rPr lang="zh-CN" altLang="en-US"/>
              <a:t>仿射变换(Affine Transformation) </a:t>
            </a:r>
          </a:p>
          <a:p>
            <a:r>
              <a:rPr lang="zh-CN" altLang="en-US"/>
              <a:t>Affine Transformation是一种二维坐标到二维坐标之间的线性变换，保持二维图形的“平直性”（译注：straightness，即变换后直线还是直线不会打弯，圆弧还是圆弧）和“平行性”（译注：parallelness，其实是指保二维图形间的相对位置关系不变，平行线还是平行线，相交直线的交角不变。）。</a:t>
            </a:r>
          </a:p>
          <a:p>
            <a:r>
              <a:rPr lang="zh-CN" altLang="en-US"/>
              <a:t>仿射变换不能保持原来的线段长度不变，也不能保持原来的夹角角度不变。</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14</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15</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r>
              <a:rPr lang="en-US"/>
              <a:t>错切 (shear) 变换是轴上点不动，其它点沿平行于此轴方向移动变形的变换。错切变换也称为剪切、错位或错移变换。</a:t>
            </a:r>
          </a:p>
          <a:p>
            <a:r>
              <a:rPr lang="en-US"/>
              <a:t>常用的错切变换有两种:</a:t>
            </a:r>
          </a:p>
          <a:p>
            <a:r>
              <a:rPr lang="en-US"/>
              <a:t>改变x坐标值.</a:t>
            </a:r>
          </a:p>
          <a:p>
            <a:r>
              <a:rPr lang="en-US"/>
              <a:t>改变y坐标值</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16</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17</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r>
              <a:rPr lang="en-US"/>
              <a:t>单应性原理被广泛应用于图像配准，全景拼接，机器人定位SLAM，AR增强现实等领域。</a:t>
            </a:r>
          </a:p>
          <a:p>
            <a:r>
              <a:rPr lang="en-US"/>
              <a:t>简单说，透视变换（也称投影变换）彻底改变目标的形状。</a:t>
            </a:r>
          </a:p>
          <a:p>
            <a:r>
              <a:rPr lang="en-US"/>
              <a:t>刚体变换：平移+旋转，只改变物体位置，不改变物体形状。</a:t>
            </a:r>
          </a:p>
          <a:p>
            <a:r>
              <a:rPr lang="en-US"/>
              <a:t>仿射变换：改变物体位置和形状，但是原来平行的边依然平行。</a:t>
            </a:r>
          </a:p>
          <a:p>
            <a:r>
              <a:rPr lang="en-US"/>
              <a:t>透视变换（也称投影变换）：彻底改变物体位置和形状</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18</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19</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20</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21</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r>
              <a:rPr lang="en-US"/>
              <a:t>单应性的严格定义与成立条件非常复杂</a:t>
            </a:r>
            <a:r>
              <a:rPr lang="zh-CN" altLang="en-US"/>
              <a:t>，例如单应性是一个从实射影平面到射影平面的可逆变换，直线在该变换下仍映射为直线。</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22</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694174E2-203A-4600-9649-6C808475F23D}" type="slidenum">
              <a:rPr lang="en-US"/>
              <a:t>23</a:t>
            </a:fld>
            <a:endParaRPr lang="en-US"/>
          </a:p>
        </p:txBody>
      </p:sp>
      <p:sp>
        <p:nvSpPr>
          <p:cNvPr id="493570" name="Rectangle 2"/>
          <p:cNvSpPr>
            <a:spLocks noGrp="1" noRot="1" noChangeAspect="1" noChangeArrowheads="1" noTextEdit="1"/>
          </p:cNvSpPr>
          <p:nvPr>
            <p:ph type="sldImg"/>
          </p:nvPr>
        </p:nvSpPr>
        <p:spPr>
          <a:xfrm>
            <a:off x="1181100" y="696913"/>
            <a:ext cx="4648200" cy="3486150"/>
          </a:xfrm>
        </p:spPr>
      </p:sp>
      <p:sp>
        <p:nvSpPr>
          <p:cNvPr id="493571" name="Rectangle 3"/>
          <p:cNvSpPr>
            <a:spLocks noGrp="1" noChangeArrowheads="1"/>
          </p:cNvSpPr>
          <p:nvPr>
            <p:ph type="body" idx="1"/>
          </p:nvPr>
        </p:nvSpPr>
        <p:spPr/>
        <p:txBody>
          <a:bodyPr/>
          <a:lstStyle/>
          <a:p>
            <a:r>
              <a:rPr lang="en-US"/>
              <a:t>所以单应性矩阵 </a:t>
            </a:r>
          </a:p>
          <a:p>
            <a:r>
              <a:rPr lang="en-US"/>
              <a:t> 虽然有9个未知数，但只有8个自由度。</a:t>
            </a:r>
          </a:p>
          <a:p>
            <a:r>
              <a:rPr lang="en-US"/>
              <a:t>那么只需要 4 组不共线的匹配点即可求解  的唯一解。</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用广角镜头拍摄的特写照片，其中被摄对象的鼻子与面部的其它器官相比会显得出奇的大。这就是用广角镜头拍摄的很多照片所具有的一种透视畸变形式的特征。</a:t>
            </a:r>
          </a:p>
          <a:p>
            <a:r>
              <a:rPr lang="zh-CN" altLang="en-US"/>
              <a:t>这种失真发生的原因其实就是透视，正常透视，众所周知，眼睛感觉远近的一种方法就是利用物体的相对大小，也就是“近大远小”。在摄影中，也是用相同方法表达透视关系的：平行的铁轨会随着我们向远处了望而显得越来越靠近，直至汇聚成一点。这一现象的本质就是铁轨间的距离表面上看变小了。</a:t>
            </a:r>
          </a:p>
          <a:p>
            <a:r>
              <a:rPr lang="zh-CN" altLang="en-US"/>
              <a:t>透视的另一种表现，即物体越近，透视效果越强烈，比方说，200名士兵排成一纵队正在行进。如果在距离前面士兵10英尺的地方观看或拍摄队伍，那么前面的士兵就会显得比最后的士兵高大得多。但是，如果在远离前面士兵100米的地方观看或拍摄同一支队伍，第一个和最后一个士兵之间的大小差异就不会显得那么大。</a:t>
            </a:r>
          </a:p>
          <a:p>
            <a:r>
              <a:rPr lang="zh-CN" altLang="en-US"/>
              <a:t>透视的这两方面特征同样适用于所有的镜头，即：</a:t>
            </a:r>
          </a:p>
          <a:p>
            <a:r>
              <a:rPr lang="zh-CN" altLang="en-US"/>
              <a:t>1． 被摄体越远，显得越小；</a:t>
            </a:r>
          </a:p>
          <a:p>
            <a:r>
              <a:rPr lang="zh-CN" altLang="en-US"/>
              <a:t>2． 镜头离被摄体越远，被摄体外观上的大小变化越小。</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透镜自身形状对光线传播的影响——径向畸变</a:t>
            </a:r>
          </a:p>
          <a:p>
            <a:r>
              <a:rPr lang="zh-CN" altLang="en-US"/>
              <a:t>组装过程中，透镜和成像平面未完成平行——切向畸变</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normAutofit lnSpcReduction="10000"/>
          </a:bodyPr>
          <a:lstStyle/>
          <a:p>
            <a:r>
              <a:rPr lang="zh-CN" altLang="en-US"/>
              <a:t>超定方程组是指方程个数大于未知量个数的方程组。对于方程组Ra=y，R为n×m矩阵，如果R列满秩，且n＞m。则方程组没有精确解，此时称方程组为超定方程组。</a:t>
            </a:r>
          </a:p>
          <a:p>
            <a:endParaRPr lang="zh-CN" altLang="en-US"/>
          </a:p>
          <a:p>
            <a:r>
              <a:rPr lang="zh-CN" altLang="en-US"/>
              <a:t>RANSAC为Random Sample Consensus随机样本一致算法的缩写，它是根据一组包含异常数据的样本数据集，计算出数据的数学模型参数，得到有效样本数据的算法。它于1981年由Fischler和Bolles最先提出 [1] 。</a:t>
            </a:r>
          </a:p>
          <a:p>
            <a:r>
              <a:rPr lang="zh-CN" altLang="en-US"/>
              <a:t>RANSAC算法经常用于计算机视觉中。例如，在立体视觉领域中同时解决一对相机的匹配点问题及基本矩阵的计算。</a:t>
            </a:r>
          </a:p>
          <a:p>
            <a:r>
              <a:rPr lang="zh-CN" altLang="en-US"/>
              <a:t>RANSAC算法的基本假设是样本中包含正确数据(inliers，可以被模型描述的数据)，也包含异常数据(outliers，偏离正常范围很远、无法适应数学模型的数据)，即数据集中含有噪声。这些异常数据可能是由于错误的测量、错误的假设、错误的计算等产生的。同时RANSAC也假设，给定一组正确的数据，存在可以计算出符合这些数据的模型参数的方法。</a:t>
            </a:r>
          </a:p>
          <a:p>
            <a:r>
              <a:rPr lang="zh-CN" altLang="en-US"/>
              <a:t>RANSAC基本思想描述如下：</a:t>
            </a:r>
          </a:p>
          <a:p>
            <a:r>
              <a:rPr lang="zh-CN" altLang="en-US"/>
              <a:t>①考虑一个最小抽样集的势为n的模型(n为初始化模型参数所需的最小样本数)和一个样本集P，集合P的样本数#(P)＞n，从P中随机抽取包含n个样本的P的子集S初始化模型M；</a:t>
            </a:r>
          </a:p>
          <a:p>
            <a:r>
              <a:rPr lang="zh-CN" altLang="en-US"/>
              <a:t>②余集SC=P\S中与模型M的误差小于某一设定阈值t的样本集以及S构成S*。S*认为是内点集，它们构成S的一致集(Consensus Set)；</a:t>
            </a:r>
          </a:p>
          <a:p>
            <a:r>
              <a:rPr lang="zh-CN" altLang="en-US"/>
              <a:t>③若#(S*)≥N，认为得到正确的模型参数，并利用集S*(内点inliers)采用最小二乘等方法重新计算新的模型M*；重新随机抽取新的S，重复以上过程。</a:t>
            </a:r>
          </a:p>
          <a:p>
            <a:r>
              <a:rPr lang="zh-CN" altLang="en-US"/>
              <a:t>④在完成一定的抽样次数后，若未找到一致集则算法失败，否则选取抽样后得到的最大一致集判断内外点，算法结束。</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Regression：网络直接输出  共8个数值</a:t>
            </a:r>
          </a:p>
          <a:p>
            <a:r>
              <a:rPr lang="zh-CN" altLang="en-US"/>
              <a:t>这样设置网络非常直观，使用L2损失训练，测试时直接输出8个float values，但是没有置信度confidence。即在使用网络时，无法知道当前输出单应性可靠程度。</a:t>
            </a:r>
          </a:p>
          <a:p>
            <a:r>
              <a:rPr lang="zh-CN" altLang="en-US"/>
              <a:t>Classification：网络输出 </a:t>
            </a:r>
          </a:p>
          <a:p>
            <a:r>
              <a:rPr lang="zh-CN" altLang="en-US"/>
              <a:t> 共8个值的量化值+confidence</a:t>
            </a:r>
          </a:p>
          <a:p>
            <a:endParaRPr lang="zh-CN" altLang="en-US"/>
          </a:p>
          <a:p>
            <a:r>
              <a:rPr lang="zh-CN" altLang="en-US"/>
              <a:t>这时将网络输出每个 </a:t>
            </a:r>
          </a:p>
          <a:p>
            <a:r>
              <a:rPr lang="zh-CN" altLang="en-US"/>
              <a:t> 和 </a:t>
            </a:r>
          </a:p>
          <a:p>
            <a:r>
              <a:rPr lang="zh-CN" altLang="en-US"/>
              <a:t> 量化成21个区间，用分类的方法判断落在哪一个区间。训练时使用Softmax损失。相比回归直接输出数值，量化必然会产生误差，但是能够输出分类置信度评判当前效果好坏，更便于实际应用。</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BF086F30-5E83-4849-BF0D-B0D4FC2EC547}" type="slidenum">
              <a:rPr lang="en-US"/>
              <a:t>33</a:t>
            </a:fld>
            <a:endParaRPr lang="en-US"/>
          </a:p>
        </p:txBody>
      </p:sp>
      <p:sp>
        <p:nvSpPr>
          <p:cNvPr id="495618" name="Rectangle 2"/>
          <p:cNvSpPr>
            <a:spLocks noGrp="1" noRot="1" noChangeAspect="1" noChangeArrowheads="1" noTextEdit="1"/>
          </p:cNvSpPr>
          <p:nvPr>
            <p:ph type="sldImg"/>
          </p:nvPr>
        </p:nvSpPr>
        <p:spPr>
          <a:xfrm>
            <a:off x="1181100" y="696913"/>
            <a:ext cx="4648200" cy="3486150"/>
          </a:xfrm>
        </p:spPr>
      </p:sp>
      <p:sp>
        <p:nvSpPr>
          <p:cNvPr id="495619" name="Rectangle 3"/>
          <p:cNvSpPr>
            <a:spLocks noGrp="1" noChangeArrowheads="1"/>
          </p:cNvSpPr>
          <p:nvPr>
            <p:ph type="body" idx="1"/>
          </p:nvPr>
        </p:nvSpPr>
        <p:spPr/>
        <p:txBody>
          <a:bodyPr/>
          <a:lstStyle/>
          <a:p>
            <a:r>
              <a:rPr lang="en-US"/>
              <a:t>Forward Warping的原理：遍历source image中的每个点p_source，乘以从source image到destination image的affine matrix，将其投影到destination image中得到p_destination，如果p_destination的坐标不是整数，则进行四舍五入取整，这必然会产生问题：destination image中有的位置没有从source image中投影过来的点，有的位置有多个从source image中投影过来的点，所以会产生很多空洞，产生类似波纹的效果。</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BF086F30-5E83-4849-BF0D-B0D4FC2EC547}" type="slidenum">
              <a:rPr lang="en-US"/>
              <a:t>34</a:t>
            </a:fld>
            <a:endParaRPr lang="en-US"/>
          </a:p>
        </p:txBody>
      </p:sp>
      <p:sp>
        <p:nvSpPr>
          <p:cNvPr id="495618" name="Rectangle 2"/>
          <p:cNvSpPr>
            <a:spLocks noGrp="1" noRot="1" noChangeAspect="1" noChangeArrowheads="1" noTextEdit="1"/>
          </p:cNvSpPr>
          <p:nvPr>
            <p:ph type="sldImg"/>
          </p:nvPr>
        </p:nvSpPr>
        <p:spPr>
          <a:xfrm>
            <a:off x="1181100" y="696913"/>
            <a:ext cx="4648200" cy="3486150"/>
          </a:xfrm>
        </p:spPr>
      </p:sp>
      <p:sp>
        <p:nvSpPr>
          <p:cNvPr id="495619" name="Rectangle 3"/>
          <p:cNvSpPr>
            <a:spLocks noGrp="1" noChangeArrowheads="1"/>
          </p:cNvSpPr>
          <p:nvPr>
            <p:ph type="body" idx="1"/>
          </p:nvPr>
        </p:nvSpPr>
        <p:spPr/>
        <p:txBody>
          <a:bodyPr/>
          <a:lstStyle/>
          <a:p>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AB3841FB-E06A-4D96-8961-B3D6010EB212}" type="slidenum">
              <a:rPr lang="en-US"/>
              <a:t>35</a:t>
            </a:fld>
            <a:endParaRPr lang="en-US"/>
          </a:p>
        </p:txBody>
      </p:sp>
      <p:sp>
        <p:nvSpPr>
          <p:cNvPr id="496642" name="Rectangle 2"/>
          <p:cNvSpPr>
            <a:spLocks noGrp="1" noRot="1" noChangeAspect="1" noChangeArrowheads="1" noTextEdit="1"/>
          </p:cNvSpPr>
          <p:nvPr>
            <p:ph type="sldImg"/>
          </p:nvPr>
        </p:nvSpPr>
        <p:spPr>
          <a:xfrm>
            <a:off x="1181100" y="696913"/>
            <a:ext cx="4648200" cy="3486150"/>
          </a:xfrm>
        </p:spPr>
      </p:sp>
      <p:sp>
        <p:nvSpPr>
          <p:cNvPr id="49664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AB3841FB-E06A-4D96-8961-B3D6010EB212}" type="slidenum">
              <a:rPr lang="en-US"/>
              <a:t>36</a:t>
            </a:fld>
            <a:endParaRPr lang="en-US"/>
          </a:p>
        </p:txBody>
      </p:sp>
      <p:sp>
        <p:nvSpPr>
          <p:cNvPr id="496642" name="Rectangle 2"/>
          <p:cNvSpPr>
            <a:spLocks noGrp="1" noRot="1" noChangeAspect="1" noChangeArrowheads="1" noTextEdit="1"/>
          </p:cNvSpPr>
          <p:nvPr>
            <p:ph type="sldImg"/>
          </p:nvPr>
        </p:nvSpPr>
        <p:spPr>
          <a:xfrm>
            <a:off x="1181100" y="696913"/>
            <a:ext cx="4648200" cy="3486150"/>
          </a:xfrm>
        </p:spPr>
      </p:sp>
      <p:sp>
        <p:nvSpPr>
          <p:cNvPr id="49664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51B643DC-E903-4A92-9CBE-2A336786E449}" type="slidenum">
              <a:rPr lang="en-US"/>
              <a:t>37</a:t>
            </a:fld>
            <a:endParaRPr lang="en-US"/>
          </a:p>
        </p:txBody>
      </p:sp>
      <p:sp>
        <p:nvSpPr>
          <p:cNvPr id="498690" name="Rectangle 2"/>
          <p:cNvSpPr>
            <a:spLocks noGrp="1" noRot="1" noChangeAspect="1" noChangeArrowheads="1" noTextEdit="1"/>
          </p:cNvSpPr>
          <p:nvPr>
            <p:ph type="sldImg"/>
          </p:nvPr>
        </p:nvSpPr>
        <p:spPr>
          <a:xfrm>
            <a:off x="1181100" y="696913"/>
            <a:ext cx="4648200" cy="3486150"/>
          </a:xfrm>
        </p:spPr>
      </p:sp>
      <p:sp>
        <p:nvSpPr>
          <p:cNvPr id="49869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4A37FD42-65E1-4693-B87B-93E2F143EBFB}" type="slidenum">
              <a:rPr lang="en-US"/>
              <a:t>38</a:t>
            </a:fld>
            <a:endParaRPr lang="en-US"/>
          </a:p>
        </p:txBody>
      </p:sp>
      <p:sp>
        <p:nvSpPr>
          <p:cNvPr id="499714" name="Rectangle 2"/>
          <p:cNvSpPr>
            <a:spLocks noGrp="1" noRot="1" noChangeAspect="1" noChangeArrowheads="1" noTextEdit="1"/>
          </p:cNvSpPr>
          <p:nvPr>
            <p:ph type="sldImg"/>
          </p:nvPr>
        </p:nvSpPr>
        <p:spPr>
          <a:xfrm>
            <a:off x="1181100" y="696913"/>
            <a:ext cx="4648200" cy="3486150"/>
          </a:xfrm>
        </p:spPr>
      </p:sp>
      <p:sp>
        <p:nvSpPr>
          <p:cNvPr id="499715"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RANSAC的基本假设是：</a:t>
            </a:r>
          </a:p>
          <a:p>
            <a:r>
              <a:rPr lang="zh-CN" altLang="en-US"/>
              <a:t>（1）数据由“局内点”组成，例如：数据的分布可以用一些模型参数来解释；</a:t>
            </a:r>
          </a:p>
          <a:p>
            <a:r>
              <a:rPr lang="zh-CN" altLang="en-US"/>
              <a:t>（2）“局外点”是不能适应该模型的数据；</a:t>
            </a:r>
          </a:p>
          <a:p>
            <a:r>
              <a:rPr lang="zh-CN" altLang="en-US"/>
              <a:t>（3）除此之外的数据属于噪声。</a:t>
            </a:r>
          </a:p>
          <a:p>
            <a:r>
              <a:rPr lang="zh-CN" altLang="en-US"/>
              <a:t>局外点产生的原因有：噪声的极值；错误的测量方法；对数据的错误假设。</a:t>
            </a:r>
          </a:p>
          <a:p>
            <a:endParaRPr lang="zh-CN" altLang="en-US"/>
          </a:p>
          <a:p>
            <a:r>
              <a:rPr lang="zh-CN" altLang="en-US"/>
              <a:t>RANSAC与最小二乘区别：最小二乘法尽量去适应包括局外点在内的所有点。相反，RANSAC能得出一个仅仅用局内点计算出模型，并且概率还足够高。但是，RANSAC并不能保证结果一定正确，为了保证算法有足够高的合理概率，必须小心的选择算法的参数（参数配置）。经实验验证，对于包含80%误差的数据集，RANSAC的效果远优于直接的最小二乘法。</a:t>
            </a:r>
          </a:p>
          <a:p>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9EF50409-A5D7-4EA7-8790-9D641C7406BB}" type="slidenum">
              <a:rPr lang="en-US"/>
              <a:t>46</a:t>
            </a:fld>
            <a:endParaRPr lang="en-US"/>
          </a:p>
        </p:txBody>
      </p:sp>
      <p:sp>
        <p:nvSpPr>
          <p:cNvPr id="534530" name="Rectangle 2"/>
          <p:cNvSpPr>
            <a:spLocks noGrp="1" noRot="1" noChangeAspect="1" noChangeArrowheads="1" noTextEdit="1"/>
          </p:cNvSpPr>
          <p:nvPr>
            <p:ph type="sldImg"/>
          </p:nvPr>
        </p:nvSpPr>
        <p:spPr>
          <a:xfrm>
            <a:off x="1181100" y="696913"/>
            <a:ext cx="4648200" cy="3486150"/>
          </a:xfrm>
        </p:spPr>
      </p:sp>
      <p:sp>
        <p:nvSpPr>
          <p:cNvPr id="53453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ED4B2CE0-3F76-4766-A93B-94EF411860D5}" type="slidenum">
              <a:rPr lang="en-US"/>
              <a:t>47</a:t>
            </a:fld>
            <a:endParaRPr lang="en-US"/>
          </a:p>
        </p:txBody>
      </p:sp>
      <p:sp>
        <p:nvSpPr>
          <p:cNvPr id="535554" name="Rectangle 2"/>
          <p:cNvSpPr>
            <a:spLocks noGrp="1" noRot="1" noChangeAspect="1" noChangeArrowheads="1" noTextEdit="1"/>
          </p:cNvSpPr>
          <p:nvPr>
            <p:ph type="sldImg"/>
          </p:nvPr>
        </p:nvSpPr>
        <p:spPr>
          <a:xfrm>
            <a:off x="1181100" y="696913"/>
            <a:ext cx="4648200" cy="3486150"/>
          </a:xfrm>
        </p:spPr>
      </p:sp>
      <p:sp>
        <p:nvSpPr>
          <p:cNvPr id="535555"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9EF50409-A5D7-4EA7-8790-9D641C7406BB}" type="slidenum">
              <a:rPr lang="en-US"/>
              <a:t>48</a:t>
            </a:fld>
            <a:endParaRPr lang="en-US"/>
          </a:p>
        </p:txBody>
      </p:sp>
      <p:sp>
        <p:nvSpPr>
          <p:cNvPr id="534530" name="Rectangle 2"/>
          <p:cNvSpPr>
            <a:spLocks noGrp="1" noRot="1" noChangeAspect="1" noChangeArrowheads="1" noTextEdit="1"/>
          </p:cNvSpPr>
          <p:nvPr>
            <p:ph type="sldImg"/>
          </p:nvPr>
        </p:nvSpPr>
        <p:spPr>
          <a:xfrm>
            <a:off x="1181100" y="696913"/>
            <a:ext cx="4648200" cy="3486150"/>
          </a:xfrm>
        </p:spPr>
      </p:sp>
      <p:sp>
        <p:nvSpPr>
          <p:cNvPr id="534531" name="Rectangle 3"/>
          <p:cNvSpPr>
            <a:spLocks noGrp="1" noChangeArrowheads="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7"/>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6535FC9-4C7C-4839-AD87-B5CD13220982}" type="datetimeFigureOut">
              <a:rPr lang="en-US" smtClean="0"/>
              <a:t>10/7/2024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41B2BE-37E8-49C8-A941-FB00A9E058C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b="1"/>
            </a:lvl1p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6535FC9-4C7C-4839-AD87-B5CD13220982}" type="datetimeFigureOut">
              <a:rPr lang="en-US" smtClean="0"/>
              <a:t>10/7/2024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41B2BE-37E8-49C8-A941-FB00A9E058C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6535FC9-4C7C-4839-AD87-B5CD13220982}" type="datetimeFigureOut">
              <a:rPr lang="en-US" smtClean="0"/>
              <a:t>10/7/2024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41B2BE-37E8-49C8-A941-FB00A9E058C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b="1"/>
            </a:lvl1pPr>
          </a:lstStyle>
          <a:p>
            <a:r>
              <a:rPr lang="en-US" dirty="0"/>
              <a:t>Click to edit Master title style</a:t>
            </a:r>
          </a:p>
        </p:txBody>
      </p:sp>
      <p:sp>
        <p:nvSpPr>
          <p:cNvPr id="3" name="Content Placeholder 2"/>
          <p:cNvSpPr>
            <a:spLocks noGrp="1"/>
          </p:cNvSpPr>
          <p:nvPr>
            <p:ph sz="half" idx="1"/>
          </p:nvPr>
        </p:nvSpPr>
        <p:spPr>
          <a:xfrm>
            <a:off x="457200" y="1600202"/>
            <a:ext cx="40386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2"/>
            <a:ext cx="40386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6535FC9-4C7C-4839-AD87-B5CD13220982}" type="datetimeFigureOut">
              <a:rPr lang="en-US" smtClean="0"/>
              <a:t>10/7/2024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41B2BE-37E8-49C8-A941-FB00A9E058C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b="1"/>
            </a:lvl1pPr>
          </a:lstStyle>
          <a:p>
            <a:r>
              <a:rPr lang="en-US" dirty="0"/>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6535FC9-4C7C-4839-AD87-B5CD13220982}" type="datetimeFigureOut">
              <a:rPr lang="en-US" smtClean="0"/>
              <a:t>10/7/2024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941B2BE-37E8-49C8-A941-FB00A9E058C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b="1"/>
            </a:lvl1pPr>
          </a:lstStyle>
          <a:p>
            <a:r>
              <a:rPr lang="en-US" dirty="0"/>
              <a:t>Click to edit Master title style</a:t>
            </a:r>
          </a:p>
        </p:txBody>
      </p:sp>
      <p:sp>
        <p:nvSpPr>
          <p:cNvPr id="3" name="Date Placeholder 2"/>
          <p:cNvSpPr>
            <a:spLocks noGrp="1"/>
          </p:cNvSpPr>
          <p:nvPr>
            <p:ph type="dt" sz="half" idx="10"/>
          </p:nvPr>
        </p:nvSpPr>
        <p:spPr/>
        <p:txBody>
          <a:bodyPr/>
          <a:lstStyle/>
          <a:p>
            <a:fld id="{46535FC9-4C7C-4839-AD87-B5CD13220982}" type="datetimeFigureOut">
              <a:rPr lang="en-US" smtClean="0"/>
              <a:t>10/7/2024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941B2BE-37E8-49C8-A941-FB00A9E058C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6535FC9-4C7C-4839-AD87-B5CD13220982}" type="datetimeFigureOut">
              <a:rPr lang="en-US" smtClean="0"/>
              <a:t>10/7/2024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941B2BE-37E8-49C8-A941-FB00A9E058C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0"/>
            <a:ext cx="3008313"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435102"/>
            <a:ext cx="3008313"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46535FC9-4C7C-4839-AD87-B5CD13220982}" type="datetimeFigureOut">
              <a:rPr lang="en-US" smtClean="0"/>
              <a:t>10/7/2024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41B2BE-37E8-49C8-A941-FB00A9E058C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46535FC9-4C7C-4839-AD87-B5CD13220982}" type="datetimeFigureOut">
              <a:rPr lang="en-US" smtClean="0"/>
              <a:t>10/7/2024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41B2BE-37E8-49C8-A941-FB00A9E058C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6535FC9-4C7C-4839-AD87-B5CD13220982}" type="datetimeFigureOut">
              <a:rPr lang="en-US" smtClean="0"/>
              <a:t>10/7/2024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41B2BE-37E8-49C8-A941-FB00A9E058C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40"/>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6535FC9-4C7C-4839-AD87-B5CD13220982}" type="datetimeFigureOut">
              <a:rPr lang="en-US" smtClean="0"/>
              <a:t>10/7/2024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41B2BE-37E8-49C8-A941-FB00A9E058C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2"/>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2"/>
            <a:ext cx="21336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46535FC9-4C7C-4839-AD87-B5CD13220982}" type="datetimeFigureOut">
              <a:rPr lang="en-US" smtClean="0"/>
              <a:t>10/7/2024</a:t>
            </a:fld>
            <a:endParaRPr lang="en-US"/>
          </a:p>
        </p:txBody>
      </p:sp>
      <p:sp>
        <p:nvSpPr>
          <p:cNvPr id="5" name="Footer Placeholder 4"/>
          <p:cNvSpPr>
            <a:spLocks noGrp="1"/>
          </p:cNvSpPr>
          <p:nvPr>
            <p:ph type="ftr" sz="quarter" idx="3"/>
          </p:nvPr>
        </p:nvSpPr>
        <p:spPr>
          <a:xfrm>
            <a:off x="3124200" y="6356352"/>
            <a:ext cx="28956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2"/>
            <a:ext cx="21336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2941B2BE-37E8-49C8-A941-FB00A9E058C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spcBef>
          <a:spcPct val="0"/>
        </a:spcBef>
        <a:buNone/>
        <a:defRPr sz="3300" b="1"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1pPr>
      <a:lvl2pPr marL="557530" indent="-214630" algn="l" defTabSz="685800" rtl="0" eaLnBrk="1" latinLnBrk="0" hangingPunct="1">
        <a:spcBef>
          <a:spcPct val="20000"/>
        </a:spcBef>
        <a:buFont typeface="Arial" panose="020B0604020202020204"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ww2.mathworks.cn/help/images/ref/imwarp.html#btqog63-1-B"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s://ww2.mathworks.cn/help/images/ref/imwarp.html#btqog63-1-tform" TargetMode="External"/><Relationship Id="rId4" Type="http://schemas.openxmlformats.org/officeDocument/2006/relationships/hyperlink" Target="https://ww2.mathworks.cn/help/images/ref/imwarp.html#btqog63-1-A"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7.xml.rels><?xml version="1.0" encoding="UTF-8" standalone="yes"?>
<Relationships xmlns="http://schemas.openxmlformats.org/package/2006/relationships"><Relationship Id="rId13" Type="http://schemas.openxmlformats.org/officeDocument/2006/relationships/tags" Target="../tags/tag14.xml"/><Relationship Id="rId18" Type="http://schemas.openxmlformats.org/officeDocument/2006/relationships/tags" Target="../tags/tag19.xml"/><Relationship Id="rId26" Type="http://schemas.openxmlformats.org/officeDocument/2006/relationships/tags" Target="../tags/tag27.xml"/><Relationship Id="rId3" Type="http://schemas.openxmlformats.org/officeDocument/2006/relationships/tags" Target="../tags/tag4.xml"/><Relationship Id="rId21" Type="http://schemas.openxmlformats.org/officeDocument/2006/relationships/tags" Target="../tags/tag22.xml"/><Relationship Id="rId34" Type="http://schemas.openxmlformats.org/officeDocument/2006/relationships/tags" Target="../tags/tag35.xml"/><Relationship Id="rId7" Type="http://schemas.openxmlformats.org/officeDocument/2006/relationships/tags" Target="../tags/tag8.xml"/><Relationship Id="rId12" Type="http://schemas.openxmlformats.org/officeDocument/2006/relationships/tags" Target="../tags/tag13.xml"/><Relationship Id="rId17" Type="http://schemas.openxmlformats.org/officeDocument/2006/relationships/tags" Target="../tags/tag18.xml"/><Relationship Id="rId25" Type="http://schemas.openxmlformats.org/officeDocument/2006/relationships/tags" Target="../tags/tag26.xml"/><Relationship Id="rId33" Type="http://schemas.openxmlformats.org/officeDocument/2006/relationships/tags" Target="../tags/tag34.xml"/><Relationship Id="rId2" Type="http://schemas.openxmlformats.org/officeDocument/2006/relationships/tags" Target="../tags/tag3.xml"/><Relationship Id="rId16" Type="http://schemas.openxmlformats.org/officeDocument/2006/relationships/tags" Target="../tags/tag17.xml"/><Relationship Id="rId20" Type="http://schemas.openxmlformats.org/officeDocument/2006/relationships/tags" Target="../tags/tag21.xml"/><Relationship Id="rId29" Type="http://schemas.openxmlformats.org/officeDocument/2006/relationships/tags" Target="../tags/tag30.xml"/><Relationship Id="rId1" Type="http://schemas.openxmlformats.org/officeDocument/2006/relationships/tags" Target="../tags/tag2.xml"/><Relationship Id="rId6" Type="http://schemas.openxmlformats.org/officeDocument/2006/relationships/tags" Target="../tags/tag7.xml"/><Relationship Id="rId11" Type="http://schemas.openxmlformats.org/officeDocument/2006/relationships/tags" Target="../tags/tag12.xml"/><Relationship Id="rId24" Type="http://schemas.openxmlformats.org/officeDocument/2006/relationships/tags" Target="../tags/tag25.xml"/><Relationship Id="rId32" Type="http://schemas.openxmlformats.org/officeDocument/2006/relationships/tags" Target="../tags/tag33.xml"/><Relationship Id="rId5" Type="http://schemas.openxmlformats.org/officeDocument/2006/relationships/tags" Target="../tags/tag6.xml"/><Relationship Id="rId15" Type="http://schemas.openxmlformats.org/officeDocument/2006/relationships/tags" Target="../tags/tag16.xml"/><Relationship Id="rId23" Type="http://schemas.openxmlformats.org/officeDocument/2006/relationships/tags" Target="../tags/tag24.xml"/><Relationship Id="rId28" Type="http://schemas.openxmlformats.org/officeDocument/2006/relationships/tags" Target="../tags/tag29.xml"/><Relationship Id="rId36" Type="http://schemas.openxmlformats.org/officeDocument/2006/relationships/notesSlide" Target="../notesSlides/notesSlide6.xml"/><Relationship Id="rId10" Type="http://schemas.openxmlformats.org/officeDocument/2006/relationships/tags" Target="../tags/tag11.xml"/><Relationship Id="rId19" Type="http://schemas.openxmlformats.org/officeDocument/2006/relationships/tags" Target="../tags/tag20.xml"/><Relationship Id="rId31" Type="http://schemas.openxmlformats.org/officeDocument/2006/relationships/tags" Target="../tags/tag32.xml"/><Relationship Id="rId4" Type="http://schemas.openxmlformats.org/officeDocument/2006/relationships/tags" Target="../tags/tag5.xml"/><Relationship Id="rId9" Type="http://schemas.openxmlformats.org/officeDocument/2006/relationships/tags" Target="../tags/tag10.xml"/><Relationship Id="rId14" Type="http://schemas.openxmlformats.org/officeDocument/2006/relationships/tags" Target="../tags/tag15.xml"/><Relationship Id="rId22" Type="http://schemas.openxmlformats.org/officeDocument/2006/relationships/tags" Target="../tags/tag23.xml"/><Relationship Id="rId27" Type="http://schemas.openxmlformats.org/officeDocument/2006/relationships/tags" Target="../tags/tag28.xml"/><Relationship Id="rId30" Type="http://schemas.openxmlformats.org/officeDocument/2006/relationships/tags" Target="../tags/tag31.xml"/><Relationship Id="rId35" Type="http://schemas.openxmlformats.org/officeDocument/2006/relationships/slideLayout" Target="../slideLayouts/slideLayout2.xml"/><Relationship Id="rId8" Type="http://schemas.openxmlformats.org/officeDocument/2006/relationships/tags" Target="../tags/tag9.xml"/></Relationships>
</file>

<file path=ppt/slides/_rels/slide8.xml.rels><?xml version="1.0" encoding="UTF-8" standalone="yes"?>
<Relationships xmlns="http://schemas.openxmlformats.org/package/2006/relationships"><Relationship Id="rId8" Type="http://schemas.openxmlformats.org/officeDocument/2006/relationships/tags" Target="../tags/tag43.xml"/><Relationship Id="rId13" Type="http://schemas.openxmlformats.org/officeDocument/2006/relationships/tags" Target="../tags/tag48.xml"/><Relationship Id="rId18" Type="http://schemas.openxmlformats.org/officeDocument/2006/relationships/tags" Target="../tags/tag53.xml"/><Relationship Id="rId3" Type="http://schemas.openxmlformats.org/officeDocument/2006/relationships/tags" Target="../tags/tag38.xml"/><Relationship Id="rId21" Type="http://schemas.openxmlformats.org/officeDocument/2006/relationships/image" Target="../media/image8.jpeg"/><Relationship Id="rId7" Type="http://schemas.openxmlformats.org/officeDocument/2006/relationships/tags" Target="../tags/tag42.xml"/><Relationship Id="rId12" Type="http://schemas.openxmlformats.org/officeDocument/2006/relationships/tags" Target="../tags/tag47.xml"/><Relationship Id="rId17" Type="http://schemas.openxmlformats.org/officeDocument/2006/relationships/tags" Target="../tags/tag52.xml"/><Relationship Id="rId2" Type="http://schemas.openxmlformats.org/officeDocument/2006/relationships/tags" Target="../tags/tag37.xml"/><Relationship Id="rId16" Type="http://schemas.openxmlformats.org/officeDocument/2006/relationships/tags" Target="../tags/tag51.xml"/><Relationship Id="rId20" Type="http://schemas.openxmlformats.org/officeDocument/2006/relationships/notesSlide" Target="../notesSlides/notesSlide7.xml"/><Relationship Id="rId1" Type="http://schemas.openxmlformats.org/officeDocument/2006/relationships/tags" Target="../tags/tag36.xml"/><Relationship Id="rId6" Type="http://schemas.openxmlformats.org/officeDocument/2006/relationships/tags" Target="../tags/tag41.xml"/><Relationship Id="rId11" Type="http://schemas.openxmlformats.org/officeDocument/2006/relationships/tags" Target="../tags/tag46.xml"/><Relationship Id="rId5" Type="http://schemas.openxmlformats.org/officeDocument/2006/relationships/tags" Target="../tags/tag40.xml"/><Relationship Id="rId15" Type="http://schemas.openxmlformats.org/officeDocument/2006/relationships/tags" Target="../tags/tag50.xml"/><Relationship Id="rId10" Type="http://schemas.openxmlformats.org/officeDocument/2006/relationships/tags" Target="../tags/tag45.xml"/><Relationship Id="rId19" Type="http://schemas.openxmlformats.org/officeDocument/2006/relationships/slideLayout" Target="../slideLayouts/slideLayout2.xml"/><Relationship Id="rId4" Type="http://schemas.openxmlformats.org/officeDocument/2006/relationships/tags" Target="../tags/tag39.xml"/><Relationship Id="rId9" Type="http://schemas.openxmlformats.org/officeDocument/2006/relationships/tags" Target="../tags/tag44.xml"/><Relationship Id="rId14" Type="http://schemas.openxmlformats.org/officeDocument/2006/relationships/tags" Target="../tags/tag49.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54.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notesSlide" Target="../notesSlides/notesSlide9.xml"/><Relationship Id="rId7" Type="http://schemas.openxmlformats.org/officeDocument/2006/relationships/image" Target="../media/image14.png"/><Relationship Id="rId2" Type="http://schemas.openxmlformats.org/officeDocument/2006/relationships/slideLayout" Target="../slideLayouts/slideLayout2.xml"/><Relationship Id="rId1" Type="http://schemas.openxmlformats.org/officeDocument/2006/relationships/tags" Target="../tags/tag55.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5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5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ags" Target="../tags/tag58.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59.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60.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61.xml"/><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notesSlide" Target="../notesSlides/notesSlide16.xml"/><Relationship Id="rId7" Type="http://schemas.openxmlformats.org/officeDocument/2006/relationships/image" Target="../media/image32.png"/><Relationship Id="rId2" Type="http://schemas.openxmlformats.org/officeDocument/2006/relationships/slideLayout" Target="../slideLayouts/slideLayout2.xml"/><Relationship Id="rId1" Type="http://schemas.openxmlformats.org/officeDocument/2006/relationships/tags" Target="../tags/tag6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7" Type="http://schemas.openxmlformats.org/officeDocument/2006/relationships/image" Target="../media/image35.png"/><Relationship Id="rId2" Type="http://schemas.openxmlformats.org/officeDocument/2006/relationships/slideLayout" Target="../slideLayouts/slideLayout2.xml"/><Relationship Id="rId1" Type="http://schemas.openxmlformats.org/officeDocument/2006/relationships/tags" Target="../tags/tag63.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notesSlide" Target="../notesSlides/notesSlide18.xml"/><Relationship Id="rId7" Type="http://schemas.openxmlformats.org/officeDocument/2006/relationships/image" Target="../media/image39.png"/><Relationship Id="rId2" Type="http://schemas.openxmlformats.org/officeDocument/2006/relationships/slideLayout" Target="../slideLayouts/slideLayout2.xml"/><Relationship Id="rId1" Type="http://schemas.openxmlformats.org/officeDocument/2006/relationships/tags" Target="../tags/tag64.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 Id="rId9" Type="http://schemas.openxmlformats.org/officeDocument/2006/relationships/image" Target="../media/image41.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tags" Target="../tags/tag65.xml"/><Relationship Id="rId5" Type="http://schemas.openxmlformats.org/officeDocument/2006/relationships/image" Target="../media/image43.jpeg"/><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tags" Target="../tags/tag66.xml"/><Relationship Id="rId4" Type="http://schemas.openxmlformats.org/officeDocument/2006/relationships/image" Target="../media/image44.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1.xml"/><Relationship Id="rId7" Type="http://schemas.openxmlformats.org/officeDocument/2006/relationships/image" Target="../media/image35.png"/><Relationship Id="rId2" Type="http://schemas.openxmlformats.org/officeDocument/2006/relationships/slideLayout" Target="../slideLayouts/slideLayout2.xml"/><Relationship Id="rId1" Type="http://schemas.openxmlformats.org/officeDocument/2006/relationships/tags" Target="../tags/tag6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2.xml"/><Relationship Id="rId7" Type="http://schemas.openxmlformats.org/officeDocument/2006/relationships/image" Target="../media/image48.png"/><Relationship Id="rId2" Type="http://schemas.openxmlformats.org/officeDocument/2006/relationships/slideLayout" Target="../slideLayouts/slideLayout2.xml"/><Relationship Id="rId1" Type="http://schemas.openxmlformats.org/officeDocument/2006/relationships/tags" Target="../tags/tag68.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slideLayout" Target="../slideLayouts/slideLayout2.xml"/><Relationship Id="rId1" Type="http://schemas.openxmlformats.org/officeDocument/2006/relationships/tags" Target="../tags/tag69.xml"/><Relationship Id="rId5" Type="http://schemas.openxmlformats.org/officeDocument/2006/relationships/image" Target="../media/image7.jpeg"/><Relationship Id="rId4" Type="http://schemas.openxmlformats.org/officeDocument/2006/relationships/image" Target="../media/image6.jpe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6.xml"/><Relationship Id="rId1" Type="http://schemas.openxmlformats.org/officeDocument/2006/relationships/tags" Target="../tags/tag70.xml"/><Relationship Id="rId4" Type="http://schemas.openxmlformats.org/officeDocument/2006/relationships/image" Target="../media/image49.png"/></Relationships>
</file>

<file path=ppt/slides/_rels/slide26.xml.rels><?xml version="1.0" encoding="UTF-8" standalone="yes"?>
<Relationships xmlns="http://schemas.openxmlformats.org/package/2006/relationships"><Relationship Id="rId3" Type="http://schemas.openxmlformats.org/officeDocument/2006/relationships/tags" Target="../tags/tag73.xml"/><Relationship Id="rId7" Type="http://schemas.openxmlformats.org/officeDocument/2006/relationships/image" Target="../media/image51.jpeg"/><Relationship Id="rId2" Type="http://schemas.openxmlformats.org/officeDocument/2006/relationships/tags" Target="../tags/tag72.xml"/><Relationship Id="rId1" Type="http://schemas.openxmlformats.org/officeDocument/2006/relationships/tags" Target="../tags/tag71.xml"/><Relationship Id="rId6" Type="http://schemas.openxmlformats.org/officeDocument/2006/relationships/image" Target="../media/image50.jpeg"/><Relationship Id="rId5" Type="http://schemas.openxmlformats.org/officeDocument/2006/relationships/notesSlide" Target="../notesSlides/notesSlide23.xml"/><Relationship Id="rId4"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tags" Target="../tags/tag75.xml"/><Relationship Id="rId1" Type="http://schemas.openxmlformats.org/officeDocument/2006/relationships/tags" Target="../tags/tag74.xml"/><Relationship Id="rId5" Type="http://schemas.openxmlformats.org/officeDocument/2006/relationships/image" Target="../media/image52.png"/><Relationship Id="rId4"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6.xml"/><Relationship Id="rId1" Type="http://schemas.openxmlformats.org/officeDocument/2006/relationships/tags" Target="../tags/tag76.xml"/></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6.xml"/><Relationship Id="rId1" Type="http://schemas.openxmlformats.org/officeDocument/2006/relationships/tags" Target="../tags/tag77.xml"/><Relationship Id="rId5" Type="http://schemas.openxmlformats.org/officeDocument/2006/relationships/image" Target="../media/image54.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slideLayout" Target="../slideLayouts/slideLayout6.xml"/><Relationship Id="rId1" Type="http://schemas.openxmlformats.org/officeDocument/2006/relationships/tags" Target="../tags/tag78.xml"/><Relationship Id="rId5" Type="http://schemas.openxmlformats.org/officeDocument/2006/relationships/image" Target="../media/image57.png"/><Relationship Id="rId4" Type="http://schemas.openxmlformats.org/officeDocument/2006/relationships/image" Target="../media/image56.png"/></Relationships>
</file>

<file path=ppt/slides/_rels/slide3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slideLayout" Target="../slideLayouts/slideLayout6.xml"/><Relationship Id="rId1" Type="http://schemas.openxmlformats.org/officeDocument/2006/relationships/tags" Target="../tags/tag79.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slideLayout" Target="../slideLayouts/slideLayout6.xml"/><Relationship Id="rId1" Type="http://schemas.openxmlformats.org/officeDocument/2006/relationships/tags" Target="../tags/tag80.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2.xml"/><Relationship Id="rId1" Type="http://schemas.openxmlformats.org/officeDocument/2006/relationships/tags" Target="../tags/tag81.xml"/><Relationship Id="rId4" Type="http://schemas.openxmlformats.org/officeDocument/2006/relationships/image" Target="../media/image63.png"/></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2.xml"/><Relationship Id="rId1" Type="http://schemas.openxmlformats.org/officeDocument/2006/relationships/tags" Target="../tags/tag82.xml"/><Relationship Id="rId4" Type="http://schemas.openxmlformats.org/officeDocument/2006/relationships/image" Target="../media/image64.png"/></Relationships>
</file>

<file path=ppt/slides/_rels/slide35.xml.rels><?xml version="1.0" encoding="UTF-8" standalone="yes"?>
<Relationships xmlns="http://schemas.openxmlformats.org/package/2006/relationships"><Relationship Id="rId8" Type="http://schemas.openxmlformats.org/officeDocument/2006/relationships/tags" Target="../tags/tag90.xml"/><Relationship Id="rId13" Type="http://schemas.openxmlformats.org/officeDocument/2006/relationships/tags" Target="../tags/tag95.xml"/><Relationship Id="rId18" Type="http://schemas.openxmlformats.org/officeDocument/2006/relationships/tags" Target="../tags/tag100.xml"/><Relationship Id="rId3" Type="http://schemas.openxmlformats.org/officeDocument/2006/relationships/tags" Target="../tags/tag85.xml"/><Relationship Id="rId21" Type="http://schemas.openxmlformats.org/officeDocument/2006/relationships/notesSlide" Target="../notesSlides/notesSlide29.xml"/><Relationship Id="rId7" Type="http://schemas.openxmlformats.org/officeDocument/2006/relationships/tags" Target="../tags/tag89.xml"/><Relationship Id="rId12" Type="http://schemas.openxmlformats.org/officeDocument/2006/relationships/tags" Target="../tags/tag94.xml"/><Relationship Id="rId17" Type="http://schemas.openxmlformats.org/officeDocument/2006/relationships/tags" Target="../tags/tag99.xml"/><Relationship Id="rId2" Type="http://schemas.openxmlformats.org/officeDocument/2006/relationships/tags" Target="../tags/tag84.xml"/><Relationship Id="rId16" Type="http://schemas.openxmlformats.org/officeDocument/2006/relationships/tags" Target="../tags/tag98.xml"/><Relationship Id="rId20" Type="http://schemas.openxmlformats.org/officeDocument/2006/relationships/slideLayout" Target="../slideLayouts/slideLayout2.xml"/><Relationship Id="rId1" Type="http://schemas.openxmlformats.org/officeDocument/2006/relationships/tags" Target="../tags/tag83.xml"/><Relationship Id="rId6" Type="http://schemas.openxmlformats.org/officeDocument/2006/relationships/tags" Target="../tags/tag88.xml"/><Relationship Id="rId11" Type="http://schemas.openxmlformats.org/officeDocument/2006/relationships/tags" Target="../tags/tag93.xml"/><Relationship Id="rId5" Type="http://schemas.openxmlformats.org/officeDocument/2006/relationships/tags" Target="../tags/tag87.xml"/><Relationship Id="rId15" Type="http://schemas.openxmlformats.org/officeDocument/2006/relationships/tags" Target="../tags/tag97.xml"/><Relationship Id="rId23" Type="http://schemas.openxmlformats.org/officeDocument/2006/relationships/image" Target="../media/image65.png"/><Relationship Id="rId10" Type="http://schemas.openxmlformats.org/officeDocument/2006/relationships/tags" Target="../tags/tag92.xml"/><Relationship Id="rId19" Type="http://schemas.openxmlformats.org/officeDocument/2006/relationships/tags" Target="../tags/tag101.xml"/><Relationship Id="rId4" Type="http://schemas.openxmlformats.org/officeDocument/2006/relationships/tags" Target="../tags/tag86.xml"/><Relationship Id="rId9" Type="http://schemas.openxmlformats.org/officeDocument/2006/relationships/tags" Target="../tags/tag91.xml"/><Relationship Id="rId14" Type="http://schemas.openxmlformats.org/officeDocument/2006/relationships/tags" Target="../tags/tag96.xml"/><Relationship Id="rId22" Type="http://schemas.openxmlformats.org/officeDocument/2006/relationships/image" Target="../media/image8.jpeg"/></Relationships>
</file>

<file path=ppt/slides/_rels/slide36.xml.rels><?xml version="1.0" encoding="UTF-8" standalone="yes"?>
<Relationships xmlns="http://schemas.openxmlformats.org/package/2006/relationships"><Relationship Id="rId8" Type="http://schemas.openxmlformats.org/officeDocument/2006/relationships/tags" Target="../tags/tag109.xml"/><Relationship Id="rId13" Type="http://schemas.openxmlformats.org/officeDocument/2006/relationships/tags" Target="../tags/tag114.xml"/><Relationship Id="rId18" Type="http://schemas.openxmlformats.org/officeDocument/2006/relationships/tags" Target="../tags/tag119.xml"/><Relationship Id="rId26" Type="http://schemas.openxmlformats.org/officeDocument/2006/relationships/tags" Target="../tags/tag127.xml"/><Relationship Id="rId3" Type="http://schemas.openxmlformats.org/officeDocument/2006/relationships/tags" Target="../tags/tag104.xml"/><Relationship Id="rId21" Type="http://schemas.openxmlformats.org/officeDocument/2006/relationships/tags" Target="../tags/tag122.xml"/><Relationship Id="rId7" Type="http://schemas.openxmlformats.org/officeDocument/2006/relationships/tags" Target="../tags/tag108.xml"/><Relationship Id="rId12" Type="http://schemas.openxmlformats.org/officeDocument/2006/relationships/tags" Target="../tags/tag113.xml"/><Relationship Id="rId17" Type="http://schemas.openxmlformats.org/officeDocument/2006/relationships/tags" Target="../tags/tag118.xml"/><Relationship Id="rId25" Type="http://schemas.openxmlformats.org/officeDocument/2006/relationships/tags" Target="../tags/tag126.xml"/><Relationship Id="rId2" Type="http://schemas.openxmlformats.org/officeDocument/2006/relationships/tags" Target="../tags/tag103.xml"/><Relationship Id="rId16" Type="http://schemas.openxmlformats.org/officeDocument/2006/relationships/tags" Target="../tags/tag117.xml"/><Relationship Id="rId20" Type="http://schemas.openxmlformats.org/officeDocument/2006/relationships/tags" Target="../tags/tag121.xml"/><Relationship Id="rId29" Type="http://schemas.openxmlformats.org/officeDocument/2006/relationships/slideLayout" Target="../slideLayouts/slideLayout2.xml"/><Relationship Id="rId1" Type="http://schemas.openxmlformats.org/officeDocument/2006/relationships/tags" Target="../tags/tag102.xml"/><Relationship Id="rId6" Type="http://schemas.openxmlformats.org/officeDocument/2006/relationships/tags" Target="../tags/tag107.xml"/><Relationship Id="rId11" Type="http://schemas.openxmlformats.org/officeDocument/2006/relationships/tags" Target="../tags/tag112.xml"/><Relationship Id="rId24" Type="http://schemas.openxmlformats.org/officeDocument/2006/relationships/tags" Target="../tags/tag125.xml"/><Relationship Id="rId32" Type="http://schemas.openxmlformats.org/officeDocument/2006/relationships/image" Target="../media/image67.png"/><Relationship Id="rId5" Type="http://schemas.openxmlformats.org/officeDocument/2006/relationships/tags" Target="../tags/tag106.xml"/><Relationship Id="rId15" Type="http://schemas.openxmlformats.org/officeDocument/2006/relationships/tags" Target="../tags/tag116.xml"/><Relationship Id="rId23" Type="http://schemas.openxmlformats.org/officeDocument/2006/relationships/tags" Target="../tags/tag124.xml"/><Relationship Id="rId28" Type="http://schemas.openxmlformats.org/officeDocument/2006/relationships/tags" Target="../tags/tag129.xml"/><Relationship Id="rId10" Type="http://schemas.openxmlformats.org/officeDocument/2006/relationships/tags" Target="../tags/tag111.xml"/><Relationship Id="rId19" Type="http://schemas.openxmlformats.org/officeDocument/2006/relationships/tags" Target="../tags/tag120.xml"/><Relationship Id="rId31" Type="http://schemas.openxmlformats.org/officeDocument/2006/relationships/image" Target="../media/image66.png"/><Relationship Id="rId4" Type="http://schemas.openxmlformats.org/officeDocument/2006/relationships/tags" Target="../tags/tag105.xml"/><Relationship Id="rId9" Type="http://schemas.openxmlformats.org/officeDocument/2006/relationships/tags" Target="../tags/tag110.xml"/><Relationship Id="rId14" Type="http://schemas.openxmlformats.org/officeDocument/2006/relationships/tags" Target="../tags/tag115.xml"/><Relationship Id="rId22" Type="http://schemas.openxmlformats.org/officeDocument/2006/relationships/tags" Target="../tags/tag123.xml"/><Relationship Id="rId27" Type="http://schemas.openxmlformats.org/officeDocument/2006/relationships/tags" Target="../tags/tag128.xml"/><Relationship Id="rId30"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8" Type="http://schemas.openxmlformats.org/officeDocument/2006/relationships/tags" Target="../tags/tag137.xml"/><Relationship Id="rId13" Type="http://schemas.openxmlformats.org/officeDocument/2006/relationships/tags" Target="../tags/tag142.xml"/><Relationship Id="rId18" Type="http://schemas.openxmlformats.org/officeDocument/2006/relationships/tags" Target="../tags/tag147.xml"/><Relationship Id="rId3" Type="http://schemas.openxmlformats.org/officeDocument/2006/relationships/tags" Target="../tags/tag132.xml"/><Relationship Id="rId21" Type="http://schemas.openxmlformats.org/officeDocument/2006/relationships/notesSlide" Target="../notesSlides/notesSlide31.xml"/><Relationship Id="rId7" Type="http://schemas.openxmlformats.org/officeDocument/2006/relationships/tags" Target="../tags/tag136.xml"/><Relationship Id="rId12" Type="http://schemas.openxmlformats.org/officeDocument/2006/relationships/tags" Target="../tags/tag141.xml"/><Relationship Id="rId17" Type="http://schemas.openxmlformats.org/officeDocument/2006/relationships/tags" Target="../tags/tag146.xml"/><Relationship Id="rId2" Type="http://schemas.openxmlformats.org/officeDocument/2006/relationships/tags" Target="../tags/tag131.xml"/><Relationship Id="rId16" Type="http://schemas.openxmlformats.org/officeDocument/2006/relationships/tags" Target="../tags/tag145.xml"/><Relationship Id="rId20" Type="http://schemas.openxmlformats.org/officeDocument/2006/relationships/slideLayout" Target="../slideLayouts/slideLayout2.xml"/><Relationship Id="rId1" Type="http://schemas.openxmlformats.org/officeDocument/2006/relationships/tags" Target="../tags/tag130.xml"/><Relationship Id="rId6" Type="http://schemas.openxmlformats.org/officeDocument/2006/relationships/tags" Target="../tags/tag135.xml"/><Relationship Id="rId11" Type="http://schemas.openxmlformats.org/officeDocument/2006/relationships/tags" Target="../tags/tag140.xml"/><Relationship Id="rId5" Type="http://schemas.openxmlformats.org/officeDocument/2006/relationships/tags" Target="../tags/tag134.xml"/><Relationship Id="rId15" Type="http://schemas.openxmlformats.org/officeDocument/2006/relationships/tags" Target="../tags/tag144.xml"/><Relationship Id="rId23" Type="http://schemas.openxmlformats.org/officeDocument/2006/relationships/image" Target="../media/image65.png"/><Relationship Id="rId10" Type="http://schemas.openxmlformats.org/officeDocument/2006/relationships/tags" Target="../tags/tag139.xml"/><Relationship Id="rId19" Type="http://schemas.openxmlformats.org/officeDocument/2006/relationships/tags" Target="../tags/tag148.xml"/><Relationship Id="rId4" Type="http://schemas.openxmlformats.org/officeDocument/2006/relationships/tags" Target="../tags/tag133.xml"/><Relationship Id="rId9" Type="http://schemas.openxmlformats.org/officeDocument/2006/relationships/tags" Target="../tags/tag138.xml"/><Relationship Id="rId14" Type="http://schemas.openxmlformats.org/officeDocument/2006/relationships/tags" Target="../tags/tag143.xml"/><Relationship Id="rId22" Type="http://schemas.openxmlformats.org/officeDocument/2006/relationships/image" Target="../media/image8.jpeg"/></Relationships>
</file>

<file path=ppt/slides/_rels/slide38.xml.rels><?xml version="1.0" encoding="UTF-8" standalone="yes"?>
<Relationships xmlns="http://schemas.openxmlformats.org/package/2006/relationships"><Relationship Id="rId8" Type="http://schemas.openxmlformats.org/officeDocument/2006/relationships/tags" Target="../tags/tag156.xml"/><Relationship Id="rId13" Type="http://schemas.openxmlformats.org/officeDocument/2006/relationships/tags" Target="../tags/tag161.xml"/><Relationship Id="rId18" Type="http://schemas.openxmlformats.org/officeDocument/2006/relationships/tags" Target="../tags/tag166.xml"/><Relationship Id="rId26" Type="http://schemas.openxmlformats.org/officeDocument/2006/relationships/tags" Target="../tags/tag174.xml"/><Relationship Id="rId3" Type="http://schemas.openxmlformats.org/officeDocument/2006/relationships/tags" Target="../tags/tag151.xml"/><Relationship Id="rId21" Type="http://schemas.openxmlformats.org/officeDocument/2006/relationships/tags" Target="../tags/tag169.xml"/><Relationship Id="rId7" Type="http://schemas.openxmlformats.org/officeDocument/2006/relationships/tags" Target="../tags/tag155.xml"/><Relationship Id="rId12" Type="http://schemas.openxmlformats.org/officeDocument/2006/relationships/tags" Target="../tags/tag160.xml"/><Relationship Id="rId17" Type="http://schemas.openxmlformats.org/officeDocument/2006/relationships/tags" Target="../tags/tag165.xml"/><Relationship Id="rId25" Type="http://schemas.openxmlformats.org/officeDocument/2006/relationships/tags" Target="../tags/tag173.xml"/><Relationship Id="rId2" Type="http://schemas.openxmlformats.org/officeDocument/2006/relationships/tags" Target="../tags/tag150.xml"/><Relationship Id="rId16" Type="http://schemas.openxmlformats.org/officeDocument/2006/relationships/tags" Target="../tags/tag164.xml"/><Relationship Id="rId20" Type="http://schemas.openxmlformats.org/officeDocument/2006/relationships/tags" Target="../tags/tag168.xml"/><Relationship Id="rId29" Type="http://schemas.openxmlformats.org/officeDocument/2006/relationships/slideLayout" Target="../slideLayouts/slideLayout2.xml"/><Relationship Id="rId1" Type="http://schemas.openxmlformats.org/officeDocument/2006/relationships/tags" Target="../tags/tag149.xml"/><Relationship Id="rId6" Type="http://schemas.openxmlformats.org/officeDocument/2006/relationships/tags" Target="../tags/tag154.xml"/><Relationship Id="rId11" Type="http://schemas.openxmlformats.org/officeDocument/2006/relationships/tags" Target="../tags/tag159.xml"/><Relationship Id="rId24" Type="http://schemas.openxmlformats.org/officeDocument/2006/relationships/tags" Target="../tags/tag172.xml"/><Relationship Id="rId32" Type="http://schemas.openxmlformats.org/officeDocument/2006/relationships/image" Target="../media/image69.png"/><Relationship Id="rId5" Type="http://schemas.openxmlformats.org/officeDocument/2006/relationships/tags" Target="../tags/tag153.xml"/><Relationship Id="rId15" Type="http://schemas.openxmlformats.org/officeDocument/2006/relationships/tags" Target="../tags/tag163.xml"/><Relationship Id="rId23" Type="http://schemas.openxmlformats.org/officeDocument/2006/relationships/tags" Target="../tags/tag171.xml"/><Relationship Id="rId28" Type="http://schemas.openxmlformats.org/officeDocument/2006/relationships/tags" Target="../tags/tag176.xml"/><Relationship Id="rId10" Type="http://schemas.openxmlformats.org/officeDocument/2006/relationships/tags" Target="../tags/tag158.xml"/><Relationship Id="rId19" Type="http://schemas.openxmlformats.org/officeDocument/2006/relationships/tags" Target="../tags/tag167.xml"/><Relationship Id="rId31" Type="http://schemas.openxmlformats.org/officeDocument/2006/relationships/image" Target="../media/image68.png"/><Relationship Id="rId4" Type="http://schemas.openxmlformats.org/officeDocument/2006/relationships/tags" Target="../tags/tag152.xml"/><Relationship Id="rId9" Type="http://schemas.openxmlformats.org/officeDocument/2006/relationships/tags" Target="../tags/tag157.xml"/><Relationship Id="rId14" Type="http://schemas.openxmlformats.org/officeDocument/2006/relationships/tags" Target="../tags/tag162.xml"/><Relationship Id="rId22" Type="http://schemas.openxmlformats.org/officeDocument/2006/relationships/tags" Target="../tags/tag170.xml"/><Relationship Id="rId27" Type="http://schemas.openxmlformats.org/officeDocument/2006/relationships/tags" Target="../tags/tag175.xml"/><Relationship Id="rId30"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tags" Target="../tags/tag177.xml"/></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tags" Target="../tags/tag178.xml"/></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6.xml"/><Relationship Id="rId1" Type="http://schemas.openxmlformats.org/officeDocument/2006/relationships/tags" Target="../tags/tag179.xml"/><Relationship Id="rId4" Type="http://schemas.openxmlformats.org/officeDocument/2006/relationships/image" Target="../media/image70.png"/></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80.xml"/></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81.xml"/></Relationships>
</file>

<file path=ppt/slides/_rels/slide4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82.xml"/></Relationships>
</file>

<file path=ppt/slides/_rels/slide45.xml.rels><?xml version="1.0" encoding="UTF-8" standalone="yes"?>
<Relationships xmlns="http://schemas.openxmlformats.org/package/2006/relationships"><Relationship Id="rId8" Type="http://schemas.openxmlformats.org/officeDocument/2006/relationships/tags" Target="../tags/tag190.xml"/><Relationship Id="rId3" Type="http://schemas.openxmlformats.org/officeDocument/2006/relationships/tags" Target="../tags/tag185.xml"/><Relationship Id="rId7" Type="http://schemas.openxmlformats.org/officeDocument/2006/relationships/tags" Target="../tags/tag189.xml"/><Relationship Id="rId2" Type="http://schemas.openxmlformats.org/officeDocument/2006/relationships/tags" Target="../tags/tag184.xml"/><Relationship Id="rId1" Type="http://schemas.openxmlformats.org/officeDocument/2006/relationships/tags" Target="../tags/tag183.xml"/><Relationship Id="rId6" Type="http://schemas.openxmlformats.org/officeDocument/2006/relationships/tags" Target="../tags/tag188.xml"/><Relationship Id="rId11" Type="http://schemas.openxmlformats.org/officeDocument/2006/relationships/image" Target="../media/image71.png"/><Relationship Id="rId5" Type="http://schemas.openxmlformats.org/officeDocument/2006/relationships/tags" Target="../tags/tag187.xml"/><Relationship Id="rId10" Type="http://schemas.openxmlformats.org/officeDocument/2006/relationships/slideLayout" Target="../slideLayouts/slideLayout2.xml"/><Relationship Id="rId4" Type="http://schemas.openxmlformats.org/officeDocument/2006/relationships/tags" Target="../tags/tag186.xml"/><Relationship Id="rId9" Type="http://schemas.openxmlformats.org/officeDocument/2006/relationships/tags" Target="../tags/tag191.xml"/></Relationships>
</file>

<file path=ppt/slides/_rels/slide46.xml.rels><?xml version="1.0" encoding="UTF-8" standalone="yes"?>
<Relationships xmlns="http://schemas.openxmlformats.org/package/2006/relationships"><Relationship Id="rId8" Type="http://schemas.openxmlformats.org/officeDocument/2006/relationships/tags" Target="../tags/tag199.xml"/><Relationship Id="rId13" Type="http://schemas.openxmlformats.org/officeDocument/2006/relationships/image" Target="../media/image71.png"/><Relationship Id="rId3" Type="http://schemas.openxmlformats.org/officeDocument/2006/relationships/tags" Target="../tags/tag194.xml"/><Relationship Id="rId7" Type="http://schemas.openxmlformats.org/officeDocument/2006/relationships/tags" Target="../tags/tag198.xml"/><Relationship Id="rId12" Type="http://schemas.openxmlformats.org/officeDocument/2006/relationships/notesSlide" Target="../notesSlides/notesSlide34.xml"/><Relationship Id="rId2" Type="http://schemas.openxmlformats.org/officeDocument/2006/relationships/tags" Target="../tags/tag193.xml"/><Relationship Id="rId1" Type="http://schemas.openxmlformats.org/officeDocument/2006/relationships/tags" Target="../tags/tag192.xml"/><Relationship Id="rId6" Type="http://schemas.openxmlformats.org/officeDocument/2006/relationships/tags" Target="../tags/tag197.xml"/><Relationship Id="rId11" Type="http://schemas.openxmlformats.org/officeDocument/2006/relationships/slideLayout" Target="../slideLayouts/slideLayout2.xml"/><Relationship Id="rId5" Type="http://schemas.openxmlformats.org/officeDocument/2006/relationships/tags" Target="../tags/tag196.xml"/><Relationship Id="rId10" Type="http://schemas.openxmlformats.org/officeDocument/2006/relationships/tags" Target="../tags/tag201.xml"/><Relationship Id="rId4" Type="http://schemas.openxmlformats.org/officeDocument/2006/relationships/tags" Target="../tags/tag195.xml"/><Relationship Id="rId9" Type="http://schemas.openxmlformats.org/officeDocument/2006/relationships/tags" Target="../tags/tag200.xml"/></Relationships>
</file>

<file path=ppt/slides/_rels/slide47.xml.rels><?xml version="1.0" encoding="UTF-8" standalone="yes"?>
<Relationships xmlns="http://schemas.openxmlformats.org/package/2006/relationships"><Relationship Id="rId8" Type="http://schemas.openxmlformats.org/officeDocument/2006/relationships/tags" Target="../tags/tag209.xml"/><Relationship Id="rId13" Type="http://schemas.openxmlformats.org/officeDocument/2006/relationships/image" Target="../media/image71.png"/><Relationship Id="rId3" Type="http://schemas.openxmlformats.org/officeDocument/2006/relationships/tags" Target="../tags/tag204.xml"/><Relationship Id="rId7" Type="http://schemas.openxmlformats.org/officeDocument/2006/relationships/tags" Target="../tags/tag208.xml"/><Relationship Id="rId12" Type="http://schemas.openxmlformats.org/officeDocument/2006/relationships/notesSlide" Target="../notesSlides/notesSlide35.xml"/><Relationship Id="rId2" Type="http://schemas.openxmlformats.org/officeDocument/2006/relationships/tags" Target="../tags/tag203.xml"/><Relationship Id="rId1" Type="http://schemas.openxmlformats.org/officeDocument/2006/relationships/tags" Target="../tags/tag202.xml"/><Relationship Id="rId6" Type="http://schemas.openxmlformats.org/officeDocument/2006/relationships/tags" Target="../tags/tag207.xml"/><Relationship Id="rId11" Type="http://schemas.openxmlformats.org/officeDocument/2006/relationships/slideLayout" Target="../slideLayouts/slideLayout2.xml"/><Relationship Id="rId5" Type="http://schemas.openxmlformats.org/officeDocument/2006/relationships/tags" Target="../tags/tag206.xml"/><Relationship Id="rId10" Type="http://schemas.openxmlformats.org/officeDocument/2006/relationships/tags" Target="../tags/tag211.xml"/><Relationship Id="rId4" Type="http://schemas.openxmlformats.org/officeDocument/2006/relationships/tags" Target="../tags/tag205.xml"/><Relationship Id="rId9" Type="http://schemas.openxmlformats.org/officeDocument/2006/relationships/tags" Target="../tags/tag210.xml"/></Relationships>
</file>

<file path=ppt/slides/_rels/slide48.xml.rels><?xml version="1.0" encoding="UTF-8" standalone="yes"?>
<Relationships xmlns="http://schemas.openxmlformats.org/package/2006/relationships"><Relationship Id="rId8" Type="http://schemas.openxmlformats.org/officeDocument/2006/relationships/tags" Target="../tags/tag219.xml"/><Relationship Id="rId13" Type="http://schemas.openxmlformats.org/officeDocument/2006/relationships/image" Target="../media/image71.png"/><Relationship Id="rId3" Type="http://schemas.openxmlformats.org/officeDocument/2006/relationships/tags" Target="../tags/tag214.xml"/><Relationship Id="rId7" Type="http://schemas.openxmlformats.org/officeDocument/2006/relationships/tags" Target="../tags/tag218.xml"/><Relationship Id="rId12" Type="http://schemas.openxmlformats.org/officeDocument/2006/relationships/notesSlide" Target="../notesSlides/notesSlide36.xml"/><Relationship Id="rId2" Type="http://schemas.openxmlformats.org/officeDocument/2006/relationships/tags" Target="../tags/tag213.xml"/><Relationship Id="rId1" Type="http://schemas.openxmlformats.org/officeDocument/2006/relationships/tags" Target="../tags/tag212.xml"/><Relationship Id="rId6" Type="http://schemas.openxmlformats.org/officeDocument/2006/relationships/tags" Target="../tags/tag217.xml"/><Relationship Id="rId11" Type="http://schemas.openxmlformats.org/officeDocument/2006/relationships/slideLayout" Target="../slideLayouts/slideLayout2.xml"/><Relationship Id="rId5" Type="http://schemas.openxmlformats.org/officeDocument/2006/relationships/tags" Target="../tags/tag216.xml"/><Relationship Id="rId10" Type="http://schemas.openxmlformats.org/officeDocument/2006/relationships/tags" Target="../tags/tag221.xml"/><Relationship Id="rId4" Type="http://schemas.openxmlformats.org/officeDocument/2006/relationships/tags" Target="../tags/tag215.xml"/><Relationship Id="rId9" Type="http://schemas.openxmlformats.org/officeDocument/2006/relationships/tags" Target="../tags/tag220.xml"/></Relationships>
</file>

<file path=ppt/slides/_rels/slide4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slideLayout" Target="../slideLayouts/slideLayout2.xml"/><Relationship Id="rId1" Type="http://schemas.openxmlformats.org/officeDocument/2006/relationships/tags" Target="../tags/tag222.xml"/></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slideLayout" Target="../slideLayouts/slideLayout6.xml"/><Relationship Id="rId1" Type="http://schemas.openxmlformats.org/officeDocument/2006/relationships/tags" Target="../tags/tag2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54467" y="814958"/>
            <a:ext cx="6057900" cy="1102178"/>
          </a:xfrm>
        </p:spPr>
        <p:txBody>
          <a:bodyPr>
            <a:normAutofit/>
          </a:bodyPr>
          <a:lstStyle/>
          <a:p>
            <a:pPr algn="l"/>
            <a:r>
              <a:rPr lang="zh-CN" altLang="en-US" sz="2700" b="0" dirty="0"/>
              <a:t>几何变换</a:t>
            </a:r>
            <a:endParaRPr lang="en-US" sz="2700" b="0" dirty="0"/>
          </a:p>
        </p:txBody>
      </p:sp>
      <p:sp>
        <p:nvSpPr>
          <p:cNvPr id="6" name="Title 1"/>
          <p:cNvSpPr txBox="1"/>
          <p:nvPr/>
        </p:nvSpPr>
        <p:spPr>
          <a:xfrm>
            <a:off x="692323" y="263528"/>
            <a:ext cx="6388671" cy="1102519"/>
          </a:xfrm>
          <a:prstGeom prst="rect">
            <a:avLst/>
          </a:prstGeom>
        </p:spPr>
        <p:txBody>
          <a:bodyPr vert="horz" lIns="68580" tIns="34290" rIns="68580" bIns="34290" rtlCol="0" anchor="ctr">
            <a:normAutofit/>
          </a:bodyPr>
          <a:lstStyle/>
          <a:p>
            <a:pPr>
              <a:spcBef>
                <a:spcPct val="0"/>
              </a:spcBef>
              <a:defRPr/>
            </a:pPr>
            <a:r>
              <a:rPr lang="zh-CN" altLang="en-US" sz="3300" b="1" dirty="0">
                <a:latin typeface="+mj-lt"/>
                <a:ea typeface="+mj-ea"/>
                <a:cs typeface="+mj-cs"/>
              </a:rPr>
              <a:t>计算机视觉</a:t>
            </a:r>
            <a:endParaRPr lang="en-US" sz="3300" b="1" dirty="0">
              <a:latin typeface="+mj-lt"/>
              <a:ea typeface="+mj-ea"/>
              <a:cs typeface="+mj-cs"/>
            </a:endParaRPr>
          </a:p>
        </p:txBody>
      </p:sp>
      <p:sp>
        <p:nvSpPr>
          <p:cNvPr id="8" name="Rectangle 7"/>
          <p:cNvSpPr/>
          <p:nvPr/>
        </p:nvSpPr>
        <p:spPr>
          <a:xfrm>
            <a:off x="-64205" y="1586884"/>
            <a:ext cx="9982622" cy="342900"/>
          </a:xfrm>
          <a:prstGeom prst="rect">
            <a:avLst/>
          </a:prstGeom>
          <a:solidFill>
            <a:schemeClr val="bg1">
              <a:lumMod val="65000"/>
            </a:schemeClr>
          </a:solidFill>
          <a:ln>
            <a:noFill/>
          </a:ln>
          <a:effectLst>
            <a:outerShdw blurRad="101600" dist="762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1" name="Picture 3"/>
          <p:cNvPicPr>
            <a:picLocks noChangeAspect="1" noChangeArrowheads="1"/>
          </p:cNvPicPr>
          <p:nvPr/>
        </p:nvPicPr>
        <p:blipFill>
          <a:blip r:embed="rId3" cstate="print"/>
          <a:srcRect l="23714" t="51855" r="14572" b="21048"/>
          <a:stretch>
            <a:fillRect/>
          </a:stretch>
        </p:blipFill>
        <p:spPr bwMode="auto">
          <a:xfrm>
            <a:off x="564632" y="2970970"/>
            <a:ext cx="8014736" cy="2640149"/>
          </a:xfrm>
          <a:prstGeom prst="rect">
            <a:avLst/>
          </a:prstGeom>
          <a:noFill/>
          <a:ln w="9525">
            <a:noFill/>
            <a:miter lim="800000"/>
            <a:headEnd/>
            <a:tailEnd/>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19596" y="5417531"/>
            <a:ext cx="8496067" cy="1200329"/>
          </a:xfrm>
          <a:prstGeom prst="rect">
            <a:avLst/>
          </a:prstGeom>
        </p:spPr>
        <p:txBody>
          <a:bodyPr wrap="square">
            <a:spAutoFit/>
          </a:bodyPr>
          <a:lstStyle/>
          <a:p>
            <a:r>
              <a:rPr lang="zh-CN" altLang="en-US" sz="1200" dirty="0"/>
              <a:t>https://ww2.mathworks.cn/help/images/image-registration-and-geometric-transformation.html?searchHighlight=%E5%9B%BE%E5%83%8F%E5%87%A0%E4%BD%95%E5%8F%98%E6%8D%A2&amp;s_tid=srchtitle_support_results_1_%25E5%259B%25BE%25E5%2583%258F%25E5%2587%25A0%25E4%25BD%2595%25E5%258F%2598%25E6%258D%25A</a:t>
            </a:r>
            <a:r>
              <a:rPr lang="zh-CN" altLang="en-US" sz="1200" dirty="0" smtClean="0"/>
              <a:t>2</a:t>
            </a:r>
            <a:endParaRPr lang="en-US" altLang="zh-CN" sz="1200" dirty="0" smtClean="0"/>
          </a:p>
          <a:p>
            <a:endParaRPr lang="en-US" altLang="zh-CN" sz="1200" dirty="0" smtClean="0"/>
          </a:p>
          <a:p>
            <a:endParaRPr lang="en-US" altLang="zh-CN" sz="1200" dirty="0" smtClean="0"/>
          </a:p>
          <a:p>
            <a:endParaRPr lang="en-US" altLang="zh-CN" sz="1200" dirty="0" smtClean="0"/>
          </a:p>
        </p:txBody>
      </p:sp>
      <p:pic>
        <p:nvPicPr>
          <p:cNvPr id="5" name="图片 4"/>
          <p:cNvPicPr>
            <a:picLocks noChangeAspect="1"/>
          </p:cNvPicPr>
          <p:nvPr/>
        </p:nvPicPr>
        <p:blipFill>
          <a:blip r:embed="rId3"/>
          <a:stretch>
            <a:fillRect/>
          </a:stretch>
        </p:blipFill>
        <p:spPr>
          <a:xfrm>
            <a:off x="461639" y="967665"/>
            <a:ext cx="8457612" cy="4113413"/>
          </a:xfrm>
          <a:prstGeom prst="rect">
            <a:avLst/>
          </a:prstGeom>
          <a:ln>
            <a:solidFill>
              <a:schemeClr val="tx1"/>
            </a:solidFill>
          </a:ln>
        </p:spPr>
      </p:pic>
    </p:spTree>
    <p:extLst>
      <p:ext uri="{BB962C8B-B14F-4D97-AF65-F5344CB8AC3E}">
        <p14:creationId xmlns:p14="http://schemas.microsoft.com/office/powerpoint/2010/main" val="14256741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p:cNvSpPr>
            <a:spLocks noChangeArrowheads="1"/>
          </p:cNvSpPr>
          <p:nvPr/>
        </p:nvSpPr>
        <p:spPr bwMode="auto">
          <a:xfrm>
            <a:off x="292963" y="425151"/>
            <a:ext cx="9081856" cy="1005387"/>
          </a:xfrm>
          <a:prstGeom prst="rect">
            <a:avLst/>
          </a:prstGeom>
          <a:solidFill>
            <a:srgbClr val="FCFCF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50784"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1"/>
            <a:r>
              <a:rPr kumimoji="0" lang="en-US" altLang="zh-CN" sz="2400" b="0" i="0" u="none" strike="noStrike" cap="none" normalizeH="0" baseline="0" dirty="0" err="1" smtClean="0">
                <a:ln>
                  <a:noFill/>
                </a:ln>
                <a:solidFill>
                  <a:srgbClr val="C05708"/>
                </a:solidFill>
                <a:effectLst/>
                <a:latin typeface="微软雅黑" panose="020B0503020204020204" pitchFamily="34" charset="-122"/>
                <a:ea typeface="微软雅黑" panose="020B0503020204020204" pitchFamily="34" charset="-122"/>
              </a:rPr>
              <a:t>i</a:t>
            </a:r>
            <a:r>
              <a:rPr kumimoji="0" lang="zh-CN" altLang="zh-CN" sz="2400" b="0" i="0" u="none" strike="noStrike" cap="none" normalizeH="0" baseline="0" dirty="0" smtClean="0">
                <a:ln>
                  <a:noFill/>
                </a:ln>
                <a:solidFill>
                  <a:srgbClr val="C05708"/>
                </a:solidFill>
                <a:effectLst/>
                <a:latin typeface="微软雅黑" panose="020B0503020204020204" pitchFamily="34" charset="-122"/>
                <a:ea typeface="微软雅黑" panose="020B0503020204020204" pitchFamily="34" charset="-122"/>
              </a:rPr>
              <a:t>mwarp</a:t>
            </a:r>
            <a:r>
              <a:rPr kumimoji="0" lang="en-US" altLang="zh-CN" sz="2400" b="0" i="0" u="none" strike="noStrike" cap="none" normalizeH="0" baseline="0" dirty="0" smtClean="0">
                <a:ln>
                  <a:noFill/>
                </a:ln>
                <a:solidFill>
                  <a:srgbClr val="C05708"/>
                </a:solidFill>
                <a:effectLst/>
                <a:latin typeface="微软雅黑" panose="020B0503020204020204" pitchFamily="34" charset="-122"/>
                <a:ea typeface="微软雅黑" panose="020B0503020204020204" pitchFamily="34" charset="-122"/>
              </a:rPr>
              <a:t> </a:t>
            </a:r>
            <a:r>
              <a:rPr kumimoji="0" lang="zh-CN" altLang="zh-CN" sz="1200" b="0" i="0" u="none" strike="noStrike" cap="none" normalizeH="0" baseline="0" dirty="0" smtClean="0">
                <a:ln>
                  <a:noFill/>
                </a:ln>
                <a:solidFill>
                  <a:srgbClr val="6A6A6A"/>
                </a:solidFill>
                <a:effectLst/>
                <a:latin typeface="微软雅黑" panose="020B0503020204020204" pitchFamily="34" charset="-122"/>
                <a:ea typeface="微软雅黑" panose="020B0503020204020204" pitchFamily="34" charset="-122"/>
              </a:rPr>
              <a:t>对图像应用几何变换</a:t>
            </a:r>
            <a:endParaRPr kumimoji="0" lang="en-US" altLang="zh-CN" sz="1200" b="0" i="0" u="none" strike="noStrike" cap="none" normalizeH="0" baseline="0" dirty="0" smtClean="0">
              <a:ln>
                <a:noFill/>
              </a:ln>
              <a:solidFill>
                <a:srgbClr val="6A6A6A"/>
              </a:solidFill>
              <a:effectLst/>
              <a:latin typeface="微软雅黑" panose="020B0503020204020204" pitchFamily="34" charset="-122"/>
              <a:ea typeface="微软雅黑" panose="020B0503020204020204" pitchFamily="34" charset="-122"/>
            </a:endParaRPr>
          </a:p>
          <a:p>
            <a:pPr lvl="1"/>
            <a:endParaRPr kumimoji="0" lang="en-US" altLang="zh-CN" sz="1200" b="0" i="0" u="none" strike="noStrike" cap="none" normalizeH="0" baseline="0" dirty="0" smtClean="0">
              <a:ln>
                <a:noFill/>
              </a:ln>
              <a:solidFill>
                <a:srgbClr val="6A6A6A"/>
              </a:solidFill>
              <a:effectLst/>
              <a:latin typeface="微软雅黑" panose="020B0503020204020204" pitchFamily="34" charset="-122"/>
              <a:ea typeface="微软雅黑" panose="020B0503020204020204" pitchFamily="34" charset="-122"/>
            </a:endParaRPr>
          </a:p>
          <a:p>
            <a:pPr lvl="1"/>
            <a:r>
              <a:rPr lang="zh-CN" altLang="zh-CN" sz="1200" dirty="0">
                <a:solidFill>
                  <a:srgbClr val="0076A8"/>
                </a:solidFill>
                <a:latin typeface="Arial Unicode MS" panose="020B0604020202020204" pitchFamily="34" charset="-122"/>
                <a:ea typeface="Menlo"/>
                <a:hlinkClick r:id="rId3"/>
              </a:rPr>
              <a:t>B</a:t>
            </a:r>
            <a:r>
              <a:rPr lang="zh-CN" altLang="zh-CN" sz="1200" dirty="0">
                <a:solidFill>
                  <a:srgbClr val="212121"/>
                </a:solidFill>
                <a:latin typeface="Arial Unicode MS" panose="020B0604020202020204" pitchFamily="34" charset="-122"/>
                <a:ea typeface="Menlo"/>
              </a:rPr>
              <a:t> = imwarp(</a:t>
            </a:r>
            <a:r>
              <a:rPr lang="zh-CN" altLang="zh-CN" sz="1200" dirty="0">
                <a:solidFill>
                  <a:srgbClr val="0076A8"/>
                </a:solidFill>
                <a:latin typeface="Arial Unicode MS" panose="020B0604020202020204" pitchFamily="34" charset="-122"/>
                <a:ea typeface="Menlo"/>
                <a:hlinkClick r:id="rId4"/>
              </a:rPr>
              <a:t>A</a:t>
            </a:r>
            <a:r>
              <a:rPr lang="zh-CN" altLang="zh-CN" sz="1200" dirty="0" smtClean="0">
                <a:solidFill>
                  <a:srgbClr val="212121"/>
                </a:solidFill>
                <a:latin typeface="Arial Unicode MS" panose="020B0604020202020204" pitchFamily="34" charset="-122"/>
                <a:ea typeface="Menlo"/>
              </a:rPr>
              <a:t>,</a:t>
            </a:r>
            <a:r>
              <a:rPr lang="en-US" altLang="zh-CN" sz="1200" dirty="0" smtClean="0">
                <a:solidFill>
                  <a:srgbClr val="212121"/>
                </a:solidFill>
                <a:latin typeface="Arial Unicode MS" panose="020B0604020202020204" pitchFamily="34" charset="-122"/>
                <a:ea typeface="Menlo"/>
              </a:rPr>
              <a:t> </a:t>
            </a:r>
            <a:r>
              <a:rPr lang="zh-CN" altLang="zh-CN" sz="1200" dirty="0" smtClean="0">
                <a:solidFill>
                  <a:srgbClr val="0076A8"/>
                </a:solidFill>
                <a:latin typeface="Arial Unicode MS" panose="020B0604020202020204" pitchFamily="34" charset="-122"/>
                <a:ea typeface="Menlo"/>
                <a:hlinkClick r:id="rId5"/>
              </a:rPr>
              <a:t>tform</a:t>
            </a:r>
            <a:r>
              <a:rPr lang="zh-CN" altLang="zh-CN" sz="1200" dirty="0">
                <a:solidFill>
                  <a:srgbClr val="212121"/>
                </a:solidFill>
                <a:latin typeface="Arial Unicode MS" panose="020B0604020202020204" pitchFamily="34" charset="-122"/>
                <a:ea typeface="Menlo"/>
              </a:rPr>
              <a:t>)</a:t>
            </a:r>
            <a:r>
              <a:rPr lang="zh-CN" altLang="zh-CN" sz="1200" dirty="0">
                <a:solidFill>
                  <a:srgbClr val="212121"/>
                </a:solidFill>
                <a:latin typeface="微软雅黑" panose="020B0503020204020204" pitchFamily="34" charset="-122"/>
                <a:ea typeface="微软雅黑" panose="020B0503020204020204" pitchFamily="34" charset="-122"/>
              </a:rPr>
              <a:t> 根据几何变换</a:t>
            </a:r>
            <a:r>
              <a:rPr lang="zh-CN" altLang="zh-CN" sz="1200" b="1" dirty="0">
                <a:solidFill>
                  <a:srgbClr val="FF0000"/>
                </a:solidFill>
                <a:latin typeface="微软雅黑" panose="020B0503020204020204" pitchFamily="34" charset="-122"/>
                <a:ea typeface="微软雅黑" panose="020B0503020204020204" pitchFamily="34" charset="-122"/>
              </a:rPr>
              <a:t> </a:t>
            </a:r>
            <a:r>
              <a:rPr lang="zh-CN" altLang="zh-CN" sz="1200" b="1" dirty="0">
                <a:solidFill>
                  <a:srgbClr val="FF0000"/>
                </a:solidFill>
                <a:latin typeface="Arial Unicode MS" panose="020B0604020202020204" pitchFamily="34" charset="-122"/>
                <a:ea typeface="Menlo"/>
              </a:rPr>
              <a:t>tform</a:t>
            </a:r>
            <a:r>
              <a:rPr lang="zh-CN" altLang="zh-CN" sz="1200" dirty="0">
                <a:solidFill>
                  <a:srgbClr val="212121"/>
                </a:solidFill>
                <a:latin typeface="微软雅黑" panose="020B0503020204020204" pitchFamily="34" charset="-122"/>
                <a:ea typeface="微软雅黑" panose="020B0503020204020204" pitchFamily="34" charset="-122"/>
              </a:rPr>
              <a:t> 来变换数值、逻辑或分类图像 </a:t>
            </a:r>
            <a:r>
              <a:rPr lang="zh-CN" altLang="zh-CN" sz="1200" dirty="0">
                <a:solidFill>
                  <a:srgbClr val="212121"/>
                </a:solidFill>
                <a:latin typeface="Arial Unicode MS" panose="020B0604020202020204" pitchFamily="34" charset="-122"/>
                <a:ea typeface="Menlo"/>
              </a:rPr>
              <a:t>A</a:t>
            </a:r>
            <a:r>
              <a:rPr lang="zh-CN" altLang="zh-CN" sz="1200" dirty="0">
                <a:solidFill>
                  <a:srgbClr val="212121"/>
                </a:solidFill>
                <a:latin typeface="微软雅黑" panose="020B0503020204020204" pitchFamily="34" charset="-122"/>
                <a:ea typeface="微软雅黑" panose="020B0503020204020204" pitchFamily="34" charset="-122"/>
              </a:rPr>
              <a:t>。该函数在 </a:t>
            </a:r>
            <a:r>
              <a:rPr lang="zh-CN" altLang="zh-CN" sz="1200" dirty="0">
                <a:solidFill>
                  <a:srgbClr val="212121"/>
                </a:solidFill>
                <a:latin typeface="Arial Unicode MS" panose="020B0604020202020204" pitchFamily="34" charset="-122"/>
                <a:ea typeface="Menlo"/>
              </a:rPr>
              <a:t>B</a:t>
            </a:r>
            <a:r>
              <a:rPr lang="zh-CN" altLang="zh-CN" sz="1200" dirty="0">
                <a:solidFill>
                  <a:srgbClr val="212121"/>
                </a:solidFill>
                <a:latin typeface="微软雅黑" panose="020B0503020204020204" pitchFamily="34" charset="-122"/>
                <a:ea typeface="微软雅黑" panose="020B0503020204020204" pitchFamily="34" charset="-122"/>
              </a:rPr>
              <a:t> 中返回变换后的</a:t>
            </a:r>
            <a:r>
              <a:rPr lang="zh-CN" altLang="zh-CN" sz="1200" dirty="0" smtClean="0">
                <a:solidFill>
                  <a:srgbClr val="212121"/>
                </a:solidFill>
                <a:latin typeface="微软雅黑" panose="020B0503020204020204" pitchFamily="34" charset="-122"/>
                <a:ea typeface="微软雅黑" panose="020B0503020204020204" pitchFamily="34" charset="-122"/>
              </a:rPr>
              <a:t>图像</a:t>
            </a:r>
            <a:endParaRPr lang="zh-CN" altLang="zh-CN" sz="2800" dirty="0"/>
          </a:p>
          <a:p>
            <a:pPr lvl="1"/>
            <a:endParaRPr kumimoji="0" lang="zh-CN" altLang="zh-CN" sz="1200" b="0" i="0" u="none" strike="noStrike" cap="none" normalizeH="0" baseline="0" dirty="0" smtClean="0">
              <a:ln>
                <a:noFill/>
              </a:ln>
              <a:solidFill>
                <a:srgbClr val="6A6A6A"/>
              </a:solidFill>
              <a:effectLst/>
              <a:latin typeface="微软雅黑" panose="020B0503020204020204" pitchFamily="34" charset="-122"/>
              <a:ea typeface="微软雅黑" panose="020B0503020204020204" pitchFamily="34" charset="-122"/>
            </a:endParaRPr>
          </a:p>
        </p:txBody>
      </p:sp>
      <p:pic>
        <p:nvPicPr>
          <p:cNvPr id="7" name="图片 6"/>
          <p:cNvPicPr>
            <a:picLocks noChangeAspect="1"/>
          </p:cNvPicPr>
          <p:nvPr/>
        </p:nvPicPr>
        <p:blipFill>
          <a:blip r:embed="rId6"/>
          <a:stretch>
            <a:fillRect/>
          </a:stretch>
        </p:blipFill>
        <p:spPr>
          <a:xfrm>
            <a:off x="621437" y="1430538"/>
            <a:ext cx="7563775" cy="4846630"/>
          </a:xfrm>
          <a:prstGeom prst="rect">
            <a:avLst/>
          </a:prstGeom>
          <a:ln>
            <a:solidFill>
              <a:schemeClr val="tx1"/>
            </a:solidFill>
          </a:ln>
        </p:spPr>
      </p:pic>
      <p:sp>
        <p:nvSpPr>
          <p:cNvPr id="2" name="矩形 1"/>
          <p:cNvSpPr/>
          <p:nvPr/>
        </p:nvSpPr>
        <p:spPr>
          <a:xfrm>
            <a:off x="448323" y="6211669"/>
            <a:ext cx="8926496" cy="584775"/>
          </a:xfrm>
          <a:prstGeom prst="rect">
            <a:avLst/>
          </a:prstGeom>
        </p:spPr>
        <p:txBody>
          <a:bodyPr wrap="square">
            <a:spAutoFit/>
          </a:bodyPr>
          <a:lstStyle/>
          <a:p>
            <a:r>
              <a:rPr lang="zh-CN" altLang="en-US" sz="1600" dirty="0">
                <a:hlinkClick r:id="rId5"/>
              </a:rPr>
              <a:t>https://ww2.mathworks.cn/help/images/ref/imwarp.html#btqog63-1-</a:t>
            </a:r>
            <a:r>
              <a:rPr lang="zh-CN" altLang="en-US" sz="1600" dirty="0" smtClean="0">
                <a:hlinkClick r:id="rId5"/>
              </a:rPr>
              <a:t>tform</a:t>
            </a:r>
            <a:endParaRPr lang="en-US" altLang="zh-CN" sz="1600" dirty="0" smtClean="0"/>
          </a:p>
          <a:p>
            <a:endParaRPr lang="zh-CN" altLang="en-US" sz="1600" dirty="0"/>
          </a:p>
        </p:txBody>
      </p:sp>
    </p:spTree>
    <p:extLst>
      <p:ext uri="{BB962C8B-B14F-4D97-AF65-F5344CB8AC3E}">
        <p14:creationId xmlns:p14="http://schemas.microsoft.com/office/powerpoint/2010/main" val="27146220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图像对齐</a:t>
            </a:r>
            <a:endParaRPr lang="en-US" dirty="0"/>
          </a:p>
        </p:txBody>
      </p:sp>
      <p:pic>
        <p:nvPicPr>
          <p:cNvPr id="310274" name="Picture 2"/>
          <p:cNvPicPr>
            <a:picLocks noChangeAspect="1" noChangeArrowheads="1"/>
          </p:cNvPicPr>
          <p:nvPr/>
        </p:nvPicPr>
        <p:blipFill>
          <a:blip r:embed="rId3" cstate="print"/>
          <a:srcRect/>
          <a:stretch>
            <a:fillRect/>
          </a:stretch>
        </p:blipFill>
        <p:spPr bwMode="auto">
          <a:xfrm>
            <a:off x="1314450" y="2057400"/>
            <a:ext cx="6536120" cy="2857500"/>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IMG_0105"/>
          <p:cNvPicPr>
            <a:picLocks noChangeAspect="1" noChangeArrowheads="1"/>
          </p:cNvPicPr>
          <p:nvPr/>
        </p:nvPicPr>
        <p:blipFill>
          <a:blip r:embed="rId3" cstate="print"/>
          <a:srcRect/>
          <a:stretch>
            <a:fillRect/>
          </a:stretch>
        </p:blipFill>
        <p:spPr bwMode="auto">
          <a:xfrm>
            <a:off x="4943296" y="2800350"/>
            <a:ext cx="2886254" cy="2166938"/>
          </a:xfrm>
          <a:prstGeom prst="rect">
            <a:avLst/>
          </a:prstGeom>
          <a:noFill/>
          <a:ln w="9525">
            <a:noFill/>
            <a:miter lim="800000"/>
            <a:headEnd/>
            <a:tailEnd/>
          </a:ln>
          <a:effectLst>
            <a:outerShdw blurRad="50800" dist="38100" dir="2700000" algn="tl" rotWithShape="0">
              <a:prstClr val="black">
                <a:alpha val="40000"/>
              </a:prstClr>
            </a:outerShdw>
          </a:effectLst>
        </p:spPr>
      </p:pic>
      <p:pic>
        <p:nvPicPr>
          <p:cNvPr id="5" name="Picture 5" descr="IMG_0102"/>
          <p:cNvPicPr>
            <a:picLocks noChangeAspect="1" noChangeArrowheads="1"/>
          </p:cNvPicPr>
          <p:nvPr/>
        </p:nvPicPr>
        <p:blipFill>
          <a:blip r:embed="rId4" cstate="print"/>
          <a:srcRect/>
          <a:stretch>
            <a:fillRect/>
          </a:stretch>
        </p:blipFill>
        <p:spPr bwMode="auto">
          <a:xfrm>
            <a:off x="1257300" y="2800350"/>
            <a:ext cx="2886254" cy="2166938"/>
          </a:xfrm>
          <a:prstGeom prst="rect">
            <a:avLst/>
          </a:prstGeom>
          <a:noFill/>
          <a:ln w="9525">
            <a:noFill/>
            <a:miter lim="800000"/>
            <a:headEnd/>
            <a:tailEnd/>
          </a:ln>
          <a:effectLst>
            <a:outerShdw blurRad="50800" dist="38100" dir="2700000" algn="tl" rotWithShape="0">
              <a:prstClr val="black">
                <a:alpha val="40000"/>
              </a:prstClr>
            </a:outerShdw>
          </a:effectLst>
        </p:spPr>
      </p:pic>
      <p:grpSp>
        <p:nvGrpSpPr>
          <p:cNvPr id="11" name="Group 10"/>
          <p:cNvGrpSpPr/>
          <p:nvPr/>
        </p:nvGrpSpPr>
        <p:grpSpPr>
          <a:xfrm>
            <a:off x="4286250" y="3371851"/>
            <a:ext cx="514350" cy="781481"/>
            <a:chOff x="3276600" y="3377625"/>
            <a:chExt cx="685800" cy="1041975"/>
          </a:xfrm>
        </p:grpSpPr>
        <p:sp>
          <p:nvSpPr>
            <p:cNvPr id="12" name="Right Arrow 11"/>
            <p:cNvSpPr/>
            <p:nvPr/>
          </p:nvSpPr>
          <p:spPr>
            <a:xfrm>
              <a:off x="3276600" y="3810000"/>
              <a:ext cx="685800" cy="609600"/>
            </a:xfrm>
            <a:prstGeom prst="rightArrow">
              <a:avLst/>
            </a:prstGeom>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TextBox 12"/>
            <p:cNvSpPr txBox="1"/>
            <p:nvPr/>
          </p:nvSpPr>
          <p:spPr>
            <a:xfrm>
              <a:off x="3352800" y="3377625"/>
              <a:ext cx="430032" cy="615554"/>
            </a:xfrm>
            <a:prstGeom prst="rect">
              <a:avLst/>
            </a:prstGeom>
            <a:noFill/>
          </p:spPr>
          <p:txBody>
            <a:bodyPr wrap="none" rtlCol="0">
              <a:spAutoFit/>
            </a:bodyPr>
            <a:lstStyle/>
            <a:p>
              <a:r>
                <a:rPr lang="en-US" sz="2400" dirty="0"/>
                <a:t>?</a:t>
              </a:r>
            </a:p>
          </p:txBody>
        </p:sp>
      </p:grpSp>
      <p:sp>
        <p:nvSpPr>
          <p:cNvPr id="15" name="Title 1"/>
          <p:cNvSpPr>
            <a:spLocks noGrp="1"/>
          </p:cNvSpPr>
          <p:nvPr>
            <p:ph type="title"/>
          </p:nvPr>
        </p:nvSpPr>
        <p:spPr>
          <a:xfrm>
            <a:off x="457200" y="1063229"/>
            <a:ext cx="8229600" cy="857250"/>
          </a:xfrm>
        </p:spPr>
        <p:txBody>
          <a:bodyPr>
            <a:normAutofit/>
          </a:bodyPr>
          <a:lstStyle/>
          <a:p>
            <a:r>
              <a:rPr lang="zh-CN" altLang="en-US" dirty="0"/>
              <a:t>这两幅图像之间具有什么样的几何关系</a:t>
            </a:r>
            <a:r>
              <a:rPr lang="en-US" dirty="0"/>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IMG_0105"/>
          <p:cNvPicPr>
            <a:picLocks noChangeAspect="1" noChangeArrowheads="1"/>
          </p:cNvPicPr>
          <p:nvPr/>
        </p:nvPicPr>
        <p:blipFill>
          <a:blip r:embed="rId2" cstate="print"/>
          <a:srcRect/>
          <a:stretch>
            <a:fillRect/>
          </a:stretch>
        </p:blipFill>
        <p:spPr bwMode="auto">
          <a:xfrm>
            <a:off x="1583875" y="3636510"/>
            <a:ext cx="1528763" cy="1147763"/>
          </a:xfrm>
          <a:prstGeom prst="rect">
            <a:avLst/>
          </a:prstGeom>
          <a:noFill/>
          <a:ln w="9525">
            <a:noFill/>
            <a:miter lim="800000"/>
            <a:headEnd/>
            <a:tailEnd/>
          </a:ln>
        </p:spPr>
      </p:pic>
      <p:pic>
        <p:nvPicPr>
          <p:cNvPr id="5" name="Picture 5" descr="IMG_0102"/>
          <p:cNvPicPr>
            <a:picLocks noChangeAspect="1" noChangeArrowheads="1"/>
          </p:cNvPicPr>
          <p:nvPr/>
        </p:nvPicPr>
        <p:blipFill>
          <a:blip r:embed="rId3" cstate="print"/>
          <a:srcRect/>
          <a:stretch>
            <a:fillRect/>
          </a:stretch>
        </p:blipFill>
        <p:spPr bwMode="auto">
          <a:xfrm>
            <a:off x="1583875" y="2343150"/>
            <a:ext cx="1528763" cy="1147763"/>
          </a:xfrm>
          <a:prstGeom prst="rect">
            <a:avLst/>
          </a:prstGeom>
          <a:noFill/>
          <a:ln w="9525">
            <a:noFill/>
            <a:miter lim="800000"/>
            <a:headEnd/>
            <a:tailEnd/>
          </a:ln>
        </p:spPr>
      </p:pic>
      <p:pic>
        <p:nvPicPr>
          <p:cNvPr id="6" name="Picture 6" descr="pan3"/>
          <p:cNvPicPr>
            <a:picLocks noChangeAspect="1" noChangeArrowheads="1"/>
          </p:cNvPicPr>
          <p:nvPr/>
        </p:nvPicPr>
        <p:blipFill>
          <a:blip r:embed="rId4" cstate="print"/>
          <a:srcRect/>
          <a:stretch>
            <a:fillRect/>
          </a:stretch>
        </p:blipFill>
        <p:spPr bwMode="auto">
          <a:xfrm>
            <a:off x="4286254" y="2771265"/>
            <a:ext cx="3257012" cy="1514986"/>
          </a:xfrm>
          <a:prstGeom prst="rect">
            <a:avLst/>
          </a:prstGeom>
          <a:noFill/>
          <a:ln w="9525">
            <a:noFill/>
            <a:miter lim="800000"/>
            <a:headEnd/>
            <a:tailEnd/>
          </a:ln>
        </p:spPr>
      </p:pic>
      <p:sp>
        <p:nvSpPr>
          <p:cNvPr id="7" name="Right Arrow 6"/>
          <p:cNvSpPr/>
          <p:nvPr/>
        </p:nvSpPr>
        <p:spPr>
          <a:xfrm>
            <a:off x="3461661" y="3314702"/>
            <a:ext cx="481694" cy="48169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9" name="TextBox 8"/>
          <p:cNvSpPr txBox="1"/>
          <p:nvPr/>
        </p:nvSpPr>
        <p:spPr>
          <a:xfrm>
            <a:off x="1286954" y="4897791"/>
            <a:ext cx="6417141" cy="923330"/>
          </a:xfrm>
          <a:prstGeom prst="rect">
            <a:avLst/>
          </a:prstGeom>
          <a:noFill/>
        </p:spPr>
        <p:txBody>
          <a:bodyPr wrap="none" rtlCol="0">
            <a:spAutoFit/>
          </a:bodyPr>
          <a:lstStyle/>
          <a:p>
            <a:r>
              <a:rPr lang="zh-CN" altLang="en-US" dirty="0"/>
              <a:t>图像拼接最重要的两点：</a:t>
            </a:r>
            <a:endParaRPr lang="en-US" altLang="zh-CN" dirty="0"/>
          </a:p>
          <a:p>
            <a:r>
              <a:rPr lang="zh-CN" altLang="en-US" dirty="0"/>
              <a:t>第一，我们需要知道是哪种几何变换；</a:t>
            </a:r>
            <a:endParaRPr lang="en-US" altLang="zh-CN" dirty="0"/>
          </a:p>
          <a:p>
            <a:r>
              <a:rPr lang="zh-CN" altLang="en-US" dirty="0"/>
              <a:t>第二，我们需要知道如何根据匹配的特征点计算出几何变换。</a:t>
            </a:r>
            <a:endParaRPr lang="en-US" dirty="0"/>
          </a:p>
        </p:txBody>
      </p:sp>
      <p:sp>
        <p:nvSpPr>
          <p:cNvPr id="10" name="Title 1"/>
          <p:cNvSpPr>
            <a:spLocks noGrp="1"/>
          </p:cNvSpPr>
          <p:nvPr>
            <p:ph type="title"/>
          </p:nvPr>
        </p:nvSpPr>
        <p:spPr>
          <a:xfrm>
            <a:off x="457200" y="1063229"/>
            <a:ext cx="8229600" cy="857250"/>
          </a:xfrm>
        </p:spPr>
        <p:txBody>
          <a:bodyPr>
            <a:normAutofit/>
          </a:bodyPr>
          <a:lstStyle/>
          <a:p>
            <a:r>
              <a:rPr lang="zh-CN" altLang="en-US" dirty="0"/>
              <a:t>这两幅图像之间具有什么样的几何关系</a:t>
            </a:r>
            <a:r>
              <a:rPr lang="en-US"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Date Placeholder 3"/>
          <p:cNvSpPr>
            <a:spLocks noGrp="1"/>
          </p:cNvSpPr>
          <p:nvPr>
            <p:ph type="dt" sz="half" idx="10"/>
          </p:nvPr>
        </p:nvSpPr>
        <p:spPr/>
        <p:txBody>
          <a:bodyPr/>
          <a:lstStyle/>
          <a:p>
            <a:r>
              <a:rPr lang="en-US"/>
              <a:t>Richard Szeliski</a:t>
            </a:r>
          </a:p>
        </p:txBody>
      </p:sp>
      <p:sp>
        <p:nvSpPr>
          <p:cNvPr id="37" name="Footer Placeholder 4"/>
          <p:cNvSpPr>
            <a:spLocks noGrp="1"/>
          </p:cNvSpPr>
          <p:nvPr>
            <p:ph type="ftr" sz="quarter" idx="11"/>
          </p:nvPr>
        </p:nvSpPr>
        <p:spPr/>
        <p:txBody>
          <a:bodyPr/>
          <a:lstStyle/>
          <a:p>
            <a:r>
              <a:rPr lang="en-US"/>
              <a:t>Image Stitching</a:t>
            </a:r>
          </a:p>
        </p:txBody>
      </p:sp>
      <p:sp>
        <p:nvSpPr>
          <p:cNvPr id="38" name="Slide Number Placeholder 5"/>
          <p:cNvSpPr>
            <a:spLocks noGrp="1"/>
          </p:cNvSpPr>
          <p:nvPr>
            <p:ph type="sldNum" sz="quarter" idx="12"/>
          </p:nvPr>
        </p:nvSpPr>
        <p:spPr/>
        <p:txBody>
          <a:bodyPr/>
          <a:lstStyle/>
          <a:p>
            <a:fld id="{1DCAE337-7AB0-4109-ABB2-4E1E89413B77}" type="slidenum">
              <a:rPr lang="en-US"/>
              <a:t>7</a:t>
            </a:fld>
            <a:endParaRPr lang="en-US"/>
          </a:p>
        </p:txBody>
      </p:sp>
      <p:sp>
        <p:nvSpPr>
          <p:cNvPr id="398338" name="Rectangle 2"/>
          <p:cNvSpPr>
            <a:spLocks noGrp="1" noChangeArrowheads="1"/>
          </p:cNvSpPr>
          <p:nvPr>
            <p:ph type="title"/>
            <p:custDataLst>
              <p:tags r:id="rId1"/>
            </p:custDataLst>
          </p:nvPr>
        </p:nvSpPr>
        <p:spPr/>
        <p:txBody>
          <a:bodyPr/>
          <a:lstStyle/>
          <a:p>
            <a:r>
              <a:rPr lang="zh-CN" altLang="en-US" dirty="0"/>
              <a:t>图像形变</a:t>
            </a:r>
            <a:endParaRPr lang="en-US" dirty="0"/>
          </a:p>
        </p:txBody>
      </p:sp>
      <p:sp>
        <p:nvSpPr>
          <p:cNvPr id="398339" name="Rectangle 3"/>
          <p:cNvSpPr>
            <a:spLocks noGrp="1" noChangeArrowheads="1"/>
          </p:cNvSpPr>
          <p:nvPr>
            <p:ph type="body" idx="1"/>
            <p:custDataLst>
              <p:tags r:id="rId2"/>
            </p:custDataLst>
          </p:nvPr>
        </p:nvSpPr>
        <p:spPr>
          <a:xfrm>
            <a:off x="457200" y="1543050"/>
            <a:ext cx="8229600" cy="4525963"/>
          </a:xfrm>
        </p:spPr>
        <p:txBody>
          <a:bodyPr/>
          <a:lstStyle/>
          <a:p>
            <a:pPr>
              <a:lnSpc>
                <a:spcPct val="90000"/>
              </a:lnSpc>
            </a:pPr>
            <a:r>
              <a:rPr lang="zh-CN" altLang="en-US" dirty="0"/>
              <a:t>图像滤波</a:t>
            </a:r>
            <a:r>
              <a:rPr lang="en-US" dirty="0"/>
              <a:t>: </a:t>
            </a:r>
            <a:r>
              <a:rPr lang="zh-CN" altLang="en-US" dirty="0"/>
              <a:t>改变图像的像素取值</a:t>
            </a:r>
            <a:endParaRPr lang="en-US" dirty="0"/>
          </a:p>
          <a:p>
            <a:pPr algn="ctr">
              <a:lnSpc>
                <a:spcPct val="90000"/>
              </a:lnSpc>
            </a:pPr>
            <a:r>
              <a:rPr lang="en-US" i="1" dirty="0"/>
              <a:t>g(x) = h(f(x))</a:t>
            </a:r>
          </a:p>
          <a:p>
            <a:pPr algn="ctr">
              <a:lnSpc>
                <a:spcPct val="90000"/>
              </a:lnSpc>
            </a:pPr>
            <a:endParaRPr lang="en-US" i="1" dirty="0"/>
          </a:p>
          <a:p>
            <a:pPr marL="0" indent="0">
              <a:lnSpc>
                <a:spcPct val="170000"/>
              </a:lnSpc>
              <a:buNone/>
            </a:pPr>
            <a:endParaRPr lang="en-US" altLang="zh-CN" dirty="0"/>
          </a:p>
          <a:p>
            <a:pPr>
              <a:lnSpc>
                <a:spcPct val="170000"/>
              </a:lnSpc>
            </a:pPr>
            <a:r>
              <a:rPr lang="zh-CN" altLang="en-US" dirty="0"/>
              <a:t>图像形变</a:t>
            </a:r>
            <a:r>
              <a:rPr lang="en-US" dirty="0"/>
              <a:t>: </a:t>
            </a:r>
            <a:r>
              <a:rPr lang="zh-CN" altLang="en-US" dirty="0"/>
              <a:t>改变图像的空间坐标</a:t>
            </a:r>
            <a:endParaRPr lang="en-US" dirty="0"/>
          </a:p>
          <a:p>
            <a:pPr algn="ctr">
              <a:lnSpc>
                <a:spcPct val="90000"/>
              </a:lnSpc>
            </a:pPr>
            <a:r>
              <a:rPr lang="en-US" i="1" dirty="0"/>
              <a:t>g(x) = f(h</a:t>
            </a:r>
            <a:r>
              <a:rPr lang="en-US" baseline="30000" dirty="0"/>
              <a:t>-1</a:t>
            </a:r>
            <a:r>
              <a:rPr lang="en-US" i="1" dirty="0"/>
              <a:t>(x))</a:t>
            </a:r>
          </a:p>
          <a:p>
            <a:pPr>
              <a:lnSpc>
                <a:spcPct val="90000"/>
              </a:lnSpc>
            </a:pPr>
            <a:endParaRPr lang="en-US" dirty="0"/>
          </a:p>
        </p:txBody>
      </p:sp>
      <p:grpSp>
        <p:nvGrpSpPr>
          <p:cNvPr id="2" name="Group 4"/>
          <p:cNvGrpSpPr/>
          <p:nvPr>
            <p:custDataLst>
              <p:tags r:id="rId3"/>
            </p:custDataLst>
          </p:nvPr>
        </p:nvGrpSpPr>
        <p:grpSpPr bwMode="auto">
          <a:xfrm>
            <a:off x="2286000" y="2386158"/>
            <a:ext cx="1485900" cy="939403"/>
            <a:chOff x="960" y="1872"/>
            <a:chExt cx="1248" cy="789"/>
          </a:xfrm>
        </p:grpSpPr>
        <p:sp>
          <p:nvSpPr>
            <p:cNvPr id="398341" name="Line 5"/>
            <p:cNvSpPr>
              <a:spLocks noChangeShapeType="1"/>
            </p:cNvSpPr>
            <p:nvPr>
              <p:custDataLst>
                <p:tags r:id="rId30"/>
              </p:custDataLst>
            </p:nvPr>
          </p:nvSpPr>
          <p:spPr bwMode="auto">
            <a:xfrm>
              <a:off x="1152" y="1920"/>
              <a:ext cx="0" cy="528"/>
            </a:xfrm>
            <a:prstGeom prst="line">
              <a:avLst/>
            </a:prstGeom>
            <a:noFill/>
            <a:ln w="9525">
              <a:solidFill>
                <a:schemeClr val="tx1"/>
              </a:solidFill>
              <a:round/>
            </a:ln>
            <a:effectLst/>
          </p:spPr>
          <p:txBody>
            <a:bodyPr/>
            <a:lstStyle/>
            <a:p>
              <a:endParaRPr lang="en-US" sz="1350"/>
            </a:p>
          </p:txBody>
        </p:sp>
        <p:sp>
          <p:nvSpPr>
            <p:cNvPr id="398342" name="Line 6"/>
            <p:cNvSpPr>
              <a:spLocks noChangeShapeType="1"/>
            </p:cNvSpPr>
            <p:nvPr>
              <p:custDataLst>
                <p:tags r:id="rId31"/>
              </p:custDataLst>
            </p:nvPr>
          </p:nvSpPr>
          <p:spPr bwMode="auto">
            <a:xfrm>
              <a:off x="1152" y="2448"/>
              <a:ext cx="960" cy="0"/>
            </a:xfrm>
            <a:prstGeom prst="line">
              <a:avLst/>
            </a:prstGeom>
            <a:noFill/>
            <a:ln w="9525">
              <a:solidFill>
                <a:schemeClr val="tx1"/>
              </a:solidFill>
              <a:round/>
            </a:ln>
            <a:effectLst/>
          </p:spPr>
          <p:txBody>
            <a:bodyPr/>
            <a:lstStyle/>
            <a:p>
              <a:endParaRPr lang="en-US" sz="1350"/>
            </a:p>
          </p:txBody>
        </p:sp>
        <p:sp>
          <p:nvSpPr>
            <p:cNvPr id="398343" name="Freeform 7"/>
            <p:cNvSpPr/>
            <p:nvPr>
              <p:custDataLst>
                <p:tags r:id="rId32"/>
              </p:custDataLst>
            </p:nvPr>
          </p:nvSpPr>
          <p:spPr bwMode="auto">
            <a:xfrm>
              <a:off x="1248" y="2000"/>
              <a:ext cx="672" cy="384"/>
            </a:xfrm>
            <a:custGeom>
              <a:avLst/>
              <a:gdLst/>
              <a:ahLst/>
              <a:cxnLst>
                <a:cxn ang="0">
                  <a:pos x="0" y="304"/>
                </a:cxn>
                <a:cxn ang="0">
                  <a:pos x="96" y="16"/>
                </a:cxn>
                <a:cxn ang="0">
                  <a:pos x="288" y="208"/>
                </a:cxn>
                <a:cxn ang="0">
                  <a:pos x="528" y="352"/>
                </a:cxn>
                <a:cxn ang="0">
                  <a:pos x="672" y="16"/>
                </a:cxn>
              </a:cxnLst>
              <a:rect l="0" t="0" r="r" b="b"/>
              <a:pathLst>
                <a:path w="672" h="384">
                  <a:moveTo>
                    <a:pt x="0" y="304"/>
                  </a:moveTo>
                  <a:cubicBezTo>
                    <a:pt x="24" y="168"/>
                    <a:pt x="48" y="32"/>
                    <a:pt x="96" y="16"/>
                  </a:cubicBezTo>
                  <a:cubicBezTo>
                    <a:pt x="144" y="0"/>
                    <a:pt x="216" y="152"/>
                    <a:pt x="288" y="208"/>
                  </a:cubicBezTo>
                  <a:cubicBezTo>
                    <a:pt x="360" y="264"/>
                    <a:pt x="464" y="384"/>
                    <a:pt x="528" y="352"/>
                  </a:cubicBezTo>
                  <a:cubicBezTo>
                    <a:pt x="592" y="320"/>
                    <a:pt x="648" y="72"/>
                    <a:pt x="672" y="16"/>
                  </a:cubicBezTo>
                </a:path>
              </a:pathLst>
            </a:custGeom>
            <a:noFill/>
            <a:ln w="9525">
              <a:solidFill>
                <a:schemeClr val="tx1"/>
              </a:solidFill>
              <a:round/>
            </a:ln>
            <a:effectLst/>
          </p:spPr>
          <p:txBody>
            <a:bodyPr/>
            <a:lstStyle/>
            <a:p>
              <a:endParaRPr lang="en-US" sz="1350"/>
            </a:p>
          </p:txBody>
        </p:sp>
        <p:sp>
          <p:nvSpPr>
            <p:cNvPr id="398344" name="Text Box 8"/>
            <p:cNvSpPr txBox="1">
              <a:spLocks noChangeArrowheads="1"/>
            </p:cNvSpPr>
            <p:nvPr>
              <p:custDataLst>
                <p:tags r:id="rId33"/>
              </p:custDataLst>
            </p:nvPr>
          </p:nvSpPr>
          <p:spPr bwMode="auto">
            <a:xfrm>
              <a:off x="960" y="1872"/>
              <a:ext cx="240" cy="252"/>
            </a:xfrm>
            <a:prstGeom prst="rect">
              <a:avLst/>
            </a:prstGeom>
            <a:noFill/>
            <a:ln w="9525">
              <a:noFill/>
              <a:miter lim="800000"/>
            </a:ln>
            <a:effectLst/>
          </p:spPr>
          <p:txBody>
            <a:bodyPr>
              <a:spAutoFit/>
            </a:bodyPr>
            <a:lstStyle/>
            <a:p>
              <a:pPr>
                <a:spcBef>
                  <a:spcPct val="50000"/>
                </a:spcBef>
              </a:pPr>
              <a:r>
                <a:rPr lang="en-US" sz="1350" i="1"/>
                <a:t>f</a:t>
              </a:r>
            </a:p>
          </p:txBody>
        </p:sp>
        <p:sp>
          <p:nvSpPr>
            <p:cNvPr id="398345" name="Text Box 9"/>
            <p:cNvSpPr txBox="1">
              <a:spLocks noChangeArrowheads="1"/>
            </p:cNvSpPr>
            <p:nvPr>
              <p:custDataLst>
                <p:tags r:id="rId34"/>
              </p:custDataLst>
            </p:nvPr>
          </p:nvSpPr>
          <p:spPr bwMode="auto">
            <a:xfrm>
              <a:off x="1968" y="2409"/>
              <a:ext cx="240" cy="252"/>
            </a:xfrm>
            <a:prstGeom prst="rect">
              <a:avLst/>
            </a:prstGeom>
            <a:noFill/>
            <a:ln w="9525">
              <a:noFill/>
              <a:miter lim="800000"/>
            </a:ln>
            <a:effectLst/>
          </p:spPr>
          <p:txBody>
            <a:bodyPr>
              <a:spAutoFit/>
            </a:bodyPr>
            <a:lstStyle/>
            <a:p>
              <a:pPr>
                <a:spcBef>
                  <a:spcPct val="50000"/>
                </a:spcBef>
              </a:pPr>
              <a:r>
                <a:rPr lang="en-US" sz="1350" i="1"/>
                <a:t>x</a:t>
              </a:r>
            </a:p>
          </p:txBody>
        </p:sp>
      </p:grpSp>
      <p:grpSp>
        <p:nvGrpSpPr>
          <p:cNvPr id="3" name="Group 10"/>
          <p:cNvGrpSpPr/>
          <p:nvPr>
            <p:custDataLst>
              <p:tags r:id="rId4"/>
            </p:custDataLst>
          </p:nvPr>
        </p:nvGrpSpPr>
        <p:grpSpPr bwMode="auto">
          <a:xfrm>
            <a:off x="3829050" y="2614766"/>
            <a:ext cx="1200150" cy="300039"/>
            <a:chOff x="2256" y="2064"/>
            <a:chExt cx="1008" cy="252"/>
          </a:xfrm>
        </p:grpSpPr>
        <p:sp>
          <p:nvSpPr>
            <p:cNvPr id="398347" name="Text Box 11"/>
            <p:cNvSpPr txBox="1">
              <a:spLocks noChangeArrowheads="1"/>
            </p:cNvSpPr>
            <p:nvPr>
              <p:custDataLst>
                <p:tags r:id="rId27"/>
              </p:custDataLst>
            </p:nvPr>
          </p:nvSpPr>
          <p:spPr bwMode="auto">
            <a:xfrm>
              <a:off x="2592" y="2064"/>
              <a:ext cx="336" cy="252"/>
            </a:xfrm>
            <a:prstGeom prst="rect">
              <a:avLst/>
            </a:prstGeom>
            <a:noFill/>
            <a:ln w="19050">
              <a:solidFill>
                <a:schemeClr val="tx1"/>
              </a:solidFill>
              <a:miter lim="800000"/>
            </a:ln>
            <a:effectLst/>
          </p:spPr>
          <p:txBody>
            <a:bodyPr>
              <a:spAutoFit/>
            </a:bodyPr>
            <a:lstStyle/>
            <a:p>
              <a:pPr algn="ctr">
                <a:spcBef>
                  <a:spcPct val="50000"/>
                </a:spcBef>
              </a:pPr>
              <a:r>
                <a:rPr lang="en-US" sz="1350" i="1"/>
                <a:t>h</a:t>
              </a:r>
            </a:p>
          </p:txBody>
        </p:sp>
        <p:sp>
          <p:nvSpPr>
            <p:cNvPr id="398348" name="Line 12"/>
            <p:cNvSpPr>
              <a:spLocks noChangeShapeType="1"/>
            </p:cNvSpPr>
            <p:nvPr>
              <p:custDataLst>
                <p:tags r:id="rId28"/>
              </p:custDataLst>
            </p:nvPr>
          </p:nvSpPr>
          <p:spPr bwMode="auto">
            <a:xfrm>
              <a:off x="2256" y="2208"/>
              <a:ext cx="336" cy="0"/>
            </a:xfrm>
            <a:prstGeom prst="line">
              <a:avLst/>
            </a:prstGeom>
            <a:noFill/>
            <a:ln w="9525">
              <a:solidFill>
                <a:schemeClr val="tx1"/>
              </a:solidFill>
              <a:round/>
              <a:tailEnd type="triangle" w="med" len="med"/>
            </a:ln>
            <a:effectLst/>
          </p:spPr>
          <p:txBody>
            <a:bodyPr/>
            <a:lstStyle/>
            <a:p>
              <a:endParaRPr lang="en-US" sz="1350"/>
            </a:p>
          </p:txBody>
        </p:sp>
        <p:sp>
          <p:nvSpPr>
            <p:cNvPr id="398349" name="Line 13"/>
            <p:cNvSpPr>
              <a:spLocks noChangeShapeType="1"/>
            </p:cNvSpPr>
            <p:nvPr>
              <p:custDataLst>
                <p:tags r:id="rId29"/>
              </p:custDataLst>
            </p:nvPr>
          </p:nvSpPr>
          <p:spPr bwMode="auto">
            <a:xfrm>
              <a:off x="2928" y="2208"/>
              <a:ext cx="336" cy="0"/>
            </a:xfrm>
            <a:prstGeom prst="line">
              <a:avLst/>
            </a:prstGeom>
            <a:noFill/>
            <a:ln w="9525">
              <a:solidFill>
                <a:schemeClr val="tx1"/>
              </a:solidFill>
              <a:round/>
              <a:tailEnd type="triangle" w="med" len="med"/>
            </a:ln>
            <a:effectLst/>
          </p:spPr>
          <p:txBody>
            <a:bodyPr/>
            <a:lstStyle/>
            <a:p>
              <a:endParaRPr lang="en-US" sz="1350"/>
            </a:p>
          </p:txBody>
        </p:sp>
      </p:grpSp>
      <p:grpSp>
        <p:nvGrpSpPr>
          <p:cNvPr id="4" name="Group 14"/>
          <p:cNvGrpSpPr/>
          <p:nvPr>
            <p:custDataLst>
              <p:tags r:id="rId5"/>
            </p:custDataLst>
          </p:nvPr>
        </p:nvGrpSpPr>
        <p:grpSpPr bwMode="auto">
          <a:xfrm>
            <a:off x="5372100" y="2386158"/>
            <a:ext cx="1485900" cy="939403"/>
            <a:chOff x="3552" y="1872"/>
            <a:chExt cx="1248" cy="789"/>
          </a:xfrm>
        </p:grpSpPr>
        <p:sp>
          <p:nvSpPr>
            <p:cNvPr id="398351" name="Line 15"/>
            <p:cNvSpPr>
              <a:spLocks noChangeShapeType="1"/>
            </p:cNvSpPr>
            <p:nvPr>
              <p:custDataLst>
                <p:tags r:id="rId22"/>
              </p:custDataLst>
            </p:nvPr>
          </p:nvSpPr>
          <p:spPr bwMode="auto">
            <a:xfrm>
              <a:off x="3744" y="1920"/>
              <a:ext cx="0" cy="528"/>
            </a:xfrm>
            <a:prstGeom prst="line">
              <a:avLst/>
            </a:prstGeom>
            <a:noFill/>
            <a:ln w="9525">
              <a:solidFill>
                <a:schemeClr val="tx1"/>
              </a:solidFill>
              <a:round/>
            </a:ln>
            <a:effectLst/>
          </p:spPr>
          <p:txBody>
            <a:bodyPr/>
            <a:lstStyle/>
            <a:p>
              <a:endParaRPr lang="en-US" sz="1350"/>
            </a:p>
          </p:txBody>
        </p:sp>
        <p:sp>
          <p:nvSpPr>
            <p:cNvPr id="398352" name="Line 16"/>
            <p:cNvSpPr>
              <a:spLocks noChangeShapeType="1"/>
            </p:cNvSpPr>
            <p:nvPr>
              <p:custDataLst>
                <p:tags r:id="rId23"/>
              </p:custDataLst>
            </p:nvPr>
          </p:nvSpPr>
          <p:spPr bwMode="auto">
            <a:xfrm>
              <a:off x="3744" y="2448"/>
              <a:ext cx="960" cy="0"/>
            </a:xfrm>
            <a:prstGeom prst="line">
              <a:avLst/>
            </a:prstGeom>
            <a:noFill/>
            <a:ln w="9525">
              <a:solidFill>
                <a:schemeClr val="tx1"/>
              </a:solidFill>
              <a:round/>
            </a:ln>
            <a:effectLst/>
          </p:spPr>
          <p:txBody>
            <a:bodyPr/>
            <a:lstStyle/>
            <a:p>
              <a:endParaRPr lang="en-US" sz="1350"/>
            </a:p>
          </p:txBody>
        </p:sp>
        <p:sp>
          <p:nvSpPr>
            <p:cNvPr id="398353" name="Freeform 17"/>
            <p:cNvSpPr/>
            <p:nvPr>
              <p:custDataLst>
                <p:tags r:id="rId24"/>
              </p:custDataLst>
            </p:nvPr>
          </p:nvSpPr>
          <p:spPr bwMode="auto">
            <a:xfrm>
              <a:off x="3840" y="2000"/>
              <a:ext cx="672" cy="160"/>
            </a:xfrm>
            <a:custGeom>
              <a:avLst/>
              <a:gdLst/>
              <a:ahLst/>
              <a:cxnLst>
                <a:cxn ang="0">
                  <a:pos x="0" y="304"/>
                </a:cxn>
                <a:cxn ang="0">
                  <a:pos x="96" y="16"/>
                </a:cxn>
                <a:cxn ang="0">
                  <a:pos x="288" y="208"/>
                </a:cxn>
                <a:cxn ang="0">
                  <a:pos x="528" y="352"/>
                </a:cxn>
                <a:cxn ang="0">
                  <a:pos x="672" y="16"/>
                </a:cxn>
              </a:cxnLst>
              <a:rect l="0" t="0" r="r" b="b"/>
              <a:pathLst>
                <a:path w="672" h="384">
                  <a:moveTo>
                    <a:pt x="0" y="304"/>
                  </a:moveTo>
                  <a:cubicBezTo>
                    <a:pt x="24" y="168"/>
                    <a:pt x="48" y="32"/>
                    <a:pt x="96" y="16"/>
                  </a:cubicBezTo>
                  <a:cubicBezTo>
                    <a:pt x="144" y="0"/>
                    <a:pt x="216" y="152"/>
                    <a:pt x="288" y="208"/>
                  </a:cubicBezTo>
                  <a:cubicBezTo>
                    <a:pt x="360" y="264"/>
                    <a:pt x="464" y="384"/>
                    <a:pt x="528" y="352"/>
                  </a:cubicBezTo>
                  <a:cubicBezTo>
                    <a:pt x="592" y="320"/>
                    <a:pt x="648" y="72"/>
                    <a:pt x="672" y="16"/>
                  </a:cubicBezTo>
                </a:path>
              </a:pathLst>
            </a:custGeom>
            <a:noFill/>
            <a:ln w="9525">
              <a:solidFill>
                <a:schemeClr val="tx1"/>
              </a:solidFill>
              <a:round/>
            </a:ln>
            <a:effectLst/>
          </p:spPr>
          <p:txBody>
            <a:bodyPr/>
            <a:lstStyle/>
            <a:p>
              <a:endParaRPr lang="en-US" sz="1350"/>
            </a:p>
          </p:txBody>
        </p:sp>
        <p:sp>
          <p:nvSpPr>
            <p:cNvPr id="398354" name="Text Box 18"/>
            <p:cNvSpPr txBox="1">
              <a:spLocks noChangeArrowheads="1"/>
            </p:cNvSpPr>
            <p:nvPr>
              <p:custDataLst>
                <p:tags r:id="rId25"/>
              </p:custDataLst>
            </p:nvPr>
          </p:nvSpPr>
          <p:spPr bwMode="auto">
            <a:xfrm>
              <a:off x="3552" y="1872"/>
              <a:ext cx="240" cy="252"/>
            </a:xfrm>
            <a:prstGeom prst="rect">
              <a:avLst/>
            </a:prstGeom>
            <a:noFill/>
            <a:ln w="9525">
              <a:noFill/>
              <a:miter lim="800000"/>
            </a:ln>
            <a:effectLst/>
          </p:spPr>
          <p:txBody>
            <a:bodyPr>
              <a:spAutoFit/>
            </a:bodyPr>
            <a:lstStyle/>
            <a:p>
              <a:pPr>
                <a:spcBef>
                  <a:spcPct val="50000"/>
                </a:spcBef>
              </a:pPr>
              <a:r>
                <a:rPr lang="en-US" sz="1350" i="1"/>
                <a:t>g</a:t>
              </a:r>
            </a:p>
          </p:txBody>
        </p:sp>
        <p:sp>
          <p:nvSpPr>
            <p:cNvPr id="398355" name="Text Box 19"/>
            <p:cNvSpPr txBox="1">
              <a:spLocks noChangeArrowheads="1"/>
            </p:cNvSpPr>
            <p:nvPr>
              <p:custDataLst>
                <p:tags r:id="rId26"/>
              </p:custDataLst>
            </p:nvPr>
          </p:nvSpPr>
          <p:spPr bwMode="auto">
            <a:xfrm>
              <a:off x="4560" y="2409"/>
              <a:ext cx="240" cy="252"/>
            </a:xfrm>
            <a:prstGeom prst="rect">
              <a:avLst/>
            </a:prstGeom>
            <a:noFill/>
            <a:ln w="9525">
              <a:noFill/>
              <a:miter lim="800000"/>
            </a:ln>
            <a:effectLst/>
          </p:spPr>
          <p:txBody>
            <a:bodyPr>
              <a:spAutoFit/>
            </a:bodyPr>
            <a:lstStyle/>
            <a:p>
              <a:pPr>
                <a:spcBef>
                  <a:spcPct val="50000"/>
                </a:spcBef>
              </a:pPr>
              <a:r>
                <a:rPr lang="en-US" sz="1350" i="1"/>
                <a:t>x</a:t>
              </a:r>
            </a:p>
          </p:txBody>
        </p:sp>
      </p:grpSp>
      <p:grpSp>
        <p:nvGrpSpPr>
          <p:cNvPr id="5" name="Group 20"/>
          <p:cNvGrpSpPr/>
          <p:nvPr>
            <p:custDataLst>
              <p:tags r:id="rId6"/>
            </p:custDataLst>
          </p:nvPr>
        </p:nvGrpSpPr>
        <p:grpSpPr bwMode="auto">
          <a:xfrm>
            <a:off x="2286000" y="4629149"/>
            <a:ext cx="1485900" cy="939403"/>
            <a:chOff x="960" y="1872"/>
            <a:chExt cx="1248" cy="789"/>
          </a:xfrm>
        </p:grpSpPr>
        <p:sp>
          <p:nvSpPr>
            <p:cNvPr id="398357" name="Line 21"/>
            <p:cNvSpPr>
              <a:spLocks noChangeShapeType="1"/>
            </p:cNvSpPr>
            <p:nvPr>
              <p:custDataLst>
                <p:tags r:id="rId17"/>
              </p:custDataLst>
            </p:nvPr>
          </p:nvSpPr>
          <p:spPr bwMode="auto">
            <a:xfrm>
              <a:off x="1152" y="1920"/>
              <a:ext cx="0" cy="528"/>
            </a:xfrm>
            <a:prstGeom prst="line">
              <a:avLst/>
            </a:prstGeom>
            <a:noFill/>
            <a:ln w="9525">
              <a:solidFill>
                <a:schemeClr val="tx1"/>
              </a:solidFill>
              <a:round/>
            </a:ln>
            <a:effectLst/>
          </p:spPr>
          <p:txBody>
            <a:bodyPr/>
            <a:lstStyle/>
            <a:p>
              <a:endParaRPr lang="en-US" sz="1350"/>
            </a:p>
          </p:txBody>
        </p:sp>
        <p:sp>
          <p:nvSpPr>
            <p:cNvPr id="398358" name="Line 22"/>
            <p:cNvSpPr>
              <a:spLocks noChangeShapeType="1"/>
            </p:cNvSpPr>
            <p:nvPr>
              <p:custDataLst>
                <p:tags r:id="rId18"/>
              </p:custDataLst>
            </p:nvPr>
          </p:nvSpPr>
          <p:spPr bwMode="auto">
            <a:xfrm>
              <a:off x="1152" y="2448"/>
              <a:ext cx="960" cy="0"/>
            </a:xfrm>
            <a:prstGeom prst="line">
              <a:avLst/>
            </a:prstGeom>
            <a:noFill/>
            <a:ln w="9525">
              <a:solidFill>
                <a:schemeClr val="tx1"/>
              </a:solidFill>
              <a:round/>
            </a:ln>
            <a:effectLst/>
          </p:spPr>
          <p:txBody>
            <a:bodyPr/>
            <a:lstStyle/>
            <a:p>
              <a:endParaRPr lang="en-US" sz="1350"/>
            </a:p>
          </p:txBody>
        </p:sp>
        <p:sp>
          <p:nvSpPr>
            <p:cNvPr id="398359" name="Freeform 23"/>
            <p:cNvSpPr/>
            <p:nvPr>
              <p:custDataLst>
                <p:tags r:id="rId19"/>
              </p:custDataLst>
            </p:nvPr>
          </p:nvSpPr>
          <p:spPr bwMode="auto">
            <a:xfrm>
              <a:off x="1248" y="2000"/>
              <a:ext cx="672" cy="384"/>
            </a:xfrm>
            <a:custGeom>
              <a:avLst/>
              <a:gdLst/>
              <a:ahLst/>
              <a:cxnLst>
                <a:cxn ang="0">
                  <a:pos x="0" y="304"/>
                </a:cxn>
                <a:cxn ang="0">
                  <a:pos x="96" y="16"/>
                </a:cxn>
                <a:cxn ang="0">
                  <a:pos x="288" y="208"/>
                </a:cxn>
                <a:cxn ang="0">
                  <a:pos x="528" y="352"/>
                </a:cxn>
                <a:cxn ang="0">
                  <a:pos x="672" y="16"/>
                </a:cxn>
              </a:cxnLst>
              <a:rect l="0" t="0" r="r" b="b"/>
              <a:pathLst>
                <a:path w="672" h="384">
                  <a:moveTo>
                    <a:pt x="0" y="304"/>
                  </a:moveTo>
                  <a:cubicBezTo>
                    <a:pt x="24" y="168"/>
                    <a:pt x="48" y="32"/>
                    <a:pt x="96" y="16"/>
                  </a:cubicBezTo>
                  <a:cubicBezTo>
                    <a:pt x="144" y="0"/>
                    <a:pt x="216" y="152"/>
                    <a:pt x="288" y="208"/>
                  </a:cubicBezTo>
                  <a:cubicBezTo>
                    <a:pt x="360" y="264"/>
                    <a:pt x="464" y="384"/>
                    <a:pt x="528" y="352"/>
                  </a:cubicBezTo>
                  <a:cubicBezTo>
                    <a:pt x="592" y="320"/>
                    <a:pt x="648" y="72"/>
                    <a:pt x="672" y="16"/>
                  </a:cubicBezTo>
                </a:path>
              </a:pathLst>
            </a:custGeom>
            <a:noFill/>
            <a:ln w="9525">
              <a:solidFill>
                <a:schemeClr val="tx1"/>
              </a:solidFill>
              <a:round/>
            </a:ln>
            <a:effectLst/>
          </p:spPr>
          <p:txBody>
            <a:bodyPr/>
            <a:lstStyle/>
            <a:p>
              <a:endParaRPr lang="en-US" sz="1350"/>
            </a:p>
          </p:txBody>
        </p:sp>
        <p:sp>
          <p:nvSpPr>
            <p:cNvPr id="398360" name="Text Box 24"/>
            <p:cNvSpPr txBox="1">
              <a:spLocks noChangeArrowheads="1"/>
            </p:cNvSpPr>
            <p:nvPr>
              <p:custDataLst>
                <p:tags r:id="rId20"/>
              </p:custDataLst>
            </p:nvPr>
          </p:nvSpPr>
          <p:spPr bwMode="auto">
            <a:xfrm>
              <a:off x="960" y="1872"/>
              <a:ext cx="240" cy="252"/>
            </a:xfrm>
            <a:prstGeom prst="rect">
              <a:avLst/>
            </a:prstGeom>
            <a:noFill/>
            <a:ln w="9525">
              <a:noFill/>
              <a:miter lim="800000"/>
            </a:ln>
            <a:effectLst/>
          </p:spPr>
          <p:txBody>
            <a:bodyPr>
              <a:spAutoFit/>
            </a:bodyPr>
            <a:lstStyle/>
            <a:p>
              <a:pPr>
                <a:spcBef>
                  <a:spcPct val="50000"/>
                </a:spcBef>
              </a:pPr>
              <a:r>
                <a:rPr lang="en-US" sz="1350" i="1"/>
                <a:t>f</a:t>
              </a:r>
            </a:p>
          </p:txBody>
        </p:sp>
        <p:sp>
          <p:nvSpPr>
            <p:cNvPr id="398361" name="Text Box 25"/>
            <p:cNvSpPr txBox="1">
              <a:spLocks noChangeArrowheads="1"/>
            </p:cNvSpPr>
            <p:nvPr>
              <p:custDataLst>
                <p:tags r:id="rId21"/>
              </p:custDataLst>
            </p:nvPr>
          </p:nvSpPr>
          <p:spPr bwMode="auto">
            <a:xfrm>
              <a:off x="1968" y="2409"/>
              <a:ext cx="240" cy="252"/>
            </a:xfrm>
            <a:prstGeom prst="rect">
              <a:avLst/>
            </a:prstGeom>
            <a:noFill/>
            <a:ln w="9525">
              <a:noFill/>
              <a:miter lim="800000"/>
            </a:ln>
            <a:effectLst/>
          </p:spPr>
          <p:txBody>
            <a:bodyPr>
              <a:spAutoFit/>
            </a:bodyPr>
            <a:lstStyle/>
            <a:p>
              <a:pPr>
                <a:spcBef>
                  <a:spcPct val="50000"/>
                </a:spcBef>
              </a:pPr>
              <a:r>
                <a:rPr lang="en-US" sz="1350" i="1"/>
                <a:t>x</a:t>
              </a:r>
            </a:p>
          </p:txBody>
        </p:sp>
      </p:grpSp>
      <p:grpSp>
        <p:nvGrpSpPr>
          <p:cNvPr id="6" name="Group 26"/>
          <p:cNvGrpSpPr/>
          <p:nvPr>
            <p:custDataLst>
              <p:tags r:id="rId7"/>
            </p:custDataLst>
          </p:nvPr>
        </p:nvGrpSpPr>
        <p:grpSpPr bwMode="auto">
          <a:xfrm>
            <a:off x="3829050" y="4843469"/>
            <a:ext cx="1200150" cy="300039"/>
            <a:chOff x="2256" y="2064"/>
            <a:chExt cx="1008" cy="252"/>
          </a:xfrm>
        </p:grpSpPr>
        <p:sp>
          <p:nvSpPr>
            <p:cNvPr id="398363" name="Text Box 27"/>
            <p:cNvSpPr txBox="1">
              <a:spLocks noChangeArrowheads="1"/>
            </p:cNvSpPr>
            <p:nvPr>
              <p:custDataLst>
                <p:tags r:id="rId14"/>
              </p:custDataLst>
            </p:nvPr>
          </p:nvSpPr>
          <p:spPr bwMode="auto">
            <a:xfrm>
              <a:off x="2592" y="2064"/>
              <a:ext cx="336" cy="252"/>
            </a:xfrm>
            <a:prstGeom prst="rect">
              <a:avLst/>
            </a:prstGeom>
            <a:noFill/>
            <a:ln w="19050">
              <a:solidFill>
                <a:schemeClr val="tx1"/>
              </a:solidFill>
              <a:miter lim="800000"/>
            </a:ln>
            <a:effectLst/>
          </p:spPr>
          <p:txBody>
            <a:bodyPr>
              <a:spAutoFit/>
            </a:bodyPr>
            <a:lstStyle/>
            <a:p>
              <a:pPr algn="ctr">
                <a:spcBef>
                  <a:spcPct val="50000"/>
                </a:spcBef>
              </a:pPr>
              <a:r>
                <a:rPr lang="en-US" sz="1350" i="1"/>
                <a:t>h</a:t>
              </a:r>
            </a:p>
          </p:txBody>
        </p:sp>
        <p:sp>
          <p:nvSpPr>
            <p:cNvPr id="398364" name="Line 28"/>
            <p:cNvSpPr>
              <a:spLocks noChangeShapeType="1"/>
            </p:cNvSpPr>
            <p:nvPr>
              <p:custDataLst>
                <p:tags r:id="rId15"/>
              </p:custDataLst>
            </p:nvPr>
          </p:nvSpPr>
          <p:spPr bwMode="auto">
            <a:xfrm>
              <a:off x="2256" y="2208"/>
              <a:ext cx="336" cy="0"/>
            </a:xfrm>
            <a:prstGeom prst="line">
              <a:avLst/>
            </a:prstGeom>
            <a:noFill/>
            <a:ln w="9525">
              <a:solidFill>
                <a:schemeClr val="tx1"/>
              </a:solidFill>
              <a:round/>
              <a:tailEnd type="triangle" w="med" len="med"/>
            </a:ln>
            <a:effectLst/>
          </p:spPr>
          <p:txBody>
            <a:bodyPr/>
            <a:lstStyle/>
            <a:p>
              <a:endParaRPr lang="en-US" sz="1350"/>
            </a:p>
          </p:txBody>
        </p:sp>
        <p:sp>
          <p:nvSpPr>
            <p:cNvPr id="398365" name="Line 29"/>
            <p:cNvSpPr>
              <a:spLocks noChangeShapeType="1"/>
            </p:cNvSpPr>
            <p:nvPr>
              <p:custDataLst>
                <p:tags r:id="rId16"/>
              </p:custDataLst>
            </p:nvPr>
          </p:nvSpPr>
          <p:spPr bwMode="auto">
            <a:xfrm>
              <a:off x="2928" y="2208"/>
              <a:ext cx="336" cy="0"/>
            </a:xfrm>
            <a:prstGeom prst="line">
              <a:avLst/>
            </a:prstGeom>
            <a:noFill/>
            <a:ln w="9525">
              <a:solidFill>
                <a:schemeClr val="tx1"/>
              </a:solidFill>
              <a:round/>
              <a:tailEnd type="triangle" w="med" len="med"/>
            </a:ln>
            <a:effectLst/>
          </p:spPr>
          <p:txBody>
            <a:bodyPr/>
            <a:lstStyle/>
            <a:p>
              <a:endParaRPr lang="en-US" sz="1350"/>
            </a:p>
          </p:txBody>
        </p:sp>
      </p:grpSp>
      <p:grpSp>
        <p:nvGrpSpPr>
          <p:cNvPr id="7" name="Group 30"/>
          <p:cNvGrpSpPr/>
          <p:nvPr>
            <p:custDataLst>
              <p:tags r:id="rId8"/>
            </p:custDataLst>
          </p:nvPr>
        </p:nvGrpSpPr>
        <p:grpSpPr bwMode="auto">
          <a:xfrm>
            <a:off x="5372100" y="4629148"/>
            <a:ext cx="1485900" cy="939403"/>
            <a:chOff x="3552" y="3168"/>
            <a:chExt cx="1248" cy="789"/>
          </a:xfrm>
        </p:grpSpPr>
        <p:sp>
          <p:nvSpPr>
            <p:cNvPr id="398367" name="Line 31"/>
            <p:cNvSpPr>
              <a:spLocks noChangeShapeType="1"/>
            </p:cNvSpPr>
            <p:nvPr>
              <p:custDataLst>
                <p:tags r:id="rId9"/>
              </p:custDataLst>
            </p:nvPr>
          </p:nvSpPr>
          <p:spPr bwMode="auto">
            <a:xfrm>
              <a:off x="3744" y="3216"/>
              <a:ext cx="0" cy="528"/>
            </a:xfrm>
            <a:prstGeom prst="line">
              <a:avLst/>
            </a:prstGeom>
            <a:noFill/>
            <a:ln w="9525">
              <a:solidFill>
                <a:schemeClr val="tx1"/>
              </a:solidFill>
              <a:round/>
            </a:ln>
            <a:effectLst/>
          </p:spPr>
          <p:txBody>
            <a:bodyPr/>
            <a:lstStyle/>
            <a:p>
              <a:endParaRPr lang="en-US" sz="1350"/>
            </a:p>
          </p:txBody>
        </p:sp>
        <p:sp>
          <p:nvSpPr>
            <p:cNvPr id="398368" name="Line 32"/>
            <p:cNvSpPr>
              <a:spLocks noChangeShapeType="1"/>
            </p:cNvSpPr>
            <p:nvPr>
              <p:custDataLst>
                <p:tags r:id="rId10"/>
              </p:custDataLst>
            </p:nvPr>
          </p:nvSpPr>
          <p:spPr bwMode="auto">
            <a:xfrm>
              <a:off x="3744" y="3744"/>
              <a:ext cx="960" cy="0"/>
            </a:xfrm>
            <a:prstGeom prst="line">
              <a:avLst/>
            </a:prstGeom>
            <a:noFill/>
            <a:ln w="9525">
              <a:solidFill>
                <a:schemeClr val="tx1"/>
              </a:solidFill>
              <a:round/>
            </a:ln>
            <a:effectLst/>
          </p:spPr>
          <p:txBody>
            <a:bodyPr/>
            <a:lstStyle/>
            <a:p>
              <a:endParaRPr lang="en-US" sz="1350"/>
            </a:p>
          </p:txBody>
        </p:sp>
        <p:sp>
          <p:nvSpPr>
            <p:cNvPr id="398369" name="Freeform 33"/>
            <p:cNvSpPr/>
            <p:nvPr>
              <p:custDataLst>
                <p:tags r:id="rId11"/>
              </p:custDataLst>
            </p:nvPr>
          </p:nvSpPr>
          <p:spPr bwMode="auto">
            <a:xfrm>
              <a:off x="4224" y="3296"/>
              <a:ext cx="384" cy="384"/>
            </a:xfrm>
            <a:custGeom>
              <a:avLst/>
              <a:gdLst/>
              <a:ahLst/>
              <a:cxnLst>
                <a:cxn ang="0">
                  <a:pos x="0" y="304"/>
                </a:cxn>
                <a:cxn ang="0">
                  <a:pos x="96" y="16"/>
                </a:cxn>
                <a:cxn ang="0">
                  <a:pos x="288" y="208"/>
                </a:cxn>
                <a:cxn ang="0">
                  <a:pos x="528" y="352"/>
                </a:cxn>
                <a:cxn ang="0">
                  <a:pos x="672" y="16"/>
                </a:cxn>
              </a:cxnLst>
              <a:rect l="0" t="0" r="r" b="b"/>
              <a:pathLst>
                <a:path w="672" h="384">
                  <a:moveTo>
                    <a:pt x="0" y="304"/>
                  </a:moveTo>
                  <a:cubicBezTo>
                    <a:pt x="24" y="168"/>
                    <a:pt x="48" y="32"/>
                    <a:pt x="96" y="16"/>
                  </a:cubicBezTo>
                  <a:cubicBezTo>
                    <a:pt x="144" y="0"/>
                    <a:pt x="216" y="152"/>
                    <a:pt x="288" y="208"/>
                  </a:cubicBezTo>
                  <a:cubicBezTo>
                    <a:pt x="360" y="264"/>
                    <a:pt x="464" y="384"/>
                    <a:pt x="528" y="352"/>
                  </a:cubicBezTo>
                  <a:cubicBezTo>
                    <a:pt x="592" y="320"/>
                    <a:pt x="648" y="72"/>
                    <a:pt x="672" y="16"/>
                  </a:cubicBezTo>
                </a:path>
              </a:pathLst>
            </a:custGeom>
            <a:noFill/>
            <a:ln w="9525">
              <a:solidFill>
                <a:schemeClr val="tx1"/>
              </a:solidFill>
              <a:round/>
            </a:ln>
            <a:effectLst/>
          </p:spPr>
          <p:txBody>
            <a:bodyPr/>
            <a:lstStyle/>
            <a:p>
              <a:endParaRPr lang="en-US" sz="1350"/>
            </a:p>
          </p:txBody>
        </p:sp>
        <p:sp>
          <p:nvSpPr>
            <p:cNvPr id="398370" name="Text Box 34"/>
            <p:cNvSpPr txBox="1">
              <a:spLocks noChangeArrowheads="1"/>
            </p:cNvSpPr>
            <p:nvPr>
              <p:custDataLst>
                <p:tags r:id="rId12"/>
              </p:custDataLst>
            </p:nvPr>
          </p:nvSpPr>
          <p:spPr bwMode="auto">
            <a:xfrm>
              <a:off x="3552" y="3168"/>
              <a:ext cx="240" cy="252"/>
            </a:xfrm>
            <a:prstGeom prst="rect">
              <a:avLst/>
            </a:prstGeom>
            <a:noFill/>
            <a:ln w="9525">
              <a:noFill/>
              <a:miter lim="800000"/>
            </a:ln>
            <a:effectLst/>
          </p:spPr>
          <p:txBody>
            <a:bodyPr>
              <a:spAutoFit/>
            </a:bodyPr>
            <a:lstStyle/>
            <a:p>
              <a:pPr>
                <a:spcBef>
                  <a:spcPct val="50000"/>
                </a:spcBef>
              </a:pPr>
              <a:r>
                <a:rPr lang="en-US" sz="1350" i="1"/>
                <a:t>g</a:t>
              </a:r>
            </a:p>
          </p:txBody>
        </p:sp>
        <p:sp>
          <p:nvSpPr>
            <p:cNvPr id="398371" name="Text Box 35"/>
            <p:cNvSpPr txBox="1">
              <a:spLocks noChangeArrowheads="1"/>
            </p:cNvSpPr>
            <p:nvPr>
              <p:custDataLst>
                <p:tags r:id="rId13"/>
              </p:custDataLst>
            </p:nvPr>
          </p:nvSpPr>
          <p:spPr bwMode="auto">
            <a:xfrm>
              <a:off x="4560" y="3705"/>
              <a:ext cx="240" cy="252"/>
            </a:xfrm>
            <a:prstGeom prst="rect">
              <a:avLst/>
            </a:prstGeom>
            <a:noFill/>
            <a:ln w="9525">
              <a:noFill/>
              <a:miter lim="800000"/>
            </a:ln>
            <a:effectLst/>
          </p:spPr>
          <p:txBody>
            <a:bodyPr>
              <a:spAutoFit/>
            </a:bodyPr>
            <a:lstStyle/>
            <a:p>
              <a:pPr>
                <a:spcBef>
                  <a:spcPct val="50000"/>
                </a:spcBef>
              </a:pPr>
              <a:r>
                <a:rPr lang="en-US" sz="1350" i="1"/>
                <a:t>x</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8339">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98339">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Date Placeholder 3"/>
          <p:cNvSpPr>
            <a:spLocks noGrp="1"/>
          </p:cNvSpPr>
          <p:nvPr>
            <p:ph type="dt" sz="half" idx="10"/>
          </p:nvPr>
        </p:nvSpPr>
        <p:spPr/>
        <p:txBody>
          <a:bodyPr/>
          <a:lstStyle/>
          <a:p>
            <a:r>
              <a:rPr lang="en-US"/>
              <a:t>Richard Szeliski</a:t>
            </a:r>
          </a:p>
        </p:txBody>
      </p:sp>
      <p:sp>
        <p:nvSpPr>
          <p:cNvPr id="21" name="Footer Placeholder 4"/>
          <p:cNvSpPr>
            <a:spLocks noGrp="1"/>
          </p:cNvSpPr>
          <p:nvPr>
            <p:ph type="ftr" sz="quarter" idx="11"/>
          </p:nvPr>
        </p:nvSpPr>
        <p:spPr/>
        <p:txBody>
          <a:bodyPr/>
          <a:lstStyle/>
          <a:p>
            <a:r>
              <a:rPr lang="en-US"/>
              <a:t>Image Stitching</a:t>
            </a:r>
          </a:p>
        </p:txBody>
      </p:sp>
      <p:sp>
        <p:nvSpPr>
          <p:cNvPr id="22" name="Slide Number Placeholder 5"/>
          <p:cNvSpPr>
            <a:spLocks noGrp="1"/>
          </p:cNvSpPr>
          <p:nvPr>
            <p:ph type="sldNum" sz="quarter" idx="12"/>
          </p:nvPr>
        </p:nvSpPr>
        <p:spPr/>
        <p:txBody>
          <a:bodyPr/>
          <a:lstStyle/>
          <a:p>
            <a:fld id="{88B70914-9068-42C4-B28F-653E5D555BEA}" type="slidenum">
              <a:rPr lang="en-US"/>
              <a:t>8</a:t>
            </a:fld>
            <a:endParaRPr lang="en-US"/>
          </a:p>
        </p:txBody>
      </p:sp>
      <p:sp>
        <p:nvSpPr>
          <p:cNvPr id="399362" name="Rectangle 2"/>
          <p:cNvSpPr>
            <a:spLocks noGrp="1" noChangeArrowheads="1"/>
          </p:cNvSpPr>
          <p:nvPr>
            <p:ph type="title"/>
            <p:custDataLst>
              <p:tags r:id="rId1"/>
            </p:custDataLst>
          </p:nvPr>
        </p:nvSpPr>
        <p:spPr/>
        <p:txBody>
          <a:bodyPr/>
          <a:lstStyle/>
          <a:p>
            <a:r>
              <a:rPr lang="zh-CN" altLang="en-US" dirty="0"/>
              <a:t>图像形变</a:t>
            </a:r>
            <a:endParaRPr lang="en-US" dirty="0"/>
          </a:p>
        </p:txBody>
      </p:sp>
      <p:sp>
        <p:nvSpPr>
          <p:cNvPr id="399363" name="Rectangle 3"/>
          <p:cNvSpPr>
            <a:spLocks noGrp="1" noChangeArrowheads="1"/>
          </p:cNvSpPr>
          <p:nvPr>
            <p:ph type="body" idx="1"/>
            <p:custDataLst>
              <p:tags r:id="rId2"/>
            </p:custDataLst>
          </p:nvPr>
        </p:nvSpPr>
        <p:spPr>
          <a:xfrm>
            <a:off x="603315" y="1291422"/>
            <a:ext cx="8229600" cy="4525963"/>
          </a:xfrm>
        </p:spPr>
        <p:txBody>
          <a:bodyPr/>
          <a:lstStyle/>
          <a:p>
            <a:pPr>
              <a:lnSpc>
                <a:spcPct val="90000"/>
              </a:lnSpc>
            </a:pPr>
            <a:r>
              <a:rPr lang="zh-CN" altLang="en-US" dirty="0"/>
              <a:t>图像滤波</a:t>
            </a:r>
            <a:r>
              <a:rPr lang="en-US" altLang="zh-CN" dirty="0"/>
              <a:t>: </a:t>
            </a:r>
            <a:r>
              <a:rPr lang="zh-CN" altLang="en-US" dirty="0"/>
              <a:t>改变图像的像素取值</a:t>
            </a:r>
          </a:p>
          <a:p>
            <a:pPr algn="ctr">
              <a:lnSpc>
                <a:spcPct val="90000"/>
              </a:lnSpc>
            </a:pPr>
            <a:r>
              <a:rPr lang="en-US" i="1" dirty="0"/>
              <a:t>g(x) = h(f(x))</a:t>
            </a:r>
          </a:p>
          <a:p>
            <a:pPr algn="ctr">
              <a:lnSpc>
                <a:spcPct val="90000"/>
              </a:lnSpc>
            </a:pPr>
            <a:endParaRPr lang="en-US" i="1" dirty="0"/>
          </a:p>
          <a:p>
            <a:pPr algn="ctr">
              <a:lnSpc>
                <a:spcPct val="90000"/>
              </a:lnSpc>
            </a:pPr>
            <a:endParaRPr lang="en-US" i="1" dirty="0"/>
          </a:p>
          <a:p>
            <a:pPr algn="ctr">
              <a:lnSpc>
                <a:spcPct val="90000"/>
              </a:lnSpc>
            </a:pPr>
            <a:endParaRPr lang="en-US" i="1" dirty="0"/>
          </a:p>
          <a:p>
            <a:pPr>
              <a:lnSpc>
                <a:spcPct val="170000"/>
              </a:lnSpc>
            </a:pPr>
            <a:r>
              <a:rPr lang="zh-CN" altLang="en-US" dirty="0"/>
              <a:t>图像形变</a:t>
            </a:r>
            <a:r>
              <a:rPr lang="en-US" altLang="zh-CN" dirty="0"/>
              <a:t>: </a:t>
            </a:r>
            <a:r>
              <a:rPr lang="zh-CN" altLang="en-US" dirty="0"/>
              <a:t>改变图像的空间坐标</a:t>
            </a:r>
          </a:p>
          <a:p>
            <a:pPr algn="ctr">
              <a:lnSpc>
                <a:spcPct val="90000"/>
              </a:lnSpc>
            </a:pPr>
            <a:r>
              <a:rPr lang="en-US" i="1" dirty="0"/>
              <a:t>g(x) = f(h</a:t>
            </a:r>
            <a:r>
              <a:rPr lang="en-US" i="1" baseline="30000" dirty="0"/>
              <a:t>-1</a:t>
            </a:r>
            <a:r>
              <a:rPr lang="en-US" i="1" dirty="0"/>
              <a:t>(x))</a:t>
            </a:r>
          </a:p>
          <a:p>
            <a:pPr>
              <a:lnSpc>
                <a:spcPct val="90000"/>
              </a:lnSpc>
            </a:pPr>
            <a:endParaRPr lang="en-US" dirty="0"/>
          </a:p>
        </p:txBody>
      </p:sp>
      <p:grpSp>
        <p:nvGrpSpPr>
          <p:cNvPr id="2" name="Group 4"/>
          <p:cNvGrpSpPr/>
          <p:nvPr>
            <p:custDataLst>
              <p:tags r:id="rId3"/>
            </p:custDataLst>
          </p:nvPr>
        </p:nvGrpSpPr>
        <p:grpSpPr bwMode="auto">
          <a:xfrm>
            <a:off x="3829050" y="2324527"/>
            <a:ext cx="1200150" cy="300039"/>
            <a:chOff x="2256" y="2064"/>
            <a:chExt cx="1008" cy="252"/>
          </a:xfrm>
        </p:grpSpPr>
        <p:sp>
          <p:nvSpPr>
            <p:cNvPr id="399365" name="Text Box 5"/>
            <p:cNvSpPr txBox="1">
              <a:spLocks noChangeArrowheads="1"/>
            </p:cNvSpPr>
            <p:nvPr>
              <p:custDataLst>
                <p:tags r:id="rId16"/>
              </p:custDataLst>
            </p:nvPr>
          </p:nvSpPr>
          <p:spPr bwMode="auto">
            <a:xfrm>
              <a:off x="2592" y="2064"/>
              <a:ext cx="336" cy="252"/>
            </a:xfrm>
            <a:prstGeom prst="rect">
              <a:avLst/>
            </a:prstGeom>
            <a:noFill/>
            <a:ln w="19050">
              <a:solidFill>
                <a:schemeClr val="tx1"/>
              </a:solidFill>
              <a:miter lim="800000"/>
            </a:ln>
            <a:effectLst/>
          </p:spPr>
          <p:txBody>
            <a:bodyPr>
              <a:spAutoFit/>
            </a:bodyPr>
            <a:lstStyle/>
            <a:p>
              <a:pPr algn="ctr">
                <a:spcBef>
                  <a:spcPct val="50000"/>
                </a:spcBef>
              </a:pPr>
              <a:r>
                <a:rPr lang="en-US" sz="1350" i="1"/>
                <a:t>h</a:t>
              </a:r>
            </a:p>
          </p:txBody>
        </p:sp>
        <p:sp>
          <p:nvSpPr>
            <p:cNvPr id="399366" name="Line 6"/>
            <p:cNvSpPr>
              <a:spLocks noChangeShapeType="1"/>
            </p:cNvSpPr>
            <p:nvPr>
              <p:custDataLst>
                <p:tags r:id="rId17"/>
              </p:custDataLst>
            </p:nvPr>
          </p:nvSpPr>
          <p:spPr bwMode="auto">
            <a:xfrm>
              <a:off x="2256" y="2208"/>
              <a:ext cx="336" cy="0"/>
            </a:xfrm>
            <a:prstGeom prst="line">
              <a:avLst/>
            </a:prstGeom>
            <a:noFill/>
            <a:ln w="9525">
              <a:solidFill>
                <a:schemeClr val="tx1"/>
              </a:solidFill>
              <a:round/>
              <a:tailEnd type="triangle" w="med" len="med"/>
            </a:ln>
            <a:effectLst/>
          </p:spPr>
          <p:txBody>
            <a:bodyPr/>
            <a:lstStyle/>
            <a:p>
              <a:endParaRPr lang="en-US" sz="1350"/>
            </a:p>
          </p:txBody>
        </p:sp>
        <p:sp>
          <p:nvSpPr>
            <p:cNvPr id="399367" name="Line 7"/>
            <p:cNvSpPr>
              <a:spLocks noChangeShapeType="1"/>
            </p:cNvSpPr>
            <p:nvPr>
              <p:custDataLst>
                <p:tags r:id="rId18"/>
              </p:custDataLst>
            </p:nvPr>
          </p:nvSpPr>
          <p:spPr bwMode="auto">
            <a:xfrm>
              <a:off x="2928" y="2208"/>
              <a:ext cx="336" cy="0"/>
            </a:xfrm>
            <a:prstGeom prst="line">
              <a:avLst/>
            </a:prstGeom>
            <a:noFill/>
            <a:ln w="9525">
              <a:solidFill>
                <a:schemeClr val="tx1"/>
              </a:solidFill>
              <a:round/>
              <a:tailEnd type="triangle" w="med" len="med"/>
            </a:ln>
            <a:effectLst/>
          </p:spPr>
          <p:txBody>
            <a:bodyPr/>
            <a:lstStyle/>
            <a:p>
              <a:endParaRPr lang="en-US" sz="1350"/>
            </a:p>
          </p:txBody>
        </p:sp>
      </p:grpSp>
      <p:grpSp>
        <p:nvGrpSpPr>
          <p:cNvPr id="3" name="Group 8"/>
          <p:cNvGrpSpPr/>
          <p:nvPr>
            <p:custDataLst>
              <p:tags r:id="rId4"/>
            </p:custDataLst>
          </p:nvPr>
        </p:nvGrpSpPr>
        <p:grpSpPr bwMode="auto">
          <a:xfrm>
            <a:off x="3829050" y="4843469"/>
            <a:ext cx="1200150" cy="300039"/>
            <a:chOff x="2256" y="2064"/>
            <a:chExt cx="1008" cy="252"/>
          </a:xfrm>
        </p:grpSpPr>
        <p:sp>
          <p:nvSpPr>
            <p:cNvPr id="399369" name="Text Box 9"/>
            <p:cNvSpPr txBox="1">
              <a:spLocks noChangeArrowheads="1"/>
            </p:cNvSpPr>
            <p:nvPr>
              <p:custDataLst>
                <p:tags r:id="rId13"/>
              </p:custDataLst>
            </p:nvPr>
          </p:nvSpPr>
          <p:spPr bwMode="auto">
            <a:xfrm>
              <a:off x="2592" y="2064"/>
              <a:ext cx="336" cy="252"/>
            </a:xfrm>
            <a:prstGeom prst="rect">
              <a:avLst/>
            </a:prstGeom>
            <a:noFill/>
            <a:ln w="19050">
              <a:solidFill>
                <a:schemeClr val="tx1"/>
              </a:solidFill>
              <a:miter lim="800000"/>
            </a:ln>
            <a:effectLst/>
          </p:spPr>
          <p:txBody>
            <a:bodyPr>
              <a:spAutoFit/>
            </a:bodyPr>
            <a:lstStyle/>
            <a:p>
              <a:pPr algn="ctr">
                <a:spcBef>
                  <a:spcPct val="50000"/>
                </a:spcBef>
              </a:pPr>
              <a:r>
                <a:rPr lang="en-US" sz="1350" i="1"/>
                <a:t>h</a:t>
              </a:r>
            </a:p>
          </p:txBody>
        </p:sp>
        <p:sp>
          <p:nvSpPr>
            <p:cNvPr id="399370" name="Line 10"/>
            <p:cNvSpPr>
              <a:spLocks noChangeShapeType="1"/>
            </p:cNvSpPr>
            <p:nvPr>
              <p:custDataLst>
                <p:tags r:id="rId14"/>
              </p:custDataLst>
            </p:nvPr>
          </p:nvSpPr>
          <p:spPr bwMode="auto">
            <a:xfrm>
              <a:off x="2256" y="2208"/>
              <a:ext cx="336" cy="0"/>
            </a:xfrm>
            <a:prstGeom prst="line">
              <a:avLst/>
            </a:prstGeom>
            <a:noFill/>
            <a:ln w="9525">
              <a:solidFill>
                <a:schemeClr val="tx1"/>
              </a:solidFill>
              <a:round/>
              <a:tailEnd type="triangle" w="med" len="med"/>
            </a:ln>
            <a:effectLst/>
          </p:spPr>
          <p:txBody>
            <a:bodyPr/>
            <a:lstStyle/>
            <a:p>
              <a:endParaRPr lang="en-US" sz="1350"/>
            </a:p>
          </p:txBody>
        </p:sp>
        <p:sp>
          <p:nvSpPr>
            <p:cNvPr id="399371" name="Line 11"/>
            <p:cNvSpPr>
              <a:spLocks noChangeShapeType="1"/>
            </p:cNvSpPr>
            <p:nvPr>
              <p:custDataLst>
                <p:tags r:id="rId15"/>
              </p:custDataLst>
            </p:nvPr>
          </p:nvSpPr>
          <p:spPr bwMode="auto">
            <a:xfrm>
              <a:off x="2928" y="2208"/>
              <a:ext cx="336" cy="0"/>
            </a:xfrm>
            <a:prstGeom prst="line">
              <a:avLst/>
            </a:prstGeom>
            <a:noFill/>
            <a:ln w="9525">
              <a:solidFill>
                <a:schemeClr val="tx1"/>
              </a:solidFill>
              <a:round/>
              <a:tailEnd type="triangle" w="med" len="med"/>
            </a:ln>
            <a:effectLst/>
          </p:spPr>
          <p:txBody>
            <a:bodyPr/>
            <a:lstStyle/>
            <a:p>
              <a:endParaRPr lang="en-US" sz="1350"/>
            </a:p>
          </p:txBody>
        </p:sp>
      </p:grpSp>
      <p:pic>
        <p:nvPicPr>
          <p:cNvPr id="399372" name="Picture 12" descr="HHHIMG_1166"/>
          <p:cNvPicPr>
            <a:picLocks noChangeAspect="1" noChangeArrowheads="1"/>
          </p:cNvPicPr>
          <p:nvPr>
            <p:custDataLst>
              <p:tags r:id="rId5"/>
            </p:custDataLst>
          </p:nvPr>
        </p:nvPicPr>
        <p:blipFill>
          <a:blip r:embed="rId21" cstate="print"/>
          <a:srcRect/>
          <a:stretch>
            <a:fillRect/>
          </a:stretch>
        </p:blipFill>
        <p:spPr bwMode="auto">
          <a:xfrm>
            <a:off x="2457450" y="2074490"/>
            <a:ext cx="1096566" cy="821531"/>
          </a:xfrm>
          <a:prstGeom prst="rect">
            <a:avLst/>
          </a:prstGeom>
          <a:noFill/>
        </p:spPr>
      </p:pic>
      <p:pic>
        <p:nvPicPr>
          <p:cNvPr id="399373" name="Picture 13" descr="HHHIMG_1166"/>
          <p:cNvPicPr>
            <a:picLocks noChangeAspect="1" noChangeArrowheads="1"/>
          </p:cNvPicPr>
          <p:nvPr>
            <p:custDataLst>
              <p:tags r:id="rId6"/>
            </p:custDataLst>
          </p:nvPr>
        </p:nvPicPr>
        <p:blipFill>
          <a:blip r:embed="rId21" cstate="print">
            <a:lum bright="48000"/>
          </a:blip>
          <a:srcRect/>
          <a:stretch>
            <a:fillRect/>
          </a:stretch>
        </p:blipFill>
        <p:spPr bwMode="auto">
          <a:xfrm>
            <a:off x="5600700" y="2074490"/>
            <a:ext cx="1096566" cy="821531"/>
          </a:xfrm>
          <a:prstGeom prst="rect">
            <a:avLst/>
          </a:prstGeom>
          <a:noFill/>
        </p:spPr>
      </p:pic>
      <p:pic>
        <p:nvPicPr>
          <p:cNvPr id="399374" name="Picture 14" descr="HHHIMG_1166"/>
          <p:cNvPicPr>
            <a:picLocks noChangeAspect="1" noChangeArrowheads="1"/>
          </p:cNvPicPr>
          <p:nvPr>
            <p:custDataLst>
              <p:tags r:id="rId7"/>
            </p:custDataLst>
          </p:nvPr>
        </p:nvPicPr>
        <p:blipFill>
          <a:blip r:embed="rId21" cstate="print"/>
          <a:srcRect/>
          <a:stretch>
            <a:fillRect/>
          </a:stretch>
        </p:blipFill>
        <p:spPr bwMode="auto">
          <a:xfrm>
            <a:off x="2457450" y="4607720"/>
            <a:ext cx="1096566" cy="821531"/>
          </a:xfrm>
          <a:prstGeom prst="rect">
            <a:avLst/>
          </a:prstGeom>
          <a:noFill/>
        </p:spPr>
      </p:pic>
      <p:pic>
        <p:nvPicPr>
          <p:cNvPr id="399375" name="Picture 15" descr="HHHIMG_1166"/>
          <p:cNvPicPr>
            <a:picLocks noChangeAspect="1" noChangeArrowheads="1"/>
          </p:cNvPicPr>
          <p:nvPr>
            <p:custDataLst>
              <p:tags r:id="rId8"/>
            </p:custDataLst>
          </p:nvPr>
        </p:nvPicPr>
        <p:blipFill>
          <a:blip r:embed="rId21" cstate="print"/>
          <a:srcRect/>
          <a:stretch>
            <a:fillRect/>
          </a:stretch>
        </p:blipFill>
        <p:spPr bwMode="auto">
          <a:xfrm>
            <a:off x="5589986" y="4686300"/>
            <a:ext cx="1382315" cy="571500"/>
          </a:xfrm>
          <a:prstGeom prst="rect">
            <a:avLst/>
          </a:prstGeom>
          <a:noFill/>
        </p:spPr>
      </p:pic>
      <p:sp>
        <p:nvSpPr>
          <p:cNvPr id="399376" name="Text Box 16"/>
          <p:cNvSpPr txBox="1">
            <a:spLocks noChangeArrowheads="1"/>
          </p:cNvSpPr>
          <p:nvPr>
            <p:custDataLst>
              <p:tags r:id="rId9"/>
            </p:custDataLst>
          </p:nvPr>
        </p:nvSpPr>
        <p:spPr bwMode="auto">
          <a:xfrm>
            <a:off x="2228850" y="2095921"/>
            <a:ext cx="228600" cy="300082"/>
          </a:xfrm>
          <a:prstGeom prst="rect">
            <a:avLst/>
          </a:prstGeom>
          <a:noFill/>
          <a:ln w="9525">
            <a:noFill/>
            <a:miter lim="800000"/>
          </a:ln>
          <a:effectLst/>
        </p:spPr>
        <p:txBody>
          <a:bodyPr>
            <a:spAutoFit/>
          </a:bodyPr>
          <a:lstStyle/>
          <a:p>
            <a:pPr>
              <a:spcBef>
                <a:spcPct val="50000"/>
              </a:spcBef>
            </a:pPr>
            <a:r>
              <a:rPr lang="en-US" sz="1350" i="1"/>
              <a:t>f</a:t>
            </a:r>
          </a:p>
        </p:txBody>
      </p:sp>
      <p:sp>
        <p:nvSpPr>
          <p:cNvPr id="399377" name="Text Box 17"/>
          <p:cNvSpPr txBox="1">
            <a:spLocks noChangeArrowheads="1"/>
          </p:cNvSpPr>
          <p:nvPr>
            <p:custDataLst>
              <p:tags r:id="rId10"/>
            </p:custDataLst>
          </p:nvPr>
        </p:nvSpPr>
        <p:spPr bwMode="auto">
          <a:xfrm>
            <a:off x="2228850" y="4639866"/>
            <a:ext cx="228600" cy="300082"/>
          </a:xfrm>
          <a:prstGeom prst="rect">
            <a:avLst/>
          </a:prstGeom>
          <a:noFill/>
          <a:ln w="9525">
            <a:noFill/>
            <a:miter lim="800000"/>
          </a:ln>
          <a:effectLst/>
        </p:spPr>
        <p:txBody>
          <a:bodyPr>
            <a:spAutoFit/>
          </a:bodyPr>
          <a:lstStyle/>
          <a:p>
            <a:pPr>
              <a:spcBef>
                <a:spcPct val="50000"/>
              </a:spcBef>
            </a:pPr>
            <a:r>
              <a:rPr lang="en-US" sz="1350" i="1"/>
              <a:t>f</a:t>
            </a:r>
          </a:p>
        </p:txBody>
      </p:sp>
      <p:sp>
        <p:nvSpPr>
          <p:cNvPr id="399378" name="Text Box 18"/>
          <p:cNvSpPr txBox="1">
            <a:spLocks noChangeArrowheads="1"/>
          </p:cNvSpPr>
          <p:nvPr>
            <p:custDataLst>
              <p:tags r:id="rId11"/>
            </p:custDataLst>
          </p:nvPr>
        </p:nvSpPr>
        <p:spPr bwMode="auto">
          <a:xfrm>
            <a:off x="5372100" y="4697016"/>
            <a:ext cx="228600" cy="300082"/>
          </a:xfrm>
          <a:prstGeom prst="rect">
            <a:avLst/>
          </a:prstGeom>
          <a:noFill/>
          <a:ln w="9525">
            <a:noFill/>
            <a:miter lim="800000"/>
          </a:ln>
          <a:effectLst/>
        </p:spPr>
        <p:txBody>
          <a:bodyPr>
            <a:spAutoFit/>
          </a:bodyPr>
          <a:lstStyle/>
          <a:p>
            <a:pPr>
              <a:spcBef>
                <a:spcPct val="50000"/>
              </a:spcBef>
            </a:pPr>
            <a:r>
              <a:rPr lang="en-US" sz="1350" i="1"/>
              <a:t>g</a:t>
            </a:r>
          </a:p>
        </p:txBody>
      </p:sp>
      <p:sp>
        <p:nvSpPr>
          <p:cNvPr id="399379" name="Text Box 19"/>
          <p:cNvSpPr txBox="1">
            <a:spLocks noChangeArrowheads="1"/>
          </p:cNvSpPr>
          <p:nvPr>
            <p:custDataLst>
              <p:tags r:id="rId12"/>
            </p:custDataLst>
          </p:nvPr>
        </p:nvSpPr>
        <p:spPr bwMode="auto">
          <a:xfrm>
            <a:off x="5372100" y="2095921"/>
            <a:ext cx="228600" cy="300082"/>
          </a:xfrm>
          <a:prstGeom prst="rect">
            <a:avLst/>
          </a:prstGeom>
          <a:noFill/>
          <a:ln w="9525">
            <a:noFill/>
            <a:miter lim="800000"/>
          </a:ln>
          <a:effectLst/>
        </p:spPr>
        <p:txBody>
          <a:bodyPr>
            <a:spAutoFit/>
          </a:bodyPr>
          <a:lstStyle/>
          <a:p>
            <a:pPr>
              <a:spcBef>
                <a:spcPct val="50000"/>
              </a:spcBef>
            </a:pPr>
            <a:r>
              <a:rPr lang="en-US" sz="1350" i="1"/>
              <a:t>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9</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几何变换：旋转</a:t>
            </a:r>
            <a:endParaRPr lang="en-US" dirty="0"/>
          </a:p>
        </p:txBody>
      </p:sp>
      <p:pic>
        <p:nvPicPr>
          <p:cNvPr id="32768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7920" y="2275914"/>
            <a:ext cx="3028109" cy="267417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27683"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976967" y="2949052"/>
            <a:ext cx="4392945" cy="10749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矩形 1"/>
          <p:cNvSpPr/>
          <p:nvPr/>
        </p:nvSpPr>
        <p:spPr>
          <a:xfrm>
            <a:off x="2832141" y="5161669"/>
            <a:ext cx="3231975" cy="300082"/>
          </a:xfrm>
          <a:prstGeom prst="rect">
            <a:avLst/>
          </a:prstGeom>
        </p:spPr>
        <p:txBody>
          <a:bodyPr wrap="none">
            <a:spAutoFit/>
          </a:bodyPr>
          <a:lstStyle/>
          <a:p>
            <a:r>
              <a:rPr lang="en-US" altLang="zh-CN" sz="1350" dirty="0"/>
              <a:t>https://zhuanlan.zhihu.com/p/74597564</a:t>
            </a:r>
            <a:endParaRPr lang="zh-CN" alt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10</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几何变换：旋转</a:t>
            </a:r>
            <a:endParaRPr lang="en-US" dirty="0"/>
          </a:p>
        </p:txBody>
      </p:sp>
      <p:pic>
        <p:nvPicPr>
          <p:cNvPr id="32973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3742" y="2242060"/>
            <a:ext cx="2943225" cy="265033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29731"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2291" y="2437137"/>
            <a:ext cx="2271714" cy="3515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29732"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42992" y="3217180"/>
            <a:ext cx="1778598" cy="54649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29733" name="Picture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706722" y="3126363"/>
            <a:ext cx="1421554" cy="88172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29734" name="Picture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349409" y="4212502"/>
            <a:ext cx="1804046" cy="59818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11</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几何变换：平移</a:t>
            </a:r>
            <a:endParaRPr lang="en-US" dirty="0"/>
          </a:p>
        </p:txBody>
      </p:sp>
      <p:pic>
        <p:nvPicPr>
          <p:cNvPr id="32870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8858" y="2360170"/>
            <a:ext cx="2924874" cy="264213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2870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6685" y="2569019"/>
            <a:ext cx="4266435" cy="10315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28708"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56239" y="3872333"/>
            <a:ext cx="4687328" cy="69630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12</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几何变换：刚体变换（旋转</a:t>
            </a:r>
            <a:r>
              <a:rPr lang="en-US" altLang="zh-CN" dirty="0"/>
              <a:t>+</a:t>
            </a:r>
            <a:r>
              <a:rPr lang="zh-CN" altLang="en-US" dirty="0"/>
              <a:t>平移）</a:t>
            </a:r>
            <a:endParaRPr lang="en-US" dirty="0"/>
          </a:p>
        </p:txBody>
      </p:sp>
      <p:pic>
        <p:nvPicPr>
          <p:cNvPr id="33075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0105" y="2412697"/>
            <a:ext cx="2851019" cy="254926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075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974026" y="2766733"/>
            <a:ext cx="4255574" cy="83035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0756"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0995" y="3925281"/>
            <a:ext cx="3641633" cy="32849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0" name="矩形 9"/>
          <p:cNvSpPr/>
          <p:nvPr/>
        </p:nvSpPr>
        <p:spPr>
          <a:xfrm>
            <a:off x="4446397" y="4643277"/>
            <a:ext cx="3476231" cy="300082"/>
          </a:xfrm>
          <a:prstGeom prst="rect">
            <a:avLst/>
          </a:prstGeom>
        </p:spPr>
        <p:txBody>
          <a:bodyPr wrap="square">
            <a:spAutoFit/>
          </a:bodyPr>
          <a:lstStyle/>
          <a:p>
            <a:r>
              <a:rPr lang="zh-CN" altLang="en-US" sz="1350" dirty="0"/>
              <a:t>刚体变换增加均匀缩放，称为相似变换</a:t>
            </a:r>
            <a:endParaRPr lang="zh-CN" altLang="en-US" sz="1350" b="1" dirty="0">
              <a:solidFill>
                <a:srgbClr val="FF000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13</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几何变换：仿射变换</a:t>
            </a:r>
            <a:endParaRPr lang="en-US" dirty="0"/>
          </a:p>
        </p:txBody>
      </p:sp>
      <p:pic>
        <p:nvPicPr>
          <p:cNvPr id="33177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2432" y="2424756"/>
            <a:ext cx="2700709" cy="234466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1779"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72000" y="2503884"/>
            <a:ext cx="2776484" cy="105685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1780"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13365" y="3597088"/>
            <a:ext cx="4907743" cy="62612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矩形 1"/>
          <p:cNvSpPr/>
          <p:nvPr/>
        </p:nvSpPr>
        <p:spPr>
          <a:xfrm>
            <a:off x="3785180" y="4504778"/>
            <a:ext cx="4572000" cy="715581"/>
          </a:xfrm>
          <a:prstGeom prst="rect">
            <a:avLst/>
          </a:prstGeom>
        </p:spPr>
        <p:txBody>
          <a:bodyPr>
            <a:spAutoFit/>
          </a:bodyPr>
          <a:lstStyle/>
          <a:p>
            <a:r>
              <a:rPr lang="zh-CN" altLang="en-US" sz="1350" dirty="0"/>
              <a:t>相比刚体变换（旋转和平移），仿射变换除了改变目标位置，还改变目标的形状，但是会保持物体的</a:t>
            </a:r>
            <a:r>
              <a:rPr lang="zh-CN" altLang="en-US" sz="1350" b="1" dirty="0">
                <a:solidFill>
                  <a:srgbClr val="FF0000"/>
                </a:solidFill>
              </a:rPr>
              <a:t>“平直性（如图形中平行的两条线变换后依然平行）”</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14</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几何变换：仿射变换</a:t>
            </a:r>
            <a:endParaRPr lang="en-US" dirty="0"/>
          </a:p>
        </p:txBody>
      </p:sp>
      <p:pic>
        <p:nvPicPr>
          <p:cNvPr id="33280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78756" y="2280537"/>
            <a:ext cx="5867734" cy="259066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15</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几何变换：仿射变换</a:t>
            </a:r>
            <a:endParaRPr lang="en-US" dirty="0"/>
          </a:p>
        </p:txBody>
      </p:sp>
      <p:pic>
        <p:nvPicPr>
          <p:cNvPr id="3338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98927" y="2305962"/>
            <a:ext cx="5685749" cy="258540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矩形 1"/>
          <p:cNvSpPr/>
          <p:nvPr/>
        </p:nvSpPr>
        <p:spPr>
          <a:xfrm>
            <a:off x="3478490" y="3261675"/>
            <a:ext cx="3706186" cy="1620268"/>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 name="图片 2"/>
          <p:cNvPicPr>
            <a:picLocks noChangeAspect="1"/>
          </p:cNvPicPr>
          <p:nvPr/>
        </p:nvPicPr>
        <p:blipFill>
          <a:blip r:embed="rId5"/>
          <a:stretch>
            <a:fillRect/>
          </a:stretch>
        </p:blipFill>
        <p:spPr>
          <a:xfrm>
            <a:off x="3645535" y="3429000"/>
            <a:ext cx="3162300" cy="15367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16</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几何变换：仿射变换</a:t>
            </a:r>
            <a:endParaRPr lang="en-US" dirty="0"/>
          </a:p>
        </p:txBody>
      </p:sp>
      <p:pic>
        <p:nvPicPr>
          <p:cNvPr id="33485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10905" y="2301023"/>
            <a:ext cx="5617310" cy="25337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17</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几何变换：投影变换（单应性变换）</a:t>
            </a:r>
            <a:endParaRPr lang="en-US" dirty="0"/>
          </a:p>
        </p:txBody>
      </p:sp>
      <p:pic>
        <p:nvPicPr>
          <p:cNvPr id="33587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73021" y="2400091"/>
            <a:ext cx="2617343" cy="253832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587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13330" y="2527545"/>
            <a:ext cx="3831913" cy="9077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5876"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113330" y="3506098"/>
            <a:ext cx="3891355" cy="37494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5877" name="Picture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27433" y="4021301"/>
            <a:ext cx="3463146" cy="3576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5878" name="Picture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436824" y="4498672"/>
            <a:ext cx="3244365" cy="43974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18</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几何变换：投影变换（单应性变换）</a:t>
            </a:r>
            <a:endParaRPr lang="en-US" dirty="0"/>
          </a:p>
        </p:txBody>
      </p:sp>
      <p:pic>
        <p:nvPicPr>
          <p:cNvPr id="335877"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8851" y="2244831"/>
            <a:ext cx="3463146" cy="3576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5878"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42794" y="2244832"/>
            <a:ext cx="3244365" cy="43974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6898"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8851" y="2886075"/>
            <a:ext cx="3583683" cy="25196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6899"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693024" y="3488462"/>
            <a:ext cx="3864769" cy="7643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19</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齐次坐标系</a:t>
            </a:r>
            <a:endParaRPr lang="en-US" dirty="0"/>
          </a:p>
        </p:txBody>
      </p:sp>
      <p:pic>
        <p:nvPicPr>
          <p:cNvPr id="33792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74" y="2011596"/>
            <a:ext cx="6589760" cy="55006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7923"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71221" y="2561665"/>
            <a:ext cx="1679087" cy="9471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7924"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4764" y="3647305"/>
            <a:ext cx="4497313" cy="43723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7925" name="Picture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976376" y="3705189"/>
            <a:ext cx="2326708" cy="37935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7926" name="Picture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141234" y="4198844"/>
            <a:ext cx="1386938" cy="96482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7927" name="Picture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443734" y="4198843"/>
            <a:ext cx="1382360" cy="8639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20</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齐次坐标系</a:t>
            </a:r>
            <a:endParaRPr lang="en-US" dirty="0"/>
          </a:p>
        </p:txBody>
      </p:sp>
      <p:pic>
        <p:nvPicPr>
          <p:cNvPr id="3" name="图片 2"/>
          <p:cNvPicPr>
            <a:picLocks noChangeAspect="1"/>
          </p:cNvPicPr>
          <p:nvPr/>
        </p:nvPicPr>
        <p:blipFill>
          <a:blip r:embed="rId4"/>
          <a:stretch>
            <a:fillRect/>
          </a:stretch>
        </p:blipFill>
        <p:spPr>
          <a:xfrm>
            <a:off x="933695" y="2028240"/>
            <a:ext cx="3638305" cy="3178591"/>
          </a:xfrm>
          <a:prstGeom prst="rect">
            <a:avLst/>
          </a:prstGeom>
        </p:spPr>
      </p:pic>
      <p:pic>
        <p:nvPicPr>
          <p:cNvPr id="102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4000" y="2388908"/>
            <a:ext cx="2438400" cy="24384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21</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几何变换：投影变换（单应性变换）</a:t>
            </a:r>
            <a:endParaRPr lang="en-US" dirty="0"/>
          </a:p>
        </p:txBody>
      </p:sp>
      <p:sp>
        <p:nvSpPr>
          <p:cNvPr id="2" name="矩形 1"/>
          <p:cNvSpPr/>
          <p:nvPr/>
        </p:nvSpPr>
        <p:spPr>
          <a:xfrm>
            <a:off x="917762" y="2043966"/>
            <a:ext cx="7170644" cy="553998"/>
          </a:xfrm>
          <a:prstGeom prst="rect">
            <a:avLst/>
          </a:prstGeom>
        </p:spPr>
        <p:txBody>
          <a:bodyPr wrap="square">
            <a:spAutoFit/>
          </a:bodyPr>
          <a:lstStyle/>
          <a:p>
            <a:r>
              <a:rPr lang="zh-CN" altLang="en-US" sz="1500" dirty="0"/>
              <a:t>单应性的直观含义：用 </a:t>
            </a:r>
            <a:r>
              <a:rPr lang="en-US" altLang="zh-CN" sz="1500" dirty="0"/>
              <a:t>[</a:t>
            </a:r>
            <a:r>
              <a:rPr lang="zh-CN" altLang="en-US" sz="1500" dirty="0"/>
              <a:t>无镜头畸变</a:t>
            </a:r>
            <a:r>
              <a:rPr lang="en-US" altLang="zh-CN" sz="1500" dirty="0"/>
              <a:t>] </a:t>
            </a:r>
            <a:r>
              <a:rPr lang="zh-CN" altLang="en-US" sz="1500" dirty="0"/>
              <a:t>的相机从不同位置拍摄 </a:t>
            </a:r>
            <a:r>
              <a:rPr lang="en-US" altLang="zh-CN" sz="1500" dirty="0"/>
              <a:t>[</a:t>
            </a:r>
            <a:r>
              <a:rPr lang="zh-CN" altLang="en-US" sz="1500" dirty="0"/>
              <a:t>同一平面物体</a:t>
            </a:r>
            <a:r>
              <a:rPr lang="en-US" altLang="zh-CN" sz="1500" dirty="0"/>
              <a:t>] </a:t>
            </a:r>
            <a:r>
              <a:rPr lang="zh-CN" altLang="en-US" sz="1500" dirty="0"/>
              <a:t>的图像之间存在单应性，可以用 </a:t>
            </a:r>
            <a:r>
              <a:rPr lang="en-US" altLang="zh-CN" sz="1500" dirty="0"/>
              <a:t>[</a:t>
            </a:r>
            <a:r>
              <a:rPr lang="zh-CN" altLang="en-US" sz="1500" dirty="0"/>
              <a:t>投影变换</a:t>
            </a:r>
            <a:r>
              <a:rPr lang="en-US" altLang="zh-CN" sz="1500" dirty="0"/>
              <a:t>] </a:t>
            </a:r>
            <a:r>
              <a:rPr lang="zh-CN" altLang="en-US" sz="1500" dirty="0"/>
              <a:t>表示 。</a:t>
            </a:r>
          </a:p>
        </p:txBody>
      </p:sp>
      <p:pic>
        <p:nvPicPr>
          <p:cNvPr id="33894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4536" y="2948059"/>
            <a:ext cx="5474877" cy="198365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22</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几何变换：投影变换（单应性变换）</a:t>
            </a:r>
            <a:endParaRPr lang="en-US" dirty="0"/>
          </a:p>
        </p:txBody>
      </p:sp>
      <p:pic>
        <p:nvPicPr>
          <p:cNvPr id="335877"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8851" y="2244831"/>
            <a:ext cx="3463146" cy="3576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5878"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42794" y="2244832"/>
            <a:ext cx="3244365" cy="43974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6898"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8851" y="2886075"/>
            <a:ext cx="3583683" cy="25196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6899"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693024" y="3488462"/>
            <a:ext cx="3864769" cy="7643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 Number Placeholder 5"/>
          <p:cNvSpPr>
            <a:spLocks noGrp="1"/>
          </p:cNvSpPr>
          <p:nvPr>
            <p:ph type="sldNum" sz="quarter" idx="12"/>
          </p:nvPr>
        </p:nvSpPr>
        <p:spPr/>
        <p:txBody>
          <a:bodyPr/>
          <a:lstStyle/>
          <a:p>
            <a:fld id="{FD367186-4E63-452B-BE44-119D89CEC350}" type="slidenum">
              <a:rPr lang="en-US"/>
              <a:t>23</a:t>
            </a:fld>
            <a:endParaRPr lang="en-US"/>
          </a:p>
        </p:txBody>
      </p:sp>
      <p:sp>
        <p:nvSpPr>
          <p:cNvPr id="400386" name="Rectangle 2"/>
          <p:cNvSpPr>
            <a:spLocks noGrp="1" noChangeArrowheads="1"/>
          </p:cNvSpPr>
          <p:nvPr>
            <p:ph type="title"/>
            <p:custDataLst>
              <p:tags r:id="rId1"/>
            </p:custDataLst>
          </p:nvPr>
        </p:nvSpPr>
        <p:spPr/>
        <p:txBody>
          <a:bodyPr/>
          <a:lstStyle/>
          <a:p>
            <a:r>
              <a:rPr lang="zh-CN" altLang="en-US" dirty="0"/>
              <a:t>几何变换：投影变换（单应性变换）</a:t>
            </a:r>
            <a:endParaRPr lang="en-US" dirty="0"/>
          </a:p>
        </p:txBody>
      </p:sp>
      <p:sp>
        <p:nvSpPr>
          <p:cNvPr id="2" name="矩形 1"/>
          <p:cNvSpPr/>
          <p:nvPr/>
        </p:nvSpPr>
        <p:spPr>
          <a:xfrm>
            <a:off x="986678" y="1598018"/>
            <a:ext cx="7170644" cy="323165"/>
          </a:xfrm>
          <a:prstGeom prst="rect">
            <a:avLst/>
          </a:prstGeom>
        </p:spPr>
        <p:txBody>
          <a:bodyPr wrap="square">
            <a:spAutoFit/>
          </a:bodyPr>
          <a:lstStyle/>
          <a:p>
            <a:r>
              <a:rPr lang="zh-CN" altLang="en-US" sz="1500" dirty="0"/>
              <a:t>单应性矩阵求解：</a:t>
            </a:r>
          </a:p>
        </p:txBody>
      </p:sp>
      <p:pic>
        <p:nvPicPr>
          <p:cNvPr id="3389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44960" y="2010905"/>
            <a:ext cx="4193381" cy="83581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8949"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71055" y="2936447"/>
            <a:ext cx="1950244" cy="11072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8950" name="Picture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87872" y="4107438"/>
            <a:ext cx="3307556" cy="7572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38952" name="Picture 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311884" y="5079433"/>
            <a:ext cx="4122097" cy="37381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IMG_0105"/>
          <p:cNvPicPr>
            <a:picLocks noChangeAspect="1" noChangeArrowheads="1"/>
          </p:cNvPicPr>
          <p:nvPr/>
        </p:nvPicPr>
        <p:blipFill>
          <a:blip r:embed="rId3" cstate="print"/>
          <a:srcRect/>
          <a:stretch>
            <a:fillRect/>
          </a:stretch>
        </p:blipFill>
        <p:spPr bwMode="auto">
          <a:xfrm>
            <a:off x="1583875" y="3636510"/>
            <a:ext cx="1528763" cy="1147763"/>
          </a:xfrm>
          <a:prstGeom prst="rect">
            <a:avLst/>
          </a:prstGeom>
          <a:noFill/>
          <a:ln w="9525">
            <a:noFill/>
            <a:miter lim="800000"/>
            <a:headEnd/>
            <a:tailEnd/>
          </a:ln>
        </p:spPr>
      </p:pic>
      <p:pic>
        <p:nvPicPr>
          <p:cNvPr id="5" name="Picture 5" descr="IMG_0102"/>
          <p:cNvPicPr>
            <a:picLocks noChangeAspect="1" noChangeArrowheads="1"/>
          </p:cNvPicPr>
          <p:nvPr/>
        </p:nvPicPr>
        <p:blipFill>
          <a:blip r:embed="rId4" cstate="print"/>
          <a:srcRect/>
          <a:stretch>
            <a:fillRect/>
          </a:stretch>
        </p:blipFill>
        <p:spPr bwMode="auto">
          <a:xfrm>
            <a:off x="1583875" y="2343150"/>
            <a:ext cx="1528763" cy="1147763"/>
          </a:xfrm>
          <a:prstGeom prst="rect">
            <a:avLst/>
          </a:prstGeom>
          <a:noFill/>
          <a:ln w="9525">
            <a:noFill/>
            <a:miter lim="800000"/>
            <a:headEnd/>
            <a:tailEnd/>
          </a:ln>
        </p:spPr>
      </p:pic>
      <p:pic>
        <p:nvPicPr>
          <p:cNvPr id="6" name="Picture 6" descr="pan3"/>
          <p:cNvPicPr>
            <a:picLocks noChangeAspect="1" noChangeArrowheads="1"/>
          </p:cNvPicPr>
          <p:nvPr/>
        </p:nvPicPr>
        <p:blipFill>
          <a:blip r:embed="rId5" cstate="print"/>
          <a:srcRect/>
          <a:stretch>
            <a:fillRect/>
          </a:stretch>
        </p:blipFill>
        <p:spPr bwMode="auto">
          <a:xfrm>
            <a:off x="4286254" y="2771265"/>
            <a:ext cx="3257012" cy="1514986"/>
          </a:xfrm>
          <a:prstGeom prst="rect">
            <a:avLst/>
          </a:prstGeom>
          <a:noFill/>
          <a:ln w="9525">
            <a:noFill/>
            <a:miter lim="800000"/>
            <a:headEnd/>
            <a:tailEnd/>
          </a:ln>
        </p:spPr>
      </p:pic>
      <p:sp>
        <p:nvSpPr>
          <p:cNvPr id="7" name="Right Arrow 6"/>
          <p:cNvSpPr/>
          <p:nvPr/>
        </p:nvSpPr>
        <p:spPr>
          <a:xfrm>
            <a:off x="3461661" y="3314702"/>
            <a:ext cx="481694" cy="48169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9" name="Rectangle 2"/>
          <p:cNvSpPr>
            <a:spLocks noGrp="1" noChangeArrowheads="1"/>
          </p:cNvSpPr>
          <p:nvPr>
            <p:ph type="title"/>
            <p:custDataLst>
              <p:tags r:id="rId1"/>
            </p:custDataLst>
          </p:nvPr>
        </p:nvSpPr>
        <p:spPr>
          <a:xfrm>
            <a:off x="457200" y="1063229"/>
            <a:ext cx="8229600" cy="857250"/>
          </a:xfrm>
        </p:spPr>
        <p:txBody>
          <a:bodyPr/>
          <a:lstStyle/>
          <a:p>
            <a:r>
              <a:rPr lang="zh-CN" altLang="en-US" dirty="0"/>
              <a:t>几何变换：投影变换（单应性变换）</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3731" name="Picture 3"/>
          <p:cNvPicPr>
            <a:picLocks noChangeAspect="1" noChangeArrowheads="1"/>
          </p:cNvPicPr>
          <p:nvPr/>
        </p:nvPicPr>
        <p:blipFill>
          <a:blip r:embed="rId3" cstate="print"/>
          <a:srcRect l="23714" t="51855" r="14572" b="21048"/>
          <a:stretch>
            <a:fillRect/>
          </a:stretch>
        </p:blipFill>
        <p:spPr bwMode="auto">
          <a:xfrm>
            <a:off x="2375807" y="1959237"/>
            <a:ext cx="4106636" cy="1352774"/>
          </a:xfrm>
          <a:prstGeom prst="rect">
            <a:avLst/>
          </a:prstGeom>
          <a:noFill/>
          <a:ln w="9525">
            <a:noFill/>
            <a:miter lim="800000"/>
            <a:headEnd/>
            <a:tailEnd/>
          </a:ln>
        </p:spPr>
      </p:pic>
      <p:pic>
        <p:nvPicPr>
          <p:cNvPr id="73732" name="Picture 4"/>
          <p:cNvPicPr>
            <a:picLocks noChangeAspect="1" noChangeArrowheads="1"/>
          </p:cNvPicPr>
          <p:nvPr/>
        </p:nvPicPr>
        <p:blipFill>
          <a:blip r:embed="rId4" cstate="print"/>
          <a:srcRect l="6572" t="30191" r="4286" b="14952"/>
          <a:stretch>
            <a:fillRect/>
          </a:stretch>
        </p:blipFill>
        <p:spPr bwMode="auto">
          <a:xfrm>
            <a:off x="2291283" y="3504400"/>
            <a:ext cx="4576802" cy="2112371"/>
          </a:xfrm>
          <a:prstGeom prst="rect">
            <a:avLst/>
          </a:prstGeom>
          <a:noFill/>
          <a:ln w="9525">
            <a:noFill/>
            <a:miter lim="800000"/>
            <a:headEnd/>
            <a:tailEnd/>
          </a:ln>
        </p:spPr>
      </p:pic>
      <p:sp>
        <p:nvSpPr>
          <p:cNvPr id="7" name="Rectangle 2"/>
          <p:cNvSpPr>
            <a:spLocks noGrp="1" noChangeArrowheads="1"/>
          </p:cNvSpPr>
          <p:nvPr>
            <p:ph type="title"/>
            <p:custDataLst>
              <p:tags r:id="rId1"/>
            </p:custDataLst>
          </p:nvPr>
        </p:nvSpPr>
        <p:spPr>
          <a:xfrm>
            <a:off x="457200" y="1063229"/>
            <a:ext cx="8229600" cy="857250"/>
          </a:xfrm>
        </p:spPr>
        <p:txBody>
          <a:bodyPr/>
          <a:lstStyle/>
          <a:p>
            <a:r>
              <a:rPr lang="zh-CN" altLang="en-US" dirty="0"/>
              <a:t>几何变换：总结</a:t>
            </a:r>
            <a:endParaRPr lang="en-US" dirty="0"/>
          </a:p>
        </p:txBody>
      </p:sp>
      <p:sp>
        <p:nvSpPr>
          <p:cNvPr id="3" name="矩形 2"/>
          <p:cNvSpPr/>
          <p:nvPr/>
        </p:nvSpPr>
        <p:spPr>
          <a:xfrm>
            <a:off x="4609940" y="3872754"/>
            <a:ext cx="432708" cy="2420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9" name="矩形 8"/>
          <p:cNvSpPr/>
          <p:nvPr/>
        </p:nvSpPr>
        <p:spPr>
          <a:xfrm>
            <a:off x="4609940" y="4242548"/>
            <a:ext cx="432708" cy="2420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10" name="矩形 9"/>
          <p:cNvSpPr/>
          <p:nvPr/>
        </p:nvSpPr>
        <p:spPr>
          <a:xfrm>
            <a:off x="4579683" y="4560585"/>
            <a:ext cx="432708" cy="2420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11" name="矩形 10"/>
          <p:cNvSpPr/>
          <p:nvPr/>
        </p:nvSpPr>
        <p:spPr>
          <a:xfrm>
            <a:off x="4628909" y="4924986"/>
            <a:ext cx="432708" cy="2420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12" name="矩形 11"/>
          <p:cNvSpPr/>
          <p:nvPr/>
        </p:nvSpPr>
        <p:spPr>
          <a:xfrm>
            <a:off x="4609940" y="5247716"/>
            <a:ext cx="432708" cy="2420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1" nodeType="clickEffect">
                                  <p:stCondLst>
                                    <p:cond delay="0"/>
                                  </p:stCondLst>
                                  <p:childTnLst>
                                    <p:set>
                                      <p:cBhvr>
                                        <p:cTn id="6" dur="1" fill="hold">
                                          <p:stCondLst>
                                            <p:cond delay="0"/>
                                          </p:stCondLst>
                                        </p:cTn>
                                        <p:tgtEl>
                                          <p:spTgt spid="3"/>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1" animBg="1"/>
      <p:bldP spid="9" grpId="0" animBg="1"/>
      <p:bldP spid="10" grpId="0" animBg="1"/>
      <p:bldP spid="11" grpId="0" animBg="1"/>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p:cNvSpPr txBox="1">
            <a:spLocks noChangeArrowheads="1"/>
          </p:cNvSpPr>
          <p:nvPr>
            <p:custDataLst>
              <p:tags r:id="rId1"/>
            </p:custDataLst>
          </p:nvPr>
        </p:nvSpPr>
        <p:spPr>
          <a:xfrm>
            <a:off x="571500" y="1056767"/>
            <a:ext cx="8229600" cy="857250"/>
          </a:xfrm>
          <a:prstGeom prst="rect">
            <a:avLst/>
          </a:prstGeom>
        </p:spPr>
        <p:txBody>
          <a:bodyPr vert="horz" lIns="68580" tIns="34290" rIns="68580" bIns="34290" rtlCol="0" anchor="ctr">
            <a:normAutofit/>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zh-CN" altLang="en-US" sz="3300" dirty="0"/>
              <a:t>镜头畸变</a:t>
            </a:r>
            <a:endParaRPr lang="en-US" sz="3300" dirty="0"/>
          </a:p>
        </p:txBody>
      </p:sp>
      <p:sp>
        <p:nvSpPr>
          <p:cNvPr id="8" name="Content Placeholder 2"/>
          <p:cNvSpPr txBox="1"/>
          <p:nvPr/>
        </p:nvSpPr>
        <p:spPr>
          <a:xfrm>
            <a:off x="457200" y="2057401"/>
            <a:ext cx="8229600" cy="39836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lvl="1"/>
            <a:r>
              <a:rPr lang="zh-CN" altLang="en-US" sz="2100" dirty="0"/>
              <a:t>广角镜头畸变属于哪一种几何变换？</a:t>
            </a:r>
            <a:endParaRPr lang="en-US" sz="2100" dirty="0"/>
          </a:p>
        </p:txBody>
      </p:sp>
      <p:pic>
        <p:nvPicPr>
          <p:cNvPr id="4" name="Picture 5" descr="fish"/>
          <p:cNvPicPr>
            <a:picLocks noChangeAspect="1" noChangeArrowheads="1"/>
          </p:cNvPicPr>
          <p:nvPr>
            <p:custDataLst>
              <p:tags r:id="rId2"/>
            </p:custDataLst>
          </p:nvPr>
        </p:nvPicPr>
        <p:blipFill>
          <a:blip r:embed="rId6" cstate="print"/>
          <a:srcRect/>
          <a:stretch>
            <a:fillRect/>
          </a:stretch>
        </p:blipFill>
        <p:spPr bwMode="auto">
          <a:xfrm>
            <a:off x="983667" y="2891634"/>
            <a:ext cx="3363095" cy="2244511"/>
          </a:xfrm>
          <a:prstGeom prst="rect">
            <a:avLst/>
          </a:prstGeom>
          <a:noFill/>
          <a:ln w="9525">
            <a:noFill/>
            <a:miter lim="800000"/>
            <a:headEnd/>
            <a:tailEnd/>
          </a:ln>
        </p:spPr>
      </p:pic>
      <p:pic>
        <p:nvPicPr>
          <p:cNvPr id="5" name="Picture 7" descr="rect"/>
          <p:cNvPicPr>
            <a:picLocks noChangeAspect="1" noChangeArrowheads="1"/>
          </p:cNvPicPr>
          <p:nvPr>
            <p:custDataLst>
              <p:tags r:id="rId3"/>
            </p:custDataLst>
          </p:nvPr>
        </p:nvPicPr>
        <p:blipFill>
          <a:blip r:embed="rId7" cstate="print"/>
          <a:srcRect/>
          <a:stretch>
            <a:fillRect/>
          </a:stretch>
        </p:blipFill>
        <p:spPr bwMode="auto">
          <a:xfrm>
            <a:off x="4686300" y="2938383"/>
            <a:ext cx="3141096" cy="2151013"/>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p:cNvSpPr txBox="1">
            <a:spLocks noChangeArrowheads="1"/>
          </p:cNvSpPr>
          <p:nvPr>
            <p:custDataLst>
              <p:tags r:id="rId1"/>
            </p:custDataLst>
          </p:nvPr>
        </p:nvSpPr>
        <p:spPr>
          <a:xfrm>
            <a:off x="571500" y="1056767"/>
            <a:ext cx="8229600" cy="857250"/>
          </a:xfrm>
          <a:prstGeom prst="rect">
            <a:avLst/>
          </a:prstGeom>
        </p:spPr>
        <p:txBody>
          <a:bodyPr vert="horz" lIns="68580" tIns="34290" rIns="68580" bIns="34290" rtlCol="0" anchor="ctr">
            <a:normAutofit/>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zh-CN" altLang="en-US" sz="3300" dirty="0"/>
              <a:t>镜头畸变</a:t>
            </a:r>
            <a:endParaRPr lang="en-US" sz="3300" dirty="0"/>
          </a:p>
        </p:txBody>
      </p:sp>
      <p:sp>
        <p:nvSpPr>
          <p:cNvPr id="8" name="Content Placeholder 2"/>
          <p:cNvSpPr txBox="1"/>
          <p:nvPr/>
        </p:nvSpPr>
        <p:spPr>
          <a:xfrm>
            <a:off x="457200" y="2057401"/>
            <a:ext cx="8229600" cy="114972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lvl="1"/>
            <a:r>
              <a:rPr lang="zh-CN" altLang="en-US" sz="2100" dirty="0"/>
              <a:t>广角镜头畸变属于哪一种几何变换？</a:t>
            </a:r>
            <a:endParaRPr lang="en-US" altLang="zh-CN" sz="2100" dirty="0"/>
          </a:p>
          <a:p>
            <a:pPr lvl="1"/>
            <a:r>
              <a:rPr lang="zh-CN" altLang="en-US" sz="2100" dirty="0"/>
              <a:t>对于径向畸变，成像仪中心</a:t>
            </a:r>
            <a:r>
              <a:rPr lang="en-US" altLang="zh-CN" sz="2100" dirty="0"/>
              <a:t>(</a:t>
            </a:r>
            <a:r>
              <a:rPr lang="zh-CN" altLang="en-US" sz="2100" dirty="0"/>
              <a:t>光学中心</a:t>
            </a:r>
            <a:r>
              <a:rPr lang="en-US" altLang="zh-CN" sz="2100" dirty="0"/>
              <a:t>)</a:t>
            </a:r>
            <a:r>
              <a:rPr lang="zh-CN" altLang="en-US" sz="2100" dirty="0"/>
              <a:t>的畸变为</a:t>
            </a:r>
            <a:r>
              <a:rPr lang="en-US" altLang="zh-CN" sz="2100" dirty="0"/>
              <a:t>0</a:t>
            </a:r>
            <a:r>
              <a:rPr lang="zh-CN" altLang="en-US" sz="2100" dirty="0"/>
              <a:t>，随着向边缘移动，畸变越来越严重。径向畸变可以通过下面的泰勒级数展开式进行校正：</a:t>
            </a:r>
            <a:endParaRPr lang="en-US" sz="2100" dirty="0"/>
          </a:p>
        </p:txBody>
      </p:sp>
      <p:pic>
        <p:nvPicPr>
          <p:cNvPr id="9" name="Picture 5" descr="Edittex"/>
          <p:cNvPicPr>
            <a:picLocks noChangeAspect="1" noChangeArrowheads="1"/>
          </p:cNvPicPr>
          <p:nvPr>
            <p:custDataLst>
              <p:tags r:id="rId2"/>
            </p:custDataLst>
          </p:nvPr>
        </p:nvPicPr>
        <p:blipFill>
          <a:blip r:embed="rId5" cstate="print"/>
          <a:srcRect/>
          <a:stretch>
            <a:fillRect/>
          </a:stretch>
        </p:blipFill>
        <p:spPr bwMode="auto">
          <a:xfrm>
            <a:off x="2780214" y="3771900"/>
            <a:ext cx="2880125" cy="1034234"/>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title"/>
            <p:custDataLst>
              <p:tags r:id="rId1"/>
            </p:custDataLst>
          </p:nvPr>
        </p:nvSpPr>
        <p:spPr>
          <a:xfrm>
            <a:off x="457200" y="1063229"/>
            <a:ext cx="8229600" cy="857250"/>
          </a:xfrm>
        </p:spPr>
        <p:txBody>
          <a:bodyPr/>
          <a:lstStyle/>
          <a:p>
            <a:r>
              <a:rPr lang="zh-CN" altLang="en-US" dirty="0"/>
              <a:t>估计单应性变换矩阵：传统方法</a:t>
            </a:r>
            <a:endParaRPr lang="en-US" dirty="0"/>
          </a:p>
        </p:txBody>
      </p:sp>
      <p:sp>
        <p:nvSpPr>
          <p:cNvPr id="2" name="矩形 1"/>
          <p:cNvSpPr/>
          <p:nvPr/>
        </p:nvSpPr>
        <p:spPr>
          <a:xfrm>
            <a:off x="1301003" y="2206351"/>
            <a:ext cx="6948768" cy="3366884"/>
          </a:xfrm>
          <a:prstGeom prst="rect">
            <a:avLst/>
          </a:prstGeom>
        </p:spPr>
        <p:txBody>
          <a:bodyPr wrap="square">
            <a:spAutoFit/>
          </a:bodyPr>
          <a:lstStyle/>
          <a:p>
            <a:pPr>
              <a:lnSpc>
                <a:spcPct val="150000"/>
              </a:lnSpc>
            </a:pPr>
            <a:r>
              <a:rPr lang="en-US" altLang="zh-CN" dirty="0"/>
              <a:t>1.</a:t>
            </a:r>
            <a:r>
              <a:rPr lang="zh-CN" altLang="en-US" dirty="0"/>
              <a:t>提取每张图的</a:t>
            </a:r>
            <a:r>
              <a:rPr lang="en-US" altLang="zh-CN" dirty="0"/>
              <a:t>SIFT</a:t>
            </a:r>
            <a:r>
              <a:rPr lang="zh-CN" altLang="en-US" dirty="0"/>
              <a:t>等特征点</a:t>
            </a:r>
          </a:p>
          <a:p>
            <a:pPr>
              <a:lnSpc>
                <a:spcPct val="150000"/>
              </a:lnSpc>
            </a:pPr>
            <a:r>
              <a:rPr lang="en-US" altLang="zh-CN" dirty="0"/>
              <a:t>2.</a:t>
            </a:r>
            <a:r>
              <a:rPr lang="zh-CN" altLang="en-US" dirty="0"/>
              <a:t>提取每个特征点对应的描述子</a:t>
            </a:r>
          </a:p>
          <a:p>
            <a:pPr>
              <a:lnSpc>
                <a:spcPct val="150000"/>
              </a:lnSpc>
            </a:pPr>
            <a:r>
              <a:rPr lang="en-US" altLang="zh-CN" dirty="0"/>
              <a:t>3.</a:t>
            </a:r>
            <a:r>
              <a:rPr lang="zh-CN" altLang="en-US" dirty="0"/>
              <a:t>通过匹配特征点描述子，找到两张图中匹配的特征点对（这里可能存在错误匹配，一般情况计算出的匹配的特征点对数量远大于</a:t>
            </a:r>
            <a:r>
              <a:rPr lang="en-US" altLang="zh-CN" dirty="0"/>
              <a:t>4</a:t>
            </a:r>
            <a:r>
              <a:rPr lang="zh-CN" altLang="en-US" dirty="0"/>
              <a:t>，此时需要解超定方程组，类似于求解线性回归时数据点的数量远多余未知数）</a:t>
            </a:r>
          </a:p>
          <a:p>
            <a:pPr>
              <a:lnSpc>
                <a:spcPct val="150000"/>
              </a:lnSpc>
            </a:pPr>
            <a:r>
              <a:rPr lang="en-US" altLang="zh-CN" dirty="0"/>
              <a:t>4.</a:t>
            </a:r>
            <a:r>
              <a:rPr lang="zh-CN" altLang="en-US" dirty="0"/>
              <a:t>使用</a:t>
            </a:r>
            <a:r>
              <a:rPr lang="en-US" altLang="zh-CN" dirty="0"/>
              <a:t>RANSAC</a:t>
            </a:r>
            <a:r>
              <a:rPr lang="zh-CN" altLang="en-US" dirty="0"/>
              <a:t>算法剔除错误匹配</a:t>
            </a:r>
          </a:p>
          <a:p>
            <a:pPr>
              <a:lnSpc>
                <a:spcPct val="150000"/>
              </a:lnSpc>
            </a:pPr>
            <a:r>
              <a:rPr lang="en-US" altLang="zh-CN" dirty="0"/>
              <a:t>5.</a:t>
            </a:r>
            <a:r>
              <a:rPr lang="zh-CN" altLang="en-US" dirty="0"/>
              <a:t>求解方程组，计算</a:t>
            </a:r>
            <a:r>
              <a:rPr lang="en-US" altLang="zh-CN" dirty="0"/>
              <a:t>Homograph</a:t>
            </a:r>
            <a:r>
              <a:rPr lang="zh-CN" altLang="en-US" dirty="0"/>
              <a:t>单应性变换矩阵</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title"/>
            <p:custDataLst>
              <p:tags r:id="rId1"/>
            </p:custDataLst>
          </p:nvPr>
        </p:nvSpPr>
        <p:spPr>
          <a:xfrm>
            <a:off x="457200" y="1063229"/>
            <a:ext cx="8229600" cy="857250"/>
          </a:xfrm>
        </p:spPr>
        <p:txBody>
          <a:bodyPr/>
          <a:lstStyle/>
          <a:p>
            <a:r>
              <a:rPr lang="zh-CN" altLang="en-US" dirty="0"/>
              <a:t>估计单应性变换矩阵：深度学习方法</a:t>
            </a:r>
            <a:endParaRPr lang="en-US" dirty="0"/>
          </a:p>
        </p:txBody>
      </p:sp>
      <p:sp>
        <p:nvSpPr>
          <p:cNvPr id="3" name="矩形 2"/>
          <p:cNvSpPr/>
          <p:nvPr/>
        </p:nvSpPr>
        <p:spPr>
          <a:xfrm>
            <a:off x="907676" y="2003626"/>
            <a:ext cx="7342094" cy="646331"/>
          </a:xfrm>
          <a:prstGeom prst="rect">
            <a:avLst/>
          </a:prstGeom>
        </p:spPr>
        <p:txBody>
          <a:bodyPr wrap="square">
            <a:spAutoFit/>
          </a:bodyPr>
          <a:lstStyle/>
          <a:p>
            <a:r>
              <a:rPr lang="en-US" altLang="zh-CN" dirty="0" err="1"/>
              <a:t>HomographyNet</a:t>
            </a:r>
            <a:r>
              <a:rPr lang="zh-CN" altLang="en-US" dirty="0"/>
              <a:t>是发表在</a:t>
            </a:r>
            <a:r>
              <a:rPr lang="en-US" altLang="zh-CN" dirty="0"/>
              <a:t>CVPR 2016</a:t>
            </a:r>
            <a:r>
              <a:rPr lang="zh-CN" altLang="en-US" dirty="0"/>
              <a:t>的一种用深度学习计算单应性变换的网络，即输入两张图，直接输出单应性矩阵</a:t>
            </a:r>
          </a:p>
        </p:txBody>
      </p:sp>
      <p:pic>
        <p:nvPicPr>
          <p:cNvPr id="3409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97585" y="2677300"/>
            <a:ext cx="5493230" cy="10972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4099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39715" y="3823586"/>
            <a:ext cx="5078015" cy="20145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title"/>
            <p:custDataLst>
              <p:tags r:id="rId1"/>
            </p:custDataLst>
          </p:nvPr>
        </p:nvSpPr>
        <p:spPr>
          <a:xfrm>
            <a:off x="457200" y="1063229"/>
            <a:ext cx="8229600" cy="857250"/>
          </a:xfrm>
        </p:spPr>
        <p:txBody>
          <a:bodyPr/>
          <a:lstStyle/>
          <a:p>
            <a:r>
              <a:rPr lang="zh-CN" altLang="en-US" dirty="0"/>
              <a:t>估计单应性变换矩阵：深度学习方法</a:t>
            </a:r>
            <a:endParaRPr lang="en-US" dirty="0"/>
          </a:p>
        </p:txBody>
      </p:sp>
      <p:sp>
        <p:nvSpPr>
          <p:cNvPr id="3" name="矩形 2"/>
          <p:cNvSpPr/>
          <p:nvPr/>
        </p:nvSpPr>
        <p:spPr>
          <a:xfrm>
            <a:off x="907676" y="2003625"/>
            <a:ext cx="7342094" cy="369332"/>
          </a:xfrm>
          <a:prstGeom prst="rect">
            <a:avLst/>
          </a:prstGeom>
        </p:spPr>
        <p:txBody>
          <a:bodyPr wrap="square">
            <a:spAutoFit/>
          </a:bodyPr>
          <a:lstStyle/>
          <a:p>
            <a:r>
              <a:rPr lang="zh-CN" altLang="en-US" dirty="0"/>
              <a:t>训练数据生成：</a:t>
            </a:r>
          </a:p>
        </p:txBody>
      </p:sp>
      <p:pic>
        <p:nvPicPr>
          <p:cNvPr id="34304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23771" y="2423195"/>
            <a:ext cx="4086225" cy="180736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43043"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75488" y="2423195"/>
            <a:ext cx="1900238" cy="17216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 name="图片 1"/>
          <p:cNvPicPr>
            <a:picLocks noChangeAspect="1"/>
          </p:cNvPicPr>
          <p:nvPr/>
        </p:nvPicPr>
        <p:blipFill>
          <a:blip r:embed="rId5"/>
          <a:stretch>
            <a:fillRect/>
          </a:stretch>
        </p:blipFill>
        <p:spPr>
          <a:xfrm>
            <a:off x="3070860" y="4429125"/>
            <a:ext cx="2293620" cy="2102485"/>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title"/>
            <p:custDataLst>
              <p:tags r:id="rId1"/>
            </p:custDataLst>
          </p:nvPr>
        </p:nvSpPr>
        <p:spPr>
          <a:xfrm>
            <a:off x="457200" y="1063229"/>
            <a:ext cx="8229600" cy="857250"/>
          </a:xfrm>
        </p:spPr>
        <p:txBody>
          <a:bodyPr/>
          <a:lstStyle/>
          <a:p>
            <a:r>
              <a:rPr lang="zh-CN" altLang="en-US" dirty="0"/>
              <a:t>估计单应性变换矩阵：深度学习方法</a:t>
            </a:r>
            <a:endParaRPr lang="en-US" dirty="0"/>
          </a:p>
        </p:txBody>
      </p:sp>
      <p:pic>
        <p:nvPicPr>
          <p:cNvPr id="3" name="图片 2"/>
          <p:cNvPicPr>
            <a:picLocks noChangeAspect="1"/>
          </p:cNvPicPr>
          <p:nvPr/>
        </p:nvPicPr>
        <p:blipFill>
          <a:blip r:embed="rId3"/>
          <a:stretch>
            <a:fillRect/>
          </a:stretch>
        </p:blipFill>
        <p:spPr>
          <a:xfrm>
            <a:off x="563880" y="2468880"/>
            <a:ext cx="8015605" cy="1919605"/>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title"/>
            <p:custDataLst>
              <p:tags r:id="rId1"/>
            </p:custDataLst>
          </p:nvPr>
        </p:nvSpPr>
        <p:spPr>
          <a:xfrm>
            <a:off x="457200" y="1063229"/>
            <a:ext cx="8229600" cy="857250"/>
          </a:xfrm>
        </p:spPr>
        <p:txBody>
          <a:bodyPr/>
          <a:lstStyle/>
          <a:p>
            <a:r>
              <a:rPr lang="zh-CN" altLang="en-US" dirty="0"/>
              <a:t>估计单应性变换矩阵：深度学习方法</a:t>
            </a:r>
            <a:endParaRPr lang="en-US" dirty="0"/>
          </a:p>
        </p:txBody>
      </p:sp>
      <p:sp>
        <p:nvSpPr>
          <p:cNvPr id="3" name="矩形 2"/>
          <p:cNvSpPr/>
          <p:nvPr/>
        </p:nvSpPr>
        <p:spPr>
          <a:xfrm>
            <a:off x="907676" y="2003625"/>
            <a:ext cx="7342094" cy="369332"/>
          </a:xfrm>
          <a:prstGeom prst="rect">
            <a:avLst/>
          </a:prstGeom>
        </p:spPr>
        <p:txBody>
          <a:bodyPr wrap="square">
            <a:spAutoFit/>
          </a:bodyPr>
          <a:lstStyle/>
          <a:p>
            <a:r>
              <a:rPr lang="zh-CN" altLang="en-US" dirty="0"/>
              <a:t>损失函数：</a:t>
            </a:r>
          </a:p>
        </p:txBody>
      </p:sp>
      <p:pic>
        <p:nvPicPr>
          <p:cNvPr id="3440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103" y="4377018"/>
            <a:ext cx="2350294" cy="14144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4406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5103" y="2636044"/>
            <a:ext cx="2271713" cy="13573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44068"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06506" y="2636044"/>
            <a:ext cx="5738153" cy="93415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44069" name="Picture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06505" y="4377018"/>
            <a:ext cx="5593442" cy="108080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2434" name="Rectangle 2"/>
          <p:cNvSpPr>
            <a:spLocks noGrp="1" noChangeArrowheads="1"/>
          </p:cNvSpPr>
          <p:nvPr>
            <p:ph type="title"/>
            <p:custDataLst>
              <p:tags r:id="rId1"/>
            </p:custDataLst>
          </p:nvPr>
        </p:nvSpPr>
        <p:spPr/>
        <p:txBody>
          <a:bodyPr/>
          <a:lstStyle/>
          <a:p>
            <a:r>
              <a:rPr lang="zh-CN" altLang="en-US" dirty="0"/>
              <a:t>几何形变的实现：正向变形</a:t>
            </a:r>
            <a:endParaRPr lang="en-US" dirty="0"/>
          </a:p>
        </p:txBody>
      </p:sp>
      <p:pic>
        <p:nvPicPr>
          <p:cNvPr id="34509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7761" y="2190189"/>
            <a:ext cx="5077526" cy="3159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矩形 5"/>
          <p:cNvSpPr/>
          <p:nvPr/>
        </p:nvSpPr>
        <p:spPr>
          <a:xfrm>
            <a:off x="6239434" y="2191575"/>
            <a:ext cx="2333066" cy="2821093"/>
          </a:xfrm>
          <a:prstGeom prst="rect">
            <a:avLst/>
          </a:prstGeom>
        </p:spPr>
        <p:txBody>
          <a:bodyPr wrap="square">
            <a:spAutoFit/>
          </a:bodyPr>
          <a:lstStyle/>
          <a:p>
            <a:pPr>
              <a:lnSpc>
                <a:spcPct val="150000"/>
              </a:lnSpc>
            </a:pPr>
            <a:r>
              <a:rPr lang="zh-CN" altLang="en-US" sz="1500" dirty="0"/>
              <a:t>如果变形后的坐标不是整数，则进行四舍五入取整，这必然会产生问题：</a:t>
            </a:r>
            <a:r>
              <a:rPr lang="en-US" altLang="zh-CN" sz="1500" dirty="0"/>
              <a:t>destination image</a:t>
            </a:r>
            <a:r>
              <a:rPr lang="zh-CN" altLang="en-US" sz="1500" dirty="0"/>
              <a:t>中有的位置没有投影过来的点，有的位置有多个投影过来的点，所以会产生很多空洞，产生类似波纹的效果</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2434" name="Rectangle 2"/>
          <p:cNvSpPr>
            <a:spLocks noGrp="1" noChangeArrowheads="1"/>
          </p:cNvSpPr>
          <p:nvPr>
            <p:ph type="title"/>
            <p:custDataLst>
              <p:tags r:id="rId1"/>
            </p:custDataLst>
          </p:nvPr>
        </p:nvSpPr>
        <p:spPr/>
        <p:txBody>
          <a:bodyPr/>
          <a:lstStyle/>
          <a:p>
            <a:r>
              <a:rPr lang="zh-CN" altLang="en-US" dirty="0"/>
              <a:t>几何形变的实现：反向变形</a:t>
            </a:r>
            <a:endParaRPr lang="en-US" dirty="0"/>
          </a:p>
        </p:txBody>
      </p:sp>
      <p:sp>
        <p:nvSpPr>
          <p:cNvPr id="6" name="矩形 5"/>
          <p:cNvSpPr/>
          <p:nvPr/>
        </p:nvSpPr>
        <p:spPr>
          <a:xfrm>
            <a:off x="6239434" y="2191576"/>
            <a:ext cx="2333066" cy="1782347"/>
          </a:xfrm>
          <a:prstGeom prst="rect">
            <a:avLst/>
          </a:prstGeom>
        </p:spPr>
        <p:txBody>
          <a:bodyPr wrap="square">
            <a:spAutoFit/>
          </a:bodyPr>
          <a:lstStyle/>
          <a:p>
            <a:pPr>
              <a:lnSpc>
                <a:spcPct val="150000"/>
              </a:lnSpc>
            </a:pPr>
            <a:r>
              <a:rPr lang="zh-CN" altLang="en-US" sz="1500" dirty="0"/>
              <a:t>如果变形后的坐标不是整数，则采用插值逼近的方法进行近似，因此不会产生的</a:t>
            </a:r>
            <a:r>
              <a:rPr lang="en-US" altLang="zh-CN" sz="1500" dirty="0"/>
              <a:t>Forward Warping</a:t>
            </a:r>
            <a:r>
              <a:rPr lang="zh-CN" altLang="en-US" sz="1500" dirty="0"/>
              <a:t>的问题。</a:t>
            </a:r>
          </a:p>
        </p:txBody>
      </p:sp>
      <p:pic>
        <p:nvPicPr>
          <p:cNvPr id="35225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2890" y="2191575"/>
            <a:ext cx="5123325" cy="31939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0" name="Picture 4" descr="HHHIMG_1166"/>
          <p:cNvPicPr>
            <a:picLocks noChangeAspect="1" noChangeArrowheads="1"/>
          </p:cNvPicPr>
          <p:nvPr>
            <p:custDataLst>
              <p:tags r:id="rId1"/>
            </p:custDataLst>
          </p:nvPr>
        </p:nvPicPr>
        <p:blipFill>
          <a:blip r:embed="rId22" cstate="print"/>
          <a:srcRect/>
          <a:stretch>
            <a:fillRect/>
          </a:stretch>
        </p:blipFill>
        <p:spPr bwMode="auto">
          <a:xfrm>
            <a:off x="2571751" y="2904570"/>
            <a:ext cx="1645444" cy="1232297"/>
          </a:xfrm>
          <a:prstGeom prst="rect">
            <a:avLst/>
          </a:prstGeom>
          <a:noFill/>
        </p:spPr>
      </p:pic>
      <p:pic>
        <p:nvPicPr>
          <p:cNvPr id="403461" name="Picture 5" descr="rotated"/>
          <p:cNvPicPr>
            <a:picLocks noChangeAspect="1" noChangeArrowheads="1"/>
          </p:cNvPicPr>
          <p:nvPr>
            <p:custDataLst>
              <p:tags r:id="rId2"/>
            </p:custDataLst>
          </p:nvPr>
        </p:nvPicPr>
        <p:blipFill>
          <a:blip r:embed="rId23" cstate="print"/>
          <a:srcRect/>
          <a:stretch>
            <a:fillRect/>
          </a:stretch>
        </p:blipFill>
        <p:spPr bwMode="auto">
          <a:xfrm>
            <a:off x="5169695" y="2790268"/>
            <a:ext cx="1974056" cy="1585913"/>
          </a:xfrm>
          <a:prstGeom prst="rect">
            <a:avLst/>
          </a:prstGeom>
          <a:noFill/>
        </p:spPr>
      </p:pic>
      <p:sp>
        <p:nvSpPr>
          <p:cNvPr id="403462" name="Text Box 6"/>
          <p:cNvSpPr txBox="1">
            <a:spLocks noChangeArrowheads="1"/>
          </p:cNvSpPr>
          <p:nvPr>
            <p:custDataLst>
              <p:tags r:id="rId3"/>
            </p:custDataLst>
          </p:nvPr>
        </p:nvSpPr>
        <p:spPr bwMode="auto">
          <a:xfrm>
            <a:off x="3086100" y="4276168"/>
            <a:ext cx="756397" cy="300082"/>
          </a:xfrm>
          <a:prstGeom prst="rect">
            <a:avLst/>
          </a:prstGeom>
          <a:noFill/>
          <a:ln w="9525">
            <a:noFill/>
            <a:miter lim="800000"/>
          </a:ln>
          <a:effectLst/>
        </p:spPr>
        <p:txBody>
          <a:bodyPr wrap="square">
            <a:spAutoFit/>
          </a:bodyPr>
          <a:lstStyle/>
          <a:p>
            <a:pPr algn="ctr">
              <a:spcBef>
                <a:spcPct val="50000"/>
              </a:spcBef>
            </a:pPr>
            <a:r>
              <a:rPr lang="en-US" sz="1350" b="1" i="1" dirty="0"/>
              <a:t>f</a:t>
            </a:r>
            <a:r>
              <a:rPr lang="en-US" sz="1350" dirty="0"/>
              <a:t>(</a:t>
            </a:r>
            <a:r>
              <a:rPr lang="en-US" sz="1350" b="1" i="1" dirty="0" err="1"/>
              <a:t>x,y</a:t>
            </a:r>
            <a:r>
              <a:rPr lang="en-US" sz="1350" dirty="0"/>
              <a:t>)</a:t>
            </a:r>
          </a:p>
        </p:txBody>
      </p:sp>
      <p:sp>
        <p:nvSpPr>
          <p:cNvPr id="403463" name="Text Box 7"/>
          <p:cNvSpPr txBox="1">
            <a:spLocks noChangeArrowheads="1"/>
          </p:cNvSpPr>
          <p:nvPr>
            <p:custDataLst>
              <p:tags r:id="rId4"/>
            </p:custDataLst>
          </p:nvPr>
        </p:nvSpPr>
        <p:spPr bwMode="auto">
          <a:xfrm>
            <a:off x="5600700" y="4276168"/>
            <a:ext cx="1065680" cy="300082"/>
          </a:xfrm>
          <a:prstGeom prst="rect">
            <a:avLst/>
          </a:prstGeom>
          <a:noFill/>
          <a:ln w="9525">
            <a:noFill/>
            <a:miter lim="800000"/>
          </a:ln>
          <a:effectLst/>
        </p:spPr>
        <p:txBody>
          <a:bodyPr wrap="square">
            <a:spAutoFit/>
          </a:bodyPr>
          <a:lstStyle/>
          <a:p>
            <a:pPr algn="ctr">
              <a:spcBef>
                <a:spcPct val="50000"/>
              </a:spcBef>
            </a:pPr>
            <a:r>
              <a:rPr lang="en-US" sz="1350" b="1" i="1" dirty="0"/>
              <a:t>g</a:t>
            </a:r>
            <a:r>
              <a:rPr lang="en-US" sz="1350" dirty="0"/>
              <a:t>(</a:t>
            </a:r>
            <a:r>
              <a:rPr lang="en-US" sz="1350" b="1" i="1" dirty="0" err="1"/>
              <a:t>x’,y</a:t>
            </a:r>
            <a:r>
              <a:rPr lang="en-US" sz="1350" b="1" i="1" dirty="0"/>
              <a:t>’</a:t>
            </a:r>
            <a:r>
              <a:rPr lang="en-US" sz="1350" dirty="0"/>
              <a:t>)</a:t>
            </a:r>
          </a:p>
        </p:txBody>
      </p:sp>
      <p:grpSp>
        <p:nvGrpSpPr>
          <p:cNvPr id="2" name="Group 8"/>
          <p:cNvGrpSpPr/>
          <p:nvPr>
            <p:custDataLst>
              <p:tags r:id="rId5"/>
            </p:custDataLst>
          </p:nvPr>
        </p:nvGrpSpPr>
        <p:grpSpPr bwMode="auto">
          <a:xfrm>
            <a:off x="2457450" y="3933269"/>
            <a:ext cx="285750" cy="285750"/>
            <a:chOff x="1104" y="3312"/>
            <a:chExt cx="240" cy="240"/>
          </a:xfrm>
        </p:grpSpPr>
        <p:sp>
          <p:nvSpPr>
            <p:cNvPr id="403465" name="Line 9"/>
            <p:cNvSpPr>
              <a:spLocks noChangeShapeType="1"/>
            </p:cNvSpPr>
            <p:nvPr>
              <p:custDataLst>
                <p:tags r:id="rId18"/>
              </p:custDataLst>
            </p:nvPr>
          </p:nvSpPr>
          <p:spPr bwMode="auto">
            <a:xfrm flipV="1">
              <a:off x="1104" y="3312"/>
              <a:ext cx="0" cy="240"/>
            </a:xfrm>
            <a:prstGeom prst="line">
              <a:avLst/>
            </a:prstGeom>
            <a:noFill/>
            <a:ln w="19050">
              <a:solidFill>
                <a:schemeClr val="tx1"/>
              </a:solidFill>
              <a:round/>
              <a:tailEnd type="triangle" w="med" len="lg"/>
            </a:ln>
            <a:effectLst/>
          </p:spPr>
          <p:txBody>
            <a:bodyPr/>
            <a:lstStyle/>
            <a:p>
              <a:endParaRPr lang="en-US" sz="1350"/>
            </a:p>
          </p:txBody>
        </p:sp>
        <p:sp>
          <p:nvSpPr>
            <p:cNvPr id="403466" name="Line 10"/>
            <p:cNvSpPr>
              <a:spLocks noChangeShapeType="1"/>
            </p:cNvSpPr>
            <p:nvPr>
              <p:custDataLst>
                <p:tags r:id="rId19"/>
              </p:custDataLst>
            </p:nvPr>
          </p:nvSpPr>
          <p:spPr bwMode="auto">
            <a:xfrm flipV="1">
              <a:off x="1104" y="3552"/>
              <a:ext cx="240" cy="0"/>
            </a:xfrm>
            <a:prstGeom prst="line">
              <a:avLst/>
            </a:prstGeom>
            <a:noFill/>
            <a:ln w="19050">
              <a:solidFill>
                <a:schemeClr val="tx1"/>
              </a:solidFill>
              <a:round/>
              <a:tailEnd type="triangle" w="med" len="lg"/>
            </a:ln>
            <a:effectLst/>
          </p:spPr>
          <p:txBody>
            <a:bodyPr/>
            <a:lstStyle/>
            <a:p>
              <a:endParaRPr lang="en-US" sz="1350"/>
            </a:p>
          </p:txBody>
        </p:sp>
      </p:grpSp>
      <p:grpSp>
        <p:nvGrpSpPr>
          <p:cNvPr id="3" name="Group 11"/>
          <p:cNvGrpSpPr/>
          <p:nvPr>
            <p:custDataLst>
              <p:tags r:id="rId6"/>
            </p:custDataLst>
          </p:nvPr>
        </p:nvGrpSpPr>
        <p:grpSpPr bwMode="auto">
          <a:xfrm>
            <a:off x="5086350" y="3933269"/>
            <a:ext cx="285750" cy="285750"/>
            <a:chOff x="1104" y="3312"/>
            <a:chExt cx="240" cy="240"/>
          </a:xfrm>
        </p:grpSpPr>
        <p:sp>
          <p:nvSpPr>
            <p:cNvPr id="403468" name="Line 12"/>
            <p:cNvSpPr>
              <a:spLocks noChangeShapeType="1"/>
            </p:cNvSpPr>
            <p:nvPr>
              <p:custDataLst>
                <p:tags r:id="rId16"/>
              </p:custDataLst>
            </p:nvPr>
          </p:nvSpPr>
          <p:spPr bwMode="auto">
            <a:xfrm flipV="1">
              <a:off x="1104" y="3312"/>
              <a:ext cx="0" cy="240"/>
            </a:xfrm>
            <a:prstGeom prst="line">
              <a:avLst/>
            </a:prstGeom>
            <a:noFill/>
            <a:ln w="19050">
              <a:solidFill>
                <a:schemeClr val="tx1"/>
              </a:solidFill>
              <a:round/>
              <a:tailEnd type="triangle" w="med" len="lg"/>
            </a:ln>
            <a:effectLst/>
          </p:spPr>
          <p:txBody>
            <a:bodyPr/>
            <a:lstStyle/>
            <a:p>
              <a:endParaRPr lang="en-US" sz="1350"/>
            </a:p>
          </p:txBody>
        </p:sp>
        <p:sp>
          <p:nvSpPr>
            <p:cNvPr id="403469" name="Line 13"/>
            <p:cNvSpPr>
              <a:spLocks noChangeShapeType="1"/>
            </p:cNvSpPr>
            <p:nvPr>
              <p:custDataLst>
                <p:tags r:id="rId17"/>
              </p:custDataLst>
            </p:nvPr>
          </p:nvSpPr>
          <p:spPr bwMode="auto">
            <a:xfrm flipV="1">
              <a:off x="1104" y="3552"/>
              <a:ext cx="240" cy="0"/>
            </a:xfrm>
            <a:prstGeom prst="line">
              <a:avLst/>
            </a:prstGeom>
            <a:noFill/>
            <a:ln w="19050">
              <a:solidFill>
                <a:schemeClr val="tx1"/>
              </a:solidFill>
              <a:round/>
              <a:tailEnd type="triangle" w="med" len="lg"/>
            </a:ln>
            <a:effectLst/>
          </p:spPr>
          <p:txBody>
            <a:bodyPr/>
            <a:lstStyle/>
            <a:p>
              <a:endParaRPr lang="en-US" sz="1350"/>
            </a:p>
          </p:txBody>
        </p:sp>
      </p:grpSp>
      <p:sp>
        <p:nvSpPr>
          <p:cNvPr id="403470" name="Text Box 14"/>
          <p:cNvSpPr txBox="1">
            <a:spLocks noChangeArrowheads="1"/>
          </p:cNvSpPr>
          <p:nvPr>
            <p:custDataLst>
              <p:tags r:id="rId7"/>
            </p:custDataLst>
          </p:nvPr>
        </p:nvSpPr>
        <p:spPr bwMode="auto">
          <a:xfrm>
            <a:off x="2457450" y="4161868"/>
            <a:ext cx="514350" cy="300082"/>
          </a:xfrm>
          <a:prstGeom prst="rect">
            <a:avLst/>
          </a:prstGeom>
          <a:noFill/>
          <a:ln w="9525">
            <a:noFill/>
            <a:miter lim="800000"/>
          </a:ln>
          <a:effectLst/>
        </p:spPr>
        <p:txBody>
          <a:bodyPr>
            <a:spAutoFit/>
          </a:bodyPr>
          <a:lstStyle/>
          <a:p>
            <a:pPr algn="ctr">
              <a:spcBef>
                <a:spcPct val="50000"/>
              </a:spcBef>
            </a:pPr>
            <a:r>
              <a:rPr lang="en-US" sz="1350" b="1" i="1" dirty="0"/>
              <a:t>x</a:t>
            </a:r>
            <a:endParaRPr lang="en-US" sz="1350" dirty="0"/>
          </a:p>
        </p:txBody>
      </p:sp>
      <p:sp>
        <p:nvSpPr>
          <p:cNvPr id="403471" name="Text Box 15"/>
          <p:cNvSpPr txBox="1">
            <a:spLocks noChangeArrowheads="1"/>
          </p:cNvSpPr>
          <p:nvPr>
            <p:custDataLst>
              <p:tags r:id="rId8"/>
            </p:custDataLst>
          </p:nvPr>
        </p:nvSpPr>
        <p:spPr bwMode="auto">
          <a:xfrm>
            <a:off x="5086350" y="4161868"/>
            <a:ext cx="514350" cy="300082"/>
          </a:xfrm>
          <a:prstGeom prst="rect">
            <a:avLst/>
          </a:prstGeom>
          <a:noFill/>
          <a:ln w="9525">
            <a:noFill/>
            <a:miter lim="800000"/>
          </a:ln>
          <a:effectLst/>
        </p:spPr>
        <p:txBody>
          <a:bodyPr>
            <a:spAutoFit/>
          </a:bodyPr>
          <a:lstStyle/>
          <a:p>
            <a:pPr algn="ctr">
              <a:spcBef>
                <a:spcPct val="50000"/>
              </a:spcBef>
            </a:pPr>
            <a:r>
              <a:rPr lang="en-US" sz="1350" b="1" i="1"/>
              <a:t>x’</a:t>
            </a:r>
            <a:endParaRPr lang="en-US" sz="1350"/>
          </a:p>
        </p:txBody>
      </p:sp>
      <p:sp>
        <p:nvSpPr>
          <p:cNvPr id="403472" name="Rectangle 16"/>
          <p:cNvSpPr>
            <a:spLocks noChangeArrowheads="1"/>
          </p:cNvSpPr>
          <p:nvPr>
            <p:custDataLst>
              <p:tags r:id="rId9"/>
            </p:custDataLst>
          </p:nvPr>
        </p:nvSpPr>
        <p:spPr bwMode="auto">
          <a:xfrm>
            <a:off x="2812257" y="3818970"/>
            <a:ext cx="102394" cy="102394"/>
          </a:xfrm>
          <a:prstGeom prst="rect">
            <a:avLst/>
          </a:prstGeom>
          <a:noFill/>
          <a:ln w="38100">
            <a:solidFill>
              <a:srgbClr val="FF0000"/>
            </a:solidFill>
            <a:miter lim="800000"/>
          </a:ln>
          <a:effectLst>
            <a:outerShdw blurRad="444500" sx="168000" sy="168000" algn="ctr" rotWithShape="0">
              <a:prstClr val="black"/>
            </a:outerShdw>
          </a:effectLst>
        </p:spPr>
        <p:txBody>
          <a:bodyPr wrap="none" anchor="ctr"/>
          <a:lstStyle/>
          <a:p>
            <a:endParaRPr lang="en-US" sz="1350"/>
          </a:p>
        </p:txBody>
      </p:sp>
      <p:sp>
        <p:nvSpPr>
          <p:cNvPr id="403473" name="Rectangle 17"/>
          <p:cNvSpPr>
            <a:spLocks noChangeArrowheads="1"/>
          </p:cNvSpPr>
          <p:nvPr>
            <p:custDataLst>
              <p:tags r:id="rId10"/>
            </p:custDataLst>
          </p:nvPr>
        </p:nvSpPr>
        <p:spPr bwMode="auto">
          <a:xfrm>
            <a:off x="5486401" y="3830876"/>
            <a:ext cx="102394" cy="102394"/>
          </a:xfrm>
          <a:prstGeom prst="rect">
            <a:avLst/>
          </a:prstGeom>
          <a:noFill/>
          <a:ln w="38100">
            <a:solidFill>
              <a:srgbClr val="FF0000"/>
            </a:solidFill>
            <a:miter lim="800000"/>
          </a:ln>
          <a:effectLst>
            <a:outerShdw blurRad="444500" sx="168000" sy="168000" algn="ctr" rotWithShape="0">
              <a:prstClr val="black"/>
            </a:outerShdw>
          </a:effectLst>
        </p:spPr>
        <p:txBody>
          <a:bodyPr wrap="none" anchor="ctr"/>
          <a:lstStyle/>
          <a:p>
            <a:endParaRPr lang="en-US" sz="1350"/>
          </a:p>
        </p:txBody>
      </p:sp>
      <p:sp>
        <p:nvSpPr>
          <p:cNvPr id="403474" name="Freeform 18"/>
          <p:cNvSpPr/>
          <p:nvPr>
            <p:custDataLst>
              <p:tags r:id="rId11"/>
            </p:custDataLst>
          </p:nvPr>
        </p:nvSpPr>
        <p:spPr bwMode="auto">
          <a:xfrm>
            <a:off x="2959894" y="3533219"/>
            <a:ext cx="2514600" cy="285750"/>
          </a:xfrm>
          <a:custGeom>
            <a:avLst/>
            <a:gdLst/>
            <a:ahLst/>
            <a:cxnLst>
              <a:cxn ang="0">
                <a:pos x="0" y="288"/>
              </a:cxn>
              <a:cxn ang="0">
                <a:pos x="1152" y="0"/>
              </a:cxn>
              <a:cxn ang="0">
                <a:pos x="2160" y="288"/>
              </a:cxn>
            </a:cxnLst>
            <a:rect l="0" t="0" r="r" b="b"/>
            <a:pathLst>
              <a:path w="2160" h="288">
                <a:moveTo>
                  <a:pt x="0" y="288"/>
                </a:moveTo>
                <a:cubicBezTo>
                  <a:pt x="396" y="144"/>
                  <a:pt x="792" y="0"/>
                  <a:pt x="1152" y="0"/>
                </a:cubicBezTo>
                <a:cubicBezTo>
                  <a:pt x="1512" y="0"/>
                  <a:pt x="1836" y="144"/>
                  <a:pt x="2160" y="288"/>
                </a:cubicBezTo>
              </a:path>
            </a:pathLst>
          </a:custGeom>
          <a:noFill/>
          <a:ln w="57150">
            <a:solidFill>
              <a:schemeClr val="accent6"/>
            </a:solidFill>
            <a:round/>
            <a:headEnd type="none" w="lg" len="lg"/>
            <a:tailEnd type="stealth" w="lg" len="lg"/>
          </a:ln>
          <a:effectLst/>
        </p:spPr>
        <p:txBody>
          <a:bodyPr/>
          <a:lstStyle/>
          <a:p>
            <a:endParaRPr lang="en-US" sz="1350"/>
          </a:p>
        </p:txBody>
      </p:sp>
      <p:sp>
        <p:nvSpPr>
          <p:cNvPr id="403475" name="Text Box 19"/>
          <p:cNvSpPr txBox="1">
            <a:spLocks noChangeArrowheads="1"/>
          </p:cNvSpPr>
          <p:nvPr>
            <p:custDataLst>
              <p:tags r:id="rId12"/>
            </p:custDataLst>
          </p:nvPr>
        </p:nvSpPr>
        <p:spPr bwMode="auto">
          <a:xfrm>
            <a:off x="4217194" y="3590368"/>
            <a:ext cx="697706" cy="300082"/>
          </a:xfrm>
          <a:prstGeom prst="rect">
            <a:avLst/>
          </a:prstGeom>
          <a:noFill/>
          <a:ln w="9525">
            <a:noFill/>
            <a:miter lim="800000"/>
          </a:ln>
          <a:effectLst/>
        </p:spPr>
        <p:txBody>
          <a:bodyPr wrap="square">
            <a:spAutoFit/>
          </a:bodyPr>
          <a:lstStyle/>
          <a:p>
            <a:pPr algn="ctr">
              <a:spcBef>
                <a:spcPct val="50000"/>
              </a:spcBef>
            </a:pPr>
            <a:r>
              <a:rPr lang="en-US" sz="1350" b="1" i="1" dirty="0"/>
              <a:t>T</a:t>
            </a:r>
            <a:r>
              <a:rPr lang="en-US" sz="1350" dirty="0"/>
              <a:t>(</a:t>
            </a:r>
            <a:r>
              <a:rPr lang="en-US" sz="1350" b="1" i="1" dirty="0" err="1"/>
              <a:t>x,y</a:t>
            </a:r>
            <a:r>
              <a:rPr lang="en-US" sz="1350" dirty="0"/>
              <a:t>)</a:t>
            </a:r>
          </a:p>
        </p:txBody>
      </p:sp>
      <p:sp>
        <p:nvSpPr>
          <p:cNvPr id="24" name="Text Box 14"/>
          <p:cNvSpPr txBox="1">
            <a:spLocks noChangeArrowheads="1"/>
          </p:cNvSpPr>
          <p:nvPr>
            <p:custDataLst>
              <p:tags r:id="rId13"/>
            </p:custDataLst>
          </p:nvPr>
        </p:nvSpPr>
        <p:spPr bwMode="auto">
          <a:xfrm>
            <a:off x="2188029" y="3688340"/>
            <a:ext cx="514350" cy="300082"/>
          </a:xfrm>
          <a:prstGeom prst="rect">
            <a:avLst/>
          </a:prstGeom>
          <a:noFill/>
          <a:ln w="9525">
            <a:noFill/>
            <a:miter lim="800000"/>
          </a:ln>
          <a:effectLst/>
        </p:spPr>
        <p:txBody>
          <a:bodyPr>
            <a:spAutoFit/>
          </a:bodyPr>
          <a:lstStyle/>
          <a:p>
            <a:pPr algn="ctr">
              <a:spcBef>
                <a:spcPct val="50000"/>
              </a:spcBef>
            </a:pPr>
            <a:r>
              <a:rPr lang="en-US" sz="1350" b="1" i="1" dirty="0"/>
              <a:t>y</a:t>
            </a:r>
            <a:endParaRPr lang="en-US" sz="1350" dirty="0"/>
          </a:p>
        </p:txBody>
      </p:sp>
      <p:sp>
        <p:nvSpPr>
          <p:cNvPr id="25" name="Text Box 14"/>
          <p:cNvSpPr txBox="1">
            <a:spLocks noChangeArrowheads="1"/>
          </p:cNvSpPr>
          <p:nvPr>
            <p:custDataLst>
              <p:tags r:id="rId14"/>
            </p:custDataLst>
          </p:nvPr>
        </p:nvSpPr>
        <p:spPr bwMode="auto">
          <a:xfrm>
            <a:off x="4825094" y="3680175"/>
            <a:ext cx="514350" cy="300082"/>
          </a:xfrm>
          <a:prstGeom prst="rect">
            <a:avLst/>
          </a:prstGeom>
          <a:noFill/>
          <a:ln w="9525">
            <a:noFill/>
            <a:miter lim="800000"/>
          </a:ln>
          <a:effectLst/>
        </p:spPr>
        <p:txBody>
          <a:bodyPr>
            <a:spAutoFit/>
          </a:bodyPr>
          <a:lstStyle/>
          <a:p>
            <a:pPr algn="ctr">
              <a:spcBef>
                <a:spcPct val="50000"/>
              </a:spcBef>
            </a:pPr>
            <a:r>
              <a:rPr lang="en-US" sz="1350" b="1" i="1" dirty="0"/>
              <a:t>y’</a:t>
            </a:r>
            <a:endParaRPr lang="en-US" sz="1350" dirty="0"/>
          </a:p>
        </p:txBody>
      </p:sp>
      <p:sp>
        <p:nvSpPr>
          <p:cNvPr id="26" name="Rectangle 2"/>
          <p:cNvSpPr>
            <a:spLocks noGrp="1" noChangeArrowheads="1"/>
          </p:cNvSpPr>
          <p:nvPr>
            <p:ph type="title"/>
            <p:custDataLst>
              <p:tags r:id="rId15"/>
            </p:custDataLst>
          </p:nvPr>
        </p:nvSpPr>
        <p:spPr>
          <a:xfrm>
            <a:off x="457200" y="1063229"/>
            <a:ext cx="8229600" cy="857250"/>
          </a:xfrm>
        </p:spPr>
        <p:txBody>
          <a:bodyPr/>
          <a:lstStyle/>
          <a:p>
            <a:r>
              <a:rPr lang="zh-CN" altLang="en-US" dirty="0"/>
              <a:t>几何形变的实现：正向变形</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347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grpId="0" nodeType="clickEffect">
                                  <p:stCondLst>
                                    <p:cond delay="0"/>
                                  </p:stCondLst>
                                  <p:childTnLst>
                                    <p:set>
                                      <p:cBhvr>
                                        <p:cTn id="10" dur="1" fill="hold">
                                          <p:stCondLst>
                                            <p:cond delay="0"/>
                                          </p:stCondLst>
                                        </p:cTn>
                                        <p:tgtEl>
                                          <p:spTgt spid="403474"/>
                                        </p:tgtEl>
                                        <p:attrNameLst>
                                          <p:attrName>style.visibility</p:attrName>
                                        </p:attrNameLst>
                                      </p:cBhvr>
                                      <p:to>
                                        <p:strVal val="visible"/>
                                      </p:to>
                                    </p:set>
                                    <p:animEffect transition="in" filter="wipe(left)">
                                      <p:cBhvr>
                                        <p:cTn id="11" dur="500"/>
                                        <p:tgtEl>
                                          <p:spTgt spid="403474"/>
                                        </p:tgtEl>
                                      </p:cBhvr>
                                    </p:animEffect>
                                  </p:childTnLst>
                                </p:cTn>
                              </p:par>
                            </p:childTnLst>
                          </p:cTn>
                        </p:par>
                        <p:par>
                          <p:cTn id="12" fill="hold">
                            <p:stCondLst>
                              <p:cond delay="500"/>
                            </p:stCondLst>
                            <p:childTnLst>
                              <p:par>
                                <p:cTn id="13" presetID="1" presetClass="entr" presetSubtype="0" fill="hold" grpId="0" nodeType="afterEffect">
                                  <p:stCondLst>
                                    <p:cond delay="0"/>
                                  </p:stCondLst>
                                  <p:childTnLst>
                                    <p:set>
                                      <p:cBhvr>
                                        <p:cTn id="14" dur="1" fill="hold">
                                          <p:stCondLst>
                                            <p:cond delay="0"/>
                                          </p:stCondLst>
                                        </p:cTn>
                                        <p:tgtEl>
                                          <p:spTgt spid="4034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3472" grpId="0" animBg="1"/>
      <p:bldP spid="403473" grpId="0" animBg="1"/>
      <p:bldP spid="40347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459" name="Rectangle 3"/>
          <p:cNvSpPr>
            <a:spLocks noGrp="1" noChangeArrowheads="1"/>
          </p:cNvSpPr>
          <p:nvPr>
            <p:ph type="body" idx="1"/>
            <p:custDataLst>
              <p:tags r:id="rId1"/>
            </p:custDataLst>
          </p:nvPr>
        </p:nvSpPr>
        <p:spPr>
          <a:xfrm>
            <a:off x="481709" y="1839536"/>
            <a:ext cx="8229600" cy="4525963"/>
          </a:xfrm>
        </p:spPr>
        <p:txBody>
          <a:bodyPr>
            <a:normAutofit/>
          </a:bodyPr>
          <a:lstStyle/>
          <a:p>
            <a:r>
              <a:rPr lang="zh-CN" altLang="en-US" sz="2100" dirty="0"/>
              <a:t>将</a:t>
            </a:r>
            <a:r>
              <a:rPr lang="en-US" altLang="zh-CN" sz="2100" dirty="0"/>
              <a:t>f</a:t>
            </a:r>
            <a:r>
              <a:rPr lang="zh-CN" altLang="en-US" sz="2100" dirty="0"/>
              <a:t>中的坐标映射到</a:t>
            </a:r>
            <a:r>
              <a:rPr lang="en-US" altLang="zh-CN" sz="2100" dirty="0"/>
              <a:t>g</a:t>
            </a:r>
            <a:r>
              <a:rPr lang="zh-CN" altLang="en-US" sz="2100" dirty="0"/>
              <a:t>，如果正向变形后映射到</a:t>
            </a:r>
            <a:r>
              <a:rPr lang="en-US" altLang="zh-CN" sz="2100" dirty="0"/>
              <a:t>g</a:t>
            </a:r>
            <a:r>
              <a:rPr lang="zh-CN" altLang="en-US" sz="2100" dirty="0"/>
              <a:t>的坐标不是整数，则进行四舍五入取整，这会产生问题：</a:t>
            </a:r>
            <a:r>
              <a:rPr lang="en-US" altLang="zh-CN" sz="2100" dirty="0"/>
              <a:t>g</a:t>
            </a:r>
            <a:r>
              <a:rPr lang="zh-CN" altLang="en-US" sz="2100" dirty="0"/>
              <a:t>中有的位置没有</a:t>
            </a:r>
            <a:r>
              <a:rPr lang="en-US" altLang="zh-CN" sz="2100" dirty="0"/>
              <a:t>f</a:t>
            </a:r>
            <a:r>
              <a:rPr lang="zh-CN" altLang="en-US" sz="2100" dirty="0"/>
              <a:t>投影过来的点，有的位置有多个</a:t>
            </a:r>
            <a:r>
              <a:rPr lang="en-US" altLang="zh-CN" sz="2100" dirty="0"/>
              <a:t>f</a:t>
            </a:r>
            <a:r>
              <a:rPr lang="zh-CN" altLang="en-US" sz="2100" dirty="0"/>
              <a:t>投影过来的点，所以会产生空洞或波纹</a:t>
            </a:r>
          </a:p>
        </p:txBody>
      </p:sp>
      <p:sp>
        <p:nvSpPr>
          <p:cNvPr id="26" name="Rectangle 2"/>
          <p:cNvSpPr>
            <a:spLocks noGrp="1" noChangeArrowheads="1"/>
          </p:cNvSpPr>
          <p:nvPr>
            <p:ph type="title"/>
            <p:custDataLst>
              <p:tags r:id="rId2"/>
            </p:custDataLst>
          </p:nvPr>
        </p:nvSpPr>
        <p:spPr>
          <a:xfrm>
            <a:off x="457200" y="1063229"/>
            <a:ext cx="8229600" cy="857250"/>
          </a:xfrm>
        </p:spPr>
        <p:txBody>
          <a:bodyPr/>
          <a:lstStyle/>
          <a:p>
            <a:r>
              <a:rPr lang="zh-CN" altLang="en-US" dirty="0"/>
              <a:t>几何形变的实现：正向变形</a:t>
            </a:r>
            <a:endParaRPr lang="en-US" dirty="0"/>
          </a:p>
        </p:txBody>
      </p:sp>
      <p:sp>
        <p:nvSpPr>
          <p:cNvPr id="22" name="Text Box 4"/>
          <p:cNvSpPr txBox="1">
            <a:spLocks noChangeArrowheads="1"/>
          </p:cNvSpPr>
          <p:nvPr>
            <p:custDataLst>
              <p:tags r:id="rId3"/>
            </p:custDataLst>
          </p:nvPr>
        </p:nvSpPr>
        <p:spPr bwMode="auto">
          <a:xfrm>
            <a:off x="1260668" y="4582758"/>
            <a:ext cx="685800" cy="300082"/>
          </a:xfrm>
          <a:prstGeom prst="rect">
            <a:avLst/>
          </a:prstGeom>
          <a:noFill/>
          <a:ln w="9525">
            <a:noFill/>
            <a:miter lim="800000"/>
          </a:ln>
          <a:effectLst/>
        </p:spPr>
        <p:txBody>
          <a:bodyPr wrap="square">
            <a:spAutoFit/>
          </a:bodyPr>
          <a:lstStyle/>
          <a:p>
            <a:pPr algn="ctr">
              <a:spcBef>
                <a:spcPct val="50000"/>
              </a:spcBef>
            </a:pPr>
            <a:r>
              <a:rPr lang="en-US" sz="1350" b="1" i="1" dirty="0"/>
              <a:t>f</a:t>
            </a:r>
            <a:r>
              <a:rPr lang="en-US" sz="1350" dirty="0"/>
              <a:t>(</a:t>
            </a:r>
            <a:r>
              <a:rPr lang="en-US" sz="1350" b="1" i="1" dirty="0" err="1"/>
              <a:t>x,y</a:t>
            </a:r>
            <a:r>
              <a:rPr lang="en-US" sz="1350" dirty="0"/>
              <a:t>)</a:t>
            </a:r>
          </a:p>
        </p:txBody>
      </p:sp>
      <p:sp>
        <p:nvSpPr>
          <p:cNvPr id="23" name="Text Box 5"/>
          <p:cNvSpPr txBox="1">
            <a:spLocks noChangeArrowheads="1"/>
          </p:cNvSpPr>
          <p:nvPr>
            <p:custDataLst>
              <p:tags r:id="rId4"/>
            </p:custDataLst>
          </p:nvPr>
        </p:nvSpPr>
        <p:spPr bwMode="auto">
          <a:xfrm>
            <a:off x="3363452" y="4582758"/>
            <a:ext cx="1166532" cy="300082"/>
          </a:xfrm>
          <a:prstGeom prst="rect">
            <a:avLst/>
          </a:prstGeom>
          <a:noFill/>
          <a:ln w="9525">
            <a:noFill/>
            <a:miter lim="800000"/>
          </a:ln>
          <a:effectLst/>
        </p:spPr>
        <p:txBody>
          <a:bodyPr wrap="square">
            <a:spAutoFit/>
          </a:bodyPr>
          <a:lstStyle/>
          <a:p>
            <a:pPr algn="ctr">
              <a:spcBef>
                <a:spcPct val="50000"/>
              </a:spcBef>
            </a:pPr>
            <a:r>
              <a:rPr lang="en-US" sz="1350" b="1" i="1" dirty="0"/>
              <a:t>g</a:t>
            </a:r>
            <a:r>
              <a:rPr lang="en-US" sz="1350" dirty="0"/>
              <a:t>(</a:t>
            </a:r>
            <a:r>
              <a:rPr lang="en-US" sz="1350" b="1" i="1" dirty="0" err="1"/>
              <a:t>x’,y</a:t>
            </a:r>
            <a:r>
              <a:rPr lang="en-US" sz="1350" b="1" i="1" dirty="0"/>
              <a:t>’</a:t>
            </a:r>
            <a:r>
              <a:rPr lang="en-US" sz="1350" dirty="0"/>
              <a:t>)</a:t>
            </a:r>
          </a:p>
        </p:txBody>
      </p:sp>
      <p:grpSp>
        <p:nvGrpSpPr>
          <p:cNvPr id="27" name="Group 6"/>
          <p:cNvGrpSpPr/>
          <p:nvPr>
            <p:custDataLst>
              <p:tags r:id="rId5"/>
            </p:custDataLst>
          </p:nvPr>
        </p:nvGrpSpPr>
        <p:grpSpPr bwMode="auto">
          <a:xfrm>
            <a:off x="974918" y="4205570"/>
            <a:ext cx="285750" cy="285750"/>
            <a:chOff x="1104" y="3312"/>
            <a:chExt cx="240" cy="240"/>
          </a:xfrm>
        </p:grpSpPr>
        <p:sp>
          <p:nvSpPr>
            <p:cNvPr id="28" name="Line 7"/>
            <p:cNvSpPr>
              <a:spLocks noChangeShapeType="1"/>
            </p:cNvSpPr>
            <p:nvPr>
              <p:custDataLst>
                <p:tags r:id="rId27"/>
              </p:custDataLst>
            </p:nvPr>
          </p:nvSpPr>
          <p:spPr bwMode="auto">
            <a:xfrm flipV="1">
              <a:off x="1104" y="3312"/>
              <a:ext cx="0" cy="240"/>
            </a:xfrm>
            <a:prstGeom prst="line">
              <a:avLst/>
            </a:prstGeom>
            <a:noFill/>
            <a:ln w="19050">
              <a:solidFill>
                <a:schemeClr val="tx1"/>
              </a:solidFill>
              <a:round/>
              <a:tailEnd type="triangle" w="med" len="lg"/>
            </a:ln>
            <a:effectLst/>
          </p:spPr>
          <p:txBody>
            <a:bodyPr/>
            <a:lstStyle/>
            <a:p>
              <a:endParaRPr lang="en-US" sz="1350"/>
            </a:p>
          </p:txBody>
        </p:sp>
        <p:sp>
          <p:nvSpPr>
            <p:cNvPr id="29" name="Line 8"/>
            <p:cNvSpPr>
              <a:spLocks noChangeShapeType="1"/>
            </p:cNvSpPr>
            <p:nvPr>
              <p:custDataLst>
                <p:tags r:id="rId28"/>
              </p:custDataLst>
            </p:nvPr>
          </p:nvSpPr>
          <p:spPr bwMode="auto">
            <a:xfrm flipV="1">
              <a:off x="1104" y="3552"/>
              <a:ext cx="240" cy="0"/>
            </a:xfrm>
            <a:prstGeom prst="line">
              <a:avLst/>
            </a:prstGeom>
            <a:noFill/>
            <a:ln w="19050">
              <a:solidFill>
                <a:schemeClr val="tx1"/>
              </a:solidFill>
              <a:round/>
              <a:tailEnd type="triangle" w="med" len="lg"/>
            </a:ln>
            <a:effectLst/>
          </p:spPr>
          <p:txBody>
            <a:bodyPr/>
            <a:lstStyle/>
            <a:p>
              <a:endParaRPr lang="en-US" sz="1350"/>
            </a:p>
          </p:txBody>
        </p:sp>
      </p:grpSp>
      <p:grpSp>
        <p:nvGrpSpPr>
          <p:cNvPr id="30" name="Group 9"/>
          <p:cNvGrpSpPr/>
          <p:nvPr>
            <p:custDataLst>
              <p:tags r:id="rId6"/>
            </p:custDataLst>
          </p:nvPr>
        </p:nvGrpSpPr>
        <p:grpSpPr bwMode="auto">
          <a:xfrm>
            <a:off x="3603818" y="4205570"/>
            <a:ext cx="285750" cy="285750"/>
            <a:chOff x="1104" y="3312"/>
            <a:chExt cx="240" cy="240"/>
          </a:xfrm>
        </p:grpSpPr>
        <p:sp>
          <p:nvSpPr>
            <p:cNvPr id="31" name="Line 10"/>
            <p:cNvSpPr>
              <a:spLocks noChangeShapeType="1"/>
            </p:cNvSpPr>
            <p:nvPr>
              <p:custDataLst>
                <p:tags r:id="rId25"/>
              </p:custDataLst>
            </p:nvPr>
          </p:nvSpPr>
          <p:spPr bwMode="auto">
            <a:xfrm flipV="1">
              <a:off x="1104" y="3312"/>
              <a:ext cx="0" cy="240"/>
            </a:xfrm>
            <a:prstGeom prst="line">
              <a:avLst/>
            </a:prstGeom>
            <a:noFill/>
            <a:ln w="19050">
              <a:solidFill>
                <a:schemeClr val="tx1"/>
              </a:solidFill>
              <a:round/>
              <a:tailEnd type="triangle" w="med" len="lg"/>
            </a:ln>
            <a:effectLst/>
          </p:spPr>
          <p:txBody>
            <a:bodyPr/>
            <a:lstStyle/>
            <a:p>
              <a:endParaRPr lang="en-US" sz="1350"/>
            </a:p>
          </p:txBody>
        </p:sp>
        <p:sp>
          <p:nvSpPr>
            <p:cNvPr id="32" name="Line 11"/>
            <p:cNvSpPr>
              <a:spLocks noChangeShapeType="1"/>
            </p:cNvSpPr>
            <p:nvPr>
              <p:custDataLst>
                <p:tags r:id="rId26"/>
              </p:custDataLst>
            </p:nvPr>
          </p:nvSpPr>
          <p:spPr bwMode="auto">
            <a:xfrm flipV="1">
              <a:off x="1104" y="3552"/>
              <a:ext cx="240" cy="0"/>
            </a:xfrm>
            <a:prstGeom prst="line">
              <a:avLst/>
            </a:prstGeom>
            <a:noFill/>
            <a:ln w="19050">
              <a:solidFill>
                <a:schemeClr val="tx1"/>
              </a:solidFill>
              <a:round/>
              <a:tailEnd type="triangle" w="med" len="lg"/>
            </a:ln>
            <a:effectLst/>
          </p:spPr>
          <p:txBody>
            <a:bodyPr/>
            <a:lstStyle/>
            <a:p>
              <a:endParaRPr lang="en-US" sz="1350"/>
            </a:p>
          </p:txBody>
        </p:sp>
      </p:grpSp>
      <p:sp>
        <p:nvSpPr>
          <p:cNvPr id="33" name="Text Box 12"/>
          <p:cNvSpPr txBox="1">
            <a:spLocks noChangeArrowheads="1"/>
          </p:cNvSpPr>
          <p:nvPr>
            <p:custDataLst>
              <p:tags r:id="rId7"/>
            </p:custDataLst>
          </p:nvPr>
        </p:nvSpPr>
        <p:spPr bwMode="auto">
          <a:xfrm>
            <a:off x="974918" y="4434170"/>
            <a:ext cx="514350" cy="300082"/>
          </a:xfrm>
          <a:prstGeom prst="rect">
            <a:avLst/>
          </a:prstGeom>
          <a:noFill/>
          <a:ln w="9525">
            <a:noFill/>
            <a:miter lim="800000"/>
          </a:ln>
          <a:effectLst/>
        </p:spPr>
        <p:txBody>
          <a:bodyPr>
            <a:spAutoFit/>
          </a:bodyPr>
          <a:lstStyle/>
          <a:p>
            <a:pPr algn="ctr">
              <a:spcBef>
                <a:spcPct val="50000"/>
              </a:spcBef>
            </a:pPr>
            <a:r>
              <a:rPr lang="en-US" sz="1350" b="1" i="1"/>
              <a:t>x</a:t>
            </a:r>
            <a:endParaRPr lang="en-US" sz="1350"/>
          </a:p>
        </p:txBody>
      </p:sp>
      <p:sp>
        <p:nvSpPr>
          <p:cNvPr id="34" name="Text Box 13"/>
          <p:cNvSpPr txBox="1">
            <a:spLocks noChangeArrowheads="1"/>
          </p:cNvSpPr>
          <p:nvPr>
            <p:custDataLst>
              <p:tags r:id="rId8"/>
            </p:custDataLst>
          </p:nvPr>
        </p:nvSpPr>
        <p:spPr bwMode="auto">
          <a:xfrm>
            <a:off x="3603818" y="4434170"/>
            <a:ext cx="514350" cy="300082"/>
          </a:xfrm>
          <a:prstGeom prst="rect">
            <a:avLst/>
          </a:prstGeom>
          <a:noFill/>
          <a:ln w="9525">
            <a:noFill/>
            <a:miter lim="800000"/>
          </a:ln>
          <a:effectLst/>
        </p:spPr>
        <p:txBody>
          <a:bodyPr>
            <a:spAutoFit/>
          </a:bodyPr>
          <a:lstStyle/>
          <a:p>
            <a:pPr algn="ctr">
              <a:spcBef>
                <a:spcPct val="50000"/>
              </a:spcBef>
            </a:pPr>
            <a:r>
              <a:rPr lang="en-US" sz="1350" b="1" i="1"/>
              <a:t>x’</a:t>
            </a:r>
            <a:endParaRPr lang="en-US" sz="1350"/>
          </a:p>
        </p:txBody>
      </p:sp>
      <p:sp>
        <p:nvSpPr>
          <p:cNvPr id="35" name="Rectangle 14"/>
          <p:cNvSpPr>
            <a:spLocks noChangeArrowheads="1"/>
          </p:cNvSpPr>
          <p:nvPr>
            <p:custDataLst>
              <p:tags r:id="rId9"/>
            </p:custDataLst>
          </p:nvPr>
        </p:nvSpPr>
        <p:spPr bwMode="auto">
          <a:xfrm>
            <a:off x="1321561" y="4091271"/>
            <a:ext cx="102394" cy="102394"/>
          </a:xfrm>
          <a:prstGeom prst="rect">
            <a:avLst/>
          </a:prstGeom>
          <a:noFill/>
          <a:ln w="38100">
            <a:solidFill>
              <a:srgbClr val="FF0000"/>
            </a:solidFill>
            <a:miter lim="800000"/>
          </a:ln>
          <a:effectLst/>
        </p:spPr>
        <p:txBody>
          <a:bodyPr wrap="none" anchor="ctr"/>
          <a:lstStyle/>
          <a:p>
            <a:endParaRPr lang="en-US" sz="1350"/>
          </a:p>
        </p:txBody>
      </p:sp>
      <p:sp>
        <p:nvSpPr>
          <p:cNvPr id="36" name="Rectangle 15"/>
          <p:cNvSpPr>
            <a:spLocks noChangeArrowheads="1"/>
          </p:cNvSpPr>
          <p:nvPr>
            <p:custDataLst>
              <p:tags r:id="rId10"/>
            </p:custDataLst>
          </p:nvPr>
        </p:nvSpPr>
        <p:spPr bwMode="auto">
          <a:xfrm>
            <a:off x="3995705" y="4086849"/>
            <a:ext cx="102394" cy="102394"/>
          </a:xfrm>
          <a:prstGeom prst="rect">
            <a:avLst/>
          </a:prstGeom>
          <a:noFill/>
          <a:ln w="38100">
            <a:solidFill>
              <a:srgbClr val="FF0000"/>
            </a:solidFill>
            <a:miter lim="800000"/>
          </a:ln>
          <a:effectLst/>
        </p:spPr>
        <p:txBody>
          <a:bodyPr wrap="none" anchor="ctr"/>
          <a:lstStyle/>
          <a:p>
            <a:endParaRPr lang="en-US" sz="1350"/>
          </a:p>
        </p:txBody>
      </p:sp>
      <p:sp>
        <p:nvSpPr>
          <p:cNvPr id="37" name="Freeform 16"/>
          <p:cNvSpPr/>
          <p:nvPr>
            <p:custDataLst>
              <p:tags r:id="rId11"/>
            </p:custDataLst>
          </p:nvPr>
        </p:nvSpPr>
        <p:spPr bwMode="auto">
          <a:xfrm>
            <a:off x="1477362" y="3805520"/>
            <a:ext cx="2514600" cy="285750"/>
          </a:xfrm>
          <a:custGeom>
            <a:avLst/>
            <a:gdLst/>
            <a:ahLst/>
            <a:cxnLst>
              <a:cxn ang="0">
                <a:pos x="0" y="288"/>
              </a:cxn>
              <a:cxn ang="0">
                <a:pos x="1152" y="0"/>
              </a:cxn>
              <a:cxn ang="0">
                <a:pos x="2160" y="288"/>
              </a:cxn>
            </a:cxnLst>
            <a:rect l="0" t="0" r="r" b="b"/>
            <a:pathLst>
              <a:path w="2160" h="288">
                <a:moveTo>
                  <a:pt x="0" y="288"/>
                </a:moveTo>
                <a:cubicBezTo>
                  <a:pt x="396" y="144"/>
                  <a:pt x="792" y="0"/>
                  <a:pt x="1152" y="0"/>
                </a:cubicBezTo>
                <a:cubicBezTo>
                  <a:pt x="1512" y="0"/>
                  <a:pt x="1836" y="144"/>
                  <a:pt x="2160" y="288"/>
                </a:cubicBezTo>
              </a:path>
            </a:pathLst>
          </a:custGeom>
          <a:noFill/>
          <a:ln w="25400">
            <a:solidFill>
              <a:schemeClr val="accent1"/>
            </a:solidFill>
            <a:round/>
            <a:headEnd type="none" w="lg" len="lg"/>
            <a:tailEnd type="stealth" w="lg" len="lg"/>
          </a:ln>
          <a:effectLst/>
        </p:spPr>
        <p:txBody>
          <a:bodyPr/>
          <a:lstStyle/>
          <a:p>
            <a:endParaRPr lang="en-US" sz="1350"/>
          </a:p>
        </p:txBody>
      </p:sp>
      <p:sp>
        <p:nvSpPr>
          <p:cNvPr id="38" name="Text Box 17"/>
          <p:cNvSpPr txBox="1">
            <a:spLocks noChangeArrowheads="1"/>
          </p:cNvSpPr>
          <p:nvPr>
            <p:custDataLst>
              <p:tags r:id="rId12"/>
            </p:custDataLst>
          </p:nvPr>
        </p:nvSpPr>
        <p:spPr bwMode="auto">
          <a:xfrm>
            <a:off x="2107833" y="3871421"/>
            <a:ext cx="1011891" cy="300082"/>
          </a:xfrm>
          <a:prstGeom prst="rect">
            <a:avLst/>
          </a:prstGeom>
          <a:noFill/>
          <a:ln w="9525">
            <a:noFill/>
            <a:miter lim="800000"/>
          </a:ln>
          <a:effectLst/>
        </p:spPr>
        <p:txBody>
          <a:bodyPr wrap="square">
            <a:spAutoFit/>
          </a:bodyPr>
          <a:lstStyle/>
          <a:p>
            <a:pPr algn="ctr">
              <a:spcBef>
                <a:spcPct val="50000"/>
              </a:spcBef>
            </a:pPr>
            <a:r>
              <a:rPr lang="en-US" sz="1350" b="1" i="1" dirty="0"/>
              <a:t>T</a:t>
            </a:r>
            <a:r>
              <a:rPr lang="en-US" sz="1350" dirty="0"/>
              <a:t>(</a:t>
            </a:r>
            <a:r>
              <a:rPr lang="en-US" sz="1350" b="1" i="1" dirty="0" err="1"/>
              <a:t>x,y</a:t>
            </a:r>
            <a:r>
              <a:rPr lang="en-US" sz="1350" dirty="0"/>
              <a:t>)</a:t>
            </a:r>
          </a:p>
        </p:txBody>
      </p:sp>
      <p:grpSp>
        <p:nvGrpSpPr>
          <p:cNvPr id="39" name="Group 20"/>
          <p:cNvGrpSpPr/>
          <p:nvPr>
            <p:custDataLst>
              <p:tags r:id="rId13"/>
            </p:custDataLst>
          </p:nvPr>
        </p:nvGrpSpPr>
        <p:grpSpPr bwMode="auto">
          <a:xfrm>
            <a:off x="1146368" y="3919820"/>
            <a:ext cx="457200" cy="457200"/>
            <a:chOff x="1248" y="3072"/>
            <a:chExt cx="384" cy="384"/>
          </a:xfrm>
        </p:grpSpPr>
        <p:sp>
          <p:nvSpPr>
            <p:cNvPr id="40" name="Line 21"/>
            <p:cNvSpPr>
              <a:spLocks noChangeShapeType="1"/>
            </p:cNvSpPr>
            <p:nvPr>
              <p:custDataLst>
                <p:tags r:id="rId21"/>
              </p:custDataLst>
            </p:nvPr>
          </p:nvSpPr>
          <p:spPr bwMode="auto">
            <a:xfrm>
              <a:off x="1392" y="3072"/>
              <a:ext cx="0" cy="384"/>
            </a:xfrm>
            <a:prstGeom prst="line">
              <a:avLst/>
            </a:prstGeom>
            <a:noFill/>
            <a:ln w="9525">
              <a:solidFill>
                <a:schemeClr val="tx1"/>
              </a:solidFill>
              <a:round/>
            </a:ln>
            <a:effectLst/>
          </p:spPr>
          <p:txBody>
            <a:bodyPr/>
            <a:lstStyle/>
            <a:p>
              <a:endParaRPr lang="en-US" sz="1350"/>
            </a:p>
          </p:txBody>
        </p:sp>
        <p:sp>
          <p:nvSpPr>
            <p:cNvPr id="41" name="Line 22"/>
            <p:cNvSpPr>
              <a:spLocks noChangeShapeType="1"/>
            </p:cNvSpPr>
            <p:nvPr>
              <p:custDataLst>
                <p:tags r:id="rId22"/>
              </p:custDataLst>
            </p:nvPr>
          </p:nvSpPr>
          <p:spPr bwMode="auto">
            <a:xfrm>
              <a:off x="1488" y="3072"/>
              <a:ext cx="0" cy="384"/>
            </a:xfrm>
            <a:prstGeom prst="line">
              <a:avLst/>
            </a:prstGeom>
            <a:noFill/>
            <a:ln w="9525">
              <a:solidFill>
                <a:schemeClr val="tx1"/>
              </a:solidFill>
              <a:round/>
            </a:ln>
            <a:effectLst/>
          </p:spPr>
          <p:txBody>
            <a:bodyPr/>
            <a:lstStyle/>
            <a:p>
              <a:endParaRPr lang="en-US" sz="1350"/>
            </a:p>
          </p:txBody>
        </p:sp>
        <p:sp>
          <p:nvSpPr>
            <p:cNvPr id="42" name="Line 23"/>
            <p:cNvSpPr>
              <a:spLocks noChangeShapeType="1"/>
            </p:cNvSpPr>
            <p:nvPr>
              <p:custDataLst>
                <p:tags r:id="rId23"/>
              </p:custDataLst>
            </p:nvPr>
          </p:nvSpPr>
          <p:spPr bwMode="auto">
            <a:xfrm flipV="1">
              <a:off x="1248" y="3216"/>
              <a:ext cx="384" cy="0"/>
            </a:xfrm>
            <a:prstGeom prst="line">
              <a:avLst/>
            </a:prstGeom>
            <a:noFill/>
            <a:ln w="9525">
              <a:solidFill>
                <a:schemeClr val="tx1"/>
              </a:solidFill>
              <a:round/>
            </a:ln>
            <a:effectLst/>
          </p:spPr>
          <p:txBody>
            <a:bodyPr/>
            <a:lstStyle/>
            <a:p>
              <a:endParaRPr lang="en-US" sz="1350"/>
            </a:p>
          </p:txBody>
        </p:sp>
        <p:sp>
          <p:nvSpPr>
            <p:cNvPr id="43" name="Line 24"/>
            <p:cNvSpPr>
              <a:spLocks noChangeShapeType="1"/>
            </p:cNvSpPr>
            <p:nvPr>
              <p:custDataLst>
                <p:tags r:id="rId24"/>
              </p:custDataLst>
            </p:nvPr>
          </p:nvSpPr>
          <p:spPr bwMode="auto">
            <a:xfrm flipV="1">
              <a:off x="1248" y="3312"/>
              <a:ext cx="384" cy="0"/>
            </a:xfrm>
            <a:prstGeom prst="line">
              <a:avLst/>
            </a:prstGeom>
            <a:noFill/>
            <a:ln w="9525">
              <a:solidFill>
                <a:schemeClr val="tx1"/>
              </a:solidFill>
              <a:round/>
            </a:ln>
            <a:effectLst/>
          </p:spPr>
          <p:txBody>
            <a:bodyPr/>
            <a:lstStyle/>
            <a:p>
              <a:endParaRPr lang="en-US" sz="1350"/>
            </a:p>
          </p:txBody>
        </p:sp>
      </p:grpSp>
      <p:grpSp>
        <p:nvGrpSpPr>
          <p:cNvPr id="44" name="Group 25"/>
          <p:cNvGrpSpPr/>
          <p:nvPr>
            <p:custDataLst>
              <p:tags r:id="rId14"/>
            </p:custDataLst>
          </p:nvPr>
        </p:nvGrpSpPr>
        <p:grpSpPr bwMode="auto">
          <a:xfrm>
            <a:off x="3775268" y="3862670"/>
            <a:ext cx="457200" cy="457200"/>
            <a:chOff x="1248" y="3072"/>
            <a:chExt cx="384" cy="384"/>
          </a:xfrm>
        </p:grpSpPr>
        <p:sp>
          <p:nvSpPr>
            <p:cNvPr id="45" name="Line 26"/>
            <p:cNvSpPr>
              <a:spLocks noChangeShapeType="1"/>
            </p:cNvSpPr>
            <p:nvPr>
              <p:custDataLst>
                <p:tags r:id="rId17"/>
              </p:custDataLst>
            </p:nvPr>
          </p:nvSpPr>
          <p:spPr bwMode="auto">
            <a:xfrm>
              <a:off x="1392" y="3072"/>
              <a:ext cx="0" cy="384"/>
            </a:xfrm>
            <a:prstGeom prst="line">
              <a:avLst/>
            </a:prstGeom>
            <a:noFill/>
            <a:ln w="9525">
              <a:solidFill>
                <a:schemeClr val="tx1"/>
              </a:solidFill>
              <a:round/>
            </a:ln>
            <a:effectLst/>
          </p:spPr>
          <p:txBody>
            <a:bodyPr/>
            <a:lstStyle/>
            <a:p>
              <a:endParaRPr lang="en-US" sz="1350"/>
            </a:p>
          </p:txBody>
        </p:sp>
        <p:sp>
          <p:nvSpPr>
            <p:cNvPr id="46" name="Line 27"/>
            <p:cNvSpPr>
              <a:spLocks noChangeShapeType="1"/>
            </p:cNvSpPr>
            <p:nvPr>
              <p:custDataLst>
                <p:tags r:id="rId18"/>
              </p:custDataLst>
            </p:nvPr>
          </p:nvSpPr>
          <p:spPr bwMode="auto">
            <a:xfrm>
              <a:off x="1488" y="3072"/>
              <a:ext cx="0" cy="384"/>
            </a:xfrm>
            <a:prstGeom prst="line">
              <a:avLst/>
            </a:prstGeom>
            <a:noFill/>
            <a:ln w="9525">
              <a:solidFill>
                <a:schemeClr val="tx1"/>
              </a:solidFill>
              <a:round/>
            </a:ln>
            <a:effectLst/>
          </p:spPr>
          <p:txBody>
            <a:bodyPr/>
            <a:lstStyle/>
            <a:p>
              <a:endParaRPr lang="en-US" sz="1350"/>
            </a:p>
          </p:txBody>
        </p:sp>
        <p:sp>
          <p:nvSpPr>
            <p:cNvPr id="47" name="Line 28"/>
            <p:cNvSpPr>
              <a:spLocks noChangeShapeType="1"/>
            </p:cNvSpPr>
            <p:nvPr>
              <p:custDataLst>
                <p:tags r:id="rId19"/>
              </p:custDataLst>
            </p:nvPr>
          </p:nvSpPr>
          <p:spPr bwMode="auto">
            <a:xfrm flipV="1">
              <a:off x="1248" y="3216"/>
              <a:ext cx="384" cy="0"/>
            </a:xfrm>
            <a:prstGeom prst="line">
              <a:avLst/>
            </a:prstGeom>
            <a:noFill/>
            <a:ln w="9525">
              <a:solidFill>
                <a:schemeClr val="tx1"/>
              </a:solidFill>
              <a:round/>
            </a:ln>
            <a:effectLst/>
          </p:spPr>
          <p:txBody>
            <a:bodyPr/>
            <a:lstStyle/>
            <a:p>
              <a:endParaRPr lang="en-US" sz="1350"/>
            </a:p>
          </p:txBody>
        </p:sp>
        <p:sp>
          <p:nvSpPr>
            <p:cNvPr id="48" name="Line 29"/>
            <p:cNvSpPr>
              <a:spLocks noChangeShapeType="1"/>
            </p:cNvSpPr>
            <p:nvPr>
              <p:custDataLst>
                <p:tags r:id="rId20"/>
              </p:custDataLst>
            </p:nvPr>
          </p:nvSpPr>
          <p:spPr bwMode="auto">
            <a:xfrm flipV="1">
              <a:off x="1248" y="3312"/>
              <a:ext cx="384" cy="0"/>
            </a:xfrm>
            <a:prstGeom prst="line">
              <a:avLst/>
            </a:prstGeom>
            <a:noFill/>
            <a:ln w="9525">
              <a:solidFill>
                <a:schemeClr val="tx1"/>
              </a:solidFill>
              <a:round/>
            </a:ln>
            <a:effectLst/>
          </p:spPr>
          <p:txBody>
            <a:bodyPr/>
            <a:lstStyle/>
            <a:p>
              <a:endParaRPr lang="en-US" sz="1350"/>
            </a:p>
          </p:txBody>
        </p:sp>
      </p:grpSp>
      <p:sp>
        <p:nvSpPr>
          <p:cNvPr id="49" name="Text Box 14"/>
          <p:cNvSpPr txBox="1">
            <a:spLocks noChangeArrowheads="1"/>
          </p:cNvSpPr>
          <p:nvPr>
            <p:custDataLst>
              <p:tags r:id="rId15"/>
            </p:custDataLst>
          </p:nvPr>
        </p:nvSpPr>
        <p:spPr bwMode="auto">
          <a:xfrm>
            <a:off x="705497" y="3960642"/>
            <a:ext cx="514350" cy="300082"/>
          </a:xfrm>
          <a:prstGeom prst="rect">
            <a:avLst/>
          </a:prstGeom>
          <a:noFill/>
          <a:ln w="9525">
            <a:noFill/>
            <a:miter lim="800000"/>
          </a:ln>
          <a:effectLst/>
        </p:spPr>
        <p:txBody>
          <a:bodyPr>
            <a:spAutoFit/>
          </a:bodyPr>
          <a:lstStyle/>
          <a:p>
            <a:pPr algn="ctr">
              <a:spcBef>
                <a:spcPct val="50000"/>
              </a:spcBef>
            </a:pPr>
            <a:r>
              <a:rPr lang="en-US" sz="1350" b="1" i="1" dirty="0"/>
              <a:t>y</a:t>
            </a:r>
            <a:endParaRPr lang="en-US" sz="1350" dirty="0"/>
          </a:p>
        </p:txBody>
      </p:sp>
      <p:sp>
        <p:nvSpPr>
          <p:cNvPr id="50" name="Text Box 14"/>
          <p:cNvSpPr txBox="1">
            <a:spLocks noChangeArrowheads="1"/>
          </p:cNvSpPr>
          <p:nvPr>
            <p:custDataLst>
              <p:tags r:id="rId16"/>
            </p:custDataLst>
          </p:nvPr>
        </p:nvSpPr>
        <p:spPr bwMode="auto">
          <a:xfrm>
            <a:off x="3342563" y="3952477"/>
            <a:ext cx="514350" cy="300082"/>
          </a:xfrm>
          <a:prstGeom prst="rect">
            <a:avLst/>
          </a:prstGeom>
          <a:noFill/>
          <a:ln w="9525">
            <a:noFill/>
            <a:miter lim="800000"/>
          </a:ln>
          <a:effectLst/>
        </p:spPr>
        <p:txBody>
          <a:bodyPr>
            <a:spAutoFit/>
          </a:bodyPr>
          <a:lstStyle/>
          <a:p>
            <a:pPr algn="ctr">
              <a:spcBef>
                <a:spcPct val="50000"/>
              </a:spcBef>
            </a:pPr>
            <a:r>
              <a:rPr lang="en-US" sz="1350" b="1" i="1" dirty="0"/>
              <a:t>y’</a:t>
            </a:r>
            <a:endParaRPr lang="en-US" sz="1350" dirty="0"/>
          </a:p>
        </p:txBody>
      </p:sp>
      <p:pic>
        <p:nvPicPr>
          <p:cNvPr id="353282" name="Picture 2"/>
          <p:cNvPicPr>
            <a:picLocks noChangeAspect="1" noChangeArrowheads="1"/>
          </p:cNvPicPr>
          <p:nvPr/>
        </p:nvPicPr>
        <p:blipFill>
          <a:blip r:embed="rId31">
            <a:extLst>
              <a:ext uri="{28A0092B-C50C-407E-A947-70E740481C1C}">
                <a14:useLocalDpi xmlns:a14="http://schemas.microsoft.com/office/drawing/2010/main" val="0"/>
              </a:ext>
            </a:extLst>
          </a:blip>
          <a:srcRect/>
          <a:stretch>
            <a:fillRect/>
          </a:stretch>
        </p:blipFill>
        <p:spPr bwMode="auto">
          <a:xfrm>
            <a:off x="4529984" y="3411424"/>
            <a:ext cx="1906115" cy="181689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53283" name="Picture 3"/>
          <p:cNvPicPr>
            <a:picLocks noChangeAspect="1" noChangeArrowheads="1"/>
          </p:cNvPicPr>
          <p:nvPr/>
        </p:nvPicPr>
        <p:blipFill>
          <a:blip r:embed="rId32">
            <a:extLst>
              <a:ext uri="{28A0092B-C50C-407E-A947-70E740481C1C}">
                <a14:useLocalDpi xmlns:a14="http://schemas.microsoft.com/office/drawing/2010/main" val="0"/>
              </a:ext>
            </a:extLst>
          </a:blip>
          <a:srcRect/>
          <a:stretch>
            <a:fillRect/>
          </a:stretch>
        </p:blipFill>
        <p:spPr bwMode="auto">
          <a:xfrm>
            <a:off x="6555790" y="3411424"/>
            <a:ext cx="1856390" cy="181689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5508" name="Picture 4" descr="HHHIMG_1166"/>
          <p:cNvPicPr>
            <a:picLocks noChangeAspect="1" noChangeArrowheads="1"/>
          </p:cNvPicPr>
          <p:nvPr>
            <p:custDataLst>
              <p:tags r:id="rId1"/>
            </p:custDataLst>
          </p:nvPr>
        </p:nvPicPr>
        <p:blipFill>
          <a:blip r:embed="rId22" cstate="print"/>
          <a:srcRect/>
          <a:stretch>
            <a:fillRect/>
          </a:stretch>
        </p:blipFill>
        <p:spPr bwMode="auto">
          <a:xfrm>
            <a:off x="2501154" y="2944911"/>
            <a:ext cx="1645444" cy="1232297"/>
          </a:xfrm>
          <a:prstGeom prst="rect">
            <a:avLst/>
          </a:prstGeom>
          <a:noFill/>
        </p:spPr>
      </p:pic>
      <p:pic>
        <p:nvPicPr>
          <p:cNvPr id="405509" name="Picture 5" descr="rotated"/>
          <p:cNvPicPr>
            <a:picLocks noChangeAspect="1" noChangeArrowheads="1"/>
          </p:cNvPicPr>
          <p:nvPr>
            <p:custDataLst>
              <p:tags r:id="rId2"/>
            </p:custDataLst>
          </p:nvPr>
        </p:nvPicPr>
        <p:blipFill>
          <a:blip r:embed="rId23" cstate="print"/>
          <a:srcRect/>
          <a:stretch>
            <a:fillRect/>
          </a:stretch>
        </p:blipFill>
        <p:spPr bwMode="auto">
          <a:xfrm>
            <a:off x="5099098" y="2830609"/>
            <a:ext cx="1974056" cy="1585913"/>
          </a:xfrm>
          <a:prstGeom prst="rect">
            <a:avLst/>
          </a:prstGeom>
          <a:noFill/>
        </p:spPr>
      </p:pic>
      <p:sp>
        <p:nvSpPr>
          <p:cNvPr id="405510" name="Text Box 6"/>
          <p:cNvSpPr txBox="1">
            <a:spLocks noChangeArrowheads="1"/>
          </p:cNvSpPr>
          <p:nvPr>
            <p:custDataLst>
              <p:tags r:id="rId3"/>
            </p:custDataLst>
          </p:nvPr>
        </p:nvSpPr>
        <p:spPr bwMode="auto">
          <a:xfrm>
            <a:off x="3015503" y="4316509"/>
            <a:ext cx="756397" cy="300082"/>
          </a:xfrm>
          <a:prstGeom prst="rect">
            <a:avLst/>
          </a:prstGeom>
          <a:noFill/>
          <a:ln w="9525">
            <a:noFill/>
            <a:miter lim="800000"/>
          </a:ln>
          <a:effectLst/>
        </p:spPr>
        <p:txBody>
          <a:bodyPr wrap="square">
            <a:spAutoFit/>
          </a:bodyPr>
          <a:lstStyle/>
          <a:p>
            <a:pPr algn="ctr">
              <a:spcBef>
                <a:spcPct val="50000"/>
              </a:spcBef>
            </a:pPr>
            <a:r>
              <a:rPr lang="en-US" sz="1350" b="1" i="1" dirty="0"/>
              <a:t>f</a:t>
            </a:r>
            <a:r>
              <a:rPr lang="en-US" sz="1350" dirty="0"/>
              <a:t>(</a:t>
            </a:r>
            <a:r>
              <a:rPr lang="en-US" sz="1350" b="1" i="1" dirty="0" err="1"/>
              <a:t>x,y</a:t>
            </a:r>
            <a:r>
              <a:rPr lang="en-US" sz="1350" dirty="0"/>
              <a:t>)</a:t>
            </a:r>
          </a:p>
        </p:txBody>
      </p:sp>
      <p:sp>
        <p:nvSpPr>
          <p:cNvPr id="405511" name="Text Box 7"/>
          <p:cNvSpPr txBox="1">
            <a:spLocks noChangeArrowheads="1"/>
          </p:cNvSpPr>
          <p:nvPr>
            <p:custDataLst>
              <p:tags r:id="rId4"/>
            </p:custDataLst>
          </p:nvPr>
        </p:nvSpPr>
        <p:spPr bwMode="auto">
          <a:xfrm>
            <a:off x="5415804" y="4316509"/>
            <a:ext cx="1048870" cy="300082"/>
          </a:xfrm>
          <a:prstGeom prst="rect">
            <a:avLst/>
          </a:prstGeom>
          <a:noFill/>
          <a:ln w="9525">
            <a:noFill/>
            <a:miter lim="800000"/>
          </a:ln>
          <a:effectLst/>
        </p:spPr>
        <p:txBody>
          <a:bodyPr wrap="square">
            <a:spAutoFit/>
          </a:bodyPr>
          <a:lstStyle/>
          <a:p>
            <a:pPr algn="ctr">
              <a:spcBef>
                <a:spcPct val="50000"/>
              </a:spcBef>
            </a:pPr>
            <a:r>
              <a:rPr lang="en-US" sz="1350" b="1" i="1" dirty="0"/>
              <a:t>g</a:t>
            </a:r>
            <a:r>
              <a:rPr lang="en-US" sz="1350" dirty="0"/>
              <a:t>(</a:t>
            </a:r>
            <a:r>
              <a:rPr lang="en-US" sz="1350" b="1" i="1" dirty="0" err="1"/>
              <a:t>x’,y</a:t>
            </a:r>
            <a:r>
              <a:rPr lang="en-US" sz="1350" b="1" i="1" dirty="0"/>
              <a:t>’</a:t>
            </a:r>
            <a:r>
              <a:rPr lang="en-US" sz="1350" dirty="0"/>
              <a:t>)</a:t>
            </a:r>
          </a:p>
        </p:txBody>
      </p:sp>
      <p:grpSp>
        <p:nvGrpSpPr>
          <p:cNvPr id="2" name="Group 8"/>
          <p:cNvGrpSpPr/>
          <p:nvPr>
            <p:custDataLst>
              <p:tags r:id="rId5"/>
            </p:custDataLst>
          </p:nvPr>
        </p:nvGrpSpPr>
        <p:grpSpPr bwMode="auto">
          <a:xfrm>
            <a:off x="2386853" y="3973610"/>
            <a:ext cx="285750" cy="285750"/>
            <a:chOff x="1104" y="3312"/>
            <a:chExt cx="240" cy="240"/>
          </a:xfrm>
        </p:grpSpPr>
        <p:sp>
          <p:nvSpPr>
            <p:cNvPr id="405513" name="Line 9"/>
            <p:cNvSpPr>
              <a:spLocks noChangeShapeType="1"/>
            </p:cNvSpPr>
            <p:nvPr>
              <p:custDataLst>
                <p:tags r:id="rId18"/>
              </p:custDataLst>
            </p:nvPr>
          </p:nvSpPr>
          <p:spPr bwMode="auto">
            <a:xfrm flipV="1">
              <a:off x="1104" y="3312"/>
              <a:ext cx="0" cy="240"/>
            </a:xfrm>
            <a:prstGeom prst="line">
              <a:avLst/>
            </a:prstGeom>
            <a:noFill/>
            <a:ln w="19050">
              <a:solidFill>
                <a:schemeClr val="tx1"/>
              </a:solidFill>
              <a:round/>
              <a:tailEnd type="triangle" w="med" len="lg"/>
            </a:ln>
            <a:effectLst/>
          </p:spPr>
          <p:txBody>
            <a:bodyPr/>
            <a:lstStyle/>
            <a:p>
              <a:endParaRPr lang="en-US" sz="1350"/>
            </a:p>
          </p:txBody>
        </p:sp>
        <p:sp>
          <p:nvSpPr>
            <p:cNvPr id="405514" name="Line 10"/>
            <p:cNvSpPr>
              <a:spLocks noChangeShapeType="1"/>
            </p:cNvSpPr>
            <p:nvPr>
              <p:custDataLst>
                <p:tags r:id="rId19"/>
              </p:custDataLst>
            </p:nvPr>
          </p:nvSpPr>
          <p:spPr bwMode="auto">
            <a:xfrm flipV="1">
              <a:off x="1104" y="3552"/>
              <a:ext cx="240" cy="0"/>
            </a:xfrm>
            <a:prstGeom prst="line">
              <a:avLst/>
            </a:prstGeom>
            <a:noFill/>
            <a:ln w="19050">
              <a:solidFill>
                <a:schemeClr val="tx1"/>
              </a:solidFill>
              <a:round/>
              <a:tailEnd type="triangle" w="med" len="lg"/>
            </a:ln>
            <a:effectLst/>
          </p:spPr>
          <p:txBody>
            <a:bodyPr/>
            <a:lstStyle/>
            <a:p>
              <a:endParaRPr lang="en-US" sz="1350"/>
            </a:p>
          </p:txBody>
        </p:sp>
      </p:grpSp>
      <p:grpSp>
        <p:nvGrpSpPr>
          <p:cNvPr id="3" name="Group 11"/>
          <p:cNvGrpSpPr/>
          <p:nvPr>
            <p:custDataLst>
              <p:tags r:id="rId6"/>
            </p:custDataLst>
          </p:nvPr>
        </p:nvGrpSpPr>
        <p:grpSpPr bwMode="auto">
          <a:xfrm>
            <a:off x="5015753" y="3973610"/>
            <a:ext cx="285750" cy="285750"/>
            <a:chOff x="1104" y="3312"/>
            <a:chExt cx="240" cy="240"/>
          </a:xfrm>
        </p:grpSpPr>
        <p:sp>
          <p:nvSpPr>
            <p:cNvPr id="405516" name="Line 12"/>
            <p:cNvSpPr>
              <a:spLocks noChangeShapeType="1"/>
            </p:cNvSpPr>
            <p:nvPr>
              <p:custDataLst>
                <p:tags r:id="rId16"/>
              </p:custDataLst>
            </p:nvPr>
          </p:nvSpPr>
          <p:spPr bwMode="auto">
            <a:xfrm flipV="1">
              <a:off x="1104" y="3312"/>
              <a:ext cx="0" cy="240"/>
            </a:xfrm>
            <a:prstGeom prst="line">
              <a:avLst/>
            </a:prstGeom>
            <a:noFill/>
            <a:ln w="19050">
              <a:solidFill>
                <a:schemeClr val="tx1"/>
              </a:solidFill>
              <a:round/>
              <a:tailEnd type="triangle" w="med" len="lg"/>
            </a:ln>
            <a:effectLst/>
          </p:spPr>
          <p:txBody>
            <a:bodyPr/>
            <a:lstStyle/>
            <a:p>
              <a:endParaRPr lang="en-US" sz="1350"/>
            </a:p>
          </p:txBody>
        </p:sp>
        <p:sp>
          <p:nvSpPr>
            <p:cNvPr id="405517" name="Line 13"/>
            <p:cNvSpPr>
              <a:spLocks noChangeShapeType="1"/>
            </p:cNvSpPr>
            <p:nvPr>
              <p:custDataLst>
                <p:tags r:id="rId17"/>
              </p:custDataLst>
            </p:nvPr>
          </p:nvSpPr>
          <p:spPr bwMode="auto">
            <a:xfrm flipV="1">
              <a:off x="1104" y="3552"/>
              <a:ext cx="240" cy="0"/>
            </a:xfrm>
            <a:prstGeom prst="line">
              <a:avLst/>
            </a:prstGeom>
            <a:noFill/>
            <a:ln w="19050">
              <a:solidFill>
                <a:schemeClr val="tx1"/>
              </a:solidFill>
              <a:round/>
              <a:tailEnd type="triangle" w="med" len="lg"/>
            </a:ln>
            <a:effectLst/>
          </p:spPr>
          <p:txBody>
            <a:bodyPr/>
            <a:lstStyle/>
            <a:p>
              <a:endParaRPr lang="en-US" sz="1350"/>
            </a:p>
          </p:txBody>
        </p:sp>
      </p:grpSp>
      <p:sp>
        <p:nvSpPr>
          <p:cNvPr id="405518" name="Text Box 14"/>
          <p:cNvSpPr txBox="1">
            <a:spLocks noChangeArrowheads="1"/>
          </p:cNvSpPr>
          <p:nvPr>
            <p:custDataLst>
              <p:tags r:id="rId7"/>
            </p:custDataLst>
          </p:nvPr>
        </p:nvSpPr>
        <p:spPr bwMode="auto">
          <a:xfrm>
            <a:off x="2386853" y="4202209"/>
            <a:ext cx="514350" cy="300082"/>
          </a:xfrm>
          <a:prstGeom prst="rect">
            <a:avLst/>
          </a:prstGeom>
          <a:noFill/>
          <a:ln w="9525">
            <a:noFill/>
            <a:miter lim="800000"/>
          </a:ln>
          <a:effectLst/>
        </p:spPr>
        <p:txBody>
          <a:bodyPr>
            <a:spAutoFit/>
          </a:bodyPr>
          <a:lstStyle/>
          <a:p>
            <a:pPr algn="ctr">
              <a:spcBef>
                <a:spcPct val="50000"/>
              </a:spcBef>
            </a:pPr>
            <a:r>
              <a:rPr lang="en-US" sz="1350" b="1" i="1"/>
              <a:t>x</a:t>
            </a:r>
            <a:endParaRPr lang="en-US" sz="1350"/>
          </a:p>
        </p:txBody>
      </p:sp>
      <p:sp>
        <p:nvSpPr>
          <p:cNvPr id="405519" name="Text Box 15"/>
          <p:cNvSpPr txBox="1">
            <a:spLocks noChangeArrowheads="1"/>
          </p:cNvSpPr>
          <p:nvPr>
            <p:custDataLst>
              <p:tags r:id="rId8"/>
            </p:custDataLst>
          </p:nvPr>
        </p:nvSpPr>
        <p:spPr bwMode="auto">
          <a:xfrm>
            <a:off x="5015753" y="4202209"/>
            <a:ext cx="514350" cy="300082"/>
          </a:xfrm>
          <a:prstGeom prst="rect">
            <a:avLst/>
          </a:prstGeom>
          <a:noFill/>
          <a:ln w="9525">
            <a:noFill/>
            <a:miter lim="800000"/>
          </a:ln>
          <a:effectLst/>
        </p:spPr>
        <p:txBody>
          <a:bodyPr>
            <a:spAutoFit/>
          </a:bodyPr>
          <a:lstStyle/>
          <a:p>
            <a:pPr algn="ctr">
              <a:spcBef>
                <a:spcPct val="50000"/>
              </a:spcBef>
            </a:pPr>
            <a:r>
              <a:rPr lang="en-US" sz="1350" b="1" i="1"/>
              <a:t>x’</a:t>
            </a:r>
            <a:endParaRPr lang="en-US" sz="1350"/>
          </a:p>
        </p:txBody>
      </p:sp>
      <p:sp>
        <p:nvSpPr>
          <p:cNvPr id="405520" name="Rectangle 16"/>
          <p:cNvSpPr>
            <a:spLocks noChangeArrowheads="1"/>
          </p:cNvSpPr>
          <p:nvPr>
            <p:custDataLst>
              <p:tags r:id="rId9"/>
            </p:custDataLst>
          </p:nvPr>
        </p:nvSpPr>
        <p:spPr bwMode="auto">
          <a:xfrm>
            <a:off x="2741661" y="3859311"/>
            <a:ext cx="102394" cy="102394"/>
          </a:xfrm>
          <a:prstGeom prst="rect">
            <a:avLst/>
          </a:prstGeom>
          <a:noFill/>
          <a:ln w="38100">
            <a:solidFill>
              <a:srgbClr val="FF0000"/>
            </a:solidFill>
            <a:miter lim="800000"/>
          </a:ln>
          <a:effectLst>
            <a:outerShdw blurRad="444500" sx="168000" sy="168000" algn="ctr" rotWithShape="0">
              <a:prstClr val="black"/>
            </a:outerShdw>
          </a:effectLst>
        </p:spPr>
        <p:txBody>
          <a:bodyPr wrap="none" anchor="ctr"/>
          <a:lstStyle/>
          <a:p>
            <a:endParaRPr lang="en-US" sz="1350"/>
          </a:p>
        </p:txBody>
      </p:sp>
      <p:sp>
        <p:nvSpPr>
          <p:cNvPr id="405521" name="Rectangle 17"/>
          <p:cNvSpPr>
            <a:spLocks noChangeArrowheads="1"/>
          </p:cNvSpPr>
          <p:nvPr>
            <p:custDataLst>
              <p:tags r:id="rId10"/>
            </p:custDataLst>
          </p:nvPr>
        </p:nvSpPr>
        <p:spPr bwMode="auto">
          <a:xfrm>
            <a:off x="5415804" y="3871217"/>
            <a:ext cx="102394" cy="102394"/>
          </a:xfrm>
          <a:prstGeom prst="rect">
            <a:avLst/>
          </a:prstGeom>
          <a:noFill/>
          <a:ln w="38100">
            <a:solidFill>
              <a:srgbClr val="FF0000"/>
            </a:solidFill>
            <a:miter lim="800000"/>
          </a:ln>
          <a:effectLst>
            <a:outerShdw blurRad="444500" sx="168000" sy="168000" algn="ctr" rotWithShape="0">
              <a:prstClr val="black"/>
            </a:outerShdw>
          </a:effectLst>
        </p:spPr>
        <p:txBody>
          <a:bodyPr wrap="none" anchor="ctr"/>
          <a:lstStyle/>
          <a:p>
            <a:endParaRPr lang="en-US" sz="1350"/>
          </a:p>
        </p:txBody>
      </p:sp>
      <p:sp>
        <p:nvSpPr>
          <p:cNvPr id="405522" name="Freeform 18"/>
          <p:cNvSpPr/>
          <p:nvPr>
            <p:custDataLst>
              <p:tags r:id="rId11"/>
            </p:custDataLst>
          </p:nvPr>
        </p:nvSpPr>
        <p:spPr bwMode="auto">
          <a:xfrm>
            <a:off x="2889297" y="3573560"/>
            <a:ext cx="2514600" cy="285750"/>
          </a:xfrm>
          <a:custGeom>
            <a:avLst/>
            <a:gdLst/>
            <a:ahLst/>
            <a:cxnLst>
              <a:cxn ang="0">
                <a:pos x="0" y="288"/>
              </a:cxn>
              <a:cxn ang="0">
                <a:pos x="1152" y="0"/>
              </a:cxn>
              <a:cxn ang="0">
                <a:pos x="2160" y="288"/>
              </a:cxn>
            </a:cxnLst>
            <a:rect l="0" t="0" r="r" b="b"/>
            <a:pathLst>
              <a:path w="2160" h="288">
                <a:moveTo>
                  <a:pt x="0" y="288"/>
                </a:moveTo>
                <a:cubicBezTo>
                  <a:pt x="396" y="144"/>
                  <a:pt x="792" y="0"/>
                  <a:pt x="1152" y="0"/>
                </a:cubicBezTo>
                <a:cubicBezTo>
                  <a:pt x="1512" y="0"/>
                  <a:pt x="1836" y="144"/>
                  <a:pt x="2160" y="288"/>
                </a:cubicBezTo>
              </a:path>
            </a:pathLst>
          </a:custGeom>
          <a:noFill/>
          <a:ln w="57150">
            <a:solidFill>
              <a:schemeClr val="accent6"/>
            </a:solidFill>
            <a:round/>
            <a:headEnd type="triangle" w="lg" len="lg"/>
            <a:tailEnd type="none" w="lg" len="lg"/>
          </a:ln>
          <a:effectLst/>
        </p:spPr>
        <p:txBody>
          <a:bodyPr/>
          <a:lstStyle/>
          <a:p>
            <a:endParaRPr lang="en-US" sz="1350"/>
          </a:p>
        </p:txBody>
      </p:sp>
      <p:sp>
        <p:nvSpPr>
          <p:cNvPr id="405523" name="Text Box 19"/>
          <p:cNvSpPr txBox="1">
            <a:spLocks noChangeArrowheads="1"/>
          </p:cNvSpPr>
          <p:nvPr>
            <p:custDataLst>
              <p:tags r:id="rId12"/>
            </p:custDataLst>
          </p:nvPr>
        </p:nvSpPr>
        <p:spPr bwMode="auto">
          <a:xfrm>
            <a:off x="4268742" y="3156700"/>
            <a:ext cx="830356" cy="300082"/>
          </a:xfrm>
          <a:prstGeom prst="rect">
            <a:avLst/>
          </a:prstGeom>
          <a:noFill/>
          <a:ln w="9525">
            <a:noFill/>
            <a:miter lim="800000"/>
          </a:ln>
          <a:effectLst/>
        </p:spPr>
        <p:txBody>
          <a:bodyPr wrap="square">
            <a:spAutoFit/>
          </a:bodyPr>
          <a:lstStyle/>
          <a:p>
            <a:pPr algn="ctr">
              <a:spcBef>
                <a:spcPct val="50000"/>
              </a:spcBef>
            </a:pPr>
            <a:r>
              <a:rPr lang="en-US" sz="1350" b="1" i="1" dirty="0"/>
              <a:t>T</a:t>
            </a:r>
            <a:r>
              <a:rPr lang="en-US" sz="1350" baseline="30000" dirty="0"/>
              <a:t>-1</a:t>
            </a:r>
            <a:r>
              <a:rPr lang="en-US" sz="1350" dirty="0"/>
              <a:t>(</a:t>
            </a:r>
            <a:r>
              <a:rPr lang="en-US" sz="1350" b="1" i="1" dirty="0" err="1"/>
              <a:t>x,y</a:t>
            </a:r>
            <a:r>
              <a:rPr lang="en-US" sz="1350" dirty="0"/>
              <a:t>)</a:t>
            </a:r>
          </a:p>
        </p:txBody>
      </p:sp>
      <p:sp>
        <p:nvSpPr>
          <p:cNvPr id="24" name="Text Box 14"/>
          <p:cNvSpPr txBox="1">
            <a:spLocks noChangeArrowheads="1"/>
          </p:cNvSpPr>
          <p:nvPr>
            <p:custDataLst>
              <p:tags r:id="rId13"/>
            </p:custDataLst>
          </p:nvPr>
        </p:nvSpPr>
        <p:spPr bwMode="auto">
          <a:xfrm>
            <a:off x="2117432" y="3728681"/>
            <a:ext cx="514350" cy="300082"/>
          </a:xfrm>
          <a:prstGeom prst="rect">
            <a:avLst/>
          </a:prstGeom>
          <a:noFill/>
          <a:ln w="9525">
            <a:noFill/>
            <a:miter lim="800000"/>
          </a:ln>
          <a:effectLst/>
        </p:spPr>
        <p:txBody>
          <a:bodyPr>
            <a:spAutoFit/>
          </a:bodyPr>
          <a:lstStyle/>
          <a:p>
            <a:pPr algn="ctr">
              <a:spcBef>
                <a:spcPct val="50000"/>
              </a:spcBef>
            </a:pPr>
            <a:r>
              <a:rPr lang="en-US" sz="1350" b="1" i="1" dirty="0"/>
              <a:t>y</a:t>
            </a:r>
            <a:endParaRPr lang="en-US" sz="1350" dirty="0"/>
          </a:p>
        </p:txBody>
      </p:sp>
      <p:sp>
        <p:nvSpPr>
          <p:cNvPr id="25" name="Text Box 14"/>
          <p:cNvSpPr txBox="1">
            <a:spLocks noChangeArrowheads="1"/>
          </p:cNvSpPr>
          <p:nvPr>
            <p:custDataLst>
              <p:tags r:id="rId14"/>
            </p:custDataLst>
          </p:nvPr>
        </p:nvSpPr>
        <p:spPr bwMode="auto">
          <a:xfrm>
            <a:off x="4754498" y="3720516"/>
            <a:ext cx="514350" cy="300082"/>
          </a:xfrm>
          <a:prstGeom prst="rect">
            <a:avLst/>
          </a:prstGeom>
          <a:noFill/>
          <a:ln w="9525">
            <a:noFill/>
            <a:miter lim="800000"/>
          </a:ln>
          <a:effectLst/>
        </p:spPr>
        <p:txBody>
          <a:bodyPr>
            <a:spAutoFit/>
          </a:bodyPr>
          <a:lstStyle/>
          <a:p>
            <a:pPr algn="ctr">
              <a:spcBef>
                <a:spcPct val="50000"/>
              </a:spcBef>
            </a:pPr>
            <a:r>
              <a:rPr lang="en-US" sz="1350" b="1" i="1" dirty="0"/>
              <a:t>y’</a:t>
            </a:r>
            <a:endParaRPr lang="en-US" sz="1350" dirty="0"/>
          </a:p>
        </p:txBody>
      </p:sp>
      <p:sp>
        <p:nvSpPr>
          <p:cNvPr id="26" name="Rectangle 2"/>
          <p:cNvSpPr>
            <a:spLocks noGrp="1" noChangeArrowheads="1"/>
          </p:cNvSpPr>
          <p:nvPr>
            <p:ph type="title"/>
            <p:custDataLst>
              <p:tags r:id="rId15"/>
            </p:custDataLst>
          </p:nvPr>
        </p:nvSpPr>
        <p:spPr>
          <a:xfrm>
            <a:off x="457200" y="1063229"/>
            <a:ext cx="8229600" cy="857250"/>
          </a:xfrm>
        </p:spPr>
        <p:txBody>
          <a:bodyPr/>
          <a:lstStyle/>
          <a:p>
            <a:r>
              <a:rPr lang="zh-CN" altLang="en-US" dirty="0"/>
              <a:t>几何形变的实现：反向变形</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55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2" fill="hold" grpId="0" nodeType="clickEffect">
                                  <p:stCondLst>
                                    <p:cond delay="0"/>
                                  </p:stCondLst>
                                  <p:childTnLst>
                                    <p:set>
                                      <p:cBhvr>
                                        <p:cTn id="10" dur="1" fill="hold">
                                          <p:stCondLst>
                                            <p:cond delay="0"/>
                                          </p:stCondLst>
                                        </p:cTn>
                                        <p:tgtEl>
                                          <p:spTgt spid="405522"/>
                                        </p:tgtEl>
                                        <p:attrNameLst>
                                          <p:attrName>style.visibility</p:attrName>
                                        </p:attrNameLst>
                                      </p:cBhvr>
                                      <p:to>
                                        <p:strVal val="visible"/>
                                      </p:to>
                                    </p:set>
                                    <p:animEffect transition="in" filter="wipe(right)">
                                      <p:cBhvr>
                                        <p:cTn id="11" dur="500"/>
                                        <p:tgtEl>
                                          <p:spTgt spid="405522"/>
                                        </p:tgtEl>
                                      </p:cBhvr>
                                    </p:animEffect>
                                  </p:childTnLst>
                                </p:cTn>
                              </p:par>
                            </p:childTnLst>
                          </p:cTn>
                        </p:par>
                        <p:par>
                          <p:cTn id="12" fill="hold">
                            <p:stCondLst>
                              <p:cond delay="500"/>
                            </p:stCondLst>
                            <p:childTnLst>
                              <p:par>
                                <p:cTn id="13" presetID="1" presetClass="entr" presetSubtype="0" fill="hold" grpId="0" nodeType="afterEffect">
                                  <p:stCondLst>
                                    <p:cond delay="0"/>
                                  </p:stCondLst>
                                  <p:childTnLst>
                                    <p:set>
                                      <p:cBhvr>
                                        <p:cTn id="14" dur="1" fill="hold">
                                          <p:stCondLst>
                                            <p:cond delay="0"/>
                                          </p:stCondLst>
                                        </p:cTn>
                                        <p:tgtEl>
                                          <p:spTgt spid="4055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5520" grpId="0" animBg="1"/>
      <p:bldP spid="405521" grpId="0" animBg="1"/>
      <p:bldP spid="40552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534" name="Text Box 6"/>
          <p:cNvSpPr txBox="1">
            <a:spLocks noChangeArrowheads="1"/>
          </p:cNvSpPr>
          <p:nvPr>
            <p:custDataLst>
              <p:tags r:id="rId1"/>
            </p:custDataLst>
          </p:nvPr>
        </p:nvSpPr>
        <p:spPr bwMode="auto">
          <a:xfrm>
            <a:off x="1530569" y="4619067"/>
            <a:ext cx="678117" cy="300082"/>
          </a:xfrm>
          <a:prstGeom prst="rect">
            <a:avLst/>
          </a:prstGeom>
          <a:noFill/>
          <a:ln w="9525">
            <a:noFill/>
            <a:miter lim="800000"/>
          </a:ln>
          <a:effectLst/>
        </p:spPr>
        <p:txBody>
          <a:bodyPr wrap="square">
            <a:spAutoFit/>
          </a:bodyPr>
          <a:lstStyle/>
          <a:p>
            <a:pPr algn="ctr">
              <a:spcBef>
                <a:spcPct val="50000"/>
              </a:spcBef>
            </a:pPr>
            <a:r>
              <a:rPr lang="en-US" sz="1350" b="1" i="1" dirty="0"/>
              <a:t>f</a:t>
            </a:r>
            <a:r>
              <a:rPr lang="en-US" sz="1350" dirty="0"/>
              <a:t>(</a:t>
            </a:r>
            <a:r>
              <a:rPr lang="en-US" sz="1350" b="1" i="1" dirty="0" err="1"/>
              <a:t>x,y</a:t>
            </a:r>
            <a:r>
              <a:rPr lang="en-US" sz="1350" dirty="0"/>
              <a:t>)</a:t>
            </a:r>
          </a:p>
        </p:txBody>
      </p:sp>
      <p:sp>
        <p:nvSpPr>
          <p:cNvPr id="406535" name="Text Box 7"/>
          <p:cNvSpPr txBox="1">
            <a:spLocks noChangeArrowheads="1"/>
          </p:cNvSpPr>
          <p:nvPr>
            <p:custDataLst>
              <p:tags r:id="rId2"/>
            </p:custDataLst>
          </p:nvPr>
        </p:nvSpPr>
        <p:spPr bwMode="auto">
          <a:xfrm>
            <a:off x="3455130" y="4757566"/>
            <a:ext cx="1085850" cy="300082"/>
          </a:xfrm>
          <a:prstGeom prst="rect">
            <a:avLst/>
          </a:prstGeom>
          <a:noFill/>
          <a:ln w="9525">
            <a:noFill/>
            <a:miter lim="800000"/>
          </a:ln>
          <a:effectLst/>
        </p:spPr>
        <p:txBody>
          <a:bodyPr wrap="square">
            <a:spAutoFit/>
          </a:bodyPr>
          <a:lstStyle/>
          <a:p>
            <a:pPr algn="ctr">
              <a:spcBef>
                <a:spcPct val="50000"/>
              </a:spcBef>
            </a:pPr>
            <a:r>
              <a:rPr lang="en-US" sz="1350" b="1" i="1" dirty="0"/>
              <a:t>g</a:t>
            </a:r>
            <a:r>
              <a:rPr lang="en-US" sz="1350" dirty="0"/>
              <a:t>(</a:t>
            </a:r>
            <a:r>
              <a:rPr lang="en-US" sz="1350" b="1" i="1" dirty="0" err="1"/>
              <a:t>x’,y</a:t>
            </a:r>
            <a:r>
              <a:rPr lang="en-US" sz="1350" b="1" i="1" dirty="0"/>
              <a:t>’</a:t>
            </a:r>
            <a:r>
              <a:rPr lang="en-US" sz="1350" dirty="0"/>
              <a:t>)</a:t>
            </a:r>
          </a:p>
        </p:txBody>
      </p:sp>
      <p:grpSp>
        <p:nvGrpSpPr>
          <p:cNvPr id="2" name="Group 8"/>
          <p:cNvGrpSpPr/>
          <p:nvPr>
            <p:custDataLst>
              <p:tags r:id="rId3"/>
            </p:custDataLst>
          </p:nvPr>
        </p:nvGrpSpPr>
        <p:grpSpPr bwMode="auto">
          <a:xfrm>
            <a:off x="934577" y="4276167"/>
            <a:ext cx="285750" cy="285750"/>
            <a:chOff x="1104" y="3312"/>
            <a:chExt cx="240" cy="240"/>
          </a:xfrm>
        </p:grpSpPr>
        <p:sp>
          <p:nvSpPr>
            <p:cNvPr id="406537" name="Line 9"/>
            <p:cNvSpPr>
              <a:spLocks noChangeShapeType="1"/>
            </p:cNvSpPr>
            <p:nvPr>
              <p:custDataLst>
                <p:tags r:id="rId27"/>
              </p:custDataLst>
            </p:nvPr>
          </p:nvSpPr>
          <p:spPr bwMode="auto">
            <a:xfrm flipV="1">
              <a:off x="1104" y="3312"/>
              <a:ext cx="0" cy="240"/>
            </a:xfrm>
            <a:prstGeom prst="line">
              <a:avLst/>
            </a:prstGeom>
            <a:noFill/>
            <a:ln w="19050">
              <a:solidFill>
                <a:schemeClr val="tx1"/>
              </a:solidFill>
              <a:round/>
              <a:tailEnd type="triangle" w="med" len="lg"/>
            </a:ln>
            <a:effectLst/>
          </p:spPr>
          <p:txBody>
            <a:bodyPr/>
            <a:lstStyle/>
            <a:p>
              <a:endParaRPr lang="en-US" sz="1350"/>
            </a:p>
          </p:txBody>
        </p:sp>
        <p:sp>
          <p:nvSpPr>
            <p:cNvPr id="406538" name="Line 10"/>
            <p:cNvSpPr>
              <a:spLocks noChangeShapeType="1"/>
            </p:cNvSpPr>
            <p:nvPr>
              <p:custDataLst>
                <p:tags r:id="rId28"/>
              </p:custDataLst>
            </p:nvPr>
          </p:nvSpPr>
          <p:spPr bwMode="auto">
            <a:xfrm flipV="1">
              <a:off x="1104" y="3552"/>
              <a:ext cx="240" cy="0"/>
            </a:xfrm>
            <a:prstGeom prst="line">
              <a:avLst/>
            </a:prstGeom>
            <a:noFill/>
            <a:ln w="19050">
              <a:solidFill>
                <a:schemeClr val="tx1"/>
              </a:solidFill>
              <a:round/>
              <a:tailEnd type="triangle" w="med" len="lg"/>
            </a:ln>
            <a:effectLst/>
          </p:spPr>
          <p:txBody>
            <a:bodyPr/>
            <a:lstStyle/>
            <a:p>
              <a:endParaRPr lang="en-US" sz="1350"/>
            </a:p>
          </p:txBody>
        </p:sp>
      </p:grpSp>
      <p:grpSp>
        <p:nvGrpSpPr>
          <p:cNvPr id="3" name="Group 11"/>
          <p:cNvGrpSpPr/>
          <p:nvPr>
            <p:custDataLst>
              <p:tags r:id="rId4"/>
            </p:custDataLst>
          </p:nvPr>
        </p:nvGrpSpPr>
        <p:grpSpPr bwMode="auto">
          <a:xfrm>
            <a:off x="3563477" y="4276167"/>
            <a:ext cx="285750" cy="285750"/>
            <a:chOff x="1104" y="3312"/>
            <a:chExt cx="240" cy="240"/>
          </a:xfrm>
        </p:grpSpPr>
        <p:sp>
          <p:nvSpPr>
            <p:cNvPr id="406540" name="Line 12"/>
            <p:cNvSpPr>
              <a:spLocks noChangeShapeType="1"/>
            </p:cNvSpPr>
            <p:nvPr>
              <p:custDataLst>
                <p:tags r:id="rId25"/>
              </p:custDataLst>
            </p:nvPr>
          </p:nvSpPr>
          <p:spPr bwMode="auto">
            <a:xfrm flipV="1">
              <a:off x="1104" y="3312"/>
              <a:ext cx="0" cy="240"/>
            </a:xfrm>
            <a:prstGeom prst="line">
              <a:avLst/>
            </a:prstGeom>
            <a:noFill/>
            <a:ln w="19050">
              <a:solidFill>
                <a:schemeClr val="tx1"/>
              </a:solidFill>
              <a:round/>
              <a:tailEnd type="triangle" w="med" len="lg"/>
            </a:ln>
            <a:effectLst/>
          </p:spPr>
          <p:txBody>
            <a:bodyPr/>
            <a:lstStyle/>
            <a:p>
              <a:endParaRPr lang="en-US" sz="1350"/>
            </a:p>
          </p:txBody>
        </p:sp>
        <p:sp>
          <p:nvSpPr>
            <p:cNvPr id="406541" name="Line 13"/>
            <p:cNvSpPr>
              <a:spLocks noChangeShapeType="1"/>
            </p:cNvSpPr>
            <p:nvPr>
              <p:custDataLst>
                <p:tags r:id="rId26"/>
              </p:custDataLst>
            </p:nvPr>
          </p:nvSpPr>
          <p:spPr bwMode="auto">
            <a:xfrm flipV="1">
              <a:off x="1104" y="3552"/>
              <a:ext cx="240" cy="0"/>
            </a:xfrm>
            <a:prstGeom prst="line">
              <a:avLst/>
            </a:prstGeom>
            <a:noFill/>
            <a:ln w="19050">
              <a:solidFill>
                <a:schemeClr val="tx1"/>
              </a:solidFill>
              <a:round/>
              <a:tailEnd type="triangle" w="med" len="lg"/>
            </a:ln>
            <a:effectLst/>
          </p:spPr>
          <p:txBody>
            <a:bodyPr/>
            <a:lstStyle/>
            <a:p>
              <a:endParaRPr lang="en-US" sz="1350"/>
            </a:p>
          </p:txBody>
        </p:sp>
      </p:grpSp>
      <p:sp>
        <p:nvSpPr>
          <p:cNvPr id="406542" name="Text Box 14"/>
          <p:cNvSpPr txBox="1">
            <a:spLocks noChangeArrowheads="1"/>
          </p:cNvSpPr>
          <p:nvPr>
            <p:custDataLst>
              <p:tags r:id="rId5"/>
            </p:custDataLst>
          </p:nvPr>
        </p:nvSpPr>
        <p:spPr bwMode="auto">
          <a:xfrm>
            <a:off x="934577" y="4504767"/>
            <a:ext cx="514350" cy="300082"/>
          </a:xfrm>
          <a:prstGeom prst="rect">
            <a:avLst/>
          </a:prstGeom>
          <a:noFill/>
          <a:ln w="9525">
            <a:noFill/>
            <a:miter lim="800000"/>
          </a:ln>
          <a:effectLst/>
        </p:spPr>
        <p:txBody>
          <a:bodyPr>
            <a:spAutoFit/>
          </a:bodyPr>
          <a:lstStyle/>
          <a:p>
            <a:pPr algn="ctr">
              <a:spcBef>
                <a:spcPct val="50000"/>
              </a:spcBef>
            </a:pPr>
            <a:r>
              <a:rPr lang="en-US" sz="1350" b="1" i="1"/>
              <a:t>x</a:t>
            </a:r>
            <a:endParaRPr lang="en-US" sz="1350"/>
          </a:p>
        </p:txBody>
      </p:sp>
      <p:sp>
        <p:nvSpPr>
          <p:cNvPr id="406543" name="Text Box 15"/>
          <p:cNvSpPr txBox="1">
            <a:spLocks noChangeArrowheads="1"/>
          </p:cNvSpPr>
          <p:nvPr>
            <p:custDataLst>
              <p:tags r:id="rId6"/>
            </p:custDataLst>
          </p:nvPr>
        </p:nvSpPr>
        <p:spPr bwMode="auto">
          <a:xfrm>
            <a:off x="3563477" y="4504767"/>
            <a:ext cx="514350" cy="300082"/>
          </a:xfrm>
          <a:prstGeom prst="rect">
            <a:avLst/>
          </a:prstGeom>
          <a:noFill/>
          <a:ln w="9525">
            <a:noFill/>
            <a:miter lim="800000"/>
          </a:ln>
          <a:effectLst/>
        </p:spPr>
        <p:txBody>
          <a:bodyPr>
            <a:spAutoFit/>
          </a:bodyPr>
          <a:lstStyle/>
          <a:p>
            <a:pPr algn="ctr">
              <a:spcBef>
                <a:spcPct val="50000"/>
              </a:spcBef>
            </a:pPr>
            <a:r>
              <a:rPr lang="en-US" sz="1350" b="1" i="1"/>
              <a:t>x’</a:t>
            </a:r>
            <a:endParaRPr lang="en-US" sz="1350"/>
          </a:p>
        </p:txBody>
      </p:sp>
      <p:sp>
        <p:nvSpPr>
          <p:cNvPr id="406544" name="Rectangle 16"/>
          <p:cNvSpPr>
            <a:spLocks noChangeArrowheads="1"/>
          </p:cNvSpPr>
          <p:nvPr>
            <p:custDataLst>
              <p:tags r:id="rId7"/>
            </p:custDataLst>
          </p:nvPr>
        </p:nvSpPr>
        <p:spPr bwMode="auto">
          <a:xfrm>
            <a:off x="1273056" y="4137375"/>
            <a:ext cx="69056" cy="69056"/>
          </a:xfrm>
          <a:prstGeom prst="rect">
            <a:avLst/>
          </a:prstGeom>
          <a:solidFill>
            <a:srgbClr val="FF0000"/>
          </a:solidFill>
          <a:ln w="25400">
            <a:solidFill>
              <a:srgbClr val="FF0000"/>
            </a:solidFill>
            <a:miter lim="800000"/>
          </a:ln>
          <a:effectLst/>
        </p:spPr>
        <p:txBody>
          <a:bodyPr wrap="none" anchor="ctr"/>
          <a:lstStyle/>
          <a:p>
            <a:endParaRPr lang="en-US" sz="1350"/>
          </a:p>
        </p:txBody>
      </p:sp>
      <p:sp>
        <p:nvSpPr>
          <p:cNvPr id="406545" name="Rectangle 17"/>
          <p:cNvSpPr>
            <a:spLocks noChangeArrowheads="1"/>
          </p:cNvSpPr>
          <p:nvPr>
            <p:custDataLst>
              <p:tags r:id="rId8"/>
            </p:custDataLst>
          </p:nvPr>
        </p:nvSpPr>
        <p:spPr bwMode="auto">
          <a:xfrm>
            <a:off x="3928999" y="4128529"/>
            <a:ext cx="69056" cy="69056"/>
          </a:xfrm>
          <a:prstGeom prst="rect">
            <a:avLst/>
          </a:prstGeom>
          <a:solidFill>
            <a:srgbClr val="FF0000"/>
          </a:solidFill>
          <a:ln w="25400">
            <a:solidFill>
              <a:srgbClr val="FF0000"/>
            </a:solidFill>
            <a:miter lim="800000"/>
          </a:ln>
          <a:effectLst/>
        </p:spPr>
        <p:txBody>
          <a:bodyPr wrap="none" anchor="ctr"/>
          <a:lstStyle/>
          <a:p>
            <a:endParaRPr lang="en-US" sz="1350"/>
          </a:p>
        </p:txBody>
      </p:sp>
      <p:sp>
        <p:nvSpPr>
          <p:cNvPr id="406546" name="Freeform 18"/>
          <p:cNvSpPr/>
          <p:nvPr>
            <p:custDataLst>
              <p:tags r:id="rId9"/>
            </p:custDataLst>
          </p:nvPr>
        </p:nvSpPr>
        <p:spPr bwMode="auto">
          <a:xfrm>
            <a:off x="1437021" y="3876117"/>
            <a:ext cx="2514600" cy="285750"/>
          </a:xfrm>
          <a:custGeom>
            <a:avLst/>
            <a:gdLst/>
            <a:ahLst/>
            <a:cxnLst>
              <a:cxn ang="0">
                <a:pos x="0" y="288"/>
              </a:cxn>
              <a:cxn ang="0">
                <a:pos x="1152" y="0"/>
              </a:cxn>
              <a:cxn ang="0">
                <a:pos x="2160" y="288"/>
              </a:cxn>
            </a:cxnLst>
            <a:rect l="0" t="0" r="r" b="b"/>
            <a:pathLst>
              <a:path w="2160" h="288">
                <a:moveTo>
                  <a:pt x="0" y="288"/>
                </a:moveTo>
                <a:cubicBezTo>
                  <a:pt x="396" y="144"/>
                  <a:pt x="792" y="0"/>
                  <a:pt x="1152" y="0"/>
                </a:cubicBezTo>
                <a:cubicBezTo>
                  <a:pt x="1512" y="0"/>
                  <a:pt x="1836" y="144"/>
                  <a:pt x="2160" y="288"/>
                </a:cubicBezTo>
              </a:path>
            </a:pathLst>
          </a:custGeom>
          <a:noFill/>
          <a:ln w="25400">
            <a:solidFill>
              <a:schemeClr val="accent1"/>
            </a:solidFill>
            <a:round/>
            <a:headEnd type="triangle" w="lg" len="lg"/>
            <a:tailEnd type="none" w="lg" len="lg"/>
          </a:ln>
          <a:effectLst/>
        </p:spPr>
        <p:txBody>
          <a:bodyPr/>
          <a:lstStyle/>
          <a:p>
            <a:endParaRPr lang="en-US" sz="1350"/>
          </a:p>
        </p:txBody>
      </p:sp>
      <p:grpSp>
        <p:nvGrpSpPr>
          <p:cNvPr id="4" name="Group 19"/>
          <p:cNvGrpSpPr/>
          <p:nvPr>
            <p:custDataLst>
              <p:tags r:id="rId10"/>
            </p:custDataLst>
          </p:nvPr>
        </p:nvGrpSpPr>
        <p:grpSpPr bwMode="auto">
          <a:xfrm>
            <a:off x="1106027" y="3990417"/>
            <a:ext cx="457200" cy="457200"/>
            <a:chOff x="1248" y="3072"/>
            <a:chExt cx="384" cy="384"/>
          </a:xfrm>
        </p:grpSpPr>
        <p:sp>
          <p:nvSpPr>
            <p:cNvPr id="406548" name="Line 20"/>
            <p:cNvSpPr>
              <a:spLocks noChangeShapeType="1"/>
            </p:cNvSpPr>
            <p:nvPr>
              <p:custDataLst>
                <p:tags r:id="rId21"/>
              </p:custDataLst>
            </p:nvPr>
          </p:nvSpPr>
          <p:spPr bwMode="auto">
            <a:xfrm>
              <a:off x="1392" y="3072"/>
              <a:ext cx="0" cy="384"/>
            </a:xfrm>
            <a:prstGeom prst="line">
              <a:avLst/>
            </a:prstGeom>
            <a:noFill/>
            <a:ln w="9525">
              <a:solidFill>
                <a:schemeClr val="tx1"/>
              </a:solidFill>
              <a:round/>
            </a:ln>
            <a:effectLst/>
          </p:spPr>
          <p:txBody>
            <a:bodyPr/>
            <a:lstStyle/>
            <a:p>
              <a:endParaRPr lang="en-US" sz="1350"/>
            </a:p>
          </p:txBody>
        </p:sp>
        <p:sp>
          <p:nvSpPr>
            <p:cNvPr id="406549" name="Line 21"/>
            <p:cNvSpPr>
              <a:spLocks noChangeShapeType="1"/>
            </p:cNvSpPr>
            <p:nvPr>
              <p:custDataLst>
                <p:tags r:id="rId22"/>
              </p:custDataLst>
            </p:nvPr>
          </p:nvSpPr>
          <p:spPr bwMode="auto">
            <a:xfrm>
              <a:off x="1488" y="3072"/>
              <a:ext cx="0" cy="384"/>
            </a:xfrm>
            <a:prstGeom prst="line">
              <a:avLst/>
            </a:prstGeom>
            <a:noFill/>
            <a:ln w="9525">
              <a:solidFill>
                <a:schemeClr val="tx1"/>
              </a:solidFill>
              <a:round/>
            </a:ln>
            <a:effectLst/>
          </p:spPr>
          <p:txBody>
            <a:bodyPr/>
            <a:lstStyle/>
            <a:p>
              <a:endParaRPr lang="en-US" sz="1350"/>
            </a:p>
          </p:txBody>
        </p:sp>
        <p:sp>
          <p:nvSpPr>
            <p:cNvPr id="406550" name="Line 22"/>
            <p:cNvSpPr>
              <a:spLocks noChangeShapeType="1"/>
            </p:cNvSpPr>
            <p:nvPr>
              <p:custDataLst>
                <p:tags r:id="rId23"/>
              </p:custDataLst>
            </p:nvPr>
          </p:nvSpPr>
          <p:spPr bwMode="auto">
            <a:xfrm flipV="1">
              <a:off x="1248" y="3216"/>
              <a:ext cx="384" cy="0"/>
            </a:xfrm>
            <a:prstGeom prst="line">
              <a:avLst/>
            </a:prstGeom>
            <a:noFill/>
            <a:ln w="9525">
              <a:solidFill>
                <a:schemeClr val="tx1"/>
              </a:solidFill>
              <a:round/>
            </a:ln>
            <a:effectLst/>
          </p:spPr>
          <p:txBody>
            <a:bodyPr/>
            <a:lstStyle/>
            <a:p>
              <a:endParaRPr lang="en-US" sz="1350"/>
            </a:p>
          </p:txBody>
        </p:sp>
        <p:sp>
          <p:nvSpPr>
            <p:cNvPr id="406551" name="Line 23"/>
            <p:cNvSpPr>
              <a:spLocks noChangeShapeType="1"/>
            </p:cNvSpPr>
            <p:nvPr>
              <p:custDataLst>
                <p:tags r:id="rId24"/>
              </p:custDataLst>
            </p:nvPr>
          </p:nvSpPr>
          <p:spPr bwMode="auto">
            <a:xfrm flipV="1">
              <a:off x="1248" y="3312"/>
              <a:ext cx="384" cy="0"/>
            </a:xfrm>
            <a:prstGeom prst="line">
              <a:avLst/>
            </a:prstGeom>
            <a:noFill/>
            <a:ln w="9525">
              <a:solidFill>
                <a:schemeClr val="tx1"/>
              </a:solidFill>
              <a:round/>
            </a:ln>
            <a:effectLst/>
          </p:spPr>
          <p:txBody>
            <a:bodyPr/>
            <a:lstStyle/>
            <a:p>
              <a:endParaRPr lang="en-US" sz="1350"/>
            </a:p>
          </p:txBody>
        </p:sp>
      </p:grpSp>
      <p:grpSp>
        <p:nvGrpSpPr>
          <p:cNvPr id="5" name="Group 24"/>
          <p:cNvGrpSpPr/>
          <p:nvPr>
            <p:custDataLst>
              <p:tags r:id="rId11"/>
            </p:custDataLst>
          </p:nvPr>
        </p:nvGrpSpPr>
        <p:grpSpPr bwMode="auto">
          <a:xfrm>
            <a:off x="3734927" y="3933267"/>
            <a:ext cx="457200" cy="457200"/>
            <a:chOff x="1248" y="3072"/>
            <a:chExt cx="384" cy="384"/>
          </a:xfrm>
        </p:grpSpPr>
        <p:sp>
          <p:nvSpPr>
            <p:cNvPr id="406553" name="Line 25"/>
            <p:cNvSpPr>
              <a:spLocks noChangeShapeType="1"/>
            </p:cNvSpPr>
            <p:nvPr>
              <p:custDataLst>
                <p:tags r:id="rId17"/>
              </p:custDataLst>
            </p:nvPr>
          </p:nvSpPr>
          <p:spPr bwMode="auto">
            <a:xfrm>
              <a:off x="1392" y="3072"/>
              <a:ext cx="0" cy="384"/>
            </a:xfrm>
            <a:prstGeom prst="line">
              <a:avLst/>
            </a:prstGeom>
            <a:noFill/>
            <a:ln w="9525">
              <a:solidFill>
                <a:schemeClr val="tx1"/>
              </a:solidFill>
              <a:round/>
            </a:ln>
            <a:effectLst/>
          </p:spPr>
          <p:txBody>
            <a:bodyPr/>
            <a:lstStyle/>
            <a:p>
              <a:endParaRPr lang="en-US" sz="1350"/>
            </a:p>
          </p:txBody>
        </p:sp>
        <p:sp>
          <p:nvSpPr>
            <p:cNvPr id="406554" name="Line 26"/>
            <p:cNvSpPr>
              <a:spLocks noChangeShapeType="1"/>
            </p:cNvSpPr>
            <p:nvPr>
              <p:custDataLst>
                <p:tags r:id="rId18"/>
              </p:custDataLst>
            </p:nvPr>
          </p:nvSpPr>
          <p:spPr bwMode="auto">
            <a:xfrm>
              <a:off x="1488" y="3072"/>
              <a:ext cx="0" cy="384"/>
            </a:xfrm>
            <a:prstGeom prst="line">
              <a:avLst/>
            </a:prstGeom>
            <a:noFill/>
            <a:ln w="9525">
              <a:solidFill>
                <a:schemeClr val="tx1"/>
              </a:solidFill>
              <a:round/>
            </a:ln>
            <a:effectLst/>
          </p:spPr>
          <p:txBody>
            <a:bodyPr/>
            <a:lstStyle/>
            <a:p>
              <a:endParaRPr lang="en-US" sz="1350"/>
            </a:p>
          </p:txBody>
        </p:sp>
        <p:sp>
          <p:nvSpPr>
            <p:cNvPr id="406555" name="Line 27"/>
            <p:cNvSpPr>
              <a:spLocks noChangeShapeType="1"/>
            </p:cNvSpPr>
            <p:nvPr>
              <p:custDataLst>
                <p:tags r:id="rId19"/>
              </p:custDataLst>
            </p:nvPr>
          </p:nvSpPr>
          <p:spPr bwMode="auto">
            <a:xfrm flipV="1">
              <a:off x="1248" y="3216"/>
              <a:ext cx="384" cy="0"/>
            </a:xfrm>
            <a:prstGeom prst="line">
              <a:avLst/>
            </a:prstGeom>
            <a:noFill/>
            <a:ln w="9525">
              <a:solidFill>
                <a:schemeClr val="tx1"/>
              </a:solidFill>
              <a:round/>
            </a:ln>
            <a:effectLst/>
          </p:spPr>
          <p:txBody>
            <a:bodyPr/>
            <a:lstStyle/>
            <a:p>
              <a:endParaRPr lang="en-US" sz="1350"/>
            </a:p>
          </p:txBody>
        </p:sp>
        <p:sp>
          <p:nvSpPr>
            <p:cNvPr id="406556" name="Line 28"/>
            <p:cNvSpPr>
              <a:spLocks noChangeShapeType="1"/>
            </p:cNvSpPr>
            <p:nvPr>
              <p:custDataLst>
                <p:tags r:id="rId20"/>
              </p:custDataLst>
            </p:nvPr>
          </p:nvSpPr>
          <p:spPr bwMode="auto">
            <a:xfrm flipV="1">
              <a:off x="1248" y="3312"/>
              <a:ext cx="384" cy="0"/>
            </a:xfrm>
            <a:prstGeom prst="line">
              <a:avLst/>
            </a:prstGeom>
            <a:noFill/>
            <a:ln w="9525">
              <a:solidFill>
                <a:schemeClr val="tx1"/>
              </a:solidFill>
              <a:round/>
            </a:ln>
            <a:effectLst/>
          </p:spPr>
          <p:txBody>
            <a:bodyPr/>
            <a:lstStyle/>
            <a:p>
              <a:endParaRPr lang="en-US" sz="1350"/>
            </a:p>
          </p:txBody>
        </p:sp>
      </p:grpSp>
      <p:sp>
        <p:nvSpPr>
          <p:cNvPr id="32" name="Text Box 14"/>
          <p:cNvSpPr txBox="1">
            <a:spLocks noChangeArrowheads="1"/>
          </p:cNvSpPr>
          <p:nvPr>
            <p:custDataLst>
              <p:tags r:id="rId12"/>
            </p:custDataLst>
          </p:nvPr>
        </p:nvSpPr>
        <p:spPr bwMode="auto">
          <a:xfrm>
            <a:off x="665156" y="4031239"/>
            <a:ext cx="514350" cy="300082"/>
          </a:xfrm>
          <a:prstGeom prst="rect">
            <a:avLst/>
          </a:prstGeom>
          <a:noFill/>
          <a:ln w="9525">
            <a:noFill/>
            <a:miter lim="800000"/>
          </a:ln>
          <a:effectLst/>
        </p:spPr>
        <p:txBody>
          <a:bodyPr>
            <a:spAutoFit/>
          </a:bodyPr>
          <a:lstStyle/>
          <a:p>
            <a:pPr algn="ctr">
              <a:spcBef>
                <a:spcPct val="50000"/>
              </a:spcBef>
            </a:pPr>
            <a:r>
              <a:rPr lang="en-US" sz="1350" b="1" i="1" dirty="0"/>
              <a:t>y</a:t>
            </a:r>
            <a:endParaRPr lang="en-US" sz="1350" dirty="0"/>
          </a:p>
        </p:txBody>
      </p:sp>
      <p:sp>
        <p:nvSpPr>
          <p:cNvPr id="33" name="Text Box 14"/>
          <p:cNvSpPr txBox="1">
            <a:spLocks noChangeArrowheads="1"/>
          </p:cNvSpPr>
          <p:nvPr>
            <p:custDataLst>
              <p:tags r:id="rId13"/>
            </p:custDataLst>
          </p:nvPr>
        </p:nvSpPr>
        <p:spPr bwMode="auto">
          <a:xfrm>
            <a:off x="3302222" y="4023073"/>
            <a:ext cx="514350" cy="300082"/>
          </a:xfrm>
          <a:prstGeom prst="rect">
            <a:avLst/>
          </a:prstGeom>
          <a:noFill/>
          <a:ln w="9525">
            <a:noFill/>
            <a:miter lim="800000"/>
          </a:ln>
          <a:effectLst/>
        </p:spPr>
        <p:txBody>
          <a:bodyPr>
            <a:spAutoFit/>
          </a:bodyPr>
          <a:lstStyle/>
          <a:p>
            <a:pPr algn="ctr">
              <a:spcBef>
                <a:spcPct val="50000"/>
              </a:spcBef>
            </a:pPr>
            <a:r>
              <a:rPr lang="en-US" sz="1350" b="1" i="1" dirty="0"/>
              <a:t>y’</a:t>
            </a:r>
            <a:endParaRPr lang="en-US" sz="1350" dirty="0"/>
          </a:p>
        </p:txBody>
      </p:sp>
      <p:sp>
        <p:nvSpPr>
          <p:cNvPr id="34" name="Text Box 19"/>
          <p:cNvSpPr txBox="1">
            <a:spLocks noChangeArrowheads="1"/>
          </p:cNvSpPr>
          <p:nvPr>
            <p:custDataLst>
              <p:tags r:id="rId14"/>
            </p:custDataLst>
          </p:nvPr>
        </p:nvSpPr>
        <p:spPr bwMode="auto">
          <a:xfrm>
            <a:off x="2339795" y="3900609"/>
            <a:ext cx="831791" cy="300082"/>
          </a:xfrm>
          <a:prstGeom prst="rect">
            <a:avLst/>
          </a:prstGeom>
          <a:noFill/>
          <a:ln w="9525">
            <a:noFill/>
            <a:miter lim="800000"/>
          </a:ln>
          <a:effectLst/>
        </p:spPr>
        <p:txBody>
          <a:bodyPr wrap="square">
            <a:spAutoFit/>
          </a:bodyPr>
          <a:lstStyle/>
          <a:p>
            <a:pPr algn="ctr">
              <a:spcBef>
                <a:spcPct val="50000"/>
              </a:spcBef>
            </a:pPr>
            <a:r>
              <a:rPr lang="en-US" sz="1350" b="1" i="1" dirty="0"/>
              <a:t>T</a:t>
            </a:r>
            <a:r>
              <a:rPr lang="en-US" sz="1350" baseline="30000" dirty="0"/>
              <a:t>-1</a:t>
            </a:r>
            <a:r>
              <a:rPr lang="en-US" sz="1350" dirty="0"/>
              <a:t>(</a:t>
            </a:r>
            <a:r>
              <a:rPr lang="en-US" sz="1350" b="1" i="1" dirty="0" err="1"/>
              <a:t>x,y</a:t>
            </a:r>
            <a:r>
              <a:rPr lang="en-US" sz="1350" dirty="0"/>
              <a:t>)</a:t>
            </a:r>
          </a:p>
        </p:txBody>
      </p:sp>
      <p:sp>
        <p:nvSpPr>
          <p:cNvPr id="35" name="Rectangle 2"/>
          <p:cNvSpPr>
            <a:spLocks noGrp="1" noChangeArrowheads="1"/>
          </p:cNvSpPr>
          <p:nvPr>
            <p:ph type="title"/>
            <p:custDataLst>
              <p:tags r:id="rId15"/>
            </p:custDataLst>
          </p:nvPr>
        </p:nvSpPr>
        <p:spPr>
          <a:xfrm>
            <a:off x="457200" y="1063229"/>
            <a:ext cx="8229600" cy="857250"/>
          </a:xfrm>
        </p:spPr>
        <p:txBody>
          <a:bodyPr/>
          <a:lstStyle/>
          <a:p>
            <a:r>
              <a:rPr lang="zh-CN" altLang="en-US" dirty="0"/>
              <a:t>几何形变的实现：反向变形</a:t>
            </a:r>
            <a:endParaRPr lang="en-US" dirty="0"/>
          </a:p>
        </p:txBody>
      </p:sp>
      <p:pic>
        <p:nvPicPr>
          <p:cNvPr id="354306" name="Picture 2"/>
          <p:cNvPicPr>
            <a:picLocks noChangeAspect="1" noChangeArrowheads="1"/>
          </p:cNvPicPr>
          <p:nvPr/>
        </p:nvPicPr>
        <p:blipFill>
          <a:blip r:embed="rId31">
            <a:extLst>
              <a:ext uri="{28A0092B-C50C-407E-A947-70E740481C1C}">
                <a14:useLocalDpi xmlns:a14="http://schemas.microsoft.com/office/drawing/2010/main" val="0"/>
              </a:ext>
            </a:extLst>
          </a:blip>
          <a:srcRect/>
          <a:stretch>
            <a:fillRect/>
          </a:stretch>
        </p:blipFill>
        <p:spPr bwMode="auto">
          <a:xfrm>
            <a:off x="4450977" y="3282532"/>
            <a:ext cx="2005924" cy="183010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54307" name="Picture 3"/>
          <p:cNvPicPr>
            <a:picLocks noChangeAspect="1" noChangeArrowheads="1"/>
          </p:cNvPicPr>
          <p:nvPr/>
        </p:nvPicPr>
        <p:blipFill>
          <a:blip r:embed="rId32">
            <a:extLst>
              <a:ext uri="{28A0092B-C50C-407E-A947-70E740481C1C}">
                <a14:useLocalDpi xmlns:a14="http://schemas.microsoft.com/office/drawing/2010/main" val="0"/>
              </a:ext>
            </a:extLst>
          </a:blip>
          <a:srcRect/>
          <a:stretch>
            <a:fillRect/>
          </a:stretch>
        </p:blipFill>
        <p:spPr bwMode="auto">
          <a:xfrm>
            <a:off x="6356048" y="3241124"/>
            <a:ext cx="1952669" cy="187296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8" name="Rectangle 3"/>
          <p:cNvSpPr txBox="1">
            <a:spLocks noChangeArrowheads="1"/>
          </p:cNvSpPr>
          <p:nvPr>
            <p:custDataLst>
              <p:tags r:id="rId16"/>
            </p:custDataLst>
          </p:nvPr>
        </p:nvSpPr>
        <p:spPr>
          <a:xfrm>
            <a:off x="457200" y="2057401"/>
            <a:ext cx="8229600" cy="3394472"/>
          </a:xfrm>
          <a:prstGeom prst="rect">
            <a:avLst/>
          </a:prstGeom>
        </p:spPr>
        <p:txBody>
          <a:bodyPr vert="horz" lIns="68580" tIns="34290" rIns="68580" bIns="34290" rtlCol="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zh-CN" altLang="en-US" sz="2100" dirty="0"/>
              <a:t>将</a:t>
            </a:r>
            <a:r>
              <a:rPr lang="en-US" altLang="zh-CN" sz="2100" dirty="0"/>
              <a:t>g</a:t>
            </a:r>
            <a:r>
              <a:rPr lang="zh-CN" altLang="en-US" sz="2100" dirty="0"/>
              <a:t>中的坐标映射到</a:t>
            </a:r>
            <a:r>
              <a:rPr lang="en-US" altLang="zh-CN" sz="2100" dirty="0"/>
              <a:t>f</a:t>
            </a:r>
            <a:r>
              <a:rPr lang="zh-CN" altLang="en-US" sz="2100" dirty="0"/>
              <a:t>，如果反向变形后映射到</a:t>
            </a:r>
            <a:r>
              <a:rPr lang="en-US" altLang="zh-CN" sz="2100" dirty="0"/>
              <a:t>f</a:t>
            </a:r>
            <a:r>
              <a:rPr lang="zh-CN" altLang="en-US" sz="2100" dirty="0"/>
              <a:t>的坐标不是整数，则采用插值逼近的方法进行近似，因此不会产生的正向变形中的空洞或波纹问题。</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title"/>
            <p:custDataLst>
              <p:tags r:id="rId1"/>
            </p:custDataLst>
          </p:nvPr>
        </p:nvSpPr>
        <p:spPr>
          <a:xfrm>
            <a:off x="457200" y="1063229"/>
            <a:ext cx="8229600" cy="857250"/>
          </a:xfrm>
        </p:spPr>
        <p:txBody>
          <a:bodyPr/>
          <a:lstStyle/>
          <a:p>
            <a:r>
              <a:rPr lang="zh-CN" altLang="en-US" dirty="0"/>
              <a:t>估计单应性变换矩阵：传统方法</a:t>
            </a:r>
            <a:endParaRPr lang="en-US" dirty="0"/>
          </a:p>
        </p:txBody>
      </p:sp>
      <p:sp>
        <p:nvSpPr>
          <p:cNvPr id="2" name="矩形 1"/>
          <p:cNvSpPr/>
          <p:nvPr/>
        </p:nvSpPr>
        <p:spPr>
          <a:xfrm>
            <a:off x="1301003" y="2206351"/>
            <a:ext cx="6948768" cy="3366884"/>
          </a:xfrm>
          <a:prstGeom prst="rect">
            <a:avLst/>
          </a:prstGeom>
        </p:spPr>
        <p:txBody>
          <a:bodyPr wrap="square">
            <a:spAutoFit/>
          </a:bodyPr>
          <a:lstStyle/>
          <a:p>
            <a:pPr>
              <a:lnSpc>
                <a:spcPct val="150000"/>
              </a:lnSpc>
            </a:pPr>
            <a:r>
              <a:rPr lang="en-US" altLang="zh-CN" dirty="0"/>
              <a:t>1.</a:t>
            </a:r>
            <a:r>
              <a:rPr lang="zh-CN" altLang="en-US" dirty="0"/>
              <a:t>提取每张图的</a:t>
            </a:r>
            <a:r>
              <a:rPr lang="en-US" altLang="zh-CN" dirty="0"/>
              <a:t>SIFT</a:t>
            </a:r>
            <a:r>
              <a:rPr lang="zh-CN" altLang="en-US" dirty="0"/>
              <a:t>等特征点</a:t>
            </a:r>
          </a:p>
          <a:p>
            <a:pPr>
              <a:lnSpc>
                <a:spcPct val="150000"/>
              </a:lnSpc>
            </a:pPr>
            <a:r>
              <a:rPr lang="en-US" altLang="zh-CN" dirty="0"/>
              <a:t>2.</a:t>
            </a:r>
            <a:r>
              <a:rPr lang="zh-CN" altLang="en-US" dirty="0"/>
              <a:t>提取每个特征点对应的描述子</a:t>
            </a:r>
          </a:p>
          <a:p>
            <a:pPr>
              <a:lnSpc>
                <a:spcPct val="150000"/>
              </a:lnSpc>
            </a:pPr>
            <a:r>
              <a:rPr lang="en-US" altLang="zh-CN" dirty="0"/>
              <a:t>3.</a:t>
            </a:r>
            <a:r>
              <a:rPr lang="zh-CN" altLang="en-US" dirty="0"/>
              <a:t>通过匹配特征点描述子，找到两张图中匹配的特征点对（这里可能存在错误匹配，一般情况计算出的匹配的特征点对数量远大于</a:t>
            </a:r>
            <a:r>
              <a:rPr lang="en-US" altLang="zh-CN" dirty="0"/>
              <a:t>4</a:t>
            </a:r>
            <a:r>
              <a:rPr lang="zh-CN" altLang="en-US" dirty="0"/>
              <a:t>，此时需要解超定方程组，类似于求解线性回归时数据点的数量远多余未知数）</a:t>
            </a:r>
          </a:p>
          <a:p>
            <a:pPr>
              <a:lnSpc>
                <a:spcPct val="150000"/>
              </a:lnSpc>
            </a:pPr>
            <a:r>
              <a:rPr lang="en-US" altLang="zh-CN" dirty="0"/>
              <a:t>4.</a:t>
            </a:r>
            <a:r>
              <a:rPr lang="zh-CN" altLang="en-US" dirty="0"/>
              <a:t>使用</a:t>
            </a:r>
            <a:r>
              <a:rPr lang="en-US" altLang="zh-CN" b="1" dirty="0">
                <a:solidFill>
                  <a:srgbClr val="FF0000"/>
                </a:solidFill>
              </a:rPr>
              <a:t>RANSAC</a:t>
            </a:r>
            <a:r>
              <a:rPr lang="zh-CN" altLang="en-US" b="1" dirty="0">
                <a:solidFill>
                  <a:srgbClr val="FF0000"/>
                </a:solidFill>
              </a:rPr>
              <a:t>算法</a:t>
            </a:r>
            <a:r>
              <a:rPr lang="zh-CN" altLang="en-US" dirty="0"/>
              <a:t>剔除错误匹配</a:t>
            </a:r>
          </a:p>
          <a:p>
            <a:pPr>
              <a:lnSpc>
                <a:spcPct val="150000"/>
              </a:lnSpc>
            </a:pPr>
            <a:r>
              <a:rPr lang="en-US" altLang="zh-CN" dirty="0"/>
              <a:t>5.</a:t>
            </a:r>
            <a:r>
              <a:rPr lang="zh-CN" altLang="en-US" dirty="0"/>
              <a:t>求解方程组，计算</a:t>
            </a:r>
            <a:r>
              <a:rPr lang="en-US" altLang="zh-CN" dirty="0"/>
              <a:t>Homograph</a:t>
            </a:r>
            <a:r>
              <a:rPr lang="zh-CN" altLang="en-US" dirty="0"/>
              <a:t>单应性变换矩阵</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211916" y="2206351"/>
            <a:ext cx="6948768" cy="3366884"/>
          </a:xfrm>
          <a:prstGeom prst="rect">
            <a:avLst/>
          </a:prstGeom>
        </p:spPr>
        <p:txBody>
          <a:bodyPr wrap="square">
            <a:spAutoFit/>
          </a:bodyPr>
          <a:lstStyle/>
          <a:p>
            <a:pPr>
              <a:lnSpc>
                <a:spcPct val="150000"/>
              </a:lnSpc>
            </a:pPr>
            <a:r>
              <a:rPr lang="en-US" altLang="zh-CN" dirty="0"/>
              <a:t>RANSAC</a:t>
            </a:r>
            <a:r>
              <a:rPr lang="zh-CN" altLang="en-US" dirty="0"/>
              <a:t>算法可以从一组包含“局外点”的观测数据集中，通过迭代方式估计数学模型的参数。它是一种不确定的算法</a:t>
            </a:r>
            <a:r>
              <a:rPr lang="en-US" altLang="zh-CN" dirty="0"/>
              <a:t>——</a:t>
            </a:r>
            <a:r>
              <a:rPr lang="zh-CN" altLang="en-US" dirty="0"/>
              <a:t>它有一定的概率得出一个合理的结果；为了提高概率必须提高迭代次数。核心思想就是随机性和假设性</a:t>
            </a:r>
            <a:r>
              <a:rPr lang="en-US" altLang="zh-CN" dirty="0"/>
              <a:t>:</a:t>
            </a:r>
          </a:p>
          <a:p>
            <a:pPr marL="257175" indent="-257175">
              <a:lnSpc>
                <a:spcPct val="150000"/>
              </a:lnSpc>
              <a:buFont typeface="Wingdings" panose="05000000000000000000" pitchFamily="2" charset="2"/>
              <a:buChar char="l"/>
            </a:pPr>
            <a:r>
              <a:rPr lang="zh-CN" altLang="en-US" b="1" dirty="0"/>
              <a:t>随机性</a:t>
            </a:r>
            <a:r>
              <a:rPr lang="en-US" altLang="zh-CN" b="1" dirty="0"/>
              <a:t>:</a:t>
            </a:r>
            <a:r>
              <a:rPr lang="zh-CN" altLang="en-US" dirty="0"/>
              <a:t>用于减少计算，循环次数是利用正确数据出现的概率。</a:t>
            </a:r>
            <a:endParaRPr lang="en-US" altLang="zh-CN" dirty="0"/>
          </a:p>
          <a:p>
            <a:pPr marL="257175" indent="-257175">
              <a:lnSpc>
                <a:spcPct val="150000"/>
              </a:lnSpc>
              <a:buFont typeface="Wingdings" panose="05000000000000000000" pitchFamily="2" charset="2"/>
              <a:buChar char="l"/>
            </a:pPr>
            <a:r>
              <a:rPr lang="zh-CN" altLang="en-US" b="1" dirty="0"/>
              <a:t>假设性</a:t>
            </a:r>
            <a:r>
              <a:rPr lang="en-US" altLang="zh-CN" b="1" dirty="0"/>
              <a:t>:</a:t>
            </a:r>
            <a:r>
              <a:rPr lang="zh-CN" altLang="en-US" dirty="0"/>
              <a:t>就是说随机抽出来的数据都认为是正确的，并以此去计算其他点，获得其他满足变换关系的点，然后利用投票机制，选出获票最多的那一个变换。</a:t>
            </a:r>
          </a:p>
        </p:txBody>
      </p:sp>
      <p:sp>
        <p:nvSpPr>
          <p:cNvPr id="4" name="Rectangle 2"/>
          <p:cNvSpPr txBox="1">
            <a:spLocks noChangeArrowheads="1"/>
          </p:cNvSpPr>
          <p:nvPr>
            <p:custDataLst>
              <p:tags r:id="rId1"/>
            </p:custDataLst>
          </p:nvPr>
        </p:nvSpPr>
        <p:spPr>
          <a:xfrm>
            <a:off x="571499" y="1056767"/>
            <a:ext cx="8448213" cy="857250"/>
          </a:xfrm>
          <a:prstGeom prst="rect">
            <a:avLst/>
          </a:prstGeom>
        </p:spPr>
        <p:txBody>
          <a:bodyPr vert="horz" lIns="68580" tIns="34290" rIns="68580" bIns="34290" rtlCol="0" anchor="ctr">
            <a:normAutofit fontScale="92500"/>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en-US" sz="3300" dirty="0" err="1">
                <a:solidFill>
                  <a:srgbClr val="FF0000"/>
                </a:solidFill>
              </a:rPr>
              <a:t>RAN</a:t>
            </a:r>
            <a:r>
              <a:rPr lang="en-US" sz="3300" dirty="0" err="1"/>
              <a:t>dom</a:t>
            </a:r>
            <a:r>
              <a:rPr lang="en-US" sz="3300" dirty="0"/>
              <a:t> </a:t>
            </a:r>
            <a:r>
              <a:rPr lang="en-US" sz="3300" dirty="0" err="1">
                <a:solidFill>
                  <a:srgbClr val="FF0000"/>
                </a:solidFill>
              </a:rPr>
              <a:t>SA</a:t>
            </a:r>
            <a:r>
              <a:rPr lang="en-US" sz="3300" dirty="0" err="1"/>
              <a:t>mple</a:t>
            </a:r>
            <a:r>
              <a:rPr lang="en-US" sz="3300" dirty="0"/>
              <a:t> </a:t>
            </a:r>
            <a:r>
              <a:rPr lang="en-US" sz="3300" dirty="0">
                <a:solidFill>
                  <a:srgbClr val="FF0000"/>
                </a:solidFill>
              </a:rPr>
              <a:t>C</a:t>
            </a:r>
            <a:r>
              <a:rPr lang="en-US" sz="3300" dirty="0"/>
              <a:t>onsensus(</a:t>
            </a:r>
            <a:r>
              <a:rPr lang="zh-CN" altLang="en-US" sz="3300" dirty="0"/>
              <a:t>随机抽样一致算法</a:t>
            </a:r>
            <a:r>
              <a:rPr lang="en-US" sz="3300" dirty="0"/>
              <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1501" y="2496740"/>
            <a:ext cx="8153249" cy="203155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矩形 2"/>
          <p:cNvSpPr/>
          <p:nvPr/>
        </p:nvSpPr>
        <p:spPr>
          <a:xfrm>
            <a:off x="1986803" y="4939506"/>
            <a:ext cx="5637679" cy="253916"/>
          </a:xfrm>
          <a:prstGeom prst="rect">
            <a:avLst/>
          </a:prstGeom>
        </p:spPr>
        <p:txBody>
          <a:bodyPr wrap="square">
            <a:spAutoFit/>
          </a:bodyPr>
          <a:lstStyle/>
          <a:p>
            <a:r>
              <a:rPr lang="en-US" altLang="zh-CN" sz="1050" dirty="0"/>
              <a:t>https://blog.csdn.net/weixin_43795395/article/details/90751650</a:t>
            </a:r>
            <a:endParaRPr lang="zh-CN" altLang="en-US" sz="1050" dirty="0"/>
          </a:p>
        </p:txBody>
      </p:sp>
      <p:sp>
        <p:nvSpPr>
          <p:cNvPr id="6" name="Rectangle 2"/>
          <p:cNvSpPr txBox="1">
            <a:spLocks noChangeArrowheads="1"/>
          </p:cNvSpPr>
          <p:nvPr>
            <p:custDataLst>
              <p:tags r:id="rId1"/>
            </p:custDataLst>
          </p:nvPr>
        </p:nvSpPr>
        <p:spPr>
          <a:xfrm>
            <a:off x="571500" y="1056767"/>
            <a:ext cx="8229600" cy="857250"/>
          </a:xfrm>
          <a:prstGeom prst="rect">
            <a:avLst/>
          </a:prstGeom>
        </p:spPr>
        <p:txBody>
          <a:bodyPr vert="horz" lIns="68580" tIns="34290" rIns="68580" bIns="34290" rtlCol="0" anchor="ctr">
            <a:normAutofit/>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en-US" sz="3300" dirty="0" err="1">
                <a:solidFill>
                  <a:srgbClr val="FF0000"/>
                </a:solidFill>
              </a:rPr>
              <a:t>RAN</a:t>
            </a:r>
            <a:r>
              <a:rPr lang="en-US" sz="3300" dirty="0" err="1"/>
              <a:t>dom</a:t>
            </a:r>
            <a:r>
              <a:rPr lang="en-US" sz="3300" dirty="0"/>
              <a:t> </a:t>
            </a:r>
            <a:r>
              <a:rPr lang="en-US" sz="3300" dirty="0" err="1">
                <a:solidFill>
                  <a:srgbClr val="FF0000"/>
                </a:solidFill>
              </a:rPr>
              <a:t>SA</a:t>
            </a:r>
            <a:r>
              <a:rPr lang="en-US" sz="3300" dirty="0" err="1"/>
              <a:t>mple</a:t>
            </a:r>
            <a:r>
              <a:rPr lang="en-US" sz="3300" dirty="0"/>
              <a:t> </a:t>
            </a:r>
            <a:r>
              <a:rPr lang="en-US" sz="3300" dirty="0">
                <a:solidFill>
                  <a:srgbClr val="FF0000"/>
                </a:solidFill>
              </a:rPr>
              <a:t>C</a:t>
            </a:r>
            <a:r>
              <a:rPr lang="en-US" sz="3300" dirty="0"/>
              <a:t>onsensus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971800" y="2114550"/>
            <a:ext cx="3200400" cy="3200400"/>
          </a:xfrm>
          <a:prstGeom prst="rect">
            <a:avLst/>
          </a:prstGeom>
          <a:solidFill>
            <a:schemeClr val="bg1"/>
          </a:solidFill>
          <a:ln>
            <a:solidFill>
              <a:schemeClr val="tx1"/>
            </a:solidFill>
          </a:ln>
          <a:effectLst>
            <a:outerShdw blurRad="101600" dist="762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Oval 7"/>
          <p:cNvSpPr/>
          <p:nvPr/>
        </p:nvSpPr>
        <p:spPr>
          <a:xfrm>
            <a:off x="3714750" y="41148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Oval 8"/>
          <p:cNvSpPr/>
          <p:nvPr/>
        </p:nvSpPr>
        <p:spPr>
          <a:xfrm>
            <a:off x="382905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Oval 9"/>
          <p:cNvSpPr/>
          <p:nvPr/>
        </p:nvSpPr>
        <p:spPr>
          <a:xfrm>
            <a:off x="3486150" y="42862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1" name="Oval 10"/>
          <p:cNvSpPr/>
          <p:nvPr/>
        </p:nvSpPr>
        <p:spPr>
          <a:xfrm>
            <a:off x="3657600" y="42291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Oval 11"/>
          <p:cNvSpPr/>
          <p:nvPr/>
        </p:nvSpPr>
        <p:spPr>
          <a:xfrm>
            <a:off x="3429000" y="44577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Oval 12"/>
          <p:cNvSpPr/>
          <p:nvPr/>
        </p:nvSpPr>
        <p:spPr>
          <a:xfrm>
            <a:off x="3314700" y="45720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Oval 13"/>
          <p:cNvSpPr/>
          <p:nvPr/>
        </p:nvSpPr>
        <p:spPr>
          <a:xfrm>
            <a:off x="3208565" y="47434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5" name="Oval 14"/>
          <p:cNvSpPr/>
          <p:nvPr/>
        </p:nvSpPr>
        <p:spPr>
          <a:xfrm>
            <a:off x="3143250" y="49149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Oval 15"/>
          <p:cNvSpPr/>
          <p:nvPr/>
        </p:nvSpPr>
        <p:spPr>
          <a:xfrm>
            <a:off x="3314700" y="46863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7" name="Oval 16"/>
          <p:cNvSpPr/>
          <p:nvPr/>
        </p:nvSpPr>
        <p:spPr>
          <a:xfrm>
            <a:off x="3714750" y="39433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Oval 17"/>
          <p:cNvSpPr/>
          <p:nvPr/>
        </p:nvSpPr>
        <p:spPr>
          <a:xfrm>
            <a:off x="3943350" y="37719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9" name="Oval 18"/>
          <p:cNvSpPr/>
          <p:nvPr/>
        </p:nvSpPr>
        <p:spPr>
          <a:xfrm>
            <a:off x="4057650" y="36576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2" name="Oval 21"/>
          <p:cNvSpPr/>
          <p:nvPr/>
        </p:nvSpPr>
        <p:spPr>
          <a:xfrm>
            <a:off x="4057650" y="34861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3" name="Oval 22"/>
          <p:cNvSpPr/>
          <p:nvPr/>
        </p:nvSpPr>
        <p:spPr>
          <a:xfrm>
            <a:off x="4171950" y="33147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4" name="Oval 23"/>
          <p:cNvSpPr/>
          <p:nvPr/>
        </p:nvSpPr>
        <p:spPr>
          <a:xfrm>
            <a:off x="4400550" y="32004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5" name="Oval 24"/>
          <p:cNvSpPr/>
          <p:nvPr/>
        </p:nvSpPr>
        <p:spPr>
          <a:xfrm>
            <a:off x="4514850" y="30289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6" name="Oval 25"/>
          <p:cNvSpPr/>
          <p:nvPr/>
        </p:nvSpPr>
        <p:spPr>
          <a:xfrm>
            <a:off x="4457700" y="28575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7" name="Oval 26"/>
          <p:cNvSpPr/>
          <p:nvPr/>
        </p:nvSpPr>
        <p:spPr>
          <a:xfrm>
            <a:off x="4686300" y="2743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8" name="Oval 27"/>
          <p:cNvSpPr/>
          <p:nvPr/>
        </p:nvSpPr>
        <p:spPr>
          <a:xfrm>
            <a:off x="4800600" y="2506436"/>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9" name="Oval 28"/>
          <p:cNvSpPr/>
          <p:nvPr/>
        </p:nvSpPr>
        <p:spPr>
          <a:xfrm>
            <a:off x="4972050" y="23431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0" name="Oval 29"/>
          <p:cNvSpPr/>
          <p:nvPr/>
        </p:nvSpPr>
        <p:spPr>
          <a:xfrm>
            <a:off x="5257800" y="37147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2" name="Oval 31"/>
          <p:cNvSpPr/>
          <p:nvPr/>
        </p:nvSpPr>
        <p:spPr>
          <a:xfrm>
            <a:off x="4743450" y="40005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3" name="Oval 32"/>
          <p:cNvSpPr/>
          <p:nvPr/>
        </p:nvSpPr>
        <p:spPr>
          <a:xfrm>
            <a:off x="4343400" y="41719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4" name="Oval 33"/>
          <p:cNvSpPr/>
          <p:nvPr/>
        </p:nvSpPr>
        <p:spPr>
          <a:xfrm>
            <a:off x="4743450" y="45148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5" name="Oval 34"/>
          <p:cNvSpPr/>
          <p:nvPr/>
        </p:nvSpPr>
        <p:spPr>
          <a:xfrm>
            <a:off x="4800600" y="36004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6" name="Oval 35"/>
          <p:cNvSpPr/>
          <p:nvPr/>
        </p:nvSpPr>
        <p:spPr>
          <a:xfrm>
            <a:off x="5086350" y="34290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7" name="Oval 36"/>
          <p:cNvSpPr/>
          <p:nvPr/>
        </p:nvSpPr>
        <p:spPr>
          <a:xfrm>
            <a:off x="4972050" y="31432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8" name="Oval 37"/>
          <p:cNvSpPr/>
          <p:nvPr/>
        </p:nvSpPr>
        <p:spPr>
          <a:xfrm>
            <a:off x="4629150" y="33718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9" name="Oval 38"/>
          <p:cNvSpPr/>
          <p:nvPr/>
        </p:nvSpPr>
        <p:spPr>
          <a:xfrm>
            <a:off x="434340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0" name="Oval 39"/>
          <p:cNvSpPr/>
          <p:nvPr/>
        </p:nvSpPr>
        <p:spPr>
          <a:xfrm>
            <a:off x="4686300" y="42291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1" name="Oval 40"/>
          <p:cNvSpPr/>
          <p:nvPr/>
        </p:nvSpPr>
        <p:spPr>
          <a:xfrm>
            <a:off x="5029200" y="42862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2" name="Oval 41"/>
          <p:cNvSpPr/>
          <p:nvPr/>
        </p:nvSpPr>
        <p:spPr>
          <a:xfrm>
            <a:off x="5372100" y="42291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3" name="Oval 42"/>
          <p:cNvSpPr/>
          <p:nvPr/>
        </p:nvSpPr>
        <p:spPr>
          <a:xfrm>
            <a:off x="5715000" y="41148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4" name="Oval 43"/>
          <p:cNvSpPr/>
          <p:nvPr/>
        </p:nvSpPr>
        <p:spPr>
          <a:xfrm>
            <a:off x="565785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5" name="Oval 44"/>
          <p:cNvSpPr/>
          <p:nvPr/>
        </p:nvSpPr>
        <p:spPr>
          <a:xfrm>
            <a:off x="537210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6" name="Oval 45"/>
          <p:cNvSpPr/>
          <p:nvPr/>
        </p:nvSpPr>
        <p:spPr>
          <a:xfrm>
            <a:off x="5486400" y="36576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7" name="Oval 46"/>
          <p:cNvSpPr/>
          <p:nvPr/>
        </p:nvSpPr>
        <p:spPr>
          <a:xfrm>
            <a:off x="5886450" y="44577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8" name="Oval 47"/>
          <p:cNvSpPr/>
          <p:nvPr/>
        </p:nvSpPr>
        <p:spPr>
          <a:xfrm>
            <a:off x="4000500" y="29146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9" name="Oval 48"/>
          <p:cNvSpPr/>
          <p:nvPr/>
        </p:nvSpPr>
        <p:spPr>
          <a:xfrm>
            <a:off x="3714750" y="29146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0" name="Oval 49"/>
          <p:cNvSpPr/>
          <p:nvPr/>
        </p:nvSpPr>
        <p:spPr>
          <a:xfrm>
            <a:off x="3486150" y="30861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1" name="Oval 50"/>
          <p:cNvSpPr/>
          <p:nvPr/>
        </p:nvSpPr>
        <p:spPr>
          <a:xfrm>
            <a:off x="3657600" y="34861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2" name="Oval 51"/>
          <p:cNvSpPr/>
          <p:nvPr/>
        </p:nvSpPr>
        <p:spPr>
          <a:xfrm>
            <a:off x="3771900" y="2743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3" name="Oval 52"/>
          <p:cNvSpPr/>
          <p:nvPr/>
        </p:nvSpPr>
        <p:spPr>
          <a:xfrm>
            <a:off x="4171950" y="25717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4" name="Oval 53"/>
          <p:cNvSpPr/>
          <p:nvPr/>
        </p:nvSpPr>
        <p:spPr>
          <a:xfrm>
            <a:off x="3143250" y="30289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5" name="Oval 54"/>
          <p:cNvSpPr/>
          <p:nvPr/>
        </p:nvSpPr>
        <p:spPr>
          <a:xfrm>
            <a:off x="3371850" y="29146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6" name="Oval 55"/>
          <p:cNvSpPr/>
          <p:nvPr/>
        </p:nvSpPr>
        <p:spPr>
          <a:xfrm>
            <a:off x="3486150" y="25717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7" name="Rectangle 2"/>
          <p:cNvSpPr txBox="1">
            <a:spLocks noChangeArrowheads="1"/>
          </p:cNvSpPr>
          <p:nvPr>
            <p:custDataLst>
              <p:tags r:id="rId1"/>
            </p:custDataLst>
          </p:nvPr>
        </p:nvSpPr>
        <p:spPr>
          <a:xfrm>
            <a:off x="571500" y="1056767"/>
            <a:ext cx="8229600" cy="857250"/>
          </a:xfrm>
          <a:prstGeom prst="rect">
            <a:avLst/>
          </a:prstGeom>
        </p:spPr>
        <p:txBody>
          <a:bodyPr vert="horz" lIns="68580" tIns="34290" rIns="68580" bIns="34290" rtlCol="0" anchor="ctr">
            <a:normAutofit/>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en-US" sz="3300" dirty="0" err="1">
                <a:solidFill>
                  <a:srgbClr val="FF0000"/>
                </a:solidFill>
              </a:rPr>
              <a:t>RAN</a:t>
            </a:r>
            <a:r>
              <a:rPr lang="en-US" sz="3300" dirty="0" err="1"/>
              <a:t>dom</a:t>
            </a:r>
            <a:r>
              <a:rPr lang="en-US" sz="3300" dirty="0"/>
              <a:t> </a:t>
            </a:r>
            <a:r>
              <a:rPr lang="en-US" sz="3300" dirty="0" err="1">
                <a:solidFill>
                  <a:srgbClr val="FF0000"/>
                </a:solidFill>
              </a:rPr>
              <a:t>SA</a:t>
            </a:r>
            <a:r>
              <a:rPr lang="en-US" sz="3300" dirty="0" err="1"/>
              <a:t>mple</a:t>
            </a:r>
            <a:r>
              <a:rPr lang="en-US" sz="3300" dirty="0"/>
              <a:t> </a:t>
            </a:r>
            <a:r>
              <a:rPr lang="en-US" sz="3300" dirty="0">
                <a:solidFill>
                  <a:srgbClr val="FF0000"/>
                </a:solidFill>
              </a:rPr>
              <a:t>C</a:t>
            </a:r>
            <a:r>
              <a:rPr lang="en-US" sz="3300" dirty="0"/>
              <a:t>onsensus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971800" y="2114550"/>
            <a:ext cx="3200400" cy="3200400"/>
          </a:xfrm>
          <a:prstGeom prst="rect">
            <a:avLst/>
          </a:prstGeom>
          <a:solidFill>
            <a:schemeClr val="bg1"/>
          </a:solidFill>
          <a:ln>
            <a:solidFill>
              <a:schemeClr val="tx1"/>
            </a:solidFill>
          </a:ln>
          <a:effectLst>
            <a:outerShdw blurRad="101600" dist="762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Oval 7"/>
          <p:cNvSpPr/>
          <p:nvPr/>
        </p:nvSpPr>
        <p:spPr>
          <a:xfrm>
            <a:off x="3714750" y="41148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Oval 8"/>
          <p:cNvSpPr/>
          <p:nvPr/>
        </p:nvSpPr>
        <p:spPr>
          <a:xfrm>
            <a:off x="382905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Oval 9"/>
          <p:cNvSpPr/>
          <p:nvPr/>
        </p:nvSpPr>
        <p:spPr>
          <a:xfrm>
            <a:off x="3486150" y="42862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1" name="Oval 10"/>
          <p:cNvSpPr/>
          <p:nvPr/>
        </p:nvSpPr>
        <p:spPr>
          <a:xfrm>
            <a:off x="3657600" y="42291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Oval 11"/>
          <p:cNvSpPr/>
          <p:nvPr/>
        </p:nvSpPr>
        <p:spPr>
          <a:xfrm>
            <a:off x="3429000" y="44577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Oval 12"/>
          <p:cNvSpPr/>
          <p:nvPr/>
        </p:nvSpPr>
        <p:spPr>
          <a:xfrm>
            <a:off x="3314700" y="45720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Oval 13"/>
          <p:cNvSpPr/>
          <p:nvPr/>
        </p:nvSpPr>
        <p:spPr>
          <a:xfrm>
            <a:off x="3208565" y="47434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5" name="Oval 14"/>
          <p:cNvSpPr/>
          <p:nvPr/>
        </p:nvSpPr>
        <p:spPr>
          <a:xfrm>
            <a:off x="3143250" y="49149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Oval 15"/>
          <p:cNvSpPr/>
          <p:nvPr/>
        </p:nvSpPr>
        <p:spPr>
          <a:xfrm>
            <a:off x="3314700" y="46863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7" name="Oval 16"/>
          <p:cNvSpPr/>
          <p:nvPr/>
        </p:nvSpPr>
        <p:spPr>
          <a:xfrm>
            <a:off x="3714750" y="39433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Oval 17"/>
          <p:cNvSpPr/>
          <p:nvPr/>
        </p:nvSpPr>
        <p:spPr>
          <a:xfrm>
            <a:off x="3943350" y="37719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9" name="Oval 18"/>
          <p:cNvSpPr/>
          <p:nvPr/>
        </p:nvSpPr>
        <p:spPr>
          <a:xfrm>
            <a:off x="4057650" y="36576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21" name="Straight Connector 20"/>
          <p:cNvCxnSpPr/>
          <p:nvPr/>
        </p:nvCxnSpPr>
        <p:spPr>
          <a:xfrm>
            <a:off x="2628900" y="2400300"/>
            <a:ext cx="3714750" cy="2286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22" name="Oval 21"/>
          <p:cNvSpPr/>
          <p:nvPr/>
        </p:nvSpPr>
        <p:spPr>
          <a:xfrm>
            <a:off x="4057650" y="34861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3" name="Oval 22"/>
          <p:cNvSpPr/>
          <p:nvPr/>
        </p:nvSpPr>
        <p:spPr>
          <a:xfrm>
            <a:off x="4171950" y="33147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4" name="Oval 23"/>
          <p:cNvSpPr/>
          <p:nvPr/>
        </p:nvSpPr>
        <p:spPr>
          <a:xfrm>
            <a:off x="4400550" y="32004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5" name="Oval 24"/>
          <p:cNvSpPr/>
          <p:nvPr/>
        </p:nvSpPr>
        <p:spPr>
          <a:xfrm>
            <a:off x="4514850" y="30289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6" name="Oval 25"/>
          <p:cNvSpPr/>
          <p:nvPr/>
        </p:nvSpPr>
        <p:spPr>
          <a:xfrm>
            <a:off x="4457700" y="28575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7" name="Oval 26"/>
          <p:cNvSpPr/>
          <p:nvPr/>
        </p:nvSpPr>
        <p:spPr>
          <a:xfrm>
            <a:off x="4686300" y="2743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8" name="Oval 27"/>
          <p:cNvSpPr/>
          <p:nvPr/>
        </p:nvSpPr>
        <p:spPr>
          <a:xfrm>
            <a:off x="4800600" y="2506436"/>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9" name="Oval 28"/>
          <p:cNvSpPr/>
          <p:nvPr/>
        </p:nvSpPr>
        <p:spPr>
          <a:xfrm>
            <a:off x="4972050" y="23431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0" name="Oval 29"/>
          <p:cNvSpPr/>
          <p:nvPr/>
        </p:nvSpPr>
        <p:spPr>
          <a:xfrm>
            <a:off x="5257800" y="37147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2" name="Oval 31"/>
          <p:cNvSpPr/>
          <p:nvPr/>
        </p:nvSpPr>
        <p:spPr>
          <a:xfrm>
            <a:off x="4743450" y="40005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3" name="Oval 32"/>
          <p:cNvSpPr/>
          <p:nvPr/>
        </p:nvSpPr>
        <p:spPr>
          <a:xfrm>
            <a:off x="4343400" y="41719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4" name="Oval 33"/>
          <p:cNvSpPr/>
          <p:nvPr/>
        </p:nvSpPr>
        <p:spPr>
          <a:xfrm>
            <a:off x="4743450" y="45148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5" name="Oval 34"/>
          <p:cNvSpPr/>
          <p:nvPr/>
        </p:nvSpPr>
        <p:spPr>
          <a:xfrm>
            <a:off x="4800600" y="36004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6" name="Oval 35"/>
          <p:cNvSpPr/>
          <p:nvPr/>
        </p:nvSpPr>
        <p:spPr>
          <a:xfrm>
            <a:off x="5086350" y="34290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7" name="Oval 36"/>
          <p:cNvSpPr/>
          <p:nvPr/>
        </p:nvSpPr>
        <p:spPr>
          <a:xfrm>
            <a:off x="4972050" y="31432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8" name="Oval 37"/>
          <p:cNvSpPr/>
          <p:nvPr/>
        </p:nvSpPr>
        <p:spPr>
          <a:xfrm>
            <a:off x="4629150" y="33718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9" name="Oval 38"/>
          <p:cNvSpPr/>
          <p:nvPr/>
        </p:nvSpPr>
        <p:spPr>
          <a:xfrm>
            <a:off x="434340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0" name="Oval 39"/>
          <p:cNvSpPr/>
          <p:nvPr/>
        </p:nvSpPr>
        <p:spPr>
          <a:xfrm>
            <a:off x="4686300" y="42291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1" name="Oval 40"/>
          <p:cNvSpPr/>
          <p:nvPr/>
        </p:nvSpPr>
        <p:spPr>
          <a:xfrm>
            <a:off x="5029200" y="42862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2" name="Oval 41"/>
          <p:cNvSpPr/>
          <p:nvPr/>
        </p:nvSpPr>
        <p:spPr>
          <a:xfrm>
            <a:off x="5372100" y="42291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3" name="Oval 42"/>
          <p:cNvSpPr/>
          <p:nvPr/>
        </p:nvSpPr>
        <p:spPr>
          <a:xfrm>
            <a:off x="5715000" y="41148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4" name="Oval 43"/>
          <p:cNvSpPr/>
          <p:nvPr/>
        </p:nvSpPr>
        <p:spPr>
          <a:xfrm>
            <a:off x="565785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5" name="Oval 44"/>
          <p:cNvSpPr/>
          <p:nvPr/>
        </p:nvSpPr>
        <p:spPr>
          <a:xfrm>
            <a:off x="537210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6" name="Oval 45"/>
          <p:cNvSpPr/>
          <p:nvPr/>
        </p:nvSpPr>
        <p:spPr>
          <a:xfrm>
            <a:off x="5486400" y="36576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7" name="Oval 46"/>
          <p:cNvSpPr/>
          <p:nvPr/>
        </p:nvSpPr>
        <p:spPr>
          <a:xfrm>
            <a:off x="5886450" y="44577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8" name="Oval 47"/>
          <p:cNvSpPr/>
          <p:nvPr/>
        </p:nvSpPr>
        <p:spPr>
          <a:xfrm>
            <a:off x="4000500" y="29146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9" name="Oval 48"/>
          <p:cNvSpPr/>
          <p:nvPr/>
        </p:nvSpPr>
        <p:spPr>
          <a:xfrm>
            <a:off x="3714750" y="29146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0" name="Oval 49"/>
          <p:cNvSpPr/>
          <p:nvPr/>
        </p:nvSpPr>
        <p:spPr>
          <a:xfrm>
            <a:off x="3486150" y="30861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1" name="Oval 50"/>
          <p:cNvSpPr/>
          <p:nvPr/>
        </p:nvSpPr>
        <p:spPr>
          <a:xfrm>
            <a:off x="3657600" y="34861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2" name="Oval 51"/>
          <p:cNvSpPr/>
          <p:nvPr/>
        </p:nvSpPr>
        <p:spPr>
          <a:xfrm>
            <a:off x="3771900" y="2743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3" name="Oval 52"/>
          <p:cNvSpPr/>
          <p:nvPr/>
        </p:nvSpPr>
        <p:spPr>
          <a:xfrm>
            <a:off x="4171950" y="25717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4" name="Oval 53"/>
          <p:cNvSpPr/>
          <p:nvPr/>
        </p:nvSpPr>
        <p:spPr>
          <a:xfrm>
            <a:off x="3143250" y="30289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5" name="Oval 54"/>
          <p:cNvSpPr/>
          <p:nvPr/>
        </p:nvSpPr>
        <p:spPr>
          <a:xfrm>
            <a:off x="3371850" y="29146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6" name="Oval 55"/>
          <p:cNvSpPr/>
          <p:nvPr/>
        </p:nvSpPr>
        <p:spPr>
          <a:xfrm>
            <a:off x="3486150" y="25717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9" name="TextBox 58"/>
          <p:cNvSpPr txBox="1"/>
          <p:nvPr/>
        </p:nvSpPr>
        <p:spPr>
          <a:xfrm>
            <a:off x="3990521" y="5372100"/>
            <a:ext cx="1263487" cy="415498"/>
          </a:xfrm>
          <a:prstGeom prst="rect">
            <a:avLst/>
          </a:prstGeom>
          <a:noFill/>
        </p:spPr>
        <p:txBody>
          <a:bodyPr wrap="none" rtlCol="0">
            <a:spAutoFit/>
          </a:bodyPr>
          <a:lstStyle/>
          <a:p>
            <a:r>
              <a:rPr lang="en-US" sz="2100" b="1" dirty="0"/>
              <a:t>Inliers: 3</a:t>
            </a:r>
          </a:p>
        </p:txBody>
      </p:sp>
      <p:sp>
        <p:nvSpPr>
          <p:cNvPr id="57" name="Rectangle 2"/>
          <p:cNvSpPr txBox="1">
            <a:spLocks noChangeArrowheads="1"/>
          </p:cNvSpPr>
          <p:nvPr>
            <p:custDataLst>
              <p:tags r:id="rId1"/>
            </p:custDataLst>
          </p:nvPr>
        </p:nvSpPr>
        <p:spPr>
          <a:xfrm>
            <a:off x="571500" y="1056767"/>
            <a:ext cx="8229600" cy="857250"/>
          </a:xfrm>
          <a:prstGeom prst="rect">
            <a:avLst/>
          </a:prstGeom>
        </p:spPr>
        <p:txBody>
          <a:bodyPr vert="horz" lIns="68580" tIns="34290" rIns="68580" bIns="34290" rtlCol="0" anchor="ctr">
            <a:normAutofit/>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en-US" sz="3300" dirty="0" err="1">
                <a:solidFill>
                  <a:srgbClr val="FF0000"/>
                </a:solidFill>
              </a:rPr>
              <a:t>RAN</a:t>
            </a:r>
            <a:r>
              <a:rPr lang="en-US" sz="3300" dirty="0" err="1"/>
              <a:t>dom</a:t>
            </a:r>
            <a:r>
              <a:rPr lang="en-US" sz="3300" dirty="0"/>
              <a:t> </a:t>
            </a:r>
            <a:r>
              <a:rPr lang="en-US" sz="3300" dirty="0" err="1">
                <a:solidFill>
                  <a:srgbClr val="FF0000"/>
                </a:solidFill>
              </a:rPr>
              <a:t>SA</a:t>
            </a:r>
            <a:r>
              <a:rPr lang="en-US" sz="3300" dirty="0" err="1"/>
              <a:t>mple</a:t>
            </a:r>
            <a:r>
              <a:rPr lang="en-US" sz="3300" dirty="0"/>
              <a:t> </a:t>
            </a:r>
            <a:r>
              <a:rPr lang="en-US" sz="3300" dirty="0">
                <a:solidFill>
                  <a:srgbClr val="FF0000"/>
                </a:solidFill>
              </a:rPr>
              <a:t>C</a:t>
            </a:r>
            <a:r>
              <a:rPr lang="en-US" sz="3300" dirty="0"/>
              <a:t>onsensus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grpId="0" nodeType="clickEffect">
                                  <p:stCondLst>
                                    <p:cond delay="0"/>
                                  </p:stCondLst>
                                  <p:childTnLst>
                                    <p:animScale>
                                      <p:cBhvr>
                                        <p:cTn id="6" dur="500" fill="hold"/>
                                        <p:tgtEl>
                                          <p:spTgt spid="23"/>
                                        </p:tgtEl>
                                      </p:cBhvr>
                                      <p:by x="150000" y="150000"/>
                                    </p:animScale>
                                  </p:childTnLst>
                                </p:cTn>
                              </p:par>
                              <p:par>
                                <p:cTn id="7" presetID="6" presetClass="emph" presetSubtype="0" fill="hold" grpId="0" nodeType="withEffect">
                                  <p:stCondLst>
                                    <p:cond delay="0"/>
                                  </p:stCondLst>
                                  <p:childTnLst>
                                    <p:animScale>
                                      <p:cBhvr>
                                        <p:cTn id="8" dur="500" fill="hold"/>
                                        <p:tgtEl>
                                          <p:spTgt spid="47"/>
                                        </p:tgtEl>
                                      </p:cBhvr>
                                      <p:by x="150000" y="150000"/>
                                    </p:animScale>
                                  </p:childTnLst>
                                </p:cTn>
                              </p:par>
                              <p:par>
                                <p:cTn id="9" presetID="6" presetClass="emph" presetSubtype="0" fill="hold" grpId="0" nodeType="withEffect">
                                  <p:stCondLst>
                                    <p:cond delay="0"/>
                                  </p:stCondLst>
                                  <p:childTnLst>
                                    <p:animScale>
                                      <p:cBhvr>
                                        <p:cTn id="10" dur="500" fill="hold"/>
                                        <p:tgtEl>
                                          <p:spTgt spid="55"/>
                                        </p:tgtEl>
                                      </p:cBhvr>
                                      <p:by x="150000" y="150000"/>
                                    </p:animScale>
                                  </p:childTnLst>
                                </p:cTn>
                              </p:par>
                              <p:par>
                                <p:cTn id="11" presetID="19" presetClass="emph" presetSubtype="0" fill="hold" grpId="1" nodeType="withEffect">
                                  <p:stCondLst>
                                    <p:cond delay="0"/>
                                  </p:stCondLst>
                                  <p:childTnLst>
                                    <p:animClr clrSpc="rgb" dir="cw">
                                      <p:cBhvr override="childStyle">
                                        <p:cTn id="12" dur="500" fill="hold"/>
                                        <p:tgtEl>
                                          <p:spTgt spid="55"/>
                                        </p:tgtEl>
                                        <p:attrNameLst>
                                          <p:attrName>style.color</p:attrName>
                                        </p:attrNameLst>
                                      </p:cBhvr>
                                      <p:to>
                                        <a:srgbClr val="00FF00"/>
                                      </p:to>
                                    </p:animClr>
                                    <p:animClr clrSpc="rgb" dir="cw">
                                      <p:cBhvr>
                                        <p:cTn id="13" dur="500" fill="hold"/>
                                        <p:tgtEl>
                                          <p:spTgt spid="55"/>
                                        </p:tgtEl>
                                        <p:attrNameLst>
                                          <p:attrName>fillcolor</p:attrName>
                                        </p:attrNameLst>
                                      </p:cBhvr>
                                      <p:to>
                                        <a:srgbClr val="00FF00"/>
                                      </p:to>
                                    </p:animClr>
                                    <p:set>
                                      <p:cBhvr>
                                        <p:cTn id="14" dur="500" fill="hold"/>
                                        <p:tgtEl>
                                          <p:spTgt spid="55"/>
                                        </p:tgtEl>
                                        <p:attrNameLst>
                                          <p:attrName>fill.type</p:attrName>
                                        </p:attrNameLst>
                                      </p:cBhvr>
                                      <p:to>
                                        <p:strVal val="solid"/>
                                      </p:to>
                                    </p:set>
                                    <p:set>
                                      <p:cBhvr>
                                        <p:cTn id="15" dur="500" fill="hold"/>
                                        <p:tgtEl>
                                          <p:spTgt spid="55"/>
                                        </p:tgtEl>
                                        <p:attrNameLst>
                                          <p:attrName>fill.on</p:attrName>
                                        </p:attrNameLst>
                                      </p:cBhvr>
                                      <p:to>
                                        <p:strVal val="true"/>
                                      </p:to>
                                    </p:set>
                                  </p:childTnLst>
                                </p:cTn>
                              </p:par>
                              <p:par>
                                <p:cTn id="16" presetID="19" presetClass="emph" presetSubtype="0" fill="hold" grpId="1" nodeType="withEffect">
                                  <p:stCondLst>
                                    <p:cond delay="0"/>
                                  </p:stCondLst>
                                  <p:childTnLst>
                                    <p:animClr clrSpc="rgb" dir="cw">
                                      <p:cBhvr override="childStyle">
                                        <p:cTn id="17" dur="500" fill="hold"/>
                                        <p:tgtEl>
                                          <p:spTgt spid="23"/>
                                        </p:tgtEl>
                                        <p:attrNameLst>
                                          <p:attrName>style.color</p:attrName>
                                        </p:attrNameLst>
                                      </p:cBhvr>
                                      <p:to>
                                        <a:srgbClr val="00FF00"/>
                                      </p:to>
                                    </p:animClr>
                                    <p:animClr clrSpc="rgb" dir="cw">
                                      <p:cBhvr>
                                        <p:cTn id="18" dur="500" fill="hold"/>
                                        <p:tgtEl>
                                          <p:spTgt spid="23"/>
                                        </p:tgtEl>
                                        <p:attrNameLst>
                                          <p:attrName>fillcolor</p:attrName>
                                        </p:attrNameLst>
                                      </p:cBhvr>
                                      <p:to>
                                        <a:srgbClr val="00FF00"/>
                                      </p:to>
                                    </p:animClr>
                                    <p:set>
                                      <p:cBhvr>
                                        <p:cTn id="19" dur="500" fill="hold"/>
                                        <p:tgtEl>
                                          <p:spTgt spid="23"/>
                                        </p:tgtEl>
                                        <p:attrNameLst>
                                          <p:attrName>fill.type</p:attrName>
                                        </p:attrNameLst>
                                      </p:cBhvr>
                                      <p:to>
                                        <p:strVal val="solid"/>
                                      </p:to>
                                    </p:set>
                                    <p:set>
                                      <p:cBhvr>
                                        <p:cTn id="20" dur="500" fill="hold"/>
                                        <p:tgtEl>
                                          <p:spTgt spid="23"/>
                                        </p:tgtEl>
                                        <p:attrNameLst>
                                          <p:attrName>fill.on</p:attrName>
                                        </p:attrNameLst>
                                      </p:cBhvr>
                                      <p:to>
                                        <p:strVal val="true"/>
                                      </p:to>
                                    </p:set>
                                  </p:childTnLst>
                                </p:cTn>
                              </p:par>
                              <p:par>
                                <p:cTn id="21" presetID="19" presetClass="emph" presetSubtype="0" fill="hold" grpId="1" nodeType="withEffect">
                                  <p:stCondLst>
                                    <p:cond delay="0"/>
                                  </p:stCondLst>
                                  <p:childTnLst>
                                    <p:animClr clrSpc="rgb" dir="cw">
                                      <p:cBhvr override="childStyle">
                                        <p:cTn id="22" dur="500" fill="hold"/>
                                        <p:tgtEl>
                                          <p:spTgt spid="47"/>
                                        </p:tgtEl>
                                        <p:attrNameLst>
                                          <p:attrName>style.color</p:attrName>
                                        </p:attrNameLst>
                                      </p:cBhvr>
                                      <p:to>
                                        <a:srgbClr val="00FF00"/>
                                      </p:to>
                                    </p:animClr>
                                    <p:animClr clrSpc="rgb" dir="cw">
                                      <p:cBhvr>
                                        <p:cTn id="23" dur="500" fill="hold"/>
                                        <p:tgtEl>
                                          <p:spTgt spid="47"/>
                                        </p:tgtEl>
                                        <p:attrNameLst>
                                          <p:attrName>fillcolor</p:attrName>
                                        </p:attrNameLst>
                                      </p:cBhvr>
                                      <p:to>
                                        <a:srgbClr val="00FF00"/>
                                      </p:to>
                                    </p:animClr>
                                    <p:set>
                                      <p:cBhvr>
                                        <p:cTn id="24" dur="500" fill="hold"/>
                                        <p:tgtEl>
                                          <p:spTgt spid="47"/>
                                        </p:tgtEl>
                                        <p:attrNameLst>
                                          <p:attrName>fill.type</p:attrName>
                                        </p:attrNameLst>
                                      </p:cBhvr>
                                      <p:to>
                                        <p:strVal val="solid"/>
                                      </p:to>
                                    </p:set>
                                    <p:set>
                                      <p:cBhvr>
                                        <p:cTn id="25" dur="500" fill="hold"/>
                                        <p:tgtEl>
                                          <p:spTgt spid="47"/>
                                        </p:tgtEl>
                                        <p:attrNameLst>
                                          <p:attrName>fill.on</p:attrName>
                                        </p:attrNameLst>
                                      </p:cBhvr>
                                      <p:to>
                                        <p:strVal val="tru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47" grpId="0" animBg="1"/>
      <p:bldP spid="47" grpId="1" animBg="1"/>
      <p:bldP spid="55" grpId="0" animBg="1"/>
      <p:bldP spid="55" grpId="1" animBg="1"/>
      <p:bldP spid="59"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971800" y="2114550"/>
            <a:ext cx="3200400" cy="3200400"/>
          </a:xfrm>
          <a:prstGeom prst="rect">
            <a:avLst/>
          </a:prstGeom>
          <a:solidFill>
            <a:schemeClr val="bg1"/>
          </a:solidFill>
          <a:ln>
            <a:solidFill>
              <a:schemeClr val="tx1"/>
            </a:solidFill>
          </a:ln>
          <a:effectLst>
            <a:outerShdw blurRad="101600" dist="762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21" name="Straight Connector 20"/>
          <p:cNvCxnSpPr/>
          <p:nvPr/>
        </p:nvCxnSpPr>
        <p:spPr>
          <a:xfrm rot="5400000" flipH="1" flipV="1">
            <a:off x="2245442" y="2462981"/>
            <a:ext cx="3567267" cy="2457450"/>
          </a:xfrm>
          <a:prstGeom prst="line">
            <a:avLst/>
          </a:prstGeom>
          <a:ln w="57150">
            <a:solidFill>
              <a:srgbClr val="00FF00"/>
            </a:solidFill>
          </a:ln>
        </p:spPr>
        <p:style>
          <a:lnRef idx="1">
            <a:schemeClr val="accent1"/>
          </a:lnRef>
          <a:fillRef idx="0">
            <a:schemeClr val="accent1"/>
          </a:fillRef>
          <a:effectRef idx="0">
            <a:schemeClr val="accent1"/>
          </a:effectRef>
          <a:fontRef idx="minor">
            <a:schemeClr val="tx1"/>
          </a:fontRef>
        </p:style>
      </p:cxnSp>
      <p:sp>
        <p:nvSpPr>
          <p:cNvPr id="8" name="Oval 7"/>
          <p:cNvSpPr/>
          <p:nvPr/>
        </p:nvSpPr>
        <p:spPr>
          <a:xfrm>
            <a:off x="3714750" y="41148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Oval 8"/>
          <p:cNvSpPr/>
          <p:nvPr/>
        </p:nvSpPr>
        <p:spPr>
          <a:xfrm>
            <a:off x="382905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Oval 9"/>
          <p:cNvSpPr/>
          <p:nvPr/>
        </p:nvSpPr>
        <p:spPr>
          <a:xfrm>
            <a:off x="3486150" y="42862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1" name="Oval 10"/>
          <p:cNvSpPr/>
          <p:nvPr/>
        </p:nvSpPr>
        <p:spPr>
          <a:xfrm>
            <a:off x="3657600" y="42291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Oval 11"/>
          <p:cNvSpPr/>
          <p:nvPr/>
        </p:nvSpPr>
        <p:spPr>
          <a:xfrm>
            <a:off x="3429000" y="44577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Oval 12"/>
          <p:cNvSpPr/>
          <p:nvPr/>
        </p:nvSpPr>
        <p:spPr>
          <a:xfrm>
            <a:off x="3314700" y="45720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Oval 13"/>
          <p:cNvSpPr/>
          <p:nvPr/>
        </p:nvSpPr>
        <p:spPr>
          <a:xfrm>
            <a:off x="3208565" y="47434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5" name="Oval 14"/>
          <p:cNvSpPr/>
          <p:nvPr/>
        </p:nvSpPr>
        <p:spPr>
          <a:xfrm>
            <a:off x="3143250" y="49149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Oval 15"/>
          <p:cNvSpPr/>
          <p:nvPr/>
        </p:nvSpPr>
        <p:spPr>
          <a:xfrm>
            <a:off x="3314700" y="46863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7" name="Oval 16"/>
          <p:cNvSpPr/>
          <p:nvPr/>
        </p:nvSpPr>
        <p:spPr>
          <a:xfrm>
            <a:off x="3714750" y="39433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Oval 17"/>
          <p:cNvSpPr/>
          <p:nvPr/>
        </p:nvSpPr>
        <p:spPr>
          <a:xfrm>
            <a:off x="3943350" y="37719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9" name="Oval 18"/>
          <p:cNvSpPr/>
          <p:nvPr/>
        </p:nvSpPr>
        <p:spPr>
          <a:xfrm>
            <a:off x="4057650" y="36576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2" name="Oval 21"/>
          <p:cNvSpPr/>
          <p:nvPr/>
        </p:nvSpPr>
        <p:spPr>
          <a:xfrm>
            <a:off x="4057650" y="34861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3" name="Oval 22"/>
          <p:cNvSpPr/>
          <p:nvPr/>
        </p:nvSpPr>
        <p:spPr>
          <a:xfrm>
            <a:off x="4171950" y="33147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4" name="Oval 23"/>
          <p:cNvSpPr/>
          <p:nvPr/>
        </p:nvSpPr>
        <p:spPr>
          <a:xfrm>
            <a:off x="4400550" y="32004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5" name="Oval 24"/>
          <p:cNvSpPr/>
          <p:nvPr/>
        </p:nvSpPr>
        <p:spPr>
          <a:xfrm>
            <a:off x="4514850" y="30289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6" name="Oval 25"/>
          <p:cNvSpPr/>
          <p:nvPr/>
        </p:nvSpPr>
        <p:spPr>
          <a:xfrm>
            <a:off x="4457700" y="28575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7" name="Oval 26"/>
          <p:cNvSpPr/>
          <p:nvPr/>
        </p:nvSpPr>
        <p:spPr>
          <a:xfrm>
            <a:off x="4686300" y="2743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8" name="Oval 27"/>
          <p:cNvSpPr/>
          <p:nvPr/>
        </p:nvSpPr>
        <p:spPr>
          <a:xfrm>
            <a:off x="4800600" y="2506436"/>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9" name="Oval 28"/>
          <p:cNvSpPr/>
          <p:nvPr/>
        </p:nvSpPr>
        <p:spPr>
          <a:xfrm>
            <a:off x="4972050" y="23431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0" name="Oval 29"/>
          <p:cNvSpPr/>
          <p:nvPr/>
        </p:nvSpPr>
        <p:spPr>
          <a:xfrm>
            <a:off x="508635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2" name="Oval 31"/>
          <p:cNvSpPr/>
          <p:nvPr/>
        </p:nvSpPr>
        <p:spPr>
          <a:xfrm>
            <a:off x="4743450" y="40005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3" name="Oval 32"/>
          <p:cNvSpPr/>
          <p:nvPr/>
        </p:nvSpPr>
        <p:spPr>
          <a:xfrm>
            <a:off x="4629150" y="36576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4" name="Oval 33"/>
          <p:cNvSpPr/>
          <p:nvPr/>
        </p:nvSpPr>
        <p:spPr>
          <a:xfrm>
            <a:off x="4857750" y="37719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5" name="Oval 34"/>
          <p:cNvSpPr/>
          <p:nvPr/>
        </p:nvSpPr>
        <p:spPr>
          <a:xfrm>
            <a:off x="4800600" y="36004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6" name="Oval 35"/>
          <p:cNvSpPr/>
          <p:nvPr/>
        </p:nvSpPr>
        <p:spPr>
          <a:xfrm>
            <a:off x="5086350" y="34290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7" name="Oval 36"/>
          <p:cNvSpPr/>
          <p:nvPr/>
        </p:nvSpPr>
        <p:spPr>
          <a:xfrm>
            <a:off x="4972050" y="31432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8" name="Oval 37"/>
          <p:cNvSpPr/>
          <p:nvPr/>
        </p:nvSpPr>
        <p:spPr>
          <a:xfrm>
            <a:off x="4629150" y="33718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9" name="Oval 38"/>
          <p:cNvSpPr/>
          <p:nvPr/>
        </p:nvSpPr>
        <p:spPr>
          <a:xfrm>
            <a:off x="434340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0" name="Oval 39"/>
          <p:cNvSpPr/>
          <p:nvPr/>
        </p:nvSpPr>
        <p:spPr>
          <a:xfrm>
            <a:off x="4686300" y="42291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1" name="Oval 40"/>
          <p:cNvSpPr/>
          <p:nvPr/>
        </p:nvSpPr>
        <p:spPr>
          <a:xfrm>
            <a:off x="5029200" y="42862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2" name="Oval 41"/>
          <p:cNvSpPr/>
          <p:nvPr/>
        </p:nvSpPr>
        <p:spPr>
          <a:xfrm>
            <a:off x="5372100" y="42291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3" name="Oval 42"/>
          <p:cNvSpPr/>
          <p:nvPr/>
        </p:nvSpPr>
        <p:spPr>
          <a:xfrm>
            <a:off x="5715000" y="41148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4" name="Oval 43"/>
          <p:cNvSpPr/>
          <p:nvPr/>
        </p:nvSpPr>
        <p:spPr>
          <a:xfrm>
            <a:off x="565785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5" name="Oval 44"/>
          <p:cNvSpPr/>
          <p:nvPr/>
        </p:nvSpPr>
        <p:spPr>
          <a:xfrm>
            <a:off x="5372100" y="3886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6" name="Oval 45"/>
          <p:cNvSpPr/>
          <p:nvPr/>
        </p:nvSpPr>
        <p:spPr>
          <a:xfrm>
            <a:off x="5486400" y="36576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7" name="Oval 46"/>
          <p:cNvSpPr/>
          <p:nvPr/>
        </p:nvSpPr>
        <p:spPr>
          <a:xfrm>
            <a:off x="5886450" y="44577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8" name="Oval 47"/>
          <p:cNvSpPr/>
          <p:nvPr/>
        </p:nvSpPr>
        <p:spPr>
          <a:xfrm>
            <a:off x="4000500" y="29146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9" name="Oval 48"/>
          <p:cNvSpPr/>
          <p:nvPr/>
        </p:nvSpPr>
        <p:spPr>
          <a:xfrm>
            <a:off x="3829050" y="31432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0" name="Oval 49"/>
          <p:cNvSpPr/>
          <p:nvPr/>
        </p:nvSpPr>
        <p:spPr>
          <a:xfrm>
            <a:off x="3486150" y="30861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1" name="Oval 50"/>
          <p:cNvSpPr/>
          <p:nvPr/>
        </p:nvSpPr>
        <p:spPr>
          <a:xfrm>
            <a:off x="3657600" y="34861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2" name="Oval 51"/>
          <p:cNvSpPr/>
          <p:nvPr/>
        </p:nvSpPr>
        <p:spPr>
          <a:xfrm>
            <a:off x="3771900" y="274320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3" name="Oval 52"/>
          <p:cNvSpPr/>
          <p:nvPr/>
        </p:nvSpPr>
        <p:spPr>
          <a:xfrm>
            <a:off x="3429000" y="26860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4" name="Oval 53"/>
          <p:cNvSpPr/>
          <p:nvPr/>
        </p:nvSpPr>
        <p:spPr>
          <a:xfrm>
            <a:off x="3143250" y="30289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5" name="Oval 54"/>
          <p:cNvSpPr/>
          <p:nvPr/>
        </p:nvSpPr>
        <p:spPr>
          <a:xfrm>
            <a:off x="3371850" y="29146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6" name="Oval 55"/>
          <p:cNvSpPr/>
          <p:nvPr/>
        </p:nvSpPr>
        <p:spPr>
          <a:xfrm>
            <a:off x="3486150" y="2571750"/>
            <a:ext cx="57150" cy="57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0" name="TextBox 59"/>
          <p:cNvSpPr txBox="1"/>
          <p:nvPr/>
        </p:nvSpPr>
        <p:spPr>
          <a:xfrm>
            <a:off x="3990520" y="5372100"/>
            <a:ext cx="1418978" cy="415498"/>
          </a:xfrm>
          <a:prstGeom prst="rect">
            <a:avLst/>
          </a:prstGeom>
          <a:noFill/>
        </p:spPr>
        <p:txBody>
          <a:bodyPr wrap="none" rtlCol="0">
            <a:spAutoFit/>
          </a:bodyPr>
          <a:lstStyle/>
          <a:p>
            <a:r>
              <a:rPr lang="en-US" sz="2100" b="1" dirty="0"/>
              <a:t>Inliers: 20</a:t>
            </a:r>
          </a:p>
        </p:txBody>
      </p:sp>
      <p:sp>
        <p:nvSpPr>
          <p:cNvPr id="57" name="Rectangle 2"/>
          <p:cNvSpPr txBox="1">
            <a:spLocks noChangeArrowheads="1"/>
          </p:cNvSpPr>
          <p:nvPr>
            <p:custDataLst>
              <p:tags r:id="rId1"/>
            </p:custDataLst>
          </p:nvPr>
        </p:nvSpPr>
        <p:spPr>
          <a:xfrm>
            <a:off x="571500" y="1056767"/>
            <a:ext cx="8229600" cy="857250"/>
          </a:xfrm>
          <a:prstGeom prst="rect">
            <a:avLst/>
          </a:prstGeom>
        </p:spPr>
        <p:txBody>
          <a:bodyPr vert="horz" lIns="68580" tIns="34290" rIns="68580" bIns="34290" rtlCol="0" anchor="ctr">
            <a:normAutofit/>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en-US" sz="3300" dirty="0" err="1">
                <a:solidFill>
                  <a:srgbClr val="FF0000"/>
                </a:solidFill>
              </a:rPr>
              <a:t>RAN</a:t>
            </a:r>
            <a:r>
              <a:rPr lang="en-US" sz="3300" dirty="0" err="1"/>
              <a:t>dom</a:t>
            </a:r>
            <a:r>
              <a:rPr lang="en-US" sz="3300" dirty="0"/>
              <a:t> </a:t>
            </a:r>
            <a:r>
              <a:rPr lang="en-US" sz="3300" dirty="0" err="1">
                <a:solidFill>
                  <a:srgbClr val="FF0000"/>
                </a:solidFill>
              </a:rPr>
              <a:t>SA</a:t>
            </a:r>
            <a:r>
              <a:rPr lang="en-US" sz="3300" dirty="0" err="1"/>
              <a:t>mple</a:t>
            </a:r>
            <a:r>
              <a:rPr lang="en-US" sz="3300" dirty="0"/>
              <a:t> </a:t>
            </a:r>
            <a:r>
              <a:rPr lang="en-US" sz="3300" dirty="0">
                <a:solidFill>
                  <a:srgbClr val="FF0000"/>
                </a:solidFill>
              </a:rPr>
              <a:t>C</a:t>
            </a:r>
            <a:r>
              <a:rPr lang="en-US" sz="3300" dirty="0"/>
              <a:t>onsensus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grpId="0" nodeType="clickEffect">
                                  <p:stCondLst>
                                    <p:cond delay="0"/>
                                  </p:stCondLst>
                                  <p:childTnLst>
                                    <p:animScale>
                                      <p:cBhvr>
                                        <p:cTn id="6" dur="500" fill="hold"/>
                                        <p:tgtEl>
                                          <p:spTgt spid="15"/>
                                        </p:tgtEl>
                                      </p:cBhvr>
                                      <p:by x="150000" y="150000"/>
                                    </p:animScale>
                                  </p:childTnLst>
                                </p:cTn>
                              </p:par>
                              <p:par>
                                <p:cTn id="7" presetID="6" presetClass="emph" presetSubtype="0" fill="hold" grpId="0" nodeType="withEffect">
                                  <p:stCondLst>
                                    <p:cond delay="0"/>
                                  </p:stCondLst>
                                  <p:childTnLst>
                                    <p:animScale>
                                      <p:cBhvr>
                                        <p:cTn id="8" dur="500" fill="hold"/>
                                        <p:tgtEl>
                                          <p:spTgt spid="14"/>
                                        </p:tgtEl>
                                      </p:cBhvr>
                                      <p:by x="150000" y="150000"/>
                                    </p:animScale>
                                  </p:childTnLst>
                                </p:cTn>
                              </p:par>
                              <p:par>
                                <p:cTn id="9" presetID="6" presetClass="emph" presetSubtype="0" fill="hold" grpId="0" nodeType="withEffect">
                                  <p:stCondLst>
                                    <p:cond delay="0"/>
                                  </p:stCondLst>
                                  <p:childTnLst>
                                    <p:animScale>
                                      <p:cBhvr>
                                        <p:cTn id="10" dur="500" fill="hold"/>
                                        <p:tgtEl>
                                          <p:spTgt spid="16"/>
                                        </p:tgtEl>
                                      </p:cBhvr>
                                      <p:by x="150000" y="150000"/>
                                    </p:animScale>
                                  </p:childTnLst>
                                </p:cTn>
                              </p:par>
                              <p:par>
                                <p:cTn id="11" presetID="6" presetClass="emph" presetSubtype="0" fill="hold" grpId="0" nodeType="withEffect">
                                  <p:stCondLst>
                                    <p:cond delay="0"/>
                                  </p:stCondLst>
                                  <p:childTnLst>
                                    <p:animScale>
                                      <p:cBhvr>
                                        <p:cTn id="12" dur="500" fill="hold"/>
                                        <p:tgtEl>
                                          <p:spTgt spid="13"/>
                                        </p:tgtEl>
                                      </p:cBhvr>
                                      <p:by x="150000" y="150000"/>
                                    </p:animScale>
                                  </p:childTnLst>
                                </p:cTn>
                              </p:par>
                              <p:par>
                                <p:cTn id="13" presetID="6" presetClass="emph" presetSubtype="0" fill="hold" grpId="0" nodeType="withEffect">
                                  <p:stCondLst>
                                    <p:cond delay="0"/>
                                  </p:stCondLst>
                                  <p:childTnLst>
                                    <p:animScale>
                                      <p:cBhvr>
                                        <p:cTn id="14" dur="500" fill="hold"/>
                                        <p:tgtEl>
                                          <p:spTgt spid="12"/>
                                        </p:tgtEl>
                                      </p:cBhvr>
                                      <p:by x="150000" y="150000"/>
                                    </p:animScale>
                                  </p:childTnLst>
                                </p:cTn>
                              </p:par>
                              <p:par>
                                <p:cTn id="15" presetID="6" presetClass="emph" presetSubtype="0" fill="hold" grpId="0" nodeType="withEffect">
                                  <p:stCondLst>
                                    <p:cond delay="0"/>
                                  </p:stCondLst>
                                  <p:childTnLst>
                                    <p:animScale>
                                      <p:cBhvr>
                                        <p:cTn id="16" dur="500" fill="hold"/>
                                        <p:tgtEl>
                                          <p:spTgt spid="10"/>
                                        </p:tgtEl>
                                      </p:cBhvr>
                                      <p:by x="150000" y="150000"/>
                                    </p:animScale>
                                  </p:childTnLst>
                                </p:cTn>
                              </p:par>
                              <p:par>
                                <p:cTn id="17" presetID="6" presetClass="emph" presetSubtype="0" fill="hold" grpId="0" nodeType="withEffect">
                                  <p:stCondLst>
                                    <p:cond delay="0"/>
                                  </p:stCondLst>
                                  <p:childTnLst>
                                    <p:animScale>
                                      <p:cBhvr>
                                        <p:cTn id="18" dur="500" fill="hold"/>
                                        <p:tgtEl>
                                          <p:spTgt spid="11"/>
                                        </p:tgtEl>
                                      </p:cBhvr>
                                      <p:by x="150000" y="150000"/>
                                    </p:animScale>
                                  </p:childTnLst>
                                </p:cTn>
                              </p:par>
                              <p:par>
                                <p:cTn id="19" presetID="6" presetClass="emph" presetSubtype="0" fill="hold" grpId="0" nodeType="withEffect">
                                  <p:stCondLst>
                                    <p:cond delay="0"/>
                                  </p:stCondLst>
                                  <p:childTnLst>
                                    <p:animScale>
                                      <p:cBhvr>
                                        <p:cTn id="20" dur="500" fill="hold"/>
                                        <p:tgtEl>
                                          <p:spTgt spid="8"/>
                                        </p:tgtEl>
                                      </p:cBhvr>
                                      <p:by x="150000" y="150000"/>
                                    </p:animScale>
                                  </p:childTnLst>
                                </p:cTn>
                              </p:par>
                              <p:par>
                                <p:cTn id="21" presetID="6" presetClass="emph" presetSubtype="0" fill="hold" grpId="0" nodeType="withEffect">
                                  <p:stCondLst>
                                    <p:cond delay="0"/>
                                  </p:stCondLst>
                                  <p:childTnLst>
                                    <p:animScale>
                                      <p:cBhvr>
                                        <p:cTn id="22" dur="500" fill="hold"/>
                                        <p:tgtEl>
                                          <p:spTgt spid="17"/>
                                        </p:tgtEl>
                                      </p:cBhvr>
                                      <p:by x="150000" y="150000"/>
                                    </p:animScale>
                                  </p:childTnLst>
                                </p:cTn>
                              </p:par>
                              <p:par>
                                <p:cTn id="23" presetID="6" presetClass="emph" presetSubtype="0" fill="hold" grpId="0" nodeType="withEffect">
                                  <p:stCondLst>
                                    <p:cond delay="0"/>
                                  </p:stCondLst>
                                  <p:childTnLst>
                                    <p:animScale>
                                      <p:cBhvr>
                                        <p:cTn id="24" dur="500" fill="hold"/>
                                        <p:tgtEl>
                                          <p:spTgt spid="9"/>
                                        </p:tgtEl>
                                      </p:cBhvr>
                                      <p:by x="150000" y="150000"/>
                                    </p:animScale>
                                  </p:childTnLst>
                                </p:cTn>
                              </p:par>
                              <p:par>
                                <p:cTn id="25" presetID="6" presetClass="emph" presetSubtype="0" fill="hold" grpId="0" nodeType="withEffect">
                                  <p:stCondLst>
                                    <p:cond delay="0"/>
                                  </p:stCondLst>
                                  <p:childTnLst>
                                    <p:animScale>
                                      <p:cBhvr>
                                        <p:cTn id="26" dur="500" fill="hold"/>
                                        <p:tgtEl>
                                          <p:spTgt spid="18"/>
                                        </p:tgtEl>
                                      </p:cBhvr>
                                      <p:by x="150000" y="150000"/>
                                    </p:animScale>
                                  </p:childTnLst>
                                </p:cTn>
                              </p:par>
                              <p:par>
                                <p:cTn id="27" presetID="6" presetClass="emph" presetSubtype="0" fill="hold" grpId="0" nodeType="withEffect">
                                  <p:stCondLst>
                                    <p:cond delay="0"/>
                                  </p:stCondLst>
                                  <p:childTnLst>
                                    <p:animScale>
                                      <p:cBhvr>
                                        <p:cTn id="28" dur="500" fill="hold"/>
                                        <p:tgtEl>
                                          <p:spTgt spid="19"/>
                                        </p:tgtEl>
                                      </p:cBhvr>
                                      <p:by x="150000" y="150000"/>
                                    </p:animScale>
                                  </p:childTnLst>
                                </p:cTn>
                              </p:par>
                              <p:par>
                                <p:cTn id="29" presetID="6" presetClass="emph" presetSubtype="0" fill="hold" grpId="0" nodeType="withEffect">
                                  <p:stCondLst>
                                    <p:cond delay="0"/>
                                  </p:stCondLst>
                                  <p:childTnLst>
                                    <p:animScale>
                                      <p:cBhvr>
                                        <p:cTn id="30" dur="500" fill="hold"/>
                                        <p:tgtEl>
                                          <p:spTgt spid="22"/>
                                        </p:tgtEl>
                                      </p:cBhvr>
                                      <p:by x="150000" y="150000"/>
                                    </p:animScale>
                                  </p:childTnLst>
                                </p:cTn>
                              </p:par>
                              <p:par>
                                <p:cTn id="31" presetID="6" presetClass="emph" presetSubtype="0" fill="hold" grpId="0" nodeType="withEffect">
                                  <p:stCondLst>
                                    <p:cond delay="0"/>
                                  </p:stCondLst>
                                  <p:childTnLst>
                                    <p:animScale>
                                      <p:cBhvr>
                                        <p:cTn id="32" dur="500" fill="hold"/>
                                        <p:tgtEl>
                                          <p:spTgt spid="23"/>
                                        </p:tgtEl>
                                      </p:cBhvr>
                                      <p:by x="150000" y="150000"/>
                                    </p:animScale>
                                  </p:childTnLst>
                                </p:cTn>
                              </p:par>
                              <p:par>
                                <p:cTn id="33" presetID="6" presetClass="emph" presetSubtype="0" fill="hold" grpId="0" nodeType="withEffect">
                                  <p:stCondLst>
                                    <p:cond delay="0"/>
                                  </p:stCondLst>
                                  <p:childTnLst>
                                    <p:animScale>
                                      <p:cBhvr>
                                        <p:cTn id="34" dur="500" fill="hold"/>
                                        <p:tgtEl>
                                          <p:spTgt spid="24"/>
                                        </p:tgtEl>
                                      </p:cBhvr>
                                      <p:by x="150000" y="150000"/>
                                    </p:animScale>
                                  </p:childTnLst>
                                </p:cTn>
                              </p:par>
                              <p:par>
                                <p:cTn id="35" presetID="6" presetClass="emph" presetSubtype="0" fill="hold" grpId="0" nodeType="withEffect">
                                  <p:stCondLst>
                                    <p:cond delay="0"/>
                                  </p:stCondLst>
                                  <p:childTnLst>
                                    <p:animScale>
                                      <p:cBhvr>
                                        <p:cTn id="36" dur="500" fill="hold"/>
                                        <p:tgtEl>
                                          <p:spTgt spid="25"/>
                                        </p:tgtEl>
                                      </p:cBhvr>
                                      <p:by x="150000" y="150000"/>
                                    </p:animScale>
                                  </p:childTnLst>
                                </p:cTn>
                              </p:par>
                              <p:par>
                                <p:cTn id="37" presetID="6" presetClass="emph" presetSubtype="0" fill="hold" grpId="0" nodeType="withEffect">
                                  <p:stCondLst>
                                    <p:cond delay="0"/>
                                  </p:stCondLst>
                                  <p:childTnLst>
                                    <p:animScale>
                                      <p:cBhvr>
                                        <p:cTn id="38" dur="500" fill="hold"/>
                                        <p:tgtEl>
                                          <p:spTgt spid="26"/>
                                        </p:tgtEl>
                                      </p:cBhvr>
                                      <p:by x="150000" y="150000"/>
                                    </p:animScale>
                                  </p:childTnLst>
                                </p:cTn>
                              </p:par>
                              <p:par>
                                <p:cTn id="39" presetID="6" presetClass="emph" presetSubtype="0" fill="hold" grpId="0" nodeType="withEffect">
                                  <p:stCondLst>
                                    <p:cond delay="0"/>
                                  </p:stCondLst>
                                  <p:childTnLst>
                                    <p:animScale>
                                      <p:cBhvr>
                                        <p:cTn id="40" dur="500" fill="hold"/>
                                        <p:tgtEl>
                                          <p:spTgt spid="27"/>
                                        </p:tgtEl>
                                      </p:cBhvr>
                                      <p:by x="150000" y="150000"/>
                                    </p:animScale>
                                  </p:childTnLst>
                                </p:cTn>
                              </p:par>
                              <p:par>
                                <p:cTn id="41" presetID="6" presetClass="emph" presetSubtype="0" fill="hold" grpId="0" nodeType="withEffect">
                                  <p:stCondLst>
                                    <p:cond delay="0"/>
                                  </p:stCondLst>
                                  <p:childTnLst>
                                    <p:animScale>
                                      <p:cBhvr>
                                        <p:cTn id="42" dur="500" fill="hold"/>
                                        <p:tgtEl>
                                          <p:spTgt spid="28"/>
                                        </p:tgtEl>
                                      </p:cBhvr>
                                      <p:by x="150000" y="150000"/>
                                    </p:animScale>
                                  </p:childTnLst>
                                </p:cTn>
                              </p:par>
                              <p:par>
                                <p:cTn id="43" presetID="6" presetClass="emph" presetSubtype="0" fill="hold" grpId="0" nodeType="withEffect">
                                  <p:stCondLst>
                                    <p:cond delay="0"/>
                                  </p:stCondLst>
                                  <p:childTnLst>
                                    <p:animScale>
                                      <p:cBhvr>
                                        <p:cTn id="44" dur="500" fill="hold"/>
                                        <p:tgtEl>
                                          <p:spTgt spid="29"/>
                                        </p:tgtEl>
                                      </p:cBhvr>
                                      <p:by x="150000" y="150000"/>
                                    </p:animScale>
                                  </p:childTnLst>
                                </p:cTn>
                              </p:par>
                              <p:par>
                                <p:cTn id="45" presetID="19" presetClass="emph" presetSubtype="0" fill="hold" grpId="1" nodeType="withEffect">
                                  <p:stCondLst>
                                    <p:cond delay="0"/>
                                  </p:stCondLst>
                                  <p:childTnLst>
                                    <p:animClr clrSpc="rgb" dir="cw">
                                      <p:cBhvr override="childStyle">
                                        <p:cTn id="46" dur="500" fill="hold"/>
                                        <p:tgtEl>
                                          <p:spTgt spid="15"/>
                                        </p:tgtEl>
                                        <p:attrNameLst>
                                          <p:attrName>style.color</p:attrName>
                                        </p:attrNameLst>
                                      </p:cBhvr>
                                      <p:to>
                                        <a:srgbClr val="00FF00"/>
                                      </p:to>
                                    </p:animClr>
                                    <p:animClr clrSpc="rgb" dir="cw">
                                      <p:cBhvr>
                                        <p:cTn id="47" dur="500" fill="hold"/>
                                        <p:tgtEl>
                                          <p:spTgt spid="15"/>
                                        </p:tgtEl>
                                        <p:attrNameLst>
                                          <p:attrName>fillcolor</p:attrName>
                                        </p:attrNameLst>
                                      </p:cBhvr>
                                      <p:to>
                                        <a:srgbClr val="00FF00"/>
                                      </p:to>
                                    </p:animClr>
                                    <p:set>
                                      <p:cBhvr>
                                        <p:cTn id="48" dur="500" fill="hold"/>
                                        <p:tgtEl>
                                          <p:spTgt spid="15"/>
                                        </p:tgtEl>
                                        <p:attrNameLst>
                                          <p:attrName>fill.type</p:attrName>
                                        </p:attrNameLst>
                                      </p:cBhvr>
                                      <p:to>
                                        <p:strVal val="solid"/>
                                      </p:to>
                                    </p:set>
                                    <p:set>
                                      <p:cBhvr>
                                        <p:cTn id="49" dur="500" fill="hold"/>
                                        <p:tgtEl>
                                          <p:spTgt spid="15"/>
                                        </p:tgtEl>
                                        <p:attrNameLst>
                                          <p:attrName>fill.on</p:attrName>
                                        </p:attrNameLst>
                                      </p:cBhvr>
                                      <p:to>
                                        <p:strVal val="true"/>
                                      </p:to>
                                    </p:set>
                                  </p:childTnLst>
                                </p:cTn>
                              </p:par>
                              <p:par>
                                <p:cTn id="50" presetID="19" presetClass="emph" presetSubtype="0" fill="hold" grpId="1" nodeType="withEffect">
                                  <p:stCondLst>
                                    <p:cond delay="0"/>
                                  </p:stCondLst>
                                  <p:childTnLst>
                                    <p:animClr clrSpc="rgb" dir="cw">
                                      <p:cBhvr override="childStyle">
                                        <p:cTn id="51" dur="500" fill="hold"/>
                                        <p:tgtEl>
                                          <p:spTgt spid="14"/>
                                        </p:tgtEl>
                                        <p:attrNameLst>
                                          <p:attrName>style.color</p:attrName>
                                        </p:attrNameLst>
                                      </p:cBhvr>
                                      <p:to>
                                        <a:srgbClr val="00FF00"/>
                                      </p:to>
                                    </p:animClr>
                                    <p:animClr clrSpc="rgb" dir="cw">
                                      <p:cBhvr>
                                        <p:cTn id="52" dur="500" fill="hold"/>
                                        <p:tgtEl>
                                          <p:spTgt spid="14"/>
                                        </p:tgtEl>
                                        <p:attrNameLst>
                                          <p:attrName>fillcolor</p:attrName>
                                        </p:attrNameLst>
                                      </p:cBhvr>
                                      <p:to>
                                        <a:srgbClr val="00FF00"/>
                                      </p:to>
                                    </p:animClr>
                                    <p:set>
                                      <p:cBhvr>
                                        <p:cTn id="53" dur="500" fill="hold"/>
                                        <p:tgtEl>
                                          <p:spTgt spid="14"/>
                                        </p:tgtEl>
                                        <p:attrNameLst>
                                          <p:attrName>fill.type</p:attrName>
                                        </p:attrNameLst>
                                      </p:cBhvr>
                                      <p:to>
                                        <p:strVal val="solid"/>
                                      </p:to>
                                    </p:set>
                                    <p:set>
                                      <p:cBhvr>
                                        <p:cTn id="54" dur="500" fill="hold"/>
                                        <p:tgtEl>
                                          <p:spTgt spid="14"/>
                                        </p:tgtEl>
                                        <p:attrNameLst>
                                          <p:attrName>fill.on</p:attrName>
                                        </p:attrNameLst>
                                      </p:cBhvr>
                                      <p:to>
                                        <p:strVal val="true"/>
                                      </p:to>
                                    </p:set>
                                  </p:childTnLst>
                                </p:cTn>
                              </p:par>
                              <p:par>
                                <p:cTn id="55" presetID="19" presetClass="emph" presetSubtype="0" fill="hold" grpId="1" nodeType="withEffect">
                                  <p:stCondLst>
                                    <p:cond delay="0"/>
                                  </p:stCondLst>
                                  <p:childTnLst>
                                    <p:animClr clrSpc="rgb" dir="cw">
                                      <p:cBhvr override="childStyle">
                                        <p:cTn id="56" dur="500" fill="hold"/>
                                        <p:tgtEl>
                                          <p:spTgt spid="16"/>
                                        </p:tgtEl>
                                        <p:attrNameLst>
                                          <p:attrName>style.color</p:attrName>
                                        </p:attrNameLst>
                                      </p:cBhvr>
                                      <p:to>
                                        <a:srgbClr val="00FF00"/>
                                      </p:to>
                                    </p:animClr>
                                    <p:animClr clrSpc="rgb" dir="cw">
                                      <p:cBhvr>
                                        <p:cTn id="57" dur="500" fill="hold"/>
                                        <p:tgtEl>
                                          <p:spTgt spid="16"/>
                                        </p:tgtEl>
                                        <p:attrNameLst>
                                          <p:attrName>fillcolor</p:attrName>
                                        </p:attrNameLst>
                                      </p:cBhvr>
                                      <p:to>
                                        <a:srgbClr val="00FF00"/>
                                      </p:to>
                                    </p:animClr>
                                    <p:set>
                                      <p:cBhvr>
                                        <p:cTn id="58" dur="500" fill="hold"/>
                                        <p:tgtEl>
                                          <p:spTgt spid="16"/>
                                        </p:tgtEl>
                                        <p:attrNameLst>
                                          <p:attrName>fill.type</p:attrName>
                                        </p:attrNameLst>
                                      </p:cBhvr>
                                      <p:to>
                                        <p:strVal val="solid"/>
                                      </p:to>
                                    </p:set>
                                    <p:set>
                                      <p:cBhvr>
                                        <p:cTn id="59" dur="500" fill="hold"/>
                                        <p:tgtEl>
                                          <p:spTgt spid="16"/>
                                        </p:tgtEl>
                                        <p:attrNameLst>
                                          <p:attrName>fill.on</p:attrName>
                                        </p:attrNameLst>
                                      </p:cBhvr>
                                      <p:to>
                                        <p:strVal val="true"/>
                                      </p:to>
                                    </p:set>
                                  </p:childTnLst>
                                </p:cTn>
                              </p:par>
                              <p:par>
                                <p:cTn id="60" presetID="19" presetClass="emph" presetSubtype="0" fill="hold" grpId="1" nodeType="withEffect">
                                  <p:stCondLst>
                                    <p:cond delay="0"/>
                                  </p:stCondLst>
                                  <p:childTnLst>
                                    <p:animClr clrSpc="rgb" dir="cw">
                                      <p:cBhvr override="childStyle">
                                        <p:cTn id="61" dur="500" fill="hold"/>
                                        <p:tgtEl>
                                          <p:spTgt spid="13"/>
                                        </p:tgtEl>
                                        <p:attrNameLst>
                                          <p:attrName>style.color</p:attrName>
                                        </p:attrNameLst>
                                      </p:cBhvr>
                                      <p:to>
                                        <a:srgbClr val="00FF00"/>
                                      </p:to>
                                    </p:animClr>
                                    <p:animClr clrSpc="rgb" dir="cw">
                                      <p:cBhvr>
                                        <p:cTn id="62" dur="500" fill="hold"/>
                                        <p:tgtEl>
                                          <p:spTgt spid="13"/>
                                        </p:tgtEl>
                                        <p:attrNameLst>
                                          <p:attrName>fillcolor</p:attrName>
                                        </p:attrNameLst>
                                      </p:cBhvr>
                                      <p:to>
                                        <a:srgbClr val="00FF00"/>
                                      </p:to>
                                    </p:animClr>
                                    <p:set>
                                      <p:cBhvr>
                                        <p:cTn id="63" dur="500" fill="hold"/>
                                        <p:tgtEl>
                                          <p:spTgt spid="13"/>
                                        </p:tgtEl>
                                        <p:attrNameLst>
                                          <p:attrName>fill.type</p:attrName>
                                        </p:attrNameLst>
                                      </p:cBhvr>
                                      <p:to>
                                        <p:strVal val="solid"/>
                                      </p:to>
                                    </p:set>
                                    <p:set>
                                      <p:cBhvr>
                                        <p:cTn id="64" dur="500" fill="hold"/>
                                        <p:tgtEl>
                                          <p:spTgt spid="13"/>
                                        </p:tgtEl>
                                        <p:attrNameLst>
                                          <p:attrName>fill.on</p:attrName>
                                        </p:attrNameLst>
                                      </p:cBhvr>
                                      <p:to>
                                        <p:strVal val="true"/>
                                      </p:to>
                                    </p:set>
                                  </p:childTnLst>
                                </p:cTn>
                              </p:par>
                              <p:par>
                                <p:cTn id="65" presetID="19" presetClass="emph" presetSubtype="0" fill="hold" grpId="1" nodeType="withEffect">
                                  <p:stCondLst>
                                    <p:cond delay="0"/>
                                  </p:stCondLst>
                                  <p:childTnLst>
                                    <p:animClr clrSpc="rgb" dir="cw">
                                      <p:cBhvr override="childStyle">
                                        <p:cTn id="66" dur="500" fill="hold"/>
                                        <p:tgtEl>
                                          <p:spTgt spid="12"/>
                                        </p:tgtEl>
                                        <p:attrNameLst>
                                          <p:attrName>style.color</p:attrName>
                                        </p:attrNameLst>
                                      </p:cBhvr>
                                      <p:to>
                                        <a:srgbClr val="00FF00"/>
                                      </p:to>
                                    </p:animClr>
                                    <p:animClr clrSpc="rgb" dir="cw">
                                      <p:cBhvr>
                                        <p:cTn id="67" dur="500" fill="hold"/>
                                        <p:tgtEl>
                                          <p:spTgt spid="12"/>
                                        </p:tgtEl>
                                        <p:attrNameLst>
                                          <p:attrName>fillcolor</p:attrName>
                                        </p:attrNameLst>
                                      </p:cBhvr>
                                      <p:to>
                                        <a:srgbClr val="00FF00"/>
                                      </p:to>
                                    </p:animClr>
                                    <p:set>
                                      <p:cBhvr>
                                        <p:cTn id="68" dur="500" fill="hold"/>
                                        <p:tgtEl>
                                          <p:spTgt spid="12"/>
                                        </p:tgtEl>
                                        <p:attrNameLst>
                                          <p:attrName>fill.type</p:attrName>
                                        </p:attrNameLst>
                                      </p:cBhvr>
                                      <p:to>
                                        <p:strVal val="solid"/>
                                      </p:to>
                                    </p:set>
                                    <p:set>
                                      <p:cBhvr>
                                        <p:cTn id="69" dur="500" fill="hold"/>
                                        <p:tgtEl>
                                          <p:spTgt spid="12"/>
                                        </p:tgtEl>
                                        <p:attrNameLst>
                                          <p:attrName>fill.on</p:attrName>
                                        </p:attrNameLst>
                                      </p:cBhvr>
                                      <p:to>
                                        <p:strVal val="true"/>
                                      </p:to>
                                    </p:set>
                                  </p:childTnLst>
                                </p:cTn>
                              </p:par>
                              <p:par>
                                <p:cTn id="70" presetID="19" presetClass="emph" presetSubtype="0" fill="hold" grpId="1" nodeType="withEffect">
                                  <p:stCondLst>
                                    <p:cond delay="0"/>
                                  </p:stCondLst>
                                  <p:childTnLst>
                                    <p:animClr clrSpc="rgb" dir="cw">
                                      <p:cBhvr override="childStyle">
                                        <p:cTn id="71" dur="500" fill="hold"/>
                                        <p:tgtEl>
                                          <p:spTgt spid="10"/>
                                        </p:tgtEl>
                                        <p:attrNameLst>
                                          <p:attrName>style.color</p:attrName>
                                        </p:attrNameLst>
                                      </p:cBhvr>
                                      <p:to>
                                        <a:srgbClr val="00FF00"/>
                                      </p:to>
                                    </p:animClr>
                                    <p:animClr clrSpc="rgb" dir="cw">
                                      <p:cBhvr>
                                        <p:cTn id="72" dur="500" fill="hold"/>
                                        <p:tgtEl>
                                          <p:spTgt spid="10"/>
                                        </p:tgtEl>
                                        <p:attrNameLst>
                                          <p:attrName>fillcolor</p:attrName>
                                        </p:attrNameLst>
                                      </p:cBhvr>
                                      <p:to>
                                        <a:srgbClr val="00FF00"/>
                                      </p:to>
                                    </p:animClr>
                                    <p:set>
                                      <p:cBhvr>
                                        <p:cTn id="73" dur="500" fill="hold"/>
                                        <p:tgtEl>
                                          <p:spTgt spid="10"/>
                                        </p:tgtEl>
                                        <p:attrNameLst>
                                          <p:attrName>fill.type</p:attrName>
                                        </p:attrNameLst>
                                      </p:cBhvr>
                                      <p:to>
                                        <p:strVal val="solid"/>
                                      </p:to>
                                    </p:set>
                                    <p:set>
                                      <p:cBhvr>
                                        <p:cTn id="74" dur="500" fill="hold"/>
                                        <p:tgtEl>
                                          <p:spTgt spid="10"/>
                                        </p:tgtEl>
                                        <p:attrNameLst>
                                          <p:attrName>fill.on</p:attrName>
                                        </p:attrNameLst>
                                      </p:cBhvr>
                                      <p:to>
                                        <p:strVal val="true"/>
                                      </p:to>
                                    </p:set>
                                  </p:childTnLst>
                                </p:cTn>
                              </p:par>
                              <p:par>
                                <p:cTn id="75" presetID="19" presetClass="emph" presetSubtype="0" fill="hold" grpId="1" nodeType="withEffect">
                                  <p:stCondLst>
                                    <p:cond delay="0"/>
                                  </p:stCondLst>
                                  <p:childTnLst>
                                    <p:animClr clrSpc="rgb" dir="cw">
                                      <p:cBhvr override="childStyle">
                                        <p:cTn id="76" dur="500" fill="hold"/>
                                        <p:tgtEl>
                                          <p:spTgt spid="11"/>
                                        </p:tgtEl>
                                        <p:attrNameLst>
                                          <p:attrName>style.color</p:attrName>
                                        </p:attrNameLst>
                                      </p:cBhvr>
                                      <p:to>
                                        <a:srgbClr val="00FF00"/>
                                      </p:to>
                                    </p:animClr>
                                    <p:animClr clrSpc="rgb" dir="cw">
                                      <p:cBhvr>
                                        <p:cTn id="77" dur="500" fill="hold"/>
                                        <p:tgtEl>
                                          <p:spTgt spid="11"/>
                                        </p:tgtEl>
                                        <p:attrNameLst>
                                          <p:attrName>fillcolor</p:attrName>
                                        </p:attrNameLst>
                                      </p:cBhvr>
                                      <p:to>
                                        <a:srgbClr val="00FF00"/>
                                      </p:to>
                                    </p:animClr>
                                    <p:set>
                                      <p:cBhvr>
                                        <p:cTn id="78" dur="500" fill="hold"/>
                                        <p:tgtEl>
                                          <p:spTgt spid="11"/>
                                        </p:tgtEl>
                                        <p:attrNameLst>
                                          <p:attrName>fill.type</p:attrName>
                                        </p:attrNameLst>
                                      </p:cBhvr>
                                      <p:to>
                                        <p:strVal val="solid"/>
                                      </p:to>
                                    </p:set>
                                    <p:set>
                                      <p:cBhvr>
                                        <p:cTn id="79" dur="500" fill="hold"/>
                                        <p:tgtEl>
                                          <p:spTgt spid="11"/>
                                        </p:tgtEl>
                                        <p:attrNameLst>
                                          <p:attrName>fill.on</p:attrName>
                                        </p:attrNameLst>
                                      </p:cBhvr>
                                      <p:to>
                                        <p:strVal val="true"/>
                                      </p:to>
                                    </p:set>
                                  </p:childTnLst>
                                </p:cTn>
                              </p:par>
                              <p:par>
                                <p:cTn id="80" presetID="19" presetClass="emph" presetSubtype="0" fill="hold" grpId="1" nodeType="withEffect">
                                  <p:stCondLst>
                                    <p:cond delay="0"/>
                                  </p:stCondLst>
                                  <p:childTnLst>
                                    <p:animClr clrSpc="rgb" dir="cw">
                                      <p:cBhvr override="childStyle">
                                        <p:cTn id="81" dur="500" fill="hold"/>
                                        <p:tgtEl>
                                          <p:spTgt spid="8"/>
                                        </p:tgtEl>
                                        <p:attrNameLst>
                                          <p:attrName>style.color</p:attrName>
                                        </p:attrNameLst>
                                      </p:cBhvr>
                                      <p:to>
                                        <a:srgbClr val="00FF00"/>
                                      </p:to>
                                    </p:animClr>
                                    <p:animClr clrSpc="rgb" dir="cw">
                                      <p:cBhvr>
                                        <p:cTn id="82" dur="500" fill="hold"/>
                                        <p:tgtEl>
                                          <p:spTgt spid="8"/>
                                        </p:tgtEl>
                                        <p:attrNameLst>
                                          <p:attrName>fillcolor</p:attrName>
                                        </p:attrNameLst>
                                      </p:cBhvr>
                                      <p:to>
                                        <a:srgbClr val="00FF00"/>
                                      </p:to>
                                    </p:animClr>
                                    <p:set>
                                      <p:cBhvr>
                                        <p:cTn id="83" dur="500" fill="hold"/>
                                        <p:tgtEl>
                                          <p:spTgt spid="8"/>
                                        </p:tgtEl>
                                        <p:attrNameLst>
                                          <p:attrName>fill.type</p:attrName>
                                        </p:attrNameLst>
                                      </p:cBhvr>
                                      <p:to>
                                        <p:strVal val="solid"/>
                                      </p:to>
                                    </p:set>
                                    <p:set>
                                      <p:cBhvr>
                                        <p:cTn id="84" dur="500" fill="hold"/>
                                        <p:tgtEl>
                                          <p:spTgt spid="8"/>
                                        </p:tgtEl>
                                        <p:attrNameLst>
                                          <p:attrName>fill.on</p:attrName>
                                        </p:attrNameLst>
                                      </p:cBhvr>
                                      <p:to>
                                        <p:strVal val="true"/>
                                      </p:to>
                                    </p:set>
                                  </p:childTnLst>
                                </p:cTn>
                              </p:par>
                              <p:par>
                                <p:cTn id="85" presetID="19" presetClass="emph" presetSubtype="0" fill="hold" grpId="1" nodeType="withEffect">
                                  <p:stCondLst>
                                    <p:cond delay="0"/>
                                  </p:stCondLst>
                                  <p:childTnLst>
                                    <p:animClr clrSpc="rgb" dir="cw">
                                      <p:cBhvr override="childStyle">
                                        <p:cTn id="86" dur="500" fill="hold"/>
                                        <p:tgtEl>
                                          <p:spTgt spid="17"/>
                                        </p:tgtEl>
                                        <p:attrNameLst>
                                          <p:attrName>style.color</p:attrName>
                                        </p:attrNameLst>
                                      </p:cBhvr>
                                      <p:to>
                                        <a:srgbClr val="00FF00"/>
                                      </p:to>
                                    </p:animClr>
                                    <p:animClr clrSpc="rgb" dir="cw">
                                      <p:cBhvr>
                                        <p:cTn id="87" dur="500" fill="hold"/>
                                        <p:tgtEl>
                                          <p:spTgt spid="17"/>
                                        </p:tgtEl>
                                        <p:attrNameLst>
                                          <p:attrName>fillcolor</p:attrName>
                                        </p:attrNameLst>
                                      </p:cBhvr>
                                      <p:to>
                                        <a:srgbClr val="00FF00"/>
                                      </p:to>
                                    </p:animClr>
                                    <p:set>
                                      <p:cBhvr>
                                        <p:cTn id="88" dur="500" fill="hold"/>
                                        <p:tgtEl>
                                          <p:spTgt spid="17"/>
                                        </p:tgtEl>
                                        <p:attrNameLst>
                                          <p:attrName>fill.type</p:attrName>
                                        </p:attrNameLst>
                                      </p:cBhvr>
                                      <p:to>
                                        <p:strVal val="solid"/>
                                      </p:to>
                                    </p:set>
                                    <p:set>
                                      <p:cBhvr>
                                        <p:cTn id="89" dur="500" fill="hold"/>
                                        <p:tgtEl>
                                          <p:spTgt spid="17"/>
                                        </p:tgtEl>
                                        <p:attrNameLst>
                                          <p:attrName>fill.on</p:attrName>
                                        </p:attrNameLst>
                                      </p:cBhvr>
                                      <p:to>
                                        <p:strVal val="true"/>
                                      </p:to>
                                    </p:set>
                                  </p:childTnLst>
                                </p:cTn>
                              </p:par>
                              <p:par>
                                <p:cTn id="90" presetID="19" presetClass="emph" presetSubtype="0" fill="hold" grpId="1" nodeType="withEffect">
                                  <p:stCondLst>
                                    <p:cond delay="0"/>
                                  </p:stCondLst>
                                  <p:childTnLst>
                                    <p:animClr clrSpc="rgb" dir="cw">
                                      <p:cBhvr override="childStyle">
                                        <p:cTn id="91" dur="500" fill="hold"/>
                                        <p:tgtEl>
                                          <p:spTgt spid="9"/>
                                        </p:tgtEl>
                                        <p:attrNameLst>
                                          <p:attrName>style.color</p:attrName>
                                        </p:attrNameLst>
                                      </p:cBhvr>
                                      <p:to>
                                        <a:srgbClr val="00FF00"/>
                                      </p:to>
                                    </p:animClr>
                                    <p:animClr clrSpc="rgb" dir="cw">
                                      <p:cBhvr>
                                        <p:cTn id="92" dur="500" fill="hold"/>
                                        <p:tgtEl>
                                          <p:spTgt spid="9"/>
                                        </p:tgtEl>
                                        <p:attrNameLst>
                                          <p:attrName>fillcolor</p:attrName>
                                        </p:attrNameLst>
                                      </p:cBhvr>
                                      <p:to>
                                        <a:srgbClr val="00FF00"/>
                                      </p:to>
                                    </p:animClr>
                                    <p:set>
                                      <p:cBhvr>
                                        <p:cTn id="93" dur="500" fill="hold"/>
                                        <p:tgtEl>
                                          <p:spTgt spid="9"/>
                                        </p:tgtEl>
                                        <p:attrNameLst>
                                          <p:attrName>fill.type</p:attrName>
                                        </p:attrNameLst>
                                      </p:cBhvr>
                                      <p:to>
                                        <p:strVal val="solid"/>
                                      </p:to>
                                    </p:set>
                                    <p:set>
                                      <p:cBhvr>
                                        <p:cTn id="94" dur="500" fill="hold"/>
                                        <p:tgtEl>
                                          <p:spTgt spid="9"/>
                                        </p:tgtEl>
                                        <p:attrNameLst>
                                          <p:attrName>fill.on</p:attrName>
                                        </p:attrNameLst>
                                      </p:cBhvr>
                                      <p:to>
                                        <p:strVal val="true"/>
                                      </p:to>
                                    </p:set>
                                  </p:childTnLst>
                                </p:cTn>
                              </p:par>
                              <p:par>
                                <p:cTn id="95" presetID="19" presetClass="emph" presetSubtype="0" fill="hold" grpId="1" nodeType="withEffect">
                                  <p:stCondLst>
                                    <p:cond delay="0"/>
                                  </p:stCondLst>
                                  <p:childTnLst>
                                    <p:animClr clrSpc="rgb" dir="cw">
                                      <p:cBhvr override="childStyle">
                                        <p:cTn id="96" dur="500" fill="hold"/>
                                        <p:tgtEl>
                                          <p:spTgt spid="18"/>
                                        </p:tgtEl>
                                        <p:attrNameLst>
                                          <p:attrName>style.color</p:attrName>
                                        </p:attrNameLst>
                                      </p:cBhvr>
                                      <p:to>
                                        <a:srgbClr val="00FF00"/>
                                      </p:to>
                                    </p:animClr>
                                    <p:animClr clrSpc="rgb" dir="cw">
                                      <p:cBhvr>
                                        <p:cTn id="97" dur="500" fill="hold"/>
                                        <p:tgtEl>
                                          <p:spTgt spid="18"/>
                                        </p:tgtEl>
                                        <p:attrNameLst>
                                          <p:attrName>fillcolor</p:attrName>
                                        </p:attrNameLst>
                                      </p:cBhvr>
                                      <p:to>
                                        <a:srgbClr val="00FF00"/>
                                      </p:to>
                                    </p:animClr>
                                    <p:set>
                                      <p:cBhvr>
                                        <p:cTn id="98" dur="500" fill="hold"/>
                                        <p:tgtEl>
                                          <p:spTgt spid="18"/>
                                        </p:tgtEl>
                                        <p:attrNameLst>
                                          <p:attrName>fill.type</p:attrName>
                                        </p:attrNameLst>
                                      </p:cBhvr>
                                      <p:to>
                                        <p:strVal val="solid"/>
                                      </p:to>
                                    </p:set>
                                    <p:set>
                                      <p:cBhvr>
                                        <p:cTn id="99" dur="500" fill="hold"/>
                                        <p:tgtEl>
                                          <p:spTgt spid="18"/>
                                        </p:tgtEl>
                                        <p:attrNameLst>
                                          <p:attrName>fill.on</p:attrName>
                                        </p:attrNameLst>
                                      </p:cBhvr>
                                      <p:to>
                                        <p:strVal val="true"/>
                                      </p:to>
                                    </p:set>
                                  </p:childTnLst>
                                </p:cTn>
                              </p:par>
                              <p:par>
                                <p:cTn id="100" presetID="19" presetClass="emph" presetSubtype="0" fill="hold" grpId="1" nodeType="withEffect">
                                  <p:stCondLst>
                                    <p:cond delay="0"/>
                                  </p:stCondLst>
                                  <p:childTnLst>
                                    <p:animClr clrSpc="rgb" dir="cw">
                                      <p:cBhvr override="childStyle">
                                        <p:cTn id="101" dur="500" fill="hold"/>
                                        <p:tgtEl>
                                          <p:spTgt spid="19"/>
                                        </p:tgtEl>
                                        <p:attrNameLst>
                                          <p:attrName>style.color</p:attrName>
                                        </p:attrNameLst>
                                      </p:cBhvr>
                                      <p:to>
                                        <a:srgbClr val="00FF00"/>
                                      </p:to>
                                    </p:animClr>
                                    <p:animClr clrSpc="rgb" dir="cw">
                                      <p:cBhvr>
                                        <p:cTn id="102" dur="500" fill="hold"/>
                                        <p:tgtEl>
                                          <p:spTgt spid="19"/>
                                        </p:tgtEl>
                                        <p:attrNameLst>
                                          <p:attrName>fillcolor</p:attrName>
                                        </p:attrNameLst>
                                      </p:cBhvr>
                                      <p:to>
                                        <a:srgbClr val="00FF00"/>
                                      </p:to>
                                    </p:animClr>
                                    <p:set>
                                      <p:cBhvr>
                                        <p:cTn id="103" dur="500" fill="hold"/>
                                        <p:tgtEl>
                                          <p:spTgt spid="19"/>
                                        </p:tgtEl>
                                        <p:attrNameLst>
                                          <p:attrName>fill.type</p:attrName>
                                        </p:attrNameLst>
                                      </p:cBhvr>
                                      <p:to>
                                        <p:strVal val="solid"/>
                                      </p:to>
                                    </p:set>
                                    <p:set>
                                      <p:cBhvr>
                                        <p:cTn id="104" dur="500" fill="hold"/>
                                        <p:tgtEl>
                                          <p:spTgt spid="19"/>
                                        </p:tgtEl>
                                        <p:attrNameLst>
                                          <p:attrName>fill.on</p:attrName>
                                        </p:attrNameLst>
                                      </p:cBhvr>
                                      <p:to>
                                        <p:strVal val="true"/>
                                      </p:to>
                                    </p:set>
                                  </p:childTnLst>
                                </p:cTn>
                              </p:par>
                              <p:par>
                                <p:cTn id="105" presetID="19" presetClass="emph" presetSubtype="0" fill="hold" grpId="1" nodeType="withEffect">
                                  <p:stCondLst>
                                    <p:cond delay="0"/>
                                  </p:stCondLst>
                                  <p:childTnLst>
                                    <p:animClr clrSpc="rgb" dir="cw">
                                      <p:cBhvr override="childStyle">
                                        <p:cTn id="106" dur="500" fill="hold"/>
                                        <p:tgtEl>
                                          <p:spTgt spid="22"/>
                                        </p:tgtEl>
                                        <p:attrNameLst>
                                          <p:attrName>style.color</p:attrName>
                                        </p:attrNameLst>
                                      </p:cBhvr>
                                      <p:to>
                                        <a:srgbClr val="00FF00"/>
                                      </p:to>
                                    </p:animClr>
                                    <p:animClr clrSpc="rgb" dir="cw">
                                      <p:cBhvr>
                                        <p:cTn id="107" dur="500" fill="hold"/>
                                        <p:tgtEl>
                                          <p:spTgt spid="22"/>
                                        </p:tgtEl>
                                        <p:attrNameLst>
                                          <p:attrName>fillcolor</p:attrName>
                                        </p:attrNameLst>
                                      </p:cBhvr>
                                      <p:to>
                                        <a:srgbClr val="00FF00"/>
                                      </p:to>
                                    </p:animClr>
                                    <p:set>
                                      <p:cBhvr>
                                        <p:cTn id="108" dur="500" fill="hold"/>
                                        <p:tgtEl>
                                          <p:spTgt spid="22"/>
                                        </p:tgtEl>
                                        <p:attrNameLst>
                                          <p:attrName>fill.type</p:attrName>
                                        </p:attrNameLst>
                                      </p:cBhvr>
                                      <p:to>
                                        <p:strVal val="solid"/>
                                      </p:to>
                                    </p:set>
                                    <p:set>
                                      <p:cBhvr>
                                        <p:cTn id="109" dur="500" fill="hold"/>
                                        <p:tgtEl>
                                          <p:spTgt spid="22"/>
                                        </p:tgtEl>
                                        <p:attrNameLst>
                                          <p:attrName>fill.on</p:attrName>
                                        </p:attrNameLst>
                                      </p:cBhvr>
                                      <p:to>
                                        <p:strVal val="true"/>
                                      </p:to>
                                    </p:set>
                                  </p:childTnLst>
                                </p:cTn>
                              </p:par>
                              <p:par>
                                <p:cTn id="110" presetID="19" presetClass="emph" presetSubtype="0" fill="hold" grpId="1" nodeType="withEffect">
                                  <p:stCondLst>
                                    <p:cond delay="0"/>
                                  </p:stCondLst>
                                  <p:childTnLst>
                                    <p:animClr clrSpc="rgb" dir="cw">
                                      <p:cBhvr override="childStyle">
                                        <p:cTn id="111" dur="500" fill="hold"/>
                                        <p:tgtEl>
                                          <p:spTgt spid="23"/>
                                        </p:tgtEl>
                                        <p:attrNameLst>
                                          <p:attrName>style.color</p:attrName>
                                        </p:attrNameLst>
                                      </p:cBhvr>
                                      <p:to>
                                        <a:srgbClr val="00FF00"/>
                                      </p:to>
                                    </p:animClr>
                                    <p:animClr clrSpc="rgb" dir="cw">
                                      <p:cBhvr>
                                        <p:cTn id="112" dur="500" fill="hold"/>
                                        <p:tgtEl>
                                          <p:spTgt spid="23"/>
                                        </p:tgtEl>
                                        <p:attrNameLst>
                                          <p:attrName>fillcolor</p:attrName>
                                        </p:attrNameLst>
                                      </p:cBhvr>
                                      <p:to>
                                        <a:srgbClr val="00FF00"/>
                                      </p:to>
                                    </p:animClr>
                                    <p:set>
                                      <p:cBhvr>
                                        <p:cTn id="113" dur="500" fill="hold"/>
                                        <p:tgtEl>
                                          <p:spTgt spid="23"/>
                                        </p:tgtEl>
                                        <p:attrNameLst>
                                          <p:attrName>fill.type</p:attrName>
                                        </p:attrNameLst>
                                      </p:cBhvr>
                                      <p:to>
                                        <p:strVal val="solid"/>
                                      </p:to>
                                    </p:set>
                                    <p:set>
                                      <p:cBhvr>
                                        <p:cTn id="114" dur="500" fill="hold"/>
                                        <p:tgtEl>
                                          <p:spTgt spid="23"/>
                                        </p:tgtEl>
                                        <p:attrNameLst>
                                          <p:attrName>fill.on</p:attrName>
                                        </p:attrNameLst>
                                      </p:cBhvr>
                                      <p:to>
                                        <p:strVal val="true"/>
                                      </p:to>
                                    </p:set>
                                  </p:childTnLst>
                                </p:cTn>
                              </p:par>
                              <p:par>
                                <p:cTn id="115" presetID="19" presetClass="emph" presetSubtype="0" fill="hold" grpId="1" nodeType="withEffect">
                                  <p:stCondLst>
                                    <p:cond delay="0"/>
                                  </p:stCondLst>
                                  <p:childTnLst>
                                    <p:animClr clrSpc="rgb" dir="cw">
                                      <p:cBhvr override="childStyle">
                                        <p:cTn id="116" dur="500" fill="hold"/>
                                        <p:tgtEl>
                                          <p:spTgt spid="24"/>
                                        </p:tgtEl>
                                        <p:attrNameLst>
                                          <p:attrName>style.color</p:attrName>
                                        </p:attrNameLst>
                                      </p:cBhvr>
                                      <p:to>
                                        <a:srgbClr val="00FF00"/>
                                      </p:to>
                                    </p:animClr>
                                    <p:animClr clrSpc="rgb" dir="cw">
                                      <p:cBhvr>
                                        <p:cTn id="117" dur="500" fill="hold"/>
                                        <p:tgtEl>
                                          <p:spTgt spid="24"/>
                                        </p:tgtEl>
                                        <p:attrNameLst>
                                          <p:attrName>fillcolor</p:attrName>
                                        </p:attrNameLst>
                                      </p:cBhvr>
                                      <p:to>
                                        <a:srgbClr val="00FF00"/>
                                      </p:to>
                                    </p:animClr>
                                    <p:set>
                                      <p:cBhvr>
                                        <p:cTn id="118" dur="500" fill="hold"/>
                                        <p:tgtEl>
                                          <p:spTgt spid="24"/>
                                        </p:tgtEl>
                                        <p:attrNameLst>
                                          <p:attrName>fill.type</p:attrName>
                                        </p:attrNameLst>
                                      </p:cBhvr>
                                      <p:to>
                                        <p:strVal val="solid"/>
                                      </p:to>
                                    </p:set>
                                    <p:set>
                                      <p:cBhvr>
                                        <p:cTn id="119" dur="500" fill="hold"/>
                                        <p:tgtEl>
                                          <p:spTgt spid="24"/>
                                        </p:tgtEl>
                                        <p:attrNameLst>
                                          <p:attrName>fill.on</p:attrName>
                                        </p:attrNameLst>
                                      </p:cBhvr>
                                      <p:to>
                                        <p:strVal val="true"/>
                                      </p:to>
                                    </p:set>
                                  </p:childTnLst>
                                </p:cTn>
                              </p:par>
                              <p:par>
                                <p:cTn id="120" presetID="19" presetClass="emph" presetSubtype="0" fill="hold" grpId="1" nodeType="withEffect">
                                  <p:stCondLst>
                                    <p:cond delay="0"/>
                                  </p:stCondLst>
                                  <p:childTnLst>
                                    <p:animClr clrSpc="rgb" dir="cw">
                                      <p:cBhvr override="childStyle">
                                        <p:cTn id="121" dur="500" fill="hold"/>
                                        <p:tgtEl>
                                          <p:spTgt spid="25"/>
                                        </p:tgtEl>
                                        <p:attrNameLst>
                                          <p:attrName>style.color</p:attrName>
                                        </p:attrNameLst>
                                      </p:cBhvr>
                                      <p:to>
                                        <a:srgbClr val="00FF00"/>
                                      </p:to>
                                    </p:animClr>
                                    <p:animClr clrSpc="rgb" dir="cw">
                                      <p:cBhvr>
                                        <p:cTn id="122" dur="500" fill="hold"/>
                                        <p:tgtEl>
                                          <p:spTgt spid="25"/>
                                        </p:tgtEl>
                                        <p:attrNameLst>
                                          <p:attrName>fillcolor</p:attrName>
                                        </p:attrNameLst>
                                      </p:cBhvr>
                                      <p:to>
                                        <a:srgbClr val="00FF00"/>
                                      </p:to>
                                    </p:animClr>
                                    <p:set>
                                      <p:cBhvr>
                                        <p:cTn id="123" dur="500" fill="hold"/>
                                        <p:tgtEl>
                                          <p:spTgt spid="25"/>
                                        </p:tgtEl>
                                        <p:attrNameLst>
                                          <p:attrName>fill.type</p:attrName>
                                        </p:attrNameLst>
                                      </p:cBhvr>
                                      <p:to>
                                        <p:strVal val="solid"/>
                                      </p:to>
                                    </p:set>
                                    <p:set>
                                      <p:cBhvr>
                                        <p:cTn id="124" dur="500" fill="hold"/>
                                        <p:tgtEl>
                                          <p:spTgt spid="25"/>
                                        </p:tgtEl>
                                        <p:attrNameLst>
                                          <p:attrName>fill.on</p:attrName>
                                        </p:attrNameLst>
                                      </p:cBhvr>
                                      <p:to>
                                        <p:strVal val="true"/>
                                      </p:to>
                                    </p:set>
                                  </p:childTnLst>
                                </p:cTn>
                              </p:par>
                              <p:par>
                                <p:cTn id="125" presetID="19" presetClass="emph" presetSubtype="0" fill="hold" grpId="1" nodeType="withEffect">
                                  <p:stCondLst>
                                    <p:cond delay="0"/>
                                  </p:stCondLst>
                                  <p:childTnLst>
                                    <p:animClr clrSpc="rgb" dir="cw">
                                      <p:cBhvr override="childStyle">
                                        <p:cTn id="126" dur="500" fill="hold"/>
                                        <p:tgtEl>
                                          <p:spTgt spid="26"/>
                                        </p:tgtEl>
                                        <p:attrNameLst>
                                          <p:attrName>style.color</p:attrName>
                                        </p:attrNameLst>
                                      </p:cBhvr>
                                      <p:to>
                                        <a:srgbClr val="00FF00"/>
                                      </p:to>
                                    </p:animClr>
                                    <p:animClr clrSpc="rgb" dir="cw">
                                      <p:cBhvr>
                                        <p:cTn id="127" dur="500" fill="hold"/>
                                        <p:tgtEl>
                                          <p:spTgt spid="26"/>
                                        </p:tgtEl>
                                        <p:attrNameLst>
                                          <p:attrName>fillcolor</p:attrName>
                                        </p:attrNameLst>
                                      </p:cBhvr>
                                      <p:to>
                                        <a:srgbClr val="00FF00"/>
                                      </p:to>
                                    </p:animClr>
                                    <p:set>
                                      <p:cBhvr>
                                        <p:cTn id="128" dur="500" fill="hold"/>
                                        <p:tgtEl>
                                          <p:spTgt spid="26"/>
                                        </p:tgtEl>
                                        <p:attrNameLst>
                                          <p:attrName>fill.type</p:attrName>
                                        </p:attrNameLst>
                                      </p:cBhvr>
                                      <p:to>
                                        <p:strVal val="solid"/>
                                      </p:to>
                                    </p:set>
                                    <p:set>
                                      <p:cBhvr>
                                        <p:cTn id="129" dur="500" fill="hold"/>
                                        <p:tgtEl>
                                          <p:spTgt spid="26"/>
                                        </p:tgtEl>
                                        <p:attrNameLst>
                                          <p:attrName>fill.on</p:attrName>
                                        </p:attrNameLst>
                                      </p:cBhvr>
                                      <p:to>
                                        <p:strVal val="true"/>
                                      </p:to>
                                    </p:set>
                                  </p:childTnLst>
                                </p:cTn>
                              </p:par>
                              <p:par>
                                <p:cTn id="130" presetID="19" presetClass="emph" presetSubtype="0" fill="hold" grpId="1" nodeType="withEffect">
                                  <p:stCondLst>
                                    <p:cond delay="0"/>
                                  </p:stCondLst>
                                  <p:childTnLst>
                                    <p:animClr clrSpc="rgb" dir="cw">
                                      <p:cBhvr override="childStyle">
                                        <p:cTn id="131" dur="500" fill="hold"/>
                                        <p:tgtEl>
                                          <p:spTgt spid="27"/>
                                        </p:tgtEl>
                                        <p:attrNameLst>
                                          <p:attrName>style.color</p:attrName>
                                        </p:attrNameLst>
                                      </p:cBhvr>
                                      <p:to>
                                        <a:srgbClr val="00FF00"/>
                                      </p:to>
                                    </p:animClr>
                                    <p:animClr clrSpc="rgb" dir="cw">
                                      <p:cBhvr>
                                        <p:cTn id="132" dur="500" fill="hold"/>
                                        <p:tgtEl>
                                          <p:spTgt spid="27"/>
                                        </p:tgtEl>
                                        <p:attrNameLst>
                                          <p:attrName>fillcolor</p:attrName>
                                        </p:attrNameLst>
                                      </p:cBhvr>
                                      <p:to>
                                        <a:srgbClr val="00FF00"/>
                                      </p:to>
                                    </p:animClr>
                                    <p:set>
                                      <p:cBhvr>
                                        <p:cTn id="133" dur="500" fill="hold"/>
                                        <p:tgtEl>
                                          <p:spTgt spid="27"/>
                                        </p:tgtEl>
                                        <p:attrNameLst>
                                          <p:attrName>fill.type</p:attrName>
                                        </p:attrNameLst>
                                      </p:cBhvr>
                                      <p:to>
                                        <p:strVal val="solid"/>
                                      </p:to>
                                    </p:set>
                                    <p:set>
                                      <p:cBhvr>
                                        <p:cTn id="134" dur="500" fill="hold"/>
                                        <p:tgtEl>
                                          <p:spTgt spid="27"/>
                                        </p:tgtEl>
                                        <p:attrNameLst>
                                          <p:attrName>fill.on</p:attrName>
                                        </p:attrNameLst>
                                      </p:cBhvr>
                                      <p:to>
                                        <p:strVal val="true"/>
                                      </p:to>
                                    </p:set>
                                  </p:childTnLst>
                                </p:cTn>
                              </p:par>
                              <p:par>
                                <p:cTn id="135" presetID="19" presetClass="emph" presetSubtype="0" fill="hold" grpId="1" nodeType="withEffect">
                                  <p:stCondLst>
                                    <p:cond delay="0"/>
                                  </p:stCondLst>
                                  <p:childTnLst>
                                    <p:animClr clrSpc="rgb" dir="cw">
                                      <p:cBhvr override="childStyle">
                                        <p:cTn id="136" dur="500" fill="hold"/>
                                        <p:tgtEl>
                                          <p:spTgt spid="28"/>
                                        </p:tgtEl>
                                        <p:attrNameLst>
                                          <p:attrName>style.color</p:attrName>
                                        </p:attrNameLst>
                                      </p:cBhvr>
                                      <p:to>
                                        <a:srgbClr val="00FF00"/>
                                      </p:to>
                                    </p:animClr>
                                    <p:animClr clrSpc="rgb" dir="cw">
                                      <p:cBhvr>
                                        <p:cTn id="137" dur="500" fill="hold"/>
                                        <p:tgtEl>
                                          <p:spTgt spid="28"/>
                                        </p:tgtEl>
                                        <p:attrNameLst>
                                          <p:attrName>fillcolor</p:attrName>
                                        </p:attrNameLst>
                                      </p:cBhvr>
                                      <p:to>
                                        <a:srgbClr val="00FF00"/>
                                      </p:to>
                                    </p:animClr>
                                    <p:set>
                                      <p:cBhvr>
                                        <p:cTn id="138" dur="500" fill="hold"/>
                                        <p:tgtEl>
                                          <p:spTgt spid="28"/>
                                        </p:tgtEl>
                                        <p:attrNameLst>
                                          <p:attrName>fill.type</p:attrName>
                                        </p:attrNameLst>
                                      </p:cBhvr>
                                      <p:to>
                                        <p:strVal val="solid"/>
                                      </p:to>
                                    </p:set>
                                    <p:set>
                                      <p:cBhvr>
                                        <p:cTn id="139" dur="500" fill="hold"/>
                                        <p:tgtEl>
                                          <p:spTgt spid="28"/>
                                        </p:tgtEl>
                                        <p:attrNameLst>
                                          <p:attrName>fill.on</p:attrName>
                                        </p:attrNameLst>
                                      </p:cBhvr>
                                      <p:to>
                                        <p:strVal val="true"/>
                                      </p:to>
                                    </p:set>
                                  </p:childTnLst>
                                </p:cTn>
                              </p:par>
                              <p:par>
                                <p:cTn id="140" presetID="19" presetClass="emph" presetSubtype="0" fill="hold" grpId="1" nodeType="withEffect">
                                  <p:stCondLst>
                                    <p:cond delay="0"/>
                                  </p:stCondLst>
                                  <p:childTnLst>
                                    <p:animClr clrSpc="rgb" dir="cw">
                                      <p:cBhvr override="childStyle">
                                        <p:cTn id="141" dur="500" fill="hold"/>
                                        <p:tgtEl>
                                          <p:spTgt spid="29"/>
                                        </p:tgtEl>
                                        <p:attrNameLst>
                                          <p:attrName>style.color</p:attrName>
                                        </p:attrNameLst>
                                      </p:cBhvr>
                                      <p:to>
                                        <a:srgbClr val="00FF00"/>
                                      </p:to>
                                    </p:animClr>
                                    <p:animClr clrSpc="rgb" dir="cw">
                                      <p:cBhvr>
                                        <p:cTn id="142" dur="500" fill="hold"/>
                                        <p:tgtEl>
                                          <p:spTgt spid="29"/>
                                        </p:tgtEl>
                                        <p:attrNameLst>
                                          <p:attrName>fillcolor</p:attrName>
                                        </p:attrNameLst>
                                      </p:cBhvr>
                                      <p:to>
                                        <a:srgbClr val="00FF00"/>
                                      </p:to>
                                    </p:animClr>
                                    <p:set>
                                      <p:cBhvr>
                                        <p:cTn id="143" dur="500" fill="hold"/>
                                        <p:tgtEl>
                                          <p:spTgt spid="29"/>
                                        </p:tgtEl>
                                        <p:attrNameLst>
                                          <p:attrName>fill.type</p:attrName>
                                        </p:attrNameLst>
                                      </p:cBhvr>
                                      <p:to>
                                        <p:strVal val="solid"/>
                                      </p:to>
                                    </p:set>
                                    <p:set>
                                      <p:cBhvr>
                                        <p:cTn id="144" dur="500" fill="hold"/>
                                        <p:tgtEl>
                                          <p:spTgt spid="29"/>
                                        </p:tgtEl>
                                        <p:attrNameLst>
                                          <p:attrName>fill.on</p:attrName>
                                        </p:attrNameLst>
                                      </p:cBhvr>
                                      <p:to>
                                        <p:strVal val="true"/>
                                      </p:to>
                                    </p:set>
                                  </p:childTnLst>
                                </p:cTn>
                              </p:par>
                            </p:childTnLst>
                          </p:cTn>
                        </p:par>
                      </p:childTnLst>
                    </p:cTn>
                  </p:par>
                  <p:par>
                    <p:cTn id="145" fill="hold">
                      <p:stCondLst>
                        <p:cond delay="indefinite"/>
                      </p:stCondLst>
                      <p:childTnLst>
                        <p:par>
                          <p:cTn id="146" fill="hold">
                            <p:stCondLst>
                              <p:cond delay="0"/>
                            </p:stCondLst>
                            <p:childTnLst>
                              <p:par>
                                <p:cTn id="147" presetID="1" presetClass="entr" presetSubtype="0" fill="hold" grpId="0" nodeType="clickEffect">
                                  <p:stCondLst>
                                    <p:cond delay="0"/>
                                  </p:stCondLst>
                                  <p:childTnLst>
                                    <p:set>
                                      <p:cBhvr>
                                        <p:cTn id="148"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60"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noChangeArrowheads="1"/>
          </p:cNvPicPr>
          <p:nvPr>
            <p:custDataLst>
              <p:tags r:id="rId1"/>
            </p:custDataLst>
          </p:nvPr>
        </p:nvPicPr>
        <p:blipFill>
          <a:blip r:embed="rId11" cstate="print"/>
          <a:srcRect/>
          <a:stretch>
            <a:fillRect/>
          </a:stretch>
        </p:blipFill>
        <p:spPr>
          <a:xfrm>
            <a:off x="2128838" y="2171700"/>
            <a:ext cx="4886325" cy="3257550"/>
          </a:xfrm>
          <a:prstGeom prst="rect">
            <a:avLst/>
          </a:prstGeom>
          <a:noFill/>
        </p:spPr>
      </p:pic>
      <p:sp>
        <p:nvSpPr>
          <p:cNvPr id="5" name="Line 4"/>
          <p:cNvSpPr>
            <a:spLocks noChangeShapeType="1"/>
          </p:cNvSpPr>
          <p:nvPr>
            <p:custDataLst>
              <p:tags r:id="rId2"/>
            </p:custDataLst>
          </p:nvPr>
        </p:nvSpPr>
        <p:spPr bwMode="auto">
          <a:xfrm flipV="1">
            <a:off x="4057650" y="3600450"/>
            <a:ext cx="1200150" cy="57150"/>
          </a:xfrm>
          <a:prstGeom prst="line">
            <a:avLst/>
          </a:prstGeom>
          <a:noFill/>
          <a:ln w="50800">
            <a:solidFill>
              <a:srgbClr val="3333FF"/>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6" name="Line 5"/>
          <p:cNvSpPr>
            <a:spLocks noChangeShapeType="1"/>
          </p:cNvSpPr>
          <p:nvPr>
            <p:custDataLst>
              <p:tags r:id="rId3"/>
            </p:custDataLst>
          </p:nvPr>
        </p:nvSpPr>
        <p:spPr bwMode="auto">
          <a:xfrm flipV="1">
            <a:off x="4229100" y="3028950"/>
            <a:ext cx="1257300" cy="57150"/>
          </a:xfrm>
          <a:prstGeom prst="line">
            <a:avLst/>
          </a:prstGeom>
          <a:noFill/>
          <a:ln w="50800">
            <a:solidFill>
              <a:srgbClr val="3333FF"/>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7" name="Line 6"/>
          <p:cNvSpPr>
            <a:spLocks noChangeShapeType="1"/>
          </p:cNvSpPr>
          <p:nvPr>
            <p:custDataLst>
              <p:tags r:id="rId4"/>
            </p:custDataLst>
          </p:nvPr>
        </p:nvSpPr>
        <p:spPr bwMode="auto">
          <a:xfrm flipV="1">
            <a:off x="4229100" y="2400300"/>
            <a:ext cx="1257300" cy="57150"/>
          </a:xfrm>
          <a:prstGeom prst="line">
            <a:avLst/>
          </a:prstGeom>
          <a:noFill/>
          <a:ln w="50800">
            <a:solidFill>
              <a:srgbClr val="3333FF"/>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8" name="Line 7"/>
          <p:cNvSpPr>
            <a:spLocks noChangeShapeType="1"/>
          </p:cNvSpPr>
          <p:nvPr>
            <p:custDataLst>
              <p:tags r:id="rId5"/>
            </p:custDataLst>
          </p:nvPr>
        </p:nvSpPr>
        <p:spPr bwMode="auto">
          <a:xfrm flipV="1">
            <a:off x="3886200" y="2686050"/>
            <a:ext cx="1257300" cy="57150"/>
          </a:xfrm>
          <a:prstGeom prst="line">
            <a:avLst/>
          </a:prstGeom>
          <a:noFill/>
          <a:ln w="50800">
            <a:solidFill>
              <a:srgbClr val="3333FF"/>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9" name="Line 8"/>
          <p:cNvSpPr>
            <a:spLocks noChangeShapeType="1"/>
          </p:cNvSpPr>
          <p:nvPr>
            <p:custDataLst>
              <p:tags r:id="rId6"/>
            </p:custDataLst>
          </p:nvPr>
        </p:nvSpPr>
        <p:spPr bwMode="auto">
          <a:xfrm flipV="1">
            <a:off x="3886200" y="3371850"/>
            <a:ext cx="1257300" cy="57150"/>
          </a:xfrm>
          <a:prstGeom prst="line">
            <a:avLst/>
          </a:prstGeom>
          <a:noFill/>
          <a:ln w="50800">
            <a:solidFill>
              <a:srgbClr val="3333FF"/>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10" name="Line 9"/>
          <p:cNvSpPr>
            <a:spLocks noChangeShapeType="1"/>
          </p:cNvSpPr>
          <p:nvPr>
            <p:custDataLst>
              <p:tags r:id="rId7"/>
            </p:custDataLst>
          </p:nvPr>
        </p:nvSpPr>
        <p:spPr bwMode="auto">
          <a:xfrm>
            <a:off x="3371850" y="3028950"/>
            <a:ext cx="2228850" cy="57150"/>
          </a:xfrm>
          <a:prstGeom prst="line">
            <a:avLst/>
          </a:prstGeom>
          <a:noFill/>
          <a:ln w="50800">
            <a:solidFill>
              <a:srgbClr val="CC0000"/>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11" name="Line 10"/>
          <p:cNvSpPr>
            <a:spLocks noChangeShapeType="1"/>
          </p:cNvSpPr>
          <p:nvPr>
            <p:custDataLst>
              <p:tags r:id="rId8"/>
            </p:custDataLst>
          </p:nvPr>
        </p:nvSpPr>
        <p:spPr bwMode="auto">
          <a:xfrm>
            <a:off x="3371850" y="2343150"/>
            <a:ext cx="2686050" cy="171450"/>
          </a:xfrm>
          <a:prstGeom prst="line">
            <a:avLst/>
          </a:prstGeom>
          <a:noFill/>
          <a:ln w="50800">
            <a:solidFill>
              <a:srgbClr val="CC0000"/>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12" name="Rectangle 2"/>
          <p:cNvSpPr txBox="1">
            <a:spLocks noChangeArrowheads="1"/>
          </p:cNvSpPr>
          <p:nvPr>
            <p:custDataLst>
              <p:tags r:id="rId9"/>
            </p:custDataLst>
          </p:nvPr>
        </p:nvSpPr>
        <p:spPr>
          <a:xfrm>
            <a:off x="571500" y="1056767"/>
            <a:ext cx="8229600" cy="857250"/>
          </a:xfrm>
          <a:prstGeom prst="rect">
            <a:avLst/>
          </a:prstGeom>
        </p:spPr>
        <p:txBody>
          <a:bodyPr vert="horz" lIns="68580" tIns="34290" rIns="68580" bIns="34290" rtlCol="0" anchor="ctr">
            <a:normAutofit/>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en-US" sz="3300" dirty="0" err="1">
                <a:solidFill>
                  <a:srgbClr val="FF0000"/>
                </a:solidFill>
              </a:rPr>
              <a:t>RAN</a:t>
            </a:r>
            <a:r>
              <a:rPr lang="en-US" sz="3300" dirty="0" err="1"/>
              <a:t>dom</a:t>
            </a:r>
            <a:r>
              <a:rPr lang="en-US" sz="3300" dirty="0"/>
              <a:t> </a:t>
            </a:r>
            <a:r>
              <a:rPr lang="en-US" sz="3300" dirty="0" err="1">
                <a:solidFill>
                  <a:srgbClr val="FF0000"/>
                </a:solidFill>
              </a:rPr>
              <a:t>SA</a:t>
            </a:r>
            <a:r>
              <a:rPr lang="en-US" sz="3300" dirty="0" err="1"/>
              <a:t>mple</a:t>
            </a:r>
            <a:r>
              <a:rPr lang="en-US" sz="3300" dirty="0"/>
              <a:t> </a:t>
            </a:r>
            <a:r>
              <a:rPr lang="en-US" sz="3300" dirty="0">
                <a:solidFill>
                  <a:srgbClr val="FF0000"/>
                </a:solidFill>
              </a:rPr>
              <a:t>C</a:t>
            </a:r>
            <a:r>
              <a:rPr lang="en-US" sz="3300" dirty="0"/>
              <a:t>onsensus</a:t>
            </a:r>
          </a:p>
        </p:txBody>
      </p:sp>
      <p:sp>
        <p:nvSpPr>
          <p:cNvPr id="13" name="TextBox 12"/>
          <p:cNvSpPr txBox="1"/>
          <p:nvPr/>
        </p:nvSpPr>
        <p:spPr>
          <a:xfrm>
            <a:off x="4178238" y="5446059"/>
            <a:ext cx="723275" cy="415498"/>
          </a:xfrm>
          <a:prstGeom prst="rect">
            <a:avLst/>
          </a:prstGeom>
          <a:noFill/>
        </p:spPr>
        <p:txBody>
          <a:bodyPr wrap="none" rtlCol="0">
            <a:spAutoFit/>
          </a:bodyPr>
          <a:lstStyle/>
          <a:p>
            <a:r>
              <a:rPr lang="zh-CN" altLang="en-US" sz="2100" b="1" dirty="0"/>
              <a:t>平移</a:t>
            </a:r>
            <a:endParaRPr lang="en-US" sz="2100" b="1"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3"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3875" name="Picture 3"/>
          <p:cNvPicPr>
            <a:picLocks noGrp="1" noChangeAspect="1" noChangeArrowheads="1"/>
          </p:cNvPicPr>
          <p:nvPr>
            <p:ph type="body" idx="1"/>
            <p:custDataLst>
              <p:tags r:id="rId1"/>
            </p:custDataLst>
          </p:nvPr>
        </p:nvPicPr>
        <p:blipFill>
          <a:blip r:embed="rId13" cstate="print"/>
          <a:srcRect/>
          <a:stretch>
            <a:fillRect/>
          </a:stretch>
        </p:blipFill>
        <p:spPr>
          <a:xfrm>
            <a:off x="2128838" y="2171700"/>
            <a:ext cx="4886325" cy="3257550"/>
          </a:xfrm>
          <a:noFill/>
        </p:spPr>
      </p:pic>
      <p:sp>
        <p:nvSpPr>
          <p:cNvPr id="463876" name="Line 4"/>
          <p:cNvSpPr>
            <a:spLocks noChangeShapeType="1"/>
          </p:cNvSpPr>
          <p:nvPr>
            <p:custDataLst>
              <p:tags r:id="rId2"/>
            </p:custDataLst>
          </p:nvPr>
        </p:nvSpPr>
        <p:spPr bwMode="auto">
          <a:xfrm flipV="1">
            <a:off x="4057650" y="3600450"/>
            <a:ext cx="1200150" cy="571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77" name="Line 5"/>
          <p:cNvSpPr>
            <a:spLocks noChangeShapeType="1"/>
          </p:cNvSpPr>
          <p:nvPr>
            <p:custDataLst>
              <p:tags r:id="rId3"/>
            </p:custDataLst>
          </p:nvPr>
        </p:nvSpPr>
        <p:spPr bwMode="auto">
          <a:xfrm flipV="1">
            <a:off x="4220936" y="2914647"/>
            <a:ext cx="1257300" cy="571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78" name="Line 6"/>
          <p:cNvSpPr>
            <a:spLocks noChangeShapeType="1"/>
          </p:cNvSpPr>
          <p:nvPr>
            <p:custDataLst>
              <p:tags r:id="rId4"/>
            </p:custDataLst>
          </p:nvPr>
        </p:nvSpPr>
        <p:spPr bwMode="auto">
          <a:xfrm flipV="1">
            <a:off x="4229100" y="2400300"/>
            <a:ext cx="1257300" cy="571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79" name="Line 7"/>
          <p:cNvSpPr>
            <a:spLocks noChangeShapeType="1"/>
          </p:cNvSpPr>
          <p:nvPr>
            <p:custDataLst>
              <p:tags r:id="rId5"/>
            </p:custDataLst>
          </p:nvPr>
        </p:nvSpPr>
        <p:spPr bwMode="auto">
          <a:xfrm flipV="1">
            <a:off x="3886200" y="2686050"/>
            <a:ext cx="1257300" cy="571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80" name="Line 8"/>
          <p:cNvSpPr>
            <a:spLocks noChangeShapeType="1"/>
          </p:cNvSpPr>
          <p:nvPr>
            <p:custDataLst>
              <p:tags r:id="rId6"/>
            </p:custDataLst>
          </p:nvPr>
        </p:nvSpPr>
        <p:spPr bwMode="auto">
          <a:xfrm flipV="1">
            <a:off x="3886200" y="3371850"/>
            <a:ext cx="1257300" cy="571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81" name="Line 9"/>
          <p:cNvSpPr>
            <a:spLocks noChangeShapeType="1"/>
          </p:cNvSpPr>
          <p:nvPr>
            <p:custDataLst>
              <p:tags r:id="rId7"/>
            </p:custDataLst>
          </p:nvPr>
        </p:nvSpPr>
        <p:spPr bwMode="auto">
          <a:xfrm>
            <a:off x="3371850" y="3028950"/>
            <a:ext cx="2228850" cy="571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82" name="Line 10"/>
          <p:cNvSpPr>
            <a:spLocks noChangeShapeType="1"/>
          </p:cNvSpPr>
          <p:nvPr>
            <p:custDataLst>
              <p:tags r:id="rId8"/>
            </p:custDataLst>
          </p:nvPr>
        </p:nvSpPr>
        <p:spPr bwMode="auto">
          <a:xfrm>
            <a:off x="3371850" y="2343150"/>
            <a:ext cx="2686050" cy="1714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83" name="Text Box 11"/>
          <p:cNvSpPr txBox="1">
            <a:spLocks noChangeArrowheads="1"/>
          </p:cNvSpPr>
          <p:nvPr>
            <p:custDataLst>
              <p:tags r:id="rId9"/>
            </p:custDataLst>
          </p:nvPr>
        </p:nvSpPr>
        <p:spPr bwMode="auto">
          <a:xfrm>
            <a:off x="2286000" y="4914900"/>
            <a:ext cx="4514850" cy="300082"/>
          </a:xfrm>
          <a:prstGeom prst="rect">
            <a:avLst/>
          </a:prstGeom>
          <a:solidFill>
            <a:schemeClr val="bg1"/>
          </a:solidFill>
          <a:ln w="9525">
            <a:noFill/>
            <a:miter lim="800000"/>
          </a:ln>
          <a:effectLst/>
        </p:spPr>
        <p:txBody>
          <a:bodyPr>
            <a:spAutoFit/>
          </a:bodyPr>
          <a:lstStyle/>
          <a:p>
            <a:pPr algn="ctr">
              <a:spcBef>
                <a:spcPct val="50000"/>
              </a:spcBef>
            </a:pPr>
            <a:r>
              <a:rPr lang="en-US" sz="1350" dirty="0"/>
              <a:t>Select </a:t>
            </a:r>
            <a:r>
              <a:rPr lang="en-US" sz="1350" i="1" dirty="0"/>
              <a:t>one</a:t>
            </a:r>
            <a:r>
              <a:rPr lang="en-US" sz="1350" dirty="0"/>
              <a:t> match at random, count </a:t>
            </a:r>
            <a:r>
              <a:rPr lang="en-US" sz="1350" i="1" dirty="0"/>
              <a:t>inliers</a:t>
            </a:r>
            <a:endParaRPr lang="en-US" sz="1350" dirty="0"/>
          </a:p>
        </p:txBody>
      </p:sp>
      <p:sp>
        <p:nvSpPr>
          <p:cNvPr id="13" name="Rectangle 2"/>
          <p:cNvSpPr txBox="1">
            <a:spLocks noChangeArrowheads="1"/>
          </p:cNvSpPr>
          <p:nvPr>
            <p:custDataLst>
              <p:tags r:id="rId10"/>
            </p:custDataLst>
          </p:nvPr>
        </p:nvSpPr>
        <p:spPr>
          <a:xfrm>
            <a:off x="571500" y="1056767"/>
            <a:ext cx="8229600" cy="857250"/>
          </a:xfrm>
          <a:prstGeom prst="rect">
            <a:avLst/>
          </a:prstGeom>
        </p:spPr>
        <p:txBody>
          <a:bodyPr vert="horz" lIns="68580" tIns="34290" rIns="68580" bIns="34290" rtlCol="0" anchor="ctr">
            <a:normAutofit/>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en-US" sz="3300" dirty="0" err="1">
                <a:solidFill>
                  <a:srgbClr val="FF0000"/>
                </a:solidFill>
              </a:rPr>
              <a:t>RAN</a:t>
            </a:r>
            <a:r>
              <a:rPr lang="en-US" sz="3300" dirty="0" err="1"/>
              <a:t>dom</a:t>
            </a:r>
            <a:r>
              <a:rPr lang="en-US" sz="3300" dirty="0"/>
              <a:t> </a:t>
            </a:r>
            <a:r>
              <a:rPr lang="en-US" sz="3300" dirty="0" err="1">
                <a:solidFill>
                  <a:srgbClr val="FF0000"/>
                </a:solidFill>
              </a:rPr>
              <a:t>SA</a:t>
            </a:r>
            <a:r>
              <a:rPr lang="en-US" sz="3300" dirty="0" err="1"/>
              <a:t>mple</a:t>
            </a:r>
            <a:r>
              <a:rPr lang="en-US" sz="3300" dirty="0"/>
              <a:t> </a:t>
            </a:r>
            <a:r>
              <a:rPr lang="en-US" sz="3300" dirty="0">
                <a:solidFill>
                  <a:srgbClr val="FF0000"/>
                </a:solidFill>
              </a:rPr>
              <a:t>C</a:t>
            </a:r>
            <a:r>
              <a:rPr lang="en-US" sz="3300" dirty="0"/>
              <a:t>onsensus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7" presetClass="emph" presetSubtype="2" fill="hold" nodeType="clickEffect">
                                  <p:stCondLst>
                                    <p:cond delay="0"/>
                                  </p:stCondLst>
                                  <p:childTnLst>
                                    <p:animClr clrSpc="rgb" dir="cw">
                                      <p:cBhvr>
                                        <p:cTn id="6" dur="500" fill="hold"/>
                                        <p:tgtEl>
                                          <p:spTgt spid="463879"/>
                                        </p:tgtEl>
                                        <p:attrNameLst>
                                          <p:attrName>stroke.color</p:attrName>
                                        </p:attrNameLst>
                                      </p:cBhvr>
                                      <p:to>
                                        <a:srgbClr val="FFFF00"/>
                                      </p:to>
                                    </p:animClr>
                                    <p:set>
                                      <p:cBhvr>
                                        <p:cTn id="7" dur="500" fill="hold"/>
                                        <p:tgtEl>
                                          <p:spTgt spid="463879"/>
                                        </p:tgtEl>
                                        <p:attrNameLst>
                                          <p:attrName>stroke.on</p:attrName>
                                        </p:attrNameLst>
                                      </p:cBhvr>
                                      <p:to>
                                        <p:strVal val="true"/>
                                      </p:to>
                                    </p:set>
                                  </p:childTnLst>
                                </p:cTn>
                              </p:par>
                            </p:childTnLst>
                          </p:cTn>
                        </p:par>
                      </p:childTnLst>
                    </p:cTn>
                  </p:par>
                  <p:par>
                    <p:cTn id="8" fill="hold">
                      <p:stCondLst>
                        <p:cond delay="indefinite"/>
                      </p:stCondLst>
                      <p:childTnLst>
                        <p:par>
                          <p:cTn id="9" fill="hold">
                            <p:stCondLst>
                              <p:cond delay="0"/>
                            </p:stCondLst>
                            <p:childTnLst>
                              <p:par>
                                <p:cTn id="10" presetID="7" presetClass="emph" presetSubtype="2" fill="hold" nodeType="clickEffect">
                                  <p:stCondLst>
                                    <p:cond delay="0"/>
                                  </p:stCondLst>
                                  <p:childTnLst>
                                    <p:animClr clrSpc="rgb" dir="cw">
                                      <p:cBhvr>
                                        <p:cTn id="11" dur="500" fill="hold"/>
                                        <p:tgtEl>
                                          <p:spTgt spid="463878"/>
                                        </p:tgtEl>
                                        <p:attrNameLst>
                                          <p:attrName>stroke.color</p:attrName>
                                        </p:attrNameLst>
                                      </p:cBhvr>
                                      <p:to>
                                        <a:schemeClr val="accent1"/>
                                      </p:to>
                                    </p:animClr>
                                    <p:set>
                                      <p:cBhvr>
                                        <p:cTn id="12" dur="500" fill="hold"/>
                                        <p:tgtEl>
                                          <p:spTgt spid="463878"/>
                                        </p:tgtEl>
                                        <p:attrNameLst>
                                          <p:attrName>stroke.on</p:attrName>
                                        </p:attrNameLst>
                                      </p:cBhvr>
                                      <p:to>
                                        <p:strVal val="true"/>
                                      </p:to>
                                    </p:set>
                                  </p:childTnLst>
                                </p:cTn>
                              </p:par>
                              <p:par>
                                <p:cTn id="13" presetID="7" presetClass="emph" presetSubtype="2" fill="hold" nodeType="withEffect">
                                  <p:stCondLst>
                                    <p:cond delay="0"/>
                                  </p:stCondLst>
                                  <p:childTnLst>
                                    <p:animClr clrSpc="rgb" dir="cw">
                                      <p:cBhvr>
                                        <p:cTn id="14" dur="500" fill="hold"/>
                                        <p:tgtEl>
                                          <p:spTgt spid="463877"/>
                                        </p:tgtEl>
                                        <p:attrNameLst>
                                          <p:attrName>stroke.color</p:attrName>
                                        </p:attrNameLst>
                                      </p:cBhvr>
                                      <p:to>
                                        <a:schemeClr val="accent1"/>
                                      </p:to>
                                    </p:animClr>
                                    <p:set>
                                      <p:cBhvr>
                                        <p:cTn id="15" dur="500" fill="hold"/>
                                        <p:tgtEl>
                                          <p:spTgt spid="463877"/>
                                        </p:tgtEl>
                                        <p:attrNameLst>
                                          <p:attrName>stroke.on</p:attrName>
                                        </p:attrNameLst>
                                      </p:cBhvr>
                                      <p:to>
                                        <p:strVal val="true"/>
                                      </p:to>
                                    </p:set>
                                  </p:childTnLst>
                                </p:cTn>
                              </p:par>
                              <p:par>
                                <p:cTn id="16" presetID="7" presetClass="emph" presetSubtype="2" fill="hold" nodeType="withEffect">
                                  <p:stCondLst>
                                    <p:cond delay="0"/>
                                  </p:stCondLst>
                                  <p:childTnLst>
                                    <p:animClr clrSpc="rgb" dir="cw">
                                      <p:cBhvr>
                                        <p:cTn id="17" dur="500" fill="hold"/>
                                        <p:tgtEl>
                                          <p:spTgt spid="463880"/>
                                        </p:tgtEl>
                                        <p:attrNameLst>
                                          <p:attrName>stroke.color</p:attrName>
                                        </p:attrNameLst>
                                      </p:cBhvr>
                                      <p:to>
                                        <a:schemeClr val="accent1"/>
                                      </p:to>
                                    </p:animClr>
                                    <p:set>
                                      <p:cBhvr>
                                        <p:cTn id="18" dur="500" fill="hold"/>
                                        <p:tgtEl>
                                          <p:spTgt spid="463880"/>
                                        </p:tgtEl>
                                        <p:attrNameLst>
                                          <p:attrName>stroke.on</p:attrName>
                                        </p:attrNameLst>
                                      </p:cBhvr>
                                      <p:to>
                                        <p:strVal val="true"/>
                                      </p:to>
                                    </p:set>
                                  </p:childTnLst>
                                </p:cTn>
                              </p:par>
                              <p:par>
                                <p:cTn id="19" presetID="7" presetClass="emph" presetSubtype="2" fill="hold" nodeType="withEffect">
                                  <p:stCondLst>
                                    <p:cond delay="0"/>
                                  </p:stCondLst>
                                  <p:childTnLst>
                                    <p:animClr clrSpc="rgb" dir="cw">
                                      <p:cBhvr>
                                        <p:cTn id="20" dur="500" fill="hold"/>
                                        <p:tgtEl>
                                          <p:spTgt spid="463876"/>
                                        </p:tgtEl>
                                        <p:attrNameLst>
                                          <p:attrName>stroke.color</p:attrName>
                                        </p:attrNameLst>
                                      </p:cBhvr>
                                      <p:to>
                                        <a:schemeClr val="accent1"/>
                                      </p:to>
                                    </p:animClr>
                                    <p:set>
                                      <p:cBhvr>
                                        <p:cTn id="21" dur="500" fill="hold"/>
                                        <p:tgtEl>
                                          <p:spTgt spid="463876"/>
                                        </p:tgtEl>
                                        <p:attrNameLst>
                                          <p:attrName>stroke.on</p:attrName>
                                        </p:attrNameLst>
                                      </p:cBhvr>
                                      <p:to>
                                        <p:strVal val="true"/>
                                      </p:to>
                                    </p:set>
                                  </p:childTnLst>
                                </p:cTn>
                              </p:par>
                            </p:childTnLst>
                          </p:cTn>
                        </p:par>
                      </p:childTnLst>
                    </p:cTn>
                  </p:par>
                  <p:par>
                    <p:cTn id="22" fill="hold">
                      <p:stCondLst>
                        <p:cond delay="indefinite"/>
                      </p:stCondLst>
                      <p:childTnLst>
                        <p:par>
                          <p:cTn id="23" fill="hold">
                            <p:stCondLst>
                              <p:cond delay="0"/>
                            </p:stCondLst>
                            <p:childTnLst>
                              <p:par>
                                <p:cTn id="24" presetID="7" presetClass="emph" presetSubtype="2" fill="hold" nodeType="clickEffect">
                                  <p:stCondLst>
                                    <p:cond delay="0"/>
                                  </p:stCondLst>
                                  <p:childTnLst>
                                    <p:animClr clrSpc="rgb" dir="cw">
                                      <p:cBhvr>
                                        <p:cTn id="25" dur="500" fill="hold"/>
                                        <p:tgtEl>
                                          <p:spTgt spid="463882"/>
                                        </p:tgtEl>
                                        <p:attrNameLst>
                                          <p:attrName>stroke.color</p:attrName>
                                        </p:attrNameLst>
                                      </p:cBhvr>
                                      <p:to>
                                        <a:srgbClr val="CC0000"/>
                                      </p:to>
                                    </p:animClr>
                                    <p:set>
                                      <p:cBhvr>
                                        <p:cTn id="26" dur="500" fill="hold"/>
                                        <p:tgtEl>
                                          <p:spTgt spid="463882"/>
                                        </p:tgtEl>
                                        <p:attrNameLst>
                                          <p:attrName>stroke.on</p:attrName>
                                        </p:attrNameLst>
                                      </p:cBhvr>
                                      <p:to>
                                        <p:strVal val="true"/>
                                      </p:to>
                                    </p:set>
                                  </p:childTnLst>
                                </p:cTn>
                              </p:par>
                              <p:par>
                                <p:cTn id="27" presetID="7" presetClass="emph" presetSubtype="2" fill="hold" nodeType="withEffect">
                                  <p:stCondLst>
                                    <p:cond delay="0"/>
                                  </p:stCondLst>
                                  <p:childTnLst>
                                    <p:animClr clrSpc="rgb" dir="cw">
                                      <p:cBhvr>
                                        <p:cTn id="28" dur="500" fill="hold"/>
                                        <p:tgtEl>
                                          <p:spTgt spid="463881"/>
                                        </p:tgtEl>
                                        <p:attrNameLst>
                                          <p:attrName>stroke.color</p:attrName>
                                        </p:attrNameLst>
                                      </p:cBhvr>
                                      <p:to>
                                        <a:srgbClr val="CC0000"/>
                                      </p:to>
                                    </p:animClr>
                                    <p:set>
                                      <p:cBhvr>
                                        <p:cTn id="29" dur="500" fill="hold"/>
                                        <p:tgtEl>
                                          <p:spTgt spid="463881"/>
                                        </p:tgtEl>
                                        <p:attrNameLst>
                                          <p:attrName>stroke.on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4899" name="Picture 3"/>
          <p:cNvPicPr>
            <a:picLocks noGrp="1" noChangeAspect="1" noChangeArrowheads="1"/>
          </p:cNvPicPr>
          <p:nvPr>
            <p:ph type="body" idx="1"/>
            <p:custDataLst>
              <p:tags r:id="rId1"/>
            </p:custDataLst>
          </p:nvPr>
        </p:nvPicPr>
        <p:blipFill>
          <a:blip r:embed="rId13" cstate="print"/>
          <a:srcRect/>
          <a:stretch>
            <a:fillRect/>
          </a:stretch>
        </p:blipFill>
        <p:spPr>
          <a:xfrm>
            <a:off x="2128838" y="2171700"/>
            <a:ext cx="4886325" cy="3257550"/>
          </a:xfrm>
          <a:noFill/>
        </p:spPr>
      </p:pic>
      <p:sp>
        <p:nvSpPr>
          <p:cNvPr id="464900" name="Line 4"/>
          <p:cNvSpPr>
            <a:spLocks noChangeShapeType="1"/>
          </p:cNvSpPr>
          <p:nvPr>
            <p:custDataLst>
              <p:tags r:id="rId2"/>
            </p:custDataLst>
          </p:nvPr>
        </p:nvSpPr>
        <p:spPr bwMode="auto">
          <a:xfrm flipV="1">
            <a:off x="4057650" y="3600450"/>
            <a:ext cx="1200150" cy="571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4901" name="Line 5"/>
          <p:cNvSpPr>
            <a:spLocks noChangeShapeType="1"/>
          </p:cNvSpPr>
          <p:nvPr>
            <p:custDataLst>
              <p:tags r:id="rId3"/>
            </p:custDataLst>
          </p:nvPr>
        </p:nvSpPr>
        <p:spPr bwMode="auto">
          <a:xfrm flipV="1">
            <a:off x="4220936" y="2914647"/>
            <a:ext cx="1257300" cy="571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4902" name="Line 6"/>
          <p:cNvSpPr>
            <a:spLocks noChangeShapeType="1"/>
          </p:cNvSpPr>
          <p:nvPr>
            <p:custDataLst>
              <p:tags r:id="rId4"/>
            </p:custDataLst>
          </p:nvPr>
        </p:nvSpPr>
        <p:spPr bwMode="auto">
          <a:xfrm flipV="1">
            <a:off x="4229100" y="2400300"/>
            <a:ext cx="1257300" cy="571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4903" name="Line 7"/>
          <p:cNvSpPr>
            <a:spLocks noChangeShapeType="1"/>
          </p:cNvSpPr>
          <p:nvPr>
            <p:custDataLst>
              <p:tags r:id="rId5"/>
            </p:custDataLst>
          </p:nvPr>
        </p:nvSpPr>
        <p:spPr bwMode="auto">
          <a:xfrm flipV="1">
            <a:off x="3886200" y="2686050"/>
            <a:ext cx="1257300" cy="571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4904" name="Line 8"/>
          <p:cNvSpPr>
            <a:spLocks noChangeShapeType="1"/>
          </p:cNvSpPr>
          <p:nvPr>
            <p:custDataLst>
              <p:tags r:id="rId6"/>
            </p:custDataLst>
          </p:nvPr>
        </p:nvSpPr>
        <p:spPr bwMode="auto">
          <a:xfrm flipV="1">
            <a:off x="3886200" y="3371850"/>
            <a:ext cx="1257300" cy="571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4905" name="Line 9"/>
          <p:cNvSpPr>
            <a:spLocks noChangeShapeType="1"/>
          </p:cNvSpPr>
          <p:nvPr>
            <p:custDataLst>
              <p:tags r:id="rId7"/>
            </p:custDataLst>
          </p:nvPr>
        </p:nvSpPr>
        <p:spPr bwMode="auto">
          <a:xfrm>
            <a:off x="3371850" y="3028950"/>
            <a:ext cx="2228850" cy="571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4906" name="Line 10"/>
          <p:cNvSpPr>
            <a:spLocks noChangeShapeType="1"/>
          </p:cNvSpPr>
          <p:nvPr>
            <p:custDataLst>
              <p:tags r:id="rId8"/>
            </p:custDataLst>
          </p:nvPr>
        </p:nvSpPr>
        <p:spPr bwMode="auto">
          <a:xfrm>
            <a:off x="3371850" y="2343150"/>
            <a:ext cx="2686050" cy="171450"/>
          </a:xfrm>
          <a:prstGeom prst="line">
            <a:avLst/>
          </a:prstGeom>
          <a:noFill/>
          <a:ln w="50800">
            <a:solidFill>
              <a:schemeClr val="bg1"/>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4907" name="Text Box 11"/>
          <p:cNvSpPr txBox="1">
            <a:spLocks noChangeArrowheads="1"/>
          </p:cNvSpPr>
          <p:nvPr>
            <p:custDataLst>
              <p:tags r:id="rId9"/>
            </p:custDataLst>
          </p:nvPr>
        </p:nvSpPr>
        <p:spPr bwMode="auto">
          <a:xfrm>
            <a:off x="2286000" y="4914900"/>
            <a:ext cx="4514850" cy="300082"/>
          </a:xfrm>
          <a:prstGeom prst="rect">
            <a:avLst/>
          </a:prstGeom>
          <a:solidFill>
            <a:schemeClr val="bg1"/>
          </a:solidFill>
          <a:ln w="9525">
            <a:noFill/>
            <a:miter lim="800000"/>
          </a:ln>
          <a:effectLst/>
        </p:spPr>
        <p:txBody>
          <a:bodyPr>
            <a:spAutoFit/>
          </a:bodyPr>
          <a:lstStyle/>
          <a:p>
            <a:pPr algn="ctr">
              <a:spcBef>
                <a:spcPct val="50000"/>
              </a:spcBef>
            </a:pPr>
            <a:r>
              <a:rPr lang="en-US" sz="1350" dirty="0"/>
              <a:t>Select another match at random, count </a:t>
            </a:r>
            <a:r>
              <a:rPr lang="en-US" sz="1350" i="1" dirty="0"/>
              <a:t>inliers</a:t>
            </a:r>
            <a:endParaRPr lang="en-US" sz="1350" dirty="0"/>
          </a:p>
        </p:txBody>
      </p:sp>
      <p:sp>
        <p:nvSpPr>
          <p:cNvPr id="13" name="Rectangle 2"/>
          <p:cNvSpPr txBox="1">
            <a:spLocks noChangeArrowheads="1"/>
          </p:cNvSpPr>
          <p:nvPr>
            <p:custDataLst>
              <p:tags r:id="rId10"/>
            </p:custDataLst>
          </p:nvPr>
        </p:nvSpPr>
        <p:spPr>
          <a:xfrm>
            <a:off x="571500" y="1056767"/>
            <a:ext cx="8229600" cy="857250"/>
          </a:xfrm>
          <a:prstGeom prst="rect">
            <a:avLst/>
          </a:prstGeom>
        </p:spPr>
        <p:txBody>
          <a:bodyPr vert="horz" lIns="68580" tIns="34290" rIns="68580" bIns="34290" rtlCol="0" anchor="ctr">
            <a:normAutofit/>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en-US" sz="3300" dirty="0" err="1">
                <a:solidFill>
                  <a:srgbClr val="FF0000"/>
                </a:solidFill>
              </a:rPr>
              <a:t>RAN</a:t>
            </a:r>
            <a:r>
              <a:rPr lang="en-US" sz="3300" dirty="0" err="1"/>
              <a:t>dom</a:t>
            </a:r>
            <a:r>
              <a:rPr lang="en-US" sz="3300" dirty="0"/>
              <a:t> </a:t>
            </a:r>
            <a:r>
              <a:rPr lang="en-US" sz="3300" dirty="0" err="1">
                <a:solidFill>
                  <a:srgbClr val="FF0000"/>
                </a:solidFill>
              </a:rPr>
              <a:t>SA</a:t>
            </a:r>
            <a:r>
              <a:rPr lang="en-US" sz="3300" dirty="0" err="1"/>
              <a:t>mple</a:t>
            </a:r>
            <a:r>
              <a:rPr lang="en-US" sz="3300" dirty="0"/>
              <a:t> </a:t>
            </a:r>
            <a:r>
              <a:rPr lang="en-US" sz="3300" dirty="0">
                <a:solidFill>
                  <a:srgbClr val="FF0000"/>
                </a:solidFill>
              </a:rPr>
              <a:t>C</a:t>
            </a:r>
            <a:r>
              <a:rPr lang="en-US" sz="3300" dirty="0"/>
              <a:t>onsensus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7" presetClass="emph" presetSubtype="2" fill="hold" nodeType="clickEffect">
                                  <p:stCondLst>
                                    <p:cond delay="0"/>
                                  </p:stCondLst>
                                  <p:childTnLst>
                                    <p:animClr clrSpc="rgb" dir="cw">
                                      <p:cBhvr>
                                        <p:cTn id="6" dur="500" fill="hold"/>
                                        <p:tgtEl>
                                          <p:spTgt spid="464905"/>
                                        </p:tgtEl>
                                        <p:attrNameLst>
                                          <p:attrName>stroke.color</p:attrName>
                                        </p:attrNameLst>
                                      </p:cBhvr>
                                      <p:to>
                                        <a:srgbClr val="FFFF00"/>
                                      </p:to>
                                    </p:animClr>
                                    <p:set>
                                      <p:cBhvr>
                                        <p:cTn id="7" dur="500" fill="hold"/>
                                        <p:tgtEl>
                                          <p:spTgt spid="464905"/>
                                        </p:tgtEl>
                                        <p:attrNameLst>
                                          <p:attrName>stroke.on</p:attrName>
                                        </p:attrNameLst>
                                      </p:cBhvr>
                                      <p:to>
                                        <p:strVal val="true"/>
                                      </p:to>
                                    </p:set>
                                  </p:childTnLst>
                                </p:cTn>
                              </p:par>
                            </p:childTnLst>
                          </p:cTn>
                        </p:par>
                      </p:childTnLst>
                    </p:cTn>
                  </p:par>
                  <p:par>
                    <p:cTn id="8" fill="hold">
                      <p:stCondLst>
                        <p:cond delay="indefinite"/>
                      </p:stCondLst>
                      <p:childTnLst>
                        <p:par>
                          <p:cTn id="9" fill="hold">
                            <p:stCondLst>
                              <p:cond delay="0"/>
                            </p:stCondLst>
                            <p:childTnLst>
                              <p:par>
                                <p:cTn id="10" presetID="7" presetClass="emph" presetSubtype="2" fill="hold" nodeType="clickEffect">
                                  <p:stCondLst>
                                    <p:cond delay="0"/>
                                  </p:stCondLst>
                                  <p:childTnLst>
                                    <p:animClr clrSpc="rgb" dir="cw">
                                      <p:cBhvr>
                                        <p:cTn id="11" dur="500" fill="hold"/>
                                        <p:tgtEl>
                                          <p:spTgt spid="464902"/>
                                        </p:tgtEl>
                                        <p:attrNameLst>
                                          <p:attrName>stroke.color</p:attrName>
                                        </p:attrNameLst>
                                      </p:cBhvr>
                                      <p:to>
                                        <a:srgbClr val="FF0000"/>
                                      </p:to>
                                    </p:animClr>
                                    <p:set>
                                      <p:cBhvr>
                                        <p:cTn id="12" dur="500" fill="hold"/>
                                        <p:tgtEl>
                                          <p:spTgt spid="464902"/>
                                        </p:tgtEl>
                                        <p:attrNameLst>
                                          <p:attrName>stroke.on</p:attrName>
                                        </p:attrNameLst>
                                      </p:cBhvr>
                                      <p:to>
                                        <p:strVal val="true"/>
                                      </p:to>
                                    </p:set>
                                  </p:childTnLst>
                                </p:cTn>
                              </p:par>
                              <p:par>
                                <p:cTn id="13" presetID="7" presetClass="emph" presetSubtype="2" fill="hold" nodeType="withEffect">
                                  <p:stCondLst>
                                    <p:cond delay="0"/>
                                  </p:stCondLst>
                                  <p:childTnLst>
                                    <p:animClr clrSpc="rgb" dir="cw">
                                      <p:cBhvr>
                                        <p:cTn id="14" dur="500" fill="hold"/>
                                        <p:tgtEl>
                                          <p:spTgt spid="464903"/>
                                        </p:tgtEl>
                                        <p:attrNameLst>
                                          <p:attrName>stroke.color</p:attrName>
                                        </p:attrNameLst>
                                      </p:cBhvr>
                                      <p:to>
                                        <a:srgbClr val="FF0000"/>
                                      </p:to>
                                    </p:animClr>
                                    <p:set>
                                      <p:cBhvr>
                                        <p:cTn id="15" dur="500" fill="hold"/>
                                        <p:tgtEl>
                                          <p:spTgt spid="464903"/>
                                        </p:tgtEl>
                                        <p:attrNameLst>
                                          <p:attrName>stroke.on</p:attrName>
                                        </p:attrNameLst>
                                      </p:cBhvr>
                                      <p:to>
                                        <p:strVal val="true"/>
                                      </p:to>
                                    </p:set>
                                  </p:childTnLst>
                                </p:cTn>
                              </p:par>
                              <p:par>
                                <p:cTn id="16" presetID="7" presetClass="emph" presetSubtype="2" fill="hold" nodeType="withEffect">
                                  <p:stCondLst>
                                    <p:cond delay="0"/>
                                  </p:stCondLst>
                                  <p:childTnLst>
                                    <p:animClr clrSpc="rgb" dir="cw">
                                      <p:cBhvr>
                                        <p:cTn id="17" dur="500" fill="hold"/>
                                        <p:tgtEl>
                                          <p:spTgt spid="464901"/>
                                        </p:tgtEl>
                                        <p:attrNameLst>
                                          <p:attrName>stroke.color</p:attrName>
                                        </p:attrNameLst>
                                      </p:cBhvr>
                                      <p:to>
                                        <a:srgbClr val="FF0000"/>
                                      </p:to>
                                    </p:animClr>
                                    <p:set>
                                      <p:cBhvr>
                                        <p:cTn id="18" dur="500" fill="hold"/>
                                        <p:tgtEl>
                                          <p:spTgt spid="464901"/>
                                        </p:tgtEl>
                                        <p:attrNameLst>
                                          <p:attrName>stroke.on</p:attrName>
                                        </p:attrNameLst>
                                      </p:cBhvr>
                                      <p:to>
                                        <p:strVal val="true"/>
                                      </p:to>
                                    </p:set>
                                  </p:childTnLst>
                                </p:cTn>
                              </p:par>
                              <p:par>
                                <p:cTn id="19" presetID="7" presetClass="emph" presetSubtype="2" fill="hold" nodeType="withEffect">
                                  <p:stCondLst>
                                    <p:cond delay="0"/>
                                  </p:stCondLst>
                                  <p:childTnLst>
                                    <p:animClr clrSpc="rgb" dir="cw">
                                      <p:cBhvr>
                                        <p:cTn id="20" dur="500" fill="hold"/>
                                        <p:tgtEl>
                                          <p:spTgt spid="464904"/>
                                        </p:tgtEl>
                                        <p:attrNameLst>
                                          <p:attrName>stroke.color</p:attrName>
                                        </p:attrNameLst>
                                      </p:cBhvr>
                                      <p:to>
                                        <a:srgbClr val="FF0000"/>
                                      </p:to>
                                    </p:animClr>
                                    <p:set>
                                      <p:cBhvr>
                                        <p:cTn id="21" dur="500" fill="hold"/>
                                        <p:tgtEl>
                                          <p:spTgt spid="464904"/>
                                        </p:tgtEl>
                                        <p:attrNameLst>
                                          <p:attrName>stroke.on</p:attrName>
                                        </p:attrNameLst>
                                      </p:cBhvr>
                                      <p:to>
                                        <p:strVal val="true"/>
                                      </p:to>
                                    </p:set>
                                  </p:childTnLst>
                                </p:cTn>
                              </p:par>
                              <p:par>
                                <p:cTn id="22" presetID="7" presetClass="emph" presetSubtype="2" fill="hold" nodeType="withEffect">
                                  <p:stCondLst>
                                    <p:cond delay="0"/>
                                  </p:stCondLst>
                                  <p:childTnLst>
                                    <p:animClr clrSpc="rgb" dir="cw">
                                      <p:cBhvr>
                                        <p:cTn id="23" dur="500" fill="hold"/>
                                        <p:tgtEl>
                                          <p:spTgt spid="464900"/>
                                        </p:tgtEl>
                                        <p:attrNameLst>
                                          <p:attrName>stroke.color</p:attrName>
                                        </p:attrNameLst>
                                      </p:cBhvr>
                                      <p:to>
                                        <a:srgbClr val="FF0000"/>
                                      </p:to>
                                    </p:animClr>
                                    <p:set>
                                      <p:cBhvr>
                                        <p:cTn id="24" dur="500" fill="hold"/>
                                        <p:tgtEl>
                                          <p:spTgt spid="464900"/>
                                        </p:tgtEl>
                                        <p:attrNameLst>
                                          <p:attrName>stroke.on</p:attrName>
                                        </p:attrNameLst>
                                      </p:cBhvr>
                                      <p:to>
                                        <p:strVal val="true"/>
                                      </p:to>
                                    </p:set>
                                  </p:childTnLst>
                                </p:cTn>
                              </p:par>
                              <p:par>
                                <p:cTn id="25" presetID="7" presetClass="emph" presetSubtype="2" fill="hold" nodeType="withEffect">
                                  <p:stCondLst>
                                    <p:cond delay="0"/>
                                  </p:stCondLst>
                                  <p:childTnLst>
                                    <p:animClr clrSpc="rgb" dir="cw">
                                      <p:cBhvr>
                                        <p:cTn id="26" dur="500" fill="hold"/>
                                        <p:tgtEl>
                                          <p:spTgt spid="464906"/>
                                        </p:tgtEl>
                                        <p:attrNameLst>
                                          <p:attrName>stroke.color</p:attrName>
                                        </p:attrNameLst>
                                      </p:cBhvr>
                                      <p:to>
                                        <a:srgbClr val="FF0000"/>
                                      </p:to>
                                    </p:animClr>
                                    <p:set>
                                      <p:cBhvr>
                                        <p:cTn id="27" dur="500" fill="hold"/>
                                        <p:tgtEl>
                                          <p:spTgt spid="464906"/>
                                        </p:tgtEl>
                                        <p:attrNameLst>
                                          <p:attrName>stroke.on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3875" name="Picture 3"/>
          <p:cNvPicPr>
            <a:picLocks noGrp="1" noChangeAspect="1" noChangeArrowheads="1"/>
          </p:cNvPicPr>
          <p:nvPr>
            <p:ph type="body" idx="1"/>
            <p:custDataLst>
              <p:tags r:id="rId1"/>
            </p:custDataLst>
          </p:nvPr>
        </p:nvPicPr>
        <p:blipFill>
          <a:blip r:embed="rId13" cstate="print"/>
          <a:srcRect/>
          <a:stretch>
            <a:fillRect/>
          </a:stretch>
        </p:blipFill>
        <p:spPr>
          <a:xfrm>
            <a:off x="2128838" y="2171700"/>
            <a:ext cx="4886325" cy="3257550"/>
          </a:xfrm>
          <a:noFill/>
        </p:spPr>
      </p:pic>
      <p:sp>
        <p:nvSpPr>
          <p:cNvPr id="463876" name="Line 4"/>
          <p:cNvSpPr>
            <a:spLocks noChangeShapeType="1"/>
          </p:cNvSpPr>
          <p:nvPr>
            <p:custDataLst>
              <p:tags r:id="rId2"/>
            </p:custDataLst>
          </p:nvPr>
        </p:nvSpPr>
        <p:spPr bwMode="auto">
          <a:xfrm flipV="1">
            <a:off x="4057650" y="3600450"/>
            <a:ext cx="1200150" cy="57150"/>
          </a:xfrm>
          <a:prstGeom prst="line">
            <a:avLst/>
          </a:prstGeom>
          <a:noFill/>
          <a:ln w="50800">
            <a:solidFill>
              <a:srgbClr val="3333FF"/>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77" name="Line 5"/>
          <p:cNvSpPr>
            <a:spLocks noChangeShapeType="1"/>
          </p:cNvSpPr>
          <p:nvPr>
            <p:custDataLst>
              <p:tags r:id="rId3"/>
            </p:custDataLst>
          </p:nvPr>
        </p:nvSpPr>
        <p:spPr bwMode="auto">
          <a:xfrm flipV="1">
            <a:off x="4220936" y="2914647"/>
            <a:ext cx="1257300" cy="57150"/>
          </a:xfrm>
          <a:prstGeom prst="line">
            <a:avLst/>
          </a:prstGeom>
          <a:noFill/>
          <a:ln w="50800">
            <a:solidFill>
              <a:srgbClr val="3333FF"/>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78" name="Line 6"/>
          <p:cNvSpPr>
            <a:spLocks noChangeShapeType="1"/>
          </p:cNvSpPr>
          <p:nvPr>
            <p:custDataLst>
              <p:tags r:id="rId4"/>
            </p:custDataLst>
          </p:nvPr>
        </p:nvSpPr>
        <p:spPr bwMode="auto">
          <a:xfrm flipV="1">
            <a:off x="4229100" y="2400300"/>
            <a:ext cx="1257300" cy="57150"/>
          </a:xfrm>
          <a:prstGeom prst="line">
            <a:avLst/>
          </a:prstGeom>
          <a:noFill/>
          <a:ln w="50800">
            <a:solidFill>
              <a:srgbClr val="3333FF"/>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79" name="Line 7"/>
          <p:cNvSpPr>
            <a:spLocks noChangeShapeType="1"/>
          </p:cNvSpPr>
          <p:nvPr>
            <p:custDataLst>
              <p:tags r:id="rId5"/>
            </p:custDataLst>
          </p:nvPr>
        </p:nvSpPr>
        <p:spPr bwMode="auto">
          <a:xfrm flipV="1">
            <a:off x="3886200" y="2686050"/>
            <a:ext cx="1257300" cy="57150"/>
          </a:xfrm>
          <a:prstGeom prst="line">
            <a:avLst/>
          </a:prstGeom>
          <a:noFill/>
          <a:ln w="50800">
            <a:solidFill>
              <a:srgbClr val="FFFF00"/>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80" name="Line 8"/>
          <p:cNvSpPr>
            <a:spLocks noChangeShapeType="1"/>
          </p:cNvSpPr>
          <p:nvPr>
            <p:custDataLst>
              <p:tags r:id="rId6"/>
            </p:custDataLst>
          </p:nvPr>
        </p:nvSpPr>
        <p:spPr bwMode="auto">
          <a:xfrm flipV="1">
            <a:off x="3886200" y="3371850"/>
            <a:ext cx="1257300" cy="57150"/>
          </a:xfrm>
          <a:prstGeom prst="line">
            <a:avLst/>
          </a:prstGeom>
          <a:noFill/>
          <a:ln w="50800">
            <a:solidFill>
              <a:srgbClr val="3333FF"/>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81" name="Line 9"/>
          <p:cNvSpPr>
            <a:spLocks noChangeShapeType="1"/>
          </p:cNvSpPr>
          <p:nvPr>
            <p:custDataLst>
              <p:tags r:id="rId7"/>
            </p:custDataLst>
          </p:nvPr>
        </p:nvSpPr>
        <p:spPr bwMode="auto">
          <a:xfrm>
            <a:off x="3371850" y="3028950"/>
            <a:ext cx="2228850" cy="57150"/>
          </a:xfrm>
          <a:prstGeom prst="line">
            <a:avLst/>
          </a:prstGeom>
          <a:noFill/>
          <a:ln w="50800">
            <a:solidFill>
              <a:srgbClr val="FF0000"/>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82" name="Line 10"/>
          <p:cNvSpPr>
            <a:spLocks noChangeShapeType="1"/>
          </p:cNvSpPr>
          <p:nvPr>
            <p:custDataLst>
              <p:tags r:id="rId8"/>
            </p:custDataLst>
          </p:nvPr>
        </p:nvSpPr>
        <p:spPr bwMode="auto">
          <a:xfrm>
            <a:off x="3371850" y="2343150"/>
            <a:ext cx="2686050" cy="171450"/>
          </a:xfrm>
          <a:prstGeom prst="line">
            <a:avLst/>
          </a:prstGeom>
          <a:noFill/>
          <a:ln w="50800">
            <a:solidFill>
              <a:srgbClr val="FF0000"/>
            </a:solidFill>
            <a:round/>
            <a:tailEnd type="triangle" w="lg" len="lg"/>
          </a:ln>
          <a:effectLst>
            <a:outerShdw blurRad="50800" dist="38100" dir="2700000" algn="tl" rotWithShape="0">
              <a:prstClr val="black">
                <a:alpha val="88000"/>
              </a:prstClr>
            </a:outerShdw>
          </a:effectLst>
        </p:spPr>
        <p:txBody>
          <a:bodyPr/>
          <a:lstStyle/>
          <a:p>
            <a:endParaRPr lang="en-US" sz="1350"/>
          </a:p>
        </p:txBody>
      </p:sp>
      <p:sp>
        <p:nvSpPr>
          <p:cNvPr id="463883" name="Text Box 11"/>
          <p:cNvSpPr txBox="1">
            <a:spLocks noChangeArrowheads="1"/>
          </p:cNvSpPr>
          <p:nvPr>
            <p:custDataLst>
              <p:tags r:id="rId9"/>
            </p:custDataLst>
          </p:nvPr>
        </p:nvSpPr>
        <p:spPr bwMode="auto">
          <a:xfrm>
            <a:off x="2286000" y="4914900"/>
            <a:ext cx="4514850" cy="300082"/>
          </a:xfrm>
          <a:prstGeom prst="rect">
            <a:avLst/>
          </a:prstGeom>
          <a:solidFill>
            <a:schemeClr val="bg1"/>
          </a:solidFill>
          <a:ln w="9525">
            <a:noFill/>
            <a:miter lim="800000"/>
          </a:ln>
          <a:effectLst/>
        </p:spPr>
        <p:txBody>
          <a:bodyPr>
            <a:spAutoFit/>
          </a:bodyPr>
          <a:lstStyle/>
          <a:p>
            <a:pPr algn="ctr">
              <a:spcBef>
                <a:spcPct val="50000"/>
              </a:spcBef>
            </a:pPr>
            <a:r>
              <a:rPr lang="en-US" sz="1350" dirty="0"/>
              <a:t>Output the translation with the highest number of inliers</a:t>
            </a:r>
          </a:p>
        </p:txBody>
      </p:sp>
      <p:sp>
        <p:nvSpPr>
          <p:cNvPr id="13" name="Rectangle 2"/>
          <p:cNvSpPr txBox="1">
            <a:spLocks noChangeArrowheads="1"/>
          </p:cNvSpPr>
          <p:nvPr>
            <p:custDataLst>
              <p:tags r:id="rId10"/>
            </p:custDataLst>
          </p:nvPr>
        </p:nvSpPr>
        <p:spPr>
          <a:xfrm>
            <a:off x="571500" y="1056767"/>
            <a:ext cx="8229600" cy="857250"/>
          </a:xfrm>
          <a:prstGeom prst="rect">
            <a:avLst/>
          </a:prstGeom>
        </p:spPr>
        <p:txBody>
          <a:bodyPr vert="horz" lIns="68580" tIns="34290" rIns="68580" bIns="34290" rtlCol="0" anchor="ctr">
            <a:normAutofit/>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en-US" sz="3300" dirty="0" err="1">
                <a:solidFill>
                  <a:srgbClr val="FF0000"/>
                </a:solidFill>
              </a:rPr>
              <a:t>RAN</a:t>
            </a:r>
            <a:r>
              <a:rPr lang="en-US" sz="3300" dirty="0" err="1"/>
              <a:t>dom</a:t>
            </a:r>
            <a:r>
              <a:rPr lang="en-US" sz="3300" dirty="0"/>
              <a:t> </a:t>
            </a:r>
            <a:r>
              <a:rPr lang="en-US" sz="3300" dirty="0" err="1">
                <a:solidFill>
                  <a:srgbClr val="FF0000"/>
                </a:solidFill>
              </a:rPr>
              <a:t>SA</a:t>
            </a:r>
            <a:r>
              <a:rPr lang="en-US" sz="3300" dirty="0" err="1"/>
              <a:t>mple</a:t>
            </a:r>
            <a:r>
              <a:rPr lang="en-US" sz="3300" dirty="0"/>
              <a:t> </a:t>
            </a:r>
            <a:r>
              <a:rPr lang="en-US" sz="3300" dirty="0">
                <a:solidFill>
                  <a:srgbClr val="FF0000"/>
                </a:solidFill>
              </a:rPr>
              <a:t>C</a:t>
            </a:r>
            <a:r>
              <a:rPr lang="en-US" sz="3300" dirty="0"/>
              <a:t>onsensus</a:t>
            </a:r>
          </a:p>
        </p:txBody>
      </p:sp>
      <p:sp>
        <p:nvSpPr>
          <p:cNvPr id="14" name="矩形 13"/>
          <p:cNvSpPr/>
          <p:nvPr/>
        </p:nvSpPr>
        <p:spPr>
          <a:xfrm>
            <a:off x="1149724" y="5586601"/>
            <a:ext cx="6787403" cy="323165"/>
          </a:xfrm>
          <a:prstGeom prst="rect">
            <a:avLst/>
          </a:prstGeom>
        </p:spPr>
        <p:txBody>
          <a:bodyPr wrap="square">
            <a:spAutoFit/>
          </a:bodyPr>
          <a:lstStyle/>
          <a:p>
            <a:r>
              <a:rPr lang="en-US" altLang="zh-CN" sz="1500" b="1" dirty="0">
                <a:solidFill>
                  <a:srgbClr val="FF0000"/>
                </a:solidFill>
              </a:rPr>
              <a:t>“All good matches are alike; every bad match is bad in its own way.”</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744320"/>
            <a:ext cx="8229600" cy="4525963"/>
          </a:xfrm>
        </p:spPr>
        <p:txBody>
          <a:bodyPr/>
          <a:lstStyle/>
          <a:p>
            <a:r>
              <a:rPr lang="zh-CN" altLang="en-US" dirty="0"/>
              <a:t>如果我们每轮至少得选择 </a:t>
            </a:r>
            <a:r>
              <a:rPr lang="en-US" i="1" dirty="0"/>
              <a:t>s</a:t>
            </a:r>
            <a:r>
              <a:rPr lang="en-US" dirty="0"/>
              <a:t> </a:t>
            </a:r>
            <a:r>
              <a:rPr lang="zh-CN" altLang="en-US" dirty="0"/>
              <a:t>个采样数据</a:t>
            </a:r>
            <a:endParaRPr lang="en-US" dirty="0"/>
          </a:p>
          <a:p>
            <a:pPr lvl="1"/>
            <a:r>
              <a:rPr lang="zh-CN" altLang="en-US" dirty="0"/>
              <a:t>局外点</a:t>
            </a:r>
            <a:r>
              <a:rPr lang="en-US" dirty="0"/>
              <a:t>outlier</a:t>
            </a:r>
            <a:r>
              <a:rPr lang="zh-CN" altLang="en-US" dirty="0"/>
              <a:t>的比例是</a:t>
            </a:r>
            <a:r>
              <a:rPr lang="en-US" dirty="0"/>
              <a:t> </a:t>
            </a:r>
            <a:r>
              <a:rPr lang="en-US" i="1" dirty="0"/>
              <a:t>e</a:t>
            </a:r>
          </a:p>
          <a:p>
            <a:pPr lvl="1"/>
            <a:r>
              <a:rPr lang="zh-CN" altLang="en-US" dirty="0"/>
              <a:t>我们期望达到的正确概率是 </a:t>
            </a:r>
            <a:r>
              <a:rPr lang="en-US" i="1" dirty="0"/>
              <a:t>p</a:t>
            </a:r>
            <a:r>
              <a:rPr lang="zh-CN" altLang="en-US" dirty="0"/>
              <a:t>，则需要的迭代轮数</a:t>
            </a:r>
            <a:r>
              <a:rPr lang="zh-CN" altLang="en-US" i="1" dirty="0"/>
              <a:t> </a:t>
            </a:r>
            <a:r>
              <a:rPr lang="en-US" altLang="zh-CN" i="1" dirty="0"/>
              <a:t>N </a:t>
            </a:r>
            <a:r>
              <a:rPr lang="zh-CN" altLang="en-US" dirty="0"/>
              <a:t>需要满足</a:t>
            </a:r>
            <a:endParaRPr lang="en-US" dirty="0"/>
          </a:p>
        </p:txBody>
      </p:sp>
      <p:graphicFrame>
        <p:nvGraphicFramePr>
          <p:cNvPr id="4" name="Group 6"/>
          <p:cNvGraphicFramePr>
            <a:graphicFrameLocks noGrp="1"/>
          </p:cNvGraphicFramePr>
          <p:nvPr/>
        </p:nvGraphicFramePr>
        <p:xfrm>
          <a:off x="2847415" y="4122859"/>
          <a:ext cx="3600448" cy="1649292"/>
        </p:xfrm>
        <a:graphic>
          <a:graphicData uri="http://schemas.openxmlformats.org/drawingml/2006/table">
            <a:tbl>
              <a:tblPr/>
              <a:tblGrid>
                <a:gridCol w="450056">
                  <a:extLst>
                    <a:ext uri="{9D8B030D-6E8A-4147-A177-3AD203B41FA5}">
                      <a16:colId xmlns:a16="http://schemas.microsoft.com/office/drawing/2014/main" val="20000"/>
                    </a:ext>
                  </a:extLst>
                </a:gridCol>
                <a:gridCol w="450056">
                  <a:extLst>
                    <a:ext uri="{9D8B030D-6E8A-4147-A177-3AD203B41FA5}">
                      <a16:colId xmlns:a16="http://schemas.microsoft.com/office/drawing/2014/main" val="20001"/>
                    </a:ext>
                  </a:extLst>
                </a:gridCol>
                <a:gridCol w="450056">
                  <a:extLst>
                    <a:ext uri="{9D8B030D-6E8A-4147-A177-3AD203B41FA5}">
                      <a16:colId xmlns:a16="http://schemas.microsoft.com/office/drawing/2014/main" val="20002"/>
                    </a:ext>
                  </a:extLst>
                </a:gridCol>
                <a:gridCol w="469106">
                  <a:extLst>
                    <a:ext uri="{9D8B030D-6E8A-4147-A177-3AD203B41FA5}">
                      <a16:colId xmlns:a16="http://schemas.microsoft.com/office/drawing/2014/main" val="20003"/>
                    </a:ext>
                  </a:extLst>
                </a:gridCol>
                <a:gridCol w="431006">
                  <a:extLst>
                    <a:ext uri="{9D8B030D-6E8A-4147-A177-3AD203B41FA5}">
                      <a16:colId xmlns:a16="http://schemas.microsoft.com/office/drawing/2014/main" val="20004"/>
                    </a:ext>
                  </a:extLst>
                </a:gridCol>
                <a:gridCol w="450056">
                  <a:extLst>
                    <a:ext uri="{9D8B030D-6E8A-4147-A177-3AD203B41FA5}">
                      <a16:colId xmlns:a16="http://schemas.microsoft.com/office/drawing/2014/main" val="20005"/>
                    </a:ext>
                  </a:extLst>
                </a:gridCol>
                <a:gridCol w="450056">
                  <a:extLst>
                    <a:ext uri="{9D8B030D-6E8A-4147-A177-3AD203B41FA5}">
                      <a16:colId xmlns:a16="http://schemas.microsoft.com/office/drawing/2014/main" val="20006"/>
                    </a:ext>
                  </a:extLst>
                </a:gridCol>
                <a:gridCol w="450056">
                  <a:extLst>
                    <a:ext uri="{9D8B030D-6E8A-4147-A177-3AD203B41FA5}">
                      <a16:colId xmlns:a16="http://schemas.microsoft.com/office/drawing/2014/main" val="20007"/>
                    </a:ext>
                  </a:extLst>
                </a:gridCol>
              </a:tblGrid>
              <a:tr h="186252">
                <a:tc>
                  <a:txBody>
                    <a:bodyPr/>
                    <a:lstStyle/>
                    <a:p>
                      <a:pPr marL="0" marR="0" lvl="0" indent="0" algn="l" defTabSz="914400" rtl="0" eaLnBrk="0" fontAlgn="base" latinLnBrk="0" hangingPunct="0">
                        <a:lnSpc>
                          <a:spcPct val="100000"/>
                        </a:lnSpc>
                        <a:spcBef>
                          <a:spcPct val="20000"/>
                        </a:spcBef>
                        <a:spcAft>
                          <a:spcPct val="0"/>
                        </a:spcAft>
                        <a:buClrTx/>
                        <a:buSzTx/>
                        <a:buFontTx/>
                        <a:buNone/>
                      </a:pPr>
                      <a:endParaRPr kumimoji="0" lang="en-US" sz="1200" b="0" i="0" u="none" strike="noStrike" cap="none" normalizeH="0" baseline="0" dirty="0">
                        <a:ln>
                          <a:noFill/>
                        </a:ln>
                        <a:solidFill>
                          <a:schemeClr val="tx1"/>
                        </a:solidFill>
                        <a:effectLst/>
                        <a:latin typeface="+mn-lt"/>
                      </a:endParaRPr>
                    </a:p>
                  </a:txBody>
                  <a:tcPr marL="34290" marR="34290" marT="0" marB="0" horzOverflow="overflow">
                    <a:lnL cap="flat">
                      <a:noFill/>
                    </a:lnL>
                    <a:lnR>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gridSpan="7">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100" b="0" i="0" u="none" strike="noStrike" cap="none" normalizeH="0" baseline="0">
                          <a:ln>
                            <a:noFill/>
                          </a:ln>
                          <a:solidFill>
                            <a:schemeClr val="tx1"/>
                          </a:solidFill>
                          <a:effectLst/>
                          <a:latin typeface="+mn-lt"/>
                        </a:rPr>
                        <a:t>proportion of outliers</a:t>
                      </a:r>
                      <a:r>
                        <a:rPr kumimoji="0" lang="en-US" sz="1200" b="0" i="0" u="none" strike="noStrike" cap="none" normalizeH="0" baseline="0">
                          <a:ln>
                            <a:noFill/>
                          </a:ln>
                          <a:solidFill>
                            <a:schemeClr val="tx1"/>
                          </a:solidFill>
                          <a:effectLst/>
                          <a:latin typeface="+mn-lt"/>
                        </a:rPr>
                        <a:t> </a:t>
                      </a:r>
                      <a:r>
                        <a:rPr kumimoji="0" lang="en-US" sz="1200" b="0" i="1" u="none" strike="noStrike" cap="none" normalizeH="0" baseline="0">
                          <a:ln>
                            <a:noFill/>
                          </a:ln>
                          <a:solidFill>
                            <a:schemeClr val="tx1"/>
                          </a:solidFill>
                          <a:effectLst/>
                          <a:latin typeface="+mn-lt"/>
                        </a:rPr>
                        <a:t>e</a:t>
                      </a:r>
                    </a:p>
                  </a:txBody>
                  <a:tcPr marL="34290" marR="34290" marT="0" marB="0" horzOverflow="overflow">
                    <a:lnL>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0"/>
                  </a:ext>
                </a:extLst>
              </a:tr>
              <a:tr h="182880">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s</a:t>
                      </a:r>
                    </a:p>
                  </a:txBody>
                  <a:tcPr marL="34290" marR="34290" marT="0" marB="0" horzOverflow="overflow">
                    <a:lnL cap="flat">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5%</a:t>
                      </a:r>
                    </a:p>
                  </a:txBody>
                  <a:tcPr marL="34290" marR="34290" marT="0" marB="0" horzOverflow="overflow">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10%</a:t>
                      </a:r>
                    </a:p>
                  </a:txBody>
                  <a:tcPr marL="34290" marR="34290" marT="0" marB="0" horzOverflow="overflow">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20%</a:t>
                      </a:r>
                    </a:p>
                  </a:txBody>
                  <a:tcPr marL="34290" marR="34290" marT="0" marB="0" horzOverflow="overflow">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25%</a:t>
                      </a:r>
                    </a:p>
                  </a:txBody>
                  <a:tcPr marL="34290" marR="34290" marT="0" marB="0" horzOverflow="overflow">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30%</a:t>
                      </a:r>
                    </a:p>
                  </a:txBody>
                  <a:tcPr marL="34290" marR="34290" marT="0" marB="0" horzOverflow="overflow">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40%</a:t>
                      </a:r>
                    </a:p>
                  </a:txBody>
                  <a:tcPr marL="34290" marR="34290" marT="0" marB="0" horzOverflow="overflow">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dirty="0">
                          <a:ln>
                            <a:noFill/>
                          </a:ln>
                          <a:solidFill>
                            <a:schemeClr val="tx1"/>
                          </a:solidFill>
                          <a:effectLst/>
                          <a:latin typeface="+mn-lt"/>
                        </a:rPr>
                        <a:t>50%</a:t>
                      </a:r>
                    </a:p>
                  </a:txBody>
                  <a:tcPr marL="34290" marR="34290" marT="0" marB="0" horzOverflow="overflow">
                    <a:lnL>
                      <a:noFill/>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182880">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2</a:t>
                      </a:r>
                    </a:p>
                  </a:txBody>
                  <a:tcPr marL="34290" marR="34290" marT="0" marB="0" horzOverflow="overflow">
                    <a:lnL cap="flat">
                      <a:noFill/>
                    </a:lnL>
                    <a:lnR>
                      <a:noFill/>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2</a:t>
                      </a:r>
                    </a:p>
                  </a:txBody>
                  <a:tcPr marL="34290" marR="34290" marT="0" marB="0" horzOverflow="overflow">
                    <a:lnL>
                      <a:noFill/>
                    </a:lnL>
                    <a:lnR>
                      <a:noFill/>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3</a:t>
                      </a:r>
                    </a:p>
                  </a:txBody>
                  <a:tcPr marL="34290" marR="34290" marT="0" marB="0" horzOverflow="overflow">
                    <a:lnL>
                      <a:noFill/>
                    </a:lnL>
                    <a:lnR>
                      <a:noFill/>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5</a:t>
                      </a:r>
                    </a:p>
                  </a:txBody>
                  <a:tcPr marL="34290" marR="34290" marT="0" marB="0" horzOverflow="overflow">
                    <a:lnL>
                      <a:noFill/>
                    </a:lnL>
                    <a:lnR>
                      <a:noFill/>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6</a:t>
                      </a:r>
                    </a:p>
                  </a:txBody>
                  <a:tcPr marL="34290" marR="34290" marT="0" marB="0" horzOverflow="overflow">
                    <a:lnL>
                      <a:noFill/>
                    </a:lnL>
                    <a:lnR>
                      <a:noFill/>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7</a:t>
                      </a:r>
                    </a:p>
                  </a:txBody>
                  <a:tcPr marL="34290" marR="34290" marT="0" marB="0" horzOverflow="overflow">
                    <a:lnL>
                      <a:noFill/>
                    </a:lnL>
                    <a:lnR>
                      <a:noFill/>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11</a:t>
                      </a:r>
                    </a:p>
                  </a:txBody>
                  <a:tcPr marL="34290" marR="34290" marT="0" marB="0" horzOverflow="overflow">
                    <a:lnL>
                      <a:noFill/>
                    </a:lnL>
                    <a:lnR>
                      <a:noFill/>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17</a:t>
                      </a:r>
                    </a:p>
                  </a:txBody>
                  <a:tcPr marL="34290" marR="34290" marT="0" marB="0" horzOverflow="overflow">
                    <a:lnL>
                      <a:noFill/>
                    </a:lnL>
                    <a:lnR cap="flat">
                      <a:noFill/>
                    </a:lnR>
                    <a:lnT w="12700" cap="flat" cmpd="sng" algn="ctr">
                      <a:solidFill>
                        <a:schemeClr val="tx1"/>
                      </a:solidFill>
                      <a:prstDash val="solid"/>
                      <a:round/>
                      <a:headEnd type="none" w="med" len="med"/>
                      <a:tailEnd type="none" w="med" len="med"/>
                    </a:lnT>
                    <a:lnB>
                      <a:noFill/>
                    </a:lnB>
                    <a:lnTlToBr>
                      <a:noFill/>
                    </a:lnTlToBr>
                    <a:lnBlToTr>
                      <a:noFill/>
                    </a:lnBlToTr>
                    <a:noFill/>
                  </a:tcPr>
                </a:tc>
                <a:extLst>
                  <a:ext uri="{0D108BD9-81ED-4DB2-BD59-A6C34878D82A}">
                    <a16:rowId xmlns:a16="http://schemas.microsoft.com/office/drawing/2014/main" val="10002"/>
                  </a:ext>
                </a:extLst>
              </a:tr>
              <a:tr h="182880">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3</a:t>
                      </a:r>
                    </a:p>
                  </a:txBody>
                  <a:tcPr marL="34290" marR="34290" marT="0" marB="0" horzOverflow="overflow">
                    <a:lnL cap="flat">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3</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4</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7</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9</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11</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19</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35</a:t>
                      </a:r>
                    </a:p>
                  </a:txBody>
                  <a:tcPr marL="34290" marR="34290" marT="0" marB="0" horzOverflow="overflow">
                    <a:lnL>
                      <a:noFill/>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182880">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4</a:t>
                      </a:r>
                    </a:p>
                  </a:txBody>
                  <a:tcPr marL="34290" marR="34290" marT="0" marB="0" horzOverflow="overflow">
                    <a:lnL cap="flat">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3</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5</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9</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13</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17</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34</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72</a:t>
                      </a:r>
                    </a:p>
                  </a:txBody>
                  <a:tcPr marL="34290" marR="34290" marT="0" marB="0" horzOverflow="overflow">
                    <a:lnL>
                      <a:noFill/>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182880">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5</a:t>
                      </a:r>
                    </a:p>
                  </a:txBody>
                  <a:tcPr marL="34290" marR="34290" marT="0" marB="0" horzOverflow="overflow">
                    <a:lnL cap="flat">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4</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dirty="0">
                          <a:ln>
                            <a:noFill/>
                          </a:ln>
                          <a:solidFill>
                            <a:schemeClr val="tx1"/>
                          </a:solidFill>
                          <a:effectLst/>
                          <a:latin typeface="+mn-lt"/>
                        </a:rPr>
                        <a:t>6</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12</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17</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26</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57</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146</a:t>
                      </a:r>
                    </a:p>
                  </a:txBody>
                  <a:tcPr marL="34290" marR="34290" marT="0" marB="0" horzOverflow="overflow">
                    <a:lnL>
                      <a:noFill/>
                    </a:lnL>
                    <a:lnR cap="flat">
                      <a:noFill/>
                    </a:lnR>
                    <a:lnT>
                      <a:noFill/>
                    </a:lnT>
                    <a:lnB>
                      <a:noFill/>
                    </a:lnB>
                    <a:lnTlToBr>
                      <a:noFill/>
                    </a:lnTlToBr>
                    <a:lnBlToTr>
                      <a:noFill/>
                    </a:lnBlToTr>
                    <a:noFill/>
                  </a:tcPr>
                </a:tc>
                <a:extLst>
                  <a:ext uri="{0D108BD9-81ED-4DB2-BD59-A6C34878D82A}">
                    <a16:rowId xmlns:a16="http://schemas.microsoft.com/office/drawing/2014/main" val="10005"/>
                  </a:ext>
                </a:extLst>
              </a:tr>
              <a:tr h="182880">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6</a:t>
                      </a:r>
                    </a:p>
                  </a:txBody>
                  <a:tcPr marL="34290" marR="34290" marT="0" marB="0" horzOverflow="overflow">
                    <a:lnL cap="flat">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4</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7</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16</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24</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37</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97</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293</a:t>
                      </a:r>
                    </a:p>
                  </a:txBody>
                  <a:tcPr marL="34290" marR="34290" marT="0" marB="0" horzOverflow="overflow">
                    <a:lnL>
                      <a:noFill/>
                    </a:lnL>
                    <a:lnR cap="flat">
                      <a:noFill/>
                    </a:lnR>
                    <a:lnT>
                      <a:noFill/>
                    </a:lnT>
                    <a:lnB>
                      <a:noFill/>
                    </a:lnB>
                    <a:lnTlToBr>
                      <a:noFill/>
                    </a:lnTlToBr>
                    <a:lnBlToTr>
                      <a:noFill/>
                    </a:lnBlToTr>
                    <a:noFill/>
                  </a:tcPr>
                </a:tc>
                <a:extLst>
                  <a:ext uri="{0D108BD9-81ED-4DB2-BD59-A6C34878D82A}">
                    <a16:rowId xmlns:a16="http://schemas.microsoft.com/office/drawing/2014/main" val="10006"/>
                  </a:ext>
                </a:extLst>
              </a:tr>
              <a:tr h="182880">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7</a:t>
                      </a:r>
                    </a:p>
                  </a:txBody>
                  <a:tcPr marL="34290" marR="34290" marT="0" marB="0" horzOverflow="overflow">
                    <a:lnL cap="flat">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4</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dirty="0">
                          <a:ln>
                            <a:noFill/>
                          </a:ln>
                          <a:solidFill>
                            <a:schemeClr val="tx1"/>
                          </a:solidFill>
                          <a:effectLst/>
                          <a:latin typeface="+mn-lt"/>
                        </a:rPr>
                        <a:t>8</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20</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33</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54</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163</a:t>
                      </a:r>
                    </a:p>
                  </a:txBody>
                  <a:tcPr marL="34290" marR="34290" marT="0" marB="0"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588</a:t>
                      </a:r>
                    </a:p>
                  </a:txBody>
                  <a:tcPr marL="34290" marR="34290" marT="0" marB="0" horzOverflow="overflow">
                    <a:lnL>
                      <a:noFill/>
                    </a:lnL>
                    <a:lnR cap="flat">
                      <a:noFill/>
                    </a:lnR>
                    <a:lnT>
                      <a:noFill/>
                    </a:lnT>
                    <a:lnB>
                      <a:noFill/>
                    </a:lnB>
                    <a:lnTlToBr>
                      <a:noFill/>
                    </a:lnTlToBr>
                    <a:lnBlToTr>
                      <a:noFill/>
                    </a:lnBlToTr>
                    <a:noFill/>
                  </a:tcPr>
                </a:tc>
                <a:extLst>
                  <a:ext uri="{0D108BD9-81ED-4DB2-BD59-A6C34878D82A}">
                    <a16:rowId xmlns:a16="http://schemas.microsoft.com/office/drawing/2014/main" val="10007"/>
                  </a:ext>
                </a:extLst>
              </a:tr>
              <a:tr h="182880">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8</a:t>
                      </a:r>
                    </a:p>
                  </a:txBody>
                  <a:tcPr marL="34290" marR="34290" marT="0" marB="0" horzOverflow="overflow">
                    <a:lnL cap="flat">
                      <a:noFill/>
                    </a:lnL>
                    <a:lnR>
                      <a:noFill/>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5</a:t>
                      </a:r>
                    </a:p>
                  </a:txBody>
                  <a:tcPr marL="34290" marR="34290" marT="0" marB="0" horzOverflow="overflow">
                    <a:lnL>
                      <a:noFill/>
                    </a:lnL>
                    <a:lnR>
                      <a:noFill/>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9</a:t>
                      </a:r>
                    </a:p>
                  </a:txBody>
                  <a:tcPr marL="34290" marR="34290" marT="0" marB="0" horzOverflow="overflow">
                    <a:lnL>
                      <a:noFill/>
                    </a:lnL>
                    <a:lnR>
                      <a:noFill/>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26</a:t>
                      </a:r>
                    </a:p>
                  </a:txBody>
                  <a:tcPr marL="34290" marR="34290" marT="0" marB="0" horzOverflow="overflow">
                    <a:lnL>
                      <a:noFill/>
                    </a:lnL>
                    <a:lnR>
                      <a:noFill/>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44</a:t>
                      </a:r>
                    </a:p>
                  </a:txBody>
                  <a:tcPr marL="34290" marR="34290" marT="0" marB="0" horzOverflow="overflow">
                    <a:lnL>
                      <a:noFill/>
                    </a:lnL>
                    <a:lnR>
                      <a:noFill/>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78</a:t>
                      </a:r>
                    </a:p>
                  </a:txBody>
                  <a:tcPr marL="34290" marR="34290" marT="0" marB="0" horzOverflow="overflow">
                    <a:lnL>
                      <a:noFill/>
                    </a:lnL>
                    <a:lnR>
                      <a:noFill/>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a:ln>
                            <a:noFill/>
                          </a:ln>
                          <a:solidFill>
                            <a:schemeClr val="tx1"/>
                          </a:solidFill>
                          <a:effectLst/>
                          <a:latin typeface="+mn-lt"/>
                        </a:rPr>
                        <a:t>272</a:t>
                      </a:r>
                    </a:p>
                  </a:txBody>
                  <a:tcPr marL="34290" marR="34290" marT="0" marB="0" horzOverflow="overflow">
                    <a:lnL>
                      <a:noFill/>
                    </a:lnL>
                    <a:lnR>
                      <a:noFill/>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pPr>
                      <a:r>
                        <a:rPr kumimoji="0" lang="en-US" sz="1200" b="0" i="0" u="none" strike="noStrike" cap="none" normalizeH="0" baseline="0" dirty="0">
                          <a:ln>
                            <a:noFill/>
                          </a:ln>
                          <a:solidFill>
                            <a:schemeClr val="tx1"/>
                          </a:solidFill>
                          <a:effectLst/>
                          <a:latin typeface="+mn-lt"/>
                        </a:rPr>
                        <a:t>1177</a:t>
                      </a:r>
                    </a:p>
                  </a:txBody>
                  <a:tcPr marL="34290" marR="34290" marT="0" marB="0" horzOverflow="overflow">
                    <a:lnL>
                      <a:noFill/>
                    </a:lnL>
                    <a:lnR cap="flat">
                      <a:noFill/>
                    </a:lnR>
                    <a:ln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bl>
          </a:graphicData>
        </a:graphic>
      </p:graphicFrame>
      <p:sp>
        <p:nvSpPr>
          <p:cNvPr id="6" name="Text Box 95"/>
          <p:cNvSpPr txBox="1">
            <a:spLocks noChangeArrowheads="1"/>
          </p:cNvSpPr>
          <p:nvPr/>
        </p:nvSpPr>
        <p:spPr bwMode="auto">
          <a:xfrm>
            <a:off x="6585347" y="5772151"/>
            <a:ext cx="1367682" cy="253916"/>
          </a:xfrm>
          <a:prstGeom prst="rect">
            <a:avLst/>
          </a:prstGeom>
          <a:noFill/>
          <a:ln w="9525">
            <a:noFill/>
            <a:miter lim="800000"/>
          </a:ln>
        </p:spPr>
        <p:txBody>
          <a:bodyPr wrap="none">
            <a:spAutoFit/>
          </a:bodyPr>
          <a:lstStyle/>
          <a:p>
            <a:r>
              <a:rPr lang="en-US" sz="1050" dirty="0"/>
              <a:t>Source: M. </a:t>
            </a:r>
            <a:r>
              <a:rPr lang="en-US" sz="1050" dirty="0" err="1"/>
              <a:t>Pollefeys</a:t>
            </a:r>
            <a:endParaRPr lang="en-US" sz="1050" dirty="0"/>
          </a:p>
        </p:txBody>
      </p:sp>
      <p:sp>
        <p:nvSpPr>
          <p:cNvPr id="7" name="TextBox 6"/>
          <p:cNvSpPr txBox="1"/>
          <p:nvPr/>
        </p:nvSpPr>
        <p:spPr>
          <a:xfrm>
            <a:off x="1845611" y="4801294"/>
            <a:ext cx="809837" cy="300082"/>
          </a:xfrm>
          <a:prstGeom prst="rect">
            <a:avLst/>
          </a:prstGeom>
          <a:noFill/>
        </p:spPr>
        <p:txBody>
          <a:bodyPr wrap="none" rtlCol="0">
            <a:spAutoFit/>
          </a:bodyPr>
          <a:lstStyle/>
          <a:p>
            <a:r>
              <a:rPr lang="en-US" sz="1350" i="1" dirty="0"/>
              <a:t>p </a:t>
            </a:r>
            <a:r>
              <a:rPr lang="en-US" sz="1350" dirty="0"/>
              <a:t>= 0.99</a:t>
            </a:r>
            <a:endParaRPr lang="en-US" sz="1350" i="1" dirty="0"/>
          </a:p>
        </p:txBody>
      </p:sp>
      <p:pic>
        <p:nvPicPr>
          <p:cNvPr id="1026" name="Picture 2" descr="https://quicklatex.com/cache3/8b/ql_1d4c3b3cb9b681451ca974f83f666d8b_l3.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65880" y="3373948"/>
            <a:ext cx="2514600" cy="633354"/>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2"/>
          <p:cNvSpPr txBox="1">
            <a:spLocks noChangeArrowheads="1"/>
          </p:cNvSpPr>
          <p:nvPr>
            <p:custDataLst>
              <p:tags r:id="rId1"/>
            </p:custDataLst>
          </p:nvPr>
        </p:nvSpPr>
        <p:spPr>
          <a:xfrm>
            <a:off x="571500" y="1056767"/>
            <a:ext cx="8229600" cy="857250"/>
          </a:xfrm>
          <a:prstGeom prst="rect">
            <a:avLst/>
          </a:prstGeom>
        </p:spPr>
        <p:txBody>
          <a:bodyPr vert="horz" lIns="68580" tIns="34290" rIns="68580" bIns="34290" rtlCol="0" anchor="ctr">
            <a:normAutofit/>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en-US" sz="3300" dirty="0" err="1">
                <a:solidFill>
                  <a:srgbClr val="FF0000"/>
                </a:solidFill>
              </a:rPr>
              <a:t>RAN</a:t>
            </a:r>
            <a:r>
              <a:rPr lang="en-US" sz="3300" dirty="0" err="1"/>
              <a:t>dom</a:t>
            </a:r>
            <a:r>
              <a:rPr lang="en-US" sz="3300" dirty="0"/>
              <a:t> </a:t>
            </a:r>
            <a:r>
              <a:rPr lang="en-US" sz="3300" dirty="0" err="1">
                <a:solidFill>
                  <a:srgbClr val="FF0000"/>
                </a:solidFill>
              </a:rPr>
              <a:t>SA</a:t>
            </a:r>
            <a:r>
              <a:rPr lang="en-US" sz="3300" dirty="0" err="1"/>
              <a:t>mple</a:t>
            </a:r>
            <a:r>
              <a:rPr lang="en-US" sz="3300" dirty="0"/>
              <a:t> </a:t>
            </a:r>
            <a:r>
              <a:rPr lang="en-US" sz="3300" dirty="0">
                <a:solidFill>
                  <a:srgbClr val="FF0000"/>
                </a:solidFill>
              </a:rPr>
              <a:t>C</a:t>
            </a:r>
            <a:r>
              <a:rPr lang="en-US" sz="3300" dirty="0"/>
              <a:t>onsensus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p:cNvSpPr txBox="1">
            <a:spLocks noChangeArrowheads="1"/>
          </p:cNvSpPr>
          <p:nvPr>
            <p:custDataLst>
              <p:tags r:id="rId1"/>
            </p:custDataLst>
          </p:nvPr>
        </p:nvSpPr>
        <p:spPr>
          <a:xfrm>
            <a:off x="571500" y="1056767"/>
            <a:ext cx="8229600" cy="857250"/>
          </a:xfrm>
          <a:prstGeom prst="rect">
            <a:avLst/>
          </a:prstGeom>
        </p:spPr>
        <p:txBody>
          <a:bodyPr vert="horz" lIns="68580" tIns="34290" rIns="68580" bIns="34290" rtlCol="0" anchor="ctr">
            <a:normAutofit/>
          </a:bodyPr>
          <a:lstStyle>
            <a:lvl1pPr algn="l" defTabSz="914400" rtl="0" eaLnBrk="1" latinLnBrk="0" hangingPunct="1">
              <a:spcBef>
                <a:spcPct val="0"/>
              </a:spcBef>
              <a:buNone/>
              <a:defRPr sz="4400" b="1" kern="1200">
                <a:solidFill>
                  <a:schemeClr val="tx1"/>
                </a:solidFill>
                <a:latin typeface="+mj-lt"/>
                <a:ea typeface="+mj-ea"/>
                <a:cs typeface="+mj-cs"/>
              </a:defRPr>
            </a:lvl1pPr>
          </a:lstStyle>
          <a:p>
            <a:r>
              <a:rPr lang="en-US" sz="3300" dirty="0" err="1">
                <a:solidFill>
                  <a:srgbClr val="FF0000"/>
                </a:solidFill>
              </a:rPr>
              <a:t>RAN</a:t>
            </a:r>
            <a:r>
              <a:rPr lang="en-US" sz="3300" dirty="0" err="1"/>
              <a:t>dom</a:t>
            </a:r>
            <a:r>
              <a:rPr lang="en-US" sz="3300" dirty="0"/>
              <a:t> </a:t>
            </a:r>
            <a:r>
              <a:rPr lang="en-US" sz="3300" dirty="0" err="1">
                <a:solidFill>
                  <a:srgbClr val="FF0000"/>
                </a:solidFill>
              </a:rPr>
              <a:t>SA</a:t>
            </a:r>
            <a:r>
              <a:rPr lang="en-US" sz="3300" dirty="0" err="1"/>
              <a:t>mple</a:t>
            </a:r>
            <a:r>
              <a:rPr lang="en-US" sz="3300" dirty="0"/>
              <a:t> </a:t>
            </a:r>
            <a:r>
              <a:rPr lang="en-US" sz="3300" dirty="0">
                <a:solidFill>
                  <a:srgbClr val="FF0000"/>
                </a:solidFill>
              </a:rPr>
              <a:t>C</a:t>
            </a:r>
            <a:r>
              <a:rPr lang="en-US" sz="3300" dirty="0"/>
              <a:t>onsensus</a:t>
            </a:r>
          </a:p>
        </p:txBody>
      </p:sp>
      <p:pic>
        <p:nvPicPr>
          <p:cNvPr id="7" name="Picture 4"/>
          <p:cNvPicPr>
            <a:picLocks noChangeAspect="1" noChangeArrowheads="1"/>
          </p:cNvPicPr>
          <p:nvPr/>
        </p:nvPicPr>
        <p:blipFill>
          <a:blip r:embed="rId3" cstate="print"/>
          <a:srcRect l="6572" t="30191" r="4286" b="14952"/>
          <a:stretch>
            <a:fillRect/>
          </a:stretch>
        </p:blipFill>
        <p:spPr bwMode="auto">
          <a:xfrm>
            <a:off x="2077468" y="3149227"/>
            <a:ext cx="4989065" cy="2302646"/>
          </a:xfrm>
          <a:prstGeom prst="rect">
            <a:avLst/>
          </a:prstGeom>
          <a:noFill/>
          <a:ln w="9525">
            <a:noFill/>
            <a:miter lim="800000"/>
            <a:headEnd/>
            <a:tailEnd/>
          </a:ln>
        </p:spPr>
      </p:pic>
      <p:sp>
        <p:nvSpPr>
          <p:cNvPr id="8" name="Content Placeholder 2"/>
          <p:cNvSpPr txBox="1"/>
          <p:nvPr/>
        </p:nvSpPr>
        <p:spPr>
          <a:xfrm>
            <a:off x="457200" y="2057401"/>
            <a:ext cx="8229600" cy="39836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lvl="1"/>
            <a:r>
              <a:rPr lang="zh-CN" altLang="en-US" sz="2100" dirty="0"/>
              <a:t>需要的最少迭代轮数与几何变换类型有关。为什么？</a:t>
            </a:r>
            <a:endParaRPr lang="en-US" sz="2100" i="1" dirty="0"/>
          </a:p>
        </p:txBody>
      </p:sp>
      <p:sp>
        <p:nvSpPr>
          <p:cNvPr id="9" name="Content Placeholder 2"/>
          <p:cNvSpPr txBox="1"/>
          <p:nvPr/>
        </p:nvSpPr>
        <p:spPr>
          <a:xfrm>
            <a:off x="457200" y="2469219"/>
            <a:ext cx="8229600" cy="48073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lvl="1"/>
            <a:r>
              <a:rPr lang="zh-CN" altLang="en-US" sz="2100" dirty="0"/>
              <a:t>不同的几何变换类型需要的采样数据数量</a:t>
            </a:r>
            <a:r>
              <a:rPr lang="en-US" altLang="zh-CN" sz="2100" i="1" dirty="0"/>
              <a:t>s</a:t>
            </a:r>
            <a:r>
              <a:rPr lang="zh-CN" altLang="en-US" sz="2100" dirty="0"/>
              <a:t>不同</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tags/tag1.xml><?xml version="1.0" encoding="utf-8"?>
<p:tagLst xmlns:a="http://schemas.openxmlformats.org/drawingml/2006/main" xmlns:r="http://schemas.openxmlformats.org/officeDocument/2006/relationships" xmlns:p="http://schemas.openxmlformats.org/presentationml/2006/main">
  <p:tag name="COMMONDATA" val="eyJoZGlkIjoiNDI1NGQ4MDY4NjMxYWVlMzc3ODM2NDE0MmU1ODUxYzYifQ=="/>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5.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begin{eqnarray*}&#10; \\&#10;r^2 &amp;=&amp; {x'_n}^2 + {y'_n}^2 \\&#10;x'_d &amp;=&amp; x'_n (1 + \kappa_1 r^2 + \kappa_2  r^4) \\&#10;y'_d &amp;=&amp; y'_n (1 + \kappa_1 r^2 + \kappa_2 r^4) \\&#10;\end{eqnarray*}&#10;\end{document}&#10;"/>
  <p:tag name="EXTERNALNAME" val="Edittex"/>
  <p:tag name="BLEND" val="False"/>
  <p:tag name="TRANSPARENT" val="False"/>
  <p:tag name="BITMAPFORMAT" val="bmpmono"/>
  <p:tag name="DEBUGINTERACTIVE" val="True"/>
  <p:tag name="ORIGWIDTH" val="1012.5"/>
  <p:tag name="_INSTRUCTOR VIEW19C14C36-AC8E-43BC-9DB6-C2AAF774C7DC|PANE__TAG" val="_"/>
</p:tagLst>
</file>

<file path=ppt/tags/tag7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 name="KSO_WM_BEAUTIFY_FLAG" val=""/>
</p:tagLst>
</file>

<file path=ppt/tags/tag8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yriad">
      <a:majorFont>
        <a:latin typeface="Myriad Pro"/>
        <a:ea typeface=""/>
        <a:cs typeface=""/>
      </a:majorFont>
      <a:minorFont>
        <a:latin typeface="Myriad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3568</Words>
  <Application>Microsoft Office PowerPoint</Application>
  <PresentationFormat>全屏显示(4:3)</PresentationFormat>
  <Paragraphs>353</Paragraphs>
  <Slides>50</Slides>
  <Notes>36</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50</vt:i4>
      </vt:variant>
    </vt:vector>
  </HeadingPairs>
  <TitlesOfParts>
    <vt:vector size="61" baseType="lpstr">
      <vt:lpstr>Arial Unicode MS</vt:lpstr>
      <vt:lpstr>Menlo</vt:lpstr>
      <vt:lpstr>Myriad Pro</vt:lpstr>
      <vt:lpstr>华康简宋</vt:lpstr>
      <vt:lpstr>宋体</vt:lpstr>
      <vt:lpstr>微软雅黑</vt:lpstr>
      <vt:lpstr>Arial</vt:lpstr>
      <vt:lpstr>Calibri</vt:lpstr>
      <vt:lpstr>Times New Roman</vt:lpstr>
      <vt:lpstr>Wingdings</vt:lpstr>
      <vt:lpstr>Office Theme</vt:lpstr>
      <vt:lpstr>几何变换</vt:lpstr>
      <vt:lpstr>PowerPoint 演示文稿</vt:lpstr>
      <vt:lpstr>PowerPoint 演示文稿</vt:lpstr>
      <vt:lpstr>图像对齐</vt:lpstr>
      <vt:lpstr>这两幅图像之间具有什么样的几何关系?</vt:lpstr>
      <vt:lpstr>这两幅图像之间具有什么样的几何关系?</vt:lpstr>
      <vt:lpstr>图像形变</vt:lpstr>
      <vt:lpstr>图像形变</vt:lpstr>
      <vt:lpstr>几何变换：旋转</vt:lpstr>
      <vt:lpstr>几何变换：旋转</vt:lpstr>
      <vt:lpstr>几何变换：平移</vt:lpstr>
      <vt:lpstr>几何变换：刚体变换（旋转+平移）</vt:lpstr>
      <vt:lpstr>几何变换：仿射变换</vt:lpstr>
      <vt:lpstr>几何变换：仿射变换</vt:lpstr>
      <vt:lpstr>几何变换：仿射变换</vt:lpstr>
      <vt:lpstr>几何变换：仿射变换</vt:lpstr>
      <vt:lpstr>几何变换：投影变换（单应性变换）</vt:lpstr>
      <vt:lpstr>几何变换：投影变换（单应性变换）</vt:lpstr>
      <vt:lpstr>齐次坐标系</vt:lpstr>
      <vt:lpstr>齐次坐标系</vt:lpstr>
      <vt:lpstr>几何变换：投影变换（单应性变换）</vt:lpstr>
      <vt:lpstr>几何变换：投影变换（单应性变换）</vt:lpstr>
      <vt:lpstr>几何变换：投影变换（单应性变换）</vt:lpstr>
      <vt:lpstr>几何变换：投影变换（单应性变换）</vt:lpstr>
      <vt:lpstr>几何变换：总结</vt:lpstr>
      <vt:lpstr>PowerPoint 演示文稿</vt:lpstr>
      <vt:lpstr>PowerPoint 演示文稿</vt:lpstr>
      <vt:lpstr>估计单应性变换矩阵：传统方法</vt:lpstr>
      <vt:lpstr>估计单应性变换矩阵：深度学习方法</vt:lpstr>
      <vt:lpstr>估计单应性变换矩阵：深度学习方法</vt:lpstr>
      <vt:lpstr>估计单应性变换矩阵：深度学习方法</vt:lpstr>
      <vt:lpstr>估计单应性变换矩阵：深度学习方法</vt:lpstr>
      <vt:lpstr>几何形变的实现：正向变形</vt:lpstr>
      <vt:lpstr>几何形变的实现：反向变形</vt:lpstr>
      <vt:lpstr>几何形变的实现：正向变形</vt:lpstr>
      <vt:lpstr>几何形变的实现：正向变形</vt:lpstr>
      <vt:lpstr>几何形变的实现：反向变形</vt:lpstr>
      <vt:lpstr>几何形变的实现：反向变形</vt:lpstr>
      <vt:lpstr>估计单应性变换矩阵：传统方法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7: Transformations and warping</dc:title>
  <dc:creator>Noah Snavely</dc:creator>
  <cp:lastModifiedBy>DELL</cp:lastModifiedBy>
  <cp:revision>258</cp:revision>
  <dcterms:created xsi:type="dcterms:W3CDTF">2009-08-25T02:47:00Z</dcterms:created>
  <dcterms:modified xsi:type="dcterms:W3CDTF">2024-10-07T08:57:19Z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A6F08635848F491FA732795AE7CF45BD_12</vt:lpwstr>
  </property>
  <property fmtid="{D5CDD505-2E9C-101B-9397-08002B2CF9AE}" pid="3" name="KSOProductBuildVer">
    <vt:lpwstr>2052-12.1.0.15990</vt:lpwstr>
  </property>
</Properties>
</file>