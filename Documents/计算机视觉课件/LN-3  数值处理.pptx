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0.xml" ContentType="application/vnd.openxmlformats-officedocument.presentationml.tags+xml"/>
  <Override PartName="/ppt/notesSlides/notesSlide10.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6" r:id="rId2"/>
    <p:sldId id="295" r:id="rId3"/>
    <p:sldId id="259" r:id="rId4"/>
    <p:sldId id="260" r:id="rId5"/>
    <p:sldId id="261" r:id="rId6"/>
    <p:sldId id="262" r:id="rId7"/>
    <p:sldId id="300" r:id="rId8"/>
    <p:sldId id="301" r:id="rId9"/>
    <p:sldId id="263" r:id="rId10"/>
    <p:sldId id="265" r:id="rId11"/>
    <p:sldId id="266" r:id="rId12"/>
    <p:sldId id="267" r:id="rId13"/>
    <p:sldId id="269" r:id="rId14"/>
    <p:sldId id="268" r:id="rId15"/>
    <p:sldId id="309" r:id="rId16"/>
    <p:sldId id="310" r:id="rId17"/>
    <p:sldId id="311" r:id="rId18"/>
    <p:sldId id="312" r:id="rId19"/>
    <p:sldId id="339" r:id="rId20"/>
    <p:sldId id="264" r:id="rId21"/>
    <p:sldId id="338" r:id="rId22"/>
    <p:sldId id="303" r:id="rId23"/>
    <p:sldId id="304" r:id="rId24"/>
    <p:sldId id="305" r:id="rId25"/>
    <p:sldId id="306" r:id="rId26"/>
    <p:sldId id="307" r:id="rId27"/>
    <p:sldId id="308" r:id="rId28"/>
    <p:sldId id="270" r:id="rId29"/>
    <p:sldId id="337" r:id="rId30"/>
    <p:sldId id="271" r:id="rId31"/>
    <p:sldId id="272" r:id="rId32"/>
    <p:sldId id="273" r:id="rId33"/>
    <p:sldId id="274" r:id="rId34"/>
    <p:sldId id="275" r:id="rId35"/>
    <p:sldId id="278" r:id="rId36"/>
    <p:sldId id="281" r:id="rId37"/>
    <p:sldId id="299" r:id="rId38"/>
    <p:sldId id="282" r:id="rId39"/>
    <p:sldId id="276" r:id="rId40"/>
    <p:sldId id="340" r:id="rId41"/>
    <p:sldId id="320" r:id="rId42"/>
    <p:sldId id="319" r:id="rId43"/>
    <p:sldId id="323" r:id="rId44"/>
    <p:sldId id="322" r:id="rId45"/>
    <p:sldId id="336" r:id="rId46"/>
    <p:sldId id="324" r:id="rId47"/>
    <p:sldId id="326" r:id="rId48"/>
    <p:sldId id="328" r:id="rId49"/>
    <p:sldId id="329" r:id="rId50"/>
    <p:sldId id="330" r:id="rId51"/>
    <p:sldId id="331" r:id="rId52"/>
    <p:sldId id="342" r:id="rId53"/>
    <p:sldId id="332" r:id="rId54"/>
    <p:sldId id="334" r:id="rId55"/>
    <p:sldId id="335" r:id="rId56"/>
    <p:sldId id="341" r:id="rId57"/>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93" autoAdjust="0"/>
    <p:restoredTop sz="94587" autoAdjust="0"/>
  </p:normalViewPr>
  <p:slideViewPr>
    <p:cSldViewPr snapToGrid="0">
      <p:cViewPr varScale="1">
        <p:scale>
          <a:sx n="108" d="100"/>
          <a:sy n="108" d="100"/>
        </p:scale>
        <p:origin x="1260"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D492CD9C-0936-4CB5-8F47-4F37A3C1BD80}" type="datetimeFigureOut">
              <a:rPr lang="en-US" smtClean="0"/>
              <a:pPr/>
              <a:t>10/7/2024</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2A8A4206-02EB-4F55-B83C-8E908C558B6E}" type="slidenum">
              <a:rPr lang="en-US" smtClean="0"/>
              <a:pPr/>
              <a:t>‹#›</a:t>
            </a:fld>
            <a:endParaRPr lang="en-US"/>
          </a:p>
        </p:txBody>
      </p:sp>
    </p:spTree>
    <p:extLst>
      <p:ext uri="{BB962C8B-B14F-4D97-AF65-F5344CB8AC3E}">
        <p14:creationId xmlns:p14="http://schemas.microsoft.com/office/powerpoint/2010/main" val="3952986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E85D5834-A80B-416B-92A6-65B22C8CD2BB}" type="slidenum">
              <a:rPr lang="en-US" smtClean="0"/>
              <a:pPr/>
              <a:t>9</a:t>
            </a:fld>
            <a:endParaRPr lang="en-US"/>
          </a:p>
        </p:txBody>
      </p:sp>
      <p:sp>
        <p:nvSpPr>
          <p:cNvPr id="47107" name="Rectangle 2"/>
          <p:cNvSpPr>
            <a:spLocks noGrp="1" noRot="1" noChangeAspect="1" noChangeArrowheads="1" noTextEdit="1"/>
          </p:cNvSpPr>
          <p:nvPr>
            <p:ph type="sldImg"/>
          </p:nvPr>
        </p:nvSpPr>
        <p:spPr>
          <a:xfrm>
            <a:off x="-4214813" y="0"/>
            <a:ext cx="12395201" cy="9296400"/>
          </a:xfrm>
          <a:ln/>
        </p:spPr>
      </p:sp>
      <p:sp>
        <p:nvSpPr>
          <p:cNvPr id="47108" name="Rectangle 3"/>
          <p:cNvSpPr>
            <a:spLocks noGrp="1" noChangeArrowheads="1"/>
          </p:cNvSpPr>
          <p:nvPr>
            <p:ph type="body" idx="1"/>
          </p:nvPr>
        </p:nvSpPr>
        <p:spPr>
          <a:xfrm>
            <a:off x="4197417" y="969914"/>
            <a:ext cx="2590866" cy="6780161"/>
          </a:xfrm>
          <a:noFill/>
          <a:ln/>
        </p:spPr>
        <p:txBody>
          <a:bodyPr/>
          <a:lstStyle/>
          <a:p>
            <a:pPr eaLnBrk="1" hangingPunct="1"/>
            <a:r>
              <a:rPr lang="en-US"/>
              <a:t>Answer:  take lots of images, average them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694E4AEE-8035-4E77-A391-811D0AD39F32}" type="slidenum">
              <a:rPr lang="en-US" smtClean="0"/>
              <a:pPr/>
              <a:t>28</a:t>
            </a:fld>
            <a:endParaRPr 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xfrm>
            <a:off x="934113" y="4416099"/>
            <a:ext cx="5142177" cy="4182457"/>
          </a:xfrm>
          <a:noFill/>
          <a:ln/>
        </p:spPr>
        <p:txBody>
          <a:bodyPr/>
          <a:lstStyle/>
          <a:p>
            <a:pPr eaLnBrk="1" hangingPunct="1"/>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694E4AEE-8035-4E77-A391-811D0AD39F32}" type="slidenum">
              <a:rPr lang="en-US" smtClean="0"/>
              <a:pPr/>
              <a:t>29</a:t>
            </a:fld>
            <a:endParaRPr 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xfrm>
            <a:off x="934113" y="4416099"/>
            <a:ext cx="5142177" cy="4182457"/>
          </a:xfrm>
          <a:noFill/>
          <a:ln/>
        </p:spPr>
        <p:txBody>
          <a:bodyPr/>
          <a:lstStyle/>
          <a:p>
            <a:pPr eaLnBrk="1" hangingPunct="1"/>
            <a:endParaRPr lang="en-US" dirty="0"/>
          </a:p>
        </p:txBody>
      </p:sp>
    </p:spTree>
    <p:extLst>
      <p:ext uri="{BB962C8B-B14F-4D97-AF65-F5344CB8AC3E}">
        <p14:creationId xmlns:p14="http://schemas.microsoft.com/office/powerpoint/2010/main" val="16608925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0B6C6D3D-63F5-43F0-8220-69118B54FBAB}" type="slidenum">
              <a:rPr lang="en-US" smtClean="0"/>
              <a:pPr/>
              <a:t>30</a:t>
            </a:fld>
            <a:endParaRPr 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xfrm>
            <a:off x="934113" y="4416099"/>
            <a:ext cx="5142177" cy="4182457"/>
          </a:xfrm>
          <a:noFill/>
          <a:ln/>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B2076CC1-63DF-4546-832F-7B3740A94E4E}" type="slidenum">
              <a:rPr lang="en-US" smtClean="0"/>
              <a:pPr/>
              <a:t>31</a:t>
            </a:fld>
            <a:endParaRPr 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xfrm>
            <a:off x="934113" y="4416099"/>
            <a:ext cx="5142177" cy="4182457"/>
          </a:xfrm>
          <a:noFill/>
          <a:ln/>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507A330F-0BC8-49D7-A944-695EB46CD0AF}" type="slidenum">
              <a:rPr lang="en-US" smtClean="0"/>
              <a:pPr/>
              <a:t>32</a:t>
            </a:fld>
            <a:endParaRPr 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xfrm>
            <a:off x="934113" y="4416099"/>
            <a:ext cx="5142177" cy="4182457"/>
          </a:xfrm>
          <a:noFill/>
          <a:ln/>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5FC87F93-8D1F-4BCD-9CEA-002EA20EF340}" type="slidenum">
              <a:rPr lang="en-US" smtClean="0"/>
              <a:pPr/>
              <a:t>33</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xfrm>
            <a:off x="934113" y="4416099"/>
            <a:ext cx="5142177" cy="4182457"/>
          </a:xfrm>
          <a:noFill/>
          <a:ln/>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22BA76B8-4245-438E-AE87-AEABE722B1BB}" type="slidenum">
              <a:rPr lang="en-US" smtClean="0"/>
              <a:pPr/>
              <a:t>34</a:t>
            </a:fld>
            <a:endParaRPr lang="en-US"/>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xfrm>
            <a:off x="934113" y="4416099"/>
            <a:ext cx="5142177" cy="4182457"/>
          </a:xfrm>
          <a:noFill/>
          <a:ln/>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30F11CB8-0680-4BC0-BBD4-10AB2DA2E5E1}" type="slidenum">
              <a:rPr lang="en-US" smtClean="0"/>
              <a:pPr/>
              <a:t>35</a:t>
            </a:fld>
            <a:endParaRPr 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xfrm>
            <a:off x="934113" y="4416099"/>
            <a:ext cx="5142177" cy="4182457"/>
          </a:xfrm>
          <a:noFill/>
          <a:ln/>
        </p:spPr>
        <p:txBody>
          <a:bodyPr/>
          <a:lstStyle/>
          <a:p>
            <a:pPr eaLnBrk="1" hangingPunct="1"/>
            <a:r>
              <a:rPr lang="en-US"/>
              <a:t>I always walk through the argument on the left rather carefully; it gives some insight into the</a:t>
            </a:r>
          </a:p>
          <a:p>
            <a:pPr eaLnBrk="1" hangingPunct="1"/>
            <a:r>
              <a:rPr lang="en-US"/>
              <a:t>significance of impulse responses or point spread functions.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FBC0D556-2D4C-43D7-A143-10DF9A50ECA8}" type="slidenum">
              <a:rPr lang="en-US" smtClean="0"/>
              <a:pPr/>
              <a:t>36</a:t>
            </a:fld>
            <a:endParaRPr 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xfrm>
            <a:off x="934113" y="4416099"/>
            <a:ext cx="5142177" cy="4182457"/>
          </a:xfrm>
          <a:noFill/>
          <a:ln/>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A6161CC4-F38B-4448-ABCF-6E7523585C6C}" type="slidenum">
              <a:rPr lang="en-US" smtClean="0"/>
              <a:pPr/>
              <a:t>38</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xfrm>
            <a:off x="934113" y="4416099"/>
            <a:ext cx="5142177" cy="4182457"/>
          </a:xfrm>
          <a:noFill/>
          <a:ln/>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3C7B3A0A-D57B-4CAC-84DB-6D90894AFFCB}" type="slidenum">
              <a:rPr lang="en-US" smtClean="0"/>
              <a:pPr/>
              <a:t>39</a:t>
            </a:fld>
            <a:endParaRPr 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3C7B3A0A-D57B-4CAC-84DB-6D90894AFFCB}" type="slidenum">
              <a:rPr lang="en-US" smtClean="0"/>
              <a:pPr/>
              <a:t>40</a:t>
            </a:fld>
            <a:endParaRPr 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72933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6535FC9-4C7C-4839-AD87-B5CD13220982}" type="datetimeFigureOut">
              <a:rPr lang="en-US" smtClean="0"/>
              <a:pPr/>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B2BE-37E8-49C8-A941-FB00A9E058C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b="1"/>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535FC9-4C7C-4839-AD87-B5CD13220982}" type="datetimeFigureOut">
              <a:rPr lang="en-US" smtClean="0"/>
              <a:pPr/>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B2BE-37E8-49C8-A941-FB00A9E058C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535FC9-4C7C-4839-AD87-B5CD13220982}" type="datetimeFigureOut">
              <a:rPr lang="en-US" smtClean="0"/>
              <a:pPr/>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B2BE-37E8-49C8-A941-FB00A9E058C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b="1"/>
            </a:lvl1pPr>
          </a:lstStyle>
          <a:p>
            <a:r>
              <a:rPr lang="en-US" dirty="0"/>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6535FC9-4C7C-4839-AD87-B5CD13220982}" type="datetimeFigureOut">
              <a:rPr lang="en-US" smtClean="0"/>
              <a:pPr/>
              <a:t>10/7/2024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41B2BE-37E8-49C8-A941-FB00A9E058C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b="1"/>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6535FC9-4C7C-4839-AD87-B5CD13220982}" type="datetimeFigureOut">
              <a:rPr lang="en-US" smtClean="0"/>
              <a:pPr/>
              <a:t>10/7/2024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41B2BE-37E8-49C8-A941-FB00A9E058C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b="1"/>
            </a:lvl1pPr>
          </a:lstStyle>
          <a:p>
            <a:r>
              <a:rPr lang="en-US" dirty="0"/>
              <a:t>Click to edit Master title style</a:t>
            </a:r>
          </a:p>
        </p:txBody>
      </p:sp>
      <p:sp>
        <p:nvSpPr>
          <p:cNvPr id="3" name="Date Placeholder 2"/>
          <p:cNvSpPr>
            <a:spLocks noGrp="1"/>
          </p:cNvSpPr>
          <p:nvPr>
            <p:ph type="dt" sz="half" idx="10"/>
          </p:nvPr>
        </p:nvSpPr>
        <p:spPr/>
        <p:txBody>
          <a:bodyPr/>
          <a:lstStyle/>
          <a:p>
            <a:fld id="{46535FC9-4C7C-4839-AD87-B5CD13220982}" type="datetimeFigureOut">
              <a:rPr lang="en-US" smtClean="0"/>
              <a:pPr/>
              <a:t>10/7/2024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41B2BE-37E8-49C8-A941-FB00A9E058C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535FC9-4C7C-4839-AD87-B5CD13220982}" type="datetimeFigureOut">
              <a:rPr lang="en-US" smtClean="0"/>
              <a:pPr/>
              <a:t>10/7/2024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41B2BE-37E8-49C8-A941-FB00A9E058C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6535FC9-4C7C-4839-AD87-B5CD13220982}" type="datetimeFigureOut">
              <a:rPr lang="en-US" smtClean="0"/>
              <a:pPr/>
              <a:t>10/7/2024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41B2BE-37E8-49C8-A941-FB00A9E058C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6535FC9-4C7C-4839-AD87-B5CD13220982}" type="datetimeFigureOut">
              <a:rPr lang="en-US" smtClean="0"/>
              <a:pPr/>
              <a:t>10/7/2024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41B2BE-37E8-49C8-A941-FB00A9E058C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535FC9-4C7C-4839-AD87-B5CD13220982}" type="datetimeFigureOut">
              <a:rPr lang="en-US" smtClean="0"/>
              <a:pPr/>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B2BE-37E8-49C8-A941-FB00A9E058C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535FC9-4C7C-4839-AD87-B5CD13220982}" type="datetimeFigureOut">
              <a:rPr lang="en-US" smtClean="0"/>
              <a:pPr/>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B2BE-37E8-49C8-A941-FB00A9E058C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6535FC9-4C7C-4839-AD87-B5CD13220982}" type="datetimeFigureOut">
              <a:rPr lang="en-US" smtClean="0"/>
              <a:pPr/>
              <a:t>10/7/2024</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941B2BE-37E8-49C8-A941-FB00A9E058C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spcBef>
          <a:spcPct val="0"/>
        </a:spcBef>
        <a:buNone/>
        <a:defRPr sz="3300" b="1"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jpeg"/><Relationship Id="rId4" Type="http://schemas.openxmlformats.org/officeDocument/2006/relationships/hyperlink" Target="http://cvcl.mit.edu/hybridimage.htm"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hyperlink" Target="file:///C:\snavely\work\teaching\09Sp-CS1114\lectures\lec2\t100.ply" TargetMode="External"/><Relationship Id="rId5" Type="http://schemas.openxmlformats.org/officeDocument/2006/relationships/hyperlink" Target="file:///c:\snavely\bin\snoop.exe" TargetMode="External"/><Relationship Id="rId4" Type="http://schemas.openxmlformats.org/officeDocument/2006/relationships/hyperlink" Target="file:///c:\snavely\bin\snoop"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1.xml"/><Relationship Id="rId13" Type="http://schemas.openxmlformats.org/officeDocument/2006/relationships/image" Target="../media/image12.png"/><Relationship Id="rId3" Type="http://schemas.openxmlformats.org/officeDocument/2006/relationships/tags" Target="../tags/tag4.xml"/><Relationship Id="rId7" Type="http://schemas.openxmlformats.org/officeDocument/2006/relationships/slideLayout" Target="../slideLayouts/slideLayout2.xml"/><Relationship Id="rId12" Type="http://schemas.openxmlformats.org/officeDocument/2006/relationships/image" Target="../media/image11.png"/><Relationship Id="rId2" Type="http://schemas.openxmlformats.org/officeDocument/2006/relationships/tags" Target="../tags/tag3.xml"/><Relationship Id="rId1" Type="http://schemas.openxmlformats.org/officeDocument/2006/relationships/vmlDrawing" Target="../drawings/vmlDrawing1.vml"/><Relationship Id="rId6" Type="http://schemas.openxmlformats.org/officeDocument/2006/relationships/tags" Target="../tags/tag7.xml"/><Relationship Id="rId11" Type="http://schemas.openxmlformats.org/officeDocument/2006/relationships/image" Target="../media/image10.png"/><Relationship Id="rId5" Type="http://schemas.openxmlformats.org/officeDocument/2006/relationships/tags" Target="../tags/tag6.xml"/><Relationship Id="rId10" Type="http://schemas.openxmlformats.org/officeDocument/2006/relationships/image" Target="../media/image9.wmf"/><Relationship Id="rId4" Type="http://schemas.openxmlformats.org/officeDocument/2006/relationships/tags" Target="../tags/tag5.xml"/><Relationship Id="rId9"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tags" Target="../tags/tag10.xml"/><Relationship Id="rId7" Type="http://schemas.openxmlformats.org/officeDocument/2006/relationships/image" Target="../media/image1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13.png"/><Relationship Id="rId5" Type="http://schemas.openxmlformats.org/officeDocument/2006/relationships/slideLayout" Target="../slideLayouts/slideLayout2.xml"/><Relationship Id="rId10" Type="http://schemas.openxmlformats.org/officeDocument/2006/relationships/image" Target="../media/image17.png"/><Relationship Id="rId4" Type="http://schemas.openxmlformats.org/officeDocument/2006/relationships/tags" Target="../tags/tag11.xml"/><Relationship Id="rId9"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ww2.mathworks.cn/help/images/what-is-image-filtering-in-the-spatial-domain.html?s_tid=srchtitle_site_search_4_%25E5%259B%25BE%25E5%2583%258F%25E9%2594%2590%25E5%258C%2596"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5.xml"/><Relationship Id="rId7" Type="http://schemas.openxmlformats.org/officeDocument/2006/relationships/image" Target="../media/image15.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28.png"/><Relationship Id="rId5" Type="http://schemas.openxmlformats.org/officeDocument/2006/relationships/slideLayout" Target="../slideLayouts/slideLayout2.xml"/><Relationship Id="rId4" Type="http://schemas.openxmlformats.org/officeDocument/2006/relationships/tags" Target="../tags/tag16.xml"/><Relationship Id="rId9"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notesSlide" Target="../notesSlides/notesSlide7.xml"/><Relationship Id="rId7" Type="http://schemas.openxmlformats.org/officeDocument/2006/relationships/image" Target="../media/image41.png"/><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jpeg"/></Relationships>
</file>

<file path=ppt/slides/_rels/slide37.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3" Type="http://schemas.openxmlformats.org/officeDocument/2006/relationships/tags" Target="../tags/tag23.xml"/><Relationship Id="rId7" Type="http://schemas.openxmlformats.org/officeDocument/2006/relationships/image" Target="../media/image51.png"/><Relationship Id="rId12" Type="http://schemas.openxmlformats.org/officeDocument/2006/relationships/image" Target="../media/image56.png"/><Relationship Id="rId17" Type="http://schemas.openxmlformats.org/officeDocument/2006/relationships/hyperlink" Target="https://ww2.mathworks.cn/help/images/ref/fspecial.html#d126e18080" TargetMode="External"/><Relationship Id="rId2" Type="http://schemas.openxmlformats.org/officeDocument/2006/relationships/tags" Target="../tags/tag22.xml"/><Relationship Id="rId16" Type="http://schemas.openxmlformats.org/officeDocument/2006/relationships/image" Target="../media/image60.png"/><Relationship Id="rId1" Type="http://schemas.openxmlformats.org/officeDocument/2006/relationships/tags" Target="../tags/tag21.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slideLayout" Target="../slideLayouts/slideLayout2.xml"/><Relationship Id="rId15" Type="http://schemas.openxmlformats.org/officeDocument/2006/relationships/image" Target="../media/image59.png"/><Relationship Id="rId10" Type="http://schemas.openxmlformats.org/officeDocument/2006/relationships/image" Target="../media/image54.png"/><Relationship Id="rId4" Type="http://schemas.openxmlformats.org/officeDocument/2006/relationships/tags" Target="../tags/tag24.xml"/><Relationship Id="rId9" Type="http://schemas.openxmlformats.org/officeDocument/2006/relationships/image" Target="../media/image53.png"/><Relationship Id="rId14" Type="http://schemas.openxmlformats.org/officeDocument/2006/relationships/image" Target="../media/image58.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61.png"/><Relationship Id="rId4" Type="http://schemas.openxmlformats.org/officeDocument/2006/relationships/oleObject" Target="../embeddings/oleObject2.bin"/></Relationships>
</file>

<file path=ppt/slides/_rels/slide39.xml.rels><?xml version="1.0" encoding="UTF-8" standalone="yes"?>
<Relationships xmlns="http://schemas.openxmlformats.org/package/2006/relationships"><Relationship Id="rId3" Type="http://schemas.openxmlformats.org/officeDocument/2006/relationships/hyperlink" Target="https://blog.csdn.net/u014030117/article/details/46383659"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40.xml.rels><?xml version="1.0" encoding="UTF-8" standalone="yes"?>
<Relationships xmlns="http://schemas.openxmlformats.org/package/2006/relationships"><Relationship Id="rId3" Type="http://schemas.openxmlformats.org/officeDocument/2006/relationships/image" Target="../media/image63.jpeg"/><Relationship Id="rId7" Type="http://schemas.openxmlformats.org/officeDocument/2006/relationships/hyperlink" Target="https://ww2.mathworks.cn/help/images/image-arithmetic.ht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6.jpeg"/><Relationship Id="rId5" Type="http://schemas.openxmlformats.org/officeDocument/2006/relationships/image" Target="../media/image65.jpeg"/><Relationship Id="rId4" Type="http://schemas.openxmlformats.org/officeDocument/2006/relationships/image" Target="../media/image64.jpeg"/></Relationships>
</file>

<file path=ppt/slides/_rels/slide4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gif"/></Relationships>
</file>

<file path=ppt/slides/_rels/slide4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2.gi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ww2.mathworks.cn/help/images/?s_tid=srchbrcm" TargetMode="External"/><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blog.csdn.net/zy010101/article/details/104916056" TargetMode="External"/><Relationship Id="rId2" Type="http://schemas.openxmlformats.org/officeDocument/2006/relationships/image" Target="../media/image86.jpe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hyperlink" Target="https://ww2.mathworks.cn/help/images/image-arithmetic.html?searchHighlight=%E5%9B%BE%E5%83%8F%E7%9B%B8%E5%8A%A0&amp;s_tid=srchtitle_support_results_2_%25E5%259B%25BE%25E5%2583%258F%25E7%259B%25B8%25E5%258A%25A0" TargetMode="External"/><Relationship Id="rId4" Type="http://schemas.openxmlformats.org/officeDocument/2006/relationships/hyperlink" Target="https://zhuanlan.zhihu.com/p/164859527" TargetMode="External"/></Relationships>
</file>

<file path=ppt/slides/_rels/slide54.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image" Target="../media/image88.jpeg"/><Relationship Id="rId1" Type="http://schemas.openxmlformats.org/officeDocument/2006/relationships/slideLayout" Target="../slideLayouts/slideLayout2.xml"/><Relationship Id="rId5" Type="http://schemas.openxmlformats.org/officeDocument/2006/relationships/image" Target="../media/image91.jpeg"/><Relationship Id="rId4" Type="http://schemas.openxmlformats.org/officeDocument/2006/relationships/image" Target="../media/image90.jpeg"/></Relationships>
</file>

<file path=ppt/slides/_rels/slide55.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92.jpeg"/><Relationship Id="rId1" Type="http://schemas.openxmlformats.org/officeDocument/2006/relationships/slideLayout" Target="../slideLayouts/slideLayout2.xml"/><Relationship Id="rId4" Type="http://schemas.openxmlformats.org/officeDocument/2006/relationships/image" Target="../media/image89.jpeg"/></Relationships>
</file>

<file path=ppt/slides/_rels/slide56.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Layout" Target="../slideLayouts/slideLayout2.xml"/><Relationship Id="rId5" Type="http://schemas.openxmlformats.org/officeDocument/2006/relationships/image" Target="../media/image86.jpeg"/><Relationship Id="rId4" Type="http://schemas.openxmlformats.org/officeDocument/2006/relationships/image" Target="../media/image9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24200" y="1178351"/>
            <a:ext cx="3049571" cy="457201"/>
          </a:xfrm>
        </p:spPr>
        <p:txBody>
          <a:bodyPr>
            <a:normAutofit/>
          </a:bodyPr>
          <a:lstStyle/>
          <a:p>
            <a:r>
              <a:rPr lang="zh-CN" altLang="en-US" sz="2400" b="0" dirty="0"/>
              <a:t>  图像和图像滤波</a:t>
            </a:r>
            <a:endParaRPr lang="en-US" sz="2400" b="0" dirty="0"/>
          </a:p>
        </p:txBody>
      </p:sp>
      <p:sp>
        <p:nvSpPr>
          <p:cNvPr id="6" name="Title 1"/>
          <p:cNvSpPr txBox="1">
            <a:spLocks/>
          </p:cNvSpPr>
          <p:nvPr/>
        </p:nvSpPr>
        <p:spPr>
          <a:xfrm>
            <a:off x="3124200" y="91311"/>
            <a:ext cx="2895600" cy="147002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zh-CN" altLang="en-US" sz="3600" b="1" dirty="0">
                <a:latin typeface="+mj-lt"/>
                <a:ea typeface="+mj-ea"/>
                <a:cs typeface="+mj-cs"/>
              </a:rPr>
              <a:t>计算机视觉</a:t>
            </a:r>
            <a:endParaRPr lang="en-US" sz="3600" b="1" dirty="0">
              <a:latin typeface="+mj-lt"/>
              <a:ea typeface="+mj-ea"/>
              <a:cs typeface="+mj-cs"/>
            </a:endParaRPr>
          </a:p>
        </p:txBody>
      </p:sp>
      <p:sp>
        <p:nvSpPr>
          <p:cNvPr id="7" name="Subtitle 2"/>
          <p:cNvSpPr txBox="1">
            <a:spLocks/>
          </p:cNvSpPr>
          <p:nvPr/>
        </p:nvSpPr>
        <p:spPr>
          <a:xfrm>
            <a:off x="-328550" y="826325"/>
            <a:ext cx="4876800" cy="175260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Rectangle 7"/>
          <p:cNvSpPr/>
          <p:nvPr/>
        </p:nvSpPr>
        <p:spPr>
          <a:xfrm>
            <a:off x="0" y="1600200"/>
            <a:ext cx="9144000" cy="457200"/>
          </a:xfrm>
          <a:prstGeom prst="rect">
            <a:avLst/>
          </a:prstGeom>
          <a:solidFill>
            <a:schemeClr val="bg1">
              <a:lumMod val="65000"/>
            </a:schemeClr>
          </a:solidFill>
          <a:ln>
            <a:noFill/>
          </a:ln>
          <a:effectLst>
            <a:outerShdw blurRad="101600" dist="762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3"/>
          <p:cNvSpPr>
            <a:spLocks noChangeArrowheads="1"/>
          </p:cNvSpPr>
          <p:nvPr>
            <p:custDataLst>
              <p:tags r:id="rId1"/>
            </p:custDataLst>
          </p:nvPr>
        </p:nvSpPr>
        <p:spPr bwMode="auto">
          <a:xfrm>
            <a:off x="2138363" y="6248400"/>
            <a:ext cx="4713150" cy="307777"/>
          </a:xfrm>
          <a:prstGeom prst="rect">
            <a:avLst/>
          </a:prstGeom>
          <a:noFill/>
          <a:ln w="9525">
            <a:noFill/>
            <a:miter lim="800000"/>
            <a:headEnd/>
            <a:tailEnd/>
          </a:ln>
          <a:effectLst/>
        </p:spPr>
        <p:txBody>
          <a:bodyPr wrap="none">
            <a:spAutoFit/>
          </a:bodyPr>
          <a:lstStyle/>
          <a:p>
            <a:r>
              <a:rPr lang="zh-CN" altLang="en-US" sz="1400" baseline="0" dirty="0">
                <a:latin typeface="Arial" charset="0"/>
              </a:rPr>
              <a:t>混合图像</a:t>
            </a:r>
            <a:r>
              <a:rPr lang="en-US" sz="1400" baseline="0" dirty="0">
                <a:latin typeface="Arial" charset="0"/>
              </a:rPr>
              <a:t>, Oliva et al., </a:t>
            </a:r>
            <a:r>
              <a:rPr lang="en-US" sz="1400" baseline="0" dirty="0">
                <a:latin typeface="Arial" charset="0"/>
                <a:hlinkClick r:id="rId4"/>
              </a:rPr>
              <a:t>http://cvcl.mit.edu/hybridimage.htm</a:t>
            </a:r>
            <a:endParaRPr lang="en-US" sz="1400" baseline="0" dirty="0">
              <a:latin typeface="Arial" charset="0"/>
            </a:endParaRPr>
          </a:p>
        </p:txBody>
      </p:sp>
      <p:pic>
        <p:nvPicPr>
          <p:cNvPr id="11" name="Picture 4" descr="group face hybrid"/>
          <p:cNvPicPr>
            <a:picLocks noChangeAspect="1" noChangeArrowheads="1"/>
          </p:cNvPicPr>
          <p:nvPr>
            <p:custDataLst>
              <p:tags r:id="rId2"/>
            </p:custDataLst>
          </p:nvPr>
        </p:nvPicPr>
        <p:blipFill>
          <a:blip r:embed="rId5" cstate="print"/>
          <a:srcRect/>
          <a:stretch>
            <a:fillRect/>
          </a:stretch>
        </p:blipFill>
        <p:spPr bwMode="auto">
          <a:xfrm>
            <a:off x="685800" y="3032145"/>
            <a:ext cx="8054810" cy="3183598"/>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什么是图像</a:t>
            </a:r>
            <a:r>
              <a:rPr lang="en-US" dirty="0"/>
              <a:t>?</a:t>
            </a:r>
          </a:p>
        </p:txBody>
      </p:sp>
      <p:pic>
        <p:nvPicPr>
          <p:cNvPr id="74755" name="Picture 3"/>
          <p:cNvPicPr>
            <a:picLocks noChangeAspect="1" noChangeArrowheads="1"/>
          </p:cNvPicPr>
          <p:nvPr/>
        </p:nvPicPr>
        <p:blipFill>
          <a:blip r:embed="rId2" cstate="print"/>
          <a:srcRect/>
          <a:stretch>
            <a:fillRect/>
          </a:stretch>
        </p:blipFill>
        <p:spPr bwMode="auto">
          <a:xfrm>
            <a:off x="1030431" y="1447800"/>
            <a:ext cx="7083138" cy="4724398"/>
          </a:xfrm>
          <a:prstGeom prst="rect">
            <a:avLst/>
          </a:prstGeom>
          <a:noFill/>
          <a:ln w="9525">
            <a:noFill/>
            <a:miter lim="800000"/>
            <a:headEnd/>
            <a:tailEnd/>
          </a:ln>
          <a:effectLst>
            <a:outerShdw blurRad="50800" dist="38100" dir="2700000" algn="tl" rotWithShape="0">
              <a:prstClr val="black">
                <a:alpha val="40000"/>
              </a:prst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cstate="print"/>
          <a:srcRect r="34503" b="17790"/>
          <a:stretch>
            <a:fillRect/>
          </a:stretch>
        </p:blipFill>
        <p:spPr bwMode="auto">
          <a:xfrm>
            <a:off x="381000" y="1251466"/>
            <a:ext cx="4267200" cy="3733800"/>
          </a:xfrm>
          <a:prstGeom prst="rect">
            <a:avLst/>
          </a:prstGeom>
          <a:noFill/>
          <a:ln w="9525">
            <a:noFill/>
            <a:miter lim="800000"/>
            <a:headEnd/>
            <a:tailEnd/>
          </a:ln>
        </p:spPr>
      </p:pic>
      <p:sp>
        <p:nvSpPr>
          <p:cNvPr id="13315" name="Rectangle 3"/>
          <p:cNvSpPr>
            <a:spLocks noGrp="1" noChangeArrowheads="1"/>
          </p:cNvSpPr>
          <p:nvPr>
            <p:ph type="title"/>
          </p:nvPr>
        </p:nvSpPr>
        <p:spPr>
          <a:xfrm>
            <a:off x="457200" y="-26633"/>
            <a:ext cx="8229600" cy="1143000"/>
          </a:xfrm>
        </p:spPr>
        <p:txBody>
          <a:bodyPr/>
          <a:lstStyle/>
          <a:p>
            <a:pPr eaLnBrk="1" hangingPunct="1"/>
            <a:r>
              <a:rPr lang="zh-CN" altLang="en-US" dirty="0"/>
              <a:t>什么是像素</a:t>
            </a:r>
            <a:r>
              <a:rPr lang="en-US" dirty="0"/>
              <a:t>?</a:t>
            </a:r>
          </a:p>
        </p:txBody>
      </p:sp>
      <p:pic>
        <p:nvPicPr>
          <p:cNvPr id="13316" name="Picture 4" descr="humaneye"/>
          <p:cNvPicPr>
            <a:picLocks noChangeAspect="1" noChangeArrowheads="1"/>
          </p:cNvPicPr>
          <p:nvPr/>
        </p:nvPicPr>
        <p:blipFill>
          <a:blip r:embed="rId3" cstate="print"/>
          <a:srcRect l="14894" r="17021"/>
          <a:stretch>
            <a:fillRect/>
          </a:stretch>
        </p:blipFill>
        <p:spPr bwMode="auto">
          <a:xfrm>
            <a:off x="5867400" y="4343400"/>
            <a:ext cx="2257510" cy="1981200"/>
          </a:xfrm>
          <a:prstGeom prst="rect">
            <a:avLst/>
          </a:prstGeom>
          <a:noFill/>
          <a:ln w="9525">
            <a:noFill/>
            <a:miter lim="800000"/>
            <a:headEnd/>
            <a:tailEnd/>
          </a:ln>
        </p:spPr>
      </p:pic>
      <p:pic>
        <p:nvPicPr>
          <p:cNvPr id="13317" name="Picture 5"/>
          <p:cNvPicPr>
            <a:picLocks noChangeAspect="1" noChangeArrowheads="1"/>
          </p:cNvPicPr>
          <p:nvPr/>
        </p:nvPicPr>
        <p:blipFill>
          <a:blip r:embed="rId4" cstate="print"/>
          <a:srcRect l="49847" b="18367"/>
          <a:stretch>
            <a:fillRect/>
          </a:stretch>
        </p:blipFill>
        <p:spPr bwMode="auto">
          <a:xfrm>
            <a:off x="6172200" y="1371600"/>
            <a:ext cx="1758950" cy="2057400"/>
          </a:xfrm>
          <a:prstGeom prst="rect">
            <a:avLst/>
          </a:prstGeom>
          <a:noFill/>
          <a:ln w="9525">
            <a:noFill/>
            <a:miter lim="800000"/>
            <a:headEnd/>
            <a:tailEnd/>
          </a:ln>
        </p:spPr>
      </p:pic>
      <p:sp>
        <p:nvSpPr>
          <p:cNvPr id="13319" name="Text Box 7"/>
          <p:cNvSpPr txBox="1">
            <a:spLocks noChangeArrowheads="1"/>
          </p:cNvSpPr>
          <p:nvPr/>
        </p:nvSpPr>
        <p:spPr bwMode="auto">
          <a:xfrm>
            <a:off x="6553200" y="6248400"/>
            <a:ext cx="910634" cy="369332"/>
          </a:xfrm>
          <a:prstGeom prst="rect">
            <a:avLst/>
          </a:prstGeom>
          <a:noFill/>
          <a:ln w="9525">
            <a:noFill/>
            <a:miter lim="800000"/>
            <a:headEnd/>
            <a:tailEnd/>
          </a:ln>
        </p:spPr>
        <p:txBody>
          <a:bodyPr wrap="none">
            <a:spAutoFit/>
          </a:bodyPr>
          <a:lstStyle/>
          <a:p>
            <a:pPr eaLnBrk="0" hangingPunct="0"/>
            <a:r>
              <a:rPr lang="en-US" b="1">
                <a:cs typeface="Arial" charset="0"/>
              </a:rPr>
              <a:t>The Eye</a:t>
            </a:r>
          </a:p>
        </p:txBody>
      </p:sp>
      <p:sp>
        <p:nvSpPr>
          <p:cNvPr id="13321" name="Text Box 9"/>
          <p:cNvSpPr txBox="1">
            <a:spLocks noChangeArrowheads="1"/>
          </p:cNvSpPr>
          <p:nvPr/>
        </p:nvSpPr>
        <p:spPr bwMode="auto">
          <a:xfrm>
            <a:off x="7788275" y="6504801"/>
            <a:ext cx="1584325" cy="276999"/>
          </a:xfrm>
          <a:prstGeom prst="rect">
            <a:avLst/>
          </a:prstGeom>
          <a:noFill/>
          <a:ln w="9525">
            <a:noFill/>
            <a:miter lim="800000"/>
            <a:headEnd/>
            <a:tailEnd/>
          </a:ln>
        </p:spPr>
        <p:txBody>
          <a:bodyPr wrap="square">
            <a:spAutoFit/>
          </a:bodyPr>
          <a:lstStyle/>
          <a:p>
            <a:r>
              <a:rPr lang="en-US" sz="1200" b="1" dirty="0">
                <a:latin typeface="Arial" charset="0"/>
              </a:rPr>
              <a:t>Source: A. Efros</a:t>
            </a:r>
          </a:p>
        </p:txBody>
      </p:sp>
      <p:sp>
        <p:nvSpPr>
          <p:cNvPr id="10" name="Oval 9"/>
          <p:cNvSpPr/>
          <p:nvPr/>
        </p:nvSpPr>
        <p:spPr>
          <a:xfrm>
            <a:off x="5638800" y="1066800"/>
            <a:ext cx="2743200" cy="2971800"/>
          </a:xfrm>
          <a:prstGeom prst="ellipse">
            <a:avLst/>
          </a:prstGeom>
          <a:noFill/>
          <a:ln w="190500">
            <a:solidFill>
              <a:srgbClr val="FF0000"/>
            </a:solidFill>
          </a:ln>
          <a:effectLst>
            <a:outerShdw blurRad="1016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334000" y="4343400"/>
            <a:ext cx="3352800" cy="2209800"/>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rot="5400000" flipH="1" flipV="1">
            <a:off x="4876800" y="4114800"/>
            <a:ext cx="1371600" cy="1066800"/>
          </a:xfrm>
          <a:prstGeom prst="straightConnector1">
            <a:avLst/>
          </a:prstGeom>
          <a:noFill/>
          <a:ln w="190500">
            <a:solidFill>
              <a:srgbClr val="FF0000"/>
            </a:solidFill>
            <a:tailEnd type="triangle"/>
          </a:ln>
          <a:effectLst>
            <a:outerShdw blurRad="1016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14" name="TextBox 13"/>
          <p:cNvSpPr txBox="1"/>
          <p:nvPr/>
        </p:nvSpPr>
        <p:spPr>
          <a:xfrm>
            <a:off x="3265448" y="5377934"/>
            <a:ext cx="2765501" cy="400110"/>
          </a:xfrm>
          <a:prstGeom prst="rect">
            <a:avLst/>
          </a:prstGeom>
          <a:noFill/>
        </p:spPr>
        <p:txBody>
          <a:bodyPr wrap="none" rtlCol="0">
            <a:spAutoFit/>
          </a:bodyPr>
          <a:lstStyle/>
          <a:p>
            <a:r>
              <a:rPr lang="zh-CN" altLang="en-US" sz="2000" b="1" dirty="0"/>
              <a:t>本次课程重点关注内容</a:t>
            </a:r>
            <a:endParaRPr lang="en-US" sz="2000" b="1" dirty="0"/>
          </a:p>
        </p:txBody>
      </p:sp>
      <p:sp>
        <p:nvSpPr>
          <p:cNvPr id="18" name="Freeform 17"/>
          <p:cNvSpPr/>
          <p:nvPr/>
        </p:nvSpPr>
        <p:spPr>
          <a:xfrm>
            <a:off x="925286" y="5029200"/>
            <a:ext cx="1741714" cy="1338943"/>
          </a:xfrm>
          <a:custGeom>
            <a:avLst/>
            <a:gdLst>
              <a:gd name="connsiteX0" fmla="*/ 2383971 w 2383971"/>
              <a:gd name="connsiteY0" fmla="*/ 1338943 h 1338943"/>
              <a:gd name="connsiteX1" fmla="*/ 413657 w 2383971"/>
              <a:gd name="connsiteY1" fmla="*/ 881743 h 1338943"/>
              <a:gd name="connsiteX2" fmla="*/ 0 w 2383971"/>
              <a:gd name="connsiteY2" fmla="*/ 0 h 1338943"/>
            </a:gdLst>
            <a:ahLst/>
            <a:cxnLst>
              <a:cxn ang="0">
                <a:pos x="connsiteX0" y="connsiteY0"/>
              </a:cxn>
              <a:cxn ang="0">
                <a:pos x="connsiteX1" y="connsiteY1"/>
              </a:cxn>
              <a:cxn ang="0">
                <a:pos x="connsiteX2" y="connsiteY2"/>
              </a:cxn>
            </a:cxnLst>
            <a:rect l="l" t="t" r="r" b="b"/>
            <a:pathLst>
              <a:path w="2383971" h="1338943">
                <a:moveTo>
                  <a:pt x="2383971" y="1338943"/>
                </a:moveTo>
                <a:cubicBezTo>
                  <a:pt x="1597478" y="1221921"/>
                  <a:pt x="810986" y="1104900"/>
                  <a:pt x="413657" y="881743"/>
                </a:cubicBezTo>
                <a:cubicBezTo>
                  <a:pt x="16328" y="658586"/>
                  <a:pt x="8164" y="329293"/>
                  <a:pt x="0" y="0"/>
                </a:cubicBezTo>
              </a:path>
            </a:pathLst>
          </a:custGeom>
          <a:noFill/>
          <a:ln w="190500">
            <a:solidFill>
              <a:srgbClr val="FF0000"/>
            </a:solidFill>
            <a:tailEnd type="triangle"/>
          </a:ln>
          <a:effectLst>
            <a:outerShdw blurRad="1016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2879133" y="6169224"/>
            <a:ext cx="1475084" cy="400110"/>
          </a:xfrm>
          <a:prstGeom prst="rect">
            <a:avLst/>
          </a:prstGeom>
          <a:noFill/>
        </p:spPr>
        <p:txBody>
          <a:bodyPr wrap="none" rtlCol="0">
            <a:spAutoFit/>
          </a:bodyPr>
          <a:lstStyle/>
          <a:p>
            <a:r>
              <a:rPr lang="zh-CN" altLang="en-US" sz="2000" b="1" dirty="0"/>
              <a:t>此过程稍后</a:t>
            </a:r>
            <a:endParaRPr lang="en-US" sz="2000" b="1" dirty="0"/>
          </a:p>
        </p:txBody>
      </p:sp>
      <p:sp>
        <p:nvSpPr>
          <p:cNvPr id="3" name="文本框 2">
            <a:extLst>
              <a:ext uri="{FF2B5EF4-FFF2-40B4-BE49-F238E27FC236}">
                <a16:creationId xmlns:a16="http://schemas.microsoft.com/office/drawing/2014/main" id="{3E2A4887-6574-4CBC-BEE6-DD1090C2F242}"/>
              </a:ext>
            </a:extLst>
          </p:cNvPr>
          <p:cNvSpPr txBox="1"/>
          <p:nvPr/>
        </p:nvSpPr>
        <p:spPr>
          <a:xfrm>
            <a:off x="381000" y="4800600"/>
            <a:ext cx="1219200" cy="338554"/>
          </a:xfrm>
          <a:prstGeom prst="rect">
            <a:avLst/>
          </a:prstGeom>
          <a:noFill/>
        </p:spPr>
        <p:txBody>
          <a:bodyPr wrap="square" rtlCol="0">
            <a:spAutoFit/>
          </a:bodyPr>
          <a:lstStyle/>
          <a:p>
            <a:r>
              <a:rPr lang="zh-CN" altLang="en-US" sz="1600" dirty="0"/>
              <a:t>场景元素</a:t>
            </a:r>
          </a:p>
        </p:txBody>
      </p:sp>
      <p:sp>
        <p:nvSpPr>
          <p:cNvPr id="4" name="文本框 3">
            <a:extLst>
              <a:ext uri="{FF2B5EF4-FFF2-40B4-BE49-F238E27FC236}">
                <a16:creationId xmlns:a16="http://schemas.microsoft.com/office/drawing/2014/main" id="{C0B511DB-EBE5-41A9-841B-5EE4ED2663E2}"/>
              </a:ext>
            </a:extLst>
          </p:cNvPr>
          <p:cNvSpPr txBox="1"/>
          <p:nvPr/>
        </p:nvSpPr>
        <p:spPr>
          <a:xfrm>
            <a:off x="1700255" y="3814346"/>
            <a:ext cx="1628690" cy="338554"/>
          </a:xfrm>
          <a:prstGeom prst="rect">
            <a:avLst/>
          </a:prstGeom>
          <a:noFill/>
        </p:spPr>
        <p:txBody>
          <a:bodyPr wrap="square" rtlCol="0">
            <a:spAutoFit/>
          </a:bodyPr>
          <a:lstStyle/>
          <a:p>
            <a:r>
              <a:rPr lang="zh-CN" altLang="en-US" sz="1600" dirty="0"/>
              <a:t>图像处理系统</a:t>
            </a:r>
          </a:p>
        </p:txBody>
      </p:sp>
      <p:sp>
        <p:nvSpPr>
          <p:cNvPr id="5" name="文本框 4">
            <a:extLst>
              <a:ext uri="{FF2B5EF4-FFF2-40B4-BE49-F238E27FC236}">
                <a16:creationId xmlns:a16="http://schemas.microsoft.com/office/drawing/2014/main" id="{5E234F8A-987D-49B2-8843-8F2F41CCF9F8}"/>
              </a:ext>
            </a:extLst>
          </p:cNvPr>
          <p:cNvSpPr txBox="1"/>
          <p:nvPr/>
        </p:nvSpPr>
        <p:spPr>
          <a:xfrm>
            <a:off x="2667000" y="4648200"/>
            <a:ext cx="2058950" cy="338554"/>
          </a:xfrm>
          <a:prstGeom prst="rect">
            <a:avLst/>
          </a:prstGeom>
          <a:noFill/>
        </p:spPr>
        <p:txBody>
          <a:bodyPr wrap="square" rtlCol="0">
            <a:spAutoFit/>
          </a:bodyPr>
          <a:lstStyle/>
          <a:p>
            <a:r>
              <a:rPr lang="zh-CN" altLang="en-US" sz="1600" dirty="0"/>
              <a:t>（内部）图像平面</a:t>
            </a:r>
          </a:p>
        </p:txBody>
      </p:sp>
      <p:sp>
        <p:nvSpPr>
          <p:cNvPr id="6" name="文本框 5">
            <a:extLst>
              <a:ext uri="{FF2B5EF4-FFF2-40B4-BE49-F238E27FC236}">
                <a16:creationId xmlns:a16="http://schemas.microsoft.com/office/drawing/2014/main" id="{8D3FA9E4-3CD2-4272-9E48-D0459C8E89D7}"/>
              </a:ext>
            </a:extLst>
          </p:cNvPr>
          <p:cNvSpPr txBox="1"/>
          <p:nvPr/>
        </p:nvSpPr>
        <p:spPr>
          <a:xfrm>
            <a:off x="6546259" y="3427995"/>
            <a:ext cx="1835150" cy="338554"/>
          </a:xfrm>
          <a:prstGeom prst="rect">
            <a:avLst/>
          </a:prstGeom>
          <a:noFill/>
        </p:spPr>
        <p:txBody>
          <a:bodyPr wrap="square" rtlCol="0">
            <a:spAutoFit/>
          </a:bodyPr>
          <a:lstStyle/>
          <a:p>
            <a:r>
              <a:rPr lang="zh-CN" altLang="en-US" sz="1600" dirty="0"/>
              <a:t>数码相机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3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9" grpId="0"/>
      <p:bldP spid="10" grpId="0" animBg="1"/>
      <p:bldP spid="11" grpId="0" animBg="1"/>
      <p:bldP spid="14" grpId="0"/>
      <p:bldP spid="18" grpId="0" animBg="1"/>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zh-CN" altLang="en-US" dirty="0"/>
              <a:t>什么是图像</a:t>
            </a:r>
            <a:r>
              <a:rPr lang="en-US" dirty="0"/>
              <a:t>?</a:t>
            </a:r>
          </a:p>
        </p:txBody>
      </p:sp>
      <p:sp>
        <p:nvSpPr>
          <p:cNvPr id="4" name="Content Placeholder 3"/>
          <p:cNvSpPr>
            <a:spLocks noGrp="1"/>
          </p:cNvSpPr>
          <p:nvPr>
            <p:ph idx="1"/>
          </p:nvPr>
        </p:nvSpPr>
        <p:spPr>
          <a:xfrm>
            <a:off x="457200" y="1335464"/>
            <a:ext cx="8229600" cy="5562600"/>
          </a:xfrm>
        </p:spPr>
        <p:txBody>
          <a:bodyPr>
            <a:normAutofit/>
          </a:bodyPr>
          <a:lstStyle/>
          <a:p>
            <a:r>
              <a:rPr lang="zh-CN" altLang="en-US" dirty="0"/>
              <a:t>强度值的表格（矩阵）</a:t>
            </a:r>
            <a:endParaRPr lang="en-US" dirty="0"/>
          </a:p>
          <a:p>
            <a:endParaRPr lang="en-US" dirty="0"/>
          </a:p>
          <a:p>
            <a:endParaRPr lang="en-US" dirty="0"/>
          </a:p>
          <a:p>
            <a:endParaRPr lang="en-US" dirty="0"/>
          </a:p>
          <a:p>
            <a:endParaRPr lang="en-US" dirty="0"/>
          </a:p>
          <a:p>
            <a:endParaRPr lang="en-US" dirty="0"/>
          </a:p>
          <a:p>
            <a:pPr marL="0" indent="0">
              <a:buNone/>
            </a:pPr>
            <a:endParaRPr lang="en-US" dirty="0"/>
          </a:p>
          <a:p>
            <a:endParaRPr lang="en-US" dirty="0"/>
          </a:p>
          <a:p>
            <a:pPr>
              <a:buNone/>
            </a:pPr>
            <a:r>
              <a:rPr lang="en-US" dirty="0"/>
              <a:t>	</a:t>
            </a:r>
            <a:r>
              <a:rPr lang="zh-CN" altLang="en-US" sz="2400" dirty="0"/>
              <a:t>一般每个值用一比特表示</a:t>
            </a:r>
            <a:r>
              <a:rPr lang="en-US" sz="2400" dirty="0"/>
              <a:t>:</a:t>
            </a:r>
          </a:p>
          <a:p>
            <a:pPr>
              <a:buNone/>
            </a:pPr>
            <a:r>
              <a:rPr lang="en-US" dirty="0"/>
              <a:t>   </a:t>
            </a:r>
            <a:r>
              <a:rPr lang="en-US" sz="2400" dirty="0"/>
              <a:t> 0 = </a:t>
            </a:r>
            <a:r>
              <a:rPr lang="zh-CN" altLang="en-US" sz="2400" dirty="0"/>
              <a:t>黑色</a:t>
            </a:r>
            <a:r>
              <a:rPr lang="en-US" sz="2400" dirty="0"/>
              <a:t>, 255 = </a:t>
            </a:r>
            <a:r>
              <a:rPr lang="zh-CN" altLang="en-US" sz="2400" dirty="0"/>
              <a:t>白色</a:t>
            </a:r>
            <a:endParaRPr lang="en-US" dirty="0"/>
          </a:p>
        </p:txBody>
      </p:sp>
      <p:pic>
        <p:nvPicPr>
          <p:cNvPr id="3" name="Picture 5"/>
          <p:cNvPicPr>
            <a:picLocks noChangeAspect="1" noChangeArrowheads="1"/>
          </p:cNvPicPr>
          <p:nvPr/>
        </p:nvPicPr>
        <p:blipFill>
          <a:blip r:embed="rId2" cstate="print"/>
          <a:srcRect l="49847" b="18367"/>
          <a:stretch>
            <a:fillRect/>
          </a:stretch>
        </p:blipFill>
        <p:spPr bwMode="auto">
          <a:xfrm>
            <a:off x="1219200" y="2412925"/>
            <a:ext cx="2133600" cy="2495619"/>
          </a:xfrm>
          <a:prstGeom prst="rect">
            <a:avLst/>
          </a:prstGeom>
          <a:noFill/>
          <a:ln w="9525">
            <a:noFill/>
            <a:miter lim="800000"/>
            <a:headEnd/>
            <a:tailEnd/>
          </a:ln>
        </p:spPr>
      </p:pic>
      <p:sp>
        <p:nvSpPr>
          <p:cNvPr id="5" name="TextBox 4"/>
          <p:cNvSpPr txBox="1"/>
          <p:nvPr/>
        </p:nvSpPr>
        <p:spPr>
          <a:xfrm>
            <a:off x="3596080" y="2795175"/>
            <a:ext cx="747320" cy="1446550"/>
          </a:xfrm>
          <a:prstGeom prst="rect">
            <a:avLst/>
          </a:prstGeom>
          <a:noFill/>
          <a:effectLst>
            <a:outerShdw blurRad="50800" dist="38100" dir="2700000" algn="tl" rotWithShape="0">
              <a:prstClr val="black">
                <a:alpha val="40000"/>
              </a:prstClr>
            </a:outerShdw>
          </a:effectLst>
        </p:spPr>
        <p:txBody>
          <a:bodyPr wrap="none" rtlCol="0">
            <a:spAutoFit/>
          </a:bodyPr>
          <a:lstStyle/>
          <a:p>
            <a:r>
              <a:rPr lang="en-US" sz="8800" b="1" dirty="0"/>
              <a:t>=</a:t>
            </a:r>
          </a:p>
        </p:txBody>
      </p:sp>
      <p:graphicFrame>
        <p:nvGraphicFramePr>
          <p:cNvPr id="8" name="Table 7"/>
          <p:cNvGraphicFramePr>
            <a:graphicFrameLocks noGrp="1"/>
          </p:cNvGraphicFramePr>
          <p:nvPr/>
        </p:nvGraphicFramePr>
        <p:xfrm>
          <a:off x="4572000" y="1828800"/>
          <a:ext cx="3810000" cy="3994144"/>
        </p:xfrm>
        <a:graphic>
          <a:graphicData uri="http://schemas.openxmlformats.org/drawingml/2006/table">
            <a:tbl>
              <a:tblPr/>
              <a:tblGrid>
                <a:gridCol w="317500">
                  <a:extLst>
                    <a:ext uri="{9D8B030D-6E8A-4147-A177-3AD203B41FA5}">
                      <a16:colId xmlns:a16="http://schemas.microsoft.com/office/drawing/2014/main" val="20000"/>
                    </a:ext>
                  </a:extLst>
                </a:gridCol>
                <a:gridCol w="317500">
                  <a:extLst>
                    <a:ext uri="{9D8B030D-6E8A-4147-A177-3AD203B41FA5}">
                      <a16:colId xmlns:a16="http://schemas.microsoft.com/office/drawing/2014/main" val="20001"/>
                    </a:ext>
                  </a:extLst>
                </a:gridCol>
                <a:gridCol w="317500">
                  <a:extLst>
                    <a:ext uri="{9D8B030D-6E8A-4147-A177-3AD203B41FA5}">
                      <a16:colId xmlns:a16="http://schemas.microsoft.com/office/drawing/2014/main" val="20002"/>
                    </a:ext>
                  </a:extLst>
                </a:gridCol>
                <a:gridCol w="317500">
                  <a:extLst>
                    <a:ext uri="{9D8B030D-6E8A-4147-A177-3AD203B41FA5}">
                      <a16:colId xmlns:a16="http://schemas.microsoft.com/office/drawing/2014/main" val="20003"/>
                    </a:ext>
                  </a:extLst>
                </a:gridCol>
                <a:gridCol w="317500">
                  <a:extLst>
                    <a:ext uri="{9D8B030D-6E8A-4147-A177-3AD203B41FA5}">
                      <a16:colId xmlns:a16="http://schemas.microsoft.com/office/drawing/2014/main" val="20004"/>
                    </a:ext>
                  </a:extLst>
                </a:gridCol>
                <a:gridCol w="317500">
                  <a:extLst>
                    <a:ext uri="{9D8B030D-6E8A-4147-A177-3AD203B41FA5}">
                      <a16:colId xmlns:a16="http://schemas.microsoft.com/office/drawing/2014/main" val="20005"/>
                    </a:ext>
                  </a:extLst>
                </a:gridCol>
                <a:gridCol w="317500">
                  <a:extLst>
                    <a:ext uri="{9D8B030D-6E8A-4147-A177-3AD203B41FA5}">
                      <a16:colId xmlns:a16="http://schemas.microsoft.com/office/drawing/2014/main" val="20006"/>
                    </a:ext>
                  </a:extLst>
                </a:gridCol>
                <a:gridCol w="317500">
                  <a:extLst>
                    <a:ext uri="{9D8B030D-6E8A-4147-A177-3AD203B41FA5}">
                      <a16:colId xmlns:a16="http://schemas.microsoft.com/office/drawing/2014/main" val="20007"/>
                    </a:ext>
                  </a:extLst>
                </a:gridCol>
                <a:gridCol w="317500">
                  <a:extLst>
                    <a:ext uri="{9D8B030D-6E8A-4147-A177-3AD203B41FA5}">
                      <a16:colId xmlns:a16="http://schemas.microsoft.com/office/drawing/2014/main" val="20008"/>
                    </a:ext>
                  </a:extLst>
                </a:gridCol>
                <a:gridCol w="317500">
                  <a:extLst>
                    <a:ext uri="{9D8B030D-6E8A-4147-A177-3AD203B41FA5}">
                      <a16:colId xmlns:a16="http://schemas.microsoft.com/office/drawing/2014/main" val="20009"/>
                    </a:ext>
                  </a:extLst>
                </a:gridCol>
                <a:gridCol w="317500">
                  <a:extLst>
                    <a:ext uri="{9D8B030D-6E8A-4147-A177-3AD203B41FA5}">
                      <a16:colId xmlns:a16="http://schemas.microsoft.com/office/drawing/2014/main" val="20010"/>
                    </a:ext>
                  </a:extLst>
                </a:gridCol>
                <a:gridCol w="317500">
                  <a:extLst>
                    <a:ext uri="{9D8B030D-6E8A-4147-A177-3AD203B41FA5}">
                      <a16:colId xmlns:a16="http://schemas.microsoft.com/office/drawing/2014/main" val="20011"/>
                    </a:ext>
                  </a:extLst>
                </a:gridCol>
              </a:tblGrid>
              <a:tr h="285296">
                <a:tc>
                  <a:txBody>
                    <a:bodyPr/>
                    <a:lstStyle/>
                    <a:p>
                      <a:pPr algn="r" fontAlgn="b"/>
                      <a:r>
                        <a:rPr lang="en-US" sz="1100" b="1" i="0" u="none" strike="noStrike" dirty="0">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85296">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85296">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20</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0</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85296">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dirty="0">
                          <a:solidFill>
                            <a:srgbClr val="000000"/>
                          </a:solidFill>
                          <a:latin typeface="Calibri"/>
                        </a:rPr>
                        <a:t>75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75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75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85296">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75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95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dirty="0">
                          <a:solidFill>
                            <a:srgbClr val="000000"/>
                          </a:solidFill>
                          <a:latin typeface="Calibri"/>
                        </a:rPr>
                        <a:t>95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75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85296">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96</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127</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145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dirty="0">
                          <a:solidFill>
                            <a:srgbClr val="000000"/>
                          </a:solidFill>
                          <a:latin typeface="Calibri"/>
                        </a:rPr>
                        <a:t>175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85296">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127</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145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175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175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175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85296">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127</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145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200</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200</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dirty="0">
                          <a:solidFill>
                            <a:srgbClr val="000000"/>
                          </a:solidFill>
                          <a:latin typeface="Calibri"/>
                        </a:rPr>
                        <a:t>175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175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95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85296">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127</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145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200</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200</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175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175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95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47</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85296">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127</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145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145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175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127</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127</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95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47</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85296">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74</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127</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127</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127</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95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95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dirty="0">
                          <a:solidFill>
                            <a:srgbClr val="000000"/>
                          </a:solidFill>
                          <a:latin typeface="Calibri"/>
                        </a:rPr>
                        <a:t>95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47</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85296">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74</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74</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74</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74</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74</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74</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dirty="0">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85296">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dirty="0">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dirty="0">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85296">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dirty="0">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100" b="1" i="0" u="none" strike="noStrike" dirty="0">
                          <a:solidFill>
                            <a:srgbClr val="000000"/>
                          </a:solidFill>
                          <a:latin typeface="Calibri"/>
                        </a:rPr>
                        <a:t>255</a:t>
                      </a:r>
                    </a:p>
                  </a:txBody>
                  <a:tcPr marL="7938" marR="7938" marT="7938"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animEffect transition="in" filter="fade">
                                      <p:cBhvr>
                                        <p:cTn id="15" dur="500"/>
                                        <p:tgtEl>
                                          <p:spTgt spid="4">
                                            <p:txEl>
                                              <p:pRg st="8" end="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9" end="9"/>
                                            </p:txEl>
                                          </p:spTgt>
                                        </p:tgtEl>
                                        <p:attrNameLst>
                                          <p:attrName>style.visibility</p:attrName>
                                        </p:attrNameLst>
                                      </p:cBhvr>
                                      <p:to>
                                        <p:strVal val="visible"/>
                                      </p:to>
                                    </p:set>
                                    <p:animEffect transition="in" filter="fade">
                                      <p:cBhvr>
                                        <p:cTn id="20" dur="500"/>
                                        <p:tgtEl>
                                          <p:spTgt spid="4">
                                            <p:txEl>
                                              <p:pRg st="9" end="9"/>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Effect transition="in" filter="fade">
                                      <p:cBhvr>
                                        <p:cTn id="25"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73162"/>
            <a:ext cx="8686800" cy="5684838"/>
          </a:xfrm>
        </p:spPr>
        <p:txBody>
          <a:bodyPr>
            <a:normAutofit/>
          </a:bodyPr>
          <a:lstStyle/>
          <a:p>
            <a:pPr lvl="0">
              <a:defRPr/>
            </a:pPr>
            <a:r>
              <a:rPr lang="zh-CN" altLang="en-US" dirty="0"/>
              <a:t>我们把（灰度）图像看作一个函数</a:t>
            </a:r>
            <a:r>
              <a:rPr lang="en-US" i="1" dirty="0"/>
              <a:t>f</a:t>
            </a:r>
            <a:r>
              <a:rPr lang="en-US" dirty="0"/>
              <a:t>, </a:t>
            </a:r>
            <a:r>
              <a:rPr lang="zh-CN" altLang="en-US" dirty="0"/>
              <a:t>由</a:t>
            </a:r>
            <a:r>
              <a:rPr lang="en-US" dirty="0">
                <a:latin typeface="Times New Roman" pitchFamily="18" charset="0"/>
              </a:rPr>
              <a:t>R</a:t>
            </a:r>
            <a:r>
              <a:rPr lang="en-US" baseline="30000" dirty="0">
                <a:latin typeface="Times New Roman" pitchFamily="18" charset="0"/>
              </a:rPr>
              <a:t>2</a:t>
            </a:r>
            <a:r>
              <a:rPr lang="en-US" dirty="0"/>
              <a:t> </a:t>
            </a:r>
            <a:r>
              <a:rPr lang="zh-CN" altLang="en-US" dirty="0"/>
              <a:t>到</a:t>
            </a:r>
            <a:r>
              <a:rPr lang="en-US" dirty="0">
                <a:latin typeface="Times New Roman" pitchFamily="18" charset="0"/>
              </a:rPr>
              <a:t>R:</a:t>
            </a:r>
          </a:p>
          <a:p>
            <a:pPr lvl="1">
              <a:defRPr/>
            </a:pPr>
            <a:r>
              <a:rPr lang="en-US" i="1" dirty="0">
                <a:latin typeface="Times New Roman" pitchFamily="18" charset="0"/>
              </a:rPr>
              <a:t>f </a:t>
            </a:r>
            <a:r>
              <a:rPr lang="en-US" dirty="0">
                <a:latin typeface="Times New Roman" pitchFamily="18" charset="0"/>
              </a:rPr>
              <a:t>(</a:t>
            </a:r>
            <a:r>
              <a:rPr lang="en-US" i="1" dirty="0" err="1">
                <a:latin typeface="Times New Roman" pitchFamily="18" charset="0"/>
              </a:rPr>
              <a:t>x,y</a:t>
            </a:r>
            <a:r>
              <a:rPr lang="en-US" dirty="0">
                <a:latin typeface="Times New Roman" pitchFamily="18" charset="0"/>
              </a:rPr>
              <a:t>) </a:t>
            </a:r>
            <a:r>
              <a:rPr lang="zh-CN" altLang="en-US" dirty="0"/>
              <a:t>给位置</a:t>
            </a:r>
            <a:r>
              <a:rPr lang="en-US" dirty="0"/>
              <a:t> </a:t>
            </a:r>
            <a:r>
              <a:rPr lang="en-US" dirty="0">
                <a:latin typeface="Times New Roman" pitchFamily="18" charset="0"/>
              </a:rPr>
              <a:t>(</a:t>
            </a:r>
            <a:r>
              <a:rPr lang="en-US" i="1" dirty="0" err="1">
                <a:latin typeface="Times New Roman" pitchFamily="18" charset="0"/>
              </a:rPr>
              <a:t>x,y</a:t>
            </a:r>
            <a:r>
              <a:rPr lang="en-US" dirty="0">
                <a:latin typeface="Times New Roman" pitchFamily="18" charset="0"/>
              </a:rPr>
              <a:t>)</a:t>
            </a:r>
            <a:r>
              <a:rPr lang="zh-CN" altLang="en-US" dirty="0"/>
              <a:t>赋予强度</a:t>
            </a:r>
            <a:r>
              <a:rPr lang="en-US" dirty="0"/>
              <a:t> </a:t>
            </a:r>
            <a:endParaRPr lang="en-US" dirty="0">
              <a:latin typeface="Times New Roman" pitchFamily="18" charset="0"/>
            </a:endParaRPr>
          </a:p>
          <a:p>
            <a:pPr lvl="1">
              <a:defRPr/>
            </a:pPr>
            <a:r>
              <a:rPr lang="zh-CN" altLang="en-US" dirty="0"/>
              <a:t>数字图像是这个函数（采样，量化的）离散版本</a:t>
            </a:r>
            <a:endParaRPr lang="en-US" dirty="0">
              <a:latin typeface="Times New Roman" pitchFamily="18" charset="0"/>
            </a:endParaRPr>
          </a:p>
        </p:txBody>
      </p:sp>
      <p:pic>
        <p:nvPicPr>
          <p:cNvPr id="18435" name="Picture 3"/>
          <p:cNvPicPr>
            <a:picLocks noChangeAspect="1" noChangeArrowheads="1"/>
          </p:cNvPicPr>
          <p:nvPr/>
        </p:nvPicPr>
        <p:blipFill>
          <a:blip r:embed="rId2" cstate="print"/>
          <a:srcRect/>
          <a:stretch>
            <a:fillRect/>
          </a:stretch>
        </p:blipFill>
        <p:spPr bwMode="auto">
          <a:xfrm>
            <a:off x="5257800" y="3429000"/>
            <a:ext cx="2475214" cy="2117524"/>
          </a:xfrm>
          <a:prstGeom prst="rect">
            <a:avLst/>
          </a:prstGeom>
          <a:noFill/>
          <a:ln w="9525">
            <a:noFill/>
            <a:miter lim="800000"/>
            <a:headEnd/>
            <a:tailEnd/>
          </a:ln>
        </p:spPr>
      </p:pic>
      <p:sp>
        <p:nvSpPr>
          <p:cNvPr id="2" name="Title 1"/>
          <p:cNvSpPr>
            <a:spLocks noGrp="1"/>
          </p:cNvSpPr>
          <p:nvPr>
            <p:ph type="title"/>
          </p:nvPr>
        </p:nvSpPr>
        <p:spPr>
          <a:xfrm>
            <a:off x="457200" y="0"/>
            <a:ext cx="8229600" cy="1143000"/>
          </a:xfrm>
        </p:spPr>
        <p:txBody>
          <a:bodyPr/>
          <a:lstStyle/>
          <a:p>
            <a:r>
              <a:rPr lang="zh-CN" altLang="en-US" dirty="0"/>
              <a:t>什么是图像</a:t>
            </a:r>
            <a:r>
              <a:rPr lang="en-US" dirty="0"/>
              <a:t>?</a:t>
            </a:r>
          </a:p>
        </p:txBody>
      </p:sp>
      <p:pic>
        <p:nvPicPr>
          <p:cNvPr id="6" name="Picture 3"/>
          <p:cNvPicPr>
            <a:picLocks noChangeAspect="1" noChangeArrowheads="1"/>
          </p:cNvPicPr>
          <p:nvPr/>
        </p:nvPicPr>
        <p:blipFill>
          <a:blip r:embed="rId3" cstate="print"/>
          <a:srcRect/>
          <a:stretch>
            <a:fillRect/>
          </a:stretch>
        </p:blipFill>
        <p:spPr bwMode="auto">
          <a:xfrm>
            <a:off x="1347227" y="2929482"/>
            <a:ext cx="2425959" cy="2286000"/>
          </a:xfrm>
          <a:prstGeom prst="rect">
            <a:avLst/>
          </a:prstGeom>
          <a:noFill/>
          <a:ln w="9525" cap="flat" cmpd="sng">
            <a:noFill/>
            <a:prstDash val="solid"/>
            <a:miter lim="800000"/>
            <a:headEnd/>
            <a:tailEnd/>
          </a:ln>
          <a:effectLst/>
        </p:spPr>
      </p:pic>
      <p:grpSp>
        <p:nvGrpSpPr>
          <p:cNvPr id="26" name="Group 25"/>
          <p:cNvGrpSpPr/>
          <p:nvPr/>
        </p:nvGrpSpPr>
        <p:grpSpPr>
          <a:xfrm>
            <a:off x="5068586" y="2563126"/>
            <a:ext cx="1524000" cy="1847910"/>
            <a:chOff x="5181600" y="3028890"/>
            <a:chExt cx="1524000" cy="1847910"/>
          </a:xfrm>
        </p:grpSpPr>
        <p:cxnSp>
          <p:nvCxnSpPr>
            <p:cNvPr id="9" name="Straight Arrow Connector 8"/>
            <p:cNvCxnSpPr/>
            <p:nvPr/>
          </p:nvCxnSpPr>
          <p:spPr>
            <a:xfrm>
              <a:off x="5562600" y="3961606"/>
              <a:ext cx="838200" cy="79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5400000">
              <a:off x="5143103" y="4152503"/>
              <a:ext cx="610394" cy="2286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5400000" flipH="1" flipV="1">
              <a:off x="5181600" y="3580606"/>
              <a:ext cx="7620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357256" y="3733800"/>
              <a:ext cx="228600" cy="400110"/>
            </a:xfrm>
            <a:prstGeom prst="rect">
              <a:avLst/>
            </a:prstGeom>
            <a:noFill/>
          </p:spPr>
          <p:txBody>
            <a:bodyPr wrap="square" rtlCol="0">
              <a:spAutoFit/>
            </a:bodyPr>
            <a:lstStyle/>
            <a:p>
              <a:r>
                <a:rPr lang="en-US" sz="2000" i="1" dirty="0">
                  <a:latin typeface="Times New Roman" pitchFamily="18" charset="0"/>
                  <a:cs typeface="Times New Roman" pitchFamily="18" charset="0"/>
                </a:rPr>
                <a:t>x</a:t>
              </a:r>
            </a:p>
          </p:txBody>
        </p:sp>
        <p:sp>
          <p:nvSpPr>
            <p:cNvPr id="21" name="TextBox 20"/>
            <p:cNvSpPr txBox="1"/>
            <p:nvPr/>
          </p:nvSpPr>
          <p:spPr>
            <a:xfrm>
              <a:off x="5181600" y="4476690"/>
              <a:ext cx="228600" cy="400110"/>
            </a:xfrm>
            <a:prstGeom prst="rect">
              <a:avLst/>
            </a:prstGeom>
            <a:noFill/>
          </p:spPr>
          <p:txBody>
            <a:bodyPr wrap="square" rtlCol="0">
              <a:spAutoFit/>
            </a:bodyPr>
            <a:lstStyle/>
            <a:p>
              <a:r>
                <a:rPr lang="en-US" sz="2000" i="1" dirty="0">
                  <a:latin typeface="Times New Roman" pitchFamily="18" charset="0"/>
                  <a:cs typeface="Times New Roman" pitchFamily="18" charset="0"/>
                </a:rPr>
                <a:t>y</a:t>
              </a:r>
            </a:p>
          </p:txBody>
        </p:sp>
        <p:sp>
          <p:nvSpPr>
            <p:cNvPr id="22" name="TextBox 21"/>
            <p:cNvSpPr txBox="1"/>
            <p:nvPr/>
          </p:nvSpPr>
          <p:spPr>
            <a:xfrm>
              <a:off x="5660572" y="3028890"/>
              <a:ext cx="1045028" cy="400110"/>
            </a:xfrm>
            <a:prstGeom prst="rect">
              <a:avLst/>
            </a:prstGeom>
            <a:noFill/>
          </p:spPr>
          <p:txBody>
            <a:bodyPr wrap="square" rtlCol="0">
              <a:spAutoFit/>
            </a:bodyPr>
            <a:lstStyle/>
            <a:p>
              <a:r>
                <a:rPr lang="en-US" sz="2000" i="1" dirty="0">
                  <a:latin typeface="Times New Roman" pitchFamily="18" charset="0"/>
                  <a:cs typeface="Times New Roman" pitchFamily="18" charset="0"/>
                </a:rPr>
                <a:t>f </a:t>
              </a:r>
              <a:r>
                <a:rPr lang="en-US" sz="2000" dirty="0">
                  <a:latin typeface="Times New Roman" pitchFamily="18" charset="0"/>
                  <a:cs typeface="Times New Roman" pitchFamily="18" charset="0"/>
                </a:rPr>
                <a:t>(</a:t>
              </a:r>
              <a:r>
                <a:rPr lang="en-US" sz="2000" i="1" dirty="0">
                  <a:latin typeface="Times New Roman" pitchFamily="18" charset="0"/>
                  <a:cs typeface="Times New Roman" pitchFamily="18" charset="0"/>
                </a:rPr>
                <a:t>x</a:t>
              </a:r>
              <a:r>
                <a:rPr lang="en-US" sz="2000" dirty="0">
                  <a:latin typeface="Times New Roman" pitchFamily="18" charset="0"/>
                  <a:cs typeface="Times New Roman" pitchFamily="18" charset="0"/>
                </a:rPr>
                <a:t>, </a:t>
              </a:r>
              <a:r>
                <a:rPr lang="en-US" sz="2000" i="1" dirty="0">
                  <a:latin typeface="Times New Roman" pitchFamily="18" charset="0"/>
                  <a:cs typeface="Times New Roman" pitchFamily="18" charset="0"/>
                </a:rPr>
                <a:t>y</a:t>
              </a:r>
              <a:r>
                <a:rPr lang="en-US" sz="2000" dirty="0">
                  <a:latin typeface="Times New Roman" pitchFamily="18" charset="0"/>
                  <a:cs typeface="Times New Roman" pitchFamily="18" charset="0"/>
                </a:rPr>
                <a:t>)</a:t>
              </a:r>
              <a:endParaRPr lang="en-US" sz="2000" i="1" dirty="0">
                <a:latin typeface="Times New Roman" pitchFamily="18" charset="0"/>
                <a:cs typeface="Times New Roman" pitchFamily="18" charset="0"/>
              </a:endParaRPr>
            </a:p>
          </p:txBody>
        </p:sp>
      </p:grpSp>
      <p:sp>
        <p:nvSpPr>
          <p:cNvPr id="24" name="TextBox 23">
            <a:hlinkClick r:id="rId4" action="ppaction://hlinkfile"/>
          </p:cNvPr>
          <p:cNvSpPr txBox="1"/>
          <p:nvPr/>
        </p:nvSpPr>
        <p:spPr>
          <a:xfrm>
            <a:off x="2145584" y="5224046"/>
            <a:ext cx="800219" cy="338554"/>
          </a:xfrm>
          <a:prstGeom prst="rect">
            <a:avLst/>
          </a:prstGeom>
          <a:noFill/>
        </p:spPr>
        <p:txBody>
          <a:bodyPr wrap="none" rtlCol="0">
            <a:spAutoFit/>
          </a:bodyPr>
          <a:lstStyle/>
          <a:p>
            <a:pPr>
              <a:buNone/>
            </a:pPr>
            <a:r>
              <a:rPr lang="en-US" sz="1600" i="0" u="sng" dirty="0">
                <a:solidFill>
                  <a:srgbClr val="0033CC"/>
                </a:solidFill>
                <a:latin typeface="+mj-lt"/>
                <a:hlinkClick r:id="rId5" action="ppaction://hlinkfile"/>
              </a:rPr>
              <a:t>snoop</a:t>
            </a:r>
            <a:endParaRPr lang="en-US" sz="1600" i="0" u="sng" dirty="0">
              <a:solidFill>
                <a:srgbClr val="0033CC"/>
              </a:solidFill>
              <a:latin typeface="+mj-lt"/>
            </a:endParaRPr>
          </a:p>
        </p:txBody>
      </p:sp>
      <p:sp>
        <p:nvSpPr>
          <p:cNvPr id="25" name="TextBox 24">
            <a:hlinkClick r:id="rId6" action="ppaction://hlinkfile"/>
          </p:cNvPr>
          <p:cNvSpPr txBox="1"/>
          <p:nvPr/>
        </p:nvSpPr>
        <p:spPr>
          <a:xfrm>
            <a:off x="6248400" y="5562600"/>
            <a:ext cx="1013419" cy="338554"/>
          </a:xfrm>
          <a:prstGeom prst="rect">
            <a:avLst/>
          </a:prstGeom>
          <a:noFill/>
        </p:spPr>
        <p:txBody>
          <a:bodyPr wrap="none" rtlCol="0">
            <a:spAutoFit/>
          </a:bodyPr>
          <a:lstStyle/>
          <a:p>
            <a:pPr>
              <a:buNone/>
            </a:pPr>
            <a:r>
              <a:rPr lang="en-US" sz="1600" i="0" u="sng" dirty="0">
                <a:solidFill>
                  <a:srgbClr val="0033CC"/>
                </a:solidFill>
                <a:latin typeface="+mj-lt"/>
              </a:rPr>
              <a:t>3D view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zh-CN" altLang="en-US"/>
              <a:t>图像转换</a:t>
            </a:r>
            <a:endParaRPr lang="en-US" dirty="0"/>
          </a:p>
        </p:txBody>
      </p:sp>
      <p:sp>
        <p:nvSpPr>
          <p:cNvPr id="3" name="Content Placeholder 2"/>
          <p:cNvSpPr>
            <a:spLocks noGrp="1"/>
          </p:cNvSpPr>
          <p:nvPr>
            <p:ph idx="1"/>
          </p:nvPr>
        </p:nvSpPr>
        <p:spPr>
          <a:xfrm>
            <a:off x="457200" y="1189037"/>
            <a:ext cx="8229600" cy="5211763"/>
          </a:xfrm>
        </p:spPr>
        <p:txBody>
          <a:bodyPr>
            <a:normAutofit/>
          </a:bodyPr>
          <a:lstStyle/>
          <a:p>
            <a:r>
              <a:rPr lang="zh-CN" altLang="en-US" dirty="0"/>
              <a:t>与任何函数一样，我们可以对图像应用运算符</a:t>
            </a:r>
            <a:endParaRPr lang="en-US" dirty="0"/>
          </a:p>
          <a:p>
            <a:endParaRPr lang="en-US" dirty="0"/>
          </a:p>
          <a:p>
            <a:endParaRPr lang="en-US" dirty="0"/>
          </a:p>
          <a:p>
            <a:endParaRPr lang="en-US" dirty="0"/>
          </a:p>
          <a:p>
            <a:endParaRPr lang="en-US" dirty="0"/>
          </a:p>
          <a:p>
            <a:endParaRPr lang="en-US" dirty="0"/>
          </a:p>
        </p:txBody>
      </p:sp>
      <p:grpSp>
        <p:nvGrpSpPr>
          <p:cNvPr id="8" name="Group 7"/>
          <p:cNvGrpSpPr/>
          <p:nvPr/>
        </p:nvGrpSpPr>
        <p:grpSpPr>
          <a:xfrm>
            <a:off x="685800" y="2841013"/>
            <a:ext cx="3505200" cy="1807187"/>
            <a:chOff x="735462" y="3383891"/>
            <a:chExt cx="3250920" cy="1676087"/>
          </a:xfrm>
        </p:grpSpPr>
        <p:pic>
          <p:nvPicPr>
            <p:cNvPr id="4" name="Picture 3"/>
            <p:cNvPicPr>
              <a:picLocks noChangeAspect="1" noChangeArrowheads="1"/>
            </p:cNvPicPr>
            <p:nvPr/>
          </p:nvPicPr>
          <p:blipFill>
            <a:blip r:embed="rId2" cstate="print"/>
            <a:srcRect/>
            <a:stretch>
              <a:fillRect/>
            </a:stretch>
          </p:blipFill>
          <p:spPr bwMode="auto">
            <a:xfrm>
              <a:off x="735462" y="3383891"/>
              <a:ext cx="1269343" cy="1196112"/>
            </a:xfrm>
            <a:prstGeom prst="rect">
              <a:avLst/>
            </a:prstGeom>
            <a:noFill/>
            <a:ln w="9525" cap="flat" cmpd="sng">
              <a:solidFill>
                <a:schemeClr val="tx1"/>
              </a:solidFill>
              <a:prstDash val="solid"/>
              <a:miter lim="800000"/>
              <a:headEnd/>
              <a:tailEnd/>
            </a:ln>
            <a:effectLst>
              <a:outerShdw blurRad="50800" dist="38100" dir="2700000" algn="tl" rotWithShape="0">
                <a:prstClr val="black">
                  <a:alpha val="40000"/>
                </a:prstClr>
              </a:outerShdw>
            </a:effectLst>
          </p:spPr>
        </p:pic>
        <p:pic>
          <p:nvPicPr>
            <p:cNvPr id="5" name="Picture 2"/>
            <p:cNvPicPr>
              <a:picLocks noChangeAspect="1" noChangeArrowheads="1"/>
            </p:cNvPicPr>
            <p:nvPr/>
          </p:nvPicPr>
          <p:blipFill>
            <a:blip r:embed="rId3" cstate="print"/>
            <a:srcRect/>
            <a:stretch>
              <a:fillRect/>
            </a:stretch>
          </p:blipFill>
          <p:spPr bwMode="auto">
            <a:xfrm>
              <a:off x="2723142" y="3383891"/>
              <a:ext cx="1263240" cy="1190009"/>
            </a:xfrm>
            <a:prstGeom prst="rect">
              <a:avLst/>
            </a:prstGeom>
            <a:noFill/>
            <a:ln w="9525" cap="flat" cmpd="sng">
              <a:solidFill>
                <a:schemeClr val="tx1"/>
              </a:solidFill>
              <a:prstDash val="solid"/>
              <a:miter lim="800000"/>
              <a:headEnd/>
              <a:tailEnd/>
            </a:ln>
            <a:effectLst>
              <a:outerShdw blurRad="50800" dist="38100" dir="2700000" algn="tl" rotWithShape="0">
                <a:prstClr val="black">
                  <a:alpha val="40000"/>
                </a:prstClr>
              </a:outerShdw>
            </a:effectLst>
          </p:spPr>
        </p:pic>
        <p:sp>
          <p:nvSpPr>
            <p:cNvPr id="6" name="Right Arrow 5"/>
            <p:cNvSpPr/>
            <p:nvPr/>
          </p:nvSpPr>
          <p:spPr bwMode="auto">
            <a:xfrm>
              <a:off x="2201493" y="3782498"/>
              <a:ext cx="369333" cy="306616"/>
            </a:xfrm>
            <a:prstGeom prst="rightArrow">
              <a:avLst>
                <a:gd name="adj1" fmla="val 50000"/>
                <a:gd name="adj2" fmla="val 79508"/>
              </a:avLst>
            </a:prstGeom>
            <a:solidFill>
              <a:srgbClr val="4F81BD">
                <a:lumMod val="60000"/>
                <a:lumOff val="40000"/>
              </a:srgbClr>
            </a:solidFill>
            <a:ln w="25400" cap="flat" cmpd="sng" algn="ctr">
              <a:noFill/>
              <a:prstDash val="solid"/>
            </a:ln>
            <a:effectLst>
              <a:outerShdw blurRad="50800" dist="38100" dir="2700000" algn="tl" rotWithShape="0">
                <a:prstClr val="black">
                  <a:alpha val="40000"/>
                </a:prstClr>
              </a:outerShdw>
            </a:effectLst>
          </p:spPr>
          <p:txBody>
            <a:bodyPr anchor="ctr"/>
            <a:lstStyle/>
            <a:p>
              <a:pPr eaLnBrk="1" fontAlgn="auto" hangingPunct="1">
                <a:spcBef>
                  <a:spcPts val="0"/>
                </a:spcBef>
                <a:spcAft>
                  <a:spcPts val="0"/>
                </a:spcAft>
                <a:buFontTx/>
                <a:buNone/>
                <a:defRPr/>
              </a:pPr>
              <a:endParaRPr lang="en-US" sz="1800" i="0">
                <a:solidFill>
                  <a:prstClr val="white"/>
                </a:solidFill>
                <a:latin typeface="Calibri"/>
              </a:endParaRPr>
            </a:p>
          </p:txBody>
        </p:sp>
        <p:sp>
          <p:nvSpPr>
            <p:cNvPr id="7" name="Rectangle 6"/>
            <p:cNvSpPr/>
            <p:nvPr/>
          </p:nvSpPr>
          <p:spPr>
            <a:xfrm>
              <a:off x="838200" y="4659868"/>
              <a:ext cx="2971800" cy="400110"/>
            </a:xfrm>
            <a:prstGeom prst="rect">
              <a:avLst/>
            </a:prstGeom>
          </p:spPr>
          <p:txBody>
            <a:bodyPr wrap="square">
              <a:spAutoFit/>
            </a:bodyPr>
            <a:lstStyle/>
            <a:p>
              <a:pPr lvl="1">
                <a:buNone/>
              </a:pPr>
              <a:r>
                <a:rPr lang="en-US" sz="2000" i="0" dirty="0">
                  <a:ea typeface="Verdana" pitchFamily="34" charset="0"/>
                  <a:cs typeface="Verdana" pitchFamily="34" charset="0"/>
                </a:rPr>
                <a:t> </a:t>
              </a:r>
              <a:r>
                <a:rPr lang="en-US" sz="2000" i="1" dirty="0">
                  <a:latin typeface="Times New Roman" pitchFamily="18" charset="0"/>
                </a:rPr>
                <a:t>g </a:t>
              </a:r>
              <a:r>
                <a:rPr lang="en-US" sz="2000" dirty="0">
                  <a:latin typeface="Times New Roman" pitchFamily="18" charset="0"/>
                </a:rPr>
                <a:t>(</a:t>
              </a:r>
              <a:r>
                <a:rPr lang="en-US" sz="2000" i="1" dirty="0" err="1">
                  <a:latin typeface="Times New Roman" pitchFamily="18" charset="0"/>
                </a:rPr>
                <a:t>x,y</a:t>
              </a:r>
              <a:r>
                <a:rPr lang="en-US" sz="2000" dirty="0">
                  <a:latin typeface="Times New Roman" pitchFamily="18" charset="0"/>
                </a:rPr>
                <a:t>) </a:t>
              </a:r>
              <a:r>
                <a:rPr lang="en-US" sz="2000" i="1" dirty="0">
                  <a:latin typeface="Times New Roman" pitchFamily="18" charset="0"/>
                </a:rPr>
                <a:t>= f </a:t>
              </a:r>
              <a:r>
                <a:rPr lang="en-US" sz="2000" dirty="0">
                  <a:latin typeface="Times New Roman" pitchFamily="18" charset="0"/>
                </a:rPr>
                <a:t>(</a:t>
              </a:r>
              <a:r>
                <a:rPr lang="en-US" sz="2000" i="1" dirty="0" err="1">
                  <a:latin typeface="Times New Roman" pitchFamily="18" charset="0"/>
                </a:rPr>
                <a:t>x,y</a:t>
              </a:r>
              <a:r>
                <a:rPr lang="en-US" sz="2000" dirty="0">
                  <a:latin typeface="Times New Roman" pitchFamily="18" charset="0"/>
                </a:rPr>
                <a:t>) + </a:t>
              </a:r>
              <a:r>
                <a:rPr lang="en-US" sz="2000" i="0" dirty="0">
                  <a:latin typeface="Times New Roman" pitchFamily="18" charset="0"/>
                  <a:ea typeface="Verdana" pitchFamily="34" charset="0"/>
                  <a:cs typeface="Times New Roman" pitchFamily="18" charset="0"/>
                </a:rPr>
                <a:t>20</a:t>
              </a:r>
            </a:p>
          </p:txBody>
        </p:sp>
      </p:grpSp>
      <p:grpSp>
        <p:nvGrpSpPr>
          <p:cNvPr id="15" name="Group 14"/>
          <p:cNvGrpSpPr/>
          <p:nvPr/>
        </p:nvGrpSpPr>
        <p:grpSpPr>
          <a:xfrm>
            <a:off x="4876800" y="2841013"/>
            <a:ext cx="3509048" cy="1775891"/>
            <a:chOff x="4876800" y="2819400"/>
            <a:chExt cx="3509048" cy="1775891"/>
          </a:xfrm>
        </p:grpSpPr>
        <p:pic>
          <p:nvPicPr>
            <p:cNvPr id="10" name="Picture 9"/>
            <p:cNvPicPr>
              <a:picLocks noChangeAspect="1" noChangeArrowheads="1"/>
            </p:cNvPicPr>
            <p:nvPr/>
          </p:nvPicPr>
          <p:blipFill>
            <a:blip r:embed="rId2" cstate="print"/>
            <a:srcRect/>
            <a:stretch>
              <a:fillRect/>
            </a:stretch>
          </p:blipFill>
          <p:spPr bwMode="auto">
            <a:xfrm>
              <a:off x="4876800" y="2819400"/>
              <a:ext cx="1368628" cy="1289669"/>
            </a:xfrm>
            <a:prstGeom prst="rect">
              <a:avLst/>
            </a:prstGeom>
            <a:noFill/>
            <a:ln w="9525" cap="flat" cmpd="sng">
              <a:solidFill>
                <a:schemeClr val="tx1"/>
              </a:solidFill>
              <a:prstDash val="solid"/>
              <a:miter lim="800000"/>
              <a:headEnd/>
              <a:tailEnd/>
            </a:ln>
            <a:effectLst>
              <a:outerShdw blurRad="50800" dist="38100" dir="2700000" algn="tl" rotWithShape="0">
                <a:prstClr val="black">
                  <a:alpha val="40000"/>
                </a:prstClr>
              </a:outerShdw>
            </a:effectLst>
          </p:spPr>
        </p:pic>
        <p:sp>
          <p:nvSpPr>
            <p:cNvPr id="12" name="Right Arrow 11"/>
            <p:cNvSpPr/>
            <p:nvPr/>
          </p:nvSpPr>
          <p:spPr bwMode="auto">
            <a:xfrm>
              <a:off x="6457501" y="3249185"/>
              <a:ext cx="398221" cy="330599"/>
            </a:xfrm>
            <a:prstGeom prst="rightArrow">
              <a:avLst>
                <a:gd name="adj1" fmla="val 50000"/>
                <a:gd name="adj2" fmla="val 79508"/>
              </a:avLst>
            </a:prstGeom>
            <a:solidFill>
              <a:srgbClr val="4F81BD">
                <a:lumMod val="60000"/>
                <a:lumOff val="40000"/>
              </a:srgbClr>
            </a:solidFill>
            <a:ln w="25400" cap="flat" cmpd="sng" algn="ctr">
              <a:noFill/>
              <a:prstDash val="solid"/>
            </a:ln>
            <a:effectLst>
              <a:outerShdw blurRad="50800" dist="38100" dir="2700000" algn="tl" rotWithShape="0">
                <a:prstClr val="black">
                  <a:alpha val="40000"/>
                </a:prstClr>
              </a:outerShdw>
            </a:effectLst>
          </p:spPr>
          <p:txBody>
            <a:bodyPr anchor="ctr"/>
            <a:lstStyle/>
            <a:p>
              <a:pPr eaLnBrk="1" fontAlgn="auto" hangingPunct="1">
                <a:spcBef>
                  <a:spcPts val="0"/>
                </a:spcBef>
                <a:spcAft>
                  <a:spcPts val="0"/>
                </a:spcAft>
                <a:buFontTx/>
                <a:buNone/>
                <a:defRPr/>
              </a:pPr>
              <a:endParaRPr lang="en-US" sz="1800" i="0">
                <a:solidFill>
                  <a:prstClr val="white"/>
                </a:solidFill>
                <a:latin typeface="Calibri"/>
              </a:endParaRPr>
            </a:p>
          </p:txBody>
        </p:sp>
        <p:sp>
          <p:nvSpPr>
            <p:cNvPr id="13" name="Rectangle 12"/>
            <p:cNvSpPr/>
            <p:nvPr/>
          </p:nvSpPr>
          <p:spPr>
            <a:xfrm>
              <a:off x="5181600" y="4195181"/>
              <a:ext cx="3204248" cy="400110"/>
            </a:xfrm>
            <a:prstGeom prst="rect">
              <a:avLst/>
            </a:prstGeom>
          </p:spPr>
          <p:txBody>
            <a:bodyPr wrap="square">
              <a:spAutoFit/>
            </a:bodyPr>
            <a:lstStyle/>
            <a:p>
              <a:pPr lvl="1">
                <a:buNone/>
              </a:pPr>
              <a:r>
                <a:rPr lang="en-US" sz="2000" i="0" dirty="0">
                  <a:ea typeface="Verdana" pitchFamily="34" charset="0"/>
                  <a:cs typeface="Verdana" pitchFamily="34" charset="0"/>
                </a:rPr>
                <a:t> </a:t>
              </a:r>
              <a:r>
                <a:rPr lang="en-US" sz="2000" i="1" dirty="0">
                  <a:latin typeface="Times New Roman" pitchFamily="18" charset="0"/>
                </a:rPr>
                <a:t>g </a:t>
              </a:r>
              <a:r>
                <a:rPr lang="en-US" sz="2000" dirty="0">
                  <a:latin typeface="Times New Roman" pitchFamily="18" charset="0"/>
                </a:rPr>
                <a:t>(</a:t>
              </a:r>
              <a:r>
                <a:rPr lang="en-US" sz="2000" i="1" dirty="0" err="1">
                  <a:latin typeface="Times New Roman" pitchFamily="18" charset="0"/>
                </a:rPr>
                <a:t>x,y</a:t>
              </a:r>
              <a:r>
                <a:rPr lang="en-US" sz="2000" dirty="0">
                  <a:latin typeface="Times New Roman" pitchFamily="18" charset="0"/>
                </a:rPr>
                <a:t>) </a:t>
              </a:r>
              <a:r>
                <a:rPr lang="en-US" sz="2000" i="1" dirty="0">
                  <a:latin typeface="Times New Roman" pitchFamily="18" charset="0"/>
                </a:rPr>
                <a:t>= f </a:t>
              </a:r>
              <a:r>
                <a:rPr lang="en-US" sz="2000" dirty="0">
                  <a:latin typeface="Times New Roman" pitchFamily="18" charset="0"/>
                </a:rPr>
                <a:t>(-</a:t>
              </a:r>
              <a:r>
                <a:rPr lang="en-US" sz="2000" i="1" dirty="0" err="1">
                  <a:latin typeface="Times New Roman" pitchFamily="18" charset="0"/>
                </a:rPr>
                <a:t>x,y</a:t>
              </a:r>
              <a:r>
                <a:rPr lang="en-US" sz="2000" dirty="0">
                  <a:latin typeface="Times New Roman" pitchFamily="18" charset="0"/>
                </a:rPr>
                <a:t>)</a:t>
              </a:r>
              <a:endParaRPr lang="en-US" sz="2000" i="0" dirty="0">
                <a:latin typeface="Times New Roman" pitchFamily="18" charset="0"/>
                <a:ea typeface="Verdana" pitchFamily="34" charset="0"/>
                <a:cs typeface="Times New Roman" pitchFamily="18" charset="0"/>
              </a:endParaRPr>
            </a:p>
          </p:txBody>
        </p:sp>
        <p:pic>
          <p:nvPicPr>
            <p:cNvPr id="14" name="Picture 13"/>
            <p:cNvPicPr>
              <a:picLocks noChangeAspect="1" noChangeArrowheads="1"/>
            </p:cNvPicPr>
            <p:nvPr/>
          </p:nvPicPr>
          <p:blipFill>
            <a:blip r:embed="rId2" cstate="print"/>
            <a:srcRect/>
            <a:stretch>
              <a:fillRect/>
            </a:stretch>
          </p:blipFill>
          <p:spPr bwMode="auto">
            <a:xfrm flipH="1">
              <a:off x="7010400" y="2819400"/>
              <a:ext cx="1368628" cy="1289669"/>
            </a:xfrm>
            <a:prstGeom prst="rect">
              <a:avLst/>
            </a:prstGeom>
            <a:noFill/>
            <a:ln w="9525" cap="flat" cmpd="sng">
              <a:solidFill>
                <a:schemeClr val="tx1"/>
              </a:solidFill>
              <a:prstDash val="solid"/>
              <a:miter lim="800000"/>
              <a:headEnd/>
              <a:tailEnd/>
            </a:ln>
            <a:effectLst>
              <a:outerShdw blurRad="50800" dist="38100" dir="2700000" algn="tl" rotWithShape="0">
                <a:prstClr val="black">
                  <a:alpha val="40000"/>
                </a:prstClr>
              </a:outerShdw>
            </a:effec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zh-CN" altLang="en-US" dirty="0"/>
              <a:t>滤波器</a:t>
            </a:r>
            <a:endParaRPr lang="en-US" dirty="0"/>
          </a:p>
        </p:txBody>
      </p:sp>
      <p:sp>
        <p:nvSpPr>
          <p:cNvPr id="3" name="Content Placeholder 2"/>
          <p:cNvSpPr>
            <a:spLocks noGrp="1"/>
          </p:cNvSpPr>
          <p:nvPr>
            <p:ph idx="1"/>
          </p:nvPr>
        </p:nvSpPr>
        <p:spPr>
          <a:xfrm>
            <a:off x="457200" y="1524000"/>
            <a:ext cx="8229600" cy="4525963"/>
          </a:xfrm>
        </p:spPr>
        <p:txBody>
          <a:bodyPr>
            <a:normAutofit/>
          </a:bodyPr>
          <a:lstStyle/>
          <a:p>
            <a:r>
              <a:rPr lang="zh-CN" altLang="en-US" dirty="0"/>
              <a:t>滤波</a:t>
            </a:r>
            <a:endParaRPr lang="en-US" dirty="0"/>
          </a:p>
          <a:p>
            <a:pPr lvl="1"/>
            <a:r>
              <a:rPr lang="zh-CN" altLang="en-US" dirty="0"/>
              <a:t>形成一个新的图像，</a:t>
            </a:r>
            <a:r>
              <a:rPr lang="en-US" dirty="0"/>
              <a:t> </a:t>
            </a:r>
            <a:r>
              <a:rPr lang="zh-CN" altLang="en-US" dirty="0"/>
              <a:t>该图像的像素是原始像素的组合</a:t>
            </a:r>
            <a:endParaRPr lang="en-US" dirty="0"/>
          </a:p>
          <a:p>
            <a:r>
              <a:rPr lang="zh-CN" altLang="en-US" dirty="0"/>
              <a:t>为什么这么做</a:t>
            </a:r>
            <a:r>
              <a:rPr lang="en-US" dirty="0"/>
              <a:t>? </a:t>
            </a:r>
          </a:p>
          <a:p>
            <a:pPr lvl="1"/>
            <a:r>
              <a:rPr lang="zh-CN" altLang="en-US" dirty="0"/>
              <a:t>从图像中得到有用信息</a:t>
            </a:r>
            <a:endParaRPr lang="en-US" dirty="0"/>
          </a:p>
          <a:p>
            <a:pPr lvl="2"/>
            <a:r>
              <a:rPr lang="zh-CN" altLang="en-US" dirty="0"/>
              <a:t>例：提取轮廓或边界</a:t>
            </a:r>
            <a:r>
              <a:rPr lang="en-US" dirty="0"/>
              <a:t> (</a:t>
            </a:r>
            <a:r>
              <a:rPr lang="zh-CN" altLang="en-US" dirty="0"/>
              <a:t>有助于理解形状</a:t>
            </a:r>
            <a:r>
              <a:rPr lang="en-US" dirty="0"/>
              <a:t>)</a:t>
            </a:r>
          </a:p>
          <a:p>
            <a:pPr lvl="1"/>
            <a:r>
              <a:rPr lang="zh-CN" altLang="en-US" dirty="0"/>
              <a:t>增强图像</a:t>
            </a:r>
            <a:endParaRPr lang="en-US" dirty="0"/>
          </a:p>
          <a:p>
            <a:pPr lvl="2"/>
            <a:r>
              <a:rPr lang="zh-CN" altLang="en-US" dirty="0"/>
              <a:t>例：移除噪点</a:t>
            </a:r>
            <a:endParaRPr lang="en-US" dirty="0"/>
          </a:p>
          <a:p>
            <a:pPr lvl="2"/>
            <a:r>
              <a:rPr lang="zh-CN" altLang="en-US" dirty="0"/>
              <a:t>例：锐化和增强图像</a:t>
            </a:r>
            <a:r>
              <a:rPr lang="en-US" dirty="0"/>
              <a:t> </a:t>
            </a:r>
          </a:p>
        </p:txBody>
      </p:sp>
    </p:spTree>
    <p:extLst>
      <p:ext uri="{BB962C8B-B14F-4D97-AF65-F5344CB8AC3E}">
        <p14:creationId xmlns:p14="http://schemas.microsoft.com/office/powerpoint/2010/main" val="783684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典型图像处理问题</a:t>
            </a:r>
            <a:endParaRPr lang="en-US" dirty="0"/>
          </a:p>
        </p:txBody>
      </p:sp>
      <p:sp>
        <p:nvSpPr>
          <p:cNvPr id="3" name="Content Placeholder 2"/>
          <p:cNvSpPr>
            <a:spLocks noGrp="1"/>
          </p:cNvSpPr>
          <p:nvPr>
            <p:ph idx="1"/>
          </p:nvPr>
        </p:nvSpPr>
        <p:spPr>
          <a:xfrm>
            <a:off x="457200" y="1371600"/>
            <a:ext cx="8229600" cy="4525963"/>
          </a:xfrm>
        </p:spPr>
        <p:txBody>
          <a:bodyPr>
            <a:normAutofit/>
          </a:bodyPr>
          <a:lstStyle/>
          <a:p>
            <a:r>
              <a:rPr lang="zh-CN" altLang="en-US" sz="2400" dirty="0"/>
              <a:t>图像复原</a:t>
            </a:r>
            <a:endParaRPr lang="en-US" sz="2400" dirty="0"/>
          </a:p>
          <a:p>
            <a:pPr lvl="1"/>
            <a:r>
              <a:rPr lang="zh-CN" altLang="en-US" sz="2000" dirty="0"/>
              <a:t>去噪</a:t>
            </a:r>
            <a:endParaRPr lang="en-US" sz="2000" dirty="0"/>
          </a:p>
          <a:p>
            <a:pPr lvl="1"/>
            <a:r>
              <a:rPr lang="zh-CN" altLang="en-US" sz="2000" dirty="0"/>
              <a:t>去模糊</a:t>
            </a:r>
            <a:endParaRPr lang="en-US" sz="2000" dirty="0"/>
          </a:p>
          <a:p>
            <a:r>
              <a:rPr lang="zh-CN" altLang="en-US" sz="2400" dirty="0"/>
              <a:t>图像压缩</a:t>
            </a:r>
            <a:endParaRPr lang="en-US" sz="2400" dirty="0"/>
          </a:p>
          <a:p>
            <a:pPr lvl="1"/>
            <a:r>
              <a:rPr lang="en-US" sz="2000" dirty="0"/>
              <a:t>JPEG, JPEG2000, MPEG..</a:t>
            </a:r>
          </a:p>
          <a:p>
            <a:r>
              <a:rPr lang="zh-CN" altLang="en-US" sz="2400" dirty="0"/>
              <a:t>计算场属性（</a:t>
            </a:r>
            <a:r>
              <a:rPr lang="en-US" altLang="zh-CN" sz="2400" dirty="0"/>
              <a:t>Field Properties</a:t>
            </a:r>
            <a:r>
              <a:rPr lang="zh-CN" altLang="en-US" sz="2400" dirty="0"/>
              <a:t>）</a:t>
            </a:r>
            <a:endParaRPr lang="en-US" sz="2400" dirty="0"/>
          </a:p>
          <a:p>
            <a:pPr lvl="1"/>
            <a:r>
              <a:rPr lang="zh-CN" altLang="en-US" sz="2000" dirty="0"/>
              <a:t>光流</a:t>
            </a:r>
            <a:endParaRPr lang="en-US" sz="2000" dirty="0"/>
          </a:p>
          <a:p>
            <a:pPr lvl="1"/>
            <a:r>
              <a:rPr lang="zh-CN" altLang="en-US" sz="2000" dirty="0"/>
              <a:t>双眼视差</a:t>
            </a:r>
            <a:endParaRPr lang="en-US" sz="2400" dirty="0"/>
          </a:p>
          <a:p>
            <a:r>
              <a:rPr lang="zh-CN" altLang="en-US" sz="2400" dirty="0"/>
              <a:t>定位结构特征</a:t>
            </a:r>
            <a:endParaRPr lang="en-US" sz="2400" dirty="0"/>
          </a:p>
          <a:p>
            <a:pPr lvl="1"/>
            <a:r>
              <a:rPr lang="zh-CN" altLang="en-US" sz="2000" dirty="0"/>
              <a:t>角点</a:t>
            </a:r>
            <a:endParaRPr lang="en-US" sz="2000" dirty="0"/>
          </a:p>
          <a:p>
            <a:pPr lvl="1"/>
            <a:r>
              <a:rPr lang="zh-CN" altLang="en-US" sz="2000" dirty="0"/>
              <a:t>边缘</a:t>
            </a:r>
            <a:endParaRPr lang="en-US" sz="2000" dirty="0"/>
          </a:p>
          <a:p>
            <a:pPr lvl="1"/>
            <a:endParaRPr lang="en-US" sz="2000" dirty="0"/>
          </a:p>
        </p:txBody>
      </p:sp>
    </p:spTree>
    <p:extLst>
      <p:ext uri="{BB962C8B-B14F-4D97-AF65-F5344CB8AC3E}">
        <p14:creationId xmlns:p14="http://schemas.microsoft.com/office/powerpoint/2010/main" val="1171013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custDataLst>
              <p:tags r:id="rId2"/>
            </p:custDataLst>
          </p:nvPr>
        </p:nvSpPr>
        <p:spPr>
          <a:xfrm>
            <a:off x="457200" y="0"/>
            <a:ext cx="8229600" cy="1143000"/>
          </a:xfrm>
        </p:spPr>
        <p:txBody>
          <a:bodyPr/>
          <a:lstStyle/>
          <a:p>
            <a:r>
              <a:rPr lang="zh-CN" altLang="en-US" dirty="0"/>
              <a:t>问题</a:t>
            </a:r>
            <a:r>
              <a:rPr lang="en-US" dirty="0"/>
              <a:t>: </a:t>
            </a:r>
            <a:r>
              <a:rPr lang="zh-CN" altLang="en-US" dirty="0"/>
              <a:t>减少噪点</a:t>
            </a:r>
            <a:endParaRPr lang="en-US" dirty="0"/>
          </a:p>
        </p:txBody>
      </p:sp>
      <p:graphicFrame>
        <p:nvGraphicFramePr>
          <p:cNvPr id="1026" name="Object 3"/>
          <p:cNvGraphicFramePr>
            <a:graphicFrameLocks noChangeAspect="1"/>
          </p:cNvGraphicFramePr>
          <p:nvPr>
            <p:custDataLst>
              <p:tags r:id="rId3"/>
            </p:custDataLst>
          </p:nvPr>
        </p:nvGraphicFramePr>
        <p:xfrm>
          <a:off x="0" y="0"/>
          <a:ext cx="1219200" cy="149225"/>
        </p:xfrm>
        <a:graphic>
          <a:graphicData uri="http://schemas.openxmlformats.org/presentationml/2006/ole">
            <mc:AlternateContent xmlns:mc="http://schemas.openxmlformats.org/markup-compatibility/2006">
              <mc:Choice xmlns:v="urn:schemas-microsoft-com:vml" Requires="v">
                <p:oleObj spid="_x0000_s1045" name="Equation" r:id="rId9" imgW="914400" imgH="198720" progId="">
                  <p:embed/>
                </p:oleObj>
              </mc:Choice>
              <mc:Fallback>
                <p:oleObj name="Equation" r:id="rId9" imgW="914400" imgH="198720" progId="">
                  <p:embed/>
                  <p:pic>
                    <p:nvPicPr>
                      <p:cNvPr id="1026"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219200" cy="149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20932" name="Picture 4" descr="image3"/>
          <p:cNvPicPr>
            <a:picLocks noChangeAspect="1" noChangeArrowheads="1"/>
          </p:cNvPicPr>
          <p:nvPr>
            <p:custDataLst>
              <p:tags r:id="rId4"/>
            </p:custDataLst>
          </p:nvPr>
        </p:nvPicPr>
        <p:blipFill>
          <a:blip r:embed="rId11" cstate="print">
            <a:lum bright="24000" contrast="30000"/>
          </a:blip>
          <a:srcRect/>
          <a:stretch>
            <a:fillRect/>
          </a:stretch>
        </p:blipFill>
        <p:spPr bwMode="auto">
          <a:xfrm>
            <a:off x="5791200" y="2027237"/>
            <a:ext cx="2690813" cy="3371850"/>
          </a:xfrm>
          <a:prstGeom prst="rect">
            <a:avLst/>
          </a:prstGeom>
          <a:noFill/>
          <a:ln w="9525">
            <a:noFill/>
            <a:miter lim="800000"/>
            <a:headEnd/>
            <a:tailEnd/>
          </a:ln>
        </p:spPr>
      </p:pic>
      <p:pic>
        <p:nvPicPr>
          <p:cNvPr id="1020933" name="Picture 5" descr="image4"/>
          <p:cNvPicPr>
            <a:picLocks noChangeAspect="1" noChangeArrowheads="1"/>
          </p:cNvPicPr>
          <p:nvPr>
            <p:custDataLst>
              <p:tags r:id="rId5"/>
            </p:custDataLst>
          </p:nvPr>
        </p:nvPicPr>
        <p:blipFill>
          <a:blip r:embed="rId12" cstate="print">
            <a:lum bright="24000" contrast="30000"/>
          </a:blip>
          <a:srcRect/>
          <a:stretch>
            <a:fillRect/>
          </a:stretch>
        </p:blipFill>
        <p:spPr bwMode="auto">
          <a:xfrm>
            <a:off x="1219200" y="2027237"/>
            <a:ext cx="2690813" cy="3371850"/>
          </a:xfrm>
          <a:prstGeom prst="rect">
            <a:avLst/>
          </a:prstGeom>
          <a:noFill/>
          <a:ln w="9525">
            <a:noFill/>
            <a:miter lim="800000"/>
            <a:headEnd/>
            <a:tailEnd/>
          </a:ln>
        </p:spPr>
      </p:pic>
      <p:pic>
        <p:nvPicPr>
          <p:cNvPr id="1020934" name="Picture 6" descr="avg12"/>
          <p:cNvPicPr>
            <a:picLocks noChangeAspect="1" noChangeArrowheads="1"/>
          </p:cNvPicPr>
          <p:nvPr>
            <p:custDataLst>
              <p:tags r:id="rId6"/>
            </p:custDataLst>
          </p:nvPr>
        </p:nvPicPr>
        <p:blipFill>
          <a:blip r:embed="rId13" cstate="print">
            <a:lum bright="24000" contrast="30000"/>
          </a:blip>
          <a:srcRect/>
          <a:stretch>
            <a:fillRect/>
          </a:stretch>
        </p:blipFill>
        <p:spPr bwMode="auto">
          <a:xfrm>
            <a:off x="3454400" y="2427287"/>
            <a:ext cx="2682875" cy="3363913"/>
          </a:xfrm>
          <a:prstGeom prst="rect">
            <a:avLst/>
          </a:prstGeom>
          <a:noFill/>
          <a:ln w="9525">
            <a:noFill/>
            <a:miter lim="800000"/>
            <a:headEnd/>
            <a:tailEnd/>
          </a:ln>
        </p:spPr>
      </p:pic>
      <p:sp>
        <p:nvSpPr>
          <p:cNvPr id="1031" name="Rectangle 7"/>
          <p:cNvSpPr>
            <a:spLocks noGrp="1" noChangeArrowheads="1"/>
          </p:cNvSpPr>
          <p:nvPr>
            <p:ph type="body" idx="1"/>
          </p:nvPr>
        </p:nvSpPr>
        <p:spPr>
          <a:xfrm>
            <a:off x="711200" y="933450"/>
            <a:ext cx="7772400" cy="1504950"/>
          </a:xfrm>
          <a:noFill/>
        </p:spPr>
        <p:txBody>
          <a:bodyPr/>
          <a:lstStyle/>
          <a:p>
            <a:pPr>
              <a:lnSpc>
                <a:spcPct val="90000"/>
              </a:lnSpc>
            </a:pPr>
            <a:r>
              <a:rPr lang="zh-CN" altLang="en-US" dirty="0"/>
              <a:t>提供一个相机和静止场景</a:t>
            </a:r>
            <a:r>
              <a:rPr lang="en-US" dirty="0"/>
              <a:t>, </a:t>
            </a:r>
            <a:r>
              <a:rPr lang="zh-CN" altLang="en-US" dirty="0"/>
              <a:t>该如何减少噪点</a:t>
            </a:r>
            <a:r>
              <a:rPr lang="en-US" dirty="0"/>
              <a:t>?</a:t>
            </a:r>
          </a:p>
        </p:txBody>
      </p:sp>
      <p:sp>
        <p:nvSpPr>
          <p:cNvPr id="1020936" name="Text Box 8"/>
          <p:cNvSpPr txBox="1">
            <a:spLocks noChangeArrowheads="1"/>
          </p:cNvSpPr>
          <p:nvPr/>
        </p:nvSpPr>
        <p:spPr bwMode="auto">
          <a:xfrm>
            <a:off x="822325" y="5943600"/>
            <a:ext cx="2159566" cy="369332"/>
          </a:xfrm>
          <a:prstGeom prst="rect">
            <a:avLst/>
          </a:prstGeom>
          <a:noFill/>
          <a:ln w="9525">
            <a:noFill/>
            <a:miter lim="800000"/>
            <a:headEnd/>
            <a:tailEnd/>
          </a:ln>
        </p:spPr>
        <p:txBody>
          <a:bodyPr wrap="none">
            <a:spAutoFit/>
          </a:bodyPr>
          <a:lstStyle/>
          <a:p>
            <a:r>
              <a:rPr lang="zh-CN" altLang="en-US" dirty="0"/>
              <a:t>多拍照片求平均值</a:t>
            </a:r>
            <a:r>
              <a:rPr lang="en-US" dirty="0"/>
              <a:t>! </a:t>
            </a:r>
          </a:p>
        </p:txBody>
      </p:sp>
      <p:sp>
        <p:nvSpPr>
          <p:cNvPr id="1020937" name="Rectangle 9"/>
          <p:cNvSpPr>
            <a:spLocks noChangeArrowheads="1"/>
          </p:cNvSpPr>
          <p:nvPr/>
        </p:nvSpPr>
        <p:spPr bwMode="auto">
          <a:xfrm>
            <a:off x="838200" y="6384925"/>
            <a:ext cx="2138727" cy="369332"/>
          </a:xfrm>
          <a:prstGeom prst="rect">
            <a:avLst/>
          </a:prstGeom>
          <a:noFill/>
          <a:ln w="9525">
            <a:noFill/>
            <a:miter lim="800000"/>
            <a:headEnd/>
            <a:tailEnd/>
          </a:ln>
        </p:spPr>
        <p:txBody>
          <a:bodyPr wrap="none">
            <a:spAutoFit/>
          </a:bodyPr>
          <a:lstStyle/>
          <a:p>
            <a:r>
              <a:rPr lang="zh-CN" altLang="en-US" dirty="0"/>
              <a:t>下个好办法是什么</a:t>
            </a:r>
            <a:r>
              <a:rPr lang="en-US" dirty="0"/>
              <a:t>?</a:t>
            </a:r>
          </a:p>
        </p:txBody>
      </p:sp>
      <p:sp>
        <p:nvSpPr>
          <p:cNvPr id="1034" name="Text Box 10"/>
          <p:cNvSpPr txBox="1">
            <a:spLocks noChangeArrowheads="1"/>
          </p:cNvSpPr>
          <p:nvPr/>
        </p:nvSpPr>
        <p:spPr bwMode="auto">
          <a:xfrm>
            <a:off x="7620000" y="6553200"/>
            <a:ext cx="1457325" cy="304800"/>
          </a:xfrm>
          <a:prstGeom prst="rect">
            <a:avLst/>
          </a:prstGeom>
          <a:noFill/>
          <a:ln w="9525">
            <a:noFill/>
            <a:miter lim="800000"/>
            <a:headEnd/>
            <a:tailEnd/>
          </a:ln>
        </p:spPr>
        <p:txBody>
          <a:bodyPr wrap="none">
            <a:spAutoFit/>
          </a:bodyPr>
          <a:lstStyle/>
          <a:p>
            <a:r>
              <a:rPr lang="en-US" sz="1400"/>
              <a:t>Source: S. </a:t>
            </a:r>
            <a:r>
              <a:rPr lang="en-US" sz="1400" dirty="0"/>
              <a:t>Seitz</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09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09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09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09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09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0936" grpId="0"/>
      <p:bldP spid="1020937"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dirty="0"/>
              <a:t>图像过滤</a:t>
            </a:r>
            <a:endParaRPr lang="en-US" dirty="0"/>
          </a:p>
        </p:txBody>
      </p:sp>
      <p:sp>
        <p:nvSpPr>
          <p:cNvPr id="33795" name="Rectangle 3"/>
          <p:cNvSpPr>
            <a:spLocks noGrp="1" noChangeArrowheads="1"/>
          </p:cNvSpPr>
          <p:nvPr>
            <p:ph type="body" idx="1"/>
          </p:nvPr>
        </p:nvSpPr>
        <p:spPr>
          <a:xfrm>
            <a:off x="222250" y="1339850"/>
            <a:ext cx="8724900" cy="1381125"/>
          </a:xfrm>
        </p:spPr>
        <p:txBody>
          <a:bodyPr>
            <a:normAutofit/>
          </a:bodyPr>
          <a:lstStyle/>
          <a:p>
            <a:pPr eaLnBrk="1" hangingPunct="1"/>
            <a:r>
              <a:rPr lang="zh-CN" altLang="en-US" dirty="0"/>
              <a:t>根据每个像素的局部邻域函数修改图像中的像素</a:t>
            </a:r>
            <a:endParaRPr lang="en-US" dirty="0"/>
          </a:p>
          <a:p>
            <a:pPr eaLnBrk="1" hangingPunct="1">
              <a:buFontTx/>
              <a:buNone/>
            </a:pPr>
            <a:endParaRPr lang="en-US" dirty="0"/>
          </a:p>
        </p:txBody>
      </p:sp>
      <p:grpSp>
        <p:nvGrpSpPr>
          <p:cNvPr id="3" name="Group 5"/>
          <p:cNvGrpSpPr>
            <a:grpSpLocks/>
          </p:cNvGrpSpPr>
          <p:nvPr/>
        </p:nvGrpSpPr>
        <p:grpSpPr bwMode="auto">
          <a:xfrm>
            <a:off x="1289050" y="3352800"/>
            <a:ext cx="1241425" cy="1143000"/>
            <a:chOff x="2290" y="1920"/>
            <a:chExt cx="782" cy="720"/>
          </a:xfrm>
        </p:grpSpPr>
        <p:sp>
          <p:nvSpPr>
            <p:cNvPr id="33819" name="Rectangle 6"/>
            <p:cNvSpPr>
              <a:spLocks noChangeArrowheads="1"/>
            </p:cNvSpPr>
            <p:nvPr/>
          </p:nvSpPr>
          <p:spPr bwMode="auto">
            <a:xfrm>
              <a:off x="2304" y="1920"/>
              <a:ext cx="768" cy="720"/>
            </a:xfrm>
            <a:prstGeom prst="rect">
              <a:avLst/>
            </a:prstGeom>
            <a:noFill/>
            <a:ln w="9525">
              <a:solidFill>
                <a:schemeClr val="tx1"/>
              </a:solidFill>
              <a:miter lim="800000"/>
              <a:headEnd/>
              <a:tailEnd/>
            </a:ln>
          </p:spPr>
          <p:txBody>
            <a:bodyPr wrap="none" anchor="ctr"/>
            <a:lstStyle/>
            <a:p>
              <a:endParaRPr lang="en-US"/>
            </a:p>
          </p:txBody>
        </p:sp>
        <p:sp>
          <p:nvSpPr>
            <p:cNvPr id="33820" name="Line 7"/>
            <p:cNvSpPr>
              <a:spLocks noChangeShapeType="1"/>
            </p:cNvSpPr>
            <p:nvPr/>
          </p:nvSpPr>
          <p:spPr bwMode="auto">
            <a:xfrm>
              <a:off x="2565" y="1920"/>
              <a:ext cx="0" cy="720"/>
            </a:xfrm>
            <a:prstGeom prst="line">
              <a:avLst/>
            </a:prstGeom>
            <a:noFill/>
            <a:ln w="9525">
              <a:solidFill>
                <a:schemeClr val="tx1"/>
              </a:solidFill>
              <a:round/>
              <a:headEnd/>
              <a:tailEnd/>
            </a:ln>
          </p:spPr>
          <p:txBody>
            <a:bodyPr wrap="none" anchor="ctr"/>
            <a:lstStyle/>
            <a:p>
              <a:endParaRPr lang="en-US"/>
            </a:p>
          </p:txBody>
        </p:sp>
        <p:sp>
          <p:nvSpPr>
            <p:cNvPr id="33821" name="Line 8"/>
            <p:cNvSpPr>
              <a:spLocks noChangeShapeType="1"/>
            </p:cNvSpPr>
            <p:nvPr/>
          </p:nvSpPr>
          <p:spPr bwMode="auto">
            <a:xfrm>
              <a:off x="2825" y="1920"/>
              <a:ext cx="0" cy="720"/>
            </a:xfrm>
            <a:prstGeom prst="line">
              <a:avLst/>
            </a:prstGeom>
            <a:noFill/>
            <a:ln w="9525">
              <a:solidFill>
                <a:schemeClr val="tx1"/>
              </a:solidFill>
              <a:round/>
              <a:headEnd/>
              <a:tailEnd/>
            </a:ln>
          </p:spPr>
          <p:txBody>
            <a:bodyPr wrap="none" anchor="ctr"/>
            <a:lstStyle/>
            <a:p>
              <a:endParaRPr lang="en-US"/>
            </a:p>
          </p:txBody>
        </p:sp>
        <p:sp>
          <p:nvSpPr>
            <p:cNvPr id="33822" name="Line 9"/>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33823" name="Line 10"/>
            <p:cNvSpPr>
              <a:spLocks noChangeShapeType="1"/>
            </p:cNvSpPr>
            <p:nvPr/>
          </p:nvSpPr>
          <p:spPr bwMode="auto">
            <a:xfrm>
              <a:off x="2304" y="2400"/>
              <a:ext cx="768" cy="0"/>
            </a:xfrm>
            <a:prstGeom prst="line">
              <a:avLst/>
            </a:prstGeom>
            <a:noFill/>
            <a:ln w="9525">
              <a:solidFill>
                <a:schemeClr val="tx1"/>
              </a:solidFill>
              <a:round/>
              <a:headEnd/>
              <a:tailEnd/>
            </a:ln>
          </p:spPr>
          <p:txBody>
            <a:bodyPr wrap="none" anchor="ctr"/>
            <a:lstStyle/>
            <a:p>
              <a:endParaRPr lang="en-US"/>
            </a:p>
          </p:txBody>
        </p:sp>
        <p:sp>
          <p:nvSpPr>
            <p:cNvPr id="33824" name="Text Box 11"/>
            <p:cNvSpPr txBox="1">
              <a:spLocks noChangeArrowheads="1"/>
            </p:cNvSpPr>
            <p:nvPr/>
          </p:nvSpPr>
          <p:spPr bwMode="auto">
            <a:xfrm>
              <a:off x="2591" y="216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5</a:t>
              </a:r>
            </a:p>
          </p:txBody>
        </p:sp>
        <p:sp>
          <p:nvSpPr>
            <p:cNvPr id="33825" name="Text Box 12"/>
            <p:cNvSpPr txBox="1">
              <a:spLocks noChangeArrowheads="1"/>
            </p:cNvSpPr>
            <p:nvPr/>
          </p:nvSpPr>
          <p:spPr bwMode="auto">
            <a:xfrm>
              <a:off x="2856" y="2160"/>
              <a:ext cx="190" cy="233"/>
            </a:xfrm>
            <a:prstGeom prst="rect">
              <a:avLst/>
            </a:prstGeom>
            <a:noFill/>
            <a:ln w="9525">
              <a:noFill/>
              <a:miter lim="800000"/>
              <a:headEnd/>
              <a:tailEnd/>
            </a:ln>
          </p:spPr>
          <p:txBody>
            <a:bodyPr wrap="none">
              <a:spAutoFit/>
            </a:bodyPr>
            <a:lstStyle/>
            <a:p>
              <a:pPr algn="ctr" eaLnBrk="0" hangingPunct="0"/>
              <a:r>
                <a:rPr lang="en-US">
                  <a:cs typeface="Arial" charset="0"/>
                </a:rPr>
                <a:t>1</a:t>
              </a:r>
            </a:p>
          </p:txBody>
        </p:sp>
        <p:sp>
          <p:nvSpPr>
            <p:cNvPr id="33826" name="Text Box 13"/>
            <p:cNvSpPr txBox="1">
              <a:spLocks noChangeArrowheads="1"/>
            </p:cNvSpPr>
            <p:nvPr/>
          </p:nvSpPr>
          <p:spPr bwMode="auto">
            <a:xfrm>
              <a:off x="2327" y="216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4</a:t>
              </a:r>
            </a:p>
          </p:txBody>
        </p:sp>
        <p:sp>
          <p:nvSpPr>
            <p:cNvPr id="33827" name="Text Box 14"/>
            <p:cNvSpPr txBox="1">
              <a:spLocks noChangeArrowheads="1"/>
            </p:cNvSpPr>
            <p:nvPr/>
          </p:nvSpPr>
          <p:spPr bwMode="auto">
            <a:xfrm>
              <a:off x="2591" y="240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1</a:t>
              </a:r>
            </a:p>
          </p:txBody>
        </p:sp>
        <p:sp>
          <p:nvSpPr>
            <p:cNvPr id="33828" name="Text Box 15"/>
            <p:cNvSpPr txBox="1">
              <a:spLocks noChangeArrowheads="1"/>
            </p:cNvSpPr>
            <p:nvPr/>
          </p:nvSpPr>
          <p:spPr bwMode="auto">
            <a:xfrm>
              <a:off x="2856" y="240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7</a:t>
              </a:r>
            </a:p>
          </p:txBody>
        </p:sp>
        <p:sp>
          <p:nvSpPr>
            <p:cNvPr id="33829" name="Text Box 16"/>
            <p:cNvSpPr txBox="1">
              <a:spLocks noChangeArrowheads="1"/>
            </p:cNvSpPr>
            <p:nvPr/>
          </p:nvSpPr>
          <p:spPr bwMode="auto">
            <a:xfrm>
              <a:off x="2327" y="2400"/>
              <a:ext cx="190" cy="233"/>
            </a:xfrm>
            <a:prstGeom prst="rect">
              <a:avLst/>
            </a:prstGeom>
            <a:noFill/>
            <a:ln w="9525">
              <a:noFill/>
              <a:miter lim="800000"/>
              <a:headEnd/>
              <a:tailEnd/>
            </a:ln>
          </p:spPr>
          <p:txBody>
            <a:bodyPr wrap="none">
              <a:spAutoFit/>
            </a:bodyPr>
            <a:lstStyle/>
            <a:p>
              <a:pPr algn="ctr" eaLnBrk="0" hangingPunct="0"/>
              <a:r>
                <a:rPr lang="en-US">
                  <a:cs typeface="Arial" charset="0"/>
                </a:rPr>
                <a:t>1</a:t>
              </a:r>
            </a:p>
          </p:txBody>
        </p:sp>
        <p:sp>
          <p:nvSpPr>
            <p:cNvPr id="33830" name="Line 17"/>
            <p:cNvSpPr>
              <a:spLocks noChangeShapeType="1"/>
            </p:cNvSpPr>
            <p:nvPr/>
          </p:nvSpPr>
          <p:spPr bwMode="auto">
            <a:xfrm>
              <a:off x="2304" y="1920"/>
              <a:ext cx="768" cy="0"/>
            </a:xfrm>
            <a:prstGeom prst="line">
              <a:avLst/>
            </a:prstGeom>
            <a:noFill/>
            <a:ln w="9525">
              <a:solidFill>
                <a:schemeClr val="tx1"/>
              </a:solidFill>
              <a:round/>
              <a:headEnd/>
              <a:tailEnd/>
            </a:ln>
          </p:spPr>
          <p:txBody>
            <a:bodyPr wrap="none" anchor="ctr"/>
            <a:lstStyle/>
            <a:p>
              <a:endParaRPr lang="en-US"/>
            </a:p>
          </p:txBody>
        </p:sp>
        <p:sp>
          <p:nvSpPr>
            <p:cNvPr id="33831" name="Line 18"/>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33832" name="Text Box 19"/>
            <p:cNvSpPr txBox="1">
              <a:spLocks noChangeArrowheads="1"/>
            </p:cNvSpPr>
            <p:nvPr/>
          </p:nvSpPr>
          <p:spPr bwMode="auto">
            <a:xfrm>
              <a:off x="2591" y="192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5</a:t>
              </a:r>
            </a:p>
          </p:txBody>
        </p:sp>
        <p:sp>
          <p:nvSpPr>
            <p:cNvPr id="33833" name="Text Box 20"/>
            <p:cNvSpPr txBox="1">
              <a:spLocks noChangeArrowheads="1"/>
            </p:cNvSpPr>
            <p:nvPr/>
          </p:nvSpPr>
          <p:spPr bwMode="auto">
            <a:xfrm>
              <a:off x="2856" y="1920"/>
              <a:ext cx="190" cy="233"/>
            </a:xfrm>
            <a:prstGeom prst="rect">
              <a:avLst/>
            </a:prstGeom>
            <a:noFill/>
            <a:ln w="9525">
              <a:noFill/>
              <a:miter lim="800000"/>
              <a:headEnd/>
              <a:tailEnd/>
            </a:ln>
          </p:spPr>
          <p:txBody>
            <a:bodyPr wrap="none">
              <a:spAutoFit/>
            </a:bodyPr>
            <a:lstStyle/>
            <a:p>
              <a:pPr algn="ctr" eaLnBrk="0" hangingPunct="0"/>
              <a:r>
                <a:rPr lang="en-US">
                  <a:cs typeface="Arial" charset="0"/>
                </a:rPr>
                <a:t>3</a:t>
              </a:r>
            </a:p>
          </p:txBody>
        </p:sp>
        <p:sp>
          <p:nvSpPr>
            <p:cNvPr id="33834" name="Text Box 21"/>
            <p:cNvSpPr txBox="1">
              <a:spLocks noChangeArrowheads="1"/>
            </p:cNvSpPr>
            <p:nvPr/>
          </p:nvSpPr>
          <p:spPr bwMode="auto">
            <a:xfrm>
              <a:off x="2290" y="1920"/>
              <a:ext cx="264" cy="233"/>
            </a:xfrm>
            <a:prstGeom prst="rect">
              <a:avLst/>
            </a:prstGeom>
            <a:noFill/>
            <a:ln w="9525">
              <a:noFill/>
              <a:miter lim="800000"/>
              <a:headEnd/>
              <a:tailEnd/>
            </a:ln>
          </p:spPr>
          <p:txBody>
            <a:bodyPr wrap="none">
              <a:spAutoFit/>
            </a:bodyPr>
            <a:lstStyle/>
            <a:p>
              <a:pPr algn="ctr" eaLnBrk="0" hangingPunct="0"/>
              <a:r>
                <a:rPr lang="en-US" dirty="0">
                  <a:cs typeface="Arial" charset="0"/>
                </a:rPr>
                <a:t>10</a:t>
              </a:r>
            </a:p>
          </p:txBody>
        </p:sp>
      </p:grpSp>
      <p:sp>
        <p:nvSpPr>
          <p:cNvPr id="33798" name="Text Box 22"/>
          <p:cNvSpPr txBox="1">
            <a:spLocks noChangeArrowheads="1"/>
          </p:cNvSpPr>
          <p:nvPr/>
        </p:nvSpPr>
        <p:spPr bwMode="auto">
          <a:xfrm>
            <a:off x="1143000" y="4572000"/>
            <a:ext cx="1754839" cy="646331"/>
          </a:xfrm>
          <a:prstGeom prst="rect">
            <a:avLst/>
          </a:prstGeom>
          <a:noFill/>
          <a:ln w="9525">
            <a:noFill/>
            <a:miter lim="800000"/>
            <a:headEnd/>
            <a:tailEnd/>
          </a:ln>
        </p:spPr>
        <p:txBody>
          <a:bodyPr wrap="none">
            <a:spAutoFit/>
          </a:bodyPr>
          <a:lstStyle/>
          <a:p>
            <a:pPr eaLnBrk="0" hangingPunct="0"/>
            <a:r>
              <a:rPr lang="en-US" dirty="0">
                <a:cs typeface="Arial" charset="0"/>
              </a:rPr>
              <a:t>Local image data</a:t>
            </a:r>
          </a:p>
          <a:p>
            <a:pPr eaLnBrk="0" hangingPunct="0"/>
            <a:r>
              <a:rPr lang="zh-CN" altLang="en-US" dirty="0">
                <a:cs typeface="Arial" charset="0"/>
              </a:rPr>
              <a:t>局部图像数据</a:t>
            </a:r>
            <a:endParaRPr lang="en-US" dirty="0">
              <a:cs typeface="Arial" charset="0"/>
            </a:endParaRPr>
          </a:p>
        </p:txBody>
      </p:sp>
      <p:grpSp>
        <p:nvGrpSpPr>
          <p:cNvPr id="4" name="Group 23"/>
          <p:cNvGrpSpPr>
            <a:grpSpLocks/>
          </p:cNvGrpSpPr>
          <p:nvPr/>
        </p:nvGrpSpPr>
        <p:grpSpPr bwMode="auto">
          <a:xfrm>
            <a:off x="5807075" y="3352800"/>
            <a:ext cx="1295400" cy="1219200"/>
            <a:chOff x="2256" y="1920"/>
            <a:chExt cx="816" cy="768"/>
          </a:xfrm>
        </p:grpSpPr>
        <p:sp>
          <p:nvSpPr>
            <p:cNvPr id="33803" name="Rectangle 24"/>
            <p:cNvSpPr>
              <a:spLocks noChangeArrowheads="1"/>
            </p:cNvSpPr>
            <p:nvPr/>
          </p:nvSpPr>
          <p:spPr bwMode="auto">
            <a:xfrm>
              <a:off x="2304" y="1920"/>
              <a:ext cx="768" cy="720"/>
            </a:xfrm>
            <a:prstGeom prst="rect">
              <a:avLst/>
            </a:prstGeom>
            <a:noFill/>
            <a:ln w="9525">
              <a:solidFill>
                <a:schemeClr val="tx1"/>
              </a:solidFill>
              <a:miter lim="800000"/>
              <a:headEnd/>
              <a:tailEnd/>
            </a:ln>
          </p:spPr>
          <p:txBody>
            <a:bodyPr wrap="none" anchor="ctr"/>
            <a:lstStyle/>
            <a:p>
              <a:endParaRPr lang="en-US"/>
            </a:p>
          </p:txBody>
        </p:sp>
        <p:sp>
          <p:nvSpPr>
            <p:cNvPr id="33804" name="Line 25"/>
            <p:cNvSpPr>
              <a:spLocks noChangeShapeType="1"/>
            </p:cNvSpPr>
            <p:nvPr/>
          </p:nvSpPr>
          <p:spPr bwMode="auto">
            <a:xfrm>
              <a:off x="2544" y="1920"/>
              <a:ext cx="0" cy="720"/>
            </a:xfrm>
            <a:prstGeom prst="line">
              <a:avLst/>
            </a:prstGeom>
            <a:noFill/>
            <a:ln w="9525">
              <a:solidFill>
                <a:schemeClr val="tx1"/>
              </a:solidFill>
              <a:round/>
              <a:headEnd/>
              <a:tailEnd/>
            </a:ln>
          </p:spPr>
          <p:txBody>
            <a:bodyPr wrap="none" anchor="ctr"/>
            <a:lstStyle/>
            <a:p>
              <a:endParaRPr lang="en-US"/>
            </a:p>
          </p:txBody>
        </p:sp>
        <p:sp>
          <p:nvSpPr>
            <p:cNvPr id="33805" name="Line 26"/>
            <p:cNvSpPr>
              <a:spLocks noChangeShapeType="1"/>
            </p:cNvSpPr>
            <p:nvPr/>
          </p:nvSpPr>
          <p:spPr bwMode="auto">
            <a:xfrm>
              <a:off x="2832" y="1920"/>
              <a:ext cx="0" cy="720"/>
            </a:xfrm>
            <a:prstGeom prst="line">
              <a:avLst/>
            </a:prstGeom>
            <a:noFill/>
            <a:ln w="9525">
              <a:solidFill>
                <a:schemeClr val="tx1"/>
              </a:solidFill>
              <a:round/>
              <a:headEnd/>
              <a:tailEnd/>
            </a:ln>
          </p:spPr>
          <p:txBody>
            <a:bodyPr wrap="none" anchor="ctr"/>
            <a:lstStyle/>
            <a:p>
              <a:endParaRPr lang="en-US"/>
            </a:p>
          </p:txBody>
        </p:sp>
        <p:sp>
          <p:nvSpPr>
            <p:cNvPr id="33806" name="Line 27"/>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33807" name="Line 28"/>
            <p:cNvSpPr>
              <a:spLocks noChangeShapeType="1"/>
            </p:cNvSpPr>
            <p:nvPr/>
          </p:nvSpPr>
          <p:spPr bwMode="auto">
            <a:xfrm>
              <a:off x="2304" y="2400"/>
              <a:ext cx="768" cy="0"/>
            </a:xfrm>
            <a:prstGeom prst="line">
              <a:avLst/>
            </a:prstGeom>
            <a:noFill/>
            <a:ln w="9525">
              <a:solidFill>
                <a:schemeClr val="tx1"/>
              </a:solidFill>
              <a:round/>
              <a:headEnd/>
              <a:tailEnd/>
            </a:ln>
          </p:spPr>
          <p:txBody>
            <a:bodyPr wrap="none" anchor="ctr"/>
            <a:lstStyle/>
            <a:p>
              <a:endParaRPr lang="en-US"/>
            </a:p>
          </p:txBody>
        </p:sp>
        <p:sp>
          <p:nvSpPr>
            <p:cNvPr id="33808" name="Text Box 29"/>
            <p:cNvSpPr txBox="1">
              <a:spLocks noChangeArrowheads="1"/>
            </p:cNvSpPr>
            <p:nvPr/>
          </p:nvSpPr>
          <p:spPr bwMode="auto">
            <a:xfrm>
              <a:off x="2582" y="2160"/>
              <a:ext cx="212" cy="288"/>
            </a:xfrm>
            <a:prstGeom prst="rect">
              <a:avLst/>
            </a:prstGeom>
            <a:noFill/>
            <a:ln w="9525">
              <a:noFill/>
              <a:miter lim="800000"/>
              <a:headEnd/>
              <a:tailEnd/>
            </a:ln>
          </p:spPr>
          <p:txBody>
            <a:bodyPr wrap="none">
              <a:spAutoFit/>
            </a:bodyPr>
            <a:lstStyle/>
            <a:p>
              <a:pPr eaLnBrk="0" hangingPunct="0"/>
              <a:r>
                <a:rPr lang="en-US">
                  <a:cs typeface="Arial" charset="0"/>
                </a:rPr>
                <a:t>7</a:t>
              </a:r>
            </a:p>
          </p:txBody>
        </p:sp>
        <p:sp>
          <p:nvSpPr>
            <p:cNvPr id="33809" name="Text Box 30"/>
            <p:cNvSpPr txBox="1">
              <a:spLocks noChangeArrowheads="1"/>
            </p:cNvSpPr>
            <p:nvPr/>
          </p:nvSpPr>
          <p:spPr bwMode="auto">
            <a:xfrm>
              <a:off x="2832" y="2160"/>
              <a:ext cx="116" cy="288"/>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0" name="Text Box 31"/>
            <p:cNvSpPr txBox="1">
              <a:spLocks noChangeArrowheads="1"/>
            </p:cNvSpPr>
            <p:nvPr/>
          </p:nvSpPr>
          <p:spPr bwMode="auto">
            <a:xfrm>
              <a:off x="2352" y="2160"/>
              <a:ext cx="116" cy="288"/>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1" name="Text Box 32"/>
            <p:cNvSpPr txBox="1">
              <a:spLocks noChangeArrowheads="1"/>
            </p:cNvSpPr>
            <p:nvPr/>
          </p:nvSpPr>
          <p:spPr bwMode="auto">
            <a:xfrm>
              <a:off x="2562" y="2400"/>
              <a:ext cx="116" cy="288"/>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2" name="Text Box 33"/>
            <p:cNvSpPr txBox="1">
              <a:spLocks noChangeArrowheads="1"/>
            </p:cNvSpPr>
            <p:nvPr/>
          </p:nvSpPr>
          <p:spPr bwMode="auto">
            <a:xfrm>
              <a:off x="2812" y="2400"/>
              <a:ext cx="116" cy="288"/>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3" name="Text Box 34"/>
            <p:cNvSpPr txBox="1">
              <a:spLocks noChangeArrowheads="1"/>
            </p:cNvSpPr>
            <p:nvPr/>
          </p:nvSpPr>
          <p:spPr bwMode="auto">
            <a:xfrm>
              <a:off x="2332" y="2400"/>
              <a:ext cx="116" cy="288"/>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4" name="Line 35"/>
            <p:cNvSpPr>
              <a:spLocks noChangeShapeType="1"/>
            </p:cNvSpPr>
            <p:nvPr/>
          </p:nvSpPr>
          <p:spPr bwMode="auto">
            <a:xfrm>
              <a:off x="2304" y="1920"/>
              <a:ext cx="768" cy="0"/>
            </a:xfrm>
            <a:prstGeom prst="line">
              <a:avLst/>
            </a:prstGeom>
            <a:noFill/>
            <a:ln w="9525">
              <a:solidFill>
                <a:schemeClr val="tx1"/>
              </a:solidFill>
              <a:round/>
              <a:headEnd/>
              <a:tailEnd/>
            </a:ln>
          </p:spPr>
          <p:txBody>
            <a:bodyPr wrap="none" anchor="ctr"/>
            <a:lstStyle/>
            <a:p>
              <a:endParaRPr lang="en-US"/>
            </a:p>
          </p:txBody>
        </p:sp>
        <p:sp>
          <p:nvSpPr>
            <p:cNvPr id="33815" name="Line 36"/>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33816" name="Text Box 37"/>
            <p:cNvSpPr txBox="1">
              <a:spLocks noChangeArrowheads="1"/>
            </p:cNvSpPr>
            <p:nvPr/>
          </p:nvSpPr>
          <p:spPr bwMode="auto">
            <a:xfrm>
              <a:off x="2582" y="1920"/>
              <a:ext cx="116" cy="288"/>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7" name="Text Box 38"/>
            <p:cNvSpPr txBox="1">
              <a:spLocks noChangeArrowheads="1"/>
            </p:cNvSpPr>
            <p:nvPr/>
          </p:nvSpPr>
          <p:spPr bwMode="auto">
            <a:xfrm>
              <a:off x="2832" y="1920"/>
              <a:ext cx="116" cy="288"/>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8" name="Text Box 39"/>
            <p:cNvSpPr txBox="1">
              <a:spLocks noChangeArrowheads="1"/>
            </p:cNvSpPr>
            <p:nvPr/>
          </p:nvSpPr>
          <p:spPr bwMode="auto">
            <a:xfrm>
              <a:off x="2256" y="1920"/>
              <a:ext cx="116" cy="288"/>
            </a:xfrm>
            <a:prstGeom prst="rect">
              <a:avLst/>
            </a:prstGeom>
            <a:noFill/>
            <a:ln w="9525">
              <a:noFill/>
              <a:miter lim="800000"/>
              <a:headEnd/>
              <a:tailEnd/>
            </a:ln>
          </p:spPr>
          <p:txBody>
            <a:bodyPr wrap="none">
              <a:spAutoFit/>
            </a:bodyPr>
            <a:lstStyle/>
            <a:p>
              <a:pPr eaLnBrk="0" hangingPunct="0"/>
              <a:endParaRPr lang="en-US">
                <a:cs typeface="Arial" charset="0"/>
              </a:endParaRPr>
            </a:p>
          </p:txBody>
        </p:sp>
      </p:grpSp>
      <p:sp>
        <p:nvSpPr>
          <p:cNvPr id="33800" name="Text Box 40"/>
          <p:cNvSpPr txBox="1">
            <a:spLocks noChangeArrowheads="1"/>
          </p:cNvSpPr>
          <p:nvPr/>
        </p:nvSpPr>
        <p:spPr bwMode="auto">
          <a:xfrm>
            <a:off x="5502275" y="4572000"/>
            <a:ext cx="2130263" cy="646331"/>
          </a:xfrm>
          <a:prstGeom prst="rect">
            <a:avLst/>
          </a:prstGeom>
          <a:noFill/>
          <a:ln w="9525">
            <a:noFill/>
            <a:miter lim="800000"/>
            <a:headEnd/>
            <a:tailEnd/>
          </a:ln>
        </p:spPr>
        <p:txBody>
          <a:bodyPr wrap="none">
            <a:spAutoFit/>
          </a:bodyPr>
          <a:lstStyle/>
          <a:p>
            <a:pPr eaLnBrk="0" hangingPunct="0"/>
            <a:r>
              <a:rPr lang="en-US" dirty="0">
                <a:cs typeface="Arial" charset="0"/>
              </a:rPr>
              <a:t>Modified image data</a:t>
            </a:r>
          </a:p>
          <a:p>
            <a:pPr eaLnBrk="0" hangingPunct="0"/>
            <a:r>
              <a:rPr lang="zh-CN" altLang="en-US" dirty="0">
                <a:cs typeface="Arial" charset="0"/>
              </a:rPr>
              <a:t>修改后图像数据</a:t>
            </a:r>
            <a:endParaRPr lang="en-US" dirty="0">
              <a:cs typeface="Arial" charset="0"/>
            </a:endParaRPr>
          </a:p>
        </p:txBody>
      </p:sp>
      <p:sp>
        <p:nvSpPr>
          <p:cNvPr id="33801" name="Line 41"/>
          <p:cNvSpPr>
            <a:spLocks noChangeShapeType="1"/>
          </p:cNvSpPr>
          <p:nvPr/>
        </p:nvSpPr>
        <p:spPr bwMode="auto">
          <a:xfrm>
            <a:off x="3444875" y="3962400"/>
            <a:ext cx="1295400" cy="0"/>
          </a:xfrm>
          <a:prstGeom prst="line">
            <a:avLst/>
          </a:prstGeom>
          <a:noFill/>
          <a:ln w="152400">
            <a:solidFill>
              <a:schemeClr val="accent2"/>
            </a:solidFill>
            <a:round/>
            <a:headEnd/>
            <a:tailEnd type="triangle" w="med" len="med"/>
          </a:ln>
          <a:effectLst>
            <a:outerShdw blurRad="50800" dist="38100" dir="2700000" algn="tl" rotWithShape="0">
              <a:prstClr val="black">
                <a:alpha val="40000"/>
              </a:prstClr>
            </a:outerShdw>
          </a:effectLst>
        </p:spPr>
        <p:txBody>
          <a:bodyPr/>
          <a:lstStyle/>
          <a:p>
            <a:endParaRPr lang="en-US"/>
          </a:p>
        </p:txBody>
      </p:sp>
      <p:sp>
        <p:nvSpPr>
          <p:cNvPr id="33802" name="Text Box 42"/>
          <p:cNvSpPr txBox="1">
            <a:spLocks noChangeArrowheads="1"/>
          </p:cNvSpPr>
          <p:nvPr/>
        </p:nvSpPr>
        <p:spPr bwMode="auto">
          <a:xfrm>
            <a:off x="3289300" y="3352800"/>
            <a:ext cx="1550424" cy="369332"/>
          </a:xfrm>
          <a:prstGeom prst="rect">
            <a:avLst/>
          </a:prstGeom>
          <a:noFill/>
          <a:ln w="9525">
            <a:noFill/>
            <a:miter lim="800000"/>
            <a:headEnd/>
            <a:tailEnd/>
          </a:ln>
        </p:spPr>
        <p:txBody>
          <a:bodyPr wrap="none">
            <a:spAutoFit/>
          </a:bodyPr>
          <a:lstStyle/>
          <a:p>
            <a:r>
              <a:rPr lang="en-US" dirty="0">
                <a:solidFill>
                  <a:srgbClr val="FF0000"/>
                </a:solidFill>
                <a:cs typeface="Arial" charset="0"/>
              </a:rPr>
              <a:t>Some function</a:t>
            </a:r>
          </a:p>
        </p:txBody>
      </p:sp>
      <p:sp>
        <p:nvSpPr>
          <p:cNvPr id="43" name="Text Box 10"/>
          <p:cNvSpPr txBox="1">
            <a:spLocks noChangeArrowheads="1"/>
          </p:cNvSpPr>
          <p:nvPr/>
        </p:nvSpPr>
        <p:spPr bwMode="auto">
          <a:xfrm>
            <a:off x="7620000" y="6553200"/>
            <a:ext cx="1373068" cy="307777"/>
          </a:xfrm>
          <a:prstGeom prst="rect">
            <a:avLst/>
          </a:prstGeom>
          <a:noFill/>
          <a:ln w="9525">
            <a:noFill/>
            <a:miter lim="800000"/>
            <a:headEnd/>
            <a:tailEnd/>
          </a:ln>
        </p:spPr>
        <p:txBody>
          <a:bodyPr wrap="none">
            <a:spAutoFit/>
          </a:bodyPr>
          <a:lstStyle/>
          <a:p>
            <a:r>
              <a:rPr lang="en-US" sz="1400" dirty="0"/>
              <a:t>Source: L. Zhang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79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80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8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8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8" grpId="0"/>
      <p:bldP spid="33800" grpId="0"/>
      <p:bldP spid="33801" grpId="0" animBg="1"/>
      <p:bldP spid="33802"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cxnSp>
        <p:nvCxnSpPr>
          <p:cNvPr id="80" name="Straight Arrow Connector 79"/>
          <p:cNvCxnSpPr>
            <a:stCxn id="61" idx="3"/>
            <a:endCxn id="34845" idx="1"/>
          </p:cNvCxnSpPr>
          <p:nvPr/>
        </p:nvCxnSpPr>
        <p:spPr>
          <a:xfrm>
            <a:off x="2405742" y="4991100"/>
            <a:ext cx="1175658" cy="1588"/>
          </a:xfrm>
          <a:prstGeom prst="straightConnector1">
            <a:avLst/>
          </a:prstGeom>
          <a:ln w="28575">
            <a:solidFill>
              <a:schemeClr val="tx1"/>
            </a:solidFill>
            <a:tailEnd type="non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4818" name="Rectangle 2"/>
          <p:cNvSpPr>
            <a:spLocks noGrp="1" noChangeArrowheads="1"/>
          </p:cNvSpPr>
          <p:nvPr>
            <p:ph type="title"/>
          </p:nvPr>
        </p:nvSpPr>
        <p:spPr/>
        <p:txBody>
          <a:bodyPr/>
          <a:lstStyle/>
          <a:p>
            <a:pPr eaLnBrk="1" hangingPunct="1"/>
            <a:r>
              <a:rPr lang="zh-CN" altLang="en-US" dirty="0"/>
              <a:t>线性滤波</a:t>
            </a:r>
            <a:endParaRPr lang="en-US" dirty="0"/>
          </a:p>
        </p:txBody>
      </p:sp>
      <p:sp>
        <p:nvSpPr>
          <p:cNvPr id="814083" name="Rectangle 3"/>
          <p:cNvSpPr>
            <a:spLocks noGrp="1" noChangeArrowheads="1"/>
          </p:cNvSpPr>
          <p:nvPr>
            <p:ph type="body" idx="1"/>
          </p:nvPr>
        </p:nvSpPr>
        <p:spPr>
          <a:xfrm>
            <a:off x="465138" y="1493838"/>
            <a:ext cx="8374062" cy="5059362"/>
          </a:xfrm>
        </p:spPr>
        <p:txBody>
          <a:bodyPr>
            <a:normAutofit/>
          </a:bodyPr>
          <a:lstStyle/>
          <a:p>
            <a:pPr eaLnBrk="1" hangingPunct="1"/>
            <a:r>
              <a:rPr lang="zh-CN" altLang="en-US" dirty="0"/>
              <a:t>一种简单滤波形式</a:t>
            </a:r>
            <a:r>
              <a:rPr lang="en-US" dirty="0"/>
              <a:t>:  </a:t>
            </a:r>
            <a:r>
              <a:rPr lang="zh-CN" altLang="en-US" dirty="0"/>
              <a:t>线性滤波  </a:t>
            </a:r>
            <a:endParaRPr lang="en-US" altLang="zh-CN" dirty="0"/>
          </a:p>
          <a:p>
            <a:pPr marL="0" indent="0" eaLnBrk="1" hangingPunct="1">
              <a:buNone/>
            </a:pPr>
            <a:r>
              <a:rPr lang="en-US" dirty="0">
                <a:solidFill>
                  <a:srgbClr val="FF0000"/>
                </a:solidFill>
              </a:rPr>
              <a:t>                              (</a:t>
            </a:r>
            <a:r>
              <a:rPr lang="zh-CN" altLang="en-US" b="1" dirty="0">
                <a:solidFill>
                  <a:srgbClr val="FF0000"/>
                </a:solidFill>
              </a:rPr>
              <a:t>互相关</a:t>
            </a:r>
            <a:r>
              <a:rPr lang="en-US" b="1" dirty="0">
                <a:solidFill>
                  <a:srgbClr val="FF0000"/>
                </a:solidFill>
              </a:rPr>
              <a:t>, </a:t>
            </a:r>
            <a:r>
              <a:rPr lang="zh-CN" altLang="en-US" b="1" dirty="0">
                <a:solidFill>
                  <a:srgbClr val="FF0000"/>
                </a:solidFill>
              </a:rPr>
              <a:t>卷积</a:t>
            </a:r>
            <a:r>
              <a:rPr lang="en-US" dirty="0">
                <a:solidFill>
                  <a:srgbClr val="FF0000"/>
                </a:solidFill>
              </a:rPr>
              <a:t>)</a:t>
            </a:r>
          </a:p>
          <a:p>
            <a:pPr lvl="1" eaLnBrk="1" hangingPunct="1"/>
            <a:r>
              <a:rPr lang="zh-CN" altLang="en-US" sz="2400" dirty="0"/>
              <a:t>用其周围像素的线性组合（一个加权和）替代每个像素</a:t>
            </a:r>
            <a:endParaRPr lang="en-US" sz="2400" dirty="0"/>
          </a:p>
          <a:p>
            <a:pPr eaLnBrk="1" hangingPunct="1"/>
            <a:r>
              <a:rPr lang="zh-CN" altLang="en-US" dirty="0"/>
              <a:t>线性组合的方法称作</a:t>
            </a:r>
            <a:r>
              <a:rPr lang="en-US" dirty="0"/>
              <a:t>  “kernel” (</a:t>
            </a:r>
            <a:r>
              <a:rPr lang="zh-CN" altLang="en-US" dirty="0"/>
              <a:t>或</a:t>
            </a:r>
            <a:r>
              <a:rPr lang="en-US" dirty="0"/>
              <a:t> “mask”, “filter”)</a:t>
            </a:r>
          </a:p>
          <a:p>
            <a:pPr eaLnBrk="1" hangingPunct="1"/>
            <a:endParaRPr lang="en-US" sz="2800" dirty="0"/>
          </a:p>
          <a:p>
            <a:pPr eaLnBrk="1" hangingPunct="1"/>
            <a:endParaRPr lang="en-US" sz="2800" dirty="0"/>
          </a:p>
          <a:p>
            <a:pPr eaLnBrk="1" hangingPunct="1"/>
            <a:endParaRPr lang="en-US" sz="2800" dirty="0"/>
          </a:p>
          <a:p>
            <a:pPr eaLnBrk="1" hangingPunct="1"/>
            <a:endParaRPr lang="en-US" sz="2800" dirty="0"/>
          </a:p>
        </p:txBody>
      </p:sp>
      <p:grpSp>
        <p:nvGrpSpPr>
          <p:cNvPr id="4" name="Group 22"/>
          <p:cNvGrpSpPr>
            <a:grpSpLocks/>
          </p:cNvGrpSpPr>
          <p:nvPr/>
        </p:nvGrpSpPr>
        <p:grpSpPr bwMode="auto">
          <a:xfrm>
            <a:off x="3581403" y="4419600"/>
            <a:ext cx="1271588" cy="1219200"/>
            <a:chOff x="4896" y="1392"/>
            <a:chExt cx="801" cy="768"/>
          </a:xfrm>
        </p:grpSpPr>
        <p:sp>
          <p:nvSpPr>
            <p:cNvPr id="34843" name="Text Box 23"/>
            <p:cNvSpPr txBox="1">
              <a:spLocks noChangeArrowheads="1"/>
            </p:cNvSpPr>
            <p:nvPr/>
          </p:nvSpPr>
          <p:spPr bwMode="auto">
            <a:xfrm>
              <a:off x="5397" y="1872"/>
              <a:ext cx="300" cy="233"/>
            </a:xfrm>
            <a:prstGeom prst="rect">
              <a:avLst/>
            </a:prstGeom>
            <a:noFill/>
            <a:ln w="9525">
              <a:noFill/>
              <a:miter lim="800000"/>
              <a:headEnd/>
              <a:tailEnd/>
            </a:ln>
          </p:spPr>
          <p:txBody>
            <a:bodyPr wrap="none">
              <a:spAutoFit/>
            </a:bodyPr>
            <a:lstStyle/>
            <a:p>
              <a:pPr algn="ctr" eaLnBrk="0" hangingPunct="0"/>
              <a:r>
                <a:rPr lang="en-US" dirty="0">
                  <a:cs typeface="Arial" charset="0"/>
                </a:rPr>
                <a:t>0.5</a:t>
              </a:r>
            </a:p>
          </p:txBody>
        </p:sp>
        <p:grpSp>
          <p:nvGrpSpPr>
            <p:cNvPr id="5" name="Group 24"/>
            <p:cNvGrpSpPr>
              <a:grpSpLocks/>
            </p:cNvGrpSpPr>
            <p:nvPr/>
          </p:nvGrpSpPr>
          <p:grpSpPr bwMode="auto">
            <a:xfrm>
              <a:off x="4896" y="1392"/>
              <a:ext cx="768" cy="768"/>
              <a:chOff x="4896" y="1392"/>
              <a:chExt cx="768" cy="768"/>
            </a:xfrm>
          </p:grpSpPr>
          <p:sp>
            <p:nvSpPr>
              <p:cNvPr id="34845" name="Rectangle 25"/>
              <p:cNvSpPr>
                <a:spLocks noChangeArrowheads="1"/>
              </p:cNvSpPr>
              <p:nvPr/>
            </p:nvSpPr>
            <p:spPr bwMode="auto">
              <a:xfrm>
                <a:off x="4896" y="1392"/>
                <a:ext cx="768" cy="720"/>
              </a:xfrm>
              <a:prstGeom prst="rect">
                <a:avLst/>
              </a:prstGeom>
              <a:noFill/>
              <a:ln w="9525">
                <a:solidFill>
                  <a:schemeClr val="tx1"/>
                </a:solidFill>
                <a:miter lim="800000"/>
                <a:headEnd/>
                <a:tailEnd/>
              </a:ln>
            </p:spPr>
            <p:txBody>
              <a:bodyPr wrap="none" anchor="ctr"/>
              <a:lstStyle/>
              <a:p>
                <a:endParaRPr lang="en-US"/>
              </a:p>
            </p:txBody>
          </p:sp>
          <p:sp>
            <p:nvSpPr>
              <p:cNvPr id="34846" name="Line 26"/>
              <p:cNvSpPr>
                <a:spLocks noChangeShapeType="1"/>
              </p:cNvSpPr>
              <p:nvPr/>
            </p:nvSpPr>
            <p:spPr bwMode="auto">
              <a:xfrm>
                <a:off x="5136" y="1392"/>
                <a:ext cx="0" cy="720"/>
              </a:xfrm>
              <a:prstGeom prst="line">
                <a:avLst/>
              </a:prstGeom>
              <a:noFill/>
              <a:ln w="9525">
                <a:solidFill>
                  <a:schemeClr val="tx1"/>
                </a:solidFill>
                <a:round/>
                <a:headEnd/>
                <a:tailEnd/>
              </a:ln>
            </p:spPr>
            <p:txBody>
              <a:bodyPr wrap="none" anchor="ctr"/>
              <a:lstStyle/>
              <a:p>
                <a:endParaRPr lang="en-US"/>
              </a:p>
            </p:txBody>
          </p:sp>
          <p:sp>
            <p:nvSpPr>
              <p:cNvPr id="34847" name="Line 27"/>
              <p:cNvSpPr>
                <a:spLocks noChangeShapeType="1"/>
              </p:cNvSpPr>
              <p:nvPr/>
            </p:nvSpPr>
            <p:spPr bwMode="auto">
              <a:xfrm>
                <a:off x="5424" y="1392"/>
                <a:ext cx="0" cy="720"/>
              </a:xfrm>
              <a:prstGeom prst="line">
                <a:avLst/>
              </a:prstGeom>
              <a:noFill/>
              <a:ln w="9525">
                <a:solidFill>
                  <a:schemeClr val="tx1"/>
                </a:solidFill>
                <a:round/>
                <a:headEnd/>
                <a:tailEnd/>
              </a:ln>
            </p:spPr>
            <p:txBody>
              <a:bodyPr wrap="none" anchor="ctr"/>
              <a:lstStyle/>
              <a:p>
                <a:endParaRPr lang="en-US"/>
              </a:p>
            </p:txBody>
          </p:sp>
          <p:sp>
            <p:nvSpPr>
              <p:cNvPr id="34848" name="Line 28"/>
              <p:cNvSpPr>
                <a:spLocks noChangeShapeType="1"/>
              </p:cNvSpPr>
              <p:nvPr/>
            </p:nvSpPr>
            <p:spPr bwMode="auto">
              <a:xfrm>
                <a:off x="4896" y="1632"/>
                <a:ext cx="768" cy="0"/>
              </a:xfrm>
              <a:prstGeom prst="line">
                <a:avLst/>
              </a:prstGeom>
              <a:noFill/>
              <a:ln w="9525">
                <a:solidFill>
                  <a:schemeClr val="tx1"/>
                </a:solidFill>
                <a:round/>
                <a:headEnd/>
                <a:tailEnd/>
              </a:ln>
            </p:spPr>
            <p:txBody>
              <a:bodyPr wrap="none" anchor="ctr"/>
              <a:lstStyle/>
              <a:p>
                <a:endParaRPr lang="en-US"/>
              </a:p>
            </p:txBody>
          </p:sp>
          <p:sp>
            <p:nvSpPr>
              <p:cNvPr id="34849" name="Line 29"/>
              <p:cNvSpPr>
                <a:spLocks noChangeShapeType="1"/>
              </p:cNvSpPr>
              <p:nvPr/>
            </p:nvSpPr>
            <p:spPr bwMode="auto">
              <a:xfrm>
                <a:off x="4896" y="1872"/>
                <a:ext cx="768" cy="0"/>
              </a:xfrm>
              <a:prstGeom prst="line">
                <a:avLst/>
              </a:prstGeom>
              <a:noFill/>
              <a:ln w="9525">
                <a:solidFill>
                  <a:schemeClr val="tx1"/>
                </a:solidFill>
                <a:round/>
                <a:headEnd/>
                <a:tailEnd/>
              </a:ln>
            </p:spPr>
            <p:txBody>
              <a:bodyPr wrap="none" anchor="ctr"/>
              <a:lstStyle/>
              <a:p>
                <a:endParaRPr lang="en-US"/>
              </a:p>
            </p:txBody>
          </p:sp>
          <p:sp>
            <p:nvSpPr>
              <p:cNvPr id="34850" name="Text Box 30"/>
              <p:cNvSpPr txBox="1">
                <a:spLocks noChangeArrowheads="1"/>
              </p:cNvSpPr>
              <p:nvPr/>
            </p:nvSpPr>
            <p:spPr bwMode="auto">
              <a:xfrm>
                <a:off x="5115" y="1632"/>
                <a:ext cx="329" cy="233"/>
              </a:xfrm>
              <a:prstGeom prst="rect">
                <a:avLst/>
              </a:prstGeom>
              <a:noFill/>
              <a:ln w="9525">
                <a:noFill/>
                <a:miter lim="800000"/>
                <a:headEnd/>
                <a:tailEnd/>
              </a:ln>
            </p:spPr>
            <p:txBody>
              <a:bodyPr wrap="square">
                <a:spAutoFit/>
              </a:bodyPr>
              <a:lstStyle/>
              <a:p>
                <a:pPr algn="ctr" eaLnBrk="0" hangingPunct="0"/>
                <a:r>
                  <a:rPr lang="en-US" dirty="0">
                    <a:cs typeface="Arial" charset="0"/>
                  </a:rPr>
                  <a:t>0.5</a:t>
                </a:r>
              </a:p>
            </p:txBody>
          </p:sp>
          <p:sp>
            <p:nvSpPr>
              <p:cNvPr id="34851" name="Text Box 31"/>
              <p:cNvSpPr txBox="1">
                <a:spLocks noChangeArrowheads="1"/>
              </p:cNvSpPr>
              <p:nvPr/>
            </p:nvSpPr>
            <p:spPr bwMode="auto">
              <a:xfrm>
                <a:off x="5452" y="1632"/>
                <a:ext cx="190" cy="233"/>
              </a:xfrm>
              <a:prstGeom prst="rect">
                <a:avLst/>
              </a:prstGeom>
              <a:noFill/>
              <a:ln w="9525">
                <a:noFill/>
                <a:miter lim="800000"/>
                <a:headEnd/>
                <a:tailEnd/>
              </a:ln>
            </p:spPr>
            <p:txBody>
              <a:bodyPr wrap="none">
                <a:spAutoFit/>
              </a:bodyPr>
              <a:lstStyle/>
              <a:p>
                <a:pPr algn="ctr" eaLnBrk="0" hangingPunct="0"/>
                <a:r>
                  <a:rPr lang="en-US">
                    <a:cs typeface="Arial" charset="0"/>
                  </a:rPr>
                  <a:t>0</a:t>
                </a:r>
              </a:p>
            </p:txBody>
          </p:sp>
          <p:sp>
            <p:nvSpPr>
              <p:cNvPr id="34852" name="Text Box 32"/>
              <p:cNvSpPr txBox="1">
                <a:spLocks noChangeArrowheads="1"/>
              </p:cNvSpPr>
              <p:nvPr/>
            </p:nvSpPr>
            <p:spPr bwMode="auto">
              <a:xfrm>
                <a:off x="4913" y="1632"/>
                <a:ext cx="212" cy="288"/>
              </a:xfrm>
              <a:prstGeom prst="rect">
                <a:avLst/>
              </a:prstGeom>
              <a:noFill/>
              <a:ln w="9525">
                <a:noFill/>
                <a:miter lim="800000"/>
                <a:headEnd/>
                <a:tailEnd/>
              </a:ln>
            </p:spPr>
            <p:txBody>
              <a:bodyPr wrap="none">
                <a:spAutoFit/>
              </a:bodyPr>
              <a:lstStyle/>
              <a:p>
                <a:pPr eaLnBrk="0" hangingPunct="0"/>
                <a:r>
                  <a:rPr lang="en-US" dirty="0">
                    <a:cs typeface="Arial" charset="0"/>
                  </a:rPr>
                  <a:t>0</a:t>
                </a:r>
              </a:p>
            </p:txBody>
          </p:sp>
          <p:sp>
            <p:nvSpPr>
              <p:cNvPr id="34853" name="Text Box 33"/>
              <p:cNvSpPr txBox="1">
                <a:spLocks noChangeArrowheads="1"/>
              </p:cNvSpPr>
              <p:nvPr/>
            </p:nvSpPr>
            <p:spPr bwMode="auto">
              <a:xfrm>
                <a:off x="5185" y="1872"/>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1</a:t>
                </a:r>
              </a:p>
            </p:txBody>
          </p:sp>
          <p:sp>
            <p:nvSpPr>
              <p:cNvPr id="34854" name="Text Box 34"/>
              <p:cNvSpPr txBox="1">
                <a:spLocks noChangeArrowheads="1"/>
              </p:cNvSpPr>
              <p:nvPr/>
            </p:nvSpPr>
            <p:spPr bwMode="auto">
              <a:xfrm>
                <a:off x="4913" y="1872"/>
                <a:ext cx="212" cy="288"/>
              </a:xfrm>
              <a:prstGeom prst="rect">
                <a:avLst/>
              </a:prstGeom>
              <a:noFill/>
              <a:ln w="9525">
                <a:noFill/>
                <a:miter lim="800000"/>
                <a:headEnd/>
                <a:tailEnd/>
              </a:ln>
            </p:spPr>
            <p:txBody>
              <a:bodyPr wrap="none">
                <a:spAutoFit/>
              </a:bodyPr>
              <a:lstStyle/>
              <a:p>
                <a:pPr eaLnBrk="0" hangingPunct="0"/>
                <a:r>
                  <a:rPr lang="en-US" dirty="0">
                    <a:cs typeface="Arial" charset="0"/>
                  </a:rPr>
                  <a:t>0</a:t>
                </a:r>
              </a:p>
            </p:txBody>
          </p:sp>
          <p:sp>
            <p:nvSpPr>
              <p:cNvPr id="34855" name="Line 35"/>
              <p:cNvSpPr>
                <a:spLocks noChangeShapeType="1"/>
              </p:cNvSpPr>
              <p:nvPr/>
            </p:nvSpPr>
            <p:spPr bwMode="auto">
              <a:xfrm>
                <a:off x="4896" y="1632"/>
                <a:ext cx="768" cy="0"/>
              </a:xfrm>
              <a:prstGeom prst="line">
                <a:avLst/>
              </a:prstGeom>
              <a:noFill/>
              <a:ln w="9525">
                <a:solidFill>
                  <a:schemeClr val="tx1"/>
                </a:solidFill>
                <a:round/>
                <a:headEnd/>
                <a:tailEnd/>
              </a:ln>
            </p:spPr>
            <p:txBody>
              <a:bodyPr wrap="none" anchor="ctr"/>
              <a:lstStyle/>
              <a:p>
                <a:endParaRPr lang="en-US"/>
              </a:p>
            </p:txBody>
          </p:sp>
          <p:sp>
            <p:nvSpPr>
              <p:cNvPr id="34856" name="Text Box 36"/>
              <p:cNvSpPr txBox="1">
                <a:spLocks noChangeArrowheads="1"/>
              </p:cNvSpPr>
              <p:nvPr/>
            </p:nvSpPr>
            <p:spPr bwMode="auto">
              <a:xfrm>
                <a:off x="5185" y="1392"/>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0</a:t>
                </a:r>
              </a:p>
            </p:txBody>
          </p:sp>
          <p:sp>
            <p:nvSpPr>
              <p:cNvPr id="34857" name="Text Box 37"/>
              <p:cNvSpPr txBox="1">
                <a:spLocks noChangeArrowheads="1"/>
              </p:cNvSpPr>
              <p:nvPr/>
            </p:nvSpPr>
            <p:spPr bwMode="auto">
              <a:xfrm>
                <a:off x="5452" y="1392"/>
                <a:ext cx="190" cy="233"/>
              </a:xfrm>
              <a:prstGeom prst="rect">
                <a:avLst/>
              </a:prstGeom>
              <a:noFill/>
              <a:ln w="9525">
                <a:noFill/>
                <a:miter lim="800000"/>
                <a:headEnd/>
                <a:tailEnd/>
              </a:ln>
            </p:spPr>
            <p:txBody>
              <a:bodyPr wrap="none">
                <a:spAutoFit/>
              </a:bodyPr>
              <a:lstStyle/>
              <a:p>
                <a:pPr algn="ctr" eaLnBrk="0" hangingPunct="0"/>
                <a:r>
                  <a:rPr lang="en-US">
                    <a:cs typeface="Arial" charset="0"/>
                  </a:rPr>
                  <a:t>0</a:t>
                </a:r>
              </a:p>
            </p:txBody>
          </p:sp>
          <p:sp>
            <p:nvSpPr>
              <p:cNvPr id="34858" name="Text Box 38"/>
              <p:cNvSpPr txBox="1">
                <a:spLocks noChangeArrowheads="1"/>
              </p:cNvSpPr>
              <p:nvPr/>
            </p:nvSpPr>
            <p:spPr bwMode="auto">
              <a:xfrm>
                <a:off x="4913" y="1392"/>
                <a:ext cx="212" cy="288"/>
              </a:xfrm>
              <a:prstGeom prst="rect">
                <a:avLst/>
              </a:prstGeom>
              <a:noFill/>
              <a:ln w="9525">
                <a:noFill/>
                <a:miter lim="800000"/>
                <a:headEnd/>
                <a:tailEnd/>
              </a:ln>
            </p:spPr>
            <p:txBody>
              <a:bodyPr wrap="none">
                <a:spAutoFit/>
              </a:bodyPr>
              <a:lstStyle/>
              <a:p>
                <a:pPr eaLnBrk="0" hangingPunct="0"/>
                <a:r>
                  <a:rPr lang="en-US" dirty="0">
                    <a:cs typeface="Arial" charset="0"/>
                  </a:rPr>
                  <a:t>0</a:t>
                </a:r>
              </a:p>
            </p:txBody>
          </p:sp>
        </p:grpSp>
      </p:grpSp>
      <p:sp>
        <p:nvSpPr>
          <p:cNvPr id="34824" name="Text Box 40"/>
          <p:cNvSpPr txBox="1">
            <a:spLocks noChangeArrowheads="1"/>
          </p:cNvSpPr>
          <p:nvPr/>
        </p:nvSpPr>
        <p:spPr bwMode="auto">
          <a:xfrm>
            <a:off x="3810000" y="5638800"/>
            <a:ext cx="944563" cy="457200"/>
          </a:xfrm>
          <a:prstGeom prst="rect">
            <a:avLst/>
          </a:prstGeom>
          <a:noFill/>
          <a:ln w="9525">
            <a:noFill/>
            <a:miter lim="800000"/>
            <a:headEnd/>
            <a:tailEnd/>
          </a:ln>
        </p:spPr>
        <p:txBody>
          <a:bodyPr wrap="none">
            <a:spAutoFit/>
          </a:bodyPr>
          <a:lstStyle/>
          <a:p>
            <a:pPr eaLnBrk="0" hangingPunct="0"/>
            <a:r>
              <a:rPr lang="en-US">
                <a:cs typeface="Arial" charset="0"/>
              </a:rPr>
              <a:t>kernel</a:t>
            </a:r>
          </a:p>
        </p:txBody>
      </p:sp>
      <p:grpSp>
        <p:nvGrpSpPr>
          <p:cNvPr id="6" name="Group 41"/>
          <p:cNvGrpSpPr>
            <a:grpSpLocks/>
          </p:cNvGrpSpPr>
          <p:nvPr/>
        </p:nvGrpSpPr>
        <p:grpSpPr bwMode="auto">
          <a:xfrm>
            <a:off x="6019800" y="4419600"/>
            <a:ext cx="1295400" cy="1219200"/>
            <a:chOff x="2256" y="1920"/>
            <a:chExt cx="816" cy="768"/>
          </a:xfrm>
        </p:grpSpPr>
        <p:sp>
          <p:nvSpPr>
            <p:cNvPr id="34827" name="Rectangle 42"/>
            <p:cNvSpPr>
              <a:spLocks noChangeArrowheads="1"/>
            </p:cNvSpPr>
            <p:nvPr/>
          </p:nvSpPr>
          <p:spPr bwMode="auto">
            <a:xfrm>
              <a:off x="2304" y="1920"/>
              <a:ext cx="768" cy="720"/>
            </a:xfrm>
            <a:prstGeom prst="rect">
              <a:avLst/>
            </a:prstGeom>
            <a:noFill/>
            <a:ln w="9525">
              <a:solidFill>
                <a:schemeClr val="tx1"/>
              </a:solidFill>
              <a:miter lim="800000"/>
              <a:headEnd/>
              <a:tailEnd/>
            </a:ln>
          </p:spPr>
          <p:txBody>
            <a:bodyPr wrap="none" anchor="ctr"/>
            <a:lstStyle/>
            <a:p>
              <a:endParaRPr lang="en-US"/>
            </a:p>
          </p:txBody>
        </p:sp>
        <p:sp>
          <p:nvSpPr>
            <p:cNvPr id="34828" name="Line 43"/>
            <p:cNvSpPr>
              <a:spLocks noChangeShapeType="1"/>
            </p:cNvSpPr>
            <p:nvPr/>
          </p:nvSpPr>
          <p:spPr bwMode="auto">
            <a:xfrm>
              <a:off x="2544" y="1920"/>
              <a:ext cx="0" cy="720"/>
            </a:xfrm>
            <a:prstGeom prst="line">
              <a:avLst/>
            </a:prstGeom>
            <a:noFill/>
            <a:ln w="9525">
              <a:solidFill>
                <a:schemeClr val="tx1"/>
              </a:solidFill>
              <a:round/>
              <a:headEnd/>
              <a:tailEnd/>
            </a:ln>
          </p:spPr>
          <p:txBody>
            <a:bodyPr wrap="none" anchor="ctr"/>
            <a:lstStyle/>
            <a:p>
              <a:endParaRPr lang="en-US"/>
            </a:p>
          </p:txBody>
        </p:sp>
        <p:sp>
          <p:nvSpPr>
            <p:cNvPr id="34829" name="Line 44"/>
            <p:cNvSpPr>
              <a:spLocks noChangeShapeType="1"/>
            </p:cNvSpPr>
            <p:nvPr/>
          </p:nvSpPr>
          <p:spPr bwMode="auto">
            <a:xfrm>
              <a:off x="2832" y="1920"/>
              <a:ext cx="0" cy="720"/>
            </a:xfrm>
            <a:prstGeom prst="line">
              <a:avLst/>
            </a:prstGeom>
            <a:noFill/>
            <a:ln w="9525">
              <a:solidFill>
                <a:schemeClr val="tx1"/>
              </a:solidFill>
              <a:round/>
              <a:headEnd/>
              <a:tailEnd/>
            </a:ln>
          </p:spPr>
          <p:txBody>
            <a:bodyPr wrap="none" anchor="ctr"/>
            <a:lstStyle/>
            <a:p>
              <a:endParaRPr lang="en-US"/>
            </a:p>
          </p:txBody>
        </p:sp>
        <p:sp>
          <p:nvSpPr>
            <p:cNvPr id="34830" name="Line 45"/>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34831" name="Line 46"/>
            <p:cNvSpPr>
              <a:spLocks noChangeShapeType="1"/>
            </p:cNvSpPr>
            <p:nvPr/>
          </p:nvSpPr>
          <p:spPr bwMode="auto">
            <a:xfrm>
              <a:off x="2304" y="2400"/>
              <a:ext cx="768" cy="0"/>
            </a:xfrm>
            <a:prstGeom prst="line">
              <a:avLst/>
            </a:prstGeom>
            <a:noFill/>
            <a:ln w="9525">
              <a:solidFill>
                <a:schemeClr val="tx1"/>
              </a:solidFill>
              <a:round/>
              <a:headEnd/>
              <a:tailEnd/>
            </a:ln>
          </p:spPr>
          <p:txBody>
            <a:bodyPr wrap="none" anchor="ctr"/>
            <a:lstStyle/>
            <a:p>
              <a:endParaRPr lang="en-US"/>
            </a:p>
          </p:txBody>
        </p:sp>
        <p:sp>
          <p:nvSpPr>
            <p:cNvPr id="34832" name="Text Box 47"/>
            <p:cNvSpPr txBox="1">
              <a:spLocks noChangeArrowheads="1"/>
            </p:cNvSpPr>
            <p:nvPr/>
          </p:nvSpPr>
          <p:spPr bwMode="auto">
            <a:xfrm>
              <a:off x="2582" y="2160"/>
              <a:ext cx="190" cy="233"/>
            </a:xfrm>
            <a:prstGeom prst="rect">
              <a:avLst/>
            </a:prstGeom>
            <a:noFill/>
            <a:ln w="9525">
              <a:noFill/>
              <a:miter lim="800000"/>
              <a:headEnd/>
              <a:tailEnd/>
            </a:ln>
          </p:spPr>
          <p:txBody>
            <a:bodyPr wrap="none">
              <a:spAutoFit/>
            </a:bodyPr>
            <a:lstStyle/>
            <a:p>
              <a:pPr eaLnBrk="0" hangingPunct="0"/>
              <a:r>
                <a:rPr lang="en-US" dirty="0">
                  <a:cs typeface="Arial" charset="0"/>
                </a:rPr>
                <a:t>8</a:t>
              </a:r>
            </a:p>
          </p:txBody>
        </p:sp>
        <p:sp>
          <p:nvSpPr>
            <p:cNvPr id="34833" name="Text Box 48"/>
            <p:cNvSpPr txBox="1">
              <a:spLocks noChangeArrowheads="1"/>
            </p:cNvSpPr>
            <p:nvPr/>
          </p:nvSpPr>
          <p:spPr bwMode="auto">
            <a:xfrm>
              <a:off x="2832" y="2160"/>
              <a:ext cx="116" cy="288"/>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34" name="Text Box 49"/>
            <p:cNvSpPr txBox="1">
              <a:spLocks noChangeArrowheads="1"/>
            </p:cNvSpPr>
            <p:nvPr/>
          </p:nvSpPr>
          <p:spPr bwMode="auto">
            <a:xfrm>
              <a:off x="2352" y="2160"/>
              <a:ext cx="116" cy="288"/>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35" name="Text Box 50"/>
            <p:cNvSpPr txBox="1">
              <a:spLocks noChangeArrowheads="1"/>
            </p:cNvSpPr>
            <p:nvPr/>
          </p:nvSpPr>
          <p:spPr bwMode="auto">
            <a:xfrm>
              <a:off x="2562" y="2400"/>
              <a:ext cx="116" cy="288"/>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36" name="Text Box 51"/>
            <p:cNvSpPr txBox="1">
              <a:spLocks noChangeArrowheads="1"/>
            </p:cNvSpPr>
            <p:nvPr/>
          </p:nvSpPr>
          <p:spPr bwMode="auto">
            <a:xfrm>
              <a:off x="2812" y="2400"/>
              <a:ext cx="116" cy="288"/>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37" name="Text Box 52"/>
            <p:cNvSpPr txBox="1">
              <a:spLocks noChangeArrowheads="1"/>
            </p:cNvSpPr>
            <p:nvPr/>
          </p:nvSpPr>
          <p:spPr bwMode="auto">
            <a:xfrm>
              <a:off x="2332" y="2400"/>
              <a:ext cx="116" cy="288"/>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38" name="Line 53"/>
            <p:cNvSpPr>
              <a:spLocks noChangeShapeType="1"/>
            </p:cNvSpPr>
            <p:nvPr/>
          </p:nvSpPr>
          <p:spPr bwMode="auto">
            <a:xfrm>
              <a:off x="2304" y="1920"/>
              <a:ext cx="768" cy="0"/>
            </a:xfrm>
            <a:prstGeom prst="line">
              <a:avLst/>
            </a:prstGeom>
            <a:noFill/>
            <a:ln w="9525">
              <a:solidFill>
                <a:schemeClr val="tx1"/>
              </a:solidFill>
              <a:round/>
              <a:headEnd/>
              <a:tailEnd/>
            </a:ln>
          </p:spPr>
          <p:txBody>
            <a:bodyPr wrap="none" anchor="ctr"/>
            <a:lstStyle/>
            <a:p>
              <a:endParaRPr lang="en-US"/>
            </a:p>
          </p:txBody>
        </p:sp>
        <p:sp>
          <p:nvSpPr>
            <p:cNvPr id="34839" name="Line 54"/>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34840" name="Text Box 55"/>
            <p:cNvSpPr txBox="1">
              <a:spLocks noChangeArrowheads="1"/>
            </p:cNvSpPr>
            <p:nvPr/>
          </p:nvSpPr>
          <p:spPr bwMode="auto">
            <a:xfrm>
              <a:off x="2582" y="1920"/>
              <a:ext cx="116" cy="288"/>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41" name="Text Box 56"/>
            <p:cNvSpPr txBox="1">
              <a:spLocks noChangeArrowheads="1"/>
            </p:cNvSpPr>
            <p:nvPr/>
          </p:nvSpPr>
          <p:spPr bwMode="auto">
            <a:xfrm>
              <a:off x="2832" y="1920"/>
              <a:ext cx="116" cy="288"/>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42" name="Text Box 57"/>
            <p:cNvSpPr txBox="1">
              <a:spLocks noChangeArrowheads="1"/>
            </p:cNvSpPr>
            <p:nvPr/>
          </p:nvSpPr>
          <p:spPr bwMode="auto">
            <a:xfrm>
              <a:off x="2256" y="1920"/>
              <a:ext cx="116" cy="288"/>
            </a:xfrm>
            <a:prstGeom prst="rect">
              <a:avLst/>
            </a:prstGeom>
            <a:noFill/>
            <a:ln w="9525">
              <a:noFill/>
              <a:miter lim="800000"/>
              <a:headEnd/>
              <a:tailEnd/>
            </a:ln>
          </p:spPr>
          <p:txBody>
            <a:bodyPr wrap="none">
              <a:spAutoFit/>
            </a:bodyPr>
            <a:lstStyle/>
            <a:p>
              <a:pPr eaLnBrk="0" hangingPunct="0"/>
              <a:endParaRPr lang="en-US">
                <a:cs typeface="Arial" charset="0"/>
              </a:endParaRPr>
            </a:p>
          </p:txBody>
        </p:sp>
      </p:grpSp>
      <p:sp>
        <p:nvSpPr>
          <p:cNvPr id="34826" name="Text Box 58"/>
          <p:cNvSpPr txBox="1">
            <a:spLocks noChangeArrowheads="1"/>
          </p:cNvSpPr>
          <p:nvPr/>
        </p:nvSpPr>
        <p:spPr bwMode="auto">
          <a:xfrm>
            <a:off x="5738812" y="5638800"/>
            <a:ext cx="2719388" cy="457200"/>
          </a:xfrm>
          <a:prstGeom prst="rect">
            <a:avLst/>
          </a:prstGeom>
          <a:noFill/>
          <a:ln w="9525">
            <a:noFill/>
            <a:miter lim="800000"/>
            <a:headEnd/>
            <a:tailEnd/>
          </a:ln>
        </p:spPr>
        <p:txBody>
          <a:bodyPr wrap="none">
            <a:spAutoFit/>
          </a:bodyPr>
          <a:lstStyle/>
          <a:p>
            <a:pPr eaLnBrk="0" hangingPunct="0"/>
            <a:r>
              <a:rPr lang="en-US">
                <a:cs typeface="Arial" charset="0"/>
              </a:rPr>
              <a:t>Modified image data</a:t>
            </a:r>
          </a:p>
        </p:txBody>
      </p:sp>
      <p:sp>
        <p:nvSpPr>
          <p:cNvPr id="59" name="Text Box 10"/>
          <p:cNvSpPr txBox="1">
            <a:spLocks noChangeArrowheads="1"/>
          </p:cNvSpPr>
          <p:nvPr/>
        </p:nvSpPr>
        <p:spPr bwMode="auto">
          <a:xfrm>
            <a:off x="7620000" y="6553200"/>
            <a:ext cx="1373068" cy="307777"/>
          </a:xfrm>
          <a:prstGeom prst="rect">
            <a:avLst/>
          </a:prstGeom>
          <a:noFill/>
          <a:ln w="9525">
            <a:noFill/>
            <a:miter lim="800000"/>
            <a:headEnd/>
            <a:tailEnd/>
          </a:ln>
        </p:spPr>
        <p:txBody>
          <a:bodyPr wrap="none">
            <a:spAutoFit/>
          </a:bodyPr>
          <a:lstStyle/>
          <a:p>
            <a:r>
              <a:rPr lang="en-US" sz="1400" dirty="0"/>
              <a:t>Source: L. Zhang</a:t>
            </a:r>
          </a:p>
        </p:txBody>
      </p:sp>
      <p:sp>
        <p:nvSpPr>
          <p:cNvPr id="34823" name="Text Box 39"/>
          <p:cNvSpPr txBox="1">
            <a:spLocks noChangeArrowheads="1"/>
          </p:cNvSpPr>
          <p:nvPr/>
        </p:nvSpPr>
        <p:spPr bwMode="auto">
          <a:xfrm>
            <a:off x="914400" y="5638800"/>
            <a:ext cx="2075377" cy="366712"/>
          </a:xfrm>
          <a:prstGeom prst="rect">
            <a:avLst/>
          </a:prstGeom>
          <a:noFill/>
          <a:ln w="9525">
            <a:noFill/>
            <a:miter lim="800000"/>
            <a:headEnd/>
            <a:tailEnd/>
          </a:ln>
        </p:spPr>
        <p:txBody>
          <a:bodyPr wrap="square">
            <a:spAutoFit/>
          </a:bodyPr>
          <a:lstStyle/>
          <a:p>
            <a:pPr eaLnBrk="0" hangingPunct="0"/>
            <a:r>
              <a:rPr lang="en-US" dirty="0">
                <a:cs typeface="Arial" charset="0"/>
              </a:rPr>
              <a:t>Local image data</a:t>
            </a:r>
          </a:p>
        </p:txBody>
      </p:sp>
      <p:grpSp>
        <p:nvGrpSpPr>
          <p:cNvPr id="60" name="Group 5"/>
          <p:cNvGrpSpPr>
            <a:grpSpLocks/>
          </p:cNvGrpSpPr>
          <p:nvPr/>
        </p:nvGrpSpPr>
        <p:grpSpPr bwMode="auto">
          <a:xfrm>
            <a:off x="1164317" y="4419600"/>
            <a:ext cx="1241425" cy="1143000"/>
            <a:chOff x="2290" y="1920"/>
            <a:chExt cx="782" cy="720"/>
          </a:xfrm>
        </p:grpSpPr>
        <p:sp>
          <p:nvSpPr>
            <p:cNvPr id="61" name="Rectangle 6"/>
            <p:cNvSpPr>
              <a:spLocks noChangeArrowheads="1"/>
            </p:cNvSpPr>
            <p:nvPr/>
          </p:nvSpPr>
          <p:spPr bwMode="auto">
            <a:xfrm>
              <a:off x="2304" y="1920"/>
              <a:ext cx="768" cy="720"/>
            </a:xfrm>
            <a:prstGeom prst="rect">
              <a:avLst/>
            </a:prstGeom>
            <a:noFill/>
            <a:ln w="9525">
              <a:solidFill>
                <a:schemeClr val="tx1"/>
              </a:solidFill>
              <a:miter lim="800000"/>
              <a:headEnd/>
              <a:tailEnd/>
            </a:ln>
          </p:spPr>
          <p:txBody>
            <a:bodyPr wrap="none" anchor="ctr"/>
            <a:lstStyle/>
            <a:p>
              <a:endParaRPr lang="en-US"/>
            </a:p>
          </p:txBody>
        </p:sp>
        <p:sp>
          <p:nvSpPr>
            <p:cNvPr id="62" name="Line 7"/>
            <p:cNvSpPr>
              <a:spLocks noChangeShapeType="1"/>
            </p:cNvSpPr>
            <p:nvPr/>
          </p:nvSpPr>
          <p:spPr bwMode="auto">
            <a:xfrm>
              <a:off x="2565" y="1920"/>
              <a:ext cx="0" cy="720"/>
            </a:xfrm>
            <a:prstGeom prst="line">
              <a:avLst/>
            </a:prstGeom>
            <a:noFill/>
            <a:ln w="9525">
              <a:solidFill>
                <a:schemeClr val="tx1"/>
              </a:solidFill>
              <a:round/>
              <a:headEnd/>
              <a:tailEnd/>
            </a:ln>
          </p:spPr>
          <p:txBody>
            <a:bodyPr wrap="none" anchor="ctr"/>
            <a:lstStyle/>
            <a:p>
              <a:endParaRPr lang="en-US"/>
            </a:p>
          </p:txBody>
        </p:sp>
        <p:sp>
          <p:nvSpPr>
            <p:cNvPr id="63" name="Line 8"/>
            <p:cNvSpPr>
              <a:spLocks noChangeShapeType="1"/>
            </p:cNvSpPr>
            <p:nvPr/>
          </p:nvSpPr>
          <p:spPr bwMode="auto">
            <a:xfrm>
              <a:off x="2825" y="1920"/>
              <a:ext cx="0" cy="720"/>
            </a:xfrm>
            <a:prstGeom prst="line">
              <a:avLst/>
            </a:prstGeom>
            <a:noFill/>
            <a:ln w="9525">
              <a:solidFill>
                <a:schemeClr val="tx1"/>
              </a:solidFill>
              <a:round/>
              <a:headEnd/>
              <a:tailEnd/>
            </a:ln>
          </p:spPr>
          <p:txBody>
            <a:bodyPr wrap="none" anchor="ctr"/>
            <a:lstStyle/>
            <a:p>
              <a:endParaRPr lang="en-US"/>
            </a:p>
          </p:txBody>
        </p:sp>
        <p:sp>
          <p:nvSpPr>
            <p:cNvPr id="64" name="Line 9"/>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65" name="Line 10"/>
            <p:cNvSpPr>
              <a:spLocks noChangeShapeType="1"/>
            </p:cNvSpPr>
            <p:nvPr/>
          </p:nvSpPr>
          <p:spPr bwMode="auto">
            <a:xfrm>
              <a:off x="2304" y="2400"/>
              <a:ext cx="768" cy="0"/>
            </a:xfrm>
            <a:prstGeom prst="line">
              <a:avLst/>
            </a:prstGeom>
            <a:noFill/>
            <a:ln w="9525">
              <a:solidFill>
                <a:schemeClr val="tx1"/>
              </a:solidFill>
              <a:round/>
              <a:headEnd/>
              <a:tailEnd/>
            </a:ln>
          </p:spPr>
          <p:txBody>
            <a:bodyPr wrap="none" anchor="ctr"/>
            <a:lstStyle/>
            <a:p>
              <a:endParaRPr lang="en-US"/>
            </a:p>
          </p:txBody>
        </p:sp>
        <p:sp>
          <p:nvSpPr>
            <p:cNvPr id="66" name="Text Box 11"/>
            <p:cNvSpPr txBox="1">
              <a:spLocks noChangeArrowheads="1"/>
            </p:cNvSpPr>
            <p:nvPr/>
          </p:nvSpPr>
          <p:spPr bwMode="auto">
            <a:xfrm>
              <a:off x="2591" y="216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6</a:t>
              </a:r>
            </a:p>
          </p:txBody>
        </p:sp>
        <p:sp>
          <p:nvSpPr>
            <p:cNvPr id="67" name="Text Box 12"/>
            <p:cNvSpPr txBox="1">
              <a:spLocks noChangeArrowheads="1"/>
            </p:cNvSpPr>
            <p:nvPr/>
          </p:nvSpPr>
          <p:spPr bwMode="auto">
            <a:xfrm>
              <a:off x="2856" y="2160"/>
              <a:ext cx="190" cy="233"/>
            </a:xfrm>
            <a:prstGeom prst="rect">
              <a:avLst/>
            </a:prstGeom>
            <a:noFill/>
            <a:ln w="9525">
              <a:noFill/>
              <a:miter lim="800000"/>
              <a:headEnd/>
              <a:tailEnd/>
            </a:ln>
          </p:spPr>
          <p:txBody>
            <a:bodyPr wrap="none">
              <a:spAutoFit/>
            </a:bodyPr>
            <a:lstStyle/>
            <a:p>
              <a:pPr algn="ctr" eaLnBrk="0" hangingPunct="0"/>
              <a:r>
                <a:rPr lang="en-US">
                  <a:cs typeface="Arial" charset="0"/>
                </a:rPr>
                <a:t>1</a:t>
              </a:r>
            </a:p>
          </p:txBody>
        </p:sp>
        <p:sp>
          <p:nvSpPr>
            <p:cNvPr id="68" name="Text Box 13"/>
            <p:cNvSpPr txBox="1">
              <a:spLocks noChangeArrowheads="1"/>
            </p:cNvSpPr>
            <p:nvPr/>
          </p:nvSpPr>
          <p:spPr bwMode="auto">
            <a:xfrm>
              <a:off x="2327" y="216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4</a:t>
              </a:r>
            </a:p>
          </p:txBody>
        </p:sp>
        <p:sp>
          <p:nvSpPr>
            <p:cNvPr id="69" name="Text Box 14"/>
            <p:cNvSpPr txBox="1">
              <a:spLocks noChangeArrowheads="1"/>
            </p:cNvSpPr>
            <p:nvPr/>
          </p:nvSpPr>
          <p:spPr bwMode="auto">
            <a:xfrm>
              <a:off x="2591" y="240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1</a:t>
              </a:r>
            </a:p>
          </p:txBody>
        </p:sp>
        <p:sp>
          <p:nvSpPr>
            <p:cNvPr id="70" name="Text Box 15"/>
            <p:cNvSpPr txBox="1">
              <a:spLocks noChangeArrowheads="1"/>
            </p:cNvSpPr>
            <p:nvPr/>
          </p:nvSpPr>
          <p:spPr bwMode="auto">
            <a:xfrm>
              <a:off x="2856" y="240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8</a:t>
              </a:r>
            </a:p>
          </p:txBody>
        </p:sp>
        <p:sp>
          <p:nvSpPr>
            <p:cNvPr id="71" name="Text Box 16"/>
            <p:cNvSpPr txBox="1">
              <a:spLocks noChangeArrowheads="1"/>
            </p:cNvSpPr>
            <p:nvPr/>
          </p:nvSpPr>
          <p:spPr bwMode="auto">
            <a:xfrm>
              <a:off x="2327" y="2400"/>
              <a:ext cx="190" cy="233"/>
            </a:xfrm>
            <a:prstGeom prst="rect">
              <a:avLst/>
            </a:prstGeom>
            <a:noFill/>
            <a:ln w="9525">
              <a:noFill/>
              <a:miter lim="800000"/>
              <a:headEnd/>
              <a:tailEnd/>
            </a:ln>
          </p:spPr>
          <p:txBody>
            <a:bodyPr wrap="none">
              <a:spAutoFit/>
            </a:bodyPr>
            <a:lstStyle/>
            <a:p>
              <a:pPr algn="ctr" eaLnBrk="0" hangingPunct="0"/>
              <a:r>
                <a:rPr lang="en-US">
                  <a:cs typeface="Arial" charset="0"/>
                </a:rPr>
                <a:t>1</a:t>
              </a:r>
            </a:p>
          </p:txBody>
        </p:sp>
        <p:sp>
          <p:nvSpPr>
            <p:cNvPr id="72" name="Line 17"/>
            <p:cNvSpPr>
              <a:spLocks noChangeShapeType="1"/>
            </p:cNvSpPr>
            <p:nvPr/>
          </p:nvSpPr>
          <p:spPr bwMode="auto">
            <a:xfrm>
              <a:off x="2304" y="1920"/>
              <a:ext cx="768" cy="0"/>
            </a:xfrm>
            <a:prstGeom prst="line">
              <a:avLst/>
            </a:prstGeom>
            <a:noFill/>
            <a:ln w="9525">
              <a:solidFill>
                <a:schemeClr val="tx1"/>
              </a:solidFill>
              <a:round/>
              <a:headEnd/>
              <a:tailEnd/>
            </a:ln>
          </p:spPr>
          <p:txBody>
            <a:bodyPr wrap="none" anchor="ctr"/>
            <a:lstStyle/>
            <a:p>
              <a:endParaRPr lang="en-US"/>
            </a:p>
          </p:txBody>
        </p:sp>
        <p:sp>
          <p:nvSpPr>
            <p:cNvPr id="73" name="Line 18"/>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74" name="Text Box 19"/>
            <p:cNvSpPr txBox="1">
              <a:spLocks noChangeArrowheads="1"/>
            </p:cNvSpPr>
            <p:nvPr/>
          </p:nvSpPr>
          <p:spPr bwMode="auto">
            <a:xfrm>
              <a:off x="2591" y="192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5</a:t>
              </a:r>
            </a:p>
          </p:txBody>
        </p:sp>
        <p:sp>
          <p:nvSpPr>
            <p:cNvPr id="75" name="Text Box 20"/>
            <p:cNvSpPr txBox="1">
              <a:spLocks noChangeArrowheads="1"/>
            </p:cNvSpPr>
            <p:nvPr/>
          </p:nvSpPr>
          <p:spPr bwMode="auto">
            <a:xfrm>
              <a:off x="2856" y="1920"/>
              <a:ext cx="190" cy="233"/>
            </a:xfrm>
            <a:prstGeom prst="rect">
              <a:avLst/>
            </a:prstGeom>
            <a:noFill/>
            <a:ln w="9525">
              <a:noFill/>
              <a:miter lim="800000"/>
              <a:headEnd/>
              <a:tailEnd/>
            </a:ln>
          </p:spPr>
          <p:txBody>
            <a:bodyPr wrap="none">
              <a:spAutoFit/>
            </a:bodyPr>
            <a:lstStyle/>
            <a:p>
              <a:pPr algn="ctr" eaLnBrk="0" hangingPunct="0"/>
              <a:r>
                <a:rPr lang="en-US">
                  <a:cs typeface="Arial" charset="0"/>
                </a:rPr>
                <a:t>3</a:t>
              </a:r>
            </a:p>
          </p:txBody>
        </p:sp>
        <p:sp>
          <p:nvSpPr>
            <p:cNvPr id="76" name="Text Box 21"/>
            <p:cNvSpPr txBox="1">
              <a:spLocks noChangeArrowheads="1"/>
            </p:cNvSpPr>
            <p:nvPr/>
          </p:nvSpPr>
          <p:spPr bwMode="auto">
            <a:xfrm>
              <a:off x="2290" y="1920"/>
              <a:ext cx="264" cy="233"/>
            </a:xfrm>
            <a:prstGeom prst="rect">
              <a:avLst/>
            </a:prstGeom>
            <a:noFill/>
            <a:ln w="9525">
              <a:noFill/>
              <a:miter lim="800000"/>
              <a:headEnd/>
              <a:tailEnd/>
            </a:ln>
          </p:spPr>
          <p:txBody>
            <a:bodyPr wrap="none">
              <a:spAutoFit/>
            </a:bodyPr>
            <a:lstStyle/>
            <a:p>
              <a:pPr algn="ctr" eaLnBrk="0" hangingPunct="0"/>
              <a:r>
                <a:rPr lang="en-US" dirty="0">
                  <a:cs typeface="Arial" charset="0"/>
                </a:rPr>
                <a:t>10</a:t>
              </a:r>
            </a:p>
          </p:txBody>
        </p:sp>
      </p:grpSp>
      <p:cxnSp>
        <p:nvCxnSpPr>
          <p:cNvPr id="83" name="Straight Arrow Connector 82"/>
          <p:cNvCxnSpPr>
            <a:stCxn id="34845" idx="3"/>
            <a:endCxn id="34827" idx="1"/>
          </p:cNvCxnSpPr>
          <p:nvPr/>
        </p:nvCxnSpPr>
        <p:spPr>
          <a:xfrm>
            <a:off x="4800600" y="4991100"/>
            <a:ext cx="1295400" cy="1588"/>
          </a:xfrm>
          <a:prstGeom prst="straightConnector1">
            <a:avLst/>
          </a:prstGeom>
          <a:ln w="28575">
            <a:solidFill>
              <a:schemeClr val="tx1"/>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408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8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8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4083" grpId="0" build="p" autoUpdateAnimBg="0"/>
      <p:bldP spid="34824" grpId="0"/>
      <p:bldP spid="34826" grpId="0"/>
      <p:bldP spid="348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6870" y="64838"/>
            <a:ext cx="8229600" cy="1143000"/>
          </a:xfrm>
        </p:spPr>
        <p:txBody>
          <a:bodyPr/>
          <a:lstStyle/>
          <a:p>
            <a:r>
              <a:rPr lang="zh-CN" altLang="en-US" dirty="0"/>
              <a:t>互相关</a:t>
            </a:r>
            <a:endParaRPr lang="en-US" dirty="0"/>
          </a:p>
        </p:txBody>
      </p:sp>
      <p:pic>
        <p:nvPicPr>
          <p:cNvPr id="6" name="Picture 8" descr="Edittex"/>
          <p:cNvPicPr>
            <a:picLocks noChangeAspect="1" noChangeArrowheads="1"/>
          </p:cNvPicPr>
          <p:nvPr>
            <p:custDataLst>
              <p:tags r:id="rId1"/>
            </p:custDataLst>
          </p:nvPr>
        </p:nvPicPr>
        <p:blipFill>
          <a:blip r:embed="rId6" cstate="print"/>
          <a:srcRect/>
          <a:stretch>
            <a:fillRect/>
          </a:stretch>
        </p:blipFill>
        <p:spPr bwMode="auto">
          <a:xfrm>
            <a:off x="924028" y="2599676"/>
            <a:ext cx="7295944" cy="1073150"/>
          </a:xfrm>
          <a:prstGeom prst="rect">
            <a:avLst/>
          </a:prstGeom>
          <a:noFill/>
          <a:ln w="9525">
            <a:noFill/>
            <a:miter lim="800000"/>
            <a:headEnd/>
            <a:tailEnd/>
          </a:ln>
          <a:effectLst/>
        </p:spPr>
      </p:pic>
      <p:sp>
        <p:nvSpPr>
          <p:cNvPr id="8" name="Rectangle 10"/>
          <p:cNvSpPr>
            <a:spLocks noChangeArrowheads="1"/>
          </p:cNvSpPr>
          <p:nvPr>
            <p:custDataLst>
              <p:tags r:id="rId2"/>
            </p:custDataLst>
          </p:nvPr>
        </p:nvSpPr>
        <p:spPr bwMode="auto">
          <a:xfrm>
            <a:off x="1828800" y="3787883"/>
            <a:ext cx="7200900" cy="609600"/>
          </a:xfrm>
          <a:prstGeom prst="rect">
            <a:avLst/>
          </a:prstGeom>
          <a:noFill/>
          <a:ln w="9525">
            <a:noFill/>
            <a:miter lim="800000"/>
            <a:headEnd/>
            <a:tailEnd/>
          </a:ln>
          <a:effectLst/>
        </p:spPr>
        <p:txBody>
          <a:bodyPr/>
          <a:lstStyle/>
          <a:p>
            <a:pPr marL="342900" indent="-342900">
              <a:spcBef>
                <a:spcPct val="50000"/>
              </a:spcBef>
              <a:spcAft>
                <a:spcPct val="50000"/>
              </a:spcAft>
            </a:pPr>
            <a:r>
              <a:rPr lang="zh-CN" altLang="en-US" sz="2800" dirty="0"/>
              <a:t>这种操作称为互相关</a:t>
            </a:r>
            <a:r>
              <a:rPr lang="en-US" sz="2800" baseline="0" dirty="0"/>
              <a:t>:</a:t>
            </a:r>
          </a:p>
          <a:p>
            <a:pPr marL="342900" indent="-342900">
              <a:spcBef>
                <a:spcPct val="50000"/>
              </a:spcBef>
              <a:spcAft>
                <a:spcPct val="50000"/>
              </a:spcAft>
            </a:pPr>
            <a:endParaRPr lang="en-US" sz="2800" baseline="0" dirty="0"/>
          </a:p>
        </p:txBody>
      </p:sp>
      <p:pic>
        <p:nvPicPr>
          <p:cNvPr id="9" name="Picture 11" descr="Edittex"/>
          <p:cNvPicPr>
            <a:picLocks noChangeAspect="1" noChangeArrowheads="1"/>
          </p:cNvPicPr>
          <p:nvPr>
            <p:custDataLst>
              <p:tags r:id="rId3"/>
            </p:custDataLst>
          </p:nvPr>
        </p:nvPicPr>
        <p:blipFill>
          <a:blip r:embed="rId7" cstate="print"/>
          <a:srcRect/>
          <a:stretch>
            <a:fillRect/>
          </a:stretch>
        </p:blipFill>
        <p:spPr bwMode="auto">
          <a:xfrm>
            <a:off x="2137442" y="4637851"/>
            <a:ext cx="2434558" cy="378449"/>
          </a:xfrm>
          <a:prstGeom prst="rect">
            <a:avLst/>
          </a:prstGeom>
          <a:noFill/>
          <a:ln w="9525">
            <a:noFill/>
            <a:miter lim="800000"/>
            <a:headEnd/>
            <a:tailEnd/>
          </a:ln>
          <a:effectLst/>
        </p:spPr>
      </p:pic>
      <p:sp>
        <p:nvSpPr>
          <p:cNvPr id="7" name="Rectangle 10"/>
          <p:cNvSpPr>
            <a:spLocks noChangeArrowheads="1"/>
          </p:cNvSpPr>
          <p:nvPr>
            <p:custDataLst>
              <p:tags r:id="rId4"/>
            </p:custDataLst>
          </p:nvPr>
        </p:nvSpPr>
        <p:spPr bwMode="auto">
          <a:xfrm>
            <a:off x="560897" y="1366151"/>
            <a:ext cx="8229600" cy="5181600"/>
          </a:xfrm>
          <a:prstGeom prst="rect">
            <a:avLst/>
          </a:prstGeom>
          <a:noFill/>
          <a:ln w="9525">
            <a:noFill/>
            <a:miter lim="800000"/>
            <a:headEnd/>
            <a:tailEnd/>
          </a:ln>
          <a:effectLst/>
        </p:spPr>
        <p:txBody>
          <a:bodyPr/>
          <a:lstStyle/>
          <a:p>
            <a:pPr marL="342900" indent="-342900">
              <a:spcBef>
                <a:spcPct val="50000"/>
              </a:spcBef>
              <a:spcAft>
                <a:spcPct val="50000"/>
              </a:spcAft>
            </a:pPr>
            <a:r>
              <a:rPr lang="zh-CN" altLang="en-US" sz="2800" dirty="0"/>
              <a:t>令 </a:t>
            </a:r>
            <a:r>
              <a:rPr lang="en-US" sz="2800" baseline="0" dirty="0"/>
              <a:t>   </a:t>
            </a:r>
            <a:r>
              <a:rPr lang="zh-CN" altLang="en-US" sz="2800" baseline="0" dirty="0"/>
              <a:t>表示图像</a:t>
            </a:r>
            <a:r>
              <a:rPr lang="en-US" sz="2800" baseline="0" dirty="0"/>
              <a:t>,       </a:t>
            </a:r>
            <a:r>
              <a:rPr lang="zh-CN" altLang="en-US" sz="2800" dirty="0"/>
              <a:t>为</a:t>
            </a:r>
            <a:r>
              <a:rPr lang="en-US" sz="2800" baseline="0" dirty="0"/>
              <a:t>kernel </a:t>
            </a:r>
            <a:r>
              <a:rPr lang="zh-CN" altLang="en-US" sz="2800" baseline="0" dirty="0"/>
              <a:t>（核，大小为</a:t>
            </a:r>
            <a:r>
              <a:rPr lang="en-US" altLang="zh-CN" sz="2800" baseline="0" dirty="0"/>
              <a:t>2</a:t>
            </a:r>
            <a:r>
              <a:rPr lang="en-US" altLang="zh-CN" sz="2800" dirty="0"/>
              <a:t>k+1</a:t>
            </a:r>
            <a:r>
              <a:rPr lang="zh-CN" altLang="en-US" sz="2800" dirty="0"/>
              <a:t>，</a:t>
            </a:r>
            <a:r>
              <a:rPr lang="en-US" altLang="zh-CN" sz="2800" dirty="0"/>
              <a:t>2k+1</a:t>
            </a:r>
            <a:r>
              <a:rPr lang="zh-CN" altLang="en-US" sz="2800" dirty="0"/>
              <a:t>）令    为输出图像    </a:t>
            </a:r>
            <a:endParaRPr lang="en-US" sz="2800" baseline="0" dirty="0"/>
          </a:p>
          <a:p>
            <a:pPr marL="342900" indent="-342900">
              <a:spcBef>
                <a:spcPct val="50000"/>
              </a:spcBef>
              <a:spcAft>
                <a:spcPct val="50000"/>
              </a:spcAft>
            </a:pPr>
            <a:endParaRPr lang="en-US" sz="2800" baseline="0" dirty="0"/>
          </a:p>
          <a:p>
            <a:pPr marL="342900" indent="-342900">
              <a:spcBef>
                <a:spcPct val="50000"/>
              </a:spcBef>
              <a:spcAft>
                <a:spcPct val="50000"/>
              </a:spcAft>
            </a:pPr>
            <a:endParaRPr lang="en-US" sz="2800" dirty="0"/>
          </a:p>
          <a:p>
            <a:pPr marL="457200" indent="-457200">
              <a:spcBef>
                <a:spcPct val="50000"/>
              </a:spcBef>
              <a:spcAft>
                <a:spcPct val="50000"/>
              </a:spcAft>
              <a:buFont typeface="Arial" pitchFamily="34" charset="0"/>
              <a:buChar char="•"/>
            </a:pPr>
            <a:endParaRPr lang="en-US" sz="2800" dirty="0"/>
          </a:p>
          <a:p>
            <a:pPr marL="457200" indent="-457200">
              <a:spcBef>
                <a:spcPct val="50000"/>
              </a:spcBef>
              <a:spcAft>
                <a:spcPct val="50000"/>
              </a:spcAft>
              <a:buFont typeface="Arial" pitchFamily="34" charset="0"/>
              <a:buChar char="•"/>
            </a:pPr>
            <a:r>
              <a:rPr lang="zh-CN" altLang="en-US" sz="2800" dirty="0"/>
              <a:t>可以看作每个像素的局部邻域与核之间的“点积”</a:t>
            </a:r>
            <a:endParaRPr lang="en-US" sz="2800" baseline="0" dirty="0"/>
          </a:p>
        </p:txBody>
      </p:sp>
      <p:pic>
        <p:nvPicPr>
          <p:cNvPr id="40961" name="Picture 1"/>
          <p:cNvPicPr>
            <a:picLocks noChangeAspect="1" noChangeArrowheads="1"/>
          </p:cNvPicPr>
          <p:nvPr/>
        </p:nvPicPr>
        <p:blipFill>
          <a:blip r:embed="rId8" cstate="print"/>
          <a:srcRect/>
          <a:stretch>
            <a:fillRect/>
          </a:stretch>
        </p:blipFill>
        <p:spPr bwMode="auto">
          <a:xfrm>
            <a:off x="2491072" y="1853136"/>
            <a:ext cx="386443" cy="381000"/>
          </a:xfrm>
          <a:prstGeom prst="rect">
            <a:avLst/>
          </a:prstGeom>
          <a:noFill/>
          <a:ln w="9525">
            <a:noFill/>
            <a:miter lim="800000"/>
            <a:headEnd/>
            <a:tailEnd/>
          </a:ln>
        </p:spPr>
      </p:pic>
      <p:pic>
        <p:nvPicPr>
          <p:cNvPr id="40962" name="Picture 2"/>
          <p:cNvPicPr>
            <a:picLocks noChangeAspect="1" noChangeArrowheads="1"/>
          </p:cNvPicPr>
          <p:nvPr/>
        </p:nvPicPr>
        <p:blipFill>
          <a:blip r:embed="rId9" cstate="print"/>
          <a:srcRect/>
          <a:stretch>
            <a:fillRect/>
          </a:stretch>
        </p:blipFill>
        <p:spPr bwMode="auto">
          <a:xfrm>
            <a:off x="3050158" y="1441906"/>
            <a:ext cx="439208" cy="381000"/>
          </a:xfrm>
          <a:prstGeom prst="rect">
            <a:avLst/>
          </a:prstGeom>
          <a:noFill/>
          <a:ln w="9525">
            <a:noFill/>
            <a:miter lim="800000"/>
            <a:headEnd/>
            <a:tailEnd/>
          </a:ln>
        </p:spPr>
      </p:pic>
      <p:pic>
        <p:nvPicPr>
          <p:cNvPr id="40963" name="Picture 3"/>
          <p:cNvPicPr>
            <a:picLocks noChangeAspect="1" noChangeArrowheads="1"/>
          </p:cNvPicPr>
          <p:nvPr/>
        </p:nvPicPr>
        <p:blipFill>
          <a:blip r:embed="rId10" cstate="print"/>
          <a:srcRect/>
          <a:stretch>
            <a:fillRect/>
          </a:stretch>
        </p:blipFill>
        <p:spPr bwMode="auto">
          <a:xfrm>
            <a:off x="978500" y="1478014"/>
            <a:ext cx="381000" cy="32197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卷积</a:t>
            </a:r>
            <a:endParaRPr lang="en-US" dirty="0"/>
          </a:p>
        </p:txBody>
      </p:sp>
      <p:sp>
        <p:nvSpPr>
          <p:cNvPr id="3" name="Content Placeholder 2"/>
          <p:cNvSpPr>
            <a:spLocks noGrp="1"/>
          </p:cNvSpPr>
          <p:nvPr>
            <p:ph idx="1"/>
          </p:nvPr>
        </p:nvSpPr>
        <p:spPr>
          <a:xfrm>
            <a:off x="457200" y="1447800"/>
            <a:ext cx="8229600" cy="5181600"/>
          </a:xfrm>
        </p:spPr>
        <p:txBody>
          <a:bodyPr>
            <a:normAutofit/>
          </a:bodyPr>
          <a:lstStyle/>
          <a:p>
            <a:r>
              <a:rPr lang="zh-CN" altLang="en-US" dirty="0"/>
              <a:t>与互相关相同</a:t>
            </a:r>
            <a:r>
              <a:rPr lang="en-US" dirty="0"/>
              <a:t>, </a:t>
            </a:r>
            <a:r>
              <a:rPr lang="zh-CN" altLang="en-US" dirty="0"/>
              <a:t>除了核被翻转（水平和垂直）</a:t>
            </a:r>
            <a:endParaRPr lang="en-US" dirty="0"/>
          </a:p>
          <a:p>
            <a:endParaRPr lang="en-US" dirty="0"/>
          </a:p>
          <a:p>
            <a:endParaRPr lang="en-US" dirty="0"/>
          </a:p>
          <a:p>
            <a:endParaRPr lang="en-US" dirty="0"/>
          </a:p>
          <a:p>
            <a:endParaRPr lang="en-US" dirty="0"/>
          </a:p>
          <a:p>
            <a:endParaRPr lang="en-US" dirty="0"/>
          </a:p>
          <a:p>
            <a:endParaRPr lang="en-US" altLang="zh-CN" dirty="0"/>
          </a:p>
          <a:p>
            <a:r>
              <a:rPr lang="zh-CN" altLang="en-US" dirty="0"/>
              <a:t>卷积是符合交换律和结合律的</a:t>
            </a:r>
            <a:endParaRPr lang="en-US" b="1" dirty="0"/>
          </a:p>
        </p:txBody>
      </p:sp>
      <p:sp>
        <p:nvSpPr>
          <p:cNvPr id="5" name="Rectangle 10"/>
          <p:cNvSpPr>
            <a:spLocks noChangeArrowheads="1"/>
          </p:cNvSpPr>
          <p:nvPr>
            <p:custDataLst>
              <p:tags r:id="rId1"/>
            </p:custDataLst>
          </p:nvPr>
        </p:nvSpPr>
        <p:spPr bwMode="auto">
          <a:xfrm>
            <a:off x="2743200" y="3318945"/>
            <a:ext cx="7200900" cy="609600"/>
          </a:xfrm>
          <a:prstGeom prst="rect">
            <a:avLst/>
          </a:prstGeom>
          <a:noFill/>
          <a:ln w="9525">
            <a:noFill/>
            <a:miter lim="800000"/>
            <a:headEnd/>
            <a:tailEnd/>
          </a:ln>
          <a:effectLst/>
        </p:spPr>
        <p:txBody>
          <a:bodyPr/>
          <a:lstStyle/>
          <a:p>
            <a:pPr marL="342900" indent="-342900">
              <a:spcBef>
                <a:spcPct val="50000"/>
              </a:spcBef>
              <a:spcAft>
                <a:spcPct val="50000"/>
              </a:spcAft>
            </a:pPr>
            <a:r>
              <a:rPr lang="zh-CN" altLang="en-US" sz="2800" dirty="0"/>
              <a:t>这种操作叫卷积</a:t>
            </a:r>
            <a:r>
              <a:rPr lang="en-US" sz="2800" baseline="0" dirty="0"/>
              <a:t>:</a:t>
            </a:r>
          </a:p>
        </p:txBody>
      </p:sp>
      <p:pic>
        <p:nvPicPr>
          <p:cNvPr id="46084" name="Picture 4"/>
          <p:cNvPicPr>
            <a:picLocks noChangeAspect="1" noChangeArrowheads="1"/>
          </p:cNvPicPr>
          <p:nvPr/>
        </p:nvPicPr>
        <p:blipFill>
          <a:blip r:embed="rId3" cstate="print"/>
          <a:srcRect/>
          <a:stretch>
            <a:fillRect/>
          </a:stretch>
        </p:blipFill>
        <p:spPr bwMode="auto">
          <a:xfrm>
            <a:off x="1257300" y="2041508"/>
            <a:ext cx="6629400" cy="1186432"/>
          </a:xfrm>
          <a:prstGeom prst="rect">
            <a:avLst/>
          </a:prstGeom>
          <a:noFill/>
          <a:ln w="9525">
            <a:noFill/>
            <a:miter lim="800000"/>
            <a:headEnd/>
            <a:tailEnd/>
          </a:ln>
        </p:spPr>
      </p:pic>
      <p:pic>
        <p:nvPicPr>
          <p:cNvPr id="46085" name="Picture 5"/>
          <p:cNvPicPr>
            <a:picLocks noChangeAspect="1" noChangeArrowheads="1"/>
          </p:cNvPicPr>
          <p:nvPr/>
        </p:nvPicPr>
        <p:blipFill>
          <a:blip r:embed="rId4" cstate="print"/>
          <a:srcRect/>
          <a:stretch>
            <a:fillRect/>
          </a:stretch>
        </p:blipFill>
        <p:spPr bwMode="auto">
          <a:xfrm>
            <a:off x="2941162" y="3830259"/>
            <a:ext cx="2234153" cy="54201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6085"/>
                                        </p:tgtEl>
                                        <p:attrNameLst>
                                          <p:attrName>style.visibility</p:attrName>
                                        </p:attrNameLst>
                                      </p:cBhvr>
                                      <p:to>
                                        <p:strVal val="visible"/>
                                      </p:to>
                                    </p:set>
                                    <p:animEffect transition="in" filter="fade">
                                      <p:cBhvr>
                                        <p:cTn id="10" dur="500"/>
                                        <p:tgtEl>
                                          <p:spTgt spid="4608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fade">
                                      <p:cBhvr>
                                        <p:cTn id="1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zh-CN" altLang="en-US" dirty="0"/>
              <a:t>卷积</a:t>
            </a:r>
            <a:endParaRPr lang="en-US" dirty="0"/>
          </a:p>
        </p:txBody>
      </p:sp>
      <p:sp>
        <p:nvSpPr>
          <p:cNvPr id="2" name="矩形 1"/>
          <p:cNvSpPr/>
          <p:nvPr/>
        </p:nvSpPr>
        <p:spPr>
          <a:xfrm>
            <a:off x="854612" y="1524000"/>
            <a:ext cx="7391400" cy="1077218"/>
          </a:xfrm>
          <a:prstGeom prst="rect">
            <a:avLst/>
          </a:prstGeom>
        </p:spPr>
        <p:txBody>
          <a:bodyPr wrap="square">
            <a:spAutoFit/>
          </a:bodyPr>
          <a:lstStyle/>
          <a:p>
            <a:r>
              <a:rPr lang="zh-CN" altLang="en-US" sz="3200" dirty="0"/>
              <a:t>所谓两个函数的卷积，本质上就是先将一个函数翻转，然后进行滑动叠加。</a:t>
            </a:r>
          </a:p>
        </p:txBody>
      </p:sp>
      <p:sp>
        <p:nvSpPr>
          <p:cNvPr id="3" name="矩形 2"/>
          <p:cNvSpPr/>
          <p:nvPr/>
        </p:nvSpPr>
        <p:spPr>
          <a:xfrm>
            <a:off x="820614" y="2971800"/>
            <a:ext cx="7332785" cy="2062103"/>
          </a:xfrm>
          <a:prstGeom prst="rect">
            <a:avLst/>
          </a:prstGeom>
        </p:spPr>
        <p:txBody>
          <a:bodyPr wrap="square">
            <a:spAutoFit/>
          </a:bodyPr>
          <a:lstStyle/>
          <a:p>
            <a:pPr marL="285750" indent="-285750">
              <a:buFont typeface="Arial" panose="020B0604020202020204" pitchFamily="34" charset="0"/>
              <a:buChar char="•"/>
            </a:pPr>
            <a:r>
              <a:rPr lang="zh-CN" altLang="en-US" sz="3200" dirty="0"/>
              <a:t>卷积的</a:t>
            </a:r>
            <a:r>
              <a:rPr lang="zh-CN" altLang="en-US" sz="3200" b="1" dirty="0">
                <a:solidFill>
                  <a:srgbClr val="FF0000"/>
                </a:solidFill>
              </a:rPr>
              <a:t>“卷”</a:t>
            </a:r>
            <a:r>
              <a:rPr lang="zh-CN" altLang="en-US" sz="3200" dirty="0"/>
              <a:t>，指的的函数的翻转；同时，“卷”还有滑动的意味在里面</a:t>
            </a:r>
          </a:p>
          <a:p>
            <a:pPr marL="285750" indent="-285750">
              <a:buFont typeface="Arial" panose="020B0604020202020204" pitchFamily="34" charset="0"/>
              <a:buChar char="•"/>
            </a:pPr>
            <a:endParaRPr lang="zh-CN" altLang="en-US" sz="3200" dirty="0"/>
          </a:p>
          <a:p>
            <a:pPr marL="285750" indent="-285750">
              <a:buFont typeface="Arial" panose="020B0604020202020204" pitchFamily="34" charset="0"/>
              <a:buChar char="•"/>
            </a:pPr>
            <a:r>
              <a:rPr lang="zh-CN" altLang="en-US" sz="3200" dirty="0"/>
              <a:t>卷积的</a:t>
            </a:r>
            <a:r>
              <a:rPr lang="zh-CN" altLang="en-US" sz="3200" b="1" dirty="0">
                <a:solidFill>
                  <a:srgbClr val="FF0000"/>
                </a:solidFill>
              </a:rPr>
              <a:t>“积”</a:t>
            </a:r>
            <a:r>
              <a:rPr lang="zh-CN" altLang="en-US" sz="3200" dirty="0"/>
              <a:t>，指的是积分</a:t>
            </a:r>
            <a:r>
              <a:rPr lang="en-US" altLang="zh-CN" sz="3200" dirty="0"/>
              <a:t>/</a:t>
            </a:r>
            <a:r>
              <a:rPr lang="zh-CN" altLang="en-US" sz="3200" dirty="0"/>
              <a:t>加权求和</a:t>
            </a:r>
          </a:p>
        </p:txBody>
      </p:sp>
      <p:sp>
        <p:nvSpPr>
          <p:cNvPr id="4" name="矩形 3"/>
          <p:cNvSpPr/>
          <p:nvPr/>
        </p:nvSpPr>
        <p:spPr>
          <a:xfrm>
            <a:off x="1376313" y="5821121"/>
            <a:ext cx="6044393" cy="369332"/>
          </a:xfrm>
          <a:prstGeom prst="rect">
            <a:avLst/>
          </a:prstGeom>
        </p:spPr>
        <p:txBody>
          <a:bodyPr wrap="square">
            <a:spAutoFit/>
          </a:bodyPr>
          <a:lstStyle/>
          <a:p>
            <a:r>
              <a:rPr lang="en-US" altLang="zh-CN" dirty="0"/>
              <a:t>https://www.zhihu.com/question/22298352?rf=21686447</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zh-CN" altLang="en-US" dirty="0"/>
              <a:t>卷积</a:t>
            </a:r>
            <a:endParaRPr lang="en-US" dirty="0"/>
          </a:p>
        </p:txBody>
      </p:sp>
      <p:sp>
        <p:nvSpPr>
          <p:cNvPr id="4" name="矩形 3"/>
          <p:cNvSpPr/>
          <p:nvPr/>
        </p:nvSpPr>
        <p:spPr>
          <a:xfrm>
            <a:off x="888607" y="5638800"/>
            <a:ext cx="7600439" cy="830997"/>
          </a:xfrm>
          <a:prstGeom prst="rect">
            <a:avLst/>
          </a:prstGeom>
        </p:spPr>
        <p:txBody>
          <a:bodyPr wrap="square">
            <a:spAutoFit/>
          </a:bodyPr>
          <a:lstStyle/>
          <a:p>
            <a:r>
              <a:rPr lang="zh-CN" altLang="en-US" sz="1600" dirty="0"/>
              <a:t>输入信号是 </a:t>
            </a:r>
            <a:r>
              <a:rPr lang="en-US" altLang="zh-CN" sz="1600" dirty="0"/>
              <a:t>f(t) </a:t>
            </a:r>
            <a:r>
              <a:rPr lang="zh-CN" altLang="en-US" sz="1600" dirty="0"/>
              <a:t>，是随时间变化的。系统响应函数是 </a:t>
            </a:r>
            <a:r>
              <a:rPr lang="en-US" altLang="zh-CN" sz="1600" dirty="0"/>
              <a:t>g(t) </a:t>
            </a:r>
            <a:r>
              <a:rPr lang="zh-CN" altLang="en-US" sz="1600" dirty="0"/>
              <a:t>，图中的响应函数是随时间指数下降的，它的物理意义是说：如果在 </a:t>
            </a:r>
            <a:r>
              <a:rPr lang="en-US" altLang="zh-CN" sz="1600" dirty="0"/>
              <a:t>t=0 </a:t>
            </a:r>
            <a:r>
              <a:rPr lang="zh-CN" altLang="en-US" sz="1600" dirty="0"/>
              <a:t>的时刻有一个输入，那么随着时间的流逝，这个输入将不断衰减。</a:t>
            </a:r>
          </a:p>
        </p:txBody>
      </p:sp>
      <p:pic>
        <p:nvPicPr>
          <p:cNvPr id="4100" name="Picture 4" descr="https://pic3.zhimg.com/80/v2-59c8bcf17c24119810ad3071b960f1ba_720w.jpg?source=1940ef5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185" y="1371598"/>
            <a:ext cx="7879446" cy="4202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7232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zh-CN" altLang="en-US" dirty="0"/>
              <a:t>卷积</a:t>
            </a:r>
            <a:endParaRPr lang="en-US" dirty="0"/>
          </a:p>
        </p:txBody>
      </p:sp>
      <p:sp>
        <p:nvSpPr>
          <p:cNvPr id="4" name="矩形 3"/>
          <p:cNvSpPr/>
          <p:nvPr/>
        </p:nvSpPr>
        <p:spPr>
          <a:xfrm>
            <a:off x="457201" y="5638800"/>
            <a:ext cx="8305800" cy="830997"/>
          </a:xfrm>
          <a:prstGeom prst="rect">
            <a:avLst/>
          </a:prstGeom>
        </p:spPr>
        <p:txBody>
          <a:bodyPr wrap="square">
            <a:spAutoFit/>
          </a:bodyPr>
          <a:lstStyle/>
          <a:p>
            <a:r>
              <a:rPr lang="zh-CN" altLang="en-US" sz="1600" dirty="0"/>
              <a:t>信号是连续输入的，每个时刻都有新的信号进来，输出的是所有之前输入信号的累积效果。</a:t>
            </a:r>
            <a:r>
              <a:rPr lang="en-US" altLang="zh-CN" sz="1600" dirty="0"/>
              <a:t>t=10</a:t>
            </a:r>
            <a:r>
              <a:rPr lang="zh-CN" altLang="en-US" sz="1600" dirty="0"/>
              <a:t>时，输出结果跟带标记的区域整体有关。</a:t>
            </a:r>
            <a:r>
              <a:rPr lang="en-US" altLang="zh-CN" sz="1600" dirty="0"/>
              <a:t>f(10)</a:t>
            </a:r>
            <a:r>
              <a:rPr lang="zh-CN" altLang="en-US" sz="1600" dirty="0"/>
              <a:t>因为是刚输入的，所以其输出结果应该是</a:t>
            </a:r>
            <a:r>
              <a:rPr lang="en-US" altLang="zh-CN" sz="1600" dirty="0"/>
              <a:t>f(10)g(0)</a:t>
            </a:r>
            <a:r>
              <a:rPr lang="zh-CN" altLang="en-US" sz="1600" dirty="0"/>
              <a:t>，而</a:t>
            </a:r>
            <a:r>
              <a:rPr lang="en-US" altLang="zh-CN" sz="1600" dirty="0"/>
              <a:t>t=9</a:t>
            </a:r>
            <a:r>
              <a:rPr lang="zh-CN" altLang="en-US" sz="1600" dirty="0"/>
              <a:t>的输入</a:t>
            </a:r>
            <a:r>
              <a:rPr lang="en-US" altLang="zh-CN" sz="1600" dirty="0"/>
              <a:t>f(9)</a:t>
            </a:r>
            <a:r>
              <a:rPr lang="zh-CN" altLang="en-US" sz="1600" dirty="0"/>
              <a:t>，只经过了</a:t>
            </a:r>
            <a:r>
              <a:rPr lang="en-US" altLang="zh-CN" sz="1600" dirty="0"/>
              <a:t>1</a:t>
            </a:r>
            <a:r>
              <a:rPr lang="zh-CN" altLang="en-US" sz="1600" dirty="0"/>
              <a:t>个时间单位的衰减，所以产生的输出应该是 </a:t>
            </a:r>
            <a:r>
              <a:rPr lang="en-US" altLang="zh-CN" sz="1600" dirty="0"/>
              <a:t>f(9)g(1)</a:t>
            </a:r>
            <a:endParaRPr lang="zh-CN" altLang="en-US" sz="1600" dirty="0"/>
          </a:p>
        </p:txBody>
      </p:sp>
      <p:pic>
        <p:nvPicPr>
          <p:cNvPr id="5124" name="Picture 4" descr="https://pic1.zhimg.com/80/v2-de38ad49f9a1c99dafcc5d0a7fcac2ef_720w.jpg?source=1940ef5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252" y="1298998"/>
            <a:ext cx="7696200" cy="4339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5227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zh-CN" altLang="en-US" dirty="0"/>
              <a:t>卷积</a:t>
            </a:r>
            <a:endParaRPr lang="en-US" dirty="0"/>
          </a:p>
        </p:txBody>
      </p:sp>
      <p:pic>
        <p:nvPicPr>
          <p:cNvPr id="6148" name="Picture 4" descr="https://picx.zhimg.com/80/v2-5d5ca564c8f0eaba9cd9865a9c944fbb_720w.jpg?source=1940ef5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752600"/>
            <a:ext cx="8340808"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1725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zh-CN" altLang="en-US" dirty="0"/>
              <a:t>卷积</a:t>
            </a:r>
            <a:endParaRPr lang="en-US" dirty="0"/>
          </a:p>
        </p:txBody>
      </p:sp>
      <p:pic>
        <p:nvPicPr>
          <p:cNvPr id="7170" name="Picture 2" descr="https://pica.zhimg.com/80/v2-847a8d7c444508862868fa27f2b4c129_720w.jpg?source=1940ef5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965960"/>
            <a:ext cx="7766889"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59187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140782" y="5434178"/>
            <a:ext cx="4043777" cy="908547"/>
          </a:xfrm>
          <a:prstGeom prst="rect">
            <a:avLst/>
          </a:prstGeom>
        </p:spPr>
      </p:pic>
      <p:sp>
        <p:nvSpPr>
          <p:cNvPr id="1027" name="Rectangle 2"/>
          <p:cNvSpPr>
            <a:spLocks noGrp="1" noChangeArrowheads="1"/>
          </p:cNvSpPr>
          <p:nvPr>
            <p:ph type="title"/>
          </p:nvPr>
        </p:nvSpPr>
        <p:spPr>
          <a:xfrm>
            <a:off x="914400" y="1135772"/>
            <a:ext cx="8229600" cy="1143000"/>
          </a:xfrm>
        </p:spPr>
        <p:txBody>
          <a:bodyPr>
            <a:normAutofit fontScale="90000"/>
          </a:bodyPr>
          <a:lstStyle/>
          <a:p>
            <a:r>
              <a:rPr lang="zh-CN" altLang="en-US" dirty="0" smtClean="0"/>
              <a:t>二维卷积：</a:t>
            </a:r>
            <a:r>
              <a:rPr lang="en-US" altLang="zh-CN" dirty="0" smtClean="0"/>
              <a:t/>
            </a:r>
            <a:br>
              <a:rPr lang="en-US" altLang="zh-CN" dirty="0" smtClean="0"/>
            </a:br>
            <a:r>
              <a:rPr lang="en-US" altLang="zh-CN" dirty="0" smtClean="0"/>
              <a:t/>
            </a:r>
            <a:br>
              <a:rPr lang="en-US" altLang="zh-CN" dirty="0" smtClean="0"/>
            </a:br>
            <a:endParaRPr lang="en-US" dirty="0"/>
          </a:p>
        </p:txBody>
      </p:sp>
      <p:sp>
        <p:nvSpPr>
          <p:cNvPr id="3" name="矩形 2"/>
          <p:cNvSpPr/>
          <p:nvPr/>
        </p:nvSpPr>
        <p:spPr>
          <a:xfrm>
            <a:off x="2428602" y="5186270"/>
            <a:ext cx="1131343" cy="276999"/>
          </a:xfrm>
          <a:prstGeom prst="rect">
            <a:avLst/>
          </a:prstGeom>
        </p:spPr>
        <p:txBody>
          <a:bodyPr wrap="square">
            <a:spAutoFit/>
          </a:bodyPr>
          <a:lstStyle/>
          <a:p>
            <a:r>
              <a:rPr lang="zh-CN" altLang="en-US" sz="1200" b="1" dirty="0"/>
              <a:t>水平方向</a:t>
            </a:r>
            <a:r>
              <a:rPr lang="zh-CN" altLang="en-US" sz="1200" b="1" dirty="0" smtClean="0"/>
              <a:t>翻转</a:t>
            </a:r>
            <a:endParaRPr lang="zh-CN" altLang="en-US" sz="1200" b="1" dirty="0"/>
          </a:p>
        </p:txBody>
      </p:sp>
      <p:pic>
        <p:nvPicPr>
          <p:cNvPr id="4" name="图片 3"/>
          <p:cNvPicPr>
            <a:picLocks noChangeAspect="1"/>
          </p:cNvPicPr>
          <p:nvPr/>
        </p:nvPicPr>
        <p:blipFill>
          <a:blip r:embed="rId3"/>
          <a:stretch>
            <a:fillRect/>
          </a:stretch>
        </p:blipFill>
        <p:spPr>
          <a:xfrm>
            <a:off x="812308" y="2173389"/>
            <a:ext cx="2895238" cy="2600000"/>
          </a:xfrm>
          <a:prstGeom prst="rect">
            <a:avLst/>
          </a:prstGeom>
        </p:spPr>
      </p:pic>
      <p:pic>
        <p:nvPicPr>
          <p:cNvPr id="5" name="图片 4"/>
          <p:cNvPicPr>
            <a:picLocks noChangeAspect="1"/>
          </p:cNvPicPr>
          <p:nvPr/>
        </p:nvPicPr>
        <p:blipFill>
          <a:blip r:embed="rId4"/>
          <a:stretch>
            <a:fillRect/>
          </a:stretch>
        </p:blipFill>
        <p:spPr>
          <a:xfrm>
            <a:off x="5255581" y="2406295"/>
            <a:ext cx="3936882" cy="2716394"/>
          </a:xfrm>
          <a:prstGeom prst="rect">
            <a:avLst/>
          </a:prstGeom>
        </p:spPr>
      </p:pic>
      <p:sp>
        <p:nvSpPr>
          <p:cNvPr id="7" name="矩形 6"/>
          <p:cNvSpPr/>
          <p:nvPr/>
        </p:nvSpPr>
        <p:spPr>
          <a:xfrm>
            <a:off x="3852367" y="5200069"/>
            <a:ext cx="1252293" cy="276999"/>
          </a:xfrm>
          <a:prstGeom prst="rect">
            <a:avLst/>
          </a:prstGeom>
        </p:spPr>
        <p:txBody>
          <a:bodyPr wrap="square">
            <a:spAutoFit/>
          </a:bodyPr>
          <a:lstStyle/>
          <a:p>
            <a:r>
              <a:rPr lang="zh-CN" altLang="en-US" sz="1200" b="1" dirty="0" smtClean="0"/>
              <a:t>垂直</a:t>
            </a:r>
            <a:r>
              <a:rPr lang="zh-CN" altLang="en-US" sz="1200" b="1" dirty="0"/>
              <a:t>方向翻转</a:t>
            </a:r>
          </a:p>
        </p:txBody>
      </p:sp>
    </p:spTree>
    <p:extLst>
      <p:ext uri="{BB962C8B-B14F-4D97-AF65-F5344CB8AC3E}">
        <p14:creationId xmlns:p14="http://schemas.microsoft.com/office/powerpoint/2010/main" val="6331334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zh-CN" altLang="en-US" dirty="0" smtClean="0"/>
              <a:t>滤波</a:t>
            </a:r>
            <a:endParaRPr lang="en-US" dirty="0"/>
          </a:p>
        </p:txBody>
      </p:sp>
      <p:sp>
        <p:nvSpPr>
          <p:cNvPr id="3" name="矩形 2"/>
          <p:cNvSpPr/>
          <p:nvPr/>
        </p:nvSpPr>
        <p:spPr>
          <a:xfrm>
            <a:off x="541535" y="1674739"/>
            <a:ext cx="8300623" cy="1754326"/>
          </a:xfrm>
          <a:prstGeom prst="rect">
            <a:avLst/>
          </a:prstGeom>
        </p:spPr>
        <p:txBody>
          <a:bodyPr wrap="square">
            <a:spAutoFit/>
          </a:bodyPr>
          <a:lstStyle/>
          <a:p>
            <a:pPr>
              <a:lnSpc>
                <a:spcPct val="150000"/>
              </a:lnSpc>
            </a:pPr>
            <a:r>
              <a:rPr lang="zh-CN" altLang="en-US" sz="2400" dirty="0"/>
              <a:t>滤波是一种用于修正或增强图像的技术。例如，您可以对图像进行滤波以强调某些特征或删除其他特征。用滤波实现的图像处理运算包括</a:t>
            </a:r>
            <a:r>
              <a:rPr lang="zh-CN" altLang="en-US" sz="2400" dirty="0">
                <a:solidFill>
                  <a:srgbClr val="FF0000"/>
                </a:solidFill>
              </a:rPr>
              <a:t>平滑、锐化和</a:t>
            </a:r>
            <a:r>
              <a:rPr lang="zh-CN" altLang="en-US" sz="2400" dirty="0" smtClean="0">
                <a:solidFill>
                  <a:srgbClr val="FF0000"/>
                </a:solidFill>
              </a:rPr>
              <a:t>边缘增强</a:t>
            </a:r>
            <a:r>
              <a:rPr lang="en-US" altLang="zh-CN" sz="2400" dirty="0" smtClean="0"/>
              <a:t>.</a:t>
            </a:r>
          </a:p>
        </p:txBody>
      </p:sp>
      <p:sp>
        <p:nvSpPr>
          <p:cNvPr id="4" name="矩形 3"/>
          <p:cNvSpPr/>
          <p:nvPr/>
        </p:nvSpPr>
        <p:spPr>
          <a:xfrm>
            <a:off x="541535" y="3863715"/>
            <a:ext cx="8455981" cy="1077218"/>
          </a:xfrm>
          <a:prstGeom prst="rect">
            <a:avLst/>
          </a:prstGeom>
        </p:spPr>
        <p:txBody>
          <a:bodyPr wrap="square">
            <a:spAutoFit/>
          </a:bodyPr>
          <a:lstStyle/>
          <a:p>
            <a:r>
              <a:rPr lang="zh-CN" altLang="en-US" sz="1600" dirty="0">
                <a:hlinkClick r:id="rId2"/>
              </a:rPr>
              <a:t>https://ww2.mathworks.cn/help/images/what-is-image-filtering-in-the-spatial-domain.html?s_tid=srchtitle_site_search_4_%25E5%259B%25BE%25E5%2583%258F%25E9%2594%2590%25E5%258C%</a:t>
            </a:r>
            <a:r>
              <a:rPr lang="zh-CN" altLang="en-US" sz="1600" dirty="0" smtClean="0">
                <a:hlinkClick r:id="rId2"/>
              </a:rPr>
              <a:t>2596</a:t>
            </a:r>
            <a:endParaRPr lang="en-US" altLang="zh-CN" sz="1600" dirty="0" smtClean="0"/>
          </a:p>
          <a:p>
            <a:endParaRPr lang="zh-CN" altLang="en-US" sz="1600" dirty="0"/>
          </a:p>
        </p:txBody>
      </p:sp>
      <p:pic>
        <p:nvPicPr>
          <p:cNvPr id="5" name="图片 4"/>
          <p:cNvPicPr>
            <a:picLocks noChangeAspect="1"/>
          </p:cNvPicPr>
          <p:nvPr/>
        </p:nvPicPr>
        <p:blipFill>
          <a:blip r:embed="rId3"/>
          <a:stretch>
            <a:fillRect/>
          </a:stretch>
        </p:blipFill>
        <p:spPr>
          <a:xfrm>
            <a:off x="541535" y="5180630"/>
            <a:ext cx="7386224" cy="994591"/>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均值滤波</a:t>
            </a:r>
            <a:endParaRPr lang="en-US" dirty="0"/>
          </a:p>
        </p:txBody>
      </p:sp>
      <p:graphicFrame>
        <p:nvGraphicFramePr>
          <p:cNvPr id="12" name="Group 381"/>
          <p:cNvGraphicFramePr>
            <a:graphicFrameLocks noGrp="1"/>
          </p:cNvGraphicFramePr>
          <p:nvPr>
            <p:custDataLst>
              <p:tags r:id="rId1"/>
            </p:custDataLst>
          </p:nvPr>
        </p:nvGraphicFramePr>
        <p:xfrm>
          <a:off x="2133598" y="2125657"/>
          <a:ext cx="3124202" cy="2692840"/>
        </p:xfrm>
        <a:graphic>
          <a:graphicData uri="http://schemas.openxmlformats.org/drawingml/2006/table">
            <a:tbl>
              <a:tblPr/>
              <a:tblGrid>
                <a:gridCol w="312676">
                  <a:extLst>
                    <a:ext uri="{9D8B030D-6E8A-4147-A177-3AD203B41FA5}">
                      <a16:colId xmlns:a16="http://schemas.microsoft.com/office/drawing/2014/main" val="20000"/>
                    </a:ext>
                  </a:extLst>
                </a:gridCol>
                <a:gridCol w="312675">
                  <a:extLst>
                    <a:ext uri="{9D8B030D-6E8A-4147-A177-3AD203B41FA5}">
                      <a16:colId xmlns:a16="http://schemas.microsoft.com/office/drawing/2014/main" val="20001"/>
                    </a:ext>
                  </a:extLst>
                </a:gridCol>
                <a:gridCol w="311399">
                  <a:extLst>
                    <a:ext uri="{9D8B030D-6E8A-4147-A177-3AD203B41FA5}">
                      <a16:colId xmlns:a16="http://schemas.microsoft.com/office/drawing/2014/main" val="20002"/>
                    </a:ext>
                  </a:extLst>
                </a:gridCol>
                <a:gridCol w="312676">
                  <a:extLst>
                    <a:ext uri="{9D8B030D-6E8A-4147-A177-3AD203B41FA5}">
                      <a16:colId xmlns:a16="http://schemas.microsoft.com/office/drawing/2014/main" val="20003"/>
                    </a:ext>
                  </a:extLst>
                </a:gridCol>
                <a:gridCol w="312675">
                  <a:extLst>
                    <a:ext uri="{9D8B030D-6E8A-4147-A177-3AD203B41FA5}">
                      <a16:colId xmlns:a16="http://schemas.microsoft.com/office/drawing/2014/main" val="20004"/>
                    </a:ext>
                  </a:extLst>
                </a:gridCol>
                <a:gridCol w="312676">
                  <a:extLst>
                    <a:ext uri="{9D8B030D-6E8A-4147-A177-3AD203B41FA5}">
                      <a16:colId xmlns:a16="http://schemas.microsoft.com/office/drawing/2014/main" val="20005"/>
                    </a:ext>
                  </a:extLst>
                </a:gridCol>
                <a:gridCol w="312675">
                  <a:extLst>
                    <a:ext uri="{9D8B030D-6E8A-4147-A177-3AD203B41FA5}">
                      <a16:colId xmlns:a16="http://schemas.microsoft.com/office/drawing/2014/main" val="20006"/>
                    </a:ext>
                  </a:extLst>
                </a:gridCol>
                <a:gridCol w="311399">
                  <a:extLst>
                    <a:ext uri="{9D8B030D-6E8A-4147-A177-3AD203B41FA5}">
                      <a16:colId xmlns:a16="http://schemas.microsoft.com/office/drawing/2014/main" val="20007"/>
                    </a:ext>
                  </a:extLst>
                </a:gridCol>
                <a:gridCol w="312676">
                  <a:extLst>
                    <a:ext uri="{9D8B030D-6E8A-4147-A177-3AD203B41FA5}">
                      <a16:colId xmlns:a16="http://schemas.microsoft.com/office/drawing/2014/main" val="20008"/>
                    </a:ext>
                  </a:extLst>
                </a:gridCol>
                <a:gridCol w="312675">
                  <a:extLst>
                    <a:ext uri="{9D8B030D-6E8A-4147-A177-3AD203B41FA5}">
                      <a16:colId xmlns:a16="http://schemas.microsoft.com/office/drawing/2014/main" val="20009"/>
                    </a:ext>
                  </a:extLst>
                </a:gridCol>
              </a:tblGrid>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0"/>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1"/>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2"/>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3"/>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4"/>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5"/>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6"/>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7"/>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8"/>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Roman"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9"/>
                  </a:ext>
                </a:extLst>
              </a:tr>
            </a:tbl>
          </a:graphicData>
        </a:graphic>
      </p:graphicFrame>
      <p:graphicFrame>
        <p:nvGraphicFramePr>
          <p:cNvPr id="16" name="Table 15"/>
          <p:cNvGraphicFramePr>
            <a:graphicFrameLocks noGrp="1"/>
          </p:cNvGraphicFramePr>
          <p:nvPr/>
        </p:nvGraphicFramePr>
        <p:xfrm>
          <a:off x="468127" y="2971800"/>
          <a:ext cx="979673" cy="844869"/>
        </p:xfrm>
        <a:graphic>
          <a:graphicData uri="http://schemas.openxmlformats.org/drawingml/2006/table">
            <a:tbl>
              <a:tblPr/>
              <a:tblGrid>
                <a:gridCol w="327003">
                  <a:extLst>
                    <a:ext uri="{9D8B030D-6E8A-4147-A177-3AD203B41FA5}">
                      <a16:colId xmlns:a16="http://schemas.microsoft.com/office/drawing/2014/main" val="20000"/>
                    </a:ext>
                  </a:extLst>
                </a:gridCol>
                <a:gridCol w="327002">
                  <a:extLst>
                    <a:ext uri="{9D8B030D-6E8A-4147-A177-3AD203B41FA5}">
                      <a16:colId xmlns:a16="http://schemas.microsoft.com/office/drawing/2014/main" val="20001"/>
                    </a:ext>
                  </a:extLst>
                </a:gridCol>
                <a:gridCol w="325668">
                  <a:extLst>
                    <a:ext uri="{9D8B030D-6E8A-4147-A177-3AD203B41FA5}">
                      <a16:colId xmlns:a16="http://schemas.microsoft.com/office/drawing/2014/main" val="20002"/>
                    </a:ext>
                  </a:extLst>
                </a:gridCol>
              </a:tblGrid>
              <a:tr h="281623">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Roman"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Roman"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Roman"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1623">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Roman"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Roman"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Roman"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1623">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Roman"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Roman"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Roman"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7" name="TextBox 16"/>
          <p:cNvSpPr txBox="1"/>
          <p:nvPr/>
        </p:nvSpPr>
        <p:spPr>
          <a:xfrm>
            <a:off x="1417333" y="2819399"/>
            <a:ext cx="1064607"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pic>
        <p:nvPicPr>
          <p:cNvPr id="21506" name="Picture 2"/>
          <p:cNvPicPr>
            <a:picLocks noChangeAspect="1" noChangeArrowheads="1"/>
          </p:cNvPicPr>
          <p:nvPr/>
        </p:nvPicPr>
        <p:blipFill>
          <a:blip r:embed="rId6" cstate="print"/>
          <a:srcRect/>
          <a:stretch>
            <a:fillRect/>
          </a:stretch>
        </p:blipFill>
        <p:spPr bwMode="auto">
          <a:xfrm>
            <a:off x="141555" y="3015342"/>
            <a:ext cx="202047" cy="757237"/>
          </a:xfrm>
          <a:prstGeom prst="rect">
            <a:avLst/>
          </a:prstGeom>
          <a:noFill/>
          <a:ln w="9525">
            <a:noFill/>
            <a:miter lim="800000"/>
            <a:headEnd/>
            <a:tailEnd/>
          </a:ln>
        </p:spPr>
      </p:pic>
      <p:sp>
        <p:nvSpPr>
          <p:cNvPr id="20" name="TextBox 19"/>
          <p:cNvSpPr txBox="1"/>
          <p:nvPr/>
        </p:nvSpPr>
        <p:spPr>
          <a:xfrm>
            <a:off x="5298872" y="2743200"/>
            <a:ext cx="644728" cy="1200329"/>
          </a:xfrm>
          <a:prstGeom prst="rect">
            <a:avLst/>
          </a:prstGeom>
          <a:noFill/>
        </p:spPr>
        <p:txBody>
          <a:bodyPr wrap="none" rtlCol="0">
            <a:spAutoFit/>
          </a:bodyPr>
          <a:lstStyle/>
          <a:p>
            <a:r>
              <a:rPr lang="en-US" sz="7200" dirty="0"/>
              <a:t>=</a:t>
            </a:r>
          </a:p>
        </p:txBody>
      </p:sp>
      <p:graphicFrame>
        <p:nvGraphicFramePr>
          <p:cNvPr id="21" name="Group 128"/>
          <p:cNvGraphicFramePr>
            <a:graphicFrameLocks noGrp="1"/>
          </p:cNvGraphicFramePr>
          <p:nvPr>
            <p:custDataLst>
              <p:tags r:id="rId2"/>
            </p:custDataLst>
          </p:nvPr>
        </p:nvGraphicFramePr>
        <p:xfrm>
          <a:off x="5943600" y="2133600"/>
          <a:ext cx="3094218" cy="2667000"/>
        </p:xfrm>
        <a:graphic>
          <a:graphicData uri="http://schemas.openxmlformats.org/drawingml/2006/table">
            <a:tbl>
              <a:tblPr/>
              <a:tblGrid>
                <a:gridCol w="309675">
                  <a:extLst>
                    <a:ext uri="{9D8B030D-6E8A-4147-A177-3AD203B41FA5}">
                      <a16:colId xmlns:a16="http://schemas.microsoft.com/office/drawing/2014/main" val="20000"/>
                    </a:ext>
                  </a:extLst>
                </a:gridCol>
                <a:gridCol w="309674">
                  <a:extLst>
                    <a:ext uri="{9D8B030D-6E8A-4147-A177-3AD203B41FA5}">
                      <a16:colId xmlns:a16="http://schemas.microsoft.com/office/drawing/2014/main" val="20001"/>
                    </a:ext>
                  </a:extLst>
                </a:gridCol>
                <a:gridCol w="308411">
                  <a:extLst>
                    <a:ext uri="{9D8B030D-6E8A-4147-A177-3AD203B41FA5}">
                      <a16:colId xmlns:a16="http://schemas.microsoft.com/office/drawing/2014/main" val="20002"/>
                    </a:ext>
                  </a:extLst>
                </a:gridCol>
                <a:gridCol w="309675">
                  <a:extLst>
                    <a:ext uri="{9D8B030D-6E8A-4147-A177-3AD203B41FA5}">
                      <a16:colId xmlns:a16="http://schemas.microsoft.com/office/drawing/2014/main" val="20003"/>
                    </a:ext>
                  </a:extLst>
                </a:gridCol>
                <a:gridCol w="309674">
                  <a:extLst>
                    <a:ext uri="{9D8B030D-6E8A-4147-A177-3AD203B41FA5}">
                      <a16:colId xmlns:a16="http://schemas.microsoft.com/office/drawing/2014/main" val="20004"/>
                    </a:ext>
                  </a:extLst>
                </a:gridCol>
                <a:gridCol w="309675">
                  <a:extLst>
                    <a:ext uri="{9D8B030D-6E8A-4147-A177-3AD203B41FA5}">
                      <a16:colId xmlns:a16="http://schemas.microsoft.com/office/drawing/2014/main" val="20005"/>
                    </a:ext>
                  </a:extLst>
                </a:gridCol>
                <a:gridCol w="309674">
                  <a:extLst>
                    <a:ext uri="{9D8B030D-6E8A-4147-A177-3AD203B41FA5}">
                      <a16:colId xmlns:a16="http://schemas.microsoft.com/office/drawing/2014/main" val="20006"/>
                    </a:ext>
                  </a:extLst>
                </a:gridCol>
                <a:gridCol w="308411">
                  <a:extLst>
                    <a:ext uri="{9D8B030D-6E8A-4147-A177-3AD203B41FA5}">
                      <a16:colId xmlns:a16="http://schemas.microsoft.com/office/drawing/2014/main" val="20007"/>
                    </a:ext>
                  </a:extLst>
                </a:gridCol>
                <a:gridCol w="309675">
                  <a:extLst>
                    <a:ext uri="{9D8B030D-6E8A-4147-A177-3AD203B41FA5}">
                      <a16:colId xmlns:a16="http://schemas.microsoft.com/office/drawing/2014/main" val="20008"/>
                    </a:ext>
                  </a:extLst>
                </a:gridCol>
                <a:gridCol w="309674">
                  <a:extLst>
                    <a:ext uri="{9D8B030D-6E8A-4147-A177-3AD203B41FA5}">
                      <a16:colId xmlns:a16="http://schemas.microsoft.com/office/drawing/2014/main" val="20009"/>
                    </a:ext>
                  </a:extLst>
                </a:gridCol>
              </a:tblGrid>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40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40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50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80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80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50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80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80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90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50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50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40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a:ln>
                            <a:noFill/>
                          </a:ln>
                          <a:solidFill>
                            <a:schemeClr val="tx1"/>
                          </a:solidFill>
                          <a:effectLst/>
                          <a:latin typeface="Myriad Roman"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Roman"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22" name="Rectangle 252"/>
          <p:cNvSpPr>
            <a:spLocks noChangeArrowheads="1"/>
          </p:cNvSpPr>
          <p:nvPr>
            <p:custDataLst>
              <p:tags r:id="rId3"/>
            </p:custDataLst>
          </p:nvPr>
        </p:nvSpPr>
        <p:spPr bwMode="auto">
          <a:xfrm>
            <a:off x="6553200" y="3990878"/>
            <a:ext cx="303355" cy="265436"/>
          </a:xfrm>
          <a:prstGeom prst="rect">
            <a:avLst/>
          </a:prstGeom>
          <a:noFill/>
          <a:ln w="38100">
            <a:solidFill>
              <a:srgbClr val="FF0000"/>
            </a:solidFill>
            <a:miter lim="800000"/>
            <a:headEnd/>
            <a:tailEnd/>
          </a:ln>
          <a:effectLst/>
        </p:spPr>
        <p:txBody>
          <a:bodyPr wrap="none" anchor="ctr"/>
          <a:lstStyle/>
          <a:p>
            <a:endParaRPr lang="en-US"/>
          </a:p>
        </p:txBody>
      </p:sp>
      <p:sp>
        <p:nvSpPr>
          <p:cNvPr id="23" name="Rectangle 251"/>
          <p:cNvSpPr>
            <a:spLocks noChangeArrowheads="1"/>
          </p:cNvSpPr>
          <p:nvPr>
            <p:custDataLst>
              <p:tags r:id="rId4"/>
            </p:custDataLst>
          </p:nvPr>
        </p:nvSpPr>
        <p:spPr bwMode="auto">
          <a:xfrm>
            <a:off x="2438398" y="3748118"/>
            <a:ext cx="957942" cy="823882"/>
          </a:xfrm>
          <a:prstGeom prst="rect">
            <a:avLst/>
          </a:prstGeom>
          <a:noFill/>
          <a:ln w="38100">
            <a:solidFill>
              <a:srgbClr val="FF0000"/>
            </a:solidFill>
            <a:miter lim="800000"/>
            <a:headEnd/>
            <a:tailEnd/>
          </a:ln>
          <a:effectLst/>
        </p:spPr>
        <p:txBody>
          <a:bodyPr wrap="none" anchor="ctr"/>
          <a:lstStyle/>
          <a:p>
            <a:endParaRPr lang="en-US"/>
          </a:p>
        </p:txBody>
      </p:sp>
      <p:pic>
        <p:nvPicPr>
          <p:cNvPr id="14" name="Picture 1"/>
          <p:cNvPicPr>
            <a:picLocks noChangeAspect="1" noChangeArrowheads="1"/>
          </p:cNvPicPr>
          <p:nvPr/>
        </p:nvPicPr>
        <p:blipFill>
          <a:blip r:embed="rId7" cstate="print"/>
          <a:srcRect/>
          <a:stretch>
            <a:fillRect/>
          </a:stretch>
        </p:blipFill>
        <p:spPr bwMode="auto">
          <a:xfrm>
            <a:off x="7239000" y="4887684"/>
            <a:ext cx="462643" cy="456127"/>
          </a:xfrm>
          <a:prstGeom prst="rect">
            <a:avLst/>
          </a:prstGeom>
          <a:noFill/>
          <a:ln w="9525">
            <a:noFill/>
            <a:miter lim="800000"/>
            <a:headEnd/>
            <a:tailEnd/>
          </a:ln>
        </p:spPr>
      </p:pic>
      <p:pic>
        <p:nvPicPr>
          <p:cNvPr id="15" name="Picture 2"/>
          <p:cNvPicPr>
            <a:picLocks noChangeAspect="1" noChangeArrowheads="1"/>
          </p:cNvPicPr>
          <p:nvPr/>
        </p:nvPicPr>
        <p:blipFill>
          <a:blip r:embed="rId8" cstate="print"/>
          <a:srcRect/>
          <a:stretch>
            <a:fillRect/>
          </a:stretch>
        </p:blipFill>
        <p:spPr bwMode="auto">
          <a:xfrm>
            <a:off x="631411" y="3925527"/>
            <a:ext cx="525812" cy="456126"/>
          </a:xfrm>
          <a:prstGeom prst="rect">
            <a:avLst/>
          </a:prstGeom>
          <a:noFill/>
          <a:ln w="9525">
            <a:noFill/>
            <a:miter lim="800000"/>
            <a:headEnd/>
            <a:tailEnd/>
          </a:ln>
        </p:spPr>
      </p:pic>
      <p:pic>
        <p:nvPicPr>
          <p:cNvPr id="18" name="Picture 3"/>
          <p:cNvPicPr>
            <a:picLocks noChangeAspect="1" noChangeArrowheads="1"/>
          </p:cNvPicPr>
          <p:nvPr/>
        </p:nvPicPr>
        <p:blipFill>
          <a:blip r:embed="rId9" cstate="print"/>
          <a:srcRect/>
          <a:stretch>
            <a:fillRect/>
          </a:stretch>
        </p:blipFill>
        <p:spPr bwMode="auto">
          <a:xfrm>
            <a:off x="3428998" y="4953000"/>
            <a:ext cx="456127" cy="385460"/>
          </a:xfrm>
          <a:prstGeom prst="rect">
            <a:avLst/>
          </a:prstGeom>
          <a:noFill/>
          <a:ln w="9525">
            <a:noFill/>
            <a:miter lim="800000"/>
            <a:headEnd/>
            <a:tailEnd/>
          </a:ln>
        </p:spPr>
      </p:pic>
      <p:grpSp>
        <p:nvGrpSpPr>
          <p:cNvPr id="34" name="Group 33"/>
          <p:cNvGrpSpPr/>
          <p:nvPr/>
        </p:nvGrpSpPr>
        <p:grpSpPr>
          <a:xfrm>
            <a:off x="32658" y="2971800"/>
            <a:ext cx="1382482" cy="838200"/>
            <a:chOff x="32658" y="2971800"/>
            <a:chExt cx="1382482" cy="838200"/>
          </a:xfrm>
        </p:grpSpPr>
        <p:sp>
          <p:nvSpPr>
            <p:cNvPr id="19" name="Rectangle 18"/>
            <p:cNvSpPr/>
            <p:nvPr/>
          </p:nvSpPr>
          <p:spPr>
            <a:xfrm>
              <a:off x="522514" y="3037114"/>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522514" y="3320144"/>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33400" y="3592288"/>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838200" y="3603170"/>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838200" y="3309258"/>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849086" y="3037114"/>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1175658" y="3037114"/>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1186540" y="3320142"/>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1175656" y="3603170"/>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32658" y="2971800"/>
              <a:ext cx="381000" cy="83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81368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3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2" grpId="0" animBg="1"/>
      <p:bldP spid="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5 at 1.59.30 PM.png"/>
          <p:cNvPicPr>
            <a:picLocks noChangeAspect="1"/>
          </p:cNvPicPr>
          <p:nvPr/>
        </p:nvPicPr>
        <p:blipFill rotWithShape="1">
          <a:blip r:embed="rId2" cstate="print">
            <a:extLst>
              <a:ext uri="{28A0092B-C50C-407E-A947-70E740481C1C}">
                <a14:useLocalDpi xmlns:a14="http://schemas.microsoft.com/office/drawing/2010/main" val="0"/>
              </a:ext>
            </a:extLst>
          </a:blip>
          <a:srcRect l="13565" t="26016" r="13767" b="21084"/>
          <a:stretch/>
        </p:blipFill>
        <p:spPr>
          <a:xfrm>
            <a:off x="1240364" y="1772188"/>
            <a:ext cx="6644813" cy="3603450"/>
          </a:xfrm>
          <a:prstGeom prst="rect">
            <a:avLst/>
          </a:prstGeom>
        </p:spPr>
      </p:pic>
      <p:sp>
        <p:nvSpPr>
          <p:cNvPr id="3" name="Title 1"/>
          <p:cNvSpPr>
            <a:spLocks noGrp="1"/>
          </p:cNvSpPr>
          <p:nvPr>
            <p:ph type="title"/>
          </p:nvPr>
        </p:nvSpPr>
        <p:spPr>
          <a:xfrm>
            <a:off x="457200" y="274638"/>
            <a:ext cx="8229600" cy="1143000"/>
          </a:xfrm>
        </p:spPr>
        <p:txBody>
          <a:bodyPr/>
          <a:lstStyle/>
          <a:p>
            <a:r>
              <a:rPr lang="zh-CN" altLang="en-US" dirty="0"/>
              <a:t>均值滤波和移动平均</a:t>
            </a:r>
            <a:endParaRPr lang="en-US" dirty="0"/>
          </a:p>
        </p:txBody>
      </p:sp>
    </p:spTree>
    <p:extLst>
      <p:ext uri="{BB962C8B-B14F-4D97-AF65-F5344CB8AC3E}">
        <p14:creationId xmlns:p14="http://schemas.microsoft.com/office/powerpoint/2010/main" val="2308010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5 at 1.59.37 PM.png"/>
          <p:cNvPicPr>
            <a:picLocks noChangeAspect="1"/>
          </p:cNvPicPr>
          <p:nvPr/>
        </p:nvPicPr>
        <p:blipFill rotWithShape="1">
          <a:blip r:embed="rId2" cstate="print">
            <a:extLst>
              <a:ext uri="{28A0092B-C50C-407E-A947-70E740481C1C}">
                <a14:useLocalDpi xmlns:a14="http://schemas.microsoft.com/office/drawing/2010/main" val="0"/>
              </a:ext>
            </a:extLst>
          </a:blip>
          <a:srcRect l="16567" t="23904" r="13132" b="24414"/>
          <a:stretch/>
        </p:blipFill>
        <p:spPr>
          <a:xfrm>
            <a:off x="1520924" y="1639274"/>
            <a:ext cx="6423318" cy="3544377"/>
          </a:xfrm>
          <a:prstGeom prst="rect">
            <a:avLst/>
          </a:prstGeom>
        </p:spPr>
      </p:pic>
      <p:sp>
        <p:nvSpPr>
          <p:cNvPr id="3" name="Title 1"/>
          <p:cNvSpPr>
            <a:spLocks noGrp="1"/>
          </p:cNvSpPr>
          <p:nvPr>
            <p:ph type="title"/>
          </p:nvPr>
        </p:nvSpPr>
        <p:spPr>
          <a:xfrm>
            <a:off x="457200" y="274638"/>
            <a:ext cx="8229600" cy="1143000"/>
          </a:xfrm>
        </p:spPr>
        <p:txBody>
          <a:bodyPr/>
          <a:lstStyle/>
          <a:p>
            <a:r>
              <a:rPr lang="zh-CN" altLang="en-US" dirty="0"/>
              <a:t>均值滤波和移动平均</a:t>
            </a:r>
            <a:endParaRPr lang="en-US" dirty="0"/>
          </a:p>
        </p:txBody>
      </p:sp>
    </p:spTree>
    <p:extLst>
      <p:ext uri="{BB962C8B-B14F-4D97-AF65-F5344CB8AC3E}">
        <p14:creationId xmlns:p14="http://schemas.microsoft.com/office/powerpoint/2010/main" val="3641727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5 at 1.59.42 PM.png"/>
          <p:cNvPicPr>
            <a:picLocks noChangeAspect="1"/>
          </p:cNvPicPr>
          <p:nvPr/>
        </p:nvPicPr>
        <p:blipFill rotWithShape="1">
          <a:blip r:embed="rId2" cstate="print">
            <a:extLst>
              <a:ext uri="{28A0092B-C50C-407E-A947-70E740481C1C}">
                <a14:useLocalDpi xmlns:a14="http://schemas.microsoft.com/office/drawing/2010/main" val="0"/>
              </a:ext>
            </a:extLst>
          </a:blip>
          <a:srcRect l="16485" t="24549" r="13860" b="24199"/>
          <a:stretch/>
        </p:blipFill>
        <p:spPr>
          <a:xfrm>
            <a:off x="1506157" y="1683578"/>
            <a:ext cx="6364254" cy="3514841"/>
          </a:xfrm>
          <a:prstGeom prst="rect">
            <a:avLst/>
          </a:prstGeom>
        </p:spPr>
      </p:pic>
      <p:sp>
        <p:nvSpPr>
          <p:cNvPr id="3" name="Title 1"/>
          <p:cNvSpPr>
            <a:spLocks noGrp="1"/>
          </p:cNvSpPr>
          <p:nvPr>
            <p:ph type="title"/>
          </p:nvPr>
        </p:nvSpPr>
        <p:spPr>
          <a:xfrm>
            <a:off x="457200" y="274638"/>
            <a:ext cx="8229600" cy="1143000"/>
          </a:xfrm>
        </p:spPr>
        <p:txBody>
          <a:bodyPr/>
          <a:lstStyle/>
          <a:p>
            <a:r>
              <a:rPr lang="zh-CN" altLang="en-US" dirty="0"/>
              <a:t>均值滤波和移动平均</a:t>
            </a:r>
            <a:endParaRPr lang="en-US" dirty="0"/>
          </a:p>
        </p:txBody>
      </p:sp>
    </p:spTree>
    <p:extLst>
      <p:ext uri="{BB962C8B-B14F-4D97-AF65-F5344CB8AC3E}">
        <p14:creationId xmlns:p14="http://schemas.microsoft.com/office/powerpoint/2010/main" val="1023962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5 at 1.59.48 PM.png"/>
          <p:cNvPicPr>
            <a:picLocks noChangeAspect="1"/>
          </p:cNvPicPr>
          <p:nvPr/>
        </p:nvPicPr>
        <p:blipFill rotWithShape="1">
          <a:blip r:embed="rId2" cstate="print">
            <a:extLst>
              <a:ext uri="{28A0092B-C50C-407E-A947-70E740481C1C}">
                <a14:useLocalDpi xmlns:a14="http://schemas.microsoft.com/office/drawing/2010/main" val="0"/>
              </a:ext>
            </a:extLst>
          </a:blip>
          <a:srcRect l="16406" t="23257" r="13616" b="24199"/>
          <a:stretch/>
        </p:blipFill>
        <p:spPr>
          <a:xfrm>
            <a:off x="1506158" y="1594970"/>
            <a:ext cx="6393786" cy="3603449"/>
          </a:xfrm>
          <a:prstGeom prst="rect">
            <a:avLst/>
          </a:prstGeom>
        </p:spPr>
      </p:pic>
      <p:sp>
        <p:nvSpPr>
          <p:cNvPr id="3" name="Title 1"/>
          <p:cNvSpPr>
            <a:spLocks noGrp="1"/>
          </p:cNvSpPr>
          <p:nvPr>
            <p:ph type="title"/>
          </p:nvPr>
        </p:nvSpPr>
        <p:spPr>
          <a:xfrm>
            <a:off x="457200" y="274638"/>
            <a:ext cx="8229600" cy="1143000"/>
          </a:xfrm>
        </p:spPr>
        <p:txBody>
          <a:bodyPr/>
          <a:lstStyle/>
          <a:p>
            <a:r>
              <a:rPr lang="zh-CN" altLang="en-US" dirty="0"/>
              <a:t>均值滤波和移动平均</a:t>
            </a:r>
            <a:endParaRPr lang="en-US" dirty="0"/>
          </a:p>
        </p:txBody>
      </p:sp>
    </p:spTree>
    <p:extLst>
      <p:ext uri="{BB962C8B-B14F-4D97-AF65-F5344CB8AC3E}">
        <p14:creationId xmlns:p14="http://schemas.microsoft.com/office/powerpoint/2010/main" val="79929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5 at 1.59.53 PM.png"/>
          <p:cNvPicPr>
            <a:picLocks noChangeAspect="1"/>
          </p:cNvPicPr>
          <p:nvPr/>
        </p:nvPicPr>
        <p:blipFill rotWithShape="1">
          <a:blip r:embed="rId2" cstate="print">
            <a:extLst>
              <a:ext uri="{28A0092B-C50C-407E-A947-70E740481C1C}">
                <a14:useLocalDpi xmlns:a14="http://schemas.microsoft.com/office/drawing/2010/main" val="0"/>
              </a:ext>
            </a:extLst>
          </a:blip>
          <a:srcRect l="14951" t="24765" r="11676" b="24415"/>
          <a:stretch/>
        </p:blipFill>
        <p:spPr>
          <a:xfrm>
            <a:off x="1373261" y="1698346"/>
            <a:ext cx="6703877" cy="3485305"/>
          </a:xfrm>
          <a:prstGeom prst="rect">
            <a:avLst/>
          </a:prstGeom>
        </p:spPr>
      </p:pic>
      <p:sp>
        <p:nvSpPr>
          <p:cNvPr id="3" name="Title 1"/>
          <p:cNvSpPr>
            <a:spLocks noGrp="1"/>
          </p:cNvSpPr>
          <p:nvPr>
            <p:ph type="title"/>
          </p:nvPr>
        </p:nvSpPr>
        <p:spPr>
          <a:xfrm>
            <a:off x="457200" y="274638"/>
            <a:ext cx="8229600" cy="1143000"/>
          </a:xfrm>
        </p:spPr>
        <p:txBody>
          <a:bodyPr/>
          <a:lstStyle/>
          <a:p>
            <a:r>
              <a:rPr lang="zh-CN" altLang="en-US" dirty="0"/>
              <a:t>均值滤波和移动平均</a:t>
            </a:r>
            <a:endParaRPr lang="en-US" dirty="0"/>
          </a:p>
        </p:txBody>
      </p:sp>
    </p:spTree>
    <p:extLst>
      <p:ext uri="{BB962C8B-B14F-4D97-AF65-F5344CB8AC3E}">
        <p14:creationId xmlns:p14="http://schemas.microsoft.com/office/powerpoint/2010/main" val="23676559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5 at 1.59.58 PM.png"/>
          <p:cNvPicPr>
            <a:picLocks noChangeAspect="1"/>
          </p:cNvPicPr>
          <p:nvPr/>
        </p:nvPicPr>
        <p:blipFill rotWithShape="1">
          <a:blip r:embed="rId2" cstate="print">
            <a:extLst>
              <a:ext uri="{28A0092B-C50C-407E-A947-70E740481C1C}">
                <a14:useLocalDpi xmlns:a14="http://schemas.microsoft.com/office/drawing/2010/main" val="0"/>
              </a:ext>
            </a:extLst>
          </a:blip>
          <a:srcRect l="16891" t="24980" r="12000" b="23984"/>
          <a:stretch/>
        </p:blipFill>
        <p:spPr>
          <a:xfrm>
            <a:off x="1550456" y="1713115"/>
            <a:ext cx="6497150" cy="3500074"/>
          </a:xfrm>
          <a:prstGeom prst="rect">
            <a:avLst/>
          </a:prstGeom>
        </p:spPr>
      </p:pic>
      <p:sp>
        <p:nvSpPr>
          <p:cNvPr id="3" name="Title 1"/>
          <p:cNvSpPr>
            <a:spLocks noGrp="1"/>
          </p:cNvSpPr>
          <p:nvPr>
            <p:ph type="title"/>
          </p:nvPr>
        </p:nvSpPr>
        <p:spPr>
          <a:xfrm>
            <a:off x="457200" y="274638"/>
            <a:ext cx="8229600" cy="1143000"/>
          </a:xfrm>
        </p:spPr>
        <p:txBody>
          <a:bodyPr/>
          <a:lstStyle/>
          <a:p>
            <a:r>
              <a:rPr lang="zh-CN" altLang="en-US" dirty="0"/>
              <a:t>均值滤波和移动平均</a:t>
            </a:r>
            <a:endParaRPr lang="en-US" dirty="0"/>
          </a:p>
        </p:txBody>
      </p:sp>
    </p:spTree>
    <p:extLst>
      <p:ext uri="{BB962C8B-B14F-4D97-AF65-F5344CB8AC3E}">
        <p14:creationId xmlns:p14="http://schemas.microsoft.com/office/powerpoint/2010/main" val="818892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510466" y="0"/>
            <a:ext cx="8229600" cy="1143000"/>
          </a:xfrm>
        </p:spPr>
        <p:txBody>
          <a:bodyPr/>
          <a:lstStyle/>
          <a:p>
            <a:r>
              <a:rPr lang="zh-CN" altLang="en-US" dirty="0"/>
              <a:t>滤波器示例</a:t>
            </a:r>
            <a:endParaRPr lang="en-US" dirty="0"/>
          </a:p>
        </p:txBody>
      </p:sp>
      <p:pic>
        <p:nvPicPr>
          <p:cNvPr id="22531" name="Picture 3"/>
          <p:cNvPicPr>
            <a:picLocks noChangeAspect="1" noChangeArrowheads="1"/>
          </p:cNvPicPr>
          <p:nvPr/>
        </p:nvPicPr>
        <p:blipFill>
          <a:blip r:embed="rId4" cstate="print"/>
          <a:srcRect/>
          <a:stretch>
            <a:fillRect/>
          </a:stretch>
        </p:blipFill>
        <p:spPr bwMode="auto">
          <a:xfrm>
            <a:off x="878890" y="1047929"/>
            <a:ext cx="1876425" cy="1857375"/>
          </a:xfrm>
          <a:prstGeom prst="rect">
            <a:avLst/>
          </a:prstGeom>
          <a:noFill/>
          <a:ln w="38100">
            <a:solidFill>
              <a:schemeClr val="tx1"/>
            </a:solidFill>
            <a:miter lim="800000"/>
            <a:headEnd/>
            <a:tailEnd/>
          </a:ln>
        </p:spPr>
      </p:pic>
      <p:sp>
        <p:nvSpPr>
          <p:cNvPr id="22532" name="Text Box 4"/>
          <p:cNvSpPr txBox="1">
            <a:spLocks noChangeArrowheads="1"/>
          </p:cNvSpPr>
          <p:nvPr/>
        </p:nvSpPr>
        <p:spPr bwMode="auto">
          <a:xfrm>
            <a:off x="1091615" y="3070404"/>
            <a:ext cx="1107996" cy="369332"/>
          </a:xfrm>
          <a:prstGeom prst="rect">
            <a:avLst/>
          </a:prstGeom>
          <a:noFill/>
          <a:ln w="9525">
            <a:noFill/>
            <a:miter lim="800000"/>
            <a:headEnd/>
            <a:tailEnd/>
          </a:ln>
        </p:spPr>
        <p:txBody>
          <a:bodyPr wrap="none">
            <a:spAutoFit/>
          </a:bodyPr>
          <a:lstStyle/>
          <a:p>
            <a:r>
              <a:rPr lang="zh-CN" altLang="en-US" dirty="0">
                <a:latin typeface="Times" pitchFamily="18" charset="0"/>
              </a:rPr>
              <a:t>原始图像</a:t>
            </a:r>
            <a:endParaRPr lang="en-US" dirty="0">
              <a:latin typeface="Times" pitchFamily="18" charset="0"/>
            </a:endParaRPr>
          </a:p>
        </p:txBody>
      </p:sp>
      <p:grpSp>
        <p:nvGrpSpPr>
          <p:cNvPr id="2" name="Group 5"/>
          <p:cNvGrpSpPr>
            <a:grpSpLocks/>
          </p:cNvGrpSpPr>
          <p:nvPr/>
        </p:nvGrpSpPr>
        <p:grpSpPr bwMode="auto">
          <a:xfrm>
            <a:off x="3698290" y="1428929"/>
            <a:ext cx="1676400" cy="1295400"/>
            <a:chOff x="3799" y="2064"/>
            <a:chExt cx="1433" cy="1136"/>
          </a:xfrm>
        </p:grpSpPr>
        <p:grpSp>
          <p:nvGrpSpPr>
            <p:cNvPr id="3" name="Group 6"/>
            <p:cNvGrpSpPr>
              <a:grpSpLocks/>
            </p:cNvGrpSpPr>
            <p:nvPr/>
          </p:nvGrpSpPr>
          <p:grpSpPr bwMode="auto">
            <a:xfrm>
              <a:off x="4080" y="2064"/>
              <a:ext cx="1152" cy="1136"/>
              <a:chOff x="144" y="144"/>
              <a:chExt cx="1152" cy="1136"/>
            </a:xfrm>
          </p:grpSpPr>
          <p:sp>
            <p:nvSpPr>
              <p:cNvPr id="22539" name="Rectangle 7"/>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0" name="Rectangle 8"/>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1" name="Rectangle 9"/>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2" name="Rectangle 10"/>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3" name="Rectangle 11"/>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4" name="Rectangle 12"/>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5" name="Rectangle 13"/>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6" name="Rectangle 14"/>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7" name="Rectangle 15"/>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8" name="Line 16"/>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2549" name="Line 17"/>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2550" name="Line 18"/>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2551" name="Line 19"/>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2552" name="Line 20"/>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22553" name="Line 21"/>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2554" name="Line 22"/>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2555" name="Line 23"/>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pic>
          <p:nvPicPr>
            <p:cNvPr id="22538" name="Picture 24" descr="txp_fig"/>
            <p:cNvPicPr>
              <a:picLocks noChangeAspect="1" noChangeArrowheads="1"/>
            </p:cNvPicPr>
            <p:nvPr>
              <p:custDataLst>
                <p:tags r:id="rId1"/>
              </p:custDataLst>
            </p:nvPr>
          </p:nvPicPr>
          <p:blipFill>
            <a:blip r:embed="rId5" cstate="print">
              <a:clrChange>
                <a:clrFrom>
                  <a:srgbClr val="FFFFFF"/>
                </a:clrFrom>
                <a:clrTo>
                  <a:srgbClr val="FFFFFF">
                    <a:alpha val="0"/>
                  </a:srgbClr>
                </a:clrTo>
              </a:clrChange>
            </a:blip>
            <a:srcRect/>
            <a:stretch>
              <a:fillRect/>
            </a:stretch>
          </p:blipFill>
          <p:spPr bwMode="auto">
            <a:xfrm>
              <a:off x="3799" y="2352"/>
              <a:ext cx="192" cy="576"/>
            </a:xfrm>
            <a:prstGeom prst="rect">
              <a:avLst/>
            </a:prstGeom>
            <a:noFill/>
            <a:ln w="9525">
              <a:noFill/>
              <a:miter lim="800000"/>
              <a:headEnd/>
              <a:tailEnd/>
            </a:ln>
          </p:spPr>
        </p:pic>
      </p:grpSp>
      <p:pic>
        <p:nvPicPr>
          <p:cNvPr id="22534" name="Picture 25"/>
          <p:cNvPicPr>
            <a:picLocks noChangeAspect="1" noChangeArrowheads="1"/>
          </p:cNvPicPr>
          <p:nvPr/>
        </p:nvPicPr>
        <p:blipFill>
          <a:blip r:embed="rId6" cstate="print"/>
          <a:srcRect/>
          <a:stretch>
            <a:fillRect/>
          </a:stretch>
        </p:blipFill>
        <p:spPr bwMode="auto">
          <a:xfrm>
            <a:off x="6441490" y="1047929"/>
            <a:ext cx="1857375" cy="1866900"/>
          </a:xfrm>
          <a:prstGeom prst="rect">
            <a:avLst/>
          </a:prstGeom>
          <a:noFill/>
          <a:ln w="38100">
            <a:solidFill>
              <a:schemeClr val="tx1"/>
            </a:solidFill>
            <a:miter lim="800000"/>
            <a:headEnd/>
            <a:tailEnd/>
          </a:ln>
        </p:spPr>
      </p:pic>
      <p:sp>
        <p:nvSpPr>
          <p:cNvPr id="22535" name="Text Box 26"/>
          <p:cNvSpPr txBox="1">
            <a:spLocks noChangeArrowheads="1"/>
          </p:cNvSpPr>
          <p:nvPr/>
        </p:nvSpPr>
        <p:spPr bwMode="auto">
          <a:xfrm>
            <a:off x="6083246" y="3073536"/>
            <a:ext cx="2954655" cy="369332"/>
          </a:xfrm>
          <a:prstGeom prst="rect">
            <a:avLst/>
          </a:prstGeom>
          <a:noFill/>
          <a:ln w="9525">
            <a:noFill/>
            <a:miter lim="800000"/>
            <a:headEnd/>
            <a:tailEnd/>
          </a:ln>
        </p:spPr>
        <p:txBody>
          <a:bodyPr wrap="none">
            <a:spAutoFit/>
          </a:bodyPr>
          <a:lstStyle/>
          <a:p>
            <a:r>
              <a:rPr lang="zh-CN" altLang="en-US" dirty="0">
                <a:latin typeface="Times" pitchFamily="18" charset="0"/>
              </a:rPr>
              <a:t>模糊图像（使用滤波器后）</a:t>
            </a:r>
            <a:endParaRPr lang="en-US" dirty="0">
              <a:latin typeface="Times" pitchFamily="18" charset="0"/>
            </a:endParaRPr>
          </a:p>
        </p:txBody>
      </p:sp>
      <p:sp>
        <p:nvSpPr>
          <p:cNvPr id="4" name="矩形 3"/>
          <p:cNvSpPr/>
          <p:nvPr/>
        </p:nvSpPr>
        <p:spPr>
          <a:xfrm>
            <a:off x="282964" y="3953233"/>
            <a:ext cx="1534138" cy="861774"/>
          </a:xfrm>
          <a:prstGeom prst="rect">
            <a:avLst/>
          </a:prstGeom>
        </p:spPr>
        <p:txBody>
          <a:bodyPr wrap="square">
            <a:spAutoFit/>
          </a:bodyPr>
          <a:lstStyle/>
          <a:p>
            <a:r>
              <a:rPr lang="en-US" altLang="zh-CN" b="1" dirty="0" smtClean="0">
                <a:solidFill>
                  <a:srgbClr val="FF0000"/>
                </a:solidFill>
              </a:rPr>
              <a:t>F</a:t>
            </a:r>
            <a:r>
              <a:rPr lang="zh-CN" altLang="en-US" b="1" dirty="0" smtClean="0">
                <a:solidFill>
                  <a:srgbClr val="FF0000"/>
                </a:solidFill>
              </a:rPr>
              <a:t>special</a:t>
            </a:r>
            <a:endParaRPr lang="en-US" altLang="zh-CN" b="1" dirty="0" smtClean="0">
              <a:solidFill>
                <a:srgbClr val="FF0000"/>
              </a:solidFill>
            </a:endParaRPr>
          </a:p>
          <a:p>
            <a:r>
              <a:rPr lang="zh-CN" altLang="en-US" sz="1600" dirty="0" smtClean="0"/>
              <a:t>创建</a:t>
            </a:r>
            <a:r>
              <a:rPr lang="zh-CN" altLang="en-US" sz="1600" dirty="0"/>
              <a:t>预定义的二维</a:t>
            </a:r>
            <a:r>
              <a:rPr lang="zh-CN" altLang="en-US" sz="1600" dirty="0" smtClean="0"/>
              <a:t>滤波器</a:t>
            </a:r>
            <a:r>
              <a:rPr lang="en-US" altLang="zh-CN" sz="1600" dirty="0" smtClean="0"/>
              <a:t>h</a:t>
            </a:r>
            <a:endParaRPr lang="zh-CN" altLang="en-US" sz="1600" dirty="0"/>
          </a:p>
        </p:txBody>
      </p:sp>
      <p:pic>
        <p:nvPicPr>
          <p:cNvPr id="5" name="图片 4"/>
          <p:cNvPicPr>
            <a:picLocks noChangeAspect="1"/>
          </p:cNvPicPr>
          <p:nvPr/>
        </p:nvPicPr>
        <p:blipFill>
          <a:blip r:embed="rId7"/>
          <a:stretch>
            <a:fillRect/>
          </a:stretch>
        </p:blipFill>
        <p:spPr>
          <a:xfrm>
            <a:off x="1866640" y="3681932"/>
            <a:ext cx="7016100" cy="294696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 name="矩形 28"/>
          <p:cNvSpPr/>
          <p:nvPr/>
        </p:nvSpPr>
        <p:spPr>
          <a:xfrm>
            <a:off x="187908" y="5217294"/>
            <a:ext cx="8830323" cy="1061829"/>
          </a:xfrm>
          <a:prstGeom prst="rect">
            <a:avLst/>
          </a:prstGeom>
        </p:spPr>
        <p:txBody>
          <a:bodyPr wrap="square">
            <a:spAutoFit/>
          </a:bodyPr>
          <a:lstStyle/>
          <a:p>
            <a:r>
              <a:rPr lang="zh-CN" altLang="en-US" sz="1050" dirty="0" smtClean="0"/>
              <a:t>MATLAB</a:t>
            </a:r>
            <a:r>
              <a:rPr lang="zh-CN" altLang="en-US" sz="1050" dirty="0"/>
              <a:t>提供了</a:t>
            </a:r>
            <a:r>
              <a:rPr lang="zh-CN" altLang="en-US" sz="1050" b="1" dirty="0">
                <a:solidFill>
                  <a:srgbClr val="FF0000"/>
                </a:solidFill>
              </a:rPr>
              <a:t>imfilter</a:t>
            </a:r>
            <a:r>
              <a:rPr lang="zh-CN" altLang="en-US" sz="1050" b="1" dirty="0" smtClean="0">
                <a:solidFill>
                  <a:srgbClr val="FF0000"/>
                </a:solidFill>
              </a:rPr>
              <a:t>函数</a:t>
            </a:r>
            <a:r>
              <a:rPr lang="zh-CN" altLang="en-US" sz="1050" dirty="0" smtClean="0"/>
              <a:t>对</a:t>
            </a:r>
            <a:r>
              <a:rPr lang="zh-CN" altLang="en-US" sz="1050" dirty="0"/>
              <a:t>图像进行各种滤波操作，包括均值滤波</a:t>
            </a:r>
            <a:r>
              <a:rPr lang="zh-CN" altLang="en-US" sz="1050" dirty="0" smtClean="0"/>
              <a:t>。</a:t>
            </a:r>
            <a:r>
              <a:rPr lang="zh-CN" altLang="en-US" sz="1050" b="1" dirty="0">
                <a:solidFill>
                  <a:srgbClr val="FF0000"/>
                </a:solidFill>
              </a:rPr>
              <a:t>fspecial</a:t>
            </a:r>
            <a:r>
              <a:rPr lang="zh-CN" altLang="en-US" sz="1050" b="1" dirty="0" smtClean="0">
                <a:solidFill>
                  <a:srgbClr val="FF0000"/>
                </a:solidFill>
              </a:rPr>
              <a:t>函数</a:t>
            </a:r>
            <a:r>
              <a:rPr lang="zh-CN" altLang="en-US" sz="1050" dirty="0" smtClean="0"/>
              <a:t>快速</a:t>
            </a:r>
            <a:r>
              <a:rPr lang="zh-CN" altLang="en-US" sz="1050" dirty="0"/>
              <a:t>生成一些常见的滤波器核，包括均值滤波器。</a:t>
            </a:r>
          </a:p>
          <a:p>
            <a:endParaRPr lang="en-US" altLang="zh-CN" sz="1050" dirty="0"/>
          </a:p>
          <a:p>
            <a:r>
              <a:rPr lang="zh-CN" altLang="en-US" sz="1050" dirty="0" smtClean="0">
                <a:solidFill>
                  <a:srgbClr val="FF0000"/>
                </a:solidFill>
              </a:rPr>
              <a:t>如果</a:t>
            </a:r>
            <a:r>
              <a:rPr lang="zh-CN" altLang="en-US" sz="1050" dirty="0">
                <a:solidFill>
                  <a:srgbClr val="FF0000"/>
                </a:solidFill>
              </a:rPr>
              <a:t>处理彩色图像</a:t>
            </a:r>
            <a:r>
              <a:rPr lang="zh-CN" altLang="en-US" sz="1050" dirty="0"/>
              <a:t>，并且想要保持颜色信息，则通常的做法是对图像的亮度分量（例如，使用rgb2hsv转换到HSV空间，对V（亮度）分量进行滤波，然后再转换回RGB）进行滤波，或者对每个颜色通道分别进行滤波（但这可能会导致颜色伪影）。</a:t>
            </a:r>
            <a:endParaRPr lang="en-US" altLang="zh-CN" sz="1050" dirty="0"/>
          </a:p>
          <a:p>
            <a:endParaRPr lang="en-US" altLang="zh-CN" sz="1050" dirty="0" smtClean="0"/>
          </a:p>
          <a:p>
            <a:r>
              <a:rPr lang="zh-CN" altLang="en-US" sz="1050" dirty="0" smtClean="0"/>
              <a:t>或者使用</a:t>
            </a:r>
            <a:r>
              <a:rPr lang="zh-CN" altLang="en-US" sz="1050" dirty="0"/>
              <a:t>内置</a:t>
            </a:r>
            <a:r>
              <a:rPr lang="zh-CN" altLang="en-US" sz="1050" dirty="0" smtClean="0"/>
              <a:t>函数数字信号处理</a:t>
            </a:r>
            <a:r>
              <a:rPr lang="zh-CN" altLang="en-US" sz="1050" b="1" dirty="0" smtClean="0">
                <a:solidFill>
                  <a:srgbClr val="0070C0"/>
                </a:solidFill>
              </a:rPr>
              <a:t>filter</a:t>
            </a:r>
            <a:r>
              <a:rPr lang="zh-CN" altLang="en-US" sz="1050" b="1" dirty="0">
                <a:solidFill>
                  <a:srgbClr val="0070C0"/>
                </a:solidFill>
              </a:rPr>
              <a:t>2</a:t>
            </a:r>
            <a:r>
              <a:rPr lang="zh-CN" altLang="en-US" sz="1050" dirty="0"/>
              <a:t>（类似于imfilter，但提供了更多控制</a:t>
            </a:r>
            <a:r>
              <a:rPr lang="zh-CN" altLang="en-US" sz="1050" dirty="0" smtClean="0"/>
              <a:t>）或</a:t>
            </a:r>
            <a:r>
              <a:rPr lang="zh-CN" altLang="en-US" sz="1050" dirty="0"/>
              <a:t>直接使用fspecial和rgb2gray结合</a:t>
            </a:r>
            <a:r>
              <a:rPr lang="zh-CN" altLang="en-US" sz="1050" dirty="0" smtClean="0"/>
              <a:t>imfilter。</a:t>
            </a:r>
            <a:endParaRPr lang="en-US" altLang="zh-CN" sz="1050" dirty="0"/>
          </a:p>
        </p:txBody>
      </p:sp>
      <p:sp>
        <p:nvSpPr>
          <p:cNvPr id="5" name="矩形 4"/>
          <p:cNvSpPr/>
          <p:nvPr/>
        </p:nvSpPr>
        <p:spPr>
          <a:xfrm>
            <a:off x="248571" y="146066"/>
            <a:ext cx="8708995" cy="4832092"/>
          </a:xfrm>
          <a:prstGeom prst="rect">
            <a:avLst/>
          </a:prstGeom>
          <a:ln>
            <a:solidFill>
              <a:srgbClr val="FF0000"/>
            </a:solidFill>
          </a:ln>
        </p:spPr>
        <p:txBody>
          <a:bodyPr wrap="square">
            <a:spAutoFit/>
          </a:bodyPr>
          <a:lstStyle/>
          <a:p>
            <a:r>
              <a:rPr lang="en-US" altLang="zh-CN" sz="1400" dirty="0">
                <a:latin typeface="Menlo"/>
              </a:rPr>
              <a:t>close </a:t>
            </a:r>
            <a:r>
              <a:rPr lang="en-US" altLang="zh-CN" sz="1400" dirty="0">
                <a:solidFill>
                  <a:srgbClr val="A709F5"/>
                </a:solidFill>
                <a:latin typeface="Menlo"/>
              </a:rPr>
              <a:t>all</a:t>
            </a:r>
            <a:r>
              <a:rPr lang="en-US" altLang="zh-CN" sz="1400" dirty="0">
                <a:latin typeface="Menlo"/>
              </a:rPr>
              <a:t>; clear </a:t>
            </a:r>
            <a:r>
              <a:rPr lang="en-US" altLang="zh-CN" sz="1400" dirty="0">
                <a:solidFill>
                  <a:srgbClr val="A709F5"/>
                </a:solidFill>
                <a:latin typeface="Menlo"/>
              </a:rPr>
              <a:t>all</a:t>
            </a:r>
            <a:r>
              <a:rPr lang="en-US" altLang="zh-CN" sz="1400" dirty="0">
                <a:latin typeface="Menlo"/>
              </a:rPr>
              <a:t>; </a:t>
            </a:r>
            <a:r>
              <a:rPr lang="en-US" altLang="zh-CN" sz="1400" dirty="0" err="1">
                <a:latin typeface="Menlo"/>
              </a:rPr>
              <a:t>clc</a:t>
            </a:r>
            <a:r>
              <a:rPr lang="en-US" altLang="zh-CN" sz="1400" dirty="0">
                <a:latin typeface="Menlo"/>
              </a:rPr>
              <a:t>;</a:t>
            </a:r>
          </a:p>
          <a:p>
            <a:r>
              <a:rPr lang="en-US" altLang="zh-CN" sz="1400" dirty="0">
                <a:solidFill>
                  <a:srgbClr val="008013"/>
                </a:solidFill>
                <a:latin typeface="Menlo"/>
              </a:rPr>
              <a:t>% </a:t>
            </a:r>
            <a:r>
              <a:rPr lang="zh-CN" altLang="en-US" sz="1400" dirty="0">
                <a:solidFill>
                  <a:srgbClr val="008013"/>
                </a:solidFill>
                <a:latin typeface="Menlo"/>
              </a:rPr>
              <a:t>创建一个均值滤波核</a:t>
            </a:r>
            <a:endParaRPr lang="zh-CN" altLang="en-US" sz="1400" dirty="0">
              <a:latin typeface="Menlo"/>
            </a:endParaRPr>
          </a:p>
          <a:p>
            <a:r>
              <a:rPr lang="en-US" altLang="zh-CN" sz="1400" dirty="0">
                <a:solidFill>
                  <a:srgbClr val="008013"/>
                </a:solidFill>
                <a:latin typeface="Menlo"/>
              </a:rPr>
              <a:t>% </a:t>
            </a:r>
            <a:r>
              <a:rPr lang="zh-CN" altLang="en-US" sz="1400" dirty="0">
                <a:solidFill>
                  <a:srgbClr val="008013"/>
                </a:solidFill>
                <a:latin typeface="Menlo"/>
              </a:rPr>
              <a:t>这里使用</a:t>
            </a:r>
            <a:r>
              <a:rPr lang="en-US" altLang="zh-CN" sz="1400" dirty="0">
                <a:solidFill>
                  <a:srgbClr val="008013"/>
                </a:solidFill>
                <a:latin typeface="Menlo"/>
              </a:rPr>
              <a:t>3x3</a:t>
            </a:r>
            <a:r>
              <a:rPr lang="zh-CN" altLang="en-US" sz="1400" dirty="0">
                <a:solidFill>
                  <a:srgbClr val="008013"/>
                </a:solidFill>
                <a:latin typeface="Menlo"/>
              </a:rPr>
              <a:t>的核，核内所有元素的值都相同（即</a:t>
            </a:r>
            <a:r>
              <a:rPr lang="en-US" altLang="zh-CN" sz="1400" dirty="0">
                <a:solidFill>
                  <a:srgbClr val="008013"/>
                </a:solidFill>
                <a:latin typeface="Menlo"/>
              </a:rPr>
              <a:t>1/9</a:t>
            </a:r>
            <a:r>
              <a:rPr lang="zh-CN" altLang="en-US" sz="1400" dirty="0">
                <a:solidFill>
                  <a:srgbClr val="008013"/>
                </a:solidFill>
                <a:latin typeface="Menlo"/>
              </a:rPr>
              <a:t>），但在</a:t>
            </a:r>
            <a:r>
              <a:rPr lang="en-US" altLang="zh-CN" sz="1400" dirty="0">
                <a:solidFill>
                  <a:srgbClr val="008013"/>
                </a:solidFill>
                <a:latin typeface="Menlo"/>
              </a:rPr>
              <a:t>MATLAB</a:t>
            </a:r>
            <a:r>
              <a:rPr lang="zh-CN" altLang="en-US" sz="1400" dirty="0">
                <a:solidFill>
                  <a:srgbClr val="008013"/>
                </a:solidFill>
                <a:latin typeface="Menlo"/>
              </a:rPr>
              <a:t>中，</a:t>
            </a:r>
            <a:r>
              <a:rPr lang="en-US" altLang="zh-CN" sz="1400" dirty="0" err="1">
                <a:solidFill>
                  <a:srgbClr val="008013"/>
                </a:solidFill>
                <a:latin typeface="Menlo"/>
              </a:rPr>
              <a:t>imfilter</a:t>
            </a:r>
            <a:r>
              <a:rPr lang="zh-CN" altLang="en-US" sz="1400" dirty="0">
                <a:solidFill>
                  <a:srgbClr val="008013"/>
                </a:solidFill>
                <a:latin typeface="Menlo"/>
              </a:rPr>
              <a:t>会自动进行归一化</a:t>
            </a:r>
            <a:endParaRPr lang="zh-CN" altLang="en-US" sz="1400" dirty="0">
              <a:latin typeface="Menlo"/>
            </a:endParaRPr>
          </a:p>
          <a:p>
            <a:r>
              <a:rPr lang="en-US" altLang="zh-CN" sz="1400" dirty="0">
                <a:solidFill>
                  <a:srgbClr val="008013"/>
                </a:solidFill>
                <a:latin typeface="Menlo"/>
              </a:rPr>
              <a:t>% </a:t>
            </a:r>
            <a:r>
              <a:rPr lang="zh-CN" altLang="en-US" sz="1400" dirty="0">
                <a:solidFill>
                  <a:srgbClr val="008013"/>
                </a:solidFill>
                <a:latin typeface="Menlo"/>
              </a:rPr>
              <a:t>所以，我们只需要一个全</a:t>
            </a:r>
            <a:r>
              <a:rPr lang="en-US" altLang="zh-CN" sz="1400" dirty="0">
                <a:solidFill>
                  <a:srgbClr val="008013"/>
                </a:solidFill>
                <a:latin typeface="Menlo"/>
              </a:rPr>
              <a:t>1</a:t>
            </a:r>
            <a:r>
              <a:rPr lang="zh-CN" altLang="en-US" sz="1400" dirty="0">
                <a:solidFill>
                  <a:srgbClr val="008013"/>
                </a:solidFill>
                <a:latin typeface="Menlo"/>
              </a:rPr>
              <a:t>的矩阵即</a:t>
            </a:r>
            <a:r>
              <a:rPr lang="zh-CN" altLang="en-US" sz="1400" dirty="0" smtClean="0">
                <a:solidFill>
                  <a:srgbClr val="008013"/>
                </a:solidFill>
                <a:latin typeface="Menlo"/>
              </a:rPr>
              <a:t>可</a:t>
            </a:r>
            <a:endParaRPr lang="zh-CN" altLang="en-US" sz="1400" dirty="0">
              <a:latin typeface="Menlo"/>
            </a:endParaRPr>
          </a:p>
          <a:p>
            <a:r>
              <a:rPr lang="en-US" altLang="zh-CN" sz="1400" dirty="0" err="1">
                <a:latin typeface="Menlo"/>
              </a:rPr>
              <a:t>img</a:t>
            </a:r>
            <a:r>
              <a:rPr lang="en-US" altLang="zh-CN" sz="1400" dirty="0">
                <a:latin typeface="Menlo"/>
              </a:rPr>
              <a:t> = </a:t>
            </a:r>
            <a:r>
              <a:rPr lang="en-US" altLang="zh-CN" sz="1400" dirty="0" err="1">
                <a:latin typeface="Menlo"/>
              </a:rPr>
              <a:t>imread</a:t>
            </a:r>
            <a:r>
              <a:rPr lang="en-US" altLang="zh-CN" sz="1400" dirty="0">
                <a:latin typeface="Menlo"/>
              </a:rPr>
              <a:t>(</a:t>
            </a:r>
            <a:r>
              <a:rPr lang="en-US" altLang="zh-CN" sz="1400" dirty="0">
                <a:solidFill>
                  <a:srgbClr val="A709F5"/>
                </a:solidFill>
                <a:latin typeface="Menlo"/>
              </a:rPr>
              <a:t>'E:\</a:t>
            </a:r>
            <a:r>
              <a:rPr lang="en-US" altLang="zh-CN" sz="1400" dirty="0" err="1">
                <a:solidFill>
                  <a:srgbClr val="A709F5"/>
                </a:solidFill>
                <a:latin typeface="Menlo"/>
              </a:rPr>
              <a:t>work_Python</a:t>
            </a:r>
            <a:r>
              <a:rPr lang="en-US" altLang="zh-CN" sz="1400" dirty="0">
                <a:solidFill>
                  <a:srgbClr val="A709F5"/>
                </a:solidFill>
                <a:latin typeface="Menlo"/>
              </a:rPr>
              <a:t>\test1.jpg'</a:t>
            </a:r>
            <a:r>
              <a:rPr lang="en-US" altLang="zh-CN" sz="1400" dirty="0">
                <a:latin typeface="Menlo"/>
              </a:rPr>
              <a:t>);</a:t>
            </a:r>
          </a:p>
          <a:p>
            <a:r>
              <a:rPr lang="en-US" altLang="zh-CN" sz="1400" dirty="0" err="1" smtClean="0">
                <a:latin typeface="Menlo"/>
              </a:rPr>
              <a:t>grayImg</a:t>
            </a:r>
            <a:r>
              <a:rPr lang="en-US" altLang="zh-CN" sz="1400" dirty="0" smtClean="0">
                <a:latin typeface="Menlo"/>
              </a:rPr>
              <a:t> </a:t>
            </a:r>
            <a:r>
              <a:rPr lang="en-US" altLang="zh-CN" sz="1400" dirty="0">
                <a:latin typeface="Menlo"/>
              </a:rPr>
              <a:t>= rgb2gray(</a:t>
            </a:r>
            <a:r>
              <a:rPr lang="en-US" altLang="zh-CN" sz="1400" dirty="0" err="1">
                <a:latin typeface="Menlo"/>
              </a:rPr>
              <a:t>img</a:t>
            </a:r>
            <a:r>
              <a:rPr lang="en-US" altLang="zh-CN" sz="1400" dirty="0">
                <a:latin typeface="Menlo"/>
              </a:rPr>
              <a:t>); </a:t>
            </a:r>
            <a:r>
              <a:rPr lang="en-US" altLang="zh-CN" sz="1400" dirty="0">
                <a:solidFill>
                  <a:srgbClr val="008013"/>
                </a:solidFill>
                <a:latin typeface="Menlo"/>
              </a:rPr>
              <a:t>% </a:t>
            </a:r>
            <a:r>
              <a:rPr lang="zh-CN" altLang="en-US" sz="1400" dirty="0">
                <a:solidFill>
                  <a:srgbClr val="008013"/>
                </a:solidFill>
                <a:latin typeface="Menlo"/>
              </a:rPr>
              <a:t>如果已经是灰度图像，则不需要这一步</a:t>
            </a:r>
            <a:endParaRPr lang="zh-CN" altLang="en-US" sz="1400" dirty="0">
              <a:latin typeface="Menlo"/>
            </a:endParaRPr>
          </a:p>
          <a:p>
            <a:endParaRPr lang="en-US" altLang="zh-CN" sz="1400" dirty="0" smtClean="0">
              <a:latin typeface="Menlo"/>
            </a:endParaRPr>
          </a:p>
          <a:p>
            <a:r>
              <a:rPr lang="en-US" altLang="zh-CN" sz="1400" dirty="0" smtClean="0">
                <a:latin typeface="Menlo"/>
              </a:rPr>
              <a:t>h </a:t>
            </a:r>
            <a:r>
              <a:rPr lang="en-US" altLang="zh-CN" sz="1400" dirty="0">
                <a:latin typeface="Menlo"/>
              </a:rPr>
              <a:t>= ones(3, 3) / 9; </a:t>
            </a:r>
            <a:r>
              <a:rPr lang="en-US" altLang="zh-CN" sz="1400" dirty="0">
                <a:solidFill>
                  <a:srgbClr val="008013"/>
                </a:solidFill>
                <a:latin typeface="Menlo"/>
              </a:rPr>
              <a:t>% </a:t>
            </a:r>
            <a:r>
              <a:rPr lang="zh-CN" altLang="en-US" sz="1400" dirty="0">
                <a:solidFill>
                  <a:srgbClr val="008013"/>
                </a:solidFill>
                <a:latin typeface="Menlo"/>
              </a:rPr>
              <a:t>或者简单地使用 </a:t>
            </a:r>
            <a:r>
              <a:rPr lang="en-US" altLang="zh-CN" sz="1400" dirty="0">
                <a:solidFill>
                  <a:srgbClr val="008013"/>
                </a:solidFill>
                <a:latin typeface="Menlo"/>
              </a:rPr>
              <a:t>'average' </a:t>
            </a:r>
            <a:r>
              <a:rPr lang="zh-CN" altLang="en-US" sz="1400" dirty="0">
                <a:solidFill>
                  <a:srgbClr val="008013"/>
                </a:solidFill>
                <a:latin typeface="Menlo"/>
              </a:rPr>
              <a:t>字符串参数</a:t>
            </a:r>
            <a:endParaRPr lang="zh-CN" altLang="en-US" sz="1400" dirty="0">
              <a:latin typeface="Menlo"/>
            </a:endParaRPr>
          </a:p>
          <a:p>
            <a:r>
              <a:rPr lang="en-US" altLang="zh-CN" sz="1400" dirty="0">
                <a:solidFill>
                  <a:srgbClr val="008013"/>
                </a:solidFill>
                <a:latin typeface="Menlo"/>
              </a:rPr>
              <a:t>% </a:t>
            </a:r>
            <a:r>
              <a:rPr lang="zh-CN" altLang="en-US" sz="1400" dirty="0">
                <a:solidFill>
                  <a:srgbClr val="008013"/>
                </a:solidFill>
                <a:latin typeface="Menlo"/>
              </a:rPr>
              <a:t>或者使用内置选项来指定均值滤波</a:t>
            </a:r>
            <a:endParaRPr lang="zh-CN" altLang="en-US" sz="1400" dirty="0">
              <a:latin typeface="Menlo"/>
            </a:endParaRPr>
          </a:p>
          <a:p>
            <a:r>
              <a:rPr lang="en-US" altLang="zh-CN" sz="1400" dirty="0">
                <a:latin typeface="Menlo"/>
              </a:rPr>
              <a:t>h = </a:t>
            </a:r>
            <a:r>
              <a:rPr lang="en-US" altLang="zh-CN" sz="1400" dirty="0" err="1">
                <a:latin typeface="Menlo"/>
              </a:rPr>
              <a:t>fspecial</a:t>
            </a:r>
            <a:r>
              <a:rPr lang="en-US" altLang="zh-CN" sz="1400" dirty="0">
                <a:latin typeface="Menlo"/>
              </a:rPr>
              <a:t>(</a:t>
            </a:r>
            <a:r>
              <a:rPr lang="en-US" altLang="zh-CN" sz="1400" dirty="0">
                <a:solidFill>
                  <a:srgbClr val="A709F5"/>
                </a:solidFill>
                <a:latin typeface="Menlo"/>
              </a:rPr>
              <a:t>'average'</a:t>
            </a:r>
            <a:r>
              <a:rPr lang="en-US" altLang="zh-CN" sz="1400" dirty="0">
                <a:latin typeface="Menlo"/>
              </a:rPr>
              <a:t>, [3 3]); </a:t>
            </a:r>
            <a:r>
              <a:rPr lang="en-US" altLang="zh-CN" sz="1400" dirty="0">
                <a:solidFill>
                  <a:srgbClr val="008013"/>
                </a:solidFill>
                <a:latin typeface="Menlo"/>
              </a:rPr>
              <a:t>% </a:t>
            </a:r>
            <a:r>
              <a:rPr lang="zh-CN" altLang="en-US" sz="1400" dirty="0">
                <a:solidFill>
                  <a:srgbClr val="008013"/>
                </a:solidFill>
                <a:latin typeface="Menlo"/>
              </a:rPr>
              <a:t>这会生成一个</a:t>
            </a:r>
            <a:r>
              <a:rPr lang="en-US" altLang="zh-CN" sz="1400" dirty="0">
                <a:solidFill>
                  <a:srgbClr val="008013"/>
                </a:solidFill>
                <a:latin typeface="Menlo"/>
              </a:rPr>
              <a:t>3x3</a:t>
            </a:r>
            <a:r>
              <a:rPr lang="zh-CN" altLang="en-US" sz="1400" dirty="0">
                <a:solidFill>
                  <a:srgbClr val="008013"/>
                </a:solidFill>
                <a:latin typeface="Menlo"/>
              </a:rPr>
              <a:t>的均值滤波核</a:t>
            </a:r>
            <a:endParaRPr lang="zh-CN" altLang="en-US" sz="1400" dirty="0">
              <a:latin typeface="Menlo"/>
            </a:endParaRPr>
          </a:p>
          <a:p>
            <a:r>
              <a:rPr lang="en-US" altLang="zh-CN" sz="1400" dirty="0">
                <a:solidFill>
                  <a:srgbClr val="008013"/>
                </a:solidFill>
                <a:latin typeface="Menlo"/>
              </a:rPr>
              <a:t>% </a:t>
            </a:r>
            <a:r>
              <a:rPr lang="zh-CN" altLang="en-US" sz="1400" dirty="0">
                <a:solidFill>
                  <a:srgbClr val="008013"/>
                </a:solidFill>
                <a:latin typeface="Menlo"/>
              </a:rPr>
              <a:t>应用均值滤波</a:t>
            </a:r>
            <a:endParaRPr lang="zh-CN" altLang="en-US" sz="1400" dirty="0">
              <a:latin typeface="Menlo"/>
            </a:endParaRPr>
          </a:p>
          <a:p>
            <a:r>
              <a:rPr lang="en-US" altLang="zh-CN" sz="1400" dirty="0" err="1">
                <a:latin typeface="Menlo"/>
              </a:rPr>
              <a:t>blurredImg</a:t>
            </a:r>
            <a:r>
              <a:rPr lang="en-US" altLang="zh-CN" sz="1400" dirty="0">
                <a:latin typeface="Menlo"/>
              </a:rPr>
              <a:t> = </a:t>
            </a:r>
            <a:r>
              <a:rPr lang="en-US" altLang="zh-CN" sz="1400" dirty="0" err="1">
                <a:latin typeface="Menlo"/>
              </a:rPr>
              <a:t>imfilter</a:t>
            </a:r>
            <a:r>
              <a:rPr lang="en-US" altLang="zh-CN" sz="1400" dirty="0">
                <a:latin typeface="Menlo"/>
              </a:rPr>
              <a:t>(</a:t>
            </a:r>
            <a:r>
              <a:rPr lang="en-US" altLang="zh-CN" sz="1400" dirty="0" err="1">
                <a:latin typeface="Menlo"/>
              </a:rPr>
              <a:t>grayImg</a:t>
            </a:r>
            <a:r>
              <a:rPr lang="en-US" altLang="zh-CN" sz="1400" dirty="0">
                <a:latin typeface="Menlo"/>
              </a:rPr>
              <a:t>, h, </a:t>
            </a:r>
            <a:r>
              <a:rPr lang="en-US" altLang="zh-CN" sz="1400" dirty="0">
                <a:solidFill>
                  <a:srgbClr val="A709F5"/>
                </a:solidFill>
                <a:latin typeface="Menlo"/>
              </a:rPr>
              <a:t>'replicate'</a:t>
            </a:r>
            <a:r>
              <a:rPr lang="en-US" altLang="zh-CN" sz="1400" dirty="0">
                <a:latin typeface="Menlo"/>
              </a:rPr>
              <a:t>); </a:t>
            </a:r>
            <a:r>
              <a:rPr lang="en-US" altLang="zh-CN" sz="1400" dirty="0">
                <a:solidFill>
                  <a:srgbClr val="008013"/>
                </a:solidFill>
                <a:latin typeface="Menlo"/>
              </a:rPr>
              <a:t>% 'replicate'</a:t>
            </a:r>
            <a:r>
              <a:rPr lang="zh-CN" altLang="en-US" sz="1400" dirty="0">
                <a:solidFill>
                  <a:srgbClr val="008013"/>
                </a:solidFill>
                <a:latin typeface="Menlo"/>
              </a:rPr>
              <a:t>是边界选项，</a:t>
            </a:r>
            <a:r>
              <a:rPr lang="zh-CN" altLang="en-US" sz="1400" dirty="0" smtClean="0">
                <a:solidFill>
                  <a:srgbClr val="008013"/>
                </a:solidFill>
                <a:latin typeface="Menlo"/>
              </a:rPr>
              <a:t>还有选项</a:t>
            </a:r>
            <a:r>
              <a:rPr lang="en-US" altLang="zh-CN" sz="1400" dirty="0" smtClean="0">
                <a:solidFill>
                  <a:srgbClr val="008013"/>
                </a:solidFill>
                <a:latin typeface="Menlo"/>
              </a:rPr>
              <a:t>'symmetric</a:t>
            </a:r>
            <a:r>
              <a:rPr lang="en-US" altLang="zh-CN" sz="1400" dirty="0">
                <a:solidFill>
                  <a:srgbClr val="008013"/>
                </a:solidFill>
                <a:latin typeface="Menlo"/>
              </a:rPr>
              <a:t>', 'circular'</a:t>
            </a:r>
            <a:r>
              <a:rPr lang="zh-CN" altLang="en-US" sz="1400" dirty="0">
                <a:solidFill>
                  <a:srgbClr val="008013"/>
                </a:solidFill>
                <a:latin typeface="Menlo"/>
              </a:rPr>
              <a:t>等</a:t>
            </a:r>
            <a:endParaRPr lang="zh-CN" altLang="en-US" sz="1400" dirty="0">
              <a:latin typeface="Menlo"/>
            </a:endParaRPr>
          </a:p>
          <a:p>
            <a:endParaRPr lang="zh-CN" altLang="en-US" sz="1400" dirty="0">
              <a:latin typeface="Menlo"/>
            </a:endParaRPr>
          </a:p>
          <a:p>
            <a:r>
              <a:rPr lang="en-US" altLang="zh-CN" sz="1400" dirty="0" smtClean="0">
                <a:latin typeface="Menlo"/>
              </a:rPr>
              <a:t>figure</a:t>
            </a:r>
            <a:r>
              <a:rPr lang="en-US" altLang="zh-CN" sz="1400" dirty="0">
                <a:latin typeface="Menlo"/>
              </a:rPr>
              <a:t>;</a:t>
            </a:r>
          </a:p>
          <a:p>
            <a:r>
              <a:rPr lang="en-US" altLang="zh-CN" sz="1400" dirty="0">
                <a:latin typeface="Menlo"/>
              </a:rPr>
              <a:t>subplot(1, 2, 1);</a:t>
            </a:r>
          </a:p>
          <a:p>
            <a:r>
              <a:rPr lang="en-US" altLang="zh-CN" sz="1400" dirty="0" err="1">
                <a:latin typeface="Menlo"/>
              </a:rPr>
              <a:t>imshow</a:t>
            </a:r>
            <a:r>
              <a:rPr lang="en-US" altLang="zh-CN" sz="1400" dirty="0">
                <a:latin typeface="Menlo"/>
              </a:rPr>
              <a:t>(</a:t>
            </a:r>
            <a:r>
              <a:rPr lang="en-US" altLang="zh-CN" sz="1400" dirty="0" err="1">
                <a:latin typeface="Menlo"/>
              </a:rPr>
              <a:t>grayImg</a:t>
            </a:r>
            <a:r>
              <a:rPr lang="en-US" altLang="zh-CN" sz="1400" dirty="0">
                <a:latin typeface="Menlo"/>
              </a:rPr>
              <a:t>);</a:t>
            </a:r>
          </a:p>
          <a:p>
            <a:r>
              <a:rPr lang="en-US" altLang="zh-CN" sz="1400" dirty="0">
                <a:latin typeface="Menlo"/>
              </a:rPr>
              <a:t>title(</a:t>
            </a:r>
            <a:r>
              <a:rPr lang="en-US" altLang="zh-CN" sz="1400" dirty="0">
                <a:solidFill>
                  <a:srgbClr val="A709F5"/>
                </a:solidFill>
                <a:latin typeface="Menlo"/>
              </a:rPr>
              <a:t>'Original Gray Image'</a:t>
            </a:r>
            <a:r>
              <a:rPr lang="en-US" altLang="zh-CN" sz="1400" dirty="0">
                <a:latin typeface="Menlo"/>
              </a:rPr>
              <a:t>);</a:t>
            </a:r>
          </a:p>
          <a:p>
            <a:endParaRPr lang="en-US" altLang="zh-CN" sz="1400" dirty="0">
              <a:latin typeface="Menlo"/>
            </a:endParaRPr>
          </a:p>
          <a:p>
            <a:r>
              <a:rPr lang="en-US" altLang="zh-CN" sz="1400" dirty="0">
                <a:latin typeface="Menlo"/>
              </a:rPr>
              <a:t>subplot(1, 2, 2);</a:t>
            </a:r>
          </a:p>
          <a:p>
            <a:r>
              <a:rPr lang="en-US" altLang="zh-CN" sz="1400" dirty="0" err="1">
                <a:latin typeface="Menlo"/>
              </a:rPr>
              <a:t>imshow</a:t>
            </a:r>
            <a:r>
              <a:rPr lang="en-US" altLang="zh-CN" sz="1400" dirty="0">
                <a:latin typeface="Menlo"/>
              </a:rPr>
              <a:t>(</a:t>
            </a:r>
            <a:r>
              <a:rPr lang="en-US" altLang="zh-CN" sz="1400" dirty="0" err="1">
                <a:latin typeface="Menlo"/>
              </a:rPr>
              <a:t>blurredImg</a:t>
            </a:r>
            <a:r>
              <a:rPr lang="en-US" altLang="zh-CN" sz="1400" dirty="0">
                <a:latin typeface="Menlo"/>
              </a:rPr>
              <a:t>);</a:t>
            </a:r>
          </a:p>
          <a:p>
            <a:r>
              <a:rPr lang="en-US" altLang="zh-CN" sz="1400" dirty="0">
                <a:latin typeface="Menlo"/>
              </a:rPr>
              <a:t>title(</a:t>
            </a:r>
            <a:r>
              <a:rPr lang="en-US" altLang="zh-CN" sz="1400" dirty="0">
                <a:solidFill>
                  <a:srgbClr val="A709F5"/>
                </a:solidFill>
                <a:latin typeface="Menlo"/>
              </a:rPr>
              <a:t>'Blurred Image</a:t>
            </a:r>
            <a:r>
              <a:rPr lang="en-US" altLang="zh-CN" sz="1400" dirty="0" smtClean="0">
                <a:solidFill>
                  <a:srgbClr val="A709F5"/>
                </a:solidFill>
                <a:latin typeface="Menlo"/>
              </a:rPr>
              <a:t>'</a:t>
            </a:r>
            <a:r>
              <a:rPr lang="en-US" altLang="zh-CN" sz="1400" dirty="0" smtClean="0">
                <a:latin typeface="Menlo"/>
              </a:rPr>
              <a:t>);</a:t>
            </a:r>
            <a:endParaRPr lang="en-US" altLang="zh-CN" sz="1400" dirty="0">
              <a:latin typeface="Menlo"/>
            </a:endParaRPr>
          </a:p>
        </p:txBody>
      </p:sp>
      <p:sp>
        <p:nvSpPr>
          <p:cNvPr id="2" name="矩形 1"/>
          <p:cNvSpPr/>
          <p:nvPr/>
        </p:nvSpPr>
        <p:spPr>
          <a:xfrm>
            <a:off x="341790" y="6364370"/>
            <a:ext cx="7630357" cy="307777"/>
          </a:xfrm>
          <a:prstGeom prst="rect">
            <a:avLst/>
          </a:prstGeom>
          <a:ln>
            <a:solidFill>
              <a:srgbClr val="FF0000"/>
            </a:solidFill>
          </a:ln>
        </p:spPr>
        <p:txBody>
          <a:bodyPr wrap="square">
            <a:spAutoFit/>
          </a:bodyPr>
          <a:lstStyle/>
          <a:p>
            <a:r>
              <a:rPr lang="zh-CN" altLang="en-US" sz="1400" dirty="0"/>
              <a:t>B = </a:t>
            </a:r>
            <a:r>
              <a:rPr lang="zh-CN" altLang="en-US" sz="1400" b="1" dirty="0">
                <a:solidFill>
                  <a:srgbClr val="FF0000"/>
                </a:solidFill>
              </a:rPr>
              <a:t>imfilter</a:t>
            </a:r>
            <a:r>
              <a:rPr lang="zh-CN" altLang="en-US" sz="1400" dirty="0"/>
              <a:t>(A,h) 使用多维滤波器 h 对多维数组 A 进行滤波，并在 B 中返回结果</a:t>
            </a:r>
          </a:p>
        </p:txBody>
      </p:sp>
    </p:spTree>
    <p:extLst>
      <p:ext uri="{BB962C8B-B14F-4D97-AF65-F5344CB8AC3E}">
        <p14:creationId xmlns:p14="http://schemas.microsoft.com/office/powerpoint/2010/main" val="10763892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dirty="0"/>
              <a:t>线性滤波器示例</a:t>
            </a:r>
            <a:endParaRPr lang="en-US" dirty="0"/>
          </a:p>
        </p:txBody>
      </p:sp>
      <p:grpSp>
        <p:nvGrpSpPr>
          <p:cNvPr id="2" name="Group 3"/>
          <p:cNvGrpSpPr>
            <a:grpSpLocks/>
          </p:cNvGrpSpPr>
          <p:nvPr/>
        </p:nvGrpSpPr>
        <p:grpSpPr bwMode="auto">
          <a:xfrm>
            <a:off x="3886200" y="2971800"/>
            <a:ext cx="1225550" cy="1295400"/>
            <a:chOff x="144" y="144"/>
            <a:chExt cx="1152" cy="1136"/>
          </a:xfrm>
        </p:grpSpPr>
        <p:sp>
          <p:nvSpPr>
            <p:cNvPr id="18441" name="Rectangle 4"/>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2" name="Rectangle 5"/>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3" name="Rectangle 6"/>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4" name="Rectangle 7"/>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5" name="Rectangle 8"/>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18446" name="Rectangle 9"/>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7" name="Rectangle 10"/>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8" name="Rectangle 11"/>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9" name="Rectangle 12"/>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50" name="Line 13"/>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18451" name="Line 14"/>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18452" name="Line 15"/>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18453" name="Line 16"/>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18454" name="Line 17"/>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18455" name="Line 18"/>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18456" name="Line 19"/>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18457" name="Line 20"/>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pic>
        <p:nvPicPr>
          <p:cNvPr id="18436" name="Picture 22"/>
          <p:cNvPicPr>
            <a:picLocks noChangeAspect="1" noChangeArrowheads="1"/>
          </p:cNvPicPr>
          <p:nvPr/>
        </p:nvPicPr>
        <p:blipFill>
          <a:blip r:embed="rId3" cstate="print"/>
          <a:srcRect/>
          <a:stretch>
            <a:fillRect/>
          </a:stretch>
        </p:blipFill>
        <p:spPr bwMode="auto">
          <a:xfrm>
            <a:off x="6248400" y="2667000"/>
            <a:ext cx="1876425" cy="1857375"/>
          </a:xfrm>
          <a:prstGeom prst="rect">
            <a:avLst/>
          </a:prstGeom>
          <a:noFill/>
          <a:ln w="38100">
            <a:solidFill>
              <a:schemeClr val="tx1"/>
            </a:solidFill>
            <a:miter lim="800000"/>
            <a:headEnd/>
            <a:tailEnd/>
          </a:ln>
        </p:spPr>
      </p:pic>
      <p:sp>
        <p:nvSpPr>
          <p:cNvPr id="18437" name="Text Box 23"/>
          <p:cNvSpPr txBox="1">
            <a:spLocks noChangeArrowheads="1"/>
          </p:cNvSpPr>
          <p:nvPr/>
        </p:nvSpPr>
        <p:spPr bwMode="auto">
          <a:xfrm>
            <a:off x="1127125" y="4689475"/>
            <a:ext cx="1107996" cy="369332"/>
          </a:xfrm>
          <a:prstGeom prst="rect">
            <a:avLst/>
          </a:prstGeom>
          <a:noFill/>
          <a:ln w="9525">
            <a:noFill/>
            <a:miter lim="800000"/>
            <a:headEnd/>
            <a:tailEnd/>
          </a:ln>
        </p:spPr>
        <p:txBody>
          <a:bodyPr wrap="none">
            <a:spAutoFit/>
          </a:bodyPr>
          <a:lstStyle/>
          <a:p>
            <a:r>
              <a:rPr lang="zh-CN" altLang="en-US" dirty="0">
                <a:latin typeface="Times" pitchFamily="18" charset="0"/>
              </a:rPr>
              <a:t>原始图像</a:t>
            </a:r>
            <a:endParaRPr lang="en-US" dirty="0">
              <a:latin typeface="Times" pitchFamily="18" charset="0"/>
            </a:endParaRPr>
          </a:p>
        </p:txBody>
      </p:sp>
      <p:sp>
        <p:nvSpPr>
          <p:cNvPr id="18438" name="Text Box 24"/>
          <p:cNvSpPr txBox="1">
            <a:spLocks noChangeArrowheads="1"/>
          </p:cNvSpPr>
          <p:nvPr/>
        </p:nvSpPr>
        <p:spPr bwMode="auto">
          <a:xfrm>
            <a:off x="6400800" y="4724400"/>
            <a:ext cx="2133600" cy="369332"/>
          </a:xfrm>
          <a:prstGeom prst="rect">
            <a:avLst/>
          </a:prstGeom>
          <a:noFill/>
          <a:ln w="9525">
            <a:noFill/>
            <a:miter lim="800000"/>
            <a:headEnd/>
            <a:tailEnd/>
          </a:ln>
        </p:spPr>
        <p:txBody>
          <a:bodyPr>
            <a:spAutoFit/>
          </a:bodyPr>
          <a:lstStyle/>
          <a:p>
            <a:r>
              <a:rPr lang="zh-CN" altLang="en-US" dirty="0">
                <a:latin typeface="Times" pitchFamily="18" charset="0"/>
              </a:rPr>
              <a:t>完全相同图像</a:t>
            </a:r>
            <a:endParaRPr lang="en-US" dirty="0">
              <a:latin typeface="Times" pitchFamily="18" charset="0"/>
            </a:endParaRPr>
          </a:p>
        </p:txBody>
      </p:sp>
      <p:pic>
        <p:nvPicPr>
          <p:cNvPr id="18439" name="Picture 25"/>
          <p:cNvPicPr>
            <a:picLocks noChangeAspect="1" noChangeArrowheads="1"/>
          </p:cNvPicPr>
          <p:nvPr/>
        </p:nvPicPr>
        <p:blipFill>
          <a:blip r:embed="rId3" cstate="print"/>
          <a:srcRect/>
          <a:stretch>
            <a:fillRect/>
          </a:stretch>
        </p:blipFill>
        <p:spPr bwMode="auto">
          <a:xfrm>
            <a:off x="914400" y="2667000"/>
            <a:ext cx="1876425" cy="1857375"/>
          </a:xfrm>
          <a:prstGeom prst="rect">
            <a:avLst/>
          </a:prstGeom>
          <a:noFill/>
          <a:ln w="38100">
            <a:solidFill>
              <a:schemeClr val="tx1"/>
            </a:solidFill>
            <a:miter lim="800000"/>
            <a:headEnd/>
            <a:tailEnd/>
          </a:ln>
        </p:spPr>
      </p:pic>
      <p:sp>
        <p:nvSpPr>
          <p:cNvPr id="26" name="TextBox 25"/>
          <p:cNvSpPr txBox="1"/>
          <p:nvPr/>
        </p:nvSpPr>
        <p:spPr>
          <a:xfrm>
            <a:off x="3015342" y="3027478"/>
            <a:ext cx="748923"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sp>
        <p:nvSpPr>
          <p:cNvPr id="27" name="TextBox 26"/>
          <p:cNvSpPr txBox="1"/>
          <p:nvPr/>
        </p:nvSpPr>
        <p:spPr>
          <a:xfrm>
            <a:off x="5410200" y="2971800"/>
            <a:ext cx="567784" cy="1015663"/>
          </a:xfrm>
          <a:prstGeom prst="rect">
            <a:avLst/>
          </a:prstGeom>
          <a:noFill/>
        </p:spPr>
        <p:txBody>
          <a:bodyPr wrap="none" rtlCol="0">
            <a:spAutoFit/>
          </a:bodyPr>
          <a:lstStyle/>
          <a:p>
            <a:r>
              <a:rPr lang="en-US" sz="6000" dirty="0">
                <a:cs typeface="Times New Roman" pitchFamily="18" charset="0"/>
              </a:rPr>
              <a:t>=</a:t>
            </a:r>
          </a:p>
        </p:txBody>
      </p:sp>
      <p:sp>
        <p:nvSpPr>
          <p:cNvPr id="3" name="矩形 2"/>
          <p:cNvSpPr/>
          <p:nvPr/>
        </p:nvSpPr>
        <p:spPr>
          <a:xfrm>
            <a:off x="1034248" y="5629870"/>
            <a:ext cx="5446452" cy="646331"/>
          </a:xfrm>
          <a:prstGeom prst="rect">
            <a:avLst/>
          </a:prstGeom>
          <a:ln>
            <a:solidFill>
              <a:srgbClr val="FF0000"/>
            </a:solidFill>
          </a:ln>
        </p:spPr>
        <p:txBody>
          <a:bodyPr wrap="square">
            <a:spAutoFit/>
          </a:bodyPr>
          <a:lstStyle/>
          <a:p>
            <a:r>
              <a:rPr lang="en-US" altLang="zh-CN" dirty="0" smtClean="0">
                <a:latin typeface="Menlo"/>
              </a:rPr>
              <a:t>% h </a:t>
            </a:r>
            <a:r>
              <a:rPr lang="en-US" altLang="zh-CN" dirty="0">
                <a:latin typeface="Menlo"/>
              </a:rPr>
              <a:t>= ones(3, 3) / 9; </a:t>
            </a:r>
            <a:r>
              <a:rPr lang="en-US" altLang="zh-CN" dirty="0" smtClean="0">
                <a:latin typeface="Menlo"/>
              </a:rPr>
              <a:t> </a:t>
            </a:r>
            <a:r>
              <a:rPr lang="en-US" altLang="zh-CN" dirty="0" smtClean="0">
                <a:solidFill>
                  <a:srgbClr val="008013"/>
                </a:solidFill>
                <a:latin typeface="Menlo"/>
              </a:rPr>
              <a:t>% </a:t>
            </a:r>
            <a:r>
              <a:rPr lang="zh-CN" altLang="en-US" dirty="0" smtClean="0">
                <a:solidFill>
                  <a:srgbClr val="008013"/>
                </a:solidFill>
                <a:latin typeface="Menlo"/>
              </a:rPr>
              <a:t>改为如下：</a:t>
            </a:r>
            <a:endParaRPr lang="zh-CN" altLang="en-US" dirty="0">
              <a:latin typeface="Menlo"/>
            </a:endParaRPr>
          </a:p>
          <a:p>
            <a:r>
              <a:rPr lang="en-US" altLang="zh-CN" dirty="0" smtClean="0">
                <a:latin typeface="Menlo"/>
              </a:rPr>
              <a:t>h =[</a:t>
            </a:r>
            <a:r>
              <a:rPr lang="en-US" altLang="zh-CN" dirty="0">
                <a:latin typeface="Menlo"/>
              </a:rPr>
              <a:t>0 0 0;0 1 0; 0 0 0];</a:t>
            </a:r>
          </a:p>
        </p:txBody>
      </p:sp>
      <p:sp>
        <p:nvSpPr>
          <p:cNvPr id="4" name="矩形 3"/>
          <p:cNvSpPr/>
          <p:nvPr/>
        </p:nvSpPr>
        <p:spPr>
          <a:xfrm>
            <a:off x="504824" y="1154954"/>
            <a:ext cx="8181975" cy="923330"/>
          </a:xfrm>
          <a:prstGeom prst="rect">
            <a:avLst/>
          </a:prstGeom>
        </p:spPr>
        <p:txBody>
          <a:bodyPr wrap="square">
            <a:spAutoFit/>
          </a:bodyPr>
          <a:lstStyle/>
          <a:p>
            <a:r>
              <a:rPr lang="zh-CN" altLang="en-US" dirty="0"/>
              <a:t>图像的线性滤波是通过称为卷积的运算完成的。卷积是一种邻域运算，其中每个</a:t>
            </a:r>
            <a:r>
              <a:rPr lang="zh-CN" altLang="en-US" dirty="0">
                <a:solidFill>
                  <a:srgbClr val="FF0000"/>
                </a:solidFill>
              </a:rPr>
              <a:t>输出像素是相邻输入像素的加权和</a:t>
            </a:r>
            <a:r>
              <a:rPr lang="zh-CN" altLang="en-US" dirty="0"/>
              <a:t>。权重矩阵称为卷积核，也称为滤波器。卷积核是旋转了 180 度的相关性核。</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fade">
                                      <p:cBhvr>
                                        <p:cTn id="7" dur="500"/>
                                        <p:tgtEl>
                                          <p:spTgt spid="184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438"/>
                                        </p:tgtEl>
                                        <p:attrNameLst>
                                          <p:attrName>style.visibility</p:attrName>
                                        </p:attrNameLst>
                                      </p:cBhvr>
                                      <p:to>
                                        <p:strVal val="visible"/>
                                      </p:to>
                                    </p:set>
                                    <p:animEffect transition="in" filter="fade">
                                      <p:cBhvr>
                                        <p:cTn id="10" dur="500"/>
                                        <p:tgtEl>
                                          <p:spTgt spid="184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8" grpId="0"/>
      <p:bldP spid="2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zh-CN" altLang="en-US" dirty="0"/>
              <a:t>线性滤波器示例</a:t>
            </a:r>
            <a:endParaRPr lang="en-US" dirty="0"/>
          </a:p>
        </p:txBody>
      </p:sp>
      <p:grpSp>
        <p:nvGrpSpPr>
          <p:cNvPr id="2" name="Group 3"/>
          <p:cNvGrpSpPr>
            <a:grpSpLocks/>
          </p:cNvGrpSpPr>
          <p:nvPr/>
        </p:nvGrpSpPr>
        <p:grpSpPr bwMode="auto">
          <a:xfrm>
            <a:off x="3886200" y="2971800"/>
            <a:ext cx="1225550" cy="1295400"/>
            <a:chOff x="144" y="144"/>
            <a:chExt cx="1152" cy="1136"/>
          </a:xfrm>
        </p:grpSpPr>
        <p:sp>
          <p:nvSpPr>
            <p:cNvPr id="20490" name="Rectangle 4"/>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1" name="Rectangle 5"/>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2" name="Rectangle 6"/>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3" name="Rectangle 7"/>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dirty="0"/>
                <a:t>1</a:t>
              </a:r>
            </a:p>
          </p:txBody>
        </p:sp>
        <p:sp>
          <p:nvSpPr>
            <p:cNvPr id="20494" name="Rectangle 8"/>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5" name="Rectangle 9"/>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dirty="0"/>
                <a:t>0</a:t>
              </a:r>
            </a:p>
          </p:txBody>
        </p:sp>
        <p:sp>
          <p:nvSpPr>
            <p:cNvPr id="20496" name="Rectangle 10"/>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7" name="Rectangle 11"/>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8" name="Rectangle 12"/>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9" name="Line 13"/>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0500" name="Line 14"/>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0501" name="Line 15"/>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0502" name="Line 16"/>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0503" name="Line 17"/>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20504" name="Line 18"/>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0505" name="Line 19"/>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0506" name="Line 20"/>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pic>
        <p:nvPicPr>
          <p:cNvPr id="20484" name="Picture 21"/>
          <p:cNvPicPr>
            <a:picLocks noChangeAspect="1" noChangeArrowheads="1"/>
          </p:cNvPicPr>
          <p:nvPr/>
        </p:nvPicPr>
        <p:blipFill>
          <a:blip r:embed="rId3" cstate="print"/>
          <a:srcRect/>
          <a:stretch>
            <a:fillRect/>
          </a:stretch>
        </p:blipFill>
        <p:spPr bwMode="auto">
          <a:xfrm>
            <a:off x="914400" y="2667000"/>
            <a:ext cx="1876425" cy="1857375"/>
          </a:xfrm>
          <a:prstGeom prst="rect">
            <a:avLst/>
          </a:prstGeom>
          <a:noFill/>
          <a:ln w="38100">
            <a:solidFill>
              <a:schemeClr val="tx1"/>
            </a:solidFill>
            <a:miter lim="800000"/>
            <a:headEnd/>
            <a:tailEnd/>
          </a:ln>
        </p:spPr>
      </p:pic>
      <p:sp>
        <p:nvSpPr>
          <p:cNvPr id="20485" name="Text Box 22"/>
          <p:cNvSpPr txBox="1">
            <a:spLocks noChangeArrowheads="1"/>
          </p:cNvSpPr>
          <p:nvPr/>
        </p:nvSpPr>
        <p:spPr bwMode="auto">
          <a:xfrm>
            <a:off x="1127125" y="4689475"/>
            <a:ext cx="1107996" cy="369332"/>
          </a:xfrm>
          <a:prstGeom prst="rect">
            <a:avLst/>
          </a:prstGeom>
          <a:noFill/>
          <a:ln w="9525">
            <a:noFill/>
            <a:miter lim="800000"/>
            <a:headEnd/>
            <a:tailEnd/>
          </a:ln>
        </p:spPr>
        <p:txBody>
          <a:bodyPr wrap="none">
            <a:spAutoFit/>
          </a:bodyPr>
          <a:lstStyle/>
          <a:p>
            <a:r>
              <a:rPr lang="zh-CN" altLang="en-US" dirty="0">
                <a:latin typeface="Times" pitchFamily="18" charset="0"/>
              </a:rPr>
              <a:t>原始图像</a:t>
            </a:r>
            <a:endParaRPr lang="en-US" dirty="0">
              <a:latin typeface="Times" pitchFamily="18" charset="0"/>
            </a:endParaRPr>
          </a:p>
        </p:txBody>
      </p:sp>
      <p:pic>
        <p:nvPicPr>
          <p:cNvPr id="20486" name="Picture 23"/>
          <p:cNvPicPr>
            <a:picLocks noChangeAspect="1" noChangeArrowheads="1"/>
          </p:cNvPicPr>
          <p:nvPr/>
        </p:nvPicPr>
        <p:blipFill>
          <a:blip r:embed="rId3" cstate="print"/>
          <a:srcRect l="8000"/>
          <a:stretch>
            <a:fillRect/>
          </a:stretch>
        </p:blipFill>
        <p:spPr bwMode="auto">
          <a:xfrm>
            <a:off x="6477000" y="2667000"/>
            <a:ext cx="1828800" cy="1857375"/>
          </a:xfrm>
          <a:prstGeom prst="rect">
            <a:avLst/>
          </a:prstGeom>
          <a:noFill/>
          <a:ln w="38100">
            <a:noFill/>
            <a:miter lim="800000"/>
            <a:headEnd/>
            <a:tailEnd/>
          </a:ln>
        </p:spPr>
      </p:pic>
      <p:sp>
        <p:nvSpPr>
          <p:cNvPr id="20487" name="Rectangle 24"/>
          <p:cNvSpPr>
            <a:spLocks noChangeArrowheads="1"/>
          </p:cNvSpPr>
          <p:nvPr/>
        </p:nvSpPr>
        <p:spPr bwMode="auto">
          <a:xfrm>
            <a:off x="6477000" y="2667000"/>
            <a:ext cx="1905000" cy="1828800"/>
          </a:xfrm>
          <a:prstGeom prst="rect">
            <a:avLst/>
          </a:prstGeom>
          <a:noFill/>
          <a:ln w="38100">
            <a:solidFill>
              <a:schemeClr val="tx1"/>
            </a:solidFill>
            <a:miter lim="800000"/>
            <a:headEnd/>
            <a:tailEnd/>
          </a:ln>
        </p:spPr>
        <p:txBody>
          <a:bodyPr wrap="none" anchor="ctr"/>
          <a:lstStyle/>
          <a:p>
            <a:endParaRPr lang="en-US"/>
          </a:p>
        </p:txBody>
      </p:sp>
      <p:sp>
        <p:nvSpPr>
          <p:cNvPr id="20488" name="Text Box 25"/>
          <p:cNvSpPr txBox="1">
            <a:spLocks noChangeArrowheads="1"/>
          </p:cNvSpPr>
          <p:nvPr/>
        </p:nvSpPr>
        <p:spPr bwMode="auto">
          <a:xfrm>
            <a:off x="6553200" y="4724400"/>
            <a:ext cx="1338828" cy="369332"/>
          </a:xfrm>
          <a:prstGeom prst="rect">
            <a:avLst/>
          </a:prstGeom>
          <a:noFill/>
          <a:ln w="9525">
            <a:noFill/>
            <a:miter lim="800000"/>
            <a:headEnd/>
            <a:tailEnd/>
          </a:ln>
        </p:spPr>
        <p:txBody>
          <a:bodyPr wrap="none">
            <a:spAutoFit/>
          </a:bodyPr>
          <a:lstStyle/>
          <a:p>
            <a:r>
              <a:rPr lang="zh-CN" altLang="en-US" dirty="0">
                <a:latin typeface="Times" pitchFamily="18" charset="0"/>
              </a:rPr>
              <a:t>左移一像素</a:t>
            </a:r>
            <a:endParaRPr lang="en-US" dirty="0">
              <a:latin typeface="Times" pitchFamily="18" charset="0"/>
            </a:endParaRPr>
          </a:p>
        </p:txBody>
      </p:sp>
      <p:sp>
        <p:nvSpPr>
          <p:cNvPr id="20489" name="Text Box 26"/>
          <p:cNvSpPr txBox="1">
            <a:spLocks noChangeArrowheads="1"/>
          </p:cNvSpPr>
          <p:nvPr/>
        </p:nvSpPr>
        <p:spPr bwMode="auto">
          <a:xfrm>
            <a:off x="7467600" y="6553200"/>
            <a:ext cx="1495425" cy="304800"/>
          </a:xfrm>
          <a:prstGeom prst="rect">
            <a:avLst/>
          </a:prstGeom>
          <a:noFill/>
          <a:ln w="9525">
            <a:noFill/>
            <a:miter lim="800000"/>
            <a:headEnd/>
            <a:tailEnd/>
          </a:ln>
        </p:spPr>
        <p:txBody>
          <a:bodyPr wrap="none">
            <a:spAutoFit/>
          </a:bodyPr>
          <a:lstStyle/>
          <a:p>
            <a:r>
              <a:rPr lang="en-US" sz="1400"/>
              <a:t>Source: D. Lowe</a:t>
            </a:r>
          </a:p>
        </p:txBody>
      </p:sp>
      <p:sp>
        <p:nvSpPr>
          <p:cNvPr id="27" name="TextBox 26"/>
          <p:cNvSpPr txBox="1"/>
          <p:nvPr/>
        </p:nvSpPr>
        <p:spPr>
          <a:xfrm>
            <a:off x="3015342" y="3027478"/>
            <a:ext cx="748923"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sp>
        <p:nvSpPr>
          <p:cNvPr id="28" name="TextBox 27"/>
          <p:cNvSpPr txBox="1"/>
          <p:nvPr/>
        </p:nvSpPr>
        <p:spPr>
          <a:xfrm>
            <a:off x="5410200" y="2971800"/>
            <a:ext cx="567784" cy="1015663"/>
          </a:xfrm>
          <a:prstGeom prst="rect">
            <a:avLst/>
          </a:prstGeom>
          <a:noFill/>
        </p:spPr>
        <p:txBody>
          <a:bodyPr wrap="none" rtlCol="0">
            <a:spAutoFit/>
          </a:bodyPr>
          <a:lstStyle/>
          <a:p>
            <a:r>
              <a:rPr lang="en-US" sz="6000" dirty="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86"/>
                                        </p:tgtEl>
                                        <p:attrNameLst>
                                          <p:attrName>style.visibility</p:attrName>
                                        </p:attrNameLst>
                                      </p:cBhvr>
                                      <p:to>
                                        <p:strVal val="visible"/>
                                      </p:to>
                                    </p:set>
                                    <p:animEffect transition="in" filter="fade">
                                      <p:cBhvr>
                                        <p:cTn id="7" dur="500"/>
                                        <p:tgtEl>
                                          <p:spTgt spid="2048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487"/>
                                        </p:tgtEl>
                                        <p:attrNameLst>
                                          <p:attrName>style.visibility</p:attrName>
                                        </p:attrNameLst>
                                      </p:cBhvr>
                                      <p:to>
                                        <p:strVal val="visible"/>
                                      </p:to>
                                    </p:set>
                                    <p:animEffect transition="in" filter="fade">
                                      <p:cBhvr>
                                        <p:cTn id="10" dur="500"/>
                                        <p:tgtEl>
                                          <p:spTgt spid="2048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488"/>
                                        </p:tgtEl>
                                        <p:attrNameLst>
                                          <p:attrName>style.visibility</p:attrName>
                                        </p:attrNameLst>
                                      </p:cBhvr>
                                      <p:to>
                                        <p:strVal val="visible"/>
                                      </p:to>
                                    </p:set>
                                    <p:animEffect transition="in" filter="fade">
                                      <p:cBhvr>
                                        <p:cTn id="13" dur="500"/>
                                        <p:tgtEl>
                                          <p:spTgt spid="2048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7" grpId="0" animBg="1"/>
      <p:bldP spid="20488" grpId="0"/>
      <p:bldP spid="2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zh-CN" altLang="en-US" dirty="0"/>
              <a:t>线性滤波器示例</a:t>
            </a:r>
            <a:endParaRPr lang="en-US" dirty="0"/>
          </a:p>
        </p:txBody>
      </p:sp>
      <p:pic>
        <p:nvPicPr>
          <p:cNvPr id="22531" name="Picture 3"/>
          <p:cNvPicPr>
            <a:picLocks noChangeAspect="1" noChangeArrowheads="1"/>
          </p:cNvPicPr>
          <p:nvPr/>
        </p:nvPicPr>
        <p:blipFill>
          <a:blip r:embed="rId4" cstate="print"/>
          <a:srcRect/>
          <a:stretch>
            <a:fillRect/>
          </a:stretch>
        </p:blipFill>
        <p:spPr bwMode="auto">
          <a:xfrm>
            <a:off x="914400" y="2667000"/>
            <a:ext cx="1876425" cy="1857375"/>
          </a:xfrm>
          <a:prstGeom prst="rect">
            <a:avLst/>
          </a:prstGeom>
          <a:noFill/>
          <a:ln w="38100">
            <a:solidFill>
              <a:schemeClr val="tx1"/>
            </a:solidFill>
            <a:miter lim="800000"/>
            <a:headEnd/>
            <a:tailEnd/>
          </a:ln>
        </p:spPr>
      </p:pic>
      <p:sp>
        <p:nvSpPr>
          <p:cNvPr id="22532" name="Text Box 4"/>
          <p:cNvSpPr txBox="1">
            <a:spLocks noChangeArrowheads="1"/>
          </p:cNvSpPr>
          <p:nvPr/>
        </p:nvSpPr>
        <p:spPr bwMode="auto">
          <a:xfrm>
            <a:off x="1371600" y="4572000"/>
            <a:ext cx="1107996" cy="369332"/>
          </a:xfrm>
          <a:prstGeom prst="rect">
            <a:avLst/>
          </a:prstGeom>
          <a:noFill/>
          <a:ln w="9525">
            <a:noFill/>
            <a:miter lim="800000"/>
            <a:headEnd/>
            <a:tailEnd/>
          </a:ln>
        </p:spPr>
        <p:txBody>
          <a:bodyPr wrap="none">
            <a:spAutoFit/>
          </a:bodyPr>
          <a:lstStyle/>
          <a:p>
            <a:r>
              <a:rPr lang="zh-CN" altLang="en-US" dirty="0">
                <a:latin typeface="Times" pitchFamily="18" charset="0"/>
              </a:rPr>
              <a:t>原始图像</a:t>
            </a:r>
            <a:endParaRPr lang="en-US" dirty="0">
              <a:latin typeface="Times" pitchFamily="18" charset="0"/>
            </a:endParaRPr>
          </a:p>
        </p:txBody>
      </p:sp>
      <p:grpSp>
        <p:nvGrpSpPr>
          <p:cNvPr id="2" name="Group 5"/>
          <p:cNvGrpSpPr>
            <a:grpSpLocks/>
          </p:cNvGrpSpPr>
          <p:nvPr/>
        </p:nvGrpSpPr>
        <p:grpSpPr bwMode="auto">
          <a:xfrm>
            <a:off x="3810000" y="2917372"/>
            <a:ext cx="1676400" cy="1295400"/>
            <a:chOff x="3799" y="2064"/>
            <a:chExt cx="1433" cy="1136"/>
          </a:xfrm>
        </p:grpSpPr>
        <p:grpSp>
          <p:nvGrpSpPr>
            <p:cNvPr id="3" name="Group 6"/>
            <p:cNvGrpSpPr>
              <a:grpSpLocks/>
            </p:cNvGrpSpPr>
            <p:nvPr/>
          </p:nvGrpSpPr>
          <p:grpSpPr bwMode="auto">
            <a:xfrm>
              <a:off x="4080" y="2064"/>
              <a:ext cx="1152" cy="1136"/>
              <a:chOff x="144" y="144"/>
              <a:chExt cx="1152" cy="1136"/>
            </a:xfrm>
          </p:grpSpPr>
          <p:sp>
            <p:nvSpPr>
              <p:cNvPr id="22539" name="Rectangle 7"/>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0" name="Rectangle 8"/>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dirty="0"/>
                  <a:t>1</a:t>
                </a:r>
              </a:p>
            </p:txBody>
          </p:sp>
          <p:sp>
            <p:nvSpPr>
              <p:cNvPr id="22541" name="Rectangle 9"/>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2" name="Rectangle 10"/>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3" name="Rectangle 11"/>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4" name="Rectangle 12"/>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5" name="Rectangle 13"/>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6" name="Rectangle 14"/>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7" name="Rectangle 15"/>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8" name="Line 16"/>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2549" name="Line 17"/>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2550" name="Line 18"/>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2551" name="Line 19"/>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2552" name="Line 20"/>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22553" name="Line 21"/>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2554" name="Line 22"/>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2555" name="Line 23"/>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pic>
          <p:nvPicPr>
            <p:cNvPr id="22538" name="Picture 24" descr="txp_fig"/>
            <p:cNvPicPr>
              <a:picLocks noChangeAspect="1" noChangeArrowheads="1"/>
            </p:cNvPicPr>
            <p:nvPr>
              <p:custDataLst>
                <p:tags r:id="rId1"/>
              </p:custDataLst>
            </p:nvPr>
          </p:nvPicPr>
          <p:blipFill>
            <a:blip r:embed="rId5" cstate="print">
              <a:clrChange>
                <a:clrFrom>
                  <a:srgbClr val="FFFFFF"/>
                </a:clrFrom>
                <a:clrTo>
                  <a:srgbClr val="FFFFFF">
                    <a:alpha val="0"/>
                  </a:srgbClr>
                </a:clrTo>
              </a:clrChange>
            </a:blip>
            <a:srcRect/>
            <a:stretch>
              <a:fillRect/>
            </a:stretch>
          </p:blipFill>
          <p:spPr bwMode="auto">
            <a:xfrm>
              <a:off x="3799" y="2352"/>
              <a:ext cx="192" cy="576"/>
            </a:xfrm>
            <a:prstGeom prst="rect">
              <a:avLst/>
            </a:prstGeom>
            <a:noFill/>
            <a:ln w="9525">
              <a:noFill/>
              <a:miter lim="800000"/>
              <a:headEnd/>
              <a:tailEnd/>
            </a:ln>
          </p:spPr>
        </p:pic>
      </p:grpSp>
      <p:pic>
        <p:nvPicPr>
          <p:cNvPr id="22534" name="Picture 25"/>
          <p:cNvPicPr>
            <a:picLocks noChangeAspect="1" noChangeArrowheads="1"/>
          </p:cNvPicPr>
          <p:nvPr/>
        </p:nvPicPr>
        <p:blipFill>
          <a:blip r:embed="rId6" cstate="print"/>
          <a:srcRect/>
          <a:stretch>
            <a:fillRect/>
          </a:stretch>
        </p:blipFill>
        <p:spPr bwMode="auto">
          <a:xfrm>
            <a:off x="6477000" y="2667000"/>
            <a:ext cx="1857375" cy="1866900"/>
          </a:xfrm>
          <a:prstGeom prst="rect">
            <a:avLst/>
          </a:prstGeom>
          <a:noFill/>
          <a:ln w="38100">
            <a:solidFill>
              <a:schemeClr val="tx1"/>
            </a:solidFill>
            <a:miter lim="800000"/>
            <a:headEnd/>
            <a:tailEnd/>
          </a:ln>
        </p:spPr>
      </p:pic>
      <p:sp>
        <p:nvSpPr>
          <p:cNvPr id="22535" name="Text Box 26"/>
          <p:cNvSpPr txBox="1">
            <a:spLocks noChangeArrowheads="1"/>
          </p:cNvSpPr>
          <p:nvPr/>
        </p:nvSpPr>
        <p:spPr bwMode="auto">
          <a:xfrm>
            <a:off x="6227762" y="4659868"/>
            <a:ext cx="2459038" cy="646331"/>
          </a:xfrm>
          <a:prstGeom prst="rect">
            <a:avLst/>
          </a:prstGeom>
          <a:noFill/>
          <a:ln w="9525">
            <a:noFill/>
            <a:miter lim="800000"/>
            <a:headEnd/>
            <a:tailEnd/>
          </a:ln>
        </p:spPr>
        <p:txBody>
          <a:bodyPr wrap="square">
            <a:spAutoFit/>
          </a:bodyPr>
          <a:lstStyle/>
          <a:p>
            <a:r>
              <a:rPr lang="zh-CN" altLang="en-US" dirty="0">
                <a:latin typeface="Times" pitchFamily="18" charset="0"/>
              </a:rPr>
              <a:t>模糊图像</a:t>
            </a:r>
            <a:r>
              <a:rPr lang="en-US" dirty="0">
                <a:latin typeface="Times" pitchFamily="18" charset="0"/>
              </a:rPr>
              <a:t> (</a:t>
            </a:r>
            <a:r>
              <a:rPr lang="zh-CN" altLang="en-US" dirty="0">
                <a:latin typeface="Times" pitchFamily="18" charset="0"/>
              </a:rPr>
              <a:t>使用均值滤波后</a:t>
            </a:r>
            <a:r>
              <a:rPr lang="en-US" dirty="0">
                <a:latin typeface="Times" pitchFamily="18" charset="0"/>
              </a:rPr>
              <a:t>)</a:t>
            </a:r>
          </a:p>
        </p:txBody>
      </p:sp>
      <p:sp>
        <p:nvSpPr>
          <p:cNvPr id="22536" name="Text Box 27"/>
          <p:cNvSpPr txBox="1">
            <a:spLocks noChangeArrowheads="1"/>
          </p:cNvSpPr>
          <p:nvPr/>
        </p:nvSpPr>
        <p:spPr bwMode="auto">
          <a:xfrm>
            <a:off x="7467600" y="6553200"/>
            <a:ext cx="1495425" cy="304800"/>
          </a:xfrm>
          <a:prstGeom prst="rect">
            <a:avLst/>
          </a:prstGeom>
          <a:noFill/>
          <a:ln w="9525">
            <a:noFill/>
            <a:miter lim="800000"/>
            <a:headEnd/>
            <a:tailEnd/>
          </a:ln>
        </p:spPr>
        <p:txBody>
          <a:bodyPr wrap="none">
            <a:spAutoFit/>
          </a:bodyPr>
          <a:lstStyle/>
          <a:p>
            <a:r>
              <a:rPr lang="en-US" sz="1400"/>
              <a:t>Source: D. Lowe</a:t>
            </a:r>
          </a:p>
        </p:txBody>
      </p:sp>
      <p:sp>
        <p:nvSpPr>
          <p:cNvPr id="28" name="TextBox 27"/>
          <p:cNvSpPr txBox="1"/>
          <p:nvPr/>
        </p:nvSpPr>
        <p:spPr>
          <a:xfrm>
            <a:off x="2971800" y="3027478"/>
            <a:ext cx="748923"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sp>
        <p:nvSpPr>
          <p:cNvPr id="29" name="TextBox 28"/>
          <p:cNvSpPr txBox="1"/>
          <p:nvPr/>
        </p:nvSpPr>
        <p:spPr>
          <a:xfrm>
            <a:off x="5680616" y="2971800"/>
            <a:ext cx="567784" cy="1015663"/>
          </a:xfrm>
          <a:prstGeom prst="rect">
            <a:avLst/>
          </a:prstGeom>
          <a:noFill/>
        </p:spPr>
        <p:txBody>
          <a:bodyPr wrap="none" rtlCol="0">
            <a:spAutoFit/>
          </a:bodyPr>
          <a:lstStyle/>
          <a:p>
            <a:r>
              <a:rPr lang="en-US" sz="6000" dirty="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34"/>
                                        </p:tgtEl>
                                        <p:attrNameLst>
                                          <p:attrName>style.visibility</p:attrName>
                                        </p:attrNameLst>
                                      </p:cBhvr>
                                      <p:to>
                                        <p:strVal val="visible"/>
                                      </p:to>
                                    </p:set>
                                    <p:animEffect transition="in" filter="fade">
                                      <p:cBhvr>
                                        <p:cTn id="7" dur="500"/>
                                        <p:tgtEl>
                                          <p:spTgt spid="2253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535"/>
                                        </p:tgtEl>
                                        <p:attrNameLst>
                                          <p:attrName>style.visibility</p:attrName>
                                        </p:attrNameLst>
                                      </p:cBhvr>
                                      <p:to>
                                        <p:strVal val="visible"/>
                                      </p:to>
                                    </p:set>
                                    <p:animEffect transition="in" filter="fade">
                                      <p:cBhvr>
                                        <p:cTn id="10" dur="500"/>
                                        <p:tgtEl>
                                          <p:spTgt spid="2253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5" grpId="0"/>
      <p:bldP spid="2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zh-CN" altLang="en-US" dirty="0"/>
              <a:t>线性滤波器示例</a:t>
            </a:r>
            <a:endParaRPr lang="en-US" dirty="0"/>
          </a:p>
        </p:txBody>
      </p:sp>
      <p:pic>
        <p:nvPicPr>
          <p:cNvPr id="24579" name="Picture 3"/>
          <p:cNvPicPr>
            <a:picLocks noChangeAspect="1" noChangeArrowheads="1"/>
          </p:cNvPicPr>
          <p:nvPr/>
        </p:nvPicPr>
        <p:blipFill>
          <a:blip r:embed="rId4" cstate="print"/>
          <a:srcRect/>
          <a:stretch>
            <a:fillRect/>
          </a:stretch>
        </p:blipFill>
        <p:spPr bwMode="auto">
          <a:xfrm>
            <a:off x="104775" y="2590800"/>
            <a:ext cx="1876425" cy="1857375"/>
          </a:xfrm>
          <a:prstGeom prst="rect">
            <a:avLst/>
          </a:prstGeom>
          <a:noFill/>
          <a:ln w="38100">
            <a:solidFill>
              <a:schemeClr val="tx1"/>
            </a:solidFill>
            <a:miter lim="800000"/>
            <a:headEnd/>
            <a:tailEnd/>
          </a:ln>
        </p:spPr>
      </p:pic>
      <p:sp>
        <p:nvSpPr>
          <p:cNvPr id="24580" name="Text Box 4"/>
          <p:cNvSpPr txBox="1">
            <a:spLocks noChangeArrowheads="1"/>
          </p:cNvSpPr>
          <p:nvPr/>
        </p:nvSpPr>
        <p:spPr bwMode="auto">
          <a:xfrm>
            <a:off x="317500" y="4613275"/>
            <a:ext cx="1107996" cy="369332"/>
          </a:xfrm>
          <a:prstGeom prst="rect">
            <a:avLst/>
          </a:prstGeom>
          <a:noFill/>
          <a:ln w="9525">
            <a:noFill/>
            <a:miter lim="800000"/>
            <a:headEnd/>
            <a:tailEnd/>
          </a:ln>
        </p:spPr>
        <p:txBody>
          <a:bodyPr wrap="none">
            <a:spAutoFit/>
          </a:bodyPr>
          <a:lstStyle/>
          <a:p>
            <a:r>
              <a:rPr lang="zh-CN" altLang="en-US" dirty="0">
                <a:latin typeface="Times" pitchFamily="18" charset="0"/>
              </a:rPr>
              <a:t>原始图像</a:t>
            </a:r>
            <a:endParaRPr lang="en-US" dirty="0">
              <a:latin typeface="Times" pitchFamily="18" charset="0"/>
            </a:endParaRPr>
          </a:p>
        </p:txBody>
      </p:sp>
      <p:grpSp>
        <p:nvGrpSpPr>
          <p:cNvPr id="51" name="Group 50"/>
          <p:cNvGrpSpPr/>
          <p:nvPr/>
        </p:nvGrpSpPr>
        <p:grpSpPr>
          <a:xfrm>
            <a:off x="2667000" y="2667000"/>
            <a:ext cx="3795352" cy="1545773"/>
            <a:chOff x="2667000" y="2667000"/>
            <a:chExt cx="3795352" cy="1545773"/>
          </a:xfrm>
        </p:grpSpPr>
        <p:pic>
          <p:nvPicPr>
            <p:cNvPr id="44035" name="Picture 3"/>
            <p:cNvPicPr>
              <a:picLocks noChangeAspect="1" noChangeArrowheads="1"/>
            </p:cNvPicPr>
            <p:nvPr/>
          </p:nvPicPr>
          <p:blipFill>
            <a:blip r:embed="rId5" cstate="print"/>
            <a:srcRect/>
            <a:stretch>
              <a:fillRect/>
            </a:stretch>
          </p:blipFill>
          <p:spPr bwMode="auto">
            <a:xfrm>
              <a:off x="6019800" y="2721433"/>
              <a:ext cx="442552" cy="1491340"/>
            </a:xfrm>
            <a:prstGeom prst="rect">
              <a:avLst/>
            </a:prstGeom>
            <a:noFill/>
            <a:ln w="9525">
              <a:noFill/>
              <a:miter lim="800000"/>
              <a:headEnd/>
              <a:tailEnd/>
            </a:ln>
          </p:spPr>
        </p:pic>
        <p:pic>
          <p:nvPicPr>
            <p:cNvPr id="44034" name="Picture 2"/>
            <p:cNvPicPr>
              <a:picLocks noChangeAspect="1" noChangeArrowheads="1"/>
            </p:cNvPicPr>
            <p:nvPr/>
          </p:nvPicPr>
          <p:blipFill>
            <a:blip r:embed="rId6" cstate="print"/>
            <a:srcRect/>
            <a:stretch>
              <a:fillRect/>
            </a:stretch>
          </p:blipFill>
          <p:spPr bwMode="auto">
            <a:xfrm>
              <a:off x="2667000" y="2667000"/>
              <a:ext cx="410072" cy="1524000"/>
            </a:xfrm>
            <a:prstGeom prst="rect">
              <a:avLst/>
            </a:prstGeom>
            <a:noFill/>
            <a:ln w="9525">
              <a:noFill/>
              <a:miter lim="800000"/>
              <a:headEnd/>
              <a:tailEnd/>
            </a:ln>
          </p:spPr>
        </p:pic>
        <p:grpSp>
          <p:nvGrpSpPr>
            <p:cNvPr id="2" name="Group 5"/>
            <p:cNvGrpSpPr>
              <a:grpSpLocks/>
            </p:cNvGrpSpPr>
            <p:nvPr/>
          </p:nvGrpSpPr>
          <p:grpSpPr bwMode="auto">
            <a:xfrm>
              <a:off x="4724400" y="2895600"/>
              <a:ext cx="1371600" cy="1066800"/>
              <a:chOff x="3799" y="2064"/>
              <a:chExt cx="1433" cy="1136"/>
            </a:xfrm>
          </p:grpSpPr>
          <p:grpSp>
            <p:nvGrpSpPr>
              <p:cNvPr id="3" name="Group 6"/>
              <p:cNvGrpSpPr>
                <a:grpSpLocks/>
              </p:cNvGrpSpPr>
              <p:nvPr/>
            </p:nvGrpSpPr>
            <p:grpSpPr bwMode="auto">
              <a:xfrm>
                <a:off x="4080" y="2064"/>
                <a:ext cx="1152" cy="1136"/>
                <a:chOff x="144" y="144"/>
                <a:chExt cx="1152" cy="1136"/>
              </a:xfrm>
            </p:grpSpPr>
            <p:sp>
              <p:nvSpPr>
                <p:cNvPr id="24606" name="Rectangle 7"/>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07" name="Rectangle 8"/>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08" name="Rectangle 9"/>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09" name="Rectangle 10"/>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10" name="Rectangle 11"/>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11" name="Rectangle 12"/>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12" name="Rectangle 13"/>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13" name="Rectangle 14"/>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14" name="Rectangle 15"/>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15" name="Line 16"/>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4616" name="Line 17"/>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4617" name="Line 18"/>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4618" name="Line 19"/>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4619" name="Line 20"/>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24620" name="Line 21"/>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4621" name="Line 22"/>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4622" name="Line 23"/>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pic>
            <p:nvPicPr>
              <p:cNvPr id="24605" name="Picture 24" descr="txp_fig"/>
              <p:cNvPicPr>
                <a:picLocks noChangeAspect="1" noChangeArrowheads="1"/>
              </p:cNvPicPr>
              <p:nvPr>
                <p:custDataLst>
                  <p:tags r:id="rId1"/>
                </p:custDataLst>
              </p:nvPr>
            </p:nvPicPr>
            <p:blipFill>
              <a:blip r:embed="rId7" cstate="print">
                <a:clrChange>
                  <a:clrFrom>
                    <a:srgbClr val="FFFFFF"/>
                  </a:clrFrom>
                  <a:clrTo>
                    <a:srgbClr val="FFFFFF">
                      <a:alpha val="0"/>
                    </a:srgbClr>
                  </a:clrTo>
                </a:clrChange>
              </a:blip>
              <a:srcRect/>
              <a:stretch>
                <a:fillRect/>
              </a:stretch>
            </p:blipFill>
            <p:spPr bwMode="auto">
              <a:xfrm>
                <a:off x="3799" y="2352"/>
                <a:ext cx="192" cy="576"/>
              </a:xfrm>
              <a:prstGeom prst="rect">
                <a:avLst/>
              </a:prstGeom>
              <a:noFill/>
              <a:ln w="9525">
                <a:noFill/>
                <a:miter lim="800000"/>
                <a:headEnd/>
                <a:tailEnd/>
              </a:ln>
            </p:spPr>
          </p:pic>
        </p:grpSp>
        <p:grpSp>
          <p:nvGrpSpPr>
            <p:cNvPr id="4" name="Group 25"/>
            <p:cNvGrpSpPr>
              <a:grpSpLocks/>
            </p:cNvGrpSpPr>
            <p:nvPr/>
          </p:nvGrpSpPr>
          <p:grpSpPr bwMode="auto">
            <a:xfrm>
              <a:off x="3048000" y="2895600"/>
              <a:ext cx="1149350" cy="1066800"/>
              <a:chOff x="144" y="144"/>
              <a:chExt cx="1152" cy="1136"/>
            </a:xfrm>
          </p:grpSpPr>
          <p:sp>
            <p:nvSpPr>
              <p:cNvPr id="24587" name="Rectangle 26"/>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88" name="Rectangle 27"/>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89" name="Rectangle 28"/>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90" name="Rectangle 29"/>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91" name="Rectangle 30"/>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2</a:t>
                </a:r>
              </a:p>
            </p:txBody>
          </p:sp>
          <p:sp>
            <p:nvSpPr>
              <p:cNvPr id="24592" name="Rectangle 31"/>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93" name="Rectangle 32"/>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94" name="Rectangle 33"/>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95" name="Rectangle 34"/>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96" name="Line 35"/>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4597" name="Line 36"/>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4598" name="Line 37"/>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4599" name="Line 38"/>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4600" name="Line 39"/>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24601" name="Line 40"/>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4602" name="Line 41"/>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4603" name="Line 42"/>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sp>
          <p:nvSpPr>
            <p:cNvPr id="24583" name="Text Box 43"/>
            <p:cNvSpPr txBox="1">
              <a:spLocks noChangeArrowheads="1"/>
            </p:cNvSpPr>
            <p:nvPr/>
          </p:nvSpPr>
          <p:spPr bwMode="auto">
            <a:xfrm>
              <a:off x="4267200" y="2819400"/>
              <a:ext cx="438150" cy="1006475"/>
            </a:xfrm>
            <a:prstGeom prst="rect">
              <a:avLst/>
            </a:prstGeom>
            <a:noFill/>
            <a:ln w="9525">
              <a:noFill/>
              <a:miter lim="800000"/>
              <a:headEnd/>
              <a:tailEnd/>
            </a:ln>
          </p:spPr>
          <p:txBody>
            <a:bodyPr wrap="none">
              <a:spAutoFit/>
            </a:bodyPr>
            <a:lstStyle/>
            <a:p>
              <a:r>
                <a:rPr lang="en-US" sz="6000" b="1">
                  <a:latin typeface="Times" pitchFamily="18" charset="0"/>
                </a:rPr>
                <a:t>-</a:t>
              </a:r>
            </a:p>
          </p:txBody>
        </p:sp>
      </p:grpSp>
      <p:grpSp>
        <p:nvGrpSpPr>
          <p:cNvPr id="52" name="Group 51"/>
          <p:cNvGrpSpPr/>
          <p:nvPr/>
        </p:nvGrpSpPr>
        <p:grpSpPr>
          <a:xfrm>
            <a:off x="6858000" y="2514600"/>
            <a:ext cx="2209800" cy="2551331"/>
            <a:chOff x="6858000" y="2514600"/>
            <a:chExt cx="2209800" cy="2551331"/>
          </a:xfrm>
        </p:grpSpPr>
        <p:sp>
          <p:nvSpPr>
            <p:cNvPr id="24584" name="Text Box 44"/>
            <p:cNvSpPr txBox="1">
              <a:spLocks noChangeArrowheads="1"/>
            </p:cNvSpPr>
            <p:nvPr/>
          </p:nvSpPr>
          <p:spPr bwMode="auto">
            <a:xfrm>
              <a:off x="6858000" y="4419600"/>
              <a:ext cx="2209800" cy="646331"/>
            </a:xfrm>
            <a:prstGeom prst="rect">
              <a:avLst/>
            </a:prstGeom>
            <a:noFill/>
            <a:ln w="9525">
              <a:noFill/>
              <a:miter lim="800000"/>
              <a:headEnd/>
              <a:tailEnd/>
            </a:ln>
          </p:spPr>
          <p:txBody>
            <a:bodyPr wrap="square">
              <a:spAutoFit/>
            </a:bodyPr>
            <a:lstStyle/>
            <a:p>
              <a:pPr algn="ctr"/>
              <a:r>
                <a:rPr lang="zh-CN" altLang="en-US" b="1" dirty="0"/>
                <a:t>锐化图像</a:t>
              </a:r>
              <a:endParaRPr lang="en-US" altLang="zh-CN" b="1" dirty="0"/>
            </a:p>
            <a:p>
              <a:pPr algn="ctr"/>
              <a:r>
                <a:rPr lang="en-US" b="1" dirty="0"/>
                <a:t> </a:t>
              </a:r>
              <a:r>
                <a:rPr lang="en-US" dirty="0"/>
                <a:t>(</a:t>
              </a:r>
              <a:r>
                <a:rPr lang="zh-CN" altLang="en-US" dirty="0"/>
                <a:t>突出边缘</a:t>
              </a:r>
              <a:r>
                <a:rPr lang="en-US" dirty="0"/>
                <a:t>)</a:t>
              </a:r>
              <a:endParaRPr lang="en-US" b="1" dirty="0"/>
            </a:p>
          </p:txBody>
        </p:sp>
        <p:pic>
          <p:nvPicPr>
            <p:cNvPr id="24585" name="Picture 45"/>
            <p:cNvPicPr>
              <a:picLocks noChangeAspect="1" noChangeArrowheads="1"/>
            </p:cNvPicPr>
            <p:nvPr/>
          </p:nvPicPr>
          <p:blipFill>
            <a:blip r:embed="rId8" cstate="print"/>
            <a:srcRect/>
            <a:stretch>
              <a:fillRect/>
            </a:stretch>
          </p:blipFill>
          <p:spPr bwMode="auto">
            <a:xfrm>
              <a:off x="7086600" y="2514600"/>
              <a:ext cx="1876425" cy="1876425"/>
            </a:xfrm>
            <a:prstGeom prst="rect">
              <a:avLst/>
            </a:prstGeom>
            <a:noFill/>
            <a:ln w="9525">
              <a:noFill/>
              <a:miter lim="800000"/>
              <a:headEnd/>
              <a:tailEnd/>
            </a:ln>
          </p:spPr>
        </p:pic>
      </p:grpSp>
      <p:sp>
        <p:nvSpPr>
          <p:cNvPr id="47" name="TextBox 46"/>
          <p:cNvSpPr txBox="1"/>
          <p:nvPr/>
        </p:nvSpPr>
        <p:spPr>
          <a:xfrm>
            <a:off x="6477000" y="2870537"/>
            <a:ext cx="567784" cy="1015663"/>
          </a:xfrm>
          <a:prstGeom prst="rect">
            <a:avLst/>
          </a:prstGeom>
          <a:noFill/>
        </p:spPr>
        <p:txBody>
          <a:bodyPr wrap="none" rtlCol="0">
            <a:spAutoFit/>
          </a:bodyPr>
          <a:lstStyle/>
          <a:p>
            <a:r>
              <a:rPr lang="en-US" sz="6000" dirty="0">
                <a:cs typeface="Times New Roman" pitchFamily="18" charset="0"/>
              </a:rPr>
              <a:t>=</a:t>
            </a:r>
          </a:p>
        </p:txBody>
      </p:sp>
      <p:sp>
        <p:nvSpPr>
          <p:cNvPr id="48" name="TextBox 47"/>
          <p:cNvSpPr txBox="1"/>
          <p:nvPr/>
        </p:nvSpPr>
        <p:spPr>
          <a:xfrm>
            <a:off x="2024742" y="2895600"/>
            <a:ext cx="748923"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sp>
        <p:nvSpPr>
          <p:cNvPr id="5" name="矩形 4"/>
          <p:cNvSpPr/>
          <p:nvPr/>
        </p:nvSpPr>
        <p:spPr>
          <a:xfrm>
            <a:off x="1088168" y="6011927"/>
            <a:ext cx="4685898" cy="369332"/>
          </a:xfrm>
          <a:prstGeom prst="rect">
            <a:avLst/>
          </a:prstGeom>
          <a:ln>
            <a:solidFill>
              <a:srgbClr val="FF0000"/>
            </a:solidFill>
          </a:ln>
        </p:spPr>
        <p:txBody>
          <a:bodyPr wrap="none">
            <a:spAutoFit/>
          </a:bodyPr>
          <a:lstStyle/>
          <a:p>
            <a:r>
              <a:rPr lang="pt-BR" altLang="zh-CN" dirty="0">
                <a:latin typeface="Menlo"/>
              </a:rPr>
              <a:t>h=[0 0 0;0 2 0; 0 0 0] -ones(3, 3) / 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500"/>
                                        <p:tgtEl>
                                          <p:spTgt spid="4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500"/>
                                        <p:tgtEl>
                                          <p:spTgt spid="5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3" cstate="print"/>
          <a:srcRect t="18013"/>
          <a:stretch>
            <a:fillRect/>
          </a:stretch>
        </p:blipFill>
        <p:spPr bwMode="auto">
          <a:xfrm>
            <a:off x="762000" y="1676400"/>
            <a:ext cx="7586663" cy="4356100"/>
          </a:xfrm>
          <a:prstGeom prst="rect">
            <a:avLst/>
          </a:prstGeom>
          <a:noFill/>
          <a:ln w="9525">
            <a:noFill/>
            <a:miter lim="800000"/>
            <a:headEnd/>
            <a:tailEnd/>
          </a:ln>
        </p:spPr>
      </p:pic>
      <p:sp>
        <p:nvSpPr>
          <p:cNvPr id="25603" name="Rectangle 3"/>
          <p:cNvSpPr>
            <a:spLocks noGrp="1" noChangeArrowheads="1"/>
          </p:cNvSpPr>
          <p:nvPr>
            <p:ph type="title"/>
          </p:nvPr>
        </p:nvSpPr>
        <p:spPr/>
        <p:txBody>
          <a:bodyPr/>
          <a:lstStyle/>
          <a:p>
            <a:r>
              <a:rPr lang="zh-CN" altLang="en-US" dirty="0"/>
              <a:t>锐化</a:t>
            </a:r>
            <a:endParaRPr lang="en-US" dirty="0"/>
          </a:p>
        </p:txBody>
      </p:sp>
      <p:sp>
        <p:nvSpPr>
          <p:cNvPr id="25604" name="Text Box 5"/>
          <p:cNvSpPr txBox="1">
            <a:spLocks noChangeArrowheads="1"/>
          </p:cNvSpPr>
          <p:nvPr/>
        </p:nvSpPr>
        <p:spPr bwMode="auto">
          <a:xfrm>
            <a:off x="7467600" y="6553200"/>
            <a:ext cx="1495425" cy="304800"/>
          </a:xfrm>
          <a:prstGeom prst="rect">
            <a:avLst/>
          </a:prstGeom>
          <a:noFill/>
          <a:ln w="9525">
            <a:noFill/>
            <a:miter lim="800000"/>
            <a:headEnd/>
            <a:tailEnd/>
          </a:ln>
        </p:spPr>
        <p:txBody>
          <a:bodyPr wrap="none">
            <a:spAutoFit/>
          </a:bodyPr>
          <a:lstStyle/>
          <a:p>
            <a:r>
              <a:rPr lang="en-US" sz="1400"/>
              <a:t>Source: D. Lowe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381000" y="274638"/>
            <a:ext cx="8229600" cy="1143000"/>
          </a:xfrm>
        </p:spPr>
        <p:txBody>
          <a:bodyPr/>
          <a:lstStyle/>
          <a:p>
            <a:r>
              <a:rPr lang="zh-CN" altLang="en-US" dirty="0"/>
              <a:t>再次使用箱式滤波模糊化</a:t>
            </a:r>
            <a:endParaRPr lang="en-US" dirty="0"/>
          </a:p>
        </p:txBody>
      </p:sp>
      <p:pic>
        <p:nvPicPr>
          <p:cNvPr id="26628" name="Picture 7"/>
          <p:cNvPicPr>
            <a:picLocks noChangeAspect="1" noChangeArrowheads="1"/>
          </p:cNvPicPr>
          <p:nvPr/>
        </p:nvPicPr>
        <p:blipFill>
          <a:blip r:embed="rId3" cstate="print"/>
          <a:srcRect/>
          <a:stretch>
            <a:fillRect/>
          </a:stretch>
        </p:blipFill>
        <p:spPr bwMode="auto">
          <a:xfrm>
            <a:off x="685800" y="2057400"/>
            <a:ext cx="3352800" cy="3352800"/>
          </a:xfrm>
          <a:prstGeom prst="rect">
            <a:avLst/>
          </a:prstGeom>
          <a:noFill/>
          <a:ln w="9525">
            <a:noFill/>
            <a:miter lim="800000"/>
            <a:headEnd/>
            <a:tailEnd/>
          </a:ln>
        </p:spPr>
      </p:pic>
      <p:pic>
        <p:nvPicPr>
          <p:cNvPr id="26629" name="Picture 8"/>
          <p:cNvPicPr>
            <a:picLocks noChangeAspect="1" noChangeArrowheads="1"/>
          </p:cNvPicPr>
          <p:nvPr/>
        </p:nvPicPr>
        <p:blipFill>
          <a:blip r:embed="rId4" cstate="print"/>
          <a:srcRect/>
          <a:stretch>
            <a:fillRect/>
          </a:stretch>
        </p:blipFill>
        <p:spPr bwMode="auto">
          <a:xfrm>
            <a:off x="4953000" y="2057400"/>
            <a:ext cx="3352800" cy="3352800"/>
          </a:xfrm>
          <a:prstGeom prst="rect">
            <a:avLst/>
          </a:prstGeom>
          <a:noFill/>
          <a:ln w="9525">
            <a:noFill/>
            <a:miter lim="800000"/>
            <a:headEnd/>
            <a:tailEnd/>
          </a:ln>
        </p:spPr>
      </p:pic>
      <p:pic>
        <p:nvPicPr>
          <p:cNvPr id="26630" name="Picture 9"/>
          <p:cNvPicPr>
            <a:picLocks noChangeAspect="1" noChangeArrowheads="1"/>
          </p:cNvPicPr>
          <p:nvPr/>
        </p:nvPicPr>
        <p:blipFill>
          <a:blip r:embed="rId5" cstate="print"/>
          <a:srcRect/>
          <a:stretch>
            <a:fillRect/>
          </a:stretch>
        </p:blipFill>
        <p:spPr bwMode="auto">
          <a:xfrm>
            <a:off x="4191000" y="3352800"/>
            <a:ext cx="628650" cy="628650"/>
          </a:xfrm>
          <a:prstGeom prst="rect">
            <a:avLst/>
          </a:prstGeom>
          <a:noFill/>
          <a:ln w="9525">
            <a:noFill/>
            <a:miter lim="800000"/>
            <a:headEnd/>
            <a:tailEnd/>
          </a:ln>
        </p:spPr>
      </p:pic>
      <p:sp>
        <p:nvSpPr>
          <p:cNvPr id="26631" name="Text Box 10"/>
          <p:cNvSpPr txBox="1">
            <a:spLocks noChangeArrowheads="1"/>
          </p:cNvSpPr>
          <p:nvPr/>
        </p:nvSpPr>
        <p:spPr bwMode="auto">
          <a:xfrm>
            <a:off x="7467600" y="6553200"/>
            <a:ext cx="1662113" cy="304800"/>
          </a:xfrm>
          <a:prstGeom prst="rect">
            <a:avLst/>
          </a:prstGeom>
          <a:noFill/>
          <a:ln w="9525">
            <a:noFill/>
            <a:miter lim="800000"/>
            <a:headEnd/>
            <a:tailEnd/>
          </a:ln>
        </p:spPr>
        <p:txBody>
          <a:bodyPr wrap="none">
            <a:spAutoFit/>
          </a:bodyPr>
          <a:lstStyle/>
          <a:p>
            <a:r>
              <a:rPr lang="en-US" sz="1400" dirty="0"/>
              <a:t>Source: D. Forsyth</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228600"/>
            <a:ext cx="7772400" cy="609600"/>
          </a:xfrm>
        </p:spPr>
        <p:txBody>
          <a:bodyPr>
            <a:normAutofit/>
          </a:bodyPr>
          <a:lstStyle/>
          <a:p>
            <a:r>
              <a:rPr lang="zh-CN" altLang="en-US" dirty="0"/>
              <a:t>高斯核</a:t>
            </a:r>
            <a:endParaRPr lang="en-US" dirty="0"/>
          </a:p>
        </p:txBody>
      </p:sp>
      <p:pic>
        <p:nvPicPr>
          <p:cNvPr id="28676" name="Picture 4" descr="realgaussian"/>
          <p:cNvPicPr>
            <a:picLocks noChangeAspect="1" noChangeArrowheads="1"/>
          </p:cNvPicPr>
          <p:nvPr/>
        </p:nvPicPr>
        <p:blipFill>
          <a:blip r:embed="rId4" cstate="print"/>
          <a:srcRect l="3360" t="15573" b="4480"/>
          <a:stretch>
            <a:fillRect/>
          </a:stretch>
        </p:blipFill>
        <p:spPr bwMode="auto">
          <a:xfrm>
            <a:off x="1752600" y="1995487"/>
            <a:ext cx="2943225" cy="1827212"/>
          </a:xfrm>
          <a:prstGeom prst="rect">
            <a:avLst/>
          </a:prstGeom>
          <a:noFill/>
          <a:ln w="9525">
            <a:noFill/>
            <a:miter lim="800000"/>
            <a:headEnd/>
            <a:tailEnd/>
          </a:ln>
        </p:spPr>
      </p:pic>
      <p:pic>
        <p:nvPicPr>
          <p:cNvPr id="28677" name="Picture 5"/>
          <p:cNvPicPr>
            <a:picLocks noChangeAspect="1" noChangeArrowheads="1"/>
          </p:cNvPicPr>
          <p:nvPr/>
        </p:nvPicPr>
        <p:blipFill>
          <a:blip r:embed="rId5" cstate="print"/>
          <a:srcRect/>
          <a:stretch>
            <a:fillRect/>
          </a:stretch>
        </p:blipFill>
        <p:spPr bwMode="auto">
          <a:xfrm>
            <a:off x="5181600" y="1995487"/>
            <a:ext cx="1828800" cy="1828800"/>
          </a:xfrm>
          <a:prstGeom prst="rect">
            <a:avLst/>
          </a:prstGeom>
          <a:noFill/>
          <a:ln w="9525">
            <a:noFill/>
            <a:miter lim="800000"/>
            <a:headEnd/>
            <a:tailEnd/>
          </a:ln>
        </p:spPr>
      </p:pic>
      <p:pic>
        <p:nvPicPr>
          <p:cNvPr id="28678" name="Picture 6" descr="txp_fig"/>
          <p:cNvPicPr>
            <a:picLocks noChangeAspect="1" noChangeArrowheads="1"/>
          </p:cNvPicPr>
          <p:nvPr>
            <p:custDataLst>
              <p:tags r:id="rId1"/>
            </p:custDataLst>
          </p:nvPr>
        </p:nvPicPr>
        <p:blipFill>
          <a:blip r:embed="rId6" cstate="print">
            <a:clrChange>
              <a:clrFrom>
                <a:srgbClr val="FFFFFF"/>
              </a:clrFrom>
              <a:clrTo>
                <a:srgbClr val="FFFFFF">
                  <a:alpha val="0"/>
                </a:srgbClr>
              </a:clrTo>
            </a:clrChange>
          </a:blip>
          <a:srcRect/>
          <a:stretch>
            <a:fillRect/>
          </a:stretch>
        </p:blipFill>
        <p:spPr bwMode="auto">
          <a:xfrm>
            <a:off x="2362200" y="4205287"/>
            <a:ext cx="4114800" cy="1052513"/>
          </a:xfrm>
          <a:prstGeom prst="rect">
            <a:avLst/>
          </a:prstGeom>
          <a:noFill/>
          <a:ln w="9525">
            <a:noFill/>
            <a:miter lim="800000"/>
            <a:headEnd/>
            <a:tailEnd/>
          </a:ln>
        </p:spPr>
      </p:pic>
      <p:sp>
        <p:nvSpPr>
          <p:cNvPr id="28682" name="Text Box 10"/>
          <p:cNvSpPr txBox="1">
            <a:spLocks noChangeArrowheads="1"/>
          </p:cNvSpPr>
          <p:nvPr/>
        </p:nvSpPr>
        <p:spPr bwMode="auto">
          <a:xfrm>
            <a:off x="7010400" y="6397625"/>
            <a:ext cx="2092325" cy="457200"/>
          </a:xfrm>
          <a:prstGeom prst="rect">
            <a:avLst/>
          </a:prstGeom>
          <a:noFill/>
          <a:ln w="9525">
            <a:noFill/>
            <a:miter lim="800000"/>
            <a:headEnd/>
            <a:tailEnd/>
          </a:ln>
        </p:spPr>
        <p:txBody>
          <a:bodyPr wrap="none">
            <a:spAutoFit/>
          </a:bodyPr>
          <a:lstStyle/>
          <a:p>
            <a:r>
              <a:rPr lang="en-US" sz="1400"/>
              <a:t>Source: C. </a:t>
            </a:r>
            <a:r>
              <a:rPr lang="en-US" sz="1400" dirty="0"/>
              <a:t>Rasmussen</a:t>
            </a:r>
            <a:r>
              <a:rPr lang="en-US" dirty="0"/>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998" y="0"/>
            <a:ext cx="8229600" cy="991510"/>
          </a:xfrm>
        </p:spPr>
        <p:txBody>
          <a:bodyPr/>
          <a:lstStyle/>
          <a:p>
            <a:r>
              <a:rPr lang="zh-CN" altLang="en-US" dirty="0"/>
              <a:t>高斯滤波器</a:t>
            </a:r>
            <a:endParaRPr lang="en-US" dirty="0"/>
          </a:p>
        </p:txBody>
      </p:sp>
      <p:grpSp>
        <p:nvGrpSpPr>
          <p:cNvPr id="3" name="Group 36"/>
          <p:cNvGrpSpPr/>
          <p:nvPr/>
        </p:nvGrpSpPr>
        <p:grpSpPr>
          <a:xfrm>
            <a:off x="7198063" y="1424426"/>
            <a:ext cx="1636944" cy="3264932"/>
            <a:chOff x="7276797" y="2133600"/>
            <a:chExt cx="1636944" cy="3264932"/>
          </a:xfrm>
        </p:grpSpPr>
        <p:grpSp>
          <p:nvGrpSpPr>
            <p:cNvPr id="4" name="Group 27"/>
            <p:cNvGrpSpPr/>
            <p:nvPr/>
          </p:nvGrpSpPr>
          <p:grpSpPr>
            <a:xfrm>
              <a:off x="7429531" y="4370614"/>
              <a:ext cx="1409669" cy="1027918"/>
              <a:chOff x="7429531" y="4675414"/>
              <a:chExt cx="1409669" cy="1027918"/>
            </a:xfrm>
          </p:grpSpPr>
          <p:pic>
            <p:nvPicPr>
              <p:cNvPr id="134150" name="Picture 6" descr="C:\snavely\work\teaching\10Fa-CS4670\lectures\lec02\g30.png"/>
              <p:cNvPicPr>
                <a:picLocks noChangeAspect="1" noChangeArrowheads="1"/>
              </p:cNvPicPr>
              <p:nvPr/>
            </p:nvPicPr>
            <p:blipFill>
              <a:blip r:embed="rId6" cstate="print"/>
              <a:srcRect/>
              <a:stretch>
                <a:fillRect/>
              </a:stretch>
            </p:blipFill>
            <p:spPr bwMode="auto">
              <a:xfrm>
                <a:off x="7788728" y="4675414"/>
                <a:ext cx="669472" cy="669472"/>
              </a:xfrm>
              <a:prstGeom prst="rect">
                <a:avLst/>
              </a:prstGeom>
              <a:noFill/>
            </p:spPr>
          </p:pic>
          <p:pic>
            <p:nvPicPr>
              <p:cNvPr id="19" name="Picture 18" descr="Edittex"/>
              <p:cNvPicPr>
                <a:picLocks noChangeAspect="1" noChangeArrowheads="1"/>
              </p:cNvPicPr>
              <p:nvPr>
                <p:custDataLst>
                  <p:tags r:id="rId4"/>
                </p:custDataLst>
              </p:nvPr>
            </p:nvPicPr>
            <p:blipFill>
              <a:blip r:embed="rId7" cstate="print"/>
              <a:srcRect/>
              <a:stretch>
                <a:fillRect/>
              </a:stretch>
            </p:blipFill>
            <p:spPr bwMode="auto">
              <a:xfrm>
                <a:off x="7429531" y="5420304"/>
                <a:ext cx="268287" cy="219075"/>
              </a:xfrm>
              <a:prstGeom prst="rect">
                <a:avLst/>
              </a:prstGeom>
              <a:noFill/>
              <a:ln w="9525">
                <a:noFill/>
                <a:miter lim="800000"/>
                <a:headEnd/>
                <a:tailEnd/>
              </a:ln>
            </p:spPr>
          </p:pic>
          <p:sp>
            <p:nvSpPr>
              <p:cNvPr id="20" name="TextBox 19"/>
              <p:cNvSpPr txBox="1"/>
              <p:nvPr/>
            </p:nvSpPr>
            <p:spPr>
              <a:xfrm>
                <a:off x="7656569" y="5334000"/>
                <a:ext cx="1182631" cy="369332"/>
              </a:xfrm>
              <a:prstGeom prst="rect">
                <a:avLst/>
              </a:prstGeom>
              <a:noFill/>
            </p:spPr>
            <p:txBody>
              <a:bodyPr wrap="none" rtlCol="0">
                <a:spAutoFit/>
              </a:bodyPr>
              <a:lstStyle/>
              <a:p>
                <a:r>
                  <a:rPr lang="en-US" b="1" dirty="0"/>
                  <a:t>= 30 pixels</a:t>
                </a:r>
              </a:p>
            </p:txBody>
          </p:sp>
        </p:grpSp>
        <p:pic>
          <p:nvPicPr>
            <p:cNvPr id="134155" name="Picture 11" descr="C:\snavely\work\teaching\10Fa-CS4670\lectures\lec02\owl30.png"/>
            <p:cNvPicPr>
              <a:picLocks noChangeAspect="1" noChangeArrowheads="1"/>
            </p:cNvPicPr>
            <p:nvPr/>
          </p:nvPicPr>
          <p:blipFill>
            <a:blip r:embed="rId8" cstate="print"/>
            <a:srcRect/>
            <a:stretch>
              <a:fillRect/>
            </a:stretch>
          </p:blipFill>
          <p:spPr bwMode="auto">
            <a:xfrm>
              <a:off x="7276797" y="2133600"/>
              <a:ext cx="1636944" cy="2049738"/>
            </a:xfrm>
            <a:prstGeom prst="rect">
              <a:avLst/>
            </a:prstGeom>
            <a:noFill/>
          </p:spPr>
        </p:pic>
      </p:grpSp>
      <p:pic>
        <p:nvPicPr>
          <p:cNvPr id="134156" name="Picture 12" descr="C:\snavely\work\teaching\10Fa-CS4670\lectures\lec02\owl.png"/>
          <p:cNvPicPr>
            <a:picLocks noChangeAspect="1" noChangeArrowheads="1"/>
          </p:cNvPicPr>
          <p:nvPr/>
        </p:nvPicPr>
        <p:blipFill>
          <a:blip r:embed="rId9" cstate="print"/>
          <a:srcRect/>
          <a:stretch>
            <a:fillRect/>
          </a:stretch>
        </p:blipFill>
        <p:spPr bwMode="auto">
          <a:xfrm>
            <a:off x="129753" y="1424426"/>
            <a:ext cx="1636944" cy="2049738"/>
          </a:xfrm>
          <a:prstGeom prst="rect">
            <a:avLst/>
          </a:prstGeom>
          <a:noFill/>
        </p:spPr>
      </p:pic>
      <p:grpSp>
        <p:nvGrpSpPr>
          <p:cNvPr id="5" name="Group 33"/>
          <p:cNvGrpSpPr/>
          <p:nvPr/>
        </p:nvGrpSpPr>
        <p:grpSpPr>
          <a:xfrm>
            <a:off x="1896831" y="1424426"/>
            <a:ext cx="1636944" cy="3264932"/>
            <a:chOff x="1975565" y="2133600"/>
            <a:chExt cx="1636944" cy="3264932"/>
          </a:xfrm>
        </p:grpSpPr>
        <p:grpSp>
          <p:nvGrpSpPr>
            <p:cNvPr id="6" name="Group 24"/>
            <p:cNvGrpSpPr/>
            <p:nvPr/>
          </p:nvGrpSpPr>
          <p:grpSpPr>
            <a:xfrm>
              <a:off x="2209800" y="4351564"/>
              <a:ext cx="1181069" cy="1046968"/>
              <a:chOff x="2209800" y="4656364"/>
              <a:chExt cx="1181069" cy="1046968"/>
            </a:xfrm>
          </p:grpSpPr>
          <p:pic>
            <p:nvPicPr>
              <p:cNvPr id="134147" name="Picture 3" descr="C:\snavely\work\teaching\10Fa-CS4670\lectures\lec02\g1.png"/>
              <p:cNvPicPr>
                <a:picLocks noChangeAspect="1" noChangeArrowheads="1"/>
              </p:cNvPicPr>
              <p:nvPr/>
            </p:nvPicPr>
            <p:blipFill>
              <a:blip r:embed="rId10" cstate="print"/>
              <a:srcRect/>
              <a:stretch>
                <a:fillRect/>
              </a:stretch>
            </p:blipFill>
            <p:spPr bwMode="auto">
              <a:xfrm>
                <a:off x="2465614" y="4656364"/>
                <a:ext cx="669472" cy="669472"/>
              </a:xfrm>
              <a:prstGeom prst="rect">
                <a:avLst/>
              </a:prstGeom>
              <a:noFill/>
            </p:spPr>
          </p:pic>
          <p:pic>
            <p:nvPicPr>
              <p:cNvPr id="13" name="Picture 14" descr="Edittex"/>
              <p:cNvPicPr>
                <a:picLocks noChangeAspect="1" noChangeArrowheads="1"/>
              </p:cNvPicPr>
              <p:nvPr>
                <p:custDataLst>
                  <p:tags r:id="rId3"/>
                </p:custDataLst>
              </p:nvPr>
            </p:nvPicPr>
            <p:blipFill>
              <a:blip r:embed="rId7" cstate="print"/>
              <a:srcRect/>
              <a:stretch>
                <a:fillRect/>
              </a:stretch>
            </p:blipFill>
            <p:spPr bwMode="auto">
              <a:xfrm>
                <a:off x="2209800" y="5420304"/>
                <a:ext cx="268287" cy="219075"/>
              </a:xfrm>
              <a:prstGeom prst="rect">
                <a:avLst/>
              </a:prstGeom>
              <a:noFill/>
              <a:ln w="9525">
                <a:noFill/>
                <a:miter lim="800000"/>
                <a:headEnd/>
                <a:tailEnd/>
              </a:ln>
            </p:spPr>
          </p:pic>
          <p:sp>
            <p:nvSpPr>
              <p:cNvPr id="14" name="TextBox 13"/>
              <p:cNvSpPr txBox="1"/>
              <p:nvPr/>
            </p:nvSpPr>
            <p:spPr>
              <a:xfrm>
                <a:off x="2416628" y="5334000"/>
                <a:ext cx="974241" cy="369332"/>
              </a:xfrm>
              <a:prstGeom prst="rect">
                <a:avLst/>
              </a:prstGeom>
              <a:noFill/>
            </p:spPr>
            <p:txBody>
              <a:bodyPr wrap="none" rtlCol="0">
                <a:spAutoFit/>
              </a:bodyPr>
              <a:lstStyle/>
              <a:p>
                <a:r>
                  <a:rPr lang="en-US" b="1" dirty="0"/>
                  <a:t>= 1 pixel</a:t>
                </a:r>
              </a:p>
            </p:txBody>
          </p:sp>
        </p:grpSp>
        <p:pic>
          <p:nvPicPr>
            <p:cNvPr id="134157" name="Picture 13" descr="C:\snavely\work\teaching\10Fa-CS4670\lectures\lec02\owl1.png"/>
            <p:cNvPicPr>
              <a:picLocks noChangeAspect="1" noChangeArrowheads="1"/>
            </p:cNvPicPr>
            <p:nvPr/>
          </p:nvPicPr>
          <p:blipFill>
            <a:blip r:embed="rId11" cstate="print"/>
            <a:srcRect/>
            <a:stretch>
              <a:fillRect/>
            </a:stretch>
          </p:blipFill>
          <p:spPr bwMode="auto">
            <a:xfrm>
              <a:off x="1975565" y="2133600"/>
              <a:ext cx="1636944" cy="2049738"/>
            </a:xfrm>
            <a:prstGeom prst="rect">
              <a:avLst/>
            </a:prstGeom>
            <a:noFill/>
          </p:spPr>
        </p:pic>
      </p:grpSp>
      <p:grpSp>
        <p:nvGrpSpPr>
          <p:cNvPr id="7" name="Group 34"/>
          <p:cNvGrpSpPr/>
          <p:nvPr/>
        </p:nvGrpSpPr>
        <p:grpSpPr>
          <a:xfrm>
            <a:off x="3663909" y="1424426"/>
            <a:ext cx="1636944" cy="3276600"/>
            <a:chOff x="3742643" y="2133600"/>
            <a:chExt cx="1636944" cy="3276600"/>
          </a:xfrm>
        </p:grpSpPr>
        <p:grpSp>
          <p:nvGrpSpPr>
            <p:cNvPr id="8" name="Group 25"/>
            <p:cNvGrpSpPr/>
            <p:nvPr/>
          </p:nvGrpSpPr>
          <p:grpSpPr>
            <a:xfrm>
              <a:off x="3902557" y="4351564"/>
              <a:ext cx="1292651" cy="1058636"/>
              <a:chOff x="3902557" y="4656364"/>
              <a:chExt cx="1292651" cy="1058636"/>
            </a:xfrm>
          </p:grpSpPr>
          <p:pic>
            <p:nvPicPr>
              <p:cNvPr id="134148" name="Picture 4" descr="C:\snavely\work\teaching\10Fa-CS4670\lectures\lec02\g5.png"/>
              <p:cNvPicPr>
                <a:picLocks noChangeAspect="1" noChangeArrowheads="1"/>
              </p:cNvPicPr>
              <p:nvPr/>
            </p:nvPicPr>
            <p:blipFill>
              <a:blip r:embed="rId12" cstate="print"/>
              <a:srcRect/>
              <a:stretch>
                <a:fillRect/>
              </a:stretch>
            </p:blipFill>
            <p:spPr bwMode="auto">
              <a:xfrm>
                <a:off x="4234540" y="4656364"/>
                <a:ext cx="669472" cy="669472"/>
              </a:xfrm>
              <a:prstGeom prst="rect">
                <a:avLst/>
              </a:prstGeom>
              <a:noFill/>
            </p:spPr>
          </p:pic>
          <p:pic>
            <p:nvPicPr>
              <p:cNvPr id="15" name="Picture 14" descr="Edittex"/>
              <p:cNvPicPr>
                <a:picLocks noChangeAspect="1" noChangeArrowheads="1"/>
              </p:cNvPicPr>
              <p:nvPr>
                <p:custDataLst>
                  <p:tags r:id="rId2"/>
                </p:custDataLst>
              </p:nvPr>
            </p:nvPicPr>
            <p:blipFill>
              <a:blip r:embed="rId7" cstate="print"/>
              <a:srcRect/>
              <a:stretch>
                <a:fillRect/>
              </a:stretch>
            </p:blipFill>
            <p:spPr bwMode="auto">
              <a:xfrm>
                <a:off x="3902557" y="5431972"/>
                <a:ext cx="268287" cy="219075"/>
              </a:xfrm>
              <a:prstGeom prst="rect">
                <a:avLst/>
              </a:prstGeom>
              <a:noFill/>
              <a:ln w="9525">
                <a:noFill/>
                <a:miter lim="800000"/>
                <a:headEnd/>
                <a:tailEnd/>
              </a:ln>
            </p:spPr>
          </p:pic>
          <p:sp>
            <p:nvSpPr>
              <p:cNvPr id="16" name="TextBox 15"/>
              <p:cNvSpPr txBox="1"/>
              <p:nvPr/>
            </p:nvSpPr>
            <p:spPr>
              <a:xfrm>
                <a:off x="4129595" y="5345668"/>
                <a:ext cx="1065613" cy="369332"/>
              </a:xfrm>
              <a:prstGeom prst="rect">
                <a:avLst/>
              </a:prstGeom>
              <a:noFill/>
            </p:spPr>
            <p:txBody>
              <a:bodyPr wrap="none" rtlCol="0">
                <a:spAutoFit/>
              </a:bodyPr>
              <a:lstStyle/>
              <a:p>
                <a:r>
                  <a:rPr lang="en-US" b="1" dirty="0"/>
                  <a:t>= 5 pixels</a:t>
                </a:r>
              </a:p>
            </p:txBody>
          </p:sp>
        </p:grpSp>
        <p:pic>
          <p:nvPicPr>
            <p:cNvPr id="134158" name="Picture 14" descr="C:\snavely\work\teaching\10Fa-CS4670\lectures\lec02\owl5.png"/>
            <p:cNvPicPr>
              <a:picLocks noChangeAspect="1" noChangeArrowheads="1"/>
            </p:cNvPicPr>
            <p:nvPr/>
          </p:nvPicPr>
          <p:blipFill>
            <a:blip r:embed="rId13" cstate="print"/>
            <a:srcRect/>
            <a:stretch>
              <a:fillRect/>
            </a:stretch>
          </p:blipFill>
          <p:spPr bwMode="auto">
            <a:xfrm>
              <a:off x="3742643" y="2133600"/>
              <a:ext cx="1636944" cy="2049738"/>
            </a:xfrm>
            <a:prstGeom prst="rect">
              <a:avLst/>
            </a:prstGeom>
            <a:noFill/>
          </p:spPr>
        </p:pic>
      </p:grpSp>
      <p:grpSp>
        <p:nvGrpSpPr>
          <p:cNvPr id="9" name="Group 35"/>
          <p:cNvGrpSpPr/>
          <p:nvPr/>
        </p:nvGrpSpPr>
        <p:grpSpPr>
          <a:xfrm>
            <a:off x="5430987" y="1424426"/>
            <a:ext cx="1636944" cy="3264932"/>
            <a:chOff x="5509721" y="2133600"/>
            <a:chExt cx="1636944" cy="3264932"/>
          </a:xfrm>
        </p:grpSpPr>
        <p:grpSp>
          <p:nvGrpSpPr>
            <p:cNvPr id="10" name="Group 26"/>
            <p:cNvGrpSpPr/>
            <p:nvPr/>
          </p:nvGrpSpPr>
          <p:grpSpPr>
            <a:xfrm>
              <a:off x="5627910" y="4351564"/>
              <a:ext cx="1409669" cy="1046968"/>
              <a:chOff x="5627910" y="4656364"/>
              <a:chExt cx="1409669" cy="1046968"/>
            </a:xfrm>
          </p:grpSpPr>
          <p:pic>
            <p:nvPicPr>
              <p:cNvPr id="134149" name="Picture 5" descr="C:\snavely\work\teaching\10Fa-CS4670\lectures\lec02\g10.png"/>
              <p:cNvPicPr>
                <a:picLocks noChangeAspect="1" noChangeArrowheads="1"/>
              </p:cNvPicPr>
              <p:nvPr/>
            </p:nvPicPr>
            <p:blipFill>
              <a:blip r:embed="rId14" cstate="print"/>
              <a:srcRect/>
              <a:stretch>
                <a:fillRect/>
              </a:stretch>
            </p:blipFill>
            <p:spPr bwMode="auto">
              <a:xfrm>
                <a:off x="5998024" y="4656364"/>
                <a:ext cx="669472" cy="669472"/>
              </a:xfrm>
              <a:prstGeom prst="rect">
                <a:avLst/>
              </a:prstGeom>
              <a:noFill/>
            </p:spPr>
          </p:pic>
          <p:pic>
            <p:nvPicPr>
              <p:cNvPr id="17" name="Picture 16" descr="Edittex"/>
              <p:cNvPicPr>
                <a:picLocks noChangeAspect="1" noChangeArrowheads="1"/>
              </p:cNvPicPr>
              <p:nvPr>
                <p:custDataLst>
                  <p:tags r:id="rId1"/>
                </p:custDataLst>
              </p:nvPr>
            </p:nvPicPr>
            <p:blipFill>
              <a:blip r:embed="rId7" cstate="print"/>
              <a:srcRect/>
              <a:stretch>
                <a:fillRect/>
              </a:stretch>
            </p:blipFill>
            <p:spPr bwMode="auto">
              <a:xfrm>
                <a:off x="5627910" y="5420304"/>
                <a:ext cx="268287" cy="219075"/>
              </a:xfrm>
              <a:prstGeom prst="rect">
                <a:avLst/>
              </a:prstGeom>
              <a:noFill/>
              <a:ln w="9525">
                <a:noFill/>
                <a:miter lim="800000"/>
                <a:headEnd/>
                <a:tailEnd/>
              </a:ln>
            </p:spPr>
          </p:pic>
          <p:sp>
            <p:nvSpPr>
              <p:cNvPr id="18" name="TextBox 17"/>
              <p:cNvSpPr txBox="1"/>
              <p:nvPr/>
            </p:nvSpPr>
            <p:spPr>
              <a:xfrm>
                <a:off x="5854948" y="5334000"/>
                <a:ext cx="1182631" cy="369332"/>
              </a:xfrm>
              <a:prstGeom prst="rect">
                <a:avLst/>
              </a:prstGeom>
              <a:noFill/>
            </p:spPr>
            <p:txBody>
              <a:bodyPr wrap="none" rtlCol="0">
                <a:spAutoFit/>
              </a:bodyPr>
              <a:lstStyle/>
              <a:p>
                <a:r>
                  <a:rPr lang="en-US" b="1" dirty="0"/>
                  <a:t>= 10 pixels</a:t>
                </a:r>
              </a:p>
            </p:txBody>
          </p:sp>
        </p:grpSp>
        <p:pic>
          <p:nvPicPr>
            <p:cNvPr id="134159" name="Picture 15" descr="C:\snavely\work\teaching\10Fa-CS4670\lectures\lec02\owl10.png"/>
            <p:cNvPicPr>
              <a:picLocks noChangeAspect="1" noChangeArrowheads="1"/>
            </p:cNvPicPr>
            <p:nvPr/>
          </p:nvPicPr>
          <p:blipFill>
            <a:blip r:embed="rId15" cstate="print"/>
            <a:srcRect/>
            <a:stretch>
              <a:fillRect/>
            </a:stretch>
          </p:blipFill>
          <p:spPr bwMode="auto">
            <a:xfrm>
              <a:off x="5509721" y="2133600"/>
              <a:ext cx="1636944" cy="2049738"/>
            </a:xfrm>
            <a:prstGeom prst="rect">
              <a:avLst/>
            </a:prstGeom>
            <a:noFill/>
          </p:spPr>
        </p:pic>
      </p:grpSp>
      <p:pic>
        <p:nvPicPr>
          <p:cNvPr id="12" name="图片 11"/>
          <p:cNvPicPr>
            <a:picLocks noChangeAspect="1"/>
          </p:cNvPicPr>
          <p:nvPr/>
        </p:nvPicPr>
        <p:blipFill>
          <a:blip r:embed="rId16"/>
          <a:stretch>
            <a:fillRect/>
          </a:stretch>
        </p:blipFill>
        <p:spPr>
          <a:xfrm>
            <a:off x="981208" y="5000607"/>
            <a:ext cx="7035327" cy="1723785"/>
          </a:xfrm>
          <a:prstGeom prst="rect">
            <a:avLst/>
          </a:prstGeom>
        </p:spPr>
      </p:pic>
      <p:sp>
        <p:nvSpPr>
          <p:cNvPr id="21" name="矩形 20"/>
          <p:cNvSpPr/>
          <p:nvPr/>
        </p:nvSpPr>
        <p:spPr>
          <a:xfrm>
            <a:off x="380313" y="818135"/>
            <a:ext cx="8608767" cy="646331"/>
          </a:xfrm>
          <a:prstGeom prst="rect">
            <a:avLst/>
          </a:prstGeom>
        </p:spPr>
        <p:txBody>
          <a:bodyPr wrap="square">
            <a:spAutoFit/>
          </a:bodyPr>
          <a:lstStyle/>
          <a:p>
            <a:r>
              <a:rPr lang="zh-CN" altLang="en-US" dirty="0">
                <a:hlinkClick r:id="rId17"/>
              </a:rPr>
              <a:t>https://ww2.mathworks.cn/help/images/ref/fspecial.html#d126e</a:t>
            </a:r>
            <a:r>
              <a:rPr lang="zh-CN" altLang="en-US" dirty="0" smtClean="0">
                <a:hlinkClick r:id="rId17"/>
              </a:rPr>
              <a:t>18080</a:t>
            </a:r>
            <a:endParaRPr lang="en-US" altLang="zh-CN" dirty="0" smtClean="0"/>
          </a:p>
          <a:p>
            <a:endParaRPr lang="zh-CN" altLang="en-US" dirty="0"/>
          </a:p>
        </p:txBody>
      </p:sp>
    </p:spTree>
    <p:extLst>
      <p:ext uri="{BB962C8B-B14F-4D97-AF65-F5344CB8AC3E}">
        <p14:creationId xmlns:p14="http://schemas.microsoft.com/office/powerpoint/2010/main" val="3484110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457200" y="-76200"/>
            <a:ext cx="8229600" cy="1143000"/>
          </a:xfrm>
        </p:spPr>
        <p:txBody>
          <a:bodyPr/>
          <a:lstStyle/>
          <a:p>
            <a:r>
              <a:rPr lang="zh-CN" altLang="en-US" dirty="0"/>
              <a:t>均值滤波</a:t>
            </a:r>
            <a:r>
              <a:rPr lang="en-US" altLang="zh-CN" dirty="0"/>
              <a:t>VS</a:t>
            </a:r>
            <a:r>
              <a:rPr lang="zh-CN" altLang="en-US" dirty="0"/>
              <a:t>高斯滤波</a:t>
            </a:r>
            <a:endParaRPr lang="en-US" dirty="0"/>
          </a:p>
        </p:txBody>
      </p:sp>
      <p:graphicFrame>
        <p:nvGraphicFramePr>
          <p:cNvPr id="3074" name="Object 3"/>
          <p:cNvGraphicFramePr>
            <a:graphicFrameLocks noChangeAspect="1"/>
          </p:cNvGraphicFramePr>
          <p:nvPr>
            <p:extLst>
              <p:ext uri="{D42A27DB-BD31-4B8C-83A1-F6EECF244321}">
                <p14:modId xmlns:p14="http://schemas.microsoft.com/office/powerpoint/2010/main" val="641840060"/>
              </p:ext>
            </p:extLst>
          </p:nvPr>
        </p:nvGraphicFramePr>
        <p:xfrm>
          <a:off x="1295400" y="878889"/>
          <a:ext cx="6324600" cy="5867400"/>
        </p:xfrm>
        <a:graphic>
          <a:graphicData uri="http://schemas.openxmlformats.org/presentationml/2006/ole">
            <mc:AlternateContent xmlns:mc="http://schemas.openxmlformats.org/markup-compatibility/2006">
              <mc:Choice xmlns:v="urn:schemas-microsoft-com:vml" Requires="v">
                <p:oleObj spid="_x0000_s2070" name="Photo Editor Photo" r:id="rId4" imgW="3828571" imgH="3572374" progId="">
                  <p:embed/>
                </p:oleObj>
              </mc:Choice>
              <mc:Fallback>
                <p:oleObj name="Photo Editor Photo" r:id="rId4" imgW="3828571" imgH="3572374" progId="">
                  <p:embed/>
                  <p:pic>
                    <p:nvPicPr>
                      <p:cNvPr id="3074"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878889"/>
                        <a:ext cx="6324600"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59418" y="239698"/>
            <a:ext cx="8229600" cy="1143000"/>
          </a:xfrm>
        </p:spPr>
        <p:txBody>
          <a:bodyPr/>
          <a:lstStyle/>
          <a:p>
            <a:pPr algn="ctr"/>
            <a:r>
              <a:rPr lang="zh-CN" altLang="en-US" dirty="0" smtClean="0"/>
              <a:t>锐化（</a:t>
            </a:r>
            <a:r>
              <a:rPr lang="en-US" altLang="zh-CN" dirty="0" smtClean="0"/>
              <a:t>-</a:t>
            </a:r>
            <a:r>
              <a:rPr lang="zh-CN" altLang="en-US" dirty="0" smtClean="0"/>
              <a:t>边缘检测） </a:t>
            </a:r>
            <a:endParaRPr lang="en-US" dirty="0"/>
          </a:p>
        </p:txBody>
      </p:sp>
      <p:sp>
        <p:nvSpPr>
          <p:cNvPr id="13" name="矩形 12"/>
          <p:cNvSpPr/>
          <p:nvPr/>
        </p:nvSpPr>
        <p:spPr>
          <a:xfrm>
            <a:off x="563731" y="1727966"/>
            <a:ext cx="8447104" cy="3416320"/>
          </a:xfrm>
          <a:prstGeom prst="rect">
            <a:avLst/>
          </a:prstGeom>
          <a:ln>
            <a:solidFill>
              <a:srgbClr val="FF0000"/>
            </a:solidFill>
          </a:ln>
        </p:spPr>
        <p:txBody>
          <a:bodyPr wrap="square">
            <a:spAutoFit/>
          </a:bodyPr>
          <a:lstStyle/>
          <a:p>
            <a:r>
              <a:rPr lang="zh-CN" altLang="en-US" dirty="0"/>
              <a:t>锐化滤波，是将图像的</a:t>
            </a:r>
            <a:r>
              <a:rPr lang="zh-CN" altLang="en-US" dirty="0">
                <a:solidFill>
                  <a:srgbClr val="FF0000"/>
                </a:solidFill>
              </a:rPr>
              <a:t>低频部分减弱</a:t>
            </a:r>
            <a:r>
              <a:rPr lang="zh-CN" altLang="en-US" dirty="0"/>
              <a:t>或去除，保留图像的高频部分，即图像的边缘信息。</a:t>
            </a:r>
          </a:p>
          <a:p>
            <a:endParaRPr lang="zh-CN" altLang="en-US" dirty="0"/>
          </a:p>
          <a:p>
            <a:r>
              <a:rPr lang="zh-CN" altLang="en-US" dirty="0"/>
              <a:t>图像的边缘、轮廓一般位于灰度突变的地方，也就是图像的高频部分，通常用灰度差分提取边缘轮廓。</a:t>
            </a:r>
          </a:p>
          <a:p>
            <a:endParaRPr lang="zh-CN" altLang="en-US" dirty="0"/>
          </a:p>
          <a:p>
            <a:r>
              <a:rPr lang="zh-CN" altLang="en-US" dirty="0"/>
              <a:t>图像中</a:t>
            </a:r>
            <a:r>
              <a:rPr lang="zh-CN" altLang="en-US" b="1" dirty="0">
                <a:solidFill>
                  <a:srgbClr val="FF0000"/>
                </a:solidFill>
              </a:rPr>
              <a:t>边缘轮廓</a:t>
            </a:r>
            <a:r>
              <a:rPr lang="zh-CN" altLang="en-US" dirty="0"/>
              <a:t>通常是任意方向的，因此我们的差分运算需要具有</a:t>
            </a:r>
            <a:r>
              <a:rPr lang="zh-CN" altLang="en-US" dirty="0" smtClean="0"/>
              <a:t>方向性。</a:t>
            </a:r>
            <a:endParaRPr lang="en-US" altLang="zh-CN" dirty="0" smtClean="0"/>
          </a:p>
          <a:p>
            <a:endParaRPr lang="en-US" altLang="zh-CN" dirty="0" smtClean="0"/>
          </a:p>
          <a:p>
            <a:r>
              <a:rPr lang="zh-CN" altLang="en-US" dirty="0"/>
              <a:t>常用的锐化差分算子有</a:t>
            </a:r>
            <a:r>
              <a:rPr lang="zh-CN" altLang="en-US" dirty="0" smtClean="0"/>
              <a:t>：</a:t>
            </a:r>
            <a:r>
              <a:rPr lang="en-US" altLang="zh-CN" dirty="0" smtClean="0"/>
              <a:t>Roberts</a:t>
            </a:r>
            <a:r>
              <a:rPr lang="zh-CN" altLang="en-US" dirty="0" smtClean="0"/>
              <a:t>算子、</a:t>
            </a:r>
            <a:r>
              <a:rPr lang="en-US" altLang="zh-CN" dirty="0" smtClean="0"/>
              <a:t>Sobel</a:t>
            </a:r>
            <a:r>
              <a:rPr lang="zh-CN" altLang="en-US" dirty="0" smtClean="0"/>
              <a:t>算子、</a:t>
            </a:r>
            <a:r>
              <a:rPr lang="en-US" altLang="zh-CN" dirty="0" smtClean="0"/>
              <a:t>Prewitt</a:t>
            </a:r>
            <a:r>
              <a:rPr lang="zh-CN" altLang="en-US" dirty="0" smtClean="0"/>
              <a:t>算子、</a:t>
            </a:r>
            <a:r>
              <a:rPr lang="en-US" altLang="zh-CN" dirty="0" smtClean="0"/>
              <a:t>Laplace</a:t>
            </a:r>
            <a:r>
              <a:rPr lang="zh-CN" altLang="en-US" dirty="0" smtClean="0"/>
              <a:t>算子</a:t>
            </a:r>
            <a:endParaRPr lang="en-US" altLang="zh-CN" dirty="0" smtClean="0"/>
          </a:p>
          <a:p>
            <a:endParaRPr lang="en-US" altLang="zh-CN" dirty="0" smtClean="0">
              <a:hlinkClick r:id="rId3"/>
            </a:endParaRPr>
          </a:p>
          <a:p>
            <a:r>
              <a:rPr lang="zh-CN" altLang="en-US" dirty="0" smtClean="0">
                <a:hlinkClick r:id="rId3"/>
              </a:rPr>
              <a:t>https</a:t>
            </a:r>
            <a:r>
              <a:rPr lang="zh-CN" altLang="en-US" dirty="0">
                <a:hlinkClick r:id="rId3"/>
              </a:rPr>
              <a:t>://blog.csdn.net/u014030117/article/details/</a:t>
            </a:r>
            <a:r>
              <a:rPr lang="zh-CN" altLang="en-US" dirty="0" smtClean="0">
                <a:hlinkClick r:id="rId3"/>
              </a:rPr>
              <a:t>46383659</a:t>
            </a:r>
            <a:endParaRPr lang="en-US" altLang="zh-CN" dirty="0" smtClean="0"/>
          </a:p>
          <a:p>
            <a:endParaRPr lang="zh-CN" altLang="en-US" dirty="0"/>
          </a:p>
        </p:txBody>
      </p:sp>
      <p:pic>
        <p:nvPicPr>
          <p:cNvPr id="15" name="图片 14"/>
          <p:cNvPicPr>
            <a:picLocks noChangeAspect="1"/>
          </p:cNvPicPr>
          <p:nvPr/>
        </p:nvPicPr>
        <p:blipFill>
          <a:blip r:embed="rId4"/>
          <a:stretch>
            <a:fillRect/>
          </a:stretch>
        </p:blipFill>
        <p:spPr>
          <a:xfrm>
            <a:off x="3377759" y="5703116"/>
            <a:ext cx="2819048" cy="742857"/>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57200" y="0"/>
            <a:ext cx="8229600" cy="1143000"/>
          </a:xfrm>
        </p:spPr>
        <p:txBody>
          <a:bodyPr/>
          <a:lstStyle/>
          <a:p>
            <a:r>
              <a:rPr lang="zh-CN" altLang="en-US" dirty="0"/>
              <a:t>锐化再讨论</a:t>
            </a:r>
            <a:endParaRPr lang="en-US" dirty="0"/>
          </a:p>
        </p:txBody>
      </p:sp>
      <p:sp>
        <p:nvSpPr>
          <p:cNvPr id="41987" name="Rectangle 3"/>
          <p:cNvSpPr>
            <a:spLocks noGrp="1" noChangeArrowheads="1"/>
          </p:cNvSpPr>
          <p:nvPr>
            <p:ph type="body" idx="1"/>
          </p:nvPr>
        </p:nvSpPr>
        <p:spPr>
          <a:xfrm>
            <a:off x="685800" y="1017587"/>
            <a:ext cx="7772400" cy="533400"/>
          </a:xfrm>
        </p:spPr>
        <p:txBody>
          <a:bodyPr>
            <a:normAutofit/>
          </a:bodyPr>
          <a:lstStyle/>
          <a:p>
            <a:r>
              <a:rPr lang="zh-CN" altLang="en-US" dirty="0"/>
              <a:t>模糊化带走了什么</a:t>
            </a:r>
            <a:r>
              <a:rPr lang="en-US" dirty="0"/>
              <a:t>?</a:t>
            </a:r>
          </a:p>
        </p:txBody>
      </p:sp>
      <p:grpSp>
        <p:nvGrpSpPr>
          <p:cNvPr id="2" name="Group 21"/>
          <p:cNvGrpSpPr>
            <a:grpSpLocks/>
          </p:cNvGrpSpPr>
          <p:nvPr/>
        </p:nvGrpSpPr>
        <p:grpSpPr bwMode="auto">
          <a:xfrm>
            <a:off x="533400" y="1550987"/>
            <a:ext cx="2157413" cy="2182813"/>
            <a:chOff x="336" y="912"/>
            <a:chExt cx="1505" cy="1521"/>
          </a:xfrm>
        </p:grpSpPr>
        <p:pic>
          <p:nvPicPr>
            <p:cNvPr id="42012" name="Picture 4" descr="lena"/>
            <p:cNvPicPr>
              <a:picLocks noChangeAspect="1" noChangeArrowheads="1"/>
            </p:cNvPicPr>
            <p:nvPr/>
          </p:nvPicPr>
          <p:blipFill>
            <a:blip r:embed="rId3" cstate="print"/>
            <a:srcRect/>
            <a:stretch>
              <a:fillRect/>
            </a:stretch>
          </p:blipFill>
          <p:spPr bwMode="auto">
            <a:xfrm>
              <a:off x="336" y="912"/>
              <a:ext cx="1488" cy="1488"/>
            </a:xfrm>
            <a:prstGeom prst="rect">
              <a:avLst/>
            </a:prstGeom>
            <a:noFill/>
            <a:ln w="9525">
              <a:noFill/>
              <a:miter lim="800000"/>
              <a:headEnd/>
              <a:tailEnd/>
            </a:ln>
          </p:spPr>
        </p:pic>
        <p:sp>
          <p:nvSpPr>
            <p:cNvPr id="42013" name="Text Box 11"/>
            <p:cNvSpPr txBox="1">
              <a:spLocks noChangeArrowheads="1"/>
            </p:cNvSpPr>
            <p:nvPr/>
          </p:nvSpPr>
          <p:spPr bwMode="auto">
            <a:xfrm>
              <a:off x="1200" y="2199"/>
              <a:ext cx="641" cy="234"/>
            </a:xfrm>
            <a:prstGeom prst="rect">
              <a:avLst/>
            </a:prstGeom>
            <a:noFill/>
            <a:ln w="9525">
              <a:noFill/>
              <a:miter lim="800000"/>
              <a:headEnd/>
              <a:tailEnd/>
            </a:ln>
          </p:spPr>
          <p:txBody>
            <a:bodyPr wrap="none">
              <a:spAutoFit/>
            </a:bodyPr>
            <a:lstStyle/>
            <a:p>
              <a:r>
                <a:rPr lang="en-US" sz="1600" b="1">
                  <a:solidFill>
                    <a:schemeClr val="bg1"/>
                  </a:solidFill>
                </a:rPr>
                <a:t>original</a:t>
              </a:r>
            </a:p>
          </p:txBody>
        </p:sp>
      </p:grpSp>
      <p:grpSp>
        <p:nvGrpSpPr>
          <p:cNvPr id="3" name="Group 22"/>
          <p:cNvGrpSpPr>
            <a:grpSpLocks/>
          </p:cNvGrpSpPr>
          <p:nvPr/>
        </p:nvGrpSpPr>
        <p:grpSpPr bwMode="auto">
          <a:xfrm>
            <a:off x="3581400" y="1550987"/>
            <a:ext cx="2166938" cy="2162175"/>
            <a:chOff x="2256" y="912"/>
            <a:chExt cx="1511" cy="1507"/>
          </a:xfrm>
        </p:grpSpPr>
        <p:pic>
          <p:nvPicPr>
            <p:cNvPr id="42010" name="Picture 5" descr="lenaG5"/>
            <p:cNvPicPr>
              <a:picLocks noChangeAspect="1" noChangeArrowheads="1"/>
            </p:cNvPicPr>
            <p:nvPr/>
          </p:nvPicPr>
          <p:blipFill>
            <a:blip r:embed="rId4" cstate="print"/>
            <a:srcRect/>
            <a:stretch>
              <a:fillRect/>
            </a:stretch>
          </p:blipFill>
          <p:spPr bwMode="auto">
            <a:xfrm>
              <a:off x="2256" y="912"/>
              <a:ext cx="1488" cy="1488"/>
            </a:xfrm>
            <a:prstGeom prst="rect">
              <a:avLst/>
            </a:prstGeom>
            <a:noFill/>
            <a:ln w="9525">
              <a:noFill/>
              <a:miter lim="800000"/>
              <a:headEnd/>
              <a:tailEnd/>
            </a:ln>
          </p:spPr>
        </p:pic>
        <p:sp>
          <p:nvSpPr>
            <p:cNvPr id="42011" name="Text Box 12"/>
            <p:cNvSpPr txBox="1">
              <a:spLocks noChangeArrowheads="1"/>
            </p:cNvSpPr>
            <p:nvPr/>
          </p:nvSpPr>
          <p:spPr bwMode="auto">
            <a:xfrm>
              <a:off x="2591" y="2185"/>
              <a:ext cx="1176" cy="234"/>
            </a:xfrm>
            <a:prstGeom prst="rect">
              <a:avLst/>
            </a:prstGeom>
            <a:noFill/>
            <a:ln w="9525">
              <a:noFill/>
              <a:miter lim="800000"/>
              <a:headEnd/>
              <a:tailEnd/>
            </a:ln>
          </p:spPr>
          <p:txBody>
            <a:bodyPr wrap="none">
              <a:spAutoFit/>
            </a:bodyPr>
            <a:lstStyle/>
            <a:p>
              <a:r>
                <a:rPr lang="en-US" sz="1600" b="1">
                  <a:solidFill>
                    <a:schemeClr val="bg1"/>
                  </a:solidFill>
                </a:rPr>
                <a:t>smoothed (5x5)</a:t>
              </a:r>
            </a:p>
          </p:txBody>
        </p:sp>
      </p:grpSp>
      <p:sp>
        <p:nvSpPr>
          <p:cNvPr id="41990" name="Text Box 17"/>
          <p:cNvSpPr txBox="1">
            <a:spLocks noChangeArrowheads="1"/>
          </p:cNvSpPr>
          <p:nvPr/>
        </p:nvSpPr>
        <p:spPr bwMode="auto">
          <a:xfrm>
            <a:off x="2971800" y="2286000"/>
            <a:ext cx="389850" cy="584775"/>
          </a:xfrm>
          <a:prstGeom prst="rect">
            <a:avLst/>
          </a:prstGeom>
          <a:noFill/>
          <a:ln w="9525">
            <a:noFill/>
            <a:miter lim="800000"/>
            <a:headEnd/>
            <a:tailEnd/>
          </a:ln>
        </p:spPr>
        <p:txBody>
          <a:bodyPr wrap="none">
            <a:spAutoFit/>
          </a:bodyPr>
          <a:lstStyle/>
          <a:p>
            <a:r>
              <a:rPr lang="en-US" sz="3200" dirty="0"/>
              <a:t>–</a:t>
            </a:r>
          </a:p>
        </p:txBody>
      </p:sp>
      <p:grpSp>
        <p:nvGrpSpPr>
          <p:cNvPr id="4" name="Group 27"/>
          <p:cNvGrpSpPr>
            <a:grpSpLocks/>
          </p:cNvGrpSpPr>
          <p:nvPr/>
        </p:nvGrpSpPr>
        <p:grpSpPr bwMode="auto">
          <a:xfrm>
            <a:off x="5962650" y="1550987"/>
            <a:ext cx="2735263" cy="2149475"/>
            <a:chOff x="3756" y="912"/>
            <a:chExt cx="1723" cy="1354"/>
          </a:xfrm>
        </p:grpSpPr>
        <p:grpSp>
          <p:nvGrpSpPr>
            <p:cNvPr id="5" name="Group 23"/>
            <p:cNvGrpSpPr>
              <a:grpSpLocks/>
            </p:cNvGrpSpPr>
            <p:nvPr/>
          </p:nvGrpSpPr>
          <p:grpSpPr bwMode="auto">
            <a:xfrm>
              <a:off x="4128" y="912"/>
              <a:ext cx="1351" cy="1354"/>
              <a:chOff x="4128" y="912"/>
              <a:chExt cx="1496" cy="1499"/>
            </a:xfrm>
          </p:grpSpPr>
          <p:pic>
            <p:nvPicPr>
              <p:cNvPr id="42008" name="Picture 6" descr="lena_diff"/>
              <p:cNvPicPr>
                <a:picLocks noChangeAspect="1" noChangeArrowheads="1"/>
              </p:cNvPicPr>
              <p:nvPr/>
            </p:nvPicPr>
            <p:blipFill>
              <a:blip r:embed="rId5" cstate="print"/>
              <a:srcRect/>
              <a:stretch>
                <a:fillRect/>
              </a:stretch>
            </p:blipFill>
            <p:spPr bwMode="auto">
              <a:xfrm>
                <a:off x="4128" y="912"/>
                <a:ext cx="1488" cy="1488"/>
              </a:xfrm>
              <a:prstGeom prst="rect">
                <a:avLst/>
              </a:prstGeom>
              <a:noFill/>
              <a:ln w="9525">
                <a:noFill/>
                <a:miter lim="800000"/>
                <a:headEnd/>
                <a:tailEnd/>
              </a:ln>
            </p:spPr>
          </p:pic>
          <p:sp>
            <p:nvSpPr>
              <p:cNvPr id="42009" name="Text Box 15"/>
              <p:cNvSpPr txBox="1">
                <a:spLocks noChangeArrowheads="1"/>
              </p:cNvSpPr>
              <p:nvPr/>
            </p:nvSpPr>
            <p:spPr bwMode="auto">
              <a:xfrm>
                <a:off x="5124" y="2177"/>
                <a:ext cx="500" cy="234"/>
              </a:xfrm>
              <a:prstGeom prst="rect">
                <a:avLst/>
              </a:prstGeom>
              <a:noFill/>
              <a:ln w="9525">
                <a:noFill/>
                <a:miter lim="800000"/>
                <a:headEnd/>
                <a:tailEnd/>
              </a:ln>
            </p:spPr>
            <p:txBody>
              <a:bodyPr wrap="none">
                <a:spAutoFit/>
              </a:bodyPr>
              <a:lstStyle/>
              <a:p>
                <a:r>
                  <a:rPr lang="en-US" sz="1600" b="1">
                    <a:solidFill>
                      <a:schemeClr val="bg1"/>
                    </a:solidFill>
                  </a:rPr>
                  <a:t>detail</a:t>
                </a:r>
              </a:p>
            </p:txBody>
          </p:sp>
        </p:grpSp>
        <p:sp>
          <p:nvSpPr>
            <p:cNvPr id="42007" name="Text Box 18"/>
            <p:cNvSpPr txBox="1">
              <a:spLocks noChangeArrowheads="1"/>
            </p:cNvSpPr>
            <p:nvPr/>
          </p:nvSpPr>
          <p:spPr bwMode="auto">
            <a:xfrm>
              <a:off x="3756" y="1327"/>
              <a:ext cx="277" cy="446"/>
            </a:xfrm>
            <a:prstGeom prst="rect">
              <a:avLst/>
            </a:prstGeom>
            <a:noFill/>
            <a:ln w="9525">
              <a:noFill/>
              <a:miter lim="800000"/>
              <a:headEnd/>
              <a:tailEnd/>
            </a:ln>
          </p:spPr>
          <p:txBody>
            <a:bodyPr wrap="none">
              <a:spAutoFit/>
            </a:bodyPr>
            <a:lstStyle/>
            <a:p>
              <a:r>
                <a:rPr lang="en-US" sz="4000"/>
                <a:t>=</a:t>
              </a:r>
            </a:p>
          </p:txBody>
        </p:sp>
      </p:grpSp>
      <p:grpSp>
        <p:nvGrpSpPr>
          <p:cNvPr id="6" name="Group 29"/>
          <p:cNvGrpSpPr>
            <a:grpSpLocks/>
          </p:cNvGrpSpPr>
          <p:nvPr/>
        </p:nvGrpSpPr>
        <p:grpSpPr bwMode="auto">
          <a:xfrm>
            <a:off x="5943600" y="4419600"/>
            <a:ext cx="2743200" cy="2149475"/>
            <a:chOff x="3744" y="2784"/>
            <a:chExt cx="1728" cy="1354"/>
          </a:xfrm>
        </p:grpSpPr>
        <p:grpSp>
          <p:nvGrpSpPr>
            <p:cNvPr id="7" name="Group 26"/>
            <p:cNvGrpSpPr>
              <a:grpSpLocks/>
            </p:cNvGrpSpPr>
            <p:nvPr/>
          </p:nvGrpSpPr>
          <p:grpSpPr bwMode="auto">
            <a:xfrm>
              <a:off x="4128" y="2784"/>
              <a:ext cx="1344" cy="1354"/>
              <a:chOff x="4128" y="2784"/>
              <a:chExt cx="1488" cy="1499"/>
            </a:xfrm>
          </p:grpSpPr>
          <p:pic>
            <p:nvPicPr>
              <p:cNvPr id="42004" name="Picture 10" descr="lena_sharpened"/>
              <p:cNvPicPr>
                <a:picLocks noChangeAspect="1" noChangeArrowheads="1"/>
              </p:cNvPicPr>
              <p:nvPr/>
            </p:nvPicPr>
            <p:blipFill>
              <a:blip r:embed="rId6" cstate="print"/>
              <a:srcRect/>
              <a:stretch>
                <a:fillRect/>
              </a:stretch>
            </p:blipFill>
            <p:spPr bwMode="auto">
              <a:xfrm>
                <a:off x="4128" y="2784"/>
                <a:ext cx="1488" cy="1488"/>
              </a:xfrm>
              <a:prstGeom prst="rect">
                <a:avLst/>
              </a:prstGeom>
              <a:noFill/>
              <a:ln w="9525">
                <a:noFill/>
                <a:miter lim="800000"/>
                <a:headEnd/>
                <a:tailEnd/>
              </a:ln>
            </p:spPr>
          </p:pic>
          <p:sp>
            <p:nvSpPr>
              <p:cNvPr id="42005" name="Text Box 16"/>
              <p:cNvSpPr txBox="1">
                <a:spLocks noChangeArrowheads="1"/>
              </p:cNvSpPr>
              <p:nvPr/>
            </p:nvSpPr>
            <p:spPr bwMode="auto">
              <a:xfrm>
                <a:off x="4752" y="4049"/>
                <a:ext cx="844" cy="234"/>
              </a:xfrm>
              <a:prstGeom prst="rect">
                <a:avLst/>
              </a:prstGeom>
              <a:noFill/>
              <a:ln w="9525">
                <a:noFill/>
                <a:miter lim="800000"/>
                <a:headEnd/>
                <a:tailEnd/>
              </a:ln>
            </p:spPr>
            <p:txBody>
              <a:bodyPr wrap="none">
                <a:spAutoFit/>
              </a:bodyPr>
              <a:lstStyle/>
              <a:p>
                <a:r>
                  <a:rPr lang="en-US" sz="1600" b="1">
                    <a:solidFill>
                      <a:schemeClr val="bg1"/>
                    </a:solidFill>
                  </a:rPr>
                  <a:t>sharpened</a:t>
                </a:r>
              </a:p>
            </p:txBody>
          </p:sp>
        </p:grpSp>
        <p:sp>
          <p:nvSpPr>
            <p:cNvPr id="42003" name="Text Box 19"/>
            <p:cNvSpPr txBox="1">
              <a:spLocks noChangeArrowheads="1"/>
            </p:cNvSpPr>
            <p:nvPr/>
          </p:nvSpPr>
          <p:spPr bwMode="auto">
            <a:xfrm>
              <a:off x="3744" y="3216"/>
              <a:ext cx="277" cy="446"/>
            </a:xfrm>
            <a:prstGeom prst="rect">
              <a:avLst/>
            </a:prstGeom>
            <a:noFill/>
            <a:ln w="9525">
              <a:noFill/>
              <a:miter lim="800000"/>
              <a:headEnd/>
              <a:tailEnd/>
            </a:ln>
          </p:spPr>
          <p:txBody>
            <a:bodyPr wrap="none">
              <a:spAutoFit/>
            </a:bodyPr>
            <a:lstStyle/>
            <a:p>
              <a:r>
                <a:rPr lang="en-US" sz="4000"/>
                <a:t>=</a:t>
              </a:r>
            </a:p>
          </p:txBody>
        </p:sp>
      </p:grpSp>
      <p:grpSp>
        <p:nvGrpSpPr>
          <p:cNvPr id="8" name="Group 28"/>
          <p:cNvGrpSpPr>
            <a:grpSpLocks/>
          </p:cNvGrpSpPr>
          <p:nvPr/>
        </p:nvGrpSpPr>
        <p:grpSpPr bwMode="auto">
          <a:xfrm>
            <a:off x="533400" y="3886200"/>
            <a:ext cx="7924800" cy="2682875"/>
            <a:chOff x="336" y="2448"/>
            <a:chExt cx="4992" cy="1690"/>
          </a:xfrm>
        </p:grpSpPr>
        <p:sp>
          <p:nvSpPr>
            <p:cNvPr id="41994" name="Rectangle 7"/>
            <p:cNvSpPr>
              <a:spLocks noChangeArrowheads="1"/>
            </p:cNvSpPr>
            <p:nvPr/>
          </p:nvSpPr>
          <p:spPr bwMode="auto">
            <a:xfrm>
              <a:off x="432" y="2448"/>
              <a:ext cx="4896" cy="336"/>
            </a:xfrm>
            <a:prstGeom prst="rect">
              <a:avLst/>
            </a:prstGeom>
            <a:noFill/>
            <a:ln w="9525">
              <a:noFill/>
              <a:miter lim="800000"/>
              <a:headEnd/>
              <a:tailEnd/>
            </a:ln>
          </p:spPr>
          <p:txBody>
            <a:bodyPr/>
            <a:lstStyle/>
            <a:p>
              <a:pPr marL="342900" indent="-342900">
                <a:spcBef>
                  <a:spcPct val="20000"/>
                </a:spcBef>
              </a:pPr>
              <a:r>
                <a:rPr lang="zh-CN" altLang="en-US" sz="2400" dirty="0"/>
                <a:t>把它加回来</a:t>
              </a:r>
              <a:r>
                <a:rPr lang="en-US" sz="2400" dirty="0"/>
                <a:t>:</a:t>
              </a:r>
            </a:p>
          </p:txBody>
        </p:sp>
        <p:grpSp>
          <p:nvGrpSpPr>
            <p:cNvPr id="9" name="Group 24"/>
            <p:cNvGrpSpPr>
              <a:grpSpLocks/>
            </p:cNvGrpSpPr>
            <p:nvPr/>
          </p:nvGrpSpPr>
          <p:grpSpPr bwMode="auto">
            <a:xfrm>
              <a:off x="336" y="2784"/>
              <a:ext cx="1359" cy="1354"/>
              <a:chOff x="336" y="2784"/>
              <a:chExt cx="1505" cy="1499"/>
            </a:xfrm>
          </p:grpSpPr>
          <p:pic>
            <p:nvPicPr>
              <p:cNvPr id="42000" name="Picture 8" descr="lena"/>
              <p:cNvPicPr>
                <a:picLocks noChangeAspect="1" noChangeArrowheads="1"/>
              </p:cNvPicPr>
              <p:nvPr/>
            </p:nvPicPr>
            <p:blipFill>
              <a:blip r:embed="rId3" cstate="print"/>
              <a:srcRect/>
              <a:stretch>
                <a:fillRect/>
              </a:stretch>
            </p:blipFill>
            <p:spPr bwMode="auto">
              <a:xfrm>
                <a:off x="336" y="2784"/>
                <a:ext cx="1488" cy="1488"/>
              </a:xfrm>
              <a:prstGeom prst="rect">
                <a:avLst/>
              </a:prstGeom>
              <a:noFill/>
              <a:ln w="9525">
                <a:noFill/>
                <a:miter lim="800000"/>
                <a:headEnd/>
                <a:tailEnd/>
              </a:ln>
            </p:spPr>
          </p:pic>
          <p:sp>
            <p:nvSpPr>
              <p:cNvPr id="42001" name="Text Box 13"/>
              <p:cNvSpPr txBox="1">
                <a:spLocks noChangeArrowheads="1"/>
              </p:cNvSpPr>
              <p:nvPr/>
            </p:nvSpPr>
            <p:spPr bwMode="auto">
              <a:xfrm>
                <a:off x="1200" y="4049"/>
                <a:ext cx="641" cy="234"/>
              </a:xfrm>
              <a:prstGeom prst="rect">
                <a:avLst/>
              </a:prstGeom>
              <a:noFill/>
              <a:ln w="9525">
                <a:noFill/>
                <a:miter lim="800000"/>
                <a:headEnd/>
                <a:tailEnd/>
              </a:ln>
            </p:spPr>
            <p:txBody>
              <a:bodyPr wrap="none">
                <a:spAutoFit/>
              </a:bodyPr>
              <a:lstStyle/>
              <a:p>
                <a:r>
                  <a:rPr lang="en-US" sz="1600" b="1">
                    <a:solidFill>
                      <a:schemeClr val="bg1"/>
                    </a:solidFill>
                  </a:rPr>
                  <a:t>original</a:t>
                </a:r>
              </a:p>
            </p:txBody>
          </p:sp>
        </p:grpSp>
        <p:grpSp>
          <p:nvGrpSpPr>
            <p:cNvPr id="10" name="Group 25"/>
            <p:cNvGrpSpPr>
              <a:grpSpLocks/>
            </p:cNvGrpSpPr>
            <p:nvPr/>
          </p:nvGrpSpPr>
          <p:grpSpPr bwMode="auto">
            <a:xfrm>
              <a:off x="2256" y="2784"/>
              <a:ext cx="1351" cy="1354"/>
              <a:chOff x="2256" y="2784"/>
              <a:chExt cx="1496" cy="1499"/>
            </a:xfrm>
          </p:grpSpPr>
          <p:pic>
            <p:nvPicPr>
              <p:cNvPr id="41998" name="Picture 9" descr="lena_diff"/>
              <p:cNvPicPr>
                <a:picLocks noChangeAspect="1" noChangeArrowheads="1"/>
              </p:cNvPicPr>
              <p:nvPr/>
            </p:nvPicPr>
            <p:blipFill>
              <a:blip r:embed="rId5" cstate="print"/>
              <a:srcRect/>
              <a:stretch>
                <a:fillRect/>
              </a:stretch>
            </p:blipFill>
            <p:spPr bwMode="auto">
              <a:xfrm>
                <a:off x="2256" y="2784"/>
                <a:ext cx="1488" cy="1488"/>
              </a:xfrm>
              <a:prstGeom prst="rect">
                <a:avLst/>
              </a:prstGeom>
              <a:noFill/>
              <a:ln w="9525">
                <a:noFill/>
                <a:miter lim="800000"/>
                <a:headEnd/>
                <a:tailEnd/>
              </a:ln>
            </p:spPr>
          </p:pic>
          <p:sp>
            <p:nvSpPr>
              <p:cNvPr id="41999" name="Text Box 14"/>
              <p:cNvSpPr txBox="1">
                <a:spLocks noChangeArrowheads="1"/>
              </p:cNvSpPr>
              <p:nvPr/>
            </p:nvSpPr>
            <p:spPr bwMode="auto">
              <a:xfrm>
                <a:off x="3252" y="4049"/>
                <a:ext cx="500" cy="234"/>
              </a:xfrm>
              <a:prstGeom prst="rect">
                <a:avLst/>
              </a:prstGeom>
              <a:noFill/>
              <a:ln w="9525">
                <a:noFill/>
                <a:miter lim="800000"/>
                <a:headEnd/>
                <a:tailEnd/>
              </a:ln>
            </p:spPr>
            <p:txBody>
              <a:bodyPr wrap="none">
                <a:spAutoFit/>
              </a:bodyPr>
              <a:lstStyle/>
              <a:p>
                <a:r>
                  <a:rPr lang="en-US" sz="1600" b="1">
                    <a:solidFill>
                      <a:schemeClr val="bg1"/>
                    </a:solidFill>
                  </a:rPr>
                  <a:t>detail</a:t>
                </a:r>
              </a:p>
            </p:txBody>
          </p:sp>
        </p:grpSp>
        <p:sp>
          <p:nvSpPr>
            <p:cNvPr id="41997" name="Text Box 20"/>
            <p:cNvSpPr txBox="1">
              <a:spLocks noChangeArrowheads="1"/>
            </p:cNvSpPr>
            <p:nvPr/>
          </p:nvSpPr>
          <p:spPr bwMode="auto">
            <a:xfrm>
              <a:off x="1776" y="3264"/>
              <a:ext cx="451" cy="368"/>
            </a:xfrm>
            <a:prstGeom prst="rect">
              <a:avLst/>
            </a:prstGeom>
            <a:noFill/>
            <a:ln w="9525">
              <a:noFill/>
              <a:miter lim="800000"/>
              <a:headEnd/>
              <a:tailEnd/>
            </a:ln>
          </p:spPr>
          <p:txBody>
            <a:bodyPr wrap="none">
              <a:spAutoFit/>
            </a:bodyPr>
            <a:lstStyle/>
            <a:p>
              <a:r>
                <a:rPr lang="en-US" sz="3200" dirty="0"/>
                <a:t>+ </a:t>
              </a:r>
              <a:r>
                <a:rPr lang="el-GR" sz="3200" dirty="0"/>
                <a:t>α</a:t>
              </a:r>
            </a:p>
          </p:txBody>
        </p:sp>
      </p:grpSp>
      <p:sp>
        <p:nvSpPr>
          <p:cNvPr id="32" name="Rectangle 7">
            <a:extLst>
              <a:ext uri="{FF2B5EF4-FFF2-40B4-BE49-F238E27FC236}">
                <a16:creationId xmlns:a16="http://schemas.microsoft.com/office/drawing/2014/main" id="{18318621-5996-4AE2-82C4-7CDFD4A8B0AC}"/>
              </a:ext>
            </a:extLst>
          </p:cNvPr>
          <p:cNvSpPr>
            <a:spLocks noChangeArrowheads="1"/>
          </p:cNvSpPr>
          <p:nvPr/>
        </p:nvSpPr>
        <p:spPr bwMode="auto">
          <a:xfrm>
            <a:off x="5791200" y="3633521"/>
            <a:ext cx="3429000" cy="533400"/>
          </a:xfrm>
          <a:prstGeom prst="rect">
            <a:avLst/>
          </a:prstGeom>
          <a:noFill/>
          <a:ln w="9525">
            <a:noFill/>
            <a:miter lim="800000"/>
            <a:headEnd/>
            <a:tailEnd/>
          </a:ln>
        </p:spPr>
        <p:txBody>
          <a:bodyPr/>
          <a:lstStyle/>
          <a:p>
            <a:pPr marL="342900" indent="-342900" algn="ctr">
              <a:spcBef>
                <a:spcPct val="20000"/>
              </a:spcBef>
            </a:pPr>
            <a:r>
              <a:rPr lang="en-US" dirty="0"/>
              <a:t>(</a:t>
            </a:r>
            <a:r>
              <a:rPr lang="zh-CN" altLang="en-US" dirty="0"/>
              <a:t>这种细节提取也被称作</a:t>
            </a:r>
            <a:endParaRPr lang="en-US" altLang="zh-CN" dirty="0"/>
          </a:p>
          <a:p>
            <a:pPr marL="342900" indent="-342900" algn="ctr">
              <a:spcBef>
                <a:spcPct val="20000"/>
              </a:spcBef>
            </a:pPr>
            <a:r>
              <a:rPr lang="zh-CN" altLang="en-US" dirty="0"/>
              <a:t>一种高通滤波</a:t>
            </a:r>
            <a:r>
              <a:rPr lang="en-US" dirty="0"/>
              <a:t>)</a:t>
            </a:r>
          </a:p>
        </p:txBody>
      </p:sp>
      <p:sp>
        <p:nvSpPr>
          <p:cNvPr id="11" name="矩形 10"/>
          <p:cNvSpPr/>
          <p:nvPr/>
        </p:nvSpPr>
        <p:spPr>
          <a:xfrm>
            <a:off x="6182519" y="371256"/>
            <a:ext cx="1924088" cy="830997"/>
          </a:xfrm>
          <a:prstGeom prst="rect">
            <a:avLst/>
          </a:prstGeom>
          <a:ln>
            <a:solidFill>
              <a:srgbClr val="FF0000"/>
            </a:solidFill>
          </a:ln>
        </p:spPr>
        <p:txBody>
          <a:bodyPr wrap="square">
            <a:spAutoFit/>
          </a:bodyPr>
          <a:lstStyle/>
          <a:p>
            <a:pPr>
              <a:lnSpc>
                <a:spcPct val="150000"/>
              </a:lnSpc>
              <a:buFont typeface="Arial" panose="020B0604020202020204" pitchFamily="34" charset="0"/>
              <a:buChar char="•"/>
            </a:pPr>
            <a:r>
              <a:rPr lang="zh-CN" altLang="en-US" sz="1600" b="1" dirty="0">
                <a:solidFill>
                  <a:srgbClr val="0076A8"/>
                </a:solidFill>
                <a:latin typeface="Microsoft YaHei" panose="020B0503020204020204" pitchFamily="34" charset="-122"/>
                <a:ea typeface="Microsoft YaHei" panose="020B0503020204020204" pitchFamily="34" charset="-122"/>
                <a:hlinkClick r:id="rId7"/>
              </a:rPr>
              <a:t>图像算术</a:t>
            </a:r>
            <a:r>
              <a:rPr lang="zh-CN" altLang="en-US" sz="1600" dirty="0">
                <a:solidFill>
                  <a:srgbClr val="212121"/>
                </a:solidFill>
                <a:latin typeface="Microsoft YaHei" panose="020B0503020204020204" pitchFamily="34" charset="-122"/>
                <a:ea typeface="Microsoft YaHei" panose="020B0503020204020204" pitchFamily="34" charset="-122"/>
              </a:rPr>
              <a:t/>
            </a:r>
            <a:br>
              <a:rPr lang="zh-CN" altLang="en-US" sz="1600" dirty="0">
                <a:solidFill>
                  <a:srgbClr val="212121"/>
                </a:solidFill>
                <a:latin typeface="Microsoft YaHei" panose="020B0503020204020204" pitchFamily="34" charset="-122"/>
                <a:ea typeface="Microsoft YaHei" panose="020B0503020204020204" pitchFamily="34" charset="-122"/>
              </a:rPr>
            </a:br>
            <a:r>
              <a:rPr lang="zh-CN" altLang="en-US" sz="1600" dirty="0" smtClean="0">
                <a:solidFill>
                  <a:srgbClr val="212121"/>
                </a:solidFill>
                <a:latin typeface="Microsoft YaHei" panose="020B0503020204020204" pitchFamily="34" charset="-122"/>
                <a:ea typeface="Microsoft YaHei" panose="020B0503020204020204" pitchFamily="34" charset="-122"/>
              </a:rPr>
              <a:t> 图像</a:t>
            </a:r>
            <a:r>
              <a:rPr lang="zh-CN" altLang="en-US" sz="1600" dirty="0">
                <a:solidFill>
                  <a:srgbClr val="212121"/>
                </a:solidFill>
                <a:latin typeface="Microsoft YaHei" panose="020B0503020204020204" pitchFamily="34" charset="-122"/>
                <a:ea typeface="Microsoft YaHei" panose="020B0503020204020204" pitchFamily="34" charset="-122"/>
              </a:rPr>
              <a:t>的加减乘除</a:t>
            </a:r>
            <a:endParaRPr lang="zh-CN" altLang="en-US" sz="1600" b="0" i="0" dirty="0">
              <a:solidFill>
                <a:srgbClr val="212121"/>
              </a:solidFill>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454134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8499" y="149257"/>
            <a:ext cx="4034901" cy="1143000"/>
          </a:xfrm>
        </p:spPr>
        <p:txBody>
          <a:bodyPr/>
          <a:lstStyle/>
          <a:p>
            <a:r>
              <a:rPr lang="zh-CN" altLang="en-US" dirty="0"/>
              <a:t>滤波器</a:t>
            </a:r>
            <a:r>
              <a:rPr lang="en-US" dirty="0"/>
              <a:t>: </a:t>
            </a:r>
            <a:r>
              <a:rPr lang="zh-CN" altLang="en-US" dirty="0" smtClean="0"/>
              <a:t>二值化 </a:t>
            </a:r>
            <a:endParaRPr lang="en-US" dirty="0"/>
          </a:p>
        </p:txBody>
      </p:sp>
      <p:pic>
        <p:nvPicPr>
          <p:cNvPr id="6" name="Picture 5"/>
          <p:cNvPicPr>
            <a:picLocks noChangeAspect="1"/>
          </p:cNvPicPr>
          <p:nvPr/>
        </p:nvPicPr>
        <p:blipFill>
          <a:blip r:embed="rId2"/>
          <a:stretch>
            <a:fillRect/>
          </a:stretch>
        </p:blipFill>
        <p:spPr>
          <a:xfrm>
            <a:off x="5156200" y="1425853"/>
            <a:ext cx="2921000" cy="2743200"/>
          </a:xfrm>
          <a:prstGeom prst="rect">
            <a:avLst/>
          </a:prstGeom>
        </p:spPr>
      </p:pic>
      <p:pic>
        <p:nvPicPr>
          <p:cNvPr id="7" name="Picture 6"/>
          <p:cNvPicPr>
            <a:picLocks noChangeAspect="1"/>
          </p:cNvPicPr>
          <p:nvPr/>
        </p:nvPicPr>
        <p:blipFill>
          <a:blip r:embed="rId3"/>
          <a:stretch>
            <a:fillRect/>
          </a:stretch>
        </p:blipFill>
        <p:spPr>
          <a:xfrm>
            <a:off x="1498600" y="1425853"/>
            <a:ext cx="2921000" cy="2743200"/>
          </a:xfrm>
          <a:prstGeom prst="rect">
            <a:avLst/>
          </a:prstGeom>
        </p:spPr>
      </p:pic>
      <p:pic>
        <p:nvPicPr>
          <p:cNvPr id="10" name="Picture 9" descr="CodeCogsEqn-4.gi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2078" y="4302649"/>
            <a:ext cx="4067206" cy="794860"/>
          </a:xfrm>
          <a:prstGeom prst="rect">
            <a:avLst/>
          </a:prstGeom>
        </p:spPr>
      </p:pic>
      <p:sp>
        <p:nvSpPr>
          <p:cNvPr id="3" name="矩形 2"/>
          <p:cNvSpPr/>
          <p:nvPr/>
        </p:nvSpPr>
        <p:spPr>
          <a:xfrm>
            <a:off x="3042759" y="5369758"/>
            <a:ext cx="2753681" cy="1384995"/>
          </a:xfrm>
          <a:prstGeom prst="rect">
            <a:avLst/>
          </a:prstGeom>
          <a:ln>
            <a:solidFill>
              <a:srgbClr val="FF0000"/>
            </a:solidFill>
          </a:ln>
        </p:spPr>
        <p:txBody>
          <a:bodyPr wrap="square">
            <a:spAutoFit/>
          </a:bodyPr>
          <a:lstStyle/>
          <a:p>
            <a:r>
              <a:rPr lang="en-US" altLang="zh-CN" sz="1400" dirty="0">
                <a:solidFill>
                  <a:srgbClr val="008013"/>
                </a:solidFill>
                <a:latin typeface="Menlo"/>
              </a:rPr>
              <a:t>%I = </a:t>
            </a:r>
            <a:r>
              <a:rPr lang="en-US" altLang="zh-CN" sz="1400" dirty="0" err="1">
                <a:solidFill>
                  <a:srgbClr val="008013"/>
                </a:solidFill>
                <a:latin typeface="Menlo"/>
              </a:rPr>
              <a:t>imread</a:t>
            </a:r>
            <a:r>
              <a:rPr lang="en-US" altLang="zh-CN" sz="1400" dirty="0">
                <a:solidFill>
                  <a:srgbClr val="008013"/>
                </a:solidFill>
                <a:latin typeface="Menlo"/>
              </a:rPr>
              <a:t>('coins.png');</a:t>
            </a:r>
            <a:endParaRPr lang="en-US" altLang="zh-CN" sz="1400" dirty="0">
              <a:latin typeface="Menlo"/>
            </a:endParaRPr>
          </a:p>
          <a:p>
            <a:r>
              <a:rPr lang="en-US" altLang="zh-CN" sz="1400" dirty="0">
                <a:latin typeface="Menlo"/>
              </a:rPr>
              <a:t>I = </a:t>
            </a:r>
            <a:r>
              <a:rPr lang="en-US" altLang="zh-CN" sz="1400" dirty="0" err="1">
                <a:latin typeface="Menlo"/>
              </a:rPr>
              <a:t>imread</a:t>
            </a:r>
            <a:r>
              <a:rPr lang="en-US" altLang="zh-CN" sz="1400" dirty="0">
                <a:latin typeface="Menlo"/>
              </a:rPr>
              <a:t>(</a:t>
            </a:r>
            <a:r>
              <a:rPr lang="en-US" altLang="zh-CN" sz="1400" dirty="0">
                <a:solidFill>
                  <a:srgbClr val="A709F5"/>
                </a:solidFill>
                <a:latin typeface="Menlo"/>
              </a:rPr>
              <a:t>'</a:t>
            </a:r>
            <a:r>
              <a:rPr lang="en-US" altLang="zh-CN" sz="1400" dirty="0" err="1">
                <a:solidFill>
                  <a:srgbClr val="A709F5"/>
                </a:solidFill>
                <a:latin typeface="Menlo"/>
              </a:rPr>
              <a:t>cameraman.tif</a:t>
            </a:r>
            <a:r>
              <a:rPr lang="en-US" altLang="zh-CN" sz="1400" dirty="0">
                <a:solidFill>
                  <a:srgbClr val="A709F5"/>
                </a:solidFill>
                <a:latin typeface="Menlo"/>
              </a:rPr>
              <a:t>'</a:t>
            </a:r>
            <a:r>
              <a:rPr lang="en-US" altLang="zh-CN" sz="1400" dirty="0">
                <a:latin typeface="Menlo"/>
              </a:rPr>
              <a:t>);</a:t>
            </a:r>
          </a:p>
          <a:p>
            <a:r>
              <a:rPr lang="en-US" altLang="zh-CN" sz="1400" dirty="0">
                <a:latin typeface="Menlo"/>
              </a:rPr>
              <a:t>level = </a:t>
            </a:r>
            <a:r>
              <a:rPr lang="en-US" altLang="zh-CN" sz="1400" dirty="0" err="1">
                <a:latin typeface="Menlo"/>
              </a:rPr>
              <a:t>graythresh</a:t>
            </a:r>
            <a:r>
              <a:rPr lang="en-US" altLang="zh-CN" sz="1400" dirty="0">
                <a:latin typeface="Menlo"/>
              </a:rPr>
              <a:t>(I)</a:t>
            </a:r>
          </a:p>
          <a:p>
            <a:r>
              <a:rPr lang="en-US" altLang="zh-CN" sz="1400" dirty="0" err="1">
                <a:latin typeface="Menlo"/>
              </a:rPr>
              <a:t>imhist</a:t>
            </a:r>
            <a:r>
              <a:rPr lang="en-US" altLang="zh-CN" sz="1400" dirty="0">
                <a:latin typeface="Menlo"/>
              </a:rPr>
              <a:t>(I)</a:t>
            </a:r>
          </a:p>
          <a:p>
            <a:r>
              <a:rPr lang="en-US" altLang="zh-CN" sz="1400" dirty="0">
                <a:latin typeface="Menlo"/>
              </a:rPr>
              <a:t>BW = </a:t>
            </a:r>
            <a:r>
              <a:rPr lang="en-US" altLang="zh-CN" sz="1400" dirty="0" err="1">
                <a:latin typeface="Menlo"/>
              </a:rPr>
              <a:t>imbinarize</a:t>
            </a:r>
            <a:r>
              <a:rPr lang="en-US" altLang="zh-CN" sz="1400" dirty="0">
                <a:latin typeface="Menlo"/>
              </a:rPr>
              <a:t>(</a:t>
            </a:r>
            <a:r>
              <a:rPr lang="en-US" altLang="zh-CN" sz="1400" dirty="0" err="1">
                <a:latin typeface="Menlo"/>
              </a:rPr>
              <a:t>I,level</a:t>
            </a:r>
            <a:r>
              <a:rPr lang="en-US" altLang="zh-CN" sz="1400" dirty="0">
                <a:latin typeface="Menlo"/>
              </a:rPr>
              <a:t>);</a:t>
            </a:r>
          </a:p>
          <a:p>
            <a:r>
              <a:rPr lang="en-US" altLang="zh-CN" sz="1400" dirty="0" err="1">
                <a:latin typeface="Menlo"/>
              </a:rPr>
              <a:t>imshowpair</a:t>
            </a:r>
            <a:r>
              <a:rPr lang="en-US" altLang="zh-CN" sz="1400" dirty="0">
                <a:latin typeface="Menlo"/>
              </a:rPr>
              <a:t>(</a:t>
            </a:r>
            <a:r>
              <a:rPr lang="en-US" altLang="zh-CN" sz="1400" dirty="0" err="1">
                <a:latin typeface="Menlo"/>
              </a:rPr>
              <a:t>I,BW,</a:t>
            </a:r>
            <a:r>
              <a:rPr lang="en-US" altLang="zh-CN" sz="1400" dirty="0" err="1">
                <a:solidFill>
                  <a:srgbClr val="A709F5"/>
                </a:solidFill>
                <a:latin typeface="Menlo"/>
              </a:rPr>
              <a:t>'montage</a:t>
            </a:r>
            <a:r>
              <a:rPr lang="en-US" altLang="zh-CN" sz="1400" dirty="0">
                <a:solidFill>
                  <a:srgbClr val="A709F5"/>
                </a:solidFill>
                <a:latin typeface="Menlo"/>
              </a:rPr>
              <a:t>'</a:t>
            </a:r>
            <a:r>
              <a:rPr lang="en-US" altLang="zh-CN" sz="1400" dirty="0">
                <a:latin typeface="Menlo"/>
              </a:rPr>
              <a:t>)</a:t>
            </a:r>
          </a:p>
        </p:txBody>
      </p:sp>
    </p:spTree>
    <p:extLst>
      <p:ext uri="{BB962C8B-B14F-4D97-AF65-F5344CB8AC3E}">
        <p14:creationId xmlns:p14="http://schemas.microsoft.com/office/powerpoint/2010/main" val="17955337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8229600" cy="1143000"/>
          </a:xfrm>
        </p:spPr>
        <p:txBody>
          <a:bodyPr/>
          <a:lstStyle/>
          <a:p>
            <a:r>
              <a:rPr lang="en-US" altLang="zh-CN" dirty="0"/>
              <a:t>Halftone</a:t>
            </a:r>
            <a:endParaRPr lang="en-US" dirty="0"/>
          </a:p>
        </p:txBody>
      </p:sp>
      <p:sp>
        <p:nvSpPr>
          <p:cNvPr id="3" name="矩形 2"/>
          <p:cNvSpPr/>
          <p:nvPr/>
        </p:nvSpPr>
        <p:spPr>
          <a:xfrm>
            <a:off x="914400" y="5284857"/>
            <a:ext cx="7543800" cy="707886"/>
          </a:xfrm>
          <a:prstGeom prst="rect">
            <a:avLst/>
          </a:prstGeom>
        </p:spPr>
        <p:txBody>
          <a:bodyPr wrap="square">
            <a:spAutoFit/>
          </a:bodyPr>
          <a:lstStyle/>
          <a:p>
            <a:r>
              <a:rPr lang="zh-CN" altLang="en-US" sz="2000" dirty="0"/>
              <a:t>半调（</a:t>
            </a:r>
            <a:r>
              <a:rPr lang="en-US" altLang="zh-CN" sz="2000" dirty="0"/>
              <a:t>Halftone</a:t>
            </a:r>
            <a:r>
              <a:rPr lang="zh-CN" altLang="en-US" sz="2000" dirty="0"/>
              <a:t>）是一种用尺寸不同的各个离散点来表示有连续灰度变化的图像的方式</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6621" y="1676400"/>
            <a:ext cx="6658398" cy="33956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2431827" y="6172200"/>
            <a:ext cx="4143185" cy="369332"/>
          </a:xfrm>
          <a:prstGeom prst="rect">
            <a:avLst/>
          </a:prstGeom>
        </p:spPr>
        <p:txBody>
          <a:bodyPr wrap="none">
            <a:spAutoFit/>
          </a:bodyPr>
          <a:lstStyle/>
          <a:p>
            <a:r>
              <a:rPr lang="en-US" altLang="zh-CN" dirty="0"/>
              <a:t>https://zhuanlan.zhihu.com/p/510251407</a:t>
            </a:r>
            <a:endParaRPr lang="zh-CN" altLang="en-US" dirty="0"/>
          </a:p>
        </p:txBody>
      </p:sp>
      <p:sp>
        <p:nvSpPr>
          <p:cNvPr id="5" name="矩形 4"/>
          <p:cNvSpPr/>
          <p:nvPr/>
        </p:nvSpPr>
        <p:spPr>
          <a:xfrm>
            <a:off x="2778712" y="632608"/>
            <a:ext cx="5823750" cy="1015663"/>
          </a:xfrm>
          <a:prstGeom prst="rect">
            <a:avLst/>
          </a:prstGeom>
          <a:ln>
            <a:solidFill>
              <a:srgbClr val="FF0000"/>
            </a:solidFill>
          </a:ln>
        </p:spPr>
        <p:txBody>
          <a:bodyPr wrap="square">
            <a:spAutoFit/>
          </a:bodyPr>
          <a:lstStyle/>
          <a:p>
            <a:r>
              <a:rPr lang="zh-CN" altLang="en-US" sz="1200" dirty="0"/>
              <a:t>颜色抖动则是尝试用较低的颜色位深度来获得更为丰富的视觉效果，比如用1位的位深度来尽可能得到8位的视觉效果。与颜色抖动相似的一个概念是半调（Halftone），半调是一种用尺寸不同的各个离散点来表示有连续灰度变化的图像的方式。最早被应用于印刷行业，如下图为纽约时报中的一幅图，通过控制印刷时油墨点的大小来实现视觉上的灰度变化</a:t>
            </a:r>
            <a:r>
              <a:rPr lang="zh-CN" altLang="en-US" sz="1200" dirty="0" smtClean="0"/>
              <a:t>：</a:t>
            </a:r>
            <a:endParaRPr lang="zh-CN" altLang="en-US" sz="1200" dirty="0"/>
          </a:p>
        </p:txBody>
      </p:sp>
      <p:sp>
        <p:nvSpPr>
          <p:cNvPr id="6" name="矩形 5"/>
          <p:cNvSpPr/>
          <p:nvPr/>
        </p:nvSpPr>
        <p:spPr>
          <a:xfrm>
            <a:off x="5177" y="12993"/>
            <a:ext cx="1086776" cy="523220"/>
          </a:xfrm>
          <a:prstGeom prst="rect">
            <a:avLst/>
          </a:prstGeom>
          <a:solidFill>
            <a:schemeClr val="tx1"/>
          </a:solidFill>
        </p:spPr>
        <p:txBody>
          <a:bodyPr wrap="square">
            <a:spAutoFit/>
          </a:bodyPr>
          <a:lstStyle/>
          <a:p>
            <a:r>
              <a:rPr lang="en-US" altLang="zh-CN" sz="2800" b="1" dirty="0" smtClean="0">
                <a:solidFill>
                  <a:schemeClr val="bg1"/>
                </a:solidFill>
              </a:rPr>
              <a:t>Skip</a:t>
            </a:r>
            <a:endParaRPr lang="zh-CN" altLang="en-US" sz="2800" b="1" dirty="0">
              <a:solidFill>
                <a:schemeClr val="bg1"/>
              </a:solidFill>
            </a:endParaRPr>
          </a:p>
        </p:txBody>
      </p:sp>
      <p:sp>
        <p:nvSpPr>
          <p:cNvPr id="7" name="矩形 6"/>
          <p:cNvSpPr/>
          <p:nvPr/>
        </p:nvSpPr>
        <p:spPr>
          <a:xfrm>
            <a:off x="1615736" y="110876"/>
            <a:ext cx="7223464" cy="369332"/>
          </a:xfrm>
          <a:prstGeom prst="rect">
            <a:avLst/>
          </a:prstGeom>
        </p:spPr>
        <p:txBody>
          <a:bodyPr wrap="square">
            <a:spAutoFit/>
          </a:bodyPr>
          <a:lstStyle/>
          <a:p>
            <a:r>
              <a:rPr lang="zh-CN" altLang="en-US" dirty="0" smtClean="0"/>
              <a:t>两种亮度（如下黑、白）通过调节黑点密集度得到</a:t>
            </a:r>
            <a:r>
              <a:rPr lang="zh-CN" altLang="en-US" dirty="0"/>
              <a:t>多种</a:t>
            </a:r>
            <a:r>
              <a:rPr lang="zh-CN" altLang="en-US" dirty="0" smtClean="0"/>
              <a:t>视觉亮度</a:t>
            </a:r>
            <a:endParaRPr lang="zh-CN" altLang="en-US" dirty="0"/>
          </a:p>
        </p:txBody>
      </p:sp>
    </p:spTree>
    <p:extLst>
      <p:ext uri="{BB962C8B-B14F-4D97-AF65-F5344CB8AC3E}">
        <p14:creationId xmlns:p14="http://schemas.microsoft.com/office/powerpoint/2010/main" val="7168090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8229600" cy="1143000"/>
          </a:xfrm>
        </p:spPr>
        <p:txBody>
          <a:bodyPr/>
          <a:lstStyle/>
          <a:p>
            <a:r>
              <a:rPr lang="en-US" altLang="zh-CN" dirty="0"/>
              <a:t>Halftone</a:t>
            </a:r>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600200"/>
            <a:ext cx="6629400" cy="35823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914400" y="5284857"/>
            <a:ext cx="7543800" cy="707886"/>
          </a:xfrm>
          <a:prstGeom prst="rect">
            <a:avLst/>
          </a:prstGeom>
        </p:spPr>
        <p:txBody>
          <a:bodyPr wrap="square">
            <a:spAutoFit/>
          </a:bodyPr>
          <a:lstStyle/>
          <a:p>
            <a:r>
              <a:rPr lang="zh-CN" altLang="en-US" sz="2000" dirty="0"/>
              <a:t>半调（</a:t>
            </a:r>
            <a:r>
              <a:rPr lang="en-US" altLang="zh-CN" sz="2000" dirty="0"/>
              <a:t>Halftone</a:t>
            </a:r>
            <a:r>
              <a:rPr lang="zh-CN" altLang="en-US" sz="2000" dirty="0"/>
              <a:t>）是一种用尺寸不同的各个离散点来表示有连续灰度变化的图像的方式</a:t>
            </a:r>
          </a:p>
        </p:txBody>
      </p:sp>
      <p:sp>
        <p:nvSpPr>
          <p:cNvPr id="6" name="矩形 5"/>
          <p:cNvSpPr/>
          <p:nvPr/>
        </p:nvSpPr>
        <p:spPr>
          <a:xfrm>
            <a:off x="2431827" y="6172200"/>
            <a:ext cx="4143185" cy="369332"/>
          </a:xfrm>
          <a:prstGeom prst="rect">
            <a:avLst/>
          </a:prstGeom>
        </p:spPr>
        <p:txBody>
          <a:bodyPr wrap="none">
            <a:spAutoFit/>
          </a:bodyPr>
          <a:lstStyle/>
          <a:p>
            <a:r>
              <a:rPr lang="en-US" altLang="zh-CN" dirty="0"/>
              <a:t>https://zhuanlan.zhihu.com/p/510251407</a:t>
            </a:r>
            <a:endParaRPr lang="zh-CN" altLang="en-US" dirty="0"/>
          </a:p>
        </p:txBody>
      </p:sp>
      <p:sp>
        <p:nvSpPr>
          <p:cNvPr id="7" name="矩形 6"/>
          <p:cNvSpPr/>
          <p:nvPr/>
        </p:nvSpPr>
        <p:spPr>
          <a:xfrm>
            <a:off x="5177" y="12993"/>
            <a:ext cx="1086776" cy="523220"/>
          </a:xfrm>
          <a:prstGeom prst="rect">
            <a:avLst/>
          </a:prstGeom>
          <a:solidFill>
            <a:schemeClr val="tx1"/>
          </a:solidFill>
        </p:spPr>
        <p:txBody>
          <a:bodyPr wrap="square">
            <a:spAutoFit/>
          </a:bodyPr>
          <a:lstStyle/>
          <a:p>
            <a:r>
              <a:rPr lang="en-US" altLang="zh-CN" sz="2800" b="1" dirty="0" smtClean="0">
                <a:solidFill>
                  <a:schemeClr val="bg1"/>
                </a:solidFill>
              </a:rPr>
              <a:t>Skip</a:t>
            </a:r>
            <a:endParaRPr lang="zh-CN" altLang="en-US" sz="2800" b="1" dirty="0">
              <a:solidFill>
                <a:schemeClr val="bg1"/>
              </a:solidFill>
            </a:endParaRPr>
          </a:p>
        </p:txBody>
      </p:sp>
    </p:spTree>
    <p:extLst>
      <p:ext uri="{BB962C8B-B14F-4D97-AF65-F5344CB8AC3E}">
        <p14:creationId xmlns:p14="http://schemas.microsoft.com/office/powerpoint/2010/main" val="9000897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ow many colors where us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600200"/>
            <a:ext cx="5410200" cy="405765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a:xfrm>
            <a:off x="609600" y="381000"/>
            <a:ext cx="8229600" cy="1143000"/>
          </a:xfrm>
        </p:spPr>
        <p:txBody>
          <a:bodyPr/>
          <a:lstStyle/>
          <a:p>
            <a:r>
              <a:rPr lang="en-US" altLang="zh-CN" dirty="0"/>
              <a:t>Color </a:t>
            </a:r>
            <a:r>
              <a:rPr lang="en-US" altLang="zh-CN" dirty="0" smtClean="0"/>
              <a:t>Dithering:</a:t>
            </a:r>
            <a:br>
              <a:rPr lang="en-US" altLang="zh-CN" dirty="0" smtClean="0"/>
            </a:br>
            <a:r>
              <a:rPr lang="zh-CN" altLang="en-US" sz="2200" dirty="0" smtClean="0"/>
              <a:t>两色（如下红和绿）通过</a:t>
            </a:r>
            <a:r>
              <a:rPr lang="zh-CN" altLang="en-US" sz="2200" dirty="0" smtClean="0"/>
              <a:t>混色得到多种视觉色</a:t>
            </a:r>
            <a:endParaRPr lang="en-US" sz="2200" dirty="0"/>
          </a:p>
        </p:txBody>
      </p:sp>
      <p:sp>
        <p:nvSpPr>
          <p:cNvPr id="4" name="矩形 3"/>
          <p:cNvSpPr/>
          <p:nvPr/>
        </p:nvSpPr>
        <p:spPr>
          <a:xfrm>
            <a:off x="5177" y="12993"/>
            <a:ext cx="1086776" cy="523220"/>
          </a:xfrm>
          <a:prstGeom prst="rect">
            <a:avLst/>
          </a:prstGeom>
          <a:solidFill>
            <a:schemeClr val="tx1"/>
          </a:solidFill>
        </p:spPr>
        <p:txBody>
          <a:bodyPr wrap="square">
            <a:spAutoFit/>
          </a:bodyPr>
          <a:lstStyle/>
          <a:p>
            <a:r>
              <a:rPr lang="en-US" altLang="zh-CN" sz="2800" b="1" dirty="0" smtClean="0">
                <a:solidFill>
                  <a:schemeClr val="bg1"/>
                </a:solidFill>
              </a:rPr>
              <a:t>Skip</a:t>
            </a:r>
            <a:endParaRPr lang="zh-CN" altLang="en-US" sz="2800" b="1" dirty="0">
              <a:solidFill>
                <a:schemeClr val="bg1"/>
              </a:solidFill>
            </a:endParaRPr>
          </a:p>
        </p:txBody>
      </p:sp>
    </p:spTree>
    <p:extLst>
      <p:ext uri="{BB962C8B-B14F-4D97-AF65-F5344CB8AC3E}">
        <p14:creationId xmlns:p14="http://schemas.microsoft.com/office/powerpoint/2010/main" val="28784298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09600" y="381000"/>
            <a:ext cx="8229600" cy="1143000"/>
          </a:xfrm>
        </p:spPr>
        <p:txBody>
          <a:bodyPr/>
          <a:lstStyle/>
          <a:p>
            <a:r>
              <a:rPr lang="en-US" altLang="zh-CN" dirty="0"/>
              <a:t>Color Dithering</a:t>
            </a:r>
            <a:endParaRPr lang="en-US" dirty="0"/>
          </a:p>
        </p:txBody>
      </p:sp>
      <p:pic>
        <p:nvPicPr>
          <p:cNvPr id="3" name="图片 2">
            <a:extLst>
              <a:ext uri="{FF2B5EF4-FFF2-40B4-BE49-F238E27FC236}">
                <a16:creationId xmlns:a16="http://schemas.microsoft.com/office/drawing/2014/main" id="{026AD40C-EDEC-C156-ABC6-EF156432E2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9400" y="1367672"/>
            <a:ext cx="3831710" cy="5105400"/>
          </a:xfrm>
          <a:prstGeom prst="rect">
            <a:avLst/>
          </a:prstGeom>
        </p:spPr>
      </p:pic>
      <p:sp>
        <p:nvSpPr>
          <p:cNvPr id="4" name="矩形 3"/>
          <p:cNvSpPr/>
          <p:nvPr/>
        </p:nvSpPr>
        <p:spPr>
          <a:xfrm>
            <a:off x="5177" y="12993"/>
            <a:ext cx="1086776" cy="523220"/>
          </a:xfrm>
          <a:prstGeom prst="rect">
            <a:avLst/>
          </a:prstGeom>
          <a:solidFill>
            <a:schemeClr val="tx1"/>
          </a:solidFill>
        </p:spPr>
        <p:txBody>
          <a:bodyPr wrap="square">
            <a:spAutoFit/>
          </a:bodyPr>
          <a:lstStyle/>
          <a:p>
            <a:r>
              <a:rPr lang="en-US" altLang="zh-CN" sz="2800" b="1" dirty="0" smtClean="0">
                <a:solidFill>
                  <a:schemeClr val="bg1"/>
                </a:solidFill>
              </a:rPr>
              <a:t>Skip</a:t>
            </a:r>
            <a:endParaRPr lang="zh-CN" altLang="en-US" sz="2800" b="1" dirty="0">
              <a:solidFill>
                <a:schemeClr val="bg1"/>
              </a:solidFill>
            </a:endParaRPr>
          </a:p>
        </p:txBody>
      </p:sp>
    </p:spTree>
    <p:extLst>
      <p:ext uri="{BB962C8B-B14F-4D97-AF65-F5344CB8AC3E}">
        <p14:creationId xmlns:p14="http://schemas.microsoft.com/office/powerpoint/2010/main" val="12339315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09600" y="381000"/>
            <a:ext cx="8229600" cy="1143000"/>
          </a:xfrm>
        </p:spPr>
        <p:txBody>
          <a:bodyPr/>
          <a:lstStyle/>
          <a:p>
            <a:r>
              <a:rPr lang="en-US" altLang="zh-CN" dirty="0"/>
              <a:t>Color Dithering</a:t>
            </a:r>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24000"/>
            <a:ext cx="9144000" cy="21530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3810000"/>
            <a:ext cx="4989030" cy="251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1295400" y="6400800"/>
            <a:ext cx="7960829" cy="338554"/>
          </a:xfrm>
          <a:prstGeom prst="rect">
            <a:avLst/>
          </a:prstGeom>
        </p:spPr>
        <p:txBody>
          <a:bodyPr wrap="square">
            <a:spAutoFit/>
          </a:bodyPr>
          <a:lstStyle/>
          <a:p>
            <a:r>
              <a:rPr lang="en-US" altLang="zh-CN" sz="1600" b="1" dirty="0"/>
              <a:t>GIF2Video: Color </a:t>
            </a:r>
            <a:r>
              <a:rPr lang="en-US" altLang="zh-CN" sz="1600" b="1" dirty="0" err="1"/>
              <a:t>Dequantization</a:t>
            </a:r>
            <a:r>
              <a:rPr lang="en-US" altLang="zh-CN" sz="1600" b="1" dirty="0"/>
              <a:t> and Temporal Interpolation of GIF images</a:t>
            </a:r>
            <a:r>
              <a:rPr lang="en-US" altLang="zh-CN" sz="1600" dirty="0"/>
              <a:t> </a:t>
            </a:r>
            <a:endParaRPr lang="zh-CN" altLang="en-US" sz="1600" dirty="0"/>
          </a:p>
        </p:txBody>
      </p:sp>
      <p:sp>
        <p:nvSpPr>
          <p:cNvPr id="6" name="矩形 5"/>
          <p:cNvSpPr/>
          <p:nvPr/>
        </p:nvSpPr>
        <p:spPr>
          <a:xfrm>
            <a:off x="5177" y="12993"/>
            <a:ext cx="1086776" cy="523220"/>
          </a:xfrm>
          <a:prstGeom prst="rect">
            <a:avLst/>
          </a:prstGeom>
          <a:solidFill>
            <a:schemeClr val="tx1"/>
          </a:solidFill>
        </p:spPr>
        <p:txBody>
          <a:bodyPr wrap="square">
            <a:spAutoFit/>
          </a:bodyPr>
          <a:lstStyle/>
          <a:p>
            <a:r>
              <a:rPr lang="en-US" altLang="zh-CN" sz="2800" b="1" dirty="0" smtClean="0">
                <a:solidFill>
                  <a:schemeClr val="bg1"/>
                </a:solidFill>
              </a:rPr>
              <a:t>Skip</a:t>
            </a:r>
            <a:endParaRPr lang="zh-CN" altLang="en-US" sz="2800" b="1" dirty="0">
              <a:solidFill>
                <a:schemeClr val="bg1"/>
              </a:solidFill>
            </a:endParaRPr>
          </a:p>
        </p:txBody>
      </p:sp>
    </p:spTree>
    <p:extLst>
      <p:ext uri="{BB962C8B-B14F-4D97-AF65-F5344CB8AC3E}">
        <p14:creationId xmlns:p14="http://schemas.microsoft.com/office/powerpoint/2010/main" val="40146095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09600" y="381000"/>
            <a:ext cx="8229600" cy="1143000"/>
          </a:xfrm>
        </p:spPr>
        <p:txBody>
          <a:bodyPr/>
          <a:lstStyle/>
          <a:p>
            <a:r>
              <a:rPr lang="en-US" altLang="zh-CN" dirty="0"/>
              <a:t>Color Dithering</a:t>
            </a:r>
            <a:endParaRPr 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560" y="1454833"/>
            <a:ext cx="7053366" cy="38029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7858" y="5486400"/>
            <a:ext cx="3383280" cy="8680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5177" y="12993"/>
            <a:ext cx="1086776" cy="523220"/>
          </a:xfrm>
          <a:prstGeom prst="rect">
            <a:avLst/>
          </a:prstGeom>
          <a:solidFill>
            <a:schemeClr val="tx1"/>
          </a:solidFill>
        </p:spPr>
        <p:txBody>
          <a:bodyPr wrap="square">
            <a:spAutoFit/>
          </a:bodyPr>
          <a:lstStyle/>
          <a:p>
            <a:r>
              <a:rPr lang="en-US" altLang="zh-CN" sz="2800" b="1" dirty="0" smtClean="0">
                <a:solidFill>
                  <a:schemeClr val="bg1"/>
                </a:solidFill>
              </a:rPr>
              <a:t>Skip</a:t>
            </a:r>
            <a:endParaRPr lang="zh-CN" altLang="en-US" sz="2800" b="1" dirty="0">
              <a:solidFill>
                <a:schemeClr val="bg1"/>
              </a:solidFill>
            </a:endParaRPr>
          </a:p>
        </p:txBody>
      </p:sp>
    </p:spTree>
    <p:extLst>
      <p:ext uri="{BB962C8B-B14F-4D97-AF65-F5344CB8AC3E}">
        <p14:creationId xmlns:p14="http://schemas.microsoft.com/office/powerpoint/2010/main" val="7681188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09600" y="381000"/>
            <a:ext cx="8229600" cy="1143000"/>
          </a:xfrm>
        </p:spPr>
        <p:txBody>
          <a:bodyPr/>
          <a:lstStyle/>
          <a:p>
            <a:r>
              <a:rPr lang="en-US" altLang="zh-CN" dirty="0"/>
              <a:t>Color Dithering</a:t>
            </a:r>
            <a:endParaRPr lang="en-U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515794"/>
            <a:ext cx="7100888" cy="3733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5397304"/>
            <a:ext cx="3581400" cy="6937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5177" y="12993"/>
            <a:ext cx="1086776" cy="523220"/>
          </a:xfrm>
          <a:prstGeom prst="rect">
            <a:avLst/>
          </a:prstGeom>
          <a:solidFill>
            <a:schemeClr val="tx1"/>
          </a:solidFill>
        </p:spPr>
        <p:txBody>
          <a:bodyPr wrap="square">
            <a:spAutoFit/>
          </a:bodyPr>
          <a:lstStyle/>
          <a:p>
            <a:r>
              <a:rPr lang="en-US" altLang="zh-CN" sz="2800" b="1" dirty="0" smtClean="0">
                <a:solidFill>
                  <a:schemeClr val="bg1"/>
                </a:solidFill>
              </a:rPr>
              <a:t>Skip</a:t>
            </a:r>
            <a:endParaRPr lang="zh-CN" altLang="en-US" sz="2800" b="1" dirty="0">
              <a:solidFill>
                <a:schemeClr val="bg1"/>
              </a:solidFill>
            </a:endParaRPr>
          </a:p>
        </p:txBody>
      </p:sp>
    </p:spTree>
    <p:extLst>
      <p:ext uri="{BB962C8B-B14F-4D97-AF65-F5344CB8AC3E}">
        <p14:creationId xmlns:p14="http://schemas.microsoft.com/office/powerpoint/2010/main" val="26289989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09600" y="381000"/>
            <a:ext cx="8229600" cy="1143000"/>
          </a:xfrm>
        </p:spPr>
        <p:txBody>
          <a:bodyPr/>
          <a:lstStyle/>
          <a:p>
            <a:r>
              <a:rPr lang="en-US" altLang="zh-CN" dirty="0"/>
              <a:t>Color Dithering</a:t>
            </a:r>
            <a:endParaRPr lang="en-U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5274" y="1524000"/>
            <a:ext cx="6629400" cy="35548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5274" y="5486400"/>
            <a:ext cx="1219200" cy="666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2599006" y="5342721"/>
            <a:ext cx="5706794" cy="738664"/>
          </a:xfrm>
          <a:prstGeom prst="rect">
            <a:avLst/>
          </a:prstGeom>
        </p:spPr>
        <p:txBody>
          <a:bodyPr wrap="square">
            <a:spAutoFit/>
          </a:bodyPr>
          <a:lstStyle/>
          <a:p>
            <a:r>
              <a:rPr lang="zh-CN" altLang="en-US" sz="1400" dirty="0"/>
              <a:t>先将像素灰度值 </a:t>
            </a:r>
            <a:r>
              <a:rPr lang="en-US" altLang="zh-CN" sz="1400" dirty="0"/>
              <a:t>I(</a:t>
            </a:r>
            <a:r>
              <a:rPr lang="en-US" altLang="zh-CN" sz="1400" dirty="0" err="1"/>
              <a:t>x,y</a:t>
            </a:r>
            <a:r>
              <a:rPr lang="en-US" altLang="zh-CN" sz="1400" dirty="0"/>
              <a:t>) </a:t>
            </a:r>
            <a:r>
              <a:rPr lang="zh-CN" altLang="en-US" sz="1400" dirty="0"/>
              <a:t>映射到</a:t>
            </a:r>
            <a:r>
              <a:rPr lang="en-US" altLang="zh-CN" sz="1400" dirty="0"/>
              <a:t>[0,4)</a:t>
            </a:r>
            <a:r>
              <a:rPr lang="zh-CN" altLang="en-US" sz="1400" dirty="0"/>
              <a:t>的范围得到 </a:t>
            </a:r>
            <a:r>
              <a:rPr lang="en-US" altLang="zh-CN" sz="1400" dirty="0"/>
              <a:t>M(</a:t>
            </a:r>
            <a:r>
              <a:rPr lang="en-US" altLang="zh-CN" sz="1400" dirty="0" err="1"/>
              <a:t>x,y</a:t>
            </a:r>
            <a:r>
              <a:rPr lang="en-US" altLang="zh-CN" sz="1400" dirty="0"/>
              <a:t>)</a:t>
            </a:r>
            <a:r>
              <a:rPr lang="zh-CN" altLang="en-US" sz="1400" dirty="0"/>
              <a:t>，随后分别对像素的坐标 </a:t>
            </a:r>
            <a:r>
              <a:rPr lang="en-US" altLang="zh-CN" sz="1400" dirty="0" err="1"/>
              <a:t>xy</a:t>
            </a:r>
            <a:r>
              <a:rPr lang="en-US" altLang="zh-CN" sz="1400" dirty="0"/>
              <a:t> </a:t>
            </a:r>
            <a:r>
              <a:rPr lang="zh-CN" altLang="en-US" sz="1400" dirty="0"/>
              <a:t>对</a:t>
            </a:r>
            <a:r>
              <a:rPr lang="en-US" altLang="zh-CN" sz="1400" dirty="0"/>
              <a:t>2</a:t>
            </a:r>
            <a:r>
              <a:rPr lang="zh-CN" altLang="en-US" sz="1400" dirty="0"/>
              <a:t>取余得到 </a:t>
            </a:r>
            <a:r>
              <a:rPr lang="en-US" altLang="zh-CN" sz="1400" dirty="0" err="1"/>
              <a:t>mx,my</a:t>
            </a:r>
            <a:r>
              <a:rPr lang="zh-CN" altLang="en-US" sz="1400" dirty="0"/>
              <a:t>，再比较 </a:t>
            </a:r>
            <a:r>
              <a:rPr lang="en-US" altLang="zh-CN" sz="1400" dirty="0"/>
              <a:t>M(</a:t>
            </a:r>
            <a:r>
              <a:rPr lang="en-US" altLang="zh-CN" sz="1400" dirty="0" err="1"/>
              <a:t>x,y</a:t>
            </a:r>
            <a:r>
              <a:rPr lang="en-US" altLang="zh-CN" sz="1400" dirty="0"/>
              <a:t>) </a:t>
            </a:r>
            <a:r>
              <a:rPr lang="zh-CN" altLang="en-US" sz="1400" dirty="0"/>
              <a:t>与矩阵 </a:t>
            </a:r>
            <a:r>
              <a:rPr lang="en-US" altLang="zh-CN" sz="1400" dirty="0"/>
              <a:t>D_2 </a:t>
            </a:r>
            <a:r>
              <a:rPr lang="zh-CN" altLang="en-US" sz="1400" dirty="0"/>
              <a:t>中对应位置元素的大小，比如 </a:t>
            </a:r>
            <a:r>
              <a:rPr lang="en-US" altLang="zh-CN" sz="1400" dirty="0"/>
              <a:t>M(</a:t>
            </a:r>
            <a:r>
              <a:rPr lang="en-US" altLang="zh-CN" sz="1400" dirty="0" err="1"/>
              <a:t>x,y</a:t>
            </a:r>
            <a:r>
              <a:rPr lang="en-US" altLang="zh-CN" sz="1400" dirty="0"/>
              <a:t>)&gt; D_2[mx][my]</a:t>
            </a:r>
            <a:r>
              <a:rPr lang="zh-CN" altLang="en-US" sz="1400" dirty="0"/>
              <a:t>，则将像素置为</a:t>
            </a:r>
            <a:r>
              <a:rPr lang="en-US" altLang="zh-CN" sz="1400" dirty="0"/>
              <a:t>255</a:t>
            </a:r>
            <a:r>
              <a:rPr lang="zh-CN" altLang="en-US" sz="1400" dirty="0"/>
              <a:t>，反之为</a:t>
            </a:r>
            <a:r>
              <a:rPr lang="en-US" altLang="zh-CN" sz="1400" dirty="0"/>
              <a:t>0</a:t>
            </a:r>
            <a:endParaRPr lang="zh-CN" altLang="en-US" sz="1400" dirty="0"/>
          </a:p>
        </p:txBody>
      </p:sp>
      <p:sp>
        <p:nvSpPr>
          <p:cNvPr id="6" name="矩形 5"/>
          <p:cNvSpPr/>
          <p:nvPr/>
        </p:nvSpPr>
        <p:spPr>
          <a:xfrm>
            <a:off x="5177" y="12993"/>
            <a:ext cx="1086776" cy="523220"/>
          </a:xfrm>
          <a:prstGeom prst="rect">
            <a:avLst/>
          </a:prstGeom>
          <a:solidFill>
            <a:schemeClr val="tx1"/>
          </a:solidFill>
        </p:spPr>
        <p:txBody>
          <a:bodyPr wrap="square">
            <a:spAutoFit/>
          </a:bodyPr>
          <a:lstStyle/>
          <a:p>
            <a:r>
              <a:rPr lang="en-US" altLang="zh-CN" sz="2800" b="1" dirty="0" smtClean="0">
                <a:solidFill>
                  <a:schemeClr val="bg1"/>
                </a:solidFill>
              </a:rPr>
              <a:t>Skip</a:t>
            </a:r>
            <a:endParaRPr lang="zh-CN" altLang="en-US" sz="2800" b="1" dirty="0">
              <a:solidFill>
                <a:schemeClr val="bg1"/>
              </a:solidFill>
            </a:endParaRPr>
          </a:p>
        </p:txBody>
      </p:sp>
    </p:spTree>
    <p:extLst>
      <p:ext uri="{BB962C8B-B14F-4D97-AF65-F5344CB8AC3E}">
        <p14:creationId xmlns:p14="http://schemas.microsoft.com/office/powerpoint/2010/main" val="13915031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09600" y="381000"/>
            <a:ext cx="8229600" cy="1143000"/>
          </a:xfrm>
        </p:spPr>
        <p:txBody>
          <a:bodyPr/>
          <a:lstStyle/>
          <a:p>
            <a:r>
              <a:rPr lang="en-US" altLang="zh-CN" dirty="0"/>
              <a:t>Color Dithering</a:t>
            </a:r>
            <a:endParaRPr lang="en-US" dirty="0"/>
          </a:p>
        </p:txBody>
      </p:sp>
      <p:sp>
        <p:nvSpPr>
          <p:cNvPr id="2" name="矩形 1"/>
          <p:cNvSpPr/>
          <p:nvPr/>
        </p:nvSpPr>
        <p:spPr>
          <a:xfrm>
            <a:off x="3417131" y="5450442"/>
            <a:ext cx="4652962" cy="523220"/>
          </a:xfrm>
          <a:prstGeom prst="rect">
            <a:avLst/>
          </a:prstGeom>
        </p:spPr>
        <p:txBody>
          <a:bodyPr wrap="square">
            <a:spAutoFit/>
          </a:bodyPr>
          <a:lstStyle/>
          <a:p>
            <a:r>
              <a:rPr lang="zh-CN" altLang="en-US" sz="1400" dirty="0"/>
              <a:t>误差扩散最早也是最经典的方法当属 </a:t>
            </a:r>
            <a:r>
              <a:rPr lang="en-US" altLang="zh-CN" sz="1400" dirty="0"/>
              <a:t>Floyd–Steinberg </a:t>
            </a:r>
            <a:r>
              <a:rPr lang="zh-CN" altLang="en-US" sz="1400" dirty="0"/>
              <a:t>方法，此方法将当前像素的误差以一定权重分配到邻近像素</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5110" y="1524000"/>
            <a:ext cx="6403928" cy="350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5250090"/>
            <a:ext cx="2447925" cy="923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5177" y="12993"/>
            <a:ext cx="1086776" cy="523220"/>
          </a:xfrm>
          <a:prstGeom prst="rect">
            <a:avLst/>
          </a:prstGeom>
          <a:solidFill>
            <a:schemeClr val="tx1"/>
          </a:solidFill>
        </p:spPr>
        <p:txBody>
          <a:bodyPr wrap="square">
            <a:spAutoFit/>
          </a:bodyPr>
          <a:lstStyle/>
          <a:p>
            <a:r>
              <a:rPr lang="en-US" altLang="zh-CN" sz="2800" b="1" dirty="0" smtClean="0">
                <a:solidFill>
                  <a:schemeClr val="bg1"/>
                </a:solidFill>
              </a:rPr>
              <a:t>Skip</a:t>
            </a:r>
            <a:endParaRPr lang="zh-CN" altLang="en-US" sz="2800" b="1" dirty="0">
              <a:solidFill>
                <a:schemeClr val="bg1"/>
              </a:solidFill>
            </a:endParaRPr>
          </a:p>
        </p:txBody>
      </p:sp>
    </p:spTree>
    <p:extLst>
      <p:ext uri="{BB962C8B-B14F-4D97-AF65-F5344CB8AC3E}">
        <p14:creationId xmlns:p14="http://schemas.microsoft.com/office/powerpoint/2010/main" val="22232002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09600" y="381000"/>
            <a:ext cx="8229600" cy="1143000"/>
          </a:xfrm>
        </p:spPr>
        <p:txBody>
          <a:bodyPr/>
          <a:lstStyle/>
          <a:p>
            <a:r>
              <a:rPr lang="en-US" altLang="zh-CN" dirty="0"/>
              <a:t>Color Dithering</a:t>
            </a:r>
            <a:endParaRPr lang="en-US"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600200"/>
            <a:ext cx="6860788" cy="4076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5177" y="12993"/>
            <a:ext cx="1086776" cy="523220"/>
          </a:xfrm>
          <a:prstGeom prst="rect">
            <a:avLst/>
          </a:prstGeom>
          <a:solidFill>
            <a:schemeClr val="tx1"/>
          </a:solidFill>
        </p:spPr>
        <p:txBody>
          <a:bodyPr wrap="square">
            <a:spAutoFit/>
          </a:bodyPr>
          <a:lstStyle/>
          <a:p>
            <a:r>
              <a:rPr lang="en-US" altLang="zh-CN" sz="2800" b="1" dirty="0" smtClean="0">
                <a:solidFill>
                  <a:schemeClr val="bg1"/>
                </a:solidFill>
              </a:rPr>
              <a:t>Skip</a:t>
            </a:r>
            <a:endParaRPr lang="zh-CN" altLang="en-US" sz="2800" b="1" dirty="0">
              <a:solidFill>
                <a:schemeClr val="bg1"/>
              </a:solidFill>
            </a:endParaRPr>
          </a:p>
        </p:txBody>
      </p:sp>
    </p:spTree>
    <p:extLst>
      <p:ext uri="{BB962C8B-B14F-4D97-AF65-F5344CB8AC3E}">
        <p14:creationId xmlns:p14="http://schemas.microsoft.com/office/powerpoint/2010/main" val="28708304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2993115" y="1695634"/>
            <a:ext cx="3235493" cy="3273919"/>
          </a:xfrm>
          <a:prstGeom prst="rect">
            <a:avLst/>
          </a:prstGeom>
        </p:spPr>
      </p:pic>
      <p:sp>
        <p:nvSpPr>
          <p:cNvPr id="6" name="矩形 5"/>
          <p:cNvSpPr/>
          <p:nvPr/>
        </p:nvSpPr>
        <p:spPr>
          <a:xfrm>
            <a:off x="1753339" y="1223769"/>
            <a:ext cx="6929022" cy="646331"/>
          </a:xfrm>
          <a:prstGeom prst="rect">
            <a:avLst/>
          </a:prstGeom>
        </p:spPr>
        <p:txBody>
          <a:bodyPr wrap="square">
            <a:spAutoFit/>
          </a:bodyPr>
          <a:lstStyle/>
          <a:p>
            <a:r>
              <a:rPr lang="zh-CN" altLang="en-US" dirty="0">
                <a:hlinkClick r:id="rId3"/>
              </a:rPr>
              <a:t>https://ww2.mathworks.cn/help/images/?s_tid=</a:t>
            </a:r>
            <a:r>
              <a:rPr lang="zh-CN" altLang="en-US" dirty="0" smtClean="0">
                <a:hlinkClick r:id="rId3"/>
              </a:rPr>
              <a:t>srchbrcm</a:t>
            </a:r>
            <a:endParaRPr lang="en-US" altLang="zh-CN" dirty="0" smtClean="0"/>
          </a:p>
          <a:p>
            <a:endParaRPr lang="zh-CN" altLang="en-US" dirty="0"/>
          </a:p>
        </p:txBody>
      </p:sp>
    </p:spTree>
    <p:extLst>
      <p:ext uri="{BB962C8B-B14F-4D97-AF65-F5344CB8AC3E}">
        <p14:creationId xmlns:p14="http://schemas.microsoft.com/office/powerpoint/2010/main" val="33856790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756121" y="271516"/>
            <a:ext cx="8229600" cy="1143000"/>
          </a:xfrm>
        </p:spPr>
        <p:txBody>
          <a:bodyPr/>
          <a:lstStyle/>
          <a:p>
            <a:r>
              <a:rPr lang="zh-CN" altLang="en-US" dirty="0"/>
              <a:t>图像混合</a:t>
            </a:r>
            <a:endParaRPr lang="en-US" dirty="0"/>
          </a:p>
        </p:txBody>
      </p:sp>
      <p:pic>
        <p:nvPicPr>
          <p:cNvPr id="3074" name="Picture 2" descr="Albert Einstein Marilyn Monroe Illu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687" y="1301916"/>
            <a:ext cx="2420411" cy="2993407"/>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3030011" y="506575"/>
            <a:ext cx="5955710" cy="1815882"/>
          </a:xfrm>
          <a:prstGeom prst="rect">
            <a:avLst/>
          </a:prstGeom>
          <a:ln>
            <a:solidFill>
              <a:srgbClr val="FF0000"/>
            </a:solidFill>
          </a:ln>
        </p:spPr>
        <p:txBody>
          <a:bodyPr wrap="square">
            <a:spAutoFit/>
          </a:bodyPr>
          <a:lstStyle/>
          <a:p>
            <a:r>
              <a:rPr lang="zh-CN" altLang="en-US" sz="1400" b="1" dirty="0"/>
              <a:t>图像混合</a:t>
            </a:r>
            <a:r>
              <a:rPr lang="zh-CN" altLang="en-US" sz="1400" dirty="0"/>
              <a:t>是把每一个像素给混合起来；</a:t>
            </a:r>
            <a:r>
              <a:rPr lang="zh-CN" altLang="en-US" sz="1400" b="1" dirty="0"/>
              <a:t>图像叠加</a:t>
            </a:r>
            <a:r>
              <a:rPr lang="zh-CN" altLang="en-US" sz="1400" dirty="0"/>
              <a:t>就是简单的给一幅图像加上另一幅图像</a:t>
            </a:r>
          </a:p>
          <a:p>
            <a:r>
              <a:rPr lang="zh-CN" altLang="en-US" sz="1400" dirty="0">
                <a:hlinkClick r:id="rId3"/>
              </a:rPr>
              <a:t>https://blog.csdn.net/zy010101/article/details/</a:t>
            </a:r>
            <a:r>
              <a:rPr lang="zh-CN" altLang="en-US" sz="1400" dirty="0" smtClean="0">
                <a:hlinkClick r:id="rId3"/>
              </a:rPr>
              <a:t>104916056</a:t>
            </a:r>
            <a:endParaRPr lang="en-US" altLang="zh-CN" sz="1400" dirty="0" smtClean="0"/>
          </a:p>
          <a:p>
            <a:endParaRPr lang="zh-CN" altLang="en-US" sz="1400" dirty="0"/>
          </a:p>
          <a:p>
            <a:r>
              <a:rPr lang="zh-CN" altLang="en-US" sz="1400" dirty="0" smtClean="0"/>
              <a:t>五</a:t>
            </a:r>
            <a:r>
              <a:rPr lang="zh-CN" altLang="en-US" sz="1400" dirty="0"/>
              <a:t>种混合模式：</a:t>
            </a:r>
            <a:r>
              <a:rPr lang="zh-CN" altLang="en-US" sz="1400" dirty="0" smtClean="0"/>
              <a:t>差值、相乘、</a:t>
            </a:r>
            <a:r>
              <a:rPr lang="zh-CN" altLang="en-US" sz="1400" dirty="0"/>
              <a:t>线性减淡（Linear Dodge）、</a:t>
            </a:r>
            <a:r>
              <a:rPr lang="zh-CN" altLang="en-US" sz="1400" dirty="0" smtClean="0"/>
              <a:t>相减和</a:t>
            </a:r>
            <a:r>
              <a:rPr lang="zh-CN" altLang="en-US" sz="1400" dirty="0"/>
              <a:t>深色（Darker Color）</a:t>
            </a:r>
          </a:p>
          <a:p>
            <a:r>
              <a:rPr lang="zh-CN" altLang="en-US" sz="1400" dirty="0">
                <a:hlinkClick r:id="rId4"/>
              </a:rPr>
              <a:t>https://zhuanlan.zhihu.com/p/</a:t>
            </a:r>
            <a:r>
              <a:rPr lang="zh-CN" altLang="en-US" sz="1400" dirty="0" smtClean="0">
                <a:hlinkClick r:id="rId4"/>
              </a:rPr>
              <a:t>164859527</a:t>
            </a:r>
            <a:endParaRPr lang="en-US" altLang="zh-CN" sz="1400" dirty="0" smtClean="0"/>
          </a:p>
          <a:p>
            <a:endParaRPr lang="en-US" altLang="zh-CN" sz="1400" dirty="0" smtClean="0"/>
          </a:p>
        </p:txBody>
      </p:sp>
      <p:sp>
        <p:nvSpPr>
          <p:cNvPr id="3" name="矩形 2"/>
          <p:cNvSpPr/>
          <p:nvPr/>
        </p:nvSpPr>
        <p:spPr>
          <a:xfrm>
            <a:off x="3030011" y="2706540"/>
            <a:ext cx="8561267" cy="738664"/>
          </a:xfrm>
          <a:prstGeom prst="rect">
            <a:avLst/>
          </a:prstGeom>
        </p:spPr>
        <p:txBody>
          <a:bodyPr wrap="square">
            <a:spAutoFit/>
          </a:bodyPr>
          <a:lstStyle/>
          <a:p>
            <a:r>
              <a:rPr lang="zh-CN" altLang="en-US" sz="1050" dirty="0">
                <a:hlinkClick r:id="rId5"/>
              </a:rPr>
              <a:t>https://ww2.mathworks.cn/help/images/image-arithmetic.html?searchHighlight=%E5%9B%BE%E5%83%8F%E7%9B%B8%E5%8A%A0&amp;s_tid=srchtitle_support_results_2_%25E5%259B%25BE%25E5%2583%258F%25E7%259B%25B8%25E5%258A%25A</a:t>
            </a:r>
            <a:r>
              <a:rPr lang="zh-CN" altLang="en-US" sz="1050" dirty="0" smtClean="0">
                <a:hlinkClick r:id="rId5"/>
              </a:rPr>
              <a:t>0</a:t>
            </a:r>
            <a:endParaRPr lang="en-US" altLang="zh-CN" sz="1050" dirty="0" smtClean="0"/>
          </a:p>
          <a:p>
            <a:endParaRPr lang="zh-CN" altLang="en-US" sz="1050" dirty="0"/>
          </a:p>
        </p:txBody>
      </p:sp>
      <p:pic>
        <p:nvPicPr>
          <p:cNvPr id="4" name="图片 3"/>
          <p:cNvPicPr>
            <a:picLocks noChangeAspect="1"/>
          </p:cNvPicPr>
          <p:nvPr/>
        </p:nvPicPr>
        <p:blipFill>
          <a:blip r:embed="rId6"/>
          <a:stretch>
            <a:fillRect/>
          </a:stretch>
        </p:blipFill>
        <p:spPr>
          <a:xfrm>
            <a:off x="3030011" y="3383060"/>
            <a:ext cx="8215778" cy="3474940"/>
          </a:xfrm>
          <a:prstGeom prst="rect">
            <a:avLst/>
          </a:prstGeom>
        </p:spPr>
      </p:pic>
    </p:spTree>
    <p:extLst>
      <p:ext uri="{BB962C8B-B14F-4D97-AF65-F5344CB8AC3E}">
        <p14:creationId xmlns:p14="http://schemas.microsoft.com/office/powerpoint/2010/main" val="35458238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descr="dog.jpg (410×3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386323"/>
            <a:ext cx="2439683" cy="2327404"/>
          </a:xfrm>
          <a:prstGeom prst="rect">
            <a:avLst/>
          </a:prstGeom>
          <a:noFill/>
          <a:extLst>
            <a:ext uri="{909E8E84-426E-40DD-AFC4-6F175D3DCCD1}">
              <a14:hiddenFill xmlns:a14="http://schemas.microsoft.com/office/drawing/2010/main">
                <a:solidFill>
                  <a:srgbClr val="FFFFFF"/>
                </a:solidFill>
              </a14:hiddenFill>
            </a:ext>
          </a:extLst>
        </p:spPr>
      </p:pic>
      <p:pic>
        <p:nvPicPr>
          <p:cNvPr id="132100" name="Picture 4" descr="http://www.cs.cornell.edu/courses/cs5670/2017sp/projects/pa1/ca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6350" y="1386323"/>
            <a:ext cx="2381250" cy="2327404"/>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p:cNvGrpSpPr/>
          <p:nvPr/>
        </p:nvGrpSpPr>
        <p:grpSpPr>
          <a:xfrm>
            <a:off x="1600200" y="3608356"/>
            <a:ext cx="5867400" cy="2813305"/>
            <a:chOff x="1219199" y="3608354"/>
            <a:chExt cx="7171266" cy="2813305"/>
          </a:xfrm>
        </p:grpSpPr>
        <p:pic>
          <p:nvPicPr>
            <p:cNvPr id="132104" name="Picture 8" descr="http://www.cs.cornell.edu/courses/cs5670/2017sp/projects/pa1/low_frequencie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199" y="4073398"/>
              <a:ext cx="2981835" cy="2327402"/>
            </a:xfrm>
            <a:prstGeom prst="rect">
              <a:avLst/>
            </a:prstGeom>
            <a:noFill/>
            <a:extLst>
              <a:ext uri="{909E8E84-426E-40DD-AFC4-6F175D3DCCD1}">
                <a14:hiddenFill xmlns:a14="http://schemas.microsoft.com/office/drawing/2010/main">
                  <a:solidFill>
                    <a:srgbClr val="FFFFFF"/>
                  </a:solidFill>
                </a14:hiddenFill>
              </a:ext>
            </a:extLst>
          </p:spPr>
        </p:pic>
        <p:pic>
          <p:nvPicPr>
            <p:cNvPr id="132106" name="Picture 10" descr="high_frequencies.jpg (410×36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0049" y="4073398"/>
              <a:ext cx="2910416" cy="2348261"/>
            </a:xfrm>
            <a:prstGeom prst="rect">
              <a:avLst/>
            </a:prstGeom>
            <a:noFill/>
            <a:extLst>
              <a:ext uri="{909E8E84-426E-40DD-AFC4-6F175D3DCCD1}">
                <a14:hiddenFill xmlns:a14="http://schemas.microsoft.com/office/drawing/2010/main">
                  <a:solidFill>
                    <a:srgbClr val="FFFFFF"/>
                  </a:solidFill>
                </a14:hiddenFill>
              </a:ext>
            </a:extLst>
          </p:spPr>
        </p:pic>
        <p:sp>
          <p:nvSpPr>
            <p:cNvPr id="7" name="Arrow: Down 6"/>
            <p:cNvSpPr/>
            <p:nvPr/>
          </p:nvSpPr>
          <p:spPr>
            <a:xfrm>
              <a:off x="2431570" y="3608354"/>
              <a:ext cx="557090" cy="506446"/>
            </a:xfrm>
            <a:prstGeom prst="downArrow">
              <a:avLst/>
            </a:prstGeom>
            <a:solidFill>
              <a:schemeClr val="tx2">
                <a:lumMod val="20000"/>
                <a:lumOff val="8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Arrow: Down 13"/>
            <p:cNvSpPr/>
            <p:nvPr/>
          </p:nvSpPr>
          <p:spPr>
            <a:xfrm>
              <a:off x="6656711" y="3608354"/>
              <a:ext cx="557090" cy="506446"/>
            </a:xfrm>
            <a:prstGeom prst="downArrow">
              <a:avLst/>
            </a:prstGeom>
            <a:solidFill>
              <a:schemeClr val="tx2">
                <a:lumMod val="20000"/>
                <a:lumOff val="8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itle 1"/>
          <p:cNvSpPr>
            <a:spLocks noGrp="1"/>
          </p:cNvSpPr>
          <p:nvPr>
            <p:ph type="title"/>
          </p:nvPr>
        </p:nvSpPr>
        <p:spPr>
          <a:xfrm>
            <a:off x="609600" y="381000"/>
            <a:ext cx="8229600" cy="1143000"/>
          </a:xfrm>
        </p:spPr>
        <p:txBody>
          <a:bodyPr/>
          <a:lstStyle/>
          <a:p>
            <a:r>
              <a:rPr lang="zh-CN" altLang="en-US" dirty="0"/>
              <a:t>图像混合</a:t>
            </a:r>
            <a:endParaRPr lang="en-US" dirty="0"/>
          </a:p>
        </p:txBody>
      </p:sp>
    </p:spTree>
    <p:extLst>
      <p:ext uri="{BB962C8B-B14F-4D97-AF65-F5344CB8AC3E}">
        <p14:creationId xmlns:p14="http://schemas.microsoft.com/office/powerpoint/2010/main" val="3264428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108" name="Picture 12" descr="hybrid_image.jpg (410×3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926102"/>
            <a:ext cx="3882259" cy="370097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3" name="Title 1"/>
          <p:cNvSpPr>
            <a:spLocks noGrp="1"/>
          </p:cNvSpPr>
          <p:nvPr>
            <p:ph type="title"/>
          </p:nvPr>
        </p:nvSpPr>
        <p:spPr>
          <a:xfrm>
            <a:off x="609600" y="381000"/>
            <a:ext cx="8229600" cy="1143000"/>
          </a:xfrm>
        </p:spPr>
        <p:txBody>
          <a:bodyPr/>
          <a:lstStyle/>
          <a:p>
            <a:r>
              <a:rPr lang="zh-CN" altLang="en-US" dirty="0"/>
              <a:t>图像混合</a:t>
            </a:r>
            <a:endParaRPr lang="en-US" dirty="0"/>
          </a:p>
        </p:txBody>
      </p:sp>
      <p:pic>
        <p:nvPicPr>
          <p:cNvPr id="12" name="Picture 2" descr="dog.jpg (410×36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1" y="1709225"/>
            <a:ext cx="2057400" cy="196271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http://www.cs.cornell.edu/courses/cs5670/2017sp/projects/pa1/cat.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8801" y="3886199"/>
            <a:ext cx="2057400" cy="2010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0634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1919734" y="328893"/>
            <a:ext cx="3261064" cy="471256"/>
          </a:xfrm>
        </p:spPr>
        <p:txBody>
          <a:bodyPr>
            <a:normAutofit fontScale="90000"/>
          </a:bodyPr>
          <a:lstStyle/>
          <a:p>
            <a:r>
              <a:rPr lang="en-US" altLang="zh-CN" dirty="0" smtClean="0"/>
              <a:t>Homework:</a:t>
            </a:r>
            <a:endParaRPr lang="en-US" dirty="0"/>
          </a:p>
        </p:txBody>
      </p:sp>
      <p:grpSp>
        <p:nvGrpSpPr>
          <p:cNvPr id="2" name="组合 1"/>
          <p:cNvGrpSpPr/>
          <p:nvPr/>
        </p:nvGrpSpPr>
        <p:grpSpPr>
          <a:xfrm>
            <a:off x="2611515" y="1638204"/>
            <a:ext cx="3327647" cy="2134806"/>
            <a:chOff x="1066800" y="1709225"/>
            <a:chExt cx="6629401" cy="4187851"/>
          </a:xfrm>
        </p:grpSpPr>
        <p:pic>
          <p:nvPicPr>
            <p:cNvPr id="132108" name="Picture 12" descr="hybrid_image.jpg (410×3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926102"/>
              <a:ext cx="3882259" cy="370097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 name="Picture 2" descr="dog.jpg (410×3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8801" y="1709225"/>
              <a:ext cx="2057400" cy="196271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http://www.cs.cornell.edu/courses/cs5670/2017sp/projects/pa1/cat.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38801" y="3886199"/>
              <a:ext cx="2057400" cy="2010877"/>
            </a:xfrm>
            <a:prstGeom prst="rect">
              <a:avLst/>
            </a:prstGeom>
            <a:noFill/>
            <a:extLst>
              <a:ext uri="{909E8E84-426E-40DD-AFC4-6F175D3DCCD1}">
                <a14:hiddenFill xmlns:a14="http://schemas.microsoft.com/office/drawing/2010/main">
                  <a:solidFill>
                    <a:srgbClr val="FFFFFF"/>
                  </a:solidFill>
                </a14:hiddenFill>
              </a:ext>
            </a:extLst>
          </p:spPr>
        </p:pic>
      </p:grpSp>
      <p:pic>
        <p:nvPicPr>
          <p:cNvPr id="7" name="Picture 2" descr="Albert Einstein Marilyn Monroe Illus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64229" y="4568198"/>
            <a:ext cx="1722270" cy="2129991"/>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1776335" y="1179518"/>
            <a:ext cx="3070071" cy="369332"/>
          </a:xfrm>
          <a:prstGeom prst="rect">
            <a:avLst/>
          </a:prstGeom>
        </p:spPr>
        <p:txBody>
          <a:bodyPr wrap="none">
            <a:spAutoFit/>
          </a:bodyPr>
          <a:lstStyle/>
          <a:p>
            <a:r>
              <a:rPr lang="en-US" altLang="zh-CN" dirty="0"/>
              <a:t>1</a:t>
            </a:r>
            <a:r>
              <a:rPr lang="zh-CN" altLang="en-US" dirty="0"/>
              <a:t>、实现如下效果的图像混合</a:t>
            </a:r>
          </a:p>
        </p:txBody>
      </p:sp>
      <p:sp>
        <p:nvSpPr>
          <p:cNvPr id="4" name="矩形 3"/>
          <p:cNvSpPr/>
          <p:nvPr/>
        </p:nvSpPr>
        <p:spPr>
          <a:xfrm>
            <a:off x="1919734" y="4030462"/>
            <a:ext cx="3762568" cy="369332"/>
          </a:xfrm>
          <a:prstGeom prst="rect">
            <a:avLst/>
          </a:prstGeom>
        </p:spPr>
        <p:txBody>
          <a:bodyPr wrap="none">
            <a:spAutoFit/>
          </a:bodyPr>
          <a:lstStyle/>
          <a:p>
            <a:r>
              <a:rPr lang="en-US" altLang="zh-CN" dirty="0" smtClean="0"/>
              <a:t>2</a:t>
            </a:r>
            <a:r>
              <a:rPr lang="zh-CN" altLang="en-US" dirty="0" smtClean="0"/>
              <a:t>、实现爱因斯坦和梦露的图像</a:t>
            </a:r>
            <a:r>
              <a:rPr lang="zh-CN" altLang="en-US" dirty="0"/>
              <a:t>混合</a:t>
            </a:r>
          </a:p>
        </p:txBody>
      </p:sp>
    </p:spTree>
    <p:extLst>
      <p:ext uri="{BB962C8B-B14F-4D97-AF65-F5344CB8AC3E}">
        <p14:creationId xmlns:p14="http://schemas.microsoft.com/office/powerpoint/2010/main" val="28504290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G[i,j] = \sum_{u=-k}^{k} \sum_{v=-k}^{k} H[u,v] F[i+u,j+v]&#10;\]&#10;\end{document}&#10;"/>
  <p:tag name="EXTERNALNAME" val="Edittex"/>
  <p:tag name="BLEND" val="False"/>
  <p:tag name="TRANSPARENT" val="False"/>
  <p:tag name="KEEPFILES" val="False"/>
  <p:tag name="DEBUGPAUSE" val="False"/>
  <p:tag name="RESOLUTION" val="300"/>
  <p:tag name="BITMAPFORMAT" val="bmpmono"/>
  <p:tag name="DEBUGINTERACTIVE" val="True"/>
  <p:tag name="ORIGWIDTH" val="1473.25"/>
  <p:tag name="PICTUREFILESIZE" val="50190"/>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G = H \otimes F&#10;\]&#10;\end{document}&#10;"/>
  <p:tag name="EXTERNALNAME" val="Edittex"/>
  <p:tag name="BLEND" val="False"/>
  <p:tag name="TRANSPARENT" val="False"/>
  <p:tag name="BITMAPFORMAT" val="bmpmono"/>
  <p:tag name="DEBUGINTERACTIVE" val="True"/>
  <p:tag name="ORIGWIDTH" val="405"/>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small&#10;\[ \frac{1}{9} &#10;\]&#10;\end{document}&#10;"/>
  <p:tag name="EXTERNALNAME" val="txp_fig"/>
  <p:tag name="BLEND" val="False"/>
  <p:tag name="TRANSPARENT" val="True"/>
  <p:tag name="KEEPFILES" val="False"/>
  <p:tag name="DEBUGPAUSE" val="False"/>
  <p:tag name="RESOLUTION" val="300"/>
  <p:tag name="TIMEOUT" val="15"/>
  <p:tag name="BITMAPFORMAT" val="bmpmono"/>
  <p:tag name="DEBUGINTERACTIVE" val="True"/>
  <p:tag name="ORIGWIDTH" val="12"/>
  <p:tag name="PICTUREFILESIZE" val="1262"/>
</p:tagLst>
</file>

<file path=ppt/tags/tag18.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small&#10;\[ \frac{1}{9} &#10;\]&#10;\end{document}&#10;"/>
  <p:tag name="EXTERNALNAME" val="txp_fig"/>
  <p:tag name="BLEND" val="False"/>
  <p:tag name="TRANSPARENT" val="True"/>
  <p:tag name="KEEPFILES" val="False"/>
  <p:tag name="DEBUGPAUSE" val="False"/>
  <p:tag name="RESOLUTION" val="300"/>
  <p:tag name="TIMEOUT" val="15"/>
  <p:tag name="BITMAPFORMAT" val="bmpmono"/>
  <p:tag name="DEBUGINTERACTIVE" val="True"/>
  <p:tag name="ORIGWIDTH" val="12"/>
  <p:tag name="PICTUREFILESIZE" val="1262"/>
</p:tagLst>
</file>

<file path=ppt/tags/tag19.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small&#10;\[ \frac{1}{9} &#10;\]&#10;\end{document}&#10;"/>
  <p:tag name="EXTERNALNAME" val="txp_fig"/>
  <p:tag name="BLEND" val="False"/>
  <p:tag name="TRANSPARENT" val="True"/>
  <p:tag name="KEEPFILES" val="False"/>
  <p:tag name="DEBUGPAUSE" val="False"/>
  <p:tag name="RESOLUTION" val="300"/>
  <p:tag name="TIMEOUT" val="15"/>
  <p:tag name="BITMAPFORMAT" val="bmpmono"/>
  <p:tag name="DEBUGINTERACTIVE" val="True"/>
  <p:tag name="ORIGWIDTH" val="12"/>
  <p:tag name="PICTUREFILESIZE" val="1262"/>
</p:tagLst>
</file>

<file path=ppt/tags/tag20.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 G_{\sigma} =  \frac{1}{2 \pi \sigma^{2}} e^{-\frac{(x^{2} + y^{2})}{2 \sigma^{2}}} \]&#10;\end{document}&#10;"/>
  <p:tag name="EXTERNALNAME" val="txp_fig"/>
  <p:tag name="BLEND" val="False"/>
  <p:tag name="TRANSPARENT" val="True"/>
  <p:tag name="KEEPFILES" val="False"/>
  <p:tag name="DEBUGPAUSE" val="False"/>
  <p:tag name="RESOLUTION" val="300"/>
  <p:tag name="TIMEOUT" val="(none)"/>
  <p:tag name="BOXWIDTH" val="348"/>
  <p:tag name="BOXHEIGHT" val="296"/>
  <p:tag name="BOXFONT" val="10"/>
  <p:tag name="BOXWRAP" val="False"/>
  <p:tag name="WORKAROUNDTRANSPARENCYBUG" val="False"/>
  <p:tag name="BITMAPFORMAT" val="bmpmono"/>
  <p:tag name="DEBUGINTERACTIVE" val="True"/>
  <p:tag name="ORIGWIDTH" val="194.875"/>
  <p:tag name="PICTUREFILESIZE" val="21694"/>
</p:tagLst>
</file>

<file path=ppt/tags/tag2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sigma$&#10;\end{document}&#10;"/>
  <p:tag name="EXTERNALNAME" val="Edittex"/>
  <p:tag name="BLEND" val="False"/>
  <p:tag name="TRANSPARENT" val="False"/>
  <p:tag name="BITMAPFORMAT" val="bmpmono"/>
  <p:tag name="DEBUGINTERACTIVE" val="True"/>
  <p:tag name="ORIGWIDTH" val="45"/>
</p:tagLst>
</file>

<file path=ppt/tags/tag2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sigma$&#10;\end{document}&#10;"/>
  <p:tag name="EXTERNALNAME" val="Edittex"/>
  <p:tag name="BLEND" val="False"/>
  <p:tag name="TRANSPARENT" val="False"/>
  <p:tag name="BITMAPFORMAT" val="bmpmono"/>
  <p:tag name="DEBUGINTERACTIVE" val="True"/>
  <p:tag name="ORIGWIDTH" val="45"/>
</p:tagLst>
</file>

<file path=ppt/tags/tag23.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sigma$&#10;\end{document}&#10;"/>
  <p:tag name="EXTERNALNAME" val="Edittex"/>
  <p:tag name="BLEND" val="False"/>
  <p:tag name="TRANSPARENT" val="False"/>
  <p:tag name="BITMAPFORMAT" val="bmpmono"/>
  <p:tag name="DEBUGINTERACTIVE" val="True"/>
  <p:tag name="ORIGWIDTH" val="45"/>
</p:tagLst>
</file>

<file path=ppt/tags/tag24.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sigma$&#10;\end{document}&#10;"/>
  <p:tag name="EXTERNALNAME" val="Edittex"/>
  <p:tag name="BLEND" val="False"/>
  <p:tag name="TRANSPARENT" val="False"/>
  <p:tag name="BITMAPFORMAT" val="bmpmono"/>
  <p:tag name="DEBUGINTERACTIVE" val="True"/>
  <p:tag name="ORIGWIDTH" val="4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yriad">
      <a:majorFont>
        <a:latin typeface="Myriad Pro"/>
        <a:ea typeface=""/>
        <a:cs typeface=""/>
      </a:majorFont>
      <a:minorFont>
        <a:latin typeface="Myriad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8730</TotalTime>
  <Words>2620</Words>
  <Application>Microsoft Office PowerPoint</Application>
  <PresentationFormat>全屏显示(4:3)</PresentationFormat>
  <Paragraphs>718</Paragraphs>
  <Slides>56</Slides>
  <Notes>13</Notes>
  <HiddenSlides>2</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56</vt:i4>
      </vt:variant>
    </vt:vector>
  </HeadingPairs>
  <TitlesOfParts>
    <vt:vector size="68" baseType="lpstr">
      <vt:lpstr>Menlo</vt:lpstr>
      <vt:lpstr>Myriad Pro</vt:lpstr>
      <vt:lpstr>Myriad Roman</vt:lpstr>
      <vt:lpstr>Microsoft YaHei</vt:lpstr>
      <vt:lpstr>Arial</vt:lpstr>
      <vt:lpstr>Calibri</vt:lpstr>
      <vt:lpstr>Times</vt:lpstr>
      <vt:lpstr>Times New Roman</vt:lpstr>
      <vt:lpstr>Verdana</vt:lpstr>
      <vt:lpstr>Office Theme</vt:lpstr>
      <vt:lpstr>Equation</vt:lpstr>
      <vt:lpstr>Photo Editor Photo</vt:lpstr>
      <vt:lpstr>  图像和图像滤波</vt:lpstr>
      <vt:lpstr>什么是图像?</vt:lpstr>
      <vt:lpstr>什么是像素?</vt:lpstr>
      <vt:lpstr>什么是图像?</vt:lpstr>
      <vt:lpstr>什么是图像?</vt:lpstr>
      <vt:lpstr>图像转换</vt:lpstr>
      <vt:lpstr>滤波器</vt:lpstr>
      <vt:lpstr>典型图像处理问题</vt:lpstr>
      <vt:lpstr>问题: 减少噪点</vt:lpstr>
      <vt:lpstr>图像过滤</vt:lpstr>
      <vt:lpstr>线性滤波</vt:lpstr>
      <vt:lpstr>互相关</vt:lpstr>
      <vt:lpstr>卷积</vt:lpstr>
      <vt:lpstr>卷积</vt:lpstr>
      <vt:lpstr>卷积</vt:lpstr>
      <vt:lpstr>卷积</vt:lpstr>
      <vt:lpstr>卷积</vt:lpstr>
      <vt:lpstr>卷积</vt:lpstr>
      <vt:lpstr>二维卷积：  </vt:lpstr>
      <vt:lpstr>滤波</vt:lpstr>
      <vt:lpstr>均值滤波</vt:lpstr>
      <vt:lpstr>均值滤波和移动平均</vt:lpstr>
      <vt:lpstr>均值滤波和移动平均</vt:lpstr>
      <vt:lpstr>均值滤波和移动平均</vt:lpstr>
      <vt:lpstr>均值滤波和移动平均</vt:lpstr>
      <vt:lpstr>均值滤波和移动平均</vt:lpstr>
      <vt:lpstr>均值滤波和移动平均</vt:lpstr>
      <vt:lpstr>滤波器示例</vt:lpstr>
      <vt:lpstr>PowerPoint 演示文稿</vt:lpstr>
      <vt:lpstr>线性滤波器示例</vt:lpstr>
      <vt:lpstr>线性滤波器示例</vt:lpstr>
      <vt:lpstr>线性滤波器示例</vt:lpstr>
      <vt:lpstr>线性滤波器示例</vt:lpstr>
      <vt:lpstr>锐化</vt:lpstr>
      <vt:lpstr>再次使用箱式滤波模糊化</vt:lpstr>
      <vt:lpstr>高斯核</vt:lpstr>
      <vt:lpstr>高斯滤波器</vt:lpstr>
      <vt:lpstr>均值滤波VS高斯滤波</vt:lpstr>
      <vt:lpstr>锐化（-边缘检测） </vt:lpstr>
      <vt:lpstr>锐化再讨论</vt:lpstr>
      <vt:lpstr>滤波器: 二值化 </vt:lpstr>
      <vt:lpstr>Halftone</vt:lpstr>
      <vt:lpstr>Halftone</vt:lpstr>
      <vt:lpstr>Color Dithering: 两色（如下红和绿）通过混色得到多种视觉色</vt:lpstr>
      <vt:lpstr>Color Dithering</vt:lpstr>
      <vt:lpstr>Color Dithering</vt:lpstr>
      <vt:lpstr>Color Dithering</vt:lpstr>
      <vt:lpstr>Color Dithering</vt:lpstr>
      <vt:lpstr>Color Dithering</vt:lpstr>
      <vt:lpstr>Color Dithering</vt:lpstr>
      <vt:lpstr>Color Dithering</vt:lpstr>
      <vt:lpstr>PowerPoint 演示文稿</vt:lpstr>
      <vt:lpstr>图像混合</vt:lpstr>
      <vt:lpstr>图像混合</vt:lpstr>
      <vt:lpstr>图像混合</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7: Transformations and warping</dc:title>
  <dc:creator>Noah Snavely</dc:creator>
  <cp:lastModifiedBy>DELL</cp:lastModifiedBy>
  <cp:revision>266</cp:revision>
  <dcterms:created xsi:type="dcterms:W3CDTF">2009-08-25T02:47:59Z</dcterms:created>
  <dcterms:modified xsi:type="dcterms:W3CDTF">2024-10-07T08:25:04Z</dcterms:modified>
</cp:coreProperties>
</file>