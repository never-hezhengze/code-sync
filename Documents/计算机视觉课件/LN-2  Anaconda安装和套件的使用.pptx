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37"/>
  </p:notesMasterIdLst>
  <p:sldIdLst>
    <p:sldId id="256" r:id="rId2"/>
    <p:sldId id="314" r:id="rId3"/>
    <p:sldId id="350" r:id="rId4"/>
    <p:sldId id="322" r:id="rId5"/>
    <p:sldId id="323" r:id="rId6"/>
    <p:sldId id="324" r:id="rId7"/>
    <p:sldId id="325" r:id="rId8"/>
    <p:sldId id="328" r:id="rId9"/>
    <p:sldId id="387" r:id="rId10"/>
    <p:sldId id="326" r:id="rId11"/>
    <p:sldId id="395" r:id="rId12"/>
    <p:sldId id="399" r:id="rId13"/>
    <p:sldId id="398" r:id="rId14"/>
    <p:sldId id="396" r:id="rId15"/>
    <p:sldId id="397" r:id="rId16"/>
    <p:sldId id="401" r:id="rId17"/>
    <p:sldId id="335" r:id="rId18"/>
    <p:sldId id="400" r:id="rId19"/>
    <p:sldId id="402" r:id="rId20"/>
    <p:sldId id="337" r:id="rId21"/>
    <p:sldId id="404" r:id="rId22"/>
    <p:sldId id="410" r:id="rId23"/>
    <p:sldId id="412" r:id="rId24"/>
    <p:sldId id="413" r:id="rId25"/>
    <p:sldId id="414" r:id="rId26"/>
    <p:sldId id="415" r:id="rId27"/>
    <p:sldId id="421" r:id="rId28"/>
    <p:sldId id="417" r:id="rId29"/>
    <p:sldId id="418" r:id="rId30"/>
    <p:sldId id="419" r:id="rId31"/>
    <p:sldId id="420" r:id="rId32"/>
    <p:sldId id="409" r:id="rId33"/>
    <p:sldId id="405" r:id="rId34"/>
    <p:sldId id="407" r:id="rId35"/>
    <p:sldId id="408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5B9A6-E571-4324-B180-89A865B87705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DEB31-5B4C-4F1F-99F5-145C91C92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588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4DEB31-5B4C-4F1F-99F5-145C91C9250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143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04AB2-7898-41FD-B7DA-124DD3DAE740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D8BC-3513-4571-9737-B11353AA5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929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04AB2-7898-41FD-B7DA-124DD3DAE740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D8BC-3513-4571-9737-B11353AA5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719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04AB2-7898-41FD-B7DA-124DD3DAE740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D8BC-3513-4571-9737-B11353AA5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543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04AB2-7898-41FD-B7DA-124DD3DAE740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D8BC-3513-4571-9737-B11353AA5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853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04AB2-7898-41FD-B7DA-124DD3DAE740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D8BC-3513-4571-9737-B11353AA5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749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04AB2-7898-41FD-B7DA-124DD3DAE740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D8BC-3513-4571-9737-B11353AA5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3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04AB2-7898-41FD-B7DA-124DD3DAE740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D8BC-3513-4571-9737-B11353AA5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364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04AB2-7898-41FD-B7DA-124DD3DAE740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D8BC-3513-4571-9737-B11353AA5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349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04AB2-7898-41FD-B7DA-124DD3DAE740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D8BC-3513-4571-9737-B11353AA5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36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04AB2-7898-41FD-B7DA-124DD3DAE740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D8BC-3513-4571-9737-B11353AA5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967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04AB2-7898-41FD-B7DA-124DD3DAE740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2D8BC-3513-4571-9737-B11353AA5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416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04AB2-7898-41FD-B7DA-124DD3DAE740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2D8BC-3513-4571-9737-B11353AA5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627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anaconda.com/download/success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qq_45504119/article/details/104359592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pypi.org/" TargetMode="Externa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51.com/jchu/27766.html" TargetMode="External"/><Relationship Id="rId2" Type="http://schemas.openxmlformats.org/officeDocument/2006/relationships/hyperlink" Target="https://zhuanlan.zhihu.com/p/616729089?utm_id=0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unoob.com/python3/python-pyecharts.html" TargetMode="Externa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docs.opencv.org/4.x/d6/d00/tutorial_py_root.html" TargetMode="Externa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geeksforgeeks.org/opencv-python-tutorial/?ref=outind" TargetMode="Externa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386162610" TargetMode="External"/><Relationship Id="rId2" Type="http://schemas.openxmlformats.org/officeDocument/2006/relationships/hyperlink" Target="https://zhuanlan.zhihu.com/p/527663163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338216" y="917825"/>
            <a:ext cx="931857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dirty="0" smtClean="0"/>
              <a:t>LN 1  Anaconda</a:t>
            </a:r>
            <a:r>
              <a:rPr lang="zh-CN" altLang="en-US" sz="4400" b="1" dirty="0" smtClean="0"/>
              <a:t>：安装和套件的使用</a:t>
            </a:r>
            <a:endParaRPr lang="zh-CN" altLang="en-US" sz="4400" dirty="0"/>
          </a:p>
        </p:txBody>
      </p:sp>
      <p:sp>
        <p:nvSpPr>
          <p:cNvPr id="7" name="矩形 6"/>
          <p:cNvSpPr/>
          <p:nvPr/>
        </p:nvSpPr>
        <p:spPr>
          <a:xfrm>
            <a:off x="2683565" y="2261519"/>
            <a:ext cx="7601697" cy="360098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</a:rPr>
              <a:t>Anaconda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Python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Numpy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Opencv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-python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Matplotlib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……</a:t>
            </a:r>
            <a:endParaRPr lang="zh-CN" altLang="en-US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85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080362" y="5012869"/>
            <a:ext cx="1480501" cy="1180830"/>
            <a:chOff x="3568823" y="3650537"/>
            <a:chExt cx="1480501" cy="1180830"/>
          </a:xfrm>
        </p:grpSpPr>
        <p:sp>
          <p:nvSpPr>
            <p:cNvPr id="8" name="椭圆 7"/>
            <p:cNvSpPr/>
            <p:nvPr/>
          </p:nvSpPr>
          <p:spPr>
            <a:xfrm>
              <a:off x="3568823" y="3650537"/>
              <a:ext cx="1480501" cy="118083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3817949" y="4010119"/>
              <a:ext cx="111921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/>
                <a:t>python</a:t>
              </a:r>
              <a:endParaRPr lang="zh-CN" altLang="en-US" sz="2400" dirty="0"/>
            </a:p>
          </p:txBody>
        </p:sp>
      </p:grpSp>
      <p:sp>
        <p:nvSpPr>
          <p:cNvPr id="9" name="矩形 8"/>
          <p:cNvSpPr/>
          <p:nvPr/>
        </p:nvSpPr>
        <p:spPr>
          <a:xfrm>
            <a:off x="6218867" y="5295506"/>
            <a:ext cx="2567323" cy="6302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US" altLang="zh-CN" sz="2400" dirty="0" err="1" smtClean="0">
                <a:solidFill>
                  <a:schemeClr val="tx1"/>
                </a:solidFill>
              </a:rPr>
              <a:t>pyCharm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759729" y="3621882"/>
            <a:ext cx="2121765" cy="950069"/>
            <a:chOff x="7531825" y="2652910"/>
            <a:chExt cx="2121765" cy="950069"/>
          </a:xfrm>
        </p:grpSpPr>
        <p:sp>
          <p:nvSpPr>
            <p:cNvPr id="7" name="椭圆 6"/>
            <p:cNvSpPr/>
            <p:nvPr/>
          </p:nvSpPr>
          <p:spPr>
            <a:xfrm>
              <a:off x="7531825" y="2652910"/>
              <a:ext cx="2121765" cy="950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7832724" y="2897113"/>
              <a:ext cx="151996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/>
                <a:t>Anaconda</a:t>
              </a:r>
              <a:endParaRPr lang="zh-CN" altLang="en-US" sz="2400" dirty="0"/>
            </a:p>
          </p:txBody>
        </p:sp>
      </p:grpSp>
      <p:sp>
        <p:nvSpPr>
          <p:cNvPr id="13" name="矩形 12"/>
          <p:cNvSpPr/>
          <p:nvPr/>
        </p:nvSpPr>
        <p:spPr>
          <a:xfrm>
            <a:off x="1405630" y="1701136"/>
            <a:ext cx="863289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400" b="1" dirty="0" smtClean="0">
                <a:solidFill>
                  <a:srgbClr val="FF0000"/>
                </a:solidFill>
              </a:rPr>
              <a:t>Python     </a:t>
            </a:r>
            <a:r>
              <a:rPr lang="zh-CN" altLang="en-US" sz="2400" b="1" dirty="0">
                <a:solidFill>
                  <a:srgbClr val="FF0000"/>
                </a:solidFill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</a:rPr>
              <a:t>Interpreter,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只有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python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）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400" b="1" dirty="0" smtClean="0">
                <a:solidFill>
                  <a:srgbClr val="FF0000"/>
                </a:solidFill>
              </a:rPr>
              <a:t>Anaconda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Interpreter,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包括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python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和开源包集合）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zh-CN" sz="20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000" dirty="0" err="1" smtClean="0"/>
              <a:t>pyCharm</a:t>
            </a:r>
            <a:r>
              <a:rPr lang="en-US" altLang="zh-CN" sz="2000" dirty="0" smtClean="0"/>
              <a:t>   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IDE</a:t>
            </a:r>
            <a:r>
              <a:rPr lang="zh-CN" altLang="en-US" sz="2000" dirty="0" smtClean="0"/>
              <a:t>：负责</a:t>
            </a:r>
            <a:r>
              <a:rPr lang="en-US" altLang="zh-CN" sz="2000" dirty="0" smtClean="0"/>
              <a:t>.</a:t>
            </a:r>
            <a:r>
              <a:rPr lang="en-US" altLang="zh-CN" sz="2000" dirty="0" err="1" smtClean="0"/>
              <a:t>py</a:t>
            </a:r>
            <a:r>
              <a:rPr lang="zh-CN" altLang="en-US" sz="2000" dirty="0" smtClean="0"/>
              <a:t>的编写和存放</a:t>
            </a:r>
            <a:r>
              <a:rPr lang="en-US" altLang="zh-CN" sz="2000" dirty="0" smtClean="0"/>
              <a:t>location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</p:txBody>
      </p:sp>
      <p:cxnSp>
        <p:nvCxnSpPr>
          <p:cNvPr id="5" name="直接箭头连接符 4"/>
          <p:cNvCxnSpPr/>
          <p:nvPr/>
        </p:nvCxnSpPr>
        <p:spPr>
          <a:xfrm>
            <a:off x="3751981" y="5603284"/>
            <a:ext cx="22243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/>
          <p:cNvCxnSpPr>
            <a:endCxn id="9" idx="0"/>
          </p:cNvCxnSpPr>
          <p:nvPr/>
        </p:nvCxnSpPr>
        <p:spPr>
          <a:xfrm>
            <a:off x="4216237" y="4101911"/>
            <a:ext cx="3286292" cy="119359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4047271" y="5295506"/>
            <a:ext cx="18790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 smtClean="0"/>
              <a:t>安装路径</a:t>
            </a:r>
            <a:r>
              <a:rPr lang="en-US" altLang="zh-CN" sz="1400" b="1" dirty="0" smtClean="0"/>
              <a:t>\python.exe</a:t>
            </a:r>
            <a:endParaRPr lang="zh-CN" altLang="en-US" sz="1400" b="1" dirty="0"/>
          </a:p>
        </p:txBody>
      </p:sp>
      <p:sp>
        <p:nvSpPr>
          <p:cNvPr id="20" name="矩形 19"/>
          <p:cNvSpPr/>
          <p:nvPr/>
        </p:nvSpPr>
        <p:spPr>
          <a:xfrm>
            <a:off x="4182393" y="3761825"/>
            <a:ext cx="26164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 smtClean="0"/>
              <a:t>(base) Anaconda3\python.exe</a:t>
            </a:r>
            <a:endParaRPr lang="zh-CN" altLang="en-US" sz="1400" b="1" dirty="0"/>
          </a:p>
        </p:txBody>
      </p:sp>
      <p:sp>
        <p:nvSpPr>
          <p:cNvPr id="4" name="矩形 3"/>
          <p:cNvSpPr/>
          <p:nvPr/>
        </p:nvSpPr>
        <p:spPr>
          <a:xfrm>
            <a:off x="1881614" y="701872"/>
            <a:ext cx="93907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/>
              <a:t>  </a:t>
            </a:r>
            <a:r>
              <a:rPr lang="en-US" altLang="zh-CN" sz="3600" b="1" dirty="0" smtClean="0"/>
              <a:t>1</a:t>
            </a:r>
            <a:r>
              <a:rPr lang="zh-CN" altLang="en-US" sz="3600" b="1" dirty="0" smtClean="0"/>
              <a:t>、</a:t>
            </a:r>
            <a:r>
              <a:rPr lang="zh-CN" altLang="en-US" sz="3200" b="1" dirty="0" smtClean="0"/>
              <a:t>三者的关系：Python </a:t>
            </a:r>
            <a:r>
              <a:rPr lang="zh-CN" altLang="en-US" sz="3200" b="1" dirty="0"/>
              <a:t>、Anaconda、</a:t>
            </a:r>
            <a:r>
              <a:rPr lang="zh-CN" altLang="en-US" sz="3200" b="1" dirty="0" smtClean="0"/>
              <a:t>pyCharm</a:t>
            </a:r>
            <a:endParaRPr lang="zh-CN" altLang="en-US" sz="3200" b="1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1405630" y="1431235"/>
            <a:ext cx="86328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565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62083" y="3078031"/>
            <a:ext cx="9540534" cy="1421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 smtClean="0"/>
              <a:t>Anaconda </a:t>
            </a:r>
            <a:r>
              <a:rPr lang="zh-CN" altLang="en-US" sz="2400" dirty="0" smtClean="0"/>
              <a:t>包括Conda、python等</a:t>
            </a:r>
            <a:r>
              <a:rPr lang="en-US" altLang="zh-CN" sz="2400" dirty="0" smtClean="0"/>
              <a:t>180</a:t>
            </a:r>
            <a:r>
              <a:rPr lang="zh-CN" altLang="en-US" sz="2400" dirty="0" smtClean="0"/>
              <a:t>多个科学包及其依赖项比如：numpy、pandas等。</a:t>
            </a:r>
            <a:endParaRPr lang="en-US" altLang="zh-CN" sz="2400" dirty="0"/>
          </a:p>
        </p:txBody>
      </p:sp>
      <p:sp>
        <p:nvSpPr>
          <p:cNvPr id="4" name="矩形 3"/>
          <p:cNvSpPr/>
          <p:nvPr/>
        </p:nvSpPr>
        <p:spPr>
          <a:xfrm>
            <a:off x="3192954" y="620728"/>
            <a:ext cx="630653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 smtClean="0"/>
              <a:t>2</a:t>
            </a:r>
            <a:r>
              <a:rPr lang="zh-CN" altLang="en-US" sz="4000" b="1" dirty="0" smtClean="0"/>
              <a:t>、Anaconda  </a:t>
            </a:r>
            <a:r>
              <a:rPr lang="zh-CN" altLang="en-US" sz="4000" dirty="0" smtClean="0"/>
              <a:t>下载和安装</a:t>
            </a:r>
            <a:endParaRPr lang="en-US" altLang="zh-CN" sz="4000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1133061" y="1719470"/>
            <a:ext cx="98695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996325" y="1802550"/>
            <a:ext cx="61430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https://www.runoob.com/python-qt/anaconda-tutorial.html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2302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59659" y="1018994"/>
            <a:ext cx="1612942" cy="461665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zh-CN" sz="2400" b="1" i="1" dirty="0" smtClean="0">
                <a:solidFill>
                  <a:srgbClr val="FFFF00"/>
                </a:solidFill>
              </a:rPr>
              <a:t>Download</a:t>
            </a:r>
            <a:endParaRPr lang="zh-CN" altLang="en-US" sz="2400" b="1" i="1" dirty="0">
              <a:solidFill>
                <a:srgbClr val="FFFF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90659" y="1203660"/>
            <a:ext cx="84663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https://blog.csdn.net/m0_46983541/article/details/124366585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090659" y="834328"/>
            <a:ext cx="47981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hlinkClick r:id="rId2"/>
              </a:rPr>
              <a:t>https://www.anaconda.com/download/success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590" y="1915788"/>
            <a:ext cx="8898421" cy="43443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17231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90102" y="606767"/>
            <a:ext cx="1997663" cy="52322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zh-CN" sz="2800" b="1" i="1" dirty="0" smtClean="0">
                <a:solidFill>
                  <a:srgbClr val="FFFF00"/>
                </a:solidFill>
              </a:rPr>
              <a:t>Installation</a:t>
            </a:r>
            <a:endParaRPr lang="zh-CN" altLang="en-US" sz="2800" b="1" i="1" dirty="0">
              <a:solidFill>
                <a:srgbClr val="FFFF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811" y="-96546"/>
            <a:ext cx="6272459" cy="646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305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62" y="1083270"/>
            <a:ext cx="4794629" cy="382071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742" y="900298"/>
            <a:ext cx="5779310" cy="418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38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87" y="558049"/>
            <a:ext cx="5934075" cy="44100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175" y="1131708"/>
            <a:ext cx="4781148" cy="393337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84393" y="5065081"/>
            <a:ext cx="586236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 smtClean="0">
                <a:solidFill>
                  <a:srgbClr val="7030A0"/>
                </a:solidFill>
              </a:rPr>
              <a:t>不勾第一个</a:t>
            </a:r>
            <a:r>
              <a:rPr lang="zh-CN" altLang="en-US" sz="1400" dirty="0" smtClean="0"/>
              <a:t>。因为如果勾选，则将会影响其他程序的使用。如果使用Anaconda，则通过打开Anaconda Navigator或者在开始菜单中的“Anaconda Prompt”（类似macOS中的“终端”）中进行使用。</a:t>
            </a:r>
            <a:endParaRPr lang="en-US" altLang="zh-CN" sz="1400" dirty="0" smtClean="0"/>
          </a:p>
          <a:p>
            <a:endParaRPr lang="en-US" altLang="zh-CN" sz="1400" dirty="0"/>
          </a:p>
          <a:p>
            <a:r>
              <a:rPr lang="zh-CN" altLang="en-US" sz="1400" dirty="0" smtClean="0">
                <a:solidFill>
                  <a:srgbClr val="7030A0"/>
                </a:solidFill>
              </a:rPr>
              <a:t>勾选第二个</a:t>
            </a:r>
            <a:r>
              <a:rPr lang="zh-CN" altLang="en-US" sz="1400" dirty="0" smtClean="0"/>
              <a:t>。除非你打算使用多个版本的Anaconda或者多个版本的Python，否则便勾选此。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75733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96753" y="292100"/>
            <a:ext cx="2550698" cy="8345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 err="1" smtClean="0"/>
              <a:t>Registeration</a:t>
            </a:r>
            <a:endParaRPr lang="en-US" altLang="zh-CN" sz="2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525" y="1356179"/>
            <a:ext cx="8415777" cy="439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644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6827" y="165851"/>
            <a:ext cx="6165470" cy="9218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 smtClean="0"/>
              <a:t>3</a:t>
            </a:r>
            <a:r>
              <a:rPr lang="zh-CN" altLang="en-US" sz="4000" b="1" dirty="0" smtClean="0"/>
              <a:t>、 Anaconda 套件的使用</a:t>
            </a:r>
            <a:endParaRPr lang="en-US" altLang="zh-CN" sz="40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827" y="1497740"/>
            <a:ext cx="6091664" cy="5012391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580282" y="1224384"/>
            <a:ext cx="98695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878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485670" y="1323803"/>
            <a:ext cx="4567276" cy="830997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b="1" dirty="0" smtClean="0">
                <a:solidFill>
                  <a:schemeClr val="accent1">
                    <a:lumMod val="75000"/>
                  </a:schemeClr>
                </a:solidFill>
              </a:rPr>
              <a:t>法</a:t>
            </a:r>
            <a:r>
              <a:rPr lang="en-US" altLang="zh-CN" sz="3200" b="1" dirty="0" smtClean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zh-CN" altLang="en-US" sz="3200" b="1" dirty="0" smtClean="0">
                <a:solidFill>
                  <a:schemeClr val="accent1">
                    <a:lumMod val="75000"/>
                  </a:schemeClr>
                </a:solidFill>
              </a:rPr>
              <a:t>：单行</a:t>
            </a: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交互式运行</a:t>
            </a:r>
            <a:endParaRPr lang="en-US" altLang="zh-C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9" y="2601112"/>
            <a:ext cx="4842106" cy="398422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659038" y="3304644"/>
            <a:ext cx="2852710" cy="55399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行命令启动</a:t>
            </a:r>
            <a:r>
              <a:rPr lang="en-US" altLang="zh-CN" sz="2000" dirty="0" smtClean="0"/>
              <a:t>python</a:t>
            </a:r>
            <a:endParaRPr lang="zh-CN" altLang="en-US" sz="2000" dirty="0"/>
          </a:p>
        </p:txBody>
      </p:sp>
      <p:sp>
        <p:nvSpPr>
          <p:cNvPr id="12" name="矩形 11"/>
          <p:cNvSpPr/>
          <p:nvPr/>
        </p:nvSpPr>
        <p:spPr>
          <a:xfrm>
            <a:off x="3714291" y="180155"/>
            <a:ext cx="454162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 smtClean="0"/>
              <a:t>Python</a:t>
            </a:r>
            <a:r>
              <a:rPr lang="zh-CN" altLang="en-US" sz="4000" b="1" dirty="0" smtClean="0"/>
              <a:t>的基本编程</a:t>
            </a:r>
            <a:r>
              <a:rPr lang="en-US" altLang="zh-CN" sz="4000" b="1" dirty="0" smtClean="0"/>
              <a:t> </a:t>
            </a:r>
            <a:endParaRPr lang="en-US" altLang="zh-CN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5585791" y="3498574"/>
            <a:ext cx="925517" cy="119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35496" y="1245151"/>
            <a:ext cx="101253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5273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在这里插入图片描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983" y="463717"/>
            <a:ext cx="5950986" cy="3470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1042723" y="1417586"/>
            <a:ext cx="24609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Python built-in IDLE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1" name="Picture 2" descr="在这里插入图片描述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983" y="3934220"/>
            <a:ext cx="6439547" cy="2743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/>
        </p:nvSpPr>
        <p:spPr>
          <a:xfrm>
            <a:off x="2273188" y="4949290"/>
            <a:ext cx="915635" cy="5695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shell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9211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485670" y="1323803"/>
            <a:ext cx="4801314" cy="830997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 smtClean="0">
                <a:solidFill>
                  <a:schemeClr val="accent1">
                    <a:lumMod val="75000"/>
                  </a:schemeClr>
                </a:solidFill>
              </a:rPr>
              <a:t>法</a:t>
            </a:r>
            <a:r>
              <a:rPr lang="en-US" altLang="zh-CN" sz="3200" b="1" dirty="0" smtClean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zh-CN" altLang="en-US" sz="3200" b="1" dirty="0" smtClean="0">
                <a:solidFill>
                  <a:schemeClr val="accent1">
                    <a:lumMod val="75000"/>
                  </a:schemeClr>
                </a:solidFill>
              </a:rPr>
              <a:t>：朴素编辑器</a:t>
            </a:r>
            <a:r>
              <a:rPr lang="en-US" altLang="zh-CN" sz="3200" b="1" dirty="0" smtClean="0">
                <a:solidFill>
                  <a:schemeClr val="accent1">
                    <a:lumMod val="75000"/>
                  </a:schemeClr>
                </a:solidFill>
              </a:rPr>
              <a:t>+</a:t>
            </a:r>
            <a:r>
              <a:rPr lang="zh-CN" altLang="en-US" sz="3200" b="1" dirty="0" smtClean="0">
                <a:solidFill>
                  <a:schemeClr val="accent1">
                    <a:lumMod val="75000"/>
                  </a:schemeClr>
                </a:solidFill>
              </a:rPr>
              <a:t>行命令</a:t>
            </a:r>
            <a:endParaRPr lang="en-US" altLang="zh-C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9" y="2601112"/>
            <a:ext cx="4842106" cy="398422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609343" y="2906403"/>
            <a:ext cx="4251485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Notepad</a:t>
            </a:r>
            <a:r>
              <a:rPr lang="zh-CN" altLang="en-US" sz="2000" dirty="0" smtClean="0"/>
              <a:t>或</a:t>
            </a:r>
            <a:r>
              <a:rPr lang="en-US" altLang="zh-CN" sz="2000" dirty="0" smtClean="0"/>
              <a:t>notepad++</a:t>
            </a:r>
            <a:r>
              <a:rPr lang="zh-CN" altLang="en-US" sz="2000" dirty="0" smtClean="0"/>
              <a:t>作为编辑器</a:t>
            </a:r>
            <a:endParaRPr lang="en-US" altLang="zh-CN" sz="20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行命令运行</a:t>
            </a:r>
            <a:endParaRPr lang="zh-CN" altLang="en-US" sz="2000" dirty="0"/>
          </a:p>
        </p:txBody>
      </p:sp>
      <p:sp>
        <p:nvSpPr>
          <p:cNvPr id="12" name="矩形 11"/>
          <p:cNvSpPr/>
          <p:nvPr/>
        </p:nvSpPr>
        <p:spPr>
          <a:xfrm>
            <a:off x="3714291" y="180155"/>
            <a:ext cx="454162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 smtClean="0"/>
              <a:t>Python</a:t>
            </a:r>
            <a:r>
              <a:rPr lang="zh-CN" altLang="en-US" sz="4000" b="1" dirty="0" smtClean="0"/>
              <a:t>的基本编程</a:t>
            </a:r>
            <a:r>
              <a:rPr lang="en-US" altLang="zh-CN" sz="4000" b="1" dirty="0" smtClean="0"/>
              <a:t> </a:t>
            </a:r>
            <a:endParaRPr lang="en-US" altLang="zh-CN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5585791" y="3498574"/>
            <a:ext cx="925517" cy="119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35496" y="1245151"/>
            <a:ext cx="101253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844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在这里插入图片描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14" y="2036319"/>
            <a:ext cx="11582951" cy="3648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3486361" y="903258"/>
            <a:ext cx="34018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cmd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命令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—&gt;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输入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python test.py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0364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592821" y="2046124"/>
            <a:ext cx="29836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 smtClean="0">
                <a:solidFill>
                  <a:srgbClr val="7030A0"/>
                </a:solidFill>
              </a:rPr>
              <a:t>自动关联</a:t>
            </a:r>
            <a:r>
              <a:rPr lang="en-US" altLang="zh-CN" sz="1400" b="1" dirty="0" smtClean="0">
                <a:solidFill>
                  <a:srgbClr val="7030A0"/>
                </a:solidFill>
              </a:rPr>
              <a:t>anaconda</a:t>
            </a:r>
            <a:r>
              <a:rPr lang="zh-CN" altLang="en-US" sz="1400" b="1" dirty="0" smtClean="0">
                <a:solidFill>
                  <a:srgbClr val="7030A0"/>
                </a:solidFill>
              </a:rPr>
              <a:t>管理的模块</a:t>
            </a:r>
            <a:endParaRPr lang="en-US" altLang="zh-CN" sz="1400" b="1" dirty="0" smtClean="0">
              <a:solidFill>
                <a:srgbClr val="7030A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192" y="3521798"/>
            <a:ext cx="5617363" cy="3228877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96" y="1318835"/>
            <a:ext cx="5591175" cy="4600575"/>
          </a:xfrm>
          <a:prstGeom prst="rect">
            <a:avLst/>
          </a:prstGeom>
        </p:spPr>
      </p:pic>
      <p:cxnSp>
        <p:nvCxnSpPr>
          <p:cNvPr id="8" name="肘形连接符 7"/>
          <p:cNvCxnSpPr/>
          <p:nvPr/>
        </p:nvCxnSpPr>
        <p:spPr>
          <a:xfrm rot="10800000">
            <a:off x="5948128" y="2353901"/>
            <a:ext cx="4067109" cy="1167896"/>
          </a:xfrm>
          <a:prstGeom prst="bentConnector3">
            <a:avLst>
              <a:gd name="adj1" fmla="val 36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830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000153" y="1294485"/>
            <a:ext cx="7018268" cy="830997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b="1" dirty="0" smtClean="0">
                <a:solidFill>
                  <a:schemeClr val="accent1">
                    <a:lumMod val="75000"/>
                  </a:schemeClr>
                </a:solidFill>
              </a:rPr>
              <a:t>法</a:t>
            </a:r>
            <a:r>
              <a:rPr lang="en-US" altLang="zh-CN" sz="3200" b="1" dirty="0" smtClean="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zh-CN" altLang="en-US" sz="3200" b="1" dirty="0" smtClean="0">
                <a:solidFill>
                  <a:schemeClr val="accent1">
                    <a:lumMod val="75000"/>
                  </a:schemeClr>
                </a:solidFill>
              </a:rPr>
              <a:t>：</a:t>
            </a:r>
            <a:r>
              <a:rPr lang="en-US" altLang="zh-CN" sz="3200" b="1" dirty="0" err="1" smtClean="0">
                <a:solidFill>
                  <a:schemeClr val="accent1">
                    <a:lumMod val="75000"/>
                  </a:schemeClr>
                </a:solidFill>
              </a:rPr>
              <a:t>Jupter</a:t>
            </a:r>
            <a:r>
              <a:rPr lang="en-US" altLang="zh-CN" sz="3200" b="1" dirty="0" smtClean="0">
                <a:solidFill>
                  <a:schemeClr val="accent1">
                    <a:lumMod val="75000"/>
                  </a:schemeClr>
                </a:solidFill>
              </a:rPr>
              <a:t> Notebook</a:t>
            </a:r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CN" altLang="en-US" sz="3200" b="1" dirty="0" smtClean="0">
                <a:solidFill>
                  <a:schemeClr val="accent1">
                    <a:lumMod val="75000"/>
                  </a:schemeClr>
                </a:solidFill>
              </a:rPr>
              <a:t>一体化环境</a:t>
            </a:r>
            <a:endParaRPr lang="en-US" altLang="zh-C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714291" y="180155"/>
            <a:ext cx="454162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 smtClean="0"/>
              <a:t>Python</a:t>
            </a:r>
            <a:r>
              <a:rPr lang="zh-CN" altLang="en-US" sz="4000" b="1" dirty="0" smtClean="0"/>
              <a:t>的基本编程</a:t>
            </a:r>
            <a:r>
              <a:rPr lang="en-US" altLang="zh-CN" sz="4000" b="1" dirty="0" smtClean="0"/>
              <a:t> </a:t>
            </a:r>
            <a:endParaRPr lang="en-US" altLang="zh-CN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735496" y="1245151"/>
            <a:ext cx="101253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353" y="2405270"/>
            <a:ext cx="5230307" cy="430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355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065" y="1588699"/>
            <a:ext cx="8382901" cy="5144583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720708" y="233186"/>
            <a:ext cx="64629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hlinkClick r:id="rId3"/>
              </a:rPr>
              <a:t>https://blog.csdn.net/qq_45504119/article/details/</a:t>
            </a:r>
            <a:r>
              <a:rPr lang="zh-CN" altLang="en-US" sz="1600" dirty="0" smtClean="0">
                <a:hlinkClick r:id="rId3"/>
              </a:rPr>
              <a:t>104359592</a:t>
            </a:r>
            <a:endParaRPr lang="en-US" altLang="zh-CN" sz="1600" dirty="0" smtClean="0"/>
          </a:p>
          <a:p>
            <a:endParaRPr lang="zh-CN" altLang="en-US" sz="1600" dirty="0"/>
          </a:p>
          <a:p>
            <a:r>
              <a:rPr lang="zh-CN" altLang="en-US" sz="1600" dirty="0" smtClean="0"/>
              <a:t>在</a:t>
            </a:r>
            <a:r>
              <a:rPr lang="zh-CN" altLang="en-US" sz="1600" b="1" dirty="0">
                <a:solidFill>
                  <a:srgbClr val="FF0000"/>
                </a:solidFill>
              </a:rPr>
              <a:t>jupter</a:t>
            </a:r>
            <a:r>
              <a:rPr lang="zh-CN" altLang="en-US" sz="1600" dirty="0"/>
              <a:t>的栏目In [ ]输入，然后run</a:t>
            </a:r>
          </a:p>
          <a:p>
            <a:r>
              <a:rPr lang="zh-CN" altLang="en-US" sz="1600" dirty="0" smtClean="0"/>
              <a:t>% load  </a:t>
            </a:r>
            <a:r>
              <a:rPr lang="zh-CN" altLang="en-US" sz="1600" dirty="0"/>
              <a:t>../test.py</a:t>
            </a:r>
          </a:p>
        </p:txBody>
      </p:sp>
    </p:spTree>
    <p:extLst>
      <p:ext uri="{BB962C8B-B14F-4D97-AF65-F5344CB8AC3E}">
        <p14:creationId xmlns:p14="http://schemas.microsoft.com/office/powerpoint/2010/main" val="4020112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832" y="315445"/>
            <a:ext cx="8533243" cy="28567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894" y="3801154"/>
            <a:ext cx="6858000" cy="25717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矩形 3"/>
          <p:cNvSpPr/>
          <p:nvPr/>
        </p:nvSpPr>
        <p:spPr>
          <a:xfrm>
            <a:off x="2430058" y="4440638"/>
            <a:ext cx="29373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0" i="0" dirty="0" smtClean="0">
                <a:effectLst/>
                <a:latin typeface="-apple-system"/>
              </a:rPr>
              <a:t>1</a:t>
            </a:r>
            <a:r>
              <a:rPr lang="zh-CN" altLang="en-US" b="0" i="0" dirty="0" smtClean="0">
                <a:effectLst/>
                <a:latin typeface="-apple-system"/>
              </a:rPr>
              <a:t>：修改文件名</a:t>
            </a:r>
            <a:endParaRPr lang="en-US" altLang="zh-CN" b="0" i="0" dirty="0" smtClean="0">
              <a:effectLst/>
              <a:latin typeface="-apple-system"/>
            </a:endParaRPr>
          </a:p>
          <a:p>
            <a:r>
              <a:rPr lang="en-US" altLang="zh-CN" b="0" i="0" dirty="0" smtClean="0">
                <a:effectLst/>
                <a:latin typeface="-apple-system"/>
              </a:rPr>
              <a:t>2</a:t>
            </a:r>
            <a:r>
              <a:rPr lang="zh-CN" altLang="en-US" b="0" i="0" dirty="0" smtClean="0">
                <a:effectLst/>
                <a:latin typeface="-apple-system"/>
              </a:rPr>
              <a:t>：运行代码</a:t>
            </a:r>
            <a:endParaRPr lang="en-US" altLang="zh-CN" b="0" i="0" dirty="0" smtClean="0">
              <a:effectLst/>
              <a:latin typeface="-apple-system"/>
            </a:endParaRPr>
          </a:p>
          <a:p>
            <a:r>
              <a:rPr lang="en-US" altLang="zh-CN" b="0" i="0" dirty="0" smtClean="0">
                <a:effectLst/>
                <a:latin typeface="-apple-system"/>
              </a:rPr>
              <a:t>3</a:t>
            </a:r>
            <a:r>
              <a:rPr lang="zh-CN" altLang="en-US" b="0" i="0" dirty="0" smtClean="0">
                <a:effectLst/>
                <a:latin typeface="-apple-system"/>
              </a:rPr>
              <a:t>：代码输入区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2657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832" y="315445"/>
            <a:ext cx="8533243" cy="28567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894" y="3801154"/>
            <a:ext cx="6858000" cy="25717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矩形 3"/>
          <p:cNvSpPr/>
          <p:nvPr/>
        </p:nvSpPr>
        <p:spPr>
          <a:xfrm>
            <a:off x="2430058" y="4440638"/>
            <a:ext cx="29373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0" i="0" dirty="0" smtClean="0">
                <a:effectLst/>
                <a:latin typeface="-apple-system"/>
              </a:rPr>
              <a:t>1</a:t>
            </a:r>
            <a:r>
              <a:rPr lang="zh-CN" altLang="en-US" b="0" i="0" dirty="0" smtClean="0">
                <a:effectLst/>
                <a:latin typeface="-apple-system"/>
              </a:rPr>
              <a:t>：修改文件名</a:t>
            </a:r>
            <a:endParaRPr lang="en-US" altLang="zh-CN" b="0" i="0" dirty="0" smtClean="0">
              <a:effectLst/>
              <a:latin typeface="-apple-system"/>
            </a:endParaRPr>
          </a:p>
          <a:p>
            <a:r>
              <a:rPr lang="en-US" altLang="zh-CN" b="0" i="0" dirty="0" smtClean="0">
                <a:effectLst/>
                <a:latin typeface="-apple-system"/>
              </a:rPr>
              <a:t>2</a:t>
            </a:r>
            <a:r>
              <a:rPr lang="zh-CN" altLang="en-US" b="0" i="0" dirty="0" smtClean="0">
                <a:effectLst/>
                <a:latin typeface="-apple-system"/>
              </a:rPr>
              <a:t>：运行代码</a:t>
            </a:r>
            <a:endParaRPr lang="en-US" altLang="zh-CN" b="0" i="0" dirty="0" smtClean="0">
              <a:effectLst/>
              <a:latin typeface="-apple-system"/>
            </a:endParaRPr>
          </a:p>
          <a:p>
            <a:r>
              <a:rPr lang="en-US" altLang="zh-CN" b="0" i="0" dirty="0" smtClean="0">
                <a:effectLst/>
                <a:latin typeface="-apple-system"/>
              </a:rPr>
              <a:t>3</a:t>
            </a:r>
            <a:r>
              <a:rPr lang="zh-CN" altLang="en-US" b="0" i="0" dirty="0" smtClean="0">
                <a:effectLst/>
                <a:latin typeface="-apple-system"/>
              </a:rPr>
              <a:t>：代码输入区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6876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000153" y="1294485"/>
            <a:ext cx="7427033" cy="830997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b="1" dirty="0" smtClean="0">
                <a:solidFill>
                  <a:srgbClr val="5B9BD5">
                    <a:lumMod val="75000"/>
                  </a:srgbClr>
                </a:solidFill>
              </a:rPr>
              <a:t>法</a:t>
            </a:r>
            <a:r>
              <a:rPr lang="en-US" altLang="zh-CN" sz="3200" b="1" dirty="0" smtClean="0">
                <a:solidFill>
                  <a:srgbClr val="5B9BD5">
                    <a:lumMod val="75000"/>
                  </a:srgbClr>
                </a:solidFill>
              </a:rPr>
              <a:t>4</a:t>
            </a:r>
            <a:r>
              <a:rPr lang="zh-CN" altLang="en-US" sz="3200" b="1" dirty="0" smtClean="0">
                <a:solidFill>
                  <a:srgbClr val="5B9BD5">
                    <a:lumMod val="75000"/>
                  </a:srgbClr>
                </a:solidFill>
              </a:rPr>
              <a:t>：</a:t>
            </a:r>
            <a:r>
              <a:rPr lang="en-US" altLang="zh-CN" sz="3200" b="1" dirty="0" err="1" smtClean="0">
                <a:solidFill>
                  <a:srgbClr val="5B9BD5">
                    <a:lumMod val="75000"/>
                  </a:srgbClr>
                </a:solidFill>
              </a:rPr>
              <a:t>Spyder</a:t>
            </a:r>
            <a:r>
              <a:rPr lang="en-US" altLang="zh-CN" sz="3200" b="1" dirty="0" smtClean="0">
                <a:solidFill>
                  <a:srgbClr val="5B9BD5">
                    <a:lumMod val="75000"/>
                  </a:srgbClr>
                </a:solidFill>
              </a:rPr>
              <a:t> </a:t>
            </a:r>
            <a:r>
              <a:rPr lang="en-US" altLang="zh-CN" sz="3200" b="1" dirty="0">
                <a:solidFill>
                  <a:srgbClr val="5B9BD5">
                    <a:lumMod val="75000"/>
                  </a:srgbClr>
                </a:solidFill>
              </a:rPr>
              <a:t>(anaconda </a:t>
            </a:r>
            <a:r>
              <a:rPr lang="zh-CN" altLang="en-US" sz="3200" b="1" dirty="0">
                <a:solidFill>
                  <a:srgbClr val="5B9BD5">
                    <a:lumMod val="75000"/>
                  </a:srgbClr>
                </a:solidFill>
              </a:rPr>
              <a:t>自带的</a:t>
            </a:r>
            <a:r>
              <a:rPr lang="en-US" altLang="zh-CN" sz="3200" b="1" dirty="0">
                <a:solidFill>
                  <a:srgbClr val="5B9BD5">
                    <a:lumMod val="75000"/>
                  </a:srgbClr>
                </a:solidFill>
              </a:rPr>
              <a:t>IDE</a:t>
            </a:r>
            <a:r>
              <a:rPr lang="zh-CN" altLang="en-US" sz="3200" b="1" dirty="0">
                <a:solidFill>
                  <a:srgbClr val="5B9BD5">
                    <a:lumMod val="75000"/>
                  </a:srgbClr>
                </a:solidFill>
              </a:rPr>
              <a:t>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714291" y="180155"/>
            <a:ext cx="454162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Python</a:t>
            </a: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的基本编程</a:t>
            </a:r>
            <a:r>
              <a:rPr kumimoji="0" lang="en-US" altLang="zh-CN" sz="4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735496" y="1245151"/>
            <a:ext cx="101253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736" y="2335696"/>
            <a:ext cx="5230307" cy="430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47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873" y="211376"/>
            <a:ext cx="9252240" cy="669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88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52994" y="1337981"/>
            <a:ext cx="42883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外部库的下载安装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75341" y="2986774"/>
            <a:ext cx="9019874" cy="9233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F</a:t>
            </a:r>
            <a:r>
              <a:rPr lang="zh-CN" altLang="en-US" b="1" dirty="0" smtClean="0">
                <a:solidFill>
                  <a:srgbClr val="FF0000"/>
                </a:solidFill>
              </a:rPr>
              <a:t>ind</a:t>
            </a:r>
            <a:r>
              <a:rPr lang="zh-CN" altLang="en-US" b="1" dirty="0">
                <a:solidFill>
                  <a:srgbClr val="FF0000"/>
                </a:solidFill>
              </a:rPr>
              <a:t>, install and publish Python packages with the Python Package Index</a:t>
            </a:r>
          </a:p>
          <a:p>
            <a:r>
              <a:rPr lang="zh-CN" altLang="en-US" b="1" dirty="0">
                <a:solidFill>
                  <a:srgbClr val="FF0000"/>
                </a:solidFill>
                <a:hlinkClick r:id="rId2"/>
              </a:rPr>
              <a:t>https://pypi.org</a:t>
            </a:r>
            <a:r>
              <a:rPr lang="zh-CN" altLang="en-US" b="1" dirty="0" smtClean="0">
                <a:solidFill>
                  <a:srgbClr val="FF0000"/>
                </a:solidFill>
                <a:hlinkClick r:id="rId2"/>
              </a:rPr>
              <a:t>/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2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311474" y="1481793"/>
            <a:ext cx="7398179" cy="8388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600" b="1" dirty="0"/>
              <a:t>数据绘图包，绘制各类图形和报表</a:t>
            </a:r>
            <a:endParaRPr lang="en-US" altLang="zh-CN" sz="3600" b="1" dirty="0"/>
          </a:p>
        </p:txBody>
      </p:sp>
      <p:sp>
        <p:nvSpPr>
          <p:cNvPr id="4" name="矩形 3"/>
          <p:cNvSpPr/>
          <p:nvPr/>
        </p:nvSpPr>
        <p:spPr>
          <a:xfrm>
            <a:off x="1556538" y="2532949"/>
            <a:ext cx="9611139" cy="131574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/>
              <a:t>Matplotlib</a:t>
            </a:r>
            <a:r>
              <a:rPr lang="zh-CN" altLang="en-US" sz="2400" b="1" dirty="0"/>
              <a:t>、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pyecharts</a:t>
            </a:r>
            <a:r>
              <a:rPr lang="zh-CN" altLang="en-US" dirty="0"/>
              <a:t>数据绘图包，绘制各类图形和</a:t>
            </a:r>
            <a:r>
              <a:rPr lang="zh-CN" altLang="en-US" dirty="0" smtClean="0"/>
              <a:t>报表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    </a:t>
            </a:r>
            <a:r>
              <a:rPr lang="en-US" altLang="zh-CN" dirty="0" err="1" smtClean="0"/>
              <a:t>Matplotlib</a:t>
            </a:r>
            <a:r>
              <a:rPr lang="en-US" altLang="zh-CN" dirty="0" smtClean="0"/>
              <a:t> </a:t>
            </a:r>
            <a:r>
              <a:rPr lang="en-US" altLang="zh-CN" sz="1400" dirty="0"/>
              <a:t>provide MATLAB-like functionality in python.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609347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3161" y="204079"/>
            <a:ext cx="7173759" cy="9541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法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：利用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anaconda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下载和管理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external libs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725992" y="1357733"/>
            <a:ext cx="59380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  <a:hlinkClick r:id="rId2"/>
              </a:rPr>
              <a:t>https://zhuanlan.zhihu.com/p/616729089?utm_id=0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  <a:hlinkClick r:id="rId3"/>
              </a:rPr>
              <a:t>https://www.python51.com/jchu/27766.html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710" y="1868557"/>
            <a:ext cx="6228909" cy="5751486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 flipH="1">
            <a:off x="6361043" y="1105615"/>
            <a:ext cx="345669" cy="1150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204847" y="5435375"/>
            <a:ext cx="7242688" cy="9541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法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Anaconda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没收集的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libs, 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用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pip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命令下载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3230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30727" y="1833304"/>
            <a:ext cx="10747141" cy="253915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Matplotlib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在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anaconda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中已收集，并默认安装了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P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yecharts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anaconda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中没收集，需运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行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如下命令自动下载、安装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（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  <a:hlinkClick r:id="rId2"/>
              </a:rPr>
              <a:t>https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  <a:hlinkClick r:id="rId2"/>
              </a:rPr>
              <a:t>://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  <a:hlinkClick r:id="rId2"/>
              </a:rPr>
              <a:t>www.runoob.com/python3/python-pyecharts.html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）</a:t>
            </a:r>
            <a:endParaRPr kumimoji="0" lang="en-US" altLang="zh-CN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      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pip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install pyecharts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3483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345032" y="1190934"/>
            <a:ext cx="6096000" cy="13388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https://www.runoob.com/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https://www.w3schools.com/python/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Jupyter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提供的使用教程和手册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198" y="2730572"/>
            <a:ext cx="5010116" cy="276576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41202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693137" y="1155789"/>
            <a:ext cx="4301177" cy="8388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600" b="1" dirty="0" smtClean="0"/>
              <a:t>计算机视觉</a:t>
            </a:r>
            <a:r>
              <a:rPr lang="en-US" altLang="zh-CN" sz="3600" b="1" dirty="0" err="1" smtClean="0"/>
              <a:t>opencv</a:t>
            </a:r>
            <a:endParaRPr lang="en-US" altLang="zh-CN" sz="3600" b="1" dirty="0"/>
          </a:p>
        </p:txBody>
      </p:sp>
      <p:sp>
        <p:nvSpPr>
          <p:cNvPr id="4" name="矩形 3"/>
          <p:cNvSpPr/>
          <p:nvPr/>
        </p:nvSpPr>
        <p:spPr>
          <a:xfrm>
            <a:off x="1787126" y="2246702"/>
            <a:ext cx="9611139" cy="264014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+mn-ea"/>
              </a:rPr>
              <a:t>A</a:t>
            </a:r>
            <a:r>
              <a:rPr lang="zh-CN" altLang="en-US" sz="1600" dirty="0">
                <a:latin typeface="+mn-ea"/>
              </a:rPr>
              <a:t> huge open-source library for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computer vision</a:t>
            </a:r>
            <a:r>
              <a:rPr lang="zh-CN" altLang="en-US" sz="1600" dirty="0">
                <a:latin typeface="+mn-ea"/>
              </a:rPr>
              <a:t>, machine learning, and image processing. </a:t>
            </a:r>
            <a:endParaRPr lang="en-US" altLang="zh-CN" sz="16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ea"/>
              </a:rPr>
              <a:t>support a wide variety of programming languages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like Python</a:t>
            </a:r>
            <a:r>
              <a:rPr lang="zh-CN" altLang="en-US" sz="1600" dirty="0">
                <a:latin typeface="+mn-ea"/>
              </a:rPr>
              <a:t>, C++, Java, etc. </a:t>
            </a:r>
            <a:endParaRPr lang="en-US" altLang="zh-CN" sz="16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ea"/>
              </a:rPr>
              <a:t>process images and videos to identify objects, faces, or even the handwriting of a human. </a:t>
            </a:r>
            <a:endParaRPr lang="en-US" altLang="zh-CN" sz="16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ea"/>
              </a:rPr>
              <a:t>When it is integrated with various libraries, such as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Numpy </a:t>
            </a:r>
            <a:r>
              <a:rPr lang="zh-CN" altLang="en-US" sz="1600" dirty="0">
                <a:latin typeface="+mn-ea"/>
              </a:rPr>
              <a:t>which is a highly optimized library for numerical operations, then the number of weapons increases in your Arsenal i.e whatever operations one can do in Numpy can be combined with OpenCV.</a:t>
            </a:r>
          </a:p>
          <a:p>
            <a:pPr>
              <a:lnSpc>
                <a:spcPct val="150000"/>
              </a:lnSpc>
            </a:pP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578123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87126" y="2246702"/>
            <a:ext cx="9611139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 smtClean="0"/>
              <a:t>下载安装</a:t>
            </a:r>
            <a:r>
              <a:rPr lang="en-US" altLang="zh-CN" sz="3200" dirty="0" smtClean="0"/>
              <a:t>: </a:t>
            </a:r>
            <a:r>
              <a:rPr lang="en-US" altLang="zh-CN" dirty="0">
                <a:solidFill>
                  <a:srgbClr val="FF0000"/>
                </a:solidFill>
              </a:rPr>
              <a:t>pip install </a:t>
            </a:r>
            <a:r>
              <a:rPr lang="en-US" altLang="zh-CN" sz="2000" b="1" dirty="0" err="1">
                <a:solidFill>
                  <a:srgbClr val="FF0000"/>
                </a:solidFill>
              </a:rPr>
              <a:t>opencv</a:t>
            </a:r>
            <a:r>
              <a:rPr lang="en-US" altLang="zh-CN" sz="2000" b="1" dirty="0">
                <a:solidFill>
                  <a:srgbClr val="FF0000"/>
                </a:solidFill>
              </a:rPr>
              <a:t>-python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97498" y="2961113"/>
            <a:ext cx="53046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https://blog.csdn.net/clksjx/article/details/84192445</a:t>
            </a:r>
          </a:p>
        </p:txBody>
      </p:sp>
    </p:spTree>
    <p:extLst>
      <p:ext uri="{BB962C8B-B14F-4D97-AF65-F5344CB8AC3E}">
        <p14:creationId xmlns:p14="http://schemas.microsoft.com/office/powerpoint/2010/main" val="19595603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376039" y="309037"/>
            <a:ext cx="843378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hlinkClick r:id="rId2"/>
              </a:rPr>
              <a:t>https://docs.opencv.org/4.x/d6/d00/tutorial_py_root.html</a:t>
            </a:r>
            <a:endParaRPr lang="zh-CN" altLang="en-US" sz="2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423" y="870012"/>
            <a:ext cx="9576047" cy="591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956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52620" y="618155"/>
            <a:ext cx="71292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hlinkClick r:id="rId2"/>
              </a:rPr>
              <a:t>https://www.geeksforgeeks.org/opencv-python-tutorial/?ref=outind</a:t>
            </a:r>
            <a:endParaRPr lang="en-US" altLang="zh-CN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85" y="1304235"/>
            <a:ext cx="10710422" cy="520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3563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497" y="343670"/>
            <a:ext cx="8512114" cy="377852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8497" y="4345620"/>
            <a:ext cx="8512114" cy="2286000"/>
          </a:xfrm>
          <a:prstGeom prst="rect">
            <a:avLst/>
          </a:prstGeom>
        </p:spPr>
      </p:pic>
      <p:sp>
        <p:nvSpPr>
          <p:cNvPr id="6" name="右弧形箭头 5"/>
          <p:cNvSpPr/>
          <p:nvPr/>
        </p:nvSpPr>
        <p:spPr>
          <a:xfrm>
            <a:off x="10704898" y="3773009"/>
            <a:ext cx="649642" cy="106897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4550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814220" y="893016"/>
            <a:ext cx="8691239" cy="452431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34" charset="-122"/>
                <a:ea typeface="JetBrains Mono"/>
              </a:rPr>
              <a:t>import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numpy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34" charset="-122"/>
                <a:ea typeface="JetBrains Mono"/>
              </a:rPr>
              <a:t>as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np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34" charset="-122"/>
                <a:ea typeface="JetBrains Mono"/>
              </a:rPr>
              <a:t>import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cv2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34" charset="-122"/>
                <a:ea typeface="JetBrains Mono"/>
              </a:rPr>
              <a:t>as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cv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img = cv.imread(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34" charset="-122"/>
                <a:ea typeface="JetBrains Mono"/>
              </a:rPr>
              <a:t>'E:\wangProject\img01.jpg'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, cv.IMREAD_GRAYSCALE)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cv.imshow(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34" charset="-122"/>
                <a:ea typeface="JetBrains Mono"/>
              </a:rPr>
              <a:t>'img'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,img)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cv.waitKey(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34" charset="-122"/>
                <a:ea typeface="JetBrains Mono"/>
              </a:rPr>
              <a:t>0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)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cv.destroyAllWindows()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rgbClr val="BCBEC4"/>
              </a:solidFill>
              <a:effectLst/>
              <a:latin typeface="Arial Unicode MS" panose="020B0604020202020204" pitchFamily="34" charset="-122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/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34" charset="-122"/>
                <a:ea typeface="JetBrains Mono"/>
              </a:rPr>
              <a:t>assert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img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34" charset="-122"/>
                <a:ea typeface="JetBrains Mono"/>
              </a:rPr>
              <a:t>is not None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,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34" charset="-122"/>
                <a:ea typeface="JetBrains Mono"/>
              </a:rPr>
              <a:t>"file could not be read, check with os.path.exists()"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34" charset="-122"/>
                <a:ea typeface="JetBrains Mono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rows,cols = img.shape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34" charset="-122"/>
                <a:ea typeface="JetBrains Mono"/>
              </a:rPr>
              <a:t># cols-1 and rows-1 are the coordinate limits.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34" charset="-122"/>
                <a:ea typeface="JetBrains Mono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M = cv.getRotationMatrix2D(((cols-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34" charset="-122"/>
                <a:ea typeface="JetBrains Mono"/>
              </a:rPr>
              <a:t>1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)/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34" charset="-122"/>
                <a:ea typeface="JetBrains Mono"/>
              </a:rPr>
              <a:t>2.0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,(rows-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34" charset="-122"/>
                <a:ea typeface="JetBrains Mono"/>
              </a:rPr>
              <a:t>1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)/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34" charset="-122"/>
                <a:ea typeface="JetBrains Mono"/>
              </a:rPr>
              <a:t>2.0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),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34" charset="-122"/>
                <a:ea typeface="JetBrains Mono"/>
              </a:rPr>
              <a:t>90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,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34" charset="-122"/>
                <a:ea typeface="JetBrains Mono"/>
              </a:rPr>
              <a:t>1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)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dst = cv.warpAffine(img,M,(cols,rows))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/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cv.imshow(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34" charset="-122"/>
                <a:ea typeface="JetBrains Mono"/>
              </a:rPr>
              <a:t>'img'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,dst)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cv.waitKey(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34" charset="-122"/>
                <a:ea typeface="JetBrains Mono"/>
              </a:rPr>
              <a:t>0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)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34" charset="-122"/>
                <a:ea typeface="JetBrains Mono"/>
              </a:rPr>
              <a:t>cv.destroyAllWindows()</a:t>
            </a:r>
            <a:endParaRPr kumimoji="0" lang="zh-CN" altLang="zh-CN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88200" y="5502805"/>
            <a:ext cx="77738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/>
              <a:t>https://docs.opencv.org/4.x/da/d6e/tutorial_py_geometric_transformations.html</a:t>
            </a:r>
          </a:p>
        </p:txBody>
      </p:sp>
    </p:spTree>
    <p:extLst>
      <p:ext uri="{BB962C8B-B14F-4D97-AF65-F5344CB8AC3E}">
        <p14:creationId xmlns:p14="http://schemas.microsoft.com/office/powerpoint/2010/main" val="41398911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57201" y="2864703"/>
            <a:ext cx="38074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Supplement 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4302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24506" y="3173857"/>
            <a:ext cx="108189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1. 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Anaconda navigator 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启动很慢。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【</a:t>
            </a:r>
            <a:r>
              <a:rPr kumimoji="0" lang="en-US" altLang="zh-CN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ans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】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它网络访问各库有无新版本出现。可断网（飞行模式）后启动它。好在编程时无需启动和运行它。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0506" y="2327561"/>
            <a:ext cx="2476500" cy="11049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226225" y="4436696"/>
            <a:ext cx="92475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2. 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除了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Anaconda navigator 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方式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外，还可以行命令方式使用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anaconda.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[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Ans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]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https://blog.csdn.net/weixin_42270275/article/details/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88409756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59992" y="802974"/>
            <a:ext cx="47520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关于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Anaconda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navigator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006137" y="1669002"/>
            <a:ext cx="86908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3693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97258" y="1966495"/>
            <a:ext cx="681509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1. </a:t>
            </a:r>
            <a:r>
              <a:rPr kumimoji="0" lang="en-US" altLang="zh-CN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Jupyter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需要联网才能运行吗？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[</a:t>
            </a:r>
            <a:r>
              <a:rPr kumimoji="0" lang="en-US" altLang="zh-CN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Ans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Jupyter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Notebook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采用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B/S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工作模式网页只是交互方式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不需要联网，是本地（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127.0.0.1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即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localhost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）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本机充当服务器和客户机（类似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Tomcat servlet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，不要关闭它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）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56687" y="721200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96398" y="4795628"/>
            <a:ext cx="56950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E: \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conda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install </a:t>
            </a:r>
            <a:r>
              <a:rPr kumimoji="0" lang="en-US" altLang="zh-CN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nb_conda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后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可切换环境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https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://cloud.tencent.com/developer/article/2277074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371" y="1725423"/>
            <a:ext cx="3484950" cy="1685211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997258" y="4402843"/>
            <a:ext cx="55899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、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jupyter notebook 默认环境是anaconda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的base环境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97258" y="3410634"/>
            <a:ext cx="4328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https://www.jianshu.com/p/19c2adf7a9b3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371" y="4170632"/>
            <a:ext cx="3954308" cy="18923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矩形 19"/>
          <p:cNvSpPr/>
          <p:nvPr/>
        </p:nvSpPr>
        <p:spPr>
          <a:xfrm>
            <a:off x="4029894" y="758586"/>
            <a:ext cx="23807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关于 </a:t>
            </a:r>
            <a:r>
              <a:rPr kumimoji="0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Juputer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096398" y="1535837"/>
            <a:ext cx="102670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6623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39193" y="1692215"/>
            <a:ext cx="10889204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3. </a:t>
            </a:r>
            <a:r>
              <a:rPr kumimoji="0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Jupyter</a:t>
            </a:r>
            <a:r>
              <a:rPr kumimoji="0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Notebook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的</a:t>
            </a:r>
            <a:r>
              <a:rPr kumimoji="0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B/S</a:t>
            </a:r>
            <a:r>
              <a:rPr kumimoji="0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模式很容易扩展为云计算架构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[</a:t>
            </a:r>
            <a:r>
              <a:rPr kumimoji="0" lang="en-US" altLang="zh-CN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Ans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Colab</a:t>
            </a:r>
            <a:r>
              <a:rPr kumimoji="0" lang="en-US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是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谷歌提供的一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个远程编程平台，为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我们提供免费的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GPU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。它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是一个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Jupyter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笔记本环境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，不需要进行任何设置就可以使用，并且完全在云端运行。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Colab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笔记本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存储在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Google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云端硬盘中，并且可以共享，就如同您使用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Google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文档或表格一样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利用</a:t>
            </a:r>
            <a:r>
              <a:rPr kumimoji="0" lang="en-US" altLang="zh-CN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Colab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可方便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地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使用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Keras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TensorFlow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PyTorch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OpenCV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等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框架进行深度学习应用的开发。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GPU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是深度学习开发的重要硬件需要，而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Google </a:t>
            </a:r>
            <a:r>
              <a:rPr kumimoji="0" lang="en-US" altLang="zh-CN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Colab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给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我们提供了一个功能强大，使用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方便且免费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的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GPU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资源！</a:t>
            </a:r>
            <a:endParaRPr kumimoji="0" lang="en-US" altLang="zh-CN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  <a:hlinkClick r:id="rId2"/>
              </a:rPr>
              <a:t>https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  <a:hlinkClick r:id="rId2"/>
              </a:rPr>
              <a:t>://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  <a:hlinkClick r:id="rId2"/>
              </a:rPr>
              <a:t>zhuanlan.zhihu.com/p/527663163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  <a:hlinkClick r:id="rId3"/>
              </a:rPr>
              <a:t>https://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  <a:hlinkClick r:id="rId3"/>
              </a:rPr>
              <a:t>zhuanlan.zhihu.com/p/386162610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56687" y="721200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029894" y="758586"/>
            <a:ext cx="23807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关于 </a:t>
            </a:r>
            <a:r>
              <a:rPr kumimoji="0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  <a:cs typeface="+mn-cs"/>
              </a:rPr>
              <a:t>Juputer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096398" y="1535837"/>
            <a:ext cx="102670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539" y="4280027"/>
            <a:ext cx="7315973" cy="2298954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380596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2588</TotalTime>
  <Words>1161</Words>
  <Application>Microsoft Office PowerPoint</Application>
  <PresentationFormat>宽屏</PresentationFormat>
  <Paragraphs>112</Paragraphs>
  <Slides>35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-apple-system</vt:lpstr>
      <vt:lpstr>Arial Unicode MS</vt:lpstr>
      <vt:lpstr>JetBrains Mono</vt:lpstr>
      <vt:lpstr>等线</vt:lpstr>
      <vt:lpstr>等线 Light</vt:lpstr>
      <vt:lpstr>Arial</vt:lpstr>
      <vt:lpstr>Verdana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Mentor  1  Python and OpenCV</dc:title>
  <dc:creator>DELL</dc:creator>
  <cp:lastModifiedBy>DELL</cp:lastModifiedBy>
  <cp:revision>148</cp:revision>
  <dcterms:created xsi:type="dcterms:W3CDTF">2024-01-08T02:43:29Z</dcterms:created>
  <dcterms:modified xsi:type="dcterms:W3CDTF">2024-09-09T03:39:43Z</dcterms:modified>
</cp:coreProperties>
</file>