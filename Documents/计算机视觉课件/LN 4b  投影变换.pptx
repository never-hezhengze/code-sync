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1" r:id="rId3"/>
    <p:sldId id="270" r:id="rId4"/>
    <p:sldId id="260" r:id="rId5"/>
    <p:sldId id="256" r:id="rId6"/>
    <p:sldId id="258" r:id="rId7"/>
    <p:sldId id="263" r:id="rId8"/>
    <p:sldId id="264" r:id="rId9"/>
    <p:sldId id="261" r:id="rId10"/>
    <p:sldId id="262" r:id="rId11"/>
    <p:sldId id="265" r:id="rId12"/>
    <p:sldId id="266" r:id="rId13"/>
    <p:sldId id="269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28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24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02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177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99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40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73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32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2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25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9B6FD-CFF5-4A03-995E-8CFAE545EBC6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D2A17-85FC-4950-A651-80A5CA94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16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403399" y="2264114"/>
            <a:ext cx="36583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solidFill>
                  <a:srgbClr val="111133"/>
                </a:solidFill>
                <a:latin typeface="-apple-system"/>
              </a:rPr>
              <a:t>LN 4b  </a:t>
            </a:r>
            <a:r>
              <a:rPr lang="zh-CN" altLang="en-US" sz="3600" b="1" dirty="0" smtClean="0">
                <a:solidFill>
                  <a:srgbClr val="111133"/>
                </a:solidFill>
                <a:latin typeface="-apple-system"/>
              </a:rPr>
              <a:t>投影变换</a:t>
            </a:r>
            <a:endParaRPr lang="zh-CN" altLang="en-US" sz="3600" b="1" i="0" dirty="0">
              <a:solidFill>
                <a:srgbClr val="111133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87218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89" y="316035"/>
            <a:ext cx="9105900" cy="2390775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58284" y="3092501"/>
            <a:ext cx="8744504" cy="306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5870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基础矩阵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”不是一种“变换”，而是一种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约束关系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其他三个（投影、透视、单应）都表示一种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坐标映射变换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-apple-system"/>
              </a:rPr>
              <a:t>投影变换”是一个</a:t>
            </a:r>
            <a:r>
              <a:rPr lang="zh-CN" altLang="en-US" b="1" dirty="0">
                <a:latin typeface="-apple-system"/>
              </a:rPr>
              <a:t>广义类别</a:t>
            </a:r>
            <a:r>
              <a:rPr lang="zh-CN" altLang="en-US" dirty="0">
                <a:latin typeface="-apple-system"/>
              </a:rPr>
              <a:t>，包含：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-apple-system"/>
              </a:rPr>
              <a:t>仿射变换（</a:t>
            </a:r>
            <a:r>
              <a:rPr lang="en-US" altLang="zh-CN" dirty="0">
                <a:latin typeface="-apple-system"/>
              </a:rPr>
              <a:t>Affine</a:t>
            </a:r>
            <a:r>
              <a:rPr lang="zh-CN" altLang="en-US" dirty="0">
                <a:latin typeface="-apple-system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-apple-system"/>
              </a:rPr>
              <a:t>相似变换（</a:t>
            </a:r>
            <a:r>
              <a:rPr lang="en-US" altLang="zh-CN" dirty="0">
                <a:latin typeface="-apple-system"/>
              </a:rPr>
              <a:t>Similarity</a:t>
            </a:r>
            <a:r>
              <a:rPr lang="zh-CN" altLang="en-US" dirty="0">
                <a:latin typeface="-apple-system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-apple-system"/>
              </a:rPr>
              <a:t>刚体变换（</a:t>
            </a:r>
            <a:r>
              <a:rPr lang="en-US" altLang="zh-CN" dirty="0">
                <a:latin typeface="-apple-system"/>
              </a:rPr>
              <a:t>Rigid</a:t>
            </a:r>
            <a:r>
              <a:rPr lang="zh-CN" altLang="en-US" dirty="0">
                <a:latin typeface="-apple-system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-apple-system"/>
              </a:rPr>
              <a:t>透视变换 </a:t>
            </a:r>
            <a:r>
              <a:rPr lang="en-US" altLang="zh-CN" dirty="0">
                <a:solidFill>
                  <a:srgbClr val="FF0000"/>
                </a:solidFill>
                <a:latin typeface="-apple-system"/>
              </a:rPr>
              <a:t>/ </a:t>
            </a:r>
            <a:r>
              <a:rPr lang="zh-CN" altLang="en-US" dirty="0">
                <a:solidFill>
                  <a:srgbClr val="FF0000"/>
                </a:solidFill>
                <a:latin typeface="-apple-system"/>
              </a:rPr>
              <a:t>单应变</a:t>
            </a:r>
            <a:r>
              <a:rPr lang="zh-CN" altLang="en-US" dirty="0" smtClean="0">
                <a:solidFill>
                  <a:srgbClr val="FF0000"/>
                </a:solidFill>
                <a:latin typeface="-apple-system"/>
              </a:rPr>
              <a:t>换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60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4700" y="309226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111133"/>
                </a:solidFill>
                <a:latin typeface="-apple-system"/>
              </a:rPr>
              <a:t> 正交</a:t>
            </a:r>
            <a:r>
              <a:rPr lang="zh-CN" altLang="en-US" b="1" dirty="0" smtClean="0">
                <a:solidFill>
                  <a:srgbClr val="FF0000"/>
                </a:solidFill>
                <a:latin typeface="-apple-system"/>
              </a:rPr>
              <a:t>投影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111133"/>
                </a:solidFill>
                <a:latin typeface="-apple-system"/>
              </a:rPr>
              <a:t> </a:t>
            </a:r>
            <a:r>
              <a:rPr lang="zh-CN" altLang="en-US" b="1" dirty="0" smtClean="0">
                <a:solidFill>
                  <a:srgbClr val="111133"/>
                </a:solidFill>
                <a:latin typeface="-apple-system"/>
              </a:rPr>
              <a:t>透视</a:t>
            </a:r>
            <a:r>
              <a:rPr lang="zh-CN" altLang="en-US" b="1" dirty="0" smtClean="0">
                <a:solidFill>
                  <a:srgbClr val="FF0000"/>
                </a:solidFill>
                <a:latin typeface="-apple-system"/>
              </a:rPr>
              <a:t>投影</a:t>
            </a:r>
            <a:r>
              <a:rPr lang="zh-CN" altLang="en-US" dirty="0">
                <a:solidFill>
                  <a:srgbClr val="111133"/>
                </a:solidFill>
                <a:latin typeface="-apple-system"/>
              </a:rPr>
              <a:t>（</a:t>
            </a:r>
            <a:r>
              <a:rPr lang="en-US" altLang="zh-CN" dirty="0" smtClean="0">
                <a:solidFill>
                  <a:srgbClr val="111133"/>
                </a:solidFill>
                <a:latin typeface="-apple-system"/>
              </a:rPr>
              <a:t>Perspective</a:t>
            </a:r>
            <a:r>
              <a:rPr lang="zh-CN" altLang="en-US" dirty="0" smtClean="0">
                <a:solidFill>
                  <a:srgbClr val="111133"/>
                </a:solidFill>
                <a:latin typeface="-apple-system"/>
              </a:rPr>
              <a:t>）又称中心投影</a:t>
            </a:r>
            <a:endParaRPr lang="zh-CN" altLang="en-US" dirty="0">
              <a:solidFill>
                <a:srgbClr val="111133"/>
              </a:solidFill>
              <a:latin typeface="-apple-system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85283" y="3523085"/>
            <a:ext cx="6096000" cy="33855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zh-CN" altLang="en-US" sz="1600" dirty="0" smtClean="0">
                <a:solidFill>
                  <a:srgbClr val="111133"/>
                </a:solidFill>
                <a:latin typeface="-apple-system"/>
              </a:rPr>
              <a:t>平行投影</a:t>
            </a:r>
            <a:r>
              <a:rPr lang="zh-CN" altLang="en-US" sz="1600" dirty="0">
                <a:solidFill>
                  <a:srgbClr val="111133"/>
                </a:solidFill>
                <a:latin typeface="-apple-system"/>
              </a:rPr>
              <a:t>，投影方向垂直于投影平面，且所有投影线相互平行。</a:t>
            </a:r>
            <a:endParaRPr lang="zh-CN" altLang="en-US" sz="16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2601156" y="3692362"/>
            <a:ext cx="2831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785283" y="4214785"/>
            <a:ext cx="6096000" cy="58477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111133"/>
                </a:solidFill>
                <a:latin typeface="-apple-system"/>
              </a:rPr>
              <a:t>模拟人眼或相机的</a:t>
            </a:r>
            <a:r>
              <a:rPr lang="zh-CN" altLang="en-US" sz="1600" dirty="0" smtClean="0">
                <a:solidFill>
                  <a:srgbClr val="111133"/>
                </a:solidFill>
                <a:latin typeface="-apple-system"/>
              </a:rPr>
              <a:t>成像：</a:t>
            </a:r>
            <a:r>
              <a:rPr lang="zh-CN" altLang="en-US" sz="1600" dirty="0">
                <a:solidFill>
                  <a:srgbClr val="111133"/>
                </a:solidFill>
                <a:latin typeface="-apple-system"/>
              </a:rPr>
              <a:t>投影线从一个</a:t>
            </a:r>
            <a:r>
              <a:rPr lang="zh-CN" altLang="en-US" sz="1600" b="1" dirty="0">
                <a:solidFill>
                  <a:srgbClr val="111133"/>
                </a:solidFill>
                <a:latin typeface="-apple-system"/>
              </a:rPr>
              <a:t>中心点（投影中心）</a:t>
            </a:r>
            <a:r>
              <a:rPr lang="zh-CN" altLang="en-US" sz="1600" dirty="0">
                <a:solidFill>
                  <a:srgbClr val="111133"/>
                </a:solidFill>
                <a:latin typeface="-apple-system"/>
              </a:rPr>
              <a:t> 发出，穿过物体，投射到像平面上。</a:t>
            </a:r>
            <a:endParaRPr lang="zh-CN" altLang="en-US" sz="1600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4782691" y="4485110"/>
            <a:ext cx="899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747" y="698184"/>
            <a:ext cx="3705734" cy="20801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495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07666" y="829608"/>
            <a:ext cx="6146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透视变换（</a:t>
            </a:r>
            <a:r>
              <a:rPr lang="en-US" altLang="zh-CN" sz="2400" b="1" dirty="0"/>
              <a:t>Perspective Transformation</a:t>
            </a:r>
            <a:r>
              <a:rPr lang="zh-CN" altLang="en-US" sz="2400" b="1" dirty="0"/>
              <a:t>）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220" y="2737833"/>
            <a:ext cx="6389573" cy="298460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061256" y="1387327"/>
            <a:ext cx="9231139" cy="83099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111133"/>
                </a:solidFill>
                <a:latin typeface="-apple-system"/>
              </a:rPr>
              <a:t>基于小孔成像</a:t>
            </a:r>
            <a:r>
              <a:rPr lang="zh-CN" altLang="en-US" sz="1600" dirty="0" smtClean="0">
                <a:solidFill>
                  <a:srgbClr val="111133"/>
                </a:solidFill>
                <a:latin typeface="-apple-system"/>
              </a:rPr>
              <a:t>的两</a:t>
            </a:r>
            <a:r>
              <a:rPr lang="zh-CN" altLang="en-US" sz="1600" dirty="0">
                <a:solidFill>
                  <a:srgbClr val="111133"/>
                </a:solidFill>
                <a:latin typeface="-apple-system"/>
              </a:rPr>
              <a:t>个平面之间的</a:t>
            </a:r>
            <a:r>
              <a:rPr lang="zh-CN" altLang="en-US" sz="1600" b="1" dirty="0">
                <a:solidFill>
                  <a:srgbClr val="111133"/>
                </a:solidFill>
                <a:latin typeface="-apple-system"/>
              </a:rPr>
              <a:t>透视</a:t>
            </a:r>
            <a:r>
              <a:rPr lang="zh-CN" altLang="en-US" sz="1600" b="1" dirty="0">
                <a:solidFill>
                  <a:srgbClr val="00B0F0"/>
                </a:solidFill>
                <a:latin typeface="-apple-system"/>
              </a:rPr>
              <a:t>变换</a:t>
            </a:r>
            <a:r>
              <a:rPr lang="zh-CN" altLang="en-US" sz="1600" dirty="0">
                <a:solidFill>
                  <a:srgbClr val="111133"/>
                </a:solidFill>
                <a:latin typeface="-apple-system"/>
              </a:rPr>
              <a:t>，描述一个平面上的点如何映射到另一个平面上的对应</a:t>
            </a:r>
            <a:r>
              <a:rPr lang="zh-CN" altLang="en-US" sz="1600" dirty="0" smtClean="0">
                <a:solidFill>
                  <a:srgbClr val="111133"/>
                </a:solidFill>
                <a:latin typeface="-apple-system"/>
              </a:rPr>
              <a:t>点</a:t>
            </a:r>
            <a:r>
              <a:rPr lang="en-US" altLang="zh-CN" sz="1600" dirty="0" smtClean="0">
                <a:solidFill>
                  <a:srgbClr val="111133"/>
                </a:solidFill>
                <a:latin typeface="-apple-system"/>
              </a:rPr>
              <a:t>.</a:t>
            </a:r>
          </a:p>
          <a:p>
            <a:endParaRPr lang="en-US" altLang="zh-CN" sz="1600" dirty="0">
              <a:solidFill>
                <a:srgbClr val="111133"/>
              </a:solidFill>
              <a:latin typeface="-apple-system"/>
            </a:endParaRPr>
          </a:p>
          <a:p>
            <a:r>
              <a:rPr lang="zh-CN" altLang="en-US" sz="1600" dirty="0"/>
              <a:t>常见场景：同一平面（如地面、墙面）在两个不同相机视角下的图像点对应</a:t>
            </a:r>
          </a:p>
        </p:txBody>
      </p:sp>
    </p:spTree>
    <p:extLst>
      <p:ext uri="{BB962C8B-B14F-4D97-AF65-F5344CB8AC3E}">
        <p14:creationId xmlns:p14="http://schemas.microsoft.com/office/powerpoint/2010/main" val="209741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30" y="632271"/>
            <a:ext cx="6203132" cy="344958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630" y="4441033"/>
            <a:ext cx="5182200" cy="8092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036762" y="5609486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i="1" dirty="0">
                <a:latin typeface="KaTeX_Math"/>
              </a:rPr>
              <a:t>E</a:t>
            </a:r>
            <a:r>
              <a:rPr lang="zh-CN" altLang="en-US" sz="1600" dirty="0">
                <a:latin typeface="-apple-system"/>
              </a:rPr>
              <a:t> 和 </a:t>
            </a:r>
            <a:r>
              <a:rPr lang="en-US" altLang="zh-CN" sz="1600" i="1" dirty="0" smtClean="0">
                <a:latin typeface="KaTeX_Math"/>
              </a:rPr>
              <a:t>F</a:t>
            </a:r>
            <a:r>
              <a:rPr lang="zh-CN" altLang="en-US" sz="1600" dirty="0" smtClean="0">
                <a:latin typeface="-apple-system"/>
              </a:rPr>
              <a:t> </a:t>
            </a:r>
            <a:r>
              <a:rPr lang="zh-CN" altLang="en-US" sz="1600" dirty="0">
                <a:latin typeface="-apple-system"/>
              </a:rPr>
              <a:t>控制了投影后图像的</a:t>
            </a:r>
            <a:r>
              <a:rPr lang="zh-CN" altLang="en-US" sz="1600" b="1" dirty="0">
                <a:latin typeface="-apple-system"/>
              </a:rPr>
              <a:t>透视方向和倾斜趋势</a:t>
            </a:r>
            <a:r>
              <a:rPr lang="zh-CN" altLang="en-US" sz="1600" dirty="0">
                <a:latin typeface="-apple-system"/>
              </a:rPr>
              <a:t>，例如模拟从某个倾斜角度观察平面的效果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5375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211627" y="848999"/>
            <a:ext cx="30775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Menlo"/>
              </a:rPr>
              <a:t>close </a:t>
            </a:r>
            <a:r>
              <a:rPr lang="en-US" altLang="zh-CN" dirty="0" err="1">
                <a:solidFill>
                  <a:srgbClr val="A709F5"/>
                </a:solidFill>
                <a:latin typeface="Menlo"/>
              </a:rPr>
              <a:t>all</a:t>
            </a:r>
            <a:r>
              <a:rPr lang="en-US" altLang="zh-CN" dirty="0" err="1">
                <a:latin typeface="Menlo"/>
              </a:rPr>
              <a:t>;clear</a:t>
            </a:r>
            <a:r>
              <a:rPr lang="en-US" altLang="zh-CN" dirty="0">
                <a:latin typeface="Menlo"/>
              </a:rPr>
              <a:t> </a:t>
            </a:r>
            <a:r>
              <a:rPr lang="en-US" altLang="zh-CN" dirty="0" err="1">
                <a:solidFill>
                  <a:srgbClr val="A709F5"/>
                </a:solidFill>
                <a:latin typeface="Menlo"/>
              </a:rPr>
              <a:t>all</a:t>
            </a:r>
            <a:r>
              <a:rPr lang="en-US" altLang="zh-CN" dirty="0" err="1">
                <a:latin typeface="Menlo"/>
              </a:rPr>
              <a:t>;clc</a:t>
            </a:r>
            <a:r>
              <a:rPr lang="en-US" altLang="zh-CN" dirty="0">
                <a:latin typeface="Menlo"/>
              </a:rPr>
              <a:t>;</a:t>
            </a:r>
          </a:p>
          <a:p>
            <a:r>
              <a:rPr lang="en-US" altLang="zh-CN" dirty="0" err="1">
                <a:latin typeface="Menlo"/>
              </a:rPr>
              <a:t>im</a:t>
            </a:r>
            <a:r>
              <a:rPr lang="en-US" altLang="zh-CN" dirty="0">
                <a:latin typeface="Menlo"/>
              </a:rPr>
              <a:t>=</a:t>
            </a:r>
            <a:r>
              <a:rPr lang="en-US" altLang="zh-CN" dirty="0" err="1">
                <a:latin typeface="Menlo"/>
              </a:rPr>
              <a:t>imread</a:t>
            </a:r>
            <a:r>
              <a:rPr lang="en-US" altLang="zh-CN" dirty="0">
                <a:latin typeface="Menlo"/>
              </a:rPr>
              <a:t>(</a:t>
            </a:r>
            <a:r>
              <a:rPr lang="en-US" altLang="zh-CN" dirty="0">
                <a:solidFill>
                  <a:srgbClr val="A709F5"/>
                </a:solidFill>
                <a:latin typeface="Menlo"/>
              </a:rPr>
              <a:t>"plane.bmp"</a:t>
            </a:r>
            <a:r>
              <a:rPr lang="en-US" altLang="zh-CN" dirty="0">
                <a:latin typeface="Menlo"/>
              </a:rPr>
              <a:t>);</a:t>
            </a:r>
          </a:p>
          <a:p>
            <a:r>
              <a:rPr lang="en-US" altLang="zh-CN" dirty="0">
                <a:latin typeface="Menlo"/>
              </a:rPr>
              <a:t>A = [1 0 0; </a:t>
            </a:r>
            <a:r>
              <a:rPr lang="en-US" altLang="zh-CN" dirty="0">
                <a:solidFill>
                  <a:srgbClr val="0E00FF"/>
                </a:solidFill>
                <a:latin typeface="Menlo"/>
              </a:rPr>
              <a:t>...</a:t>
            </a:r>
            <a:endParaRPr lang="en-US" altLang="zh-CN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0 1 0; </a:t>
            </a:r>
            <a:r>
              <a:rPr lang="en-US" altLang="zh-CN" dirty="0">
                <a:solidFill>
                  <a:srgbClr val="0E00FF"/>
                </a:solidFill>
                <a:latin typeface="Menlo"/>
              </a:rPr>
              <a:t>...</a:t>
            </a:r>
            <a:endParaRPr lang="en-US" altLang="zh-CN" dirty="0">
              <a:latin typeface="Menlo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Menlo"/>
              </a:rPr>
              <a:t>0.005</a:t>
            </a:r>
            <a:r>
              <a:rPr lang="en-US" altLang="zh-CN" dirty="0">
                <a:latin typeface="Menlo"/>
              </a:rPr>
              <a:t> 0 1];</a:t>
            </a:r>
          </a:p>
          <a:p>
            <a:r>
              <a:rPr lang="en-US" altLang="zh-CN" dirty="0" err="1">
                <a:latin typeface="Menlo"/>
              </a:rPr>
              <a:t>tform</a:t>
            </a:r>
            <a:r>
              <a:rPr lang="en-US" altLang="zh-CN" dirty="0">
                <a:latin typeface="Menlo"/>
              </a:rPr>
              <a:t> = projtform2d(A);</a:t>
            </a:r>
          </a:p>
          <a:p>
            <a:r>
              <a:rPr lang="en-US" altLang="zh-CN" dirty="0">
                <a:latin typeface="Menlo"/>
              </a:rPr>
              <a:t>B1 = </a:t>
            </a:r>
            <a:r>
              <a:rPr lang="en-US" altLang="zh-CN" dirty="0" err="1">
                <a:latin typeface="Menlo"/>
              </a:rPr>
              <a:t>imwarp</a:t>
            </a:r>
            <a:r>
              <a:rPr lang="en-US" altLang="zh-CN" dirty="0">
                <a:latin typeface="Menlo"/>
              </a:rPr>
              <a:t>(</a:t>
            </a:r>
            <a:r>
              <a:rPr lang="en-US" altLang="zh-CN" dirty="0" err="1">
                <a:latin typeface="Menlo"/>
              </a:rPr>
              <a:t>im,tform</a:t>
            </a:r>
            <a:r>
              <a:rPr lang="en-US" altLang="zh-CN" dirty="0">
                <a:latin typeface="Menlo"/>
              </a:rPr>
              <a:t>);</a:t>
            </a:r>
          </a:p>
          <a:p>
            <a:r>
              <a:rPr lang="en-US" altLang="zh-CN" dirty="0" err="1">
                <a:latin typeface="Menlo"/>
              </a:rPr>
              <a:t>imshow</a:t>
            </a:r>
            <a:r>
              <a:rPr lang="en-US" altLang="zh-CN" dirty="0">
                <a:latin typeface="Menlo"/>
              </a:rPr>
              <a:t>(B1)</a:t>
            </a:r>
          </a:p>
          <a:p>
            <a:r>
              <a:rPr lang="en-US" altLang="zh-CN" dirty="0">
                <a:latin typeface="Menlo"/>
              </a:rPr>
              <a:t/>
            </a:r>
            <a:br>
              <a:rPr lang="en-US" altLang="zh-CN" dirty="0">
                <a:latin typeface="Menlo"/>
              </a:rPr>
            </a:br>
            <a:endParaRPr lang="en-US" altLang="zh-CN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A = [1 0 0; </a:t>
            </a:r>
            <a:r>
              <a:rPr lang="en-US" altLang="zh-CN" dirty="0">
                <a:solidFill>
                  <a:srgbClr val="0E00FF"/>
                </a:solidFill>
                <a:latin typeface="Menlo"/>
              </a:rPr>
              <a:t>...</a:t>
            </a:r>
            <a:endParaRPr lang="en-US" altLang="zh-CN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0 1 0; </a:t>
            </a:r>
            <a:r>
              <a:rPr lang="en-US" altLang="zh-CN" dirty="0">
                <a:solidFill>
                  <a:srgbClr val="0E00FF"/>
                </a:solidFill>
                <a:latin typeface="Menlo"/>
              </a:rPr>
              <a:t>...</a:t>
            </a:r>
            <a:endParaRPr lang="en-US" altLang="zh-CN" dirty="0">
              <a:latin typeface="Menlo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Menlo"/>
              </a:rPr>
              <a:t>0.001</a:t>
            </a:r>
            <a:r>
              <a:rPr lang="en-US" altLang="zh-CN" dirty="0">
                <a:latin typeface="Menlo"/>
              </a:rPr>
              <a:t> 0 1];</a:t>
            </a:r>
          </a:p>
          <a:p>
            <a:r>
              <a:rPr lang="en-US" altLang="zh-CN" dirty="0" err="1">
                <a:latin typeface="Menlo"/>
              </a:rPr>
              <a:t>tform</a:t>
            </a:r>
            <a:r>
              <a:rPr lang="en-US" altLang="zh-CN" dirty="0">
                <a:latin typeface="Menlo"/>
              </a:rPr>
              <a:t> = projtform2d(A);</a:t>
            </a:r>
          </a:p>
          <a:p>
            <a:r>
              <a:rPr lang="en-US" altLang="zh-CN" dirty="0">
                <a:latin typeface="Menlo"/>
              </a:rPr>
              <a:t>B2 = </a:t>
            </a:r>
            <a:r>
              <a:rPr lang="en-US" altLang="zh-CN" dirty="0" err="1">
                <a:latin typeface="Menlo"/>
              </a:rPr>
              <a:t>imwarp</a:t>
            </a:r>
            <a:r>
              <a:rPr lang="en-US" altLang="zh-CN" dirty="0">
                <a:latin typeface="Menlo"/>
              </a:rPr>
              <a:t>(</a:t>
            </a:r>
            <a:r>
              <a:rPr lang="en-US" altLang="zh-CN" dirty="0" err="1">
                <a:latin typeface="Menlo"/>
              </a:rPr>
              <a:t>im,tform</a:t>
            </a:r>
            <a:r>
              <a:rPr lang="en-US" altLang="zh-CN" dirty="0">
                <a:latin typeface="Menlo"/>
              </a:rPr>
              <a:t>);</a:t>
            </a:r>
          </a:p>
          <a:p>
            <a:r>
              <a:rPr lang="en-US" altLang="zh-CN" dirty="0">
                <a:latin typeface="Menlo"/>
              </a:rPr>
              <a:t>figure</a:t>
            </a:r>
          </a:p>
          <a:p>
            <a:r>
              <a:rPr lang="en-US" altLang="zh-CN" dirty="0" err="1">
                <a:latin typeface="Menlo"/>
              </a:rPr>
              <a:t>imshow</a:t>
            </a:r>
            <a:r>
              <a:rPr lang="en-US" altLang="zh-CN" dirty="0">
                <a:latin typeface="Menlo"/>
              </a:rPr>
              <a:t>(B2)</a:t>
            </a:r>
          </a:p>
          <a:p>
            <a:r>
              <a:rPr lang="en-US" altLang="zh-CN" dirty="0">
                <a:latin typeface="Menlo"/>
              </a:rPr>
              <a:t/>
            </a:r>
            <a:br>
              <a:rPr lang="en-US" altLang="zh-CN" dirty="0">
                <a:latin typeface="Menlo"/>
              </a:rPr>
            </a:br>
            <a:endParaRPr lang="en-US" altLang="zh-CN" dirty="0">
              <a:latin typeface="Menlo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813" y="550416"/>
            <a:ext cx="3293614" cy="33113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913" y="3861787"/>
            <a:ext cx="3128635" cy="284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2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30928" y="1335595"/>
            <a:ext cx="116889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/>
              <a:t>在MATLAB </a:t>
            </a:r>
            <a:r>
              <a:rPr lang="zh-CN" altLang="en-US" sz="2000" dirty="0" smtClean="0">
                <a:solidFill>
                  <a:srgbClr val="FF0000"/>
                </a:solidFill>
              </a:rPr>
              <a:t>函数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projtform</a:t>
            </a:r>
            <a:r>
              <a:rPr lang="zh-CN" altLang="en-US" sz="2400" b="1" dirty="0">
                <a:solidFill>
                  <a:srgbClr val="FF0000"/>
                </a:solidFill>
              </a:rPr>
              <a:t>2d </a:t>
            </a:r>
            <a:r>
              <a:rPr lang="zh-CN" altLang="en-US" sz="2000" dirty="0" smtClean="0"/>
              <a:t>创建</a:t>
            </a:r>
            <a:r>
              <a:rPr lang="zh-CN" altLang="en-US" sz="2000" dirty="0"/>
              <a:t>二维投影变换对象，它实现的</a:t>
            </a:r>
            <a:r>
              <a:rPr lang="zh-CN" altLang="en-US" sz="2000" dirty="0" smtClean="0"/>
              <a:t>是单</a:t>
            </a:r>
            <a:r>
              <a:rPr lang="zh-CN" altLang="en-US" sz="2000" dirty="0"/>
              <a:t>应性变换（</a:t>
            </a:r>
            <a:r>
              <a:rPr lang="zh-CN" altLang="en-US" sz="2000" dirty="0" smtClean="0"/>
              <a:t>Homography</a:t>
            </a:r>
            <a:endParaRPr lang="zh-CN" altLang="en-US" sz="20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0" y="2636668"/>
            <a:ext cx="10206999" cy="2718011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60869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03976"/>
            <a:ext cx="7592720" cy="2540503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92" y="218475"/>
            <a:ext cx="3504878" cy="340370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652601" y="574433"/>
            <a:ext cx="3228513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enlo"/>
              </a:rPr>
              <a:t>close </a:t>
            </a:r>
            <a:r>
              <a:rPr lang="en-US" altLang="zh-CN" sz="1400" dirty="0" err="1">
                <a:solidFill>
                  <a:srgbClr val="A709F5"/>
                </a:solidFill>
                <a:latin typeface="Menlo"/>
              </a:rPr>
              <a:t>all</a:t>
            </a:r>
            <a:r>
              <a:rPr lang="en-US" altLang="zh-CN" sz="1400" dirty="0" err="1">
                <a:latin typeface="Menlo"/>
              </a:rPr>
              <a:t>;clear</a:t>
            </a:r>
            <a:r>
              <a:rPr lang="en-US" altLang="zh-CN" sz="1400" dirty="0">
                <a:latin typeface="Menlo"/>
              </a:rPr>
              <a:t> </a:t>
            </a:r>
            <a:r>
              <a:rPr lang="en-US" altLang="zh-CN" sz="1400" dirty="0" err="1">
                <a:solidFill>
                  <a:srgbClr val="A709F5"/>
                </a:solidFill>
                <a:latin typeface="Menlo"/>
              </a:rPr>
              <a:t>all</a:t>
            </a:r>
            <a:r>
              <a:rPr lang="en-US" altLang="zh-CN" sz="1400" dirty="0" err="1">
                <a:latin typeface="Menlo"/>
              </a:rPr>
              <a:t>;clc</a:t>
            </a:r>
            <a:r>
              <a:rPr lang="en-US" altLang="zh-CN" sz="1400" dirty="0">
                <a:latin typeface="Menlo"/>
              </a:rPr>
              <a:t>;</a:t>
            </a:r>
          </a:p>
          <a:p>
            <a:r>
              <a:rPr lang="en-US" altLang="zh-CN" sz="1400" dirty="0" err="1">
                <a:latin typeface="Menlo"/>
              </a:rPr>
              <a:t>im</a:t>
            </a:r>
            <a:r>
              <a:rPr lang="en-US" altLang="zh-CN" sz="1400" dirty="0">
                <a:latin typeface="Menlo"/>
              </a:rPr>
              <a:t>=</a:t>
            </a:r>
            <a:r>
              <a:rPr lang="en-US" altLang="zh-CN" sz="1400" dirty="0" err="1">
                <a:latin typeface="Menlo"/>
              </a:rPr>
              <a:t>imread</a:t>
            </a:r>
            <a:r>
              <a:rPr lang="en-US" altLang="zh-CN" sz="1400" dirty="0">
                <a:latin typeface="Menlo"/>
              </a:rPr>
              <a:t>(</a:t>
            </a:r>
            <a:r>
              <a:rPr lang="en-US" altLang="zh-CN" sz="1400" dirty="0">
                <a:solidFill>
                  <a:srgbClr val="A709F5"/>
                </a:solidFill>
                <a:latin typeface="Menlo"/>
              </a:rPr>
              <a:t>"plane.bmp"</a:t>
            </a:r>
            <a:r>
              <a:rPr lang="en-US" altLang="zh-CN" sz="1400" dirty="0">
                <a:latin typeface="Menlo"/>
              </a:rPr>
              <a:t>);</a:t>
            </a:r>
          </a:p>
          <a:p>
            <a:r>
              <a:rPr lang="en-US" altLang="zh-CN" sz="1400" dirty="0">
                <a:latin typeface="Menlo"/>
              </a:rPr>
              <a:t>A = [1.2, 0.3, -50;</a:t>
            </a:r>
          </a:p>
          <a:p>
            <a:r>
              <a:rPr lang="en-US" altLang="zh-CN" sz="1400" dirty="0">
                <a:latin typeface="Menlo"/>
              </a:rPr>
              <a:t>0.1, 1.1, -30;</a:t>
            </a:r>
          </a:p>
          <a:p>
            <a:r>
              <a:rPr lang="en-US" altLang="zh-CN" sz="1400" dirty="0">
                <a:latin typeface="Menlo"/>
              </a:rPr>
              <a:t>0.002, 0.001, 1];</a:t>
            </a:r>
          </a:p>
          <a:p>
            <a:r>
              <a:rPr lang="en-US" altLang="zh-CN" sz="1400" dirty="0">
                <a:latin typeface="Menlo"/>
              </a:rPr>
              <a:t/>
            </a:r>
            <a:br>
              <a:rPr lang="en-US" altLang="zh-CN" sz="1400" dirty="0">
                <a:latin typeface="Menlo"/>
              </a:rPr>
            </a:br>
            <a:r>
              <a:rPr lang="en-US" altLang="zh-CN" sz="1400" dirty="0" err="1" smtClean="0">
                <a:latin typeface="Menlo"/>
              </a:rPr>
              <a:t>tform</a:t>
            </a:r>
            <a:r>
              <a:rPr lang="en-US" altLang="zh-CN" sz="1400" dirty="0" smtClean="0">
                <a:latin typeface="Menlo"/>
              </a:rPr>
              <a:t> </a:t>
            </a:r>
            <a:r>
              <a:rPr lang="en-US" altLang="zh-CN" sz="1400" dirty="0">
                <a:latin typeface="Menlo"/>
              </a:rPr>
              <a:t>= projtform2d(A);</a:t>
            </a:r>
          </a:p>
          <a:p>
            <a:r>
              <a:rPr lang="en-US" altLang="zh-CN" sz="1400" dirty="0">
                <a:latin typeface="Menlo"/>
              </a:rPr>
              <a:t>B1 = </a:t>
            </a:r>
            <a:r>
              <a:rPr lang="en-US" altLang="zh-CN" sz="1400" dirty="0" err="1">
                <a:latin typeface="Menlo"/>
              </a:rPr>
              <a:t>imwarp</a:t>
            </a:r>
            <a:r>
              <a:rPr lang="en-US" altLang="zh-CN" sz="1400" dirty="0">
                <a:latin typeface="Menlo"/>
              </a:rPr>
              <a:t>(</a:t>
            </a:r>
            <a:r>
              <a:rPr lang="en-US" altLang="zh-CN" sz="1400" dirty="0" err="1">
                <a:latin typeface="Menlo"/>
              </a:rPr>
              <a:t>im,tform</a:t>
            </a:r>
            <a:r>
              <a:rPr lang="en-US" altLang="zh-CN" sz="1400" dirty="0">
                <a:latin typeface="Menlo"/>
              </a:rPr>
              <a:t>);</a:t>
            </a:r>
          </a:p>
          <a:p>
            <a:r>
              <a:rPr lang="en-US" altLang="zh-CN" sz="1400" dirty="0" err="1">
                <a:latin typeface="Menlo"/>
              </a:rPr>
              <a:t>imshow</a:t>
            </a:r>
            <a:r>
              <a:rPr lang="en-US" altLang="zh-CN" sz="1400" dirty="0">
                <a:latin typeface="Menlo"/>
              </a:rPr>
              <a:t>(B1)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211" y="292639"/>
            <a:ext cx="3633390" cy="311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4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95451" y="496863"/>
            <a:ext cx="4496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-apple-system"/>
              </a:rPr>
              <a:t>单应变换（</a:t>
            </a:r>
            <a:r>
              <a:rPr lang="en-US" altLang="zh-CN" sz="2800" b="1" dirty="0" err="1">
                <a:solidFill>
                  <a:srgbClr val="0000FF"/>
                </a:solidFill>
                <a:latin typeface="-apple-system"/>
              </a:rPr>
              <a:t>Homography</a:t>
            </a:r>
            <a:r>
              <a:rPr lang="zh-CN" altLang="en-US" sz="2800" b="1" dirty="0">
                <a:solidFill>
                  <a:srgbClr val="0000FF"/>
                </a:solidFill>
                <a:latin typeface="-apple-system"/>
              </a:rPr>
              <a:t>）</a:t>
            </a:r>
            <a:endParaRPr lang="zh-CN" altLang="en-US" sz="2800" b="1" i="0" dirty="0">
              <a:solidFill>
                <a:srgbClr val="0000FF"/>
              </a:solidFill>
              <a:effectLst/>
              <a:latin typeface="-apple-system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384" y="5223942"/>
            <a:ext cx="5606156" cy="1568437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738152" y="5903651"/>
            <a:ext cx="7190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738152" y="6331258"/>
            <a:ext cx="7190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117368" y="5223942"/>
            <a:ext cx="781235" cy="3246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09" y="1341452"/>
            <a:ext cx="5419585" cy="40447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384" y="965349"/>
            <a:ext cx="4460271" cy="380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3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278" y="4022996"/>
            <a:ext cx="4420755" cy="179922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78" y="5842813"/>
            <a:ext cx="4686716" cy="2829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40" y="4022996"/>
            <a:ext cx="5868740" cy="188832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40" y="360995"/>
            <a:ext cx="8516368" cy="32627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76644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34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2310" y="680402"/>
            <a:ext cx="1097519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单应矩阵（Homography）成立的前提是</a:t>
            </a:r>
            <a:r>
              <a:rPr lang="zh-CN" altLang="en-US" sz="1600" dirty="0" smtClean="0"/>
              <a:t>：场景</a:t>
            </a:r>
            <a:r>
              <a:rPr lang="zh-CN" altLang="en-US" sz="1600" dirty="0"/>
              <a:t>中的点位于同一个物理平面上（或相机纯旋转无平移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只有部分区域重叠（如墙角、天花板交界线）并不妨碍使用单应变换来描述重叠区域内的像素对应关系。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单应变换描述的是：在两个视图中都可见的平面上的点之间的坐标映射关系。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它并不要求两幅图像完全覆盖同一区域，或所有点都在两幅图中出现，只需要有足够的共视特征点（通常4对以上）即可估计单应矩阵。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一旦估计出单应矩阵，可以施加到整个目的图像（图像的各个部分隶属于同一幅图像，具有整体性和集体性）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27" y="3660745"/>
            <a:ext cx="6239250" cy="261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8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47518" y="1008876"/>
            <a:ext cx="109751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如果</a:t>
            </a:r>
            <a:r>
              <a:rPr lang="zh-CN" altLang="en-US" dirty="0"/>
              <a:t>场景是三维的、有深度变化（如一个立方体），则两幅图像之间的像素对应关系不能用单应矩阵完全描述，而需要</a:t>
            </a:r>
            <a:r>
              <a:rPr lang="zh-CN" altLang="en-US" b="1" dirty="0">
                <a:solidFill>
                  <a:srgbClr val="FF0000"/>
                </a:solidFill>
              </a:rPr>
              <a:t>基础矩阵（Fundamental Matrix）</a:t>
            </a:r>
            <a:r>
              <a:rPr lang="zh-CN" altLang="en-US" dirty="0"/>
              <a:t>或本质矩阵（Essential Matrix）。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49" y="2325202"/>
            <a:ext cx="8121065" cy="32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9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71" y="1680629"/>
            <a:ext cx="5825379" cy="4403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976" y="2006831"/>
            <a:ext cx="4590505" cy="41836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44824" y="655598"/>
            <a:ext cx="77028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基础</a:t>
            </a:r>
            <a:r>
              <a:rPr lang="zh-CN" altLang="en-US" sz="2000" b="1" dirty="0">
                <a:solidFill>
                  <a:srgbClr val="FF0000"/>
                </a:solidFill>
              </a:rPr>
              <a:t>矩阵（Fundamental Matrix）</a:t>
            </a:r>
            <a:r>
              <a:rPr lang="zh-CN" altLang="en-US" sz="2000" b="1" dirty="0"/>
              <a:t>或本质矩阵（Essential Matrix）。</a:t>
            </a:r>
          </a:p>
        </p:txBody>
      </p:sp>
    </p:spTree>
    <p:extLst>
      <p:ext uri="{BB962C8B-B14F-4D97-AF65-F5344CB8AC3E}">
        <p14:creationId xmlns:p14="http://schemas.microsoft.com/office/powerpoint/2010/main" val="2515825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554</Words>
  <Application>Microsoft Office PowerPoint</Application>
  <PresentationFormat>宽屏</PresentationFormat>
  <Paragraphs>55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-apple-system</vt:lpstr>
      <vt:lpstr>KaTeX_Math</vt:lpstr>
      <vt:lpstr>Menlo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32</cp:revision>
  <dcterms:created xsi:type="dcterms:W3CDTF">2024-05-13T13:25:32Z</dcterms:created>
  <dcterms:modified xsi:type="dcterms:W3CDTF">2025-09-27T14:53:36Z</dcterms:modified>
</cp:coreProperties>
</file>