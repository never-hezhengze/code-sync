
<file path=[Content_Types].xml><?xml version="1.0" encoding="utf-8"?>
<Types xmlns="http://schemas.openxmlformats.org/package/2006/content-types">
  <Default Extension="jpeg" ContentType="image/jpeg"/>
  <Default Extension="JPG" ContentType="image/.jpg"/>
  <Default Extension="vml" ContentType="application/vnd.openxmlformats-officedocument.vmlDrawing"/>
  <Default Extension="bin" ContentType="application/vnd.openxmlformats-officedocument.oleObject"/>
  <Default Extension="wav" ContentType="audio/x-wav"/>
  <Default Extension="wmf" ContentType="image/x-wmf"/>
  <Default Extension="emf" ContentType="image/x-emf"/>
  <Default Extension="png" ContentType="image/png"/>
  <Default Extension="gif" ContentType="image/gi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8" r:id="rId3"/>
    <p:sldId id="259" r:id="rId5"/>
    <p:sldId id="261" r:id="rId6"/>
    <p:sldId id="269" r:id="rId7"/>
    <p:sldId id="262" r:id="rId8"/>
    <p:sldId id="263" r:id="rId9"/>
    <p:sldId id="264" r:id="rId10"/>
    <p:sldId id="265" r:id="rId11"/>
    <p:sldId id="266" r:id="rId12"/>
    <p:sldId id="267" r:id="rId13"/>
    <p:sldId id="268" r:id="rId14"/>
    <p:sldId id="494" r:id="rId15"/>
    <p:sldId id="270" r:id="rId16"/>
    <p:sldId id="271" r:id="rId17"/>
    <p:sldId id="272" r:id="rId18"/>
    <p:sldId id="277" r:id="rId19"/>
    <p:sldId id="278" r:id="rId20"/>
    <p:sldId id="279" r:id="rId21"/>
    <p:sldId id="280" r:id="rId22"/>
    <p:sldId id="281" r:id="rId23"/>
    <p:sldId id="282" r:id="rId24"/>
    <p:sldId id="283" r:id="rId25"/>
    <p:sldId id="284" r:id="rId26"/>
    <p:sldId id="285" r:id="rId27"/>
    <p:sldId id="286" r:id="rId28"/>
    <p:sldId id="287" r:id="rId29"/>
    <p:sldId id="288" r:id="rId30"/>
    <p:sldId id="289" r:id="rId31"/>
    <p:sldId id="290" r:id="rId32"/>
    <p:sldId id="291" r:id="rId33"/>
    <p:sldId id="292" r:id="rId34"/>
    <p:sldId id="293" r:id="rId35"/>
    <p:sldId id="294" r:id="rId36"/>
    <p:sldId id="295" r:id="rId37"/>
    <p:sldId id="296" r:id="rId38"/>
    <p:sldId id="297" r:id="rId39"/>
    <p:sldId id="300" r:id="rId40"/>
    <p:sldId id="301" r:id="rId41"/>
    <p:sldId id="302" r:id="rId42"/>
    <p:sldId id="303" r:id="rId43"/>
    <p:sldId id="304" r:id="rId44"/>
    <p:sldId id="305" r:id="rId45"/>
    <p:sldId id="306" r:id="rId46"/>
    <p:sldId id="307" r:id="rId47"/>
    <p:sldId id="308" r:id="rId48"/>
    <p:sldId id="309" r:id="rId49"/>
    <p:sldId id="310" r:id="rId50"/>
    <p:sldId id="311" r:id="rId51"/>
    <p:sldId id="312" r:id="rId52"/>
    <p:sldId id="313" r:id="rId53"/>
    <p:sldId id="314" r:id="rId54"/>
    <p:sldId id="315" r:id="rId55"/>
    <p:sldId id="316" r:id="rId56"/>
    <p:sldId id="317" r:id="rId57"/>
    <p:sldId id="318" r:id="rId58"/>
    <p:sldId id="319" r:id="rId59"/>
    <p:sldId id="320" r:id="rId60"/>
    <p:sldId id="321" r:id="rId61"/>
    <p:sldId id="322" r:id="rId62"/>
    <p:sldId id="323" r:id="rId63"/>
    <p:sldId id="324" r:id="rId64"/>
    <p:sldId id="274" r:id="rId65"/>
    <p:sldId id="275" r:id="rId66"/>
    <p:sldId id="276" r:id="rId67"/>
    <p:sldId id="325" r:id="rId68"/>
    <p:sldId id="326" r:id="rId69"/>
    <p:sldId id="495" r:id="rId70"/>
    <p:sldId id="329" r:id="rId71"/>
    <p:sldId id="330" r:id="rId72"/>
    <p:sldId id="349" r:id="rId73"/>
    <p:sldId id="350" r:id="rId74"/>
    <p:sldId id="351" r:id="rId75"/>
    <p:sldId id="352" r:id="rId76"/>
    <p:sldId id="353" r:id="rId77"/>
    <p:sldId id="354" r:id="rId78"/>
    <p:sldId id="355" r:id="rId79"/>
    <p:sldId id="356" r:id="rId80"/>
    <p:sldId id="357" r:id="rId81"/>
    <p:sldId id="358" r:id="rId82"/>
    <p:sldId id="359" r:id="rId83"/>
    <p:sldId id="360" r:id="rId84"/>
    <p:sldId id="361" r:id="rId85"/>
    <p:sldId id="362" r:id="rId86"/>
    <p:sldId id="363" r:id="rId87"/>
    <p:sldId id="364" r:id="rId88"/>
    <p:sldId id="365" r:id="rId89"/>
    <p:sldId id="366" r:id="rId90"/>
    <p:sldId id="367" r:id="rId91"/>
    <p:sldId id="368" r:id="rId92"/>
    <p:sldId id="369" r:id="rId93"/>
    <p:sldId id="370" r:id="rId94"/>
    <p:sldId id="371" r:id="rId95"/>
    <p:sldId id="372" r:id="rId96"/>
    <p:sldId id="373" r:id="rId97"/>
    <p:sldId id="374" r:id="rId98"/>
    <p:sldId id="375" r:id="rId99"/>
    <p:sldId id="377" r:id="rId100"/>
    <p:sldId id="378" r:id="rId101"/>
    <p:sldId id="379" r:id="rId102"/>
    <p:sldId id="380" r:id="rId103"/>
    <p:sldId id="381" r:id="rId104"/>
    <p:sldId id="382" r:id="rId105"/>
    <p:sldId id="383" r:id="rId106"/>
    <p:sldId id="384" r:id="rId107"/>
    <p:sldId id="385" r:id="rId108"/>
    <p:sldId id="386" r:id="rId109"/>
    <p:sldId id="387" r:id="rId110"/>
    <p:sldId id="388" r:id="rId111"/>
    <p:sldId id="389" r:id="rId112"/>
    <p:sldId id="390" r:id="rId113"/>
    <p:sldId id="391" r:id="rId114"/>
    <p:sldId id="392" r:id="rId115"/>
    <p:sldId id="393" r:id="rId116"/>
    <p:sldId id="394" r:id="rId117"/>
    <p:sldId id="395" r:id="rId118"/>
    <p:sldId id="396" r:id="rId119"/>
    <p:sldId id="397" r:id="rId120"/>
    <p:sldId id="398" r:id="rId121"/>
    <p:sldId id="399" r:id="rId122"/>
    <p:sldId id="400" r:id="rId123"/>
    <p:sldId id="401" r:id="rId124"/>
    <p:sldId id="402" r:id="rId125"/>
    <p:sldId id="403" r:id="rId126"/>
    <p:sldId id="404" r:id="rId127"/>
    <p:sldId id="405" r:id="rId128"/>
    <p:sldId id="406" r:id="rId129"/>
    <p:sldId id="407" r:id="rId130"/>
    <p:sldId id="408" r:id="rId131"/>
    <p:sldId id="409" r:id="rId132"/>
    <p:sldId id="410" r:id="rId133"/>
    <p:sldId id="411" r:id="rId134"/>
    <p:sldId id="412" r:id="rId135"/>
    <p:sldId id="496" r:id="rId136"/>
    <p:sldId id="414" r:id="rId137"/>
    <p:sldId id="415" r:id="rId138"/>
    <p:sldId id="416" r:id="rId139"/>
    <p:sldId id="417" r:id="rId140"/>
    <p:sldId id="418" r:id="rId141"/>
    <p:sldId id="419" r:id="rId142"/>
    <p:sldId id="420" r:id="rId143"/>
    <p:sldId id="421" r:id="rId144"/>
    <p:sldId id="422" r:id="rId145"/>
    <p:sldId id="423" r:id="rId146"/>
    <p:sldId id="424" r:id="rId147"/>
    <p:sldId id="425" r:id="rId148"/>
    <p:sldId id="426" r:id="rId149"/>
    <p:sldId id="427" r:id="rId150"/>
    <p:sldId id="428" r:id="rId151"/>
    <p:sldId id="429" r:id="rId152"/>
    <p:sldId id="430" r:id="rId153"/>
    <p:sldId id="431" r:id="rId154"/>
    <p:sldId id="432" r:id="rId155"/>
    <p:sldId id="433" r:id="rId156"/>
    <p:sldId id="434" r:id="rId157"/>
    <p:sldId id="435" r:id="rId158"/>
    <p:sldId id="436" r:id="rId159"/>
    <p:sldId id="437" r:id="rId160"/>
    <p:sldId id="438" r:id="rId161"/>
    <p:sldId id="439" r:id="rId162"/>
    <p:sldId id="440" r:id="rId163"/>
    <p:sldId id="441" r:id="rId164"/>
    <p:sldId id="442" r:id="rId165"/>
    <p:sldId id="443" r:id="rId166"/>
    <p:sldId id="444" r:id="rId167"/>
    <p:sldId id="445" r:id="rId168"/>
    <p:sldId id="446" r:id="rId169"/>
    <p:sldId id="447" r:id="rId170"/>
    <p:sldId id="448" r:id="rId171"/>
    <p:sldId id="449" r:id="rId172"/>
    <p:sldId id="450" r:id="rId173"/>
    <p:sldId id="451" r:id="rId174"/>
    <p:sldId id="452" r:id="rId175"/>
    <p:sldId id="453" r:id="rId176"/>
    <p:sldId id="454" r:id="rId177"/>
    <p:sldId id="455" r:id="rId178"/>
    <p:sldId id="456" r:id="rId179"/>
    <p:sldId id="457" r:id="rId180"/>
    <p:sldId id="458" r:id="rId181"/>
    <p:sldId id="459" r:id="rId182"/>
    <p:sldId id="460" r:id="rId183"/>
    <p:sldId id="461" r:id="rId184"/>
    <p:sldId id="462" r:id="rId185"/>
    <p:sldId id="463" r:id="rId186"/>
    <p:sldId id="464" r:id="rId187"/>
    <p:sldId id="465" r:id="rId188"/>
    <p:sldId id="466" r:id="rId189"/>
    <p:sldId id="467" r:id="rId190"/>
    <p:sldId id="468" r:id="rId191"/>
    <p:sldId id="469" r:id="rId192"/>
    <p:sldId id="470" r:id="rId193"/>
    <p:sldId id="471" r:id="rId194"/>
    <p:sldId id="472" r:id="rId195"/>
    <p:sldId id="473" r:id="rId196"/>
    <p:sldId id="474" r:id="rId197"/>
    <p:sldId id="475" r:id="rId198"/>
    <p:sldId id="476" r:id="rId199"/>
    <p:sldId id="477" r:id="rId200"/>
    <p:sldId id="478" r:id="rId201"/>
    <p:sldId id="479" r:id="rId202"/>
    <p:sldId id="480" r:id="rId203"/>
    <p:sldId id="481" r:id="rId204"/>
    <p:sldId id="482" r:id="rId205"/>
    <p:sldId id="483" r:id="rId206"/>
    <p:sldId id="484" r:id="rId207"/>
    <p:sldId id="485" r:id="rId208"/>
    <p:sldId id="486" r:id="rId209"/>
    <p:sldId id="487" r:id="rId210"/>
    <p:sldId id="488" r:id="rId211"/>
    <p:sldId id="489" r:id="rId212"/>
    <p:sldId id="490" r:id="rId213"/>
    <p:sldId id="491" r:id="rId214"/>
    <p:sldId id="492" r:id="rId215"/>
    <p:sldId id="493" r:id="rId216"/>
  </p:sldIdLst>
  <p:sldSz cx="9144000" cy="6858000" type="screen4x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8" d="100"/>
          <a:sy n="108" d="100"/>
        </p:scale>
        <p:origin x="1704"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9" Type="http://schemas.openxmlformats.org/officeDocument/2006/relationships/slide" Target="slides/slide96.xml"/><Relationship Id="rId98" Type="http://schemas.openxmlformats.org/officeDocument/2006/relationships/slide" Target="slides/slide95.xml"/><Relationship Id="rId97" Type="http://schemas.openxmlformats.org/officeDocument/2006/relationships/slide" Target="slides/slide94.xml"/><Relationship Id="rId96" Type="http://schemas.openxmlformats.org/officeDocument/2006/relationships/slide" Target="slides/slide93.xml"/><Relationship Id="rId95" Type="http://schemas.openxmlformats.org/officeDocument/2006/relationships/slide" Target="slides/slide92.xml"/><Relationship Id="rId94" Type="http://schemas.openxmlformats.org/officeDocument/2006/relationships/slide" Target="slides/slide91.xml"/><Relationship Id="rId93" Type="http://schemas.openxmlformats.org/officeDocument/2006/relationships/slide" Target="slides/slide90.xml"/><Relationship Id="rId92" Type="http://schemas.openxmlformats.org/officeDocument/2006/relationships/slide" Target="slides/slide89.xml"/><Relationship Id="rId91" Type="http://schemas.openxmlformats.org/officeDocument/2006/relationships/slide" Target="slides/slide88.xml"/><Relationship Id="rId90" Type="http://schemas.openxmlformats.org/officeDocument/2006/relationships/slide" Target="slides/slide87.xml"/><Relationship Id="rId9" Type="http://schemas.openxmlformats.org/officeDocument/2006/relationships/slide" Target="slides/slide6.xml"/><Relationship Id="rId89" Type="http://schemas.openxmlformats.org/officeDocument/2006/relationships/slide" Target="slides/slide86.xml"/><Relationship Id="rId88" Type="http://schemas.openxmlformats.org/officeDocument/2006/relationships/slide" Target="slides/slide85.xml"/><Relationship Id="rId87" Type="http://schemas.openxmlformats.org/officeDocument/2006/relationships/slide" Target="slides/slide84.xml"/><Relationship Id="rId86" Type="http://schemas.openxmlformats.org/officeDocument/2006/relationships/slide" Target="slides/slide83.xml"/><Relationship Id="rId85" Type="http://schemas.openxmlformats.org/officeDocument/2006/relationships/slide" Target="slides/slide82.xml"/><Relationship Id="rId84" Type="http://schemas.openxmlformats.org/officeDocument/2006/relationships/slide" Target="slides/slide81.xml"/><Relationship Id="rId83" Type="http://schemas.openxmlformats.org/officeDocument/2006/relationships/slide" Target="slides/slide80.xml"/><Relationship Id="rId82" Type="http://schemas.openxmlformats.org/officeDocument/2006/relationships/slide" Target="slides/slide79.xml"/><Relationship Id="rId81" Type="http://schemas.openxmlformats.org/officeDocument/2006/relationships/slide" Target="slides/slide78.xml"/><Relationship Id="rId80" Type="http://schemas.openxmlformats.org/officeDocument/2006/relationships/slide" Target="slides/slide77.xml"/><Relationship Id="rId8" Type="http://schemas.openxmlformats.org/officeDocument/2006/relationships/slide" Target="slides/slide5.xml"/><Relationship Id="rId79" Type="http://schemas.openxmlformats.org/officeDocument/2006/relationships/slide" Target="slides/slide76.xml"/><Relationship Id="rId78" Type="http://schemas.openxmlformats.org/officeDocument/2006/relationships/slide" Target="slides/slide75.xml"/><Relationship Id="rId77" Type="http://schemas.openxmlformats.org/officeDocument/2006/relationships/slide" Target="slides/slide74.xml"/><Relationship Id="rId76" Type="http://schemas.openxmlformats.org/officeDocument/2006/relationships/slide" Target="slides/slide73.xml"/><Relationship Id="rId75" Type="http://schemas.openxmlformats.org/officeDocument/2006/relationships/slide" Target="slides/slide72.xml"/><Relationship Id="rId74" Type="http://schemas.openxmlformats.org/officeDocument/2006/relationships/slide" Target="slides/slide71.xml"/><Relationship Id="rId73" Type="http://schemas.openxmlformats.org/officeDocument/2006/relationships/slide" Target="slides/slide70.xml"/><Relationship Id="rId72" Type="http://schemas.openxmlformats.org/officeDocument/2006/relationships/slide" Target="slides/slide69.xml"/><Relationship Id="rId71" Type="http://schemas.openxmlformats.org/officeDocument/2006/relationships/slide" Target="slides/slide68.xml"/><Relationship Id="rId70" Type="http://schemas.openxmlformats.org/officeDocument/2006/relationships/slide" Target="slides/slide67.xml"/><Relationship Id="rId7" Type="http://schemas.openxmlformats.org/officeDocument/2006/relationships/slide" Target="slides/slide4.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9" Type="http://schemas.openxmlformats.org/officeDocument/2006/relationships/tableStyles" Target="tableStyles.xml"/><Relationship Id="rId218" Type="http://schemas.openxmlformats.org/officeDocument/2006/relationships/viewProps" Target="viewProps.xml"/><Relationship Id="rId217" Type="http://schemas.openxmlformats.org/officeDocument/2006/relationships/presProps" Target="presProps.xml"/><Relationship Id="rId216" Type="http://schemas.openxmlformats.org/officeDocument/2006/relationships/slide" Target="slides/slide213.xml"/><Relationship Id="rId215" Type="http://schemas.openxmlformats.org/officeDocument/2006/relationships/slide" Target="slides/slide212.xml"/><Relationship Id="rId214" Type="http://schemas.openxmlformats.org/officeDocument/2006/relationships/slide" Target="slides/slide211.xml"/><Relationship Id="rId213" Type="http://schemas.openxmlformats.org/officeDocument/2006/relationships/slide" Target="slides/slide210.xml"/><Relationship Id="rId212" Type="http://schemas.openxmlformats.org/officeDocument/2006/relationships/slide" Target="slides/slide209.xml"/><Relationship Id="rId211" Type="http://schemas.openxmlformats.org/officeDocument/2006/relationships/slide" Target="slides/slide208.xml"/><Relationship Id="rId210" Type="http://schemas.openxmlformats.org/officeDocument/2006/relationships/slide" Target="slides/slide207.xml"/><Relationship Id="rId21" Type="http://schemas.openxmlformats.org/officeDocument/2006/relationships/slide" Target="slides/slide18.xml"/><Relationship Id="rId209" Type="http://schemas.openxmlformats.org/officeDocument/2006/relationships/slide" Target="slides/slide206.xml"/><Relationship Id="rId208" Type="http://schemas.openxmlformats.org/officeDocument/2006/relationships/slide" Target="slides/slide205.xml"/><Relationship Id="rId207" Type="http://schemas.openxmlformats.org/officeDocument/2006/relationships/slide" Target="slides/slide204.xml"/><Relationship Id="rId206" Type="http://schemas.openxmlformats.org/officeDocument/2006/relationships/slide" Target="slides/slide203.xml"/><Relationship Id="rId205" Type="http://schemas.openxmlformats.org/officeDocument/2006/relationships/slide" Target="slides/slide202.xml"/><Relationship Id="rId204" Type="http://schemas.openxmlformats.org/officeDocument/2006/relationships/slide" Target="slides/slide201.xml"/><Relationship Id="rId203" Type="http://schemas.openxmlformats.org/officeDocument/2006/relationships/slide" Target="slides/slide200.xml"/><Relationship Id="rId202" Type="http://schemas.openxmlformats.org/officeDocument/2006/relationships/slide" Target="slides/slide199.xml"/><Relationship Id="rId201" Type="http://schemas.openxmlformats.org/officeDocument/2006/relationships/slide" Target="slides/slide198.xml"/><Relationship Id="rId200" Type="http://schemas.openxmlformats.org/officeDocument/2006/relationships/slide" Target="slides/slide197.xml"/><Relationship Id="rId20" Type="http://schemas.openxmlformats.org/officeDocument/2006/relationships/slide" Target="slides/slide17.xml"/><Relationship Id="rId2" Type="http://schemas.openxmlformats.org/officeDocument/2006/relationships/theme" Target="theme/theme1.xml"/><Relationship Id="rId199" Type="http://schemas.openxmlformats.org/officeDocument/2006/relationships/slide" Target="slides/slide196.xml"/><Relationship Id="rId198" Type="http://schemas.openxmlformats.org/officeDocument/2006/relationships/slide" Target="slides/slide195.xml"/><Relationship Id="rId197" Type="http://schemas.openxmlformats.org/officeDocument/2006/relationships/slide" Target="slides/slide194.xml"/><Relationship Id="rId196" Type="http://schemas.openxmlformats.org/officeDocument/2006/relationships/slide" Target="slides/slide193.xml"/><Relationship Id="rId195" Type="http://schemas.openxmlformats.org/officeDocument/2006/relationships/slide" Target="slides/slide192.xml"/><Relationship Id="rId194" Type="http://schemas.openxmlformats.org/officeDocument/2006/relationships/slide" Target="slides/slide191.xml"/><Relationship Id="rId193" Type="http://schemas.openxmlformats.org/officeDocument/2006/relationships/slide" Target="slides/slide190.xml"/><Relationship Id="rId192" Type="http://schemas.openxmlformats.org/officeDocument/2006/relationships/slide" Target="slides/slide189.xml"/><Relationship Id="rId191" Type="http://schemas.openxmlformats.org/officeDocument/2006/relationships/slide" Target="slides/slide188.xml"/><Relationship Id="rId190" Type="http://schemas.openxmlformats.org/officeDocument/2006/relationships/slide" Target="slides/slide187.xml"/><Relationship Id="rId19" Type="http://schemas.openxmlformats.org/officeDocument/2006/relationships/slide" Target="slides/slide16.xml"/><Relationship Id="rId189" Type="http://schemas.openxmlformats.org/officeDocument/2006/relationships/slide" Target="slides/slide186.xml"/><Relationship Id="rId188" Type="http://schemas.openxmlformats.org/officeDocument/2006/relationships/slide" Target="slides/slide185.xml"/><Relationship Id="rId187" Type="http://schemas.openxmlformats.org/officeDocument/2006/relationships/slide" Target="slides/slide184.xml"/><Relationship Id="rId186" Type="http://schemas.openxmlformats.org/officeDocument/2006/relationships/slide" Target="slides/slide183.xml"/><Relationship Id="rId185" Type="http://schemas.openxmlformats.org/officeDocument/2006/relationships/slide" Target="slides/slide182.xml"/><Relationship Id="rId184" Type="http://schemas.openxmlformats.org/officeDocument/2006/relationships/slide" Target="slides/slide181.xml"/><Relationship Id="rId183" Type="http://schemas.openxmlformats.org/officeDocument/2006/relationships/slide" Target="slides/slide180.xml"/><Relationship Id="rId182" Type="http://schemas.openxmlformats.org/officeDocument/2006/relationships/slide" Target="slides/slide179.xml"/><Relationship Id="rId181" Type="http://schemas.openxmlformats.org/officeDocument/2006/relationships/slide" Target="slides/slide178.xml"/><Relationship Id="rId180" Type="http://schemas.openxmlformats.org/officeDocument/2006/relationships/slide" Target="slides/slide177.xml"/><Relationship Id="rId18" Type="http://schemas.openxmlformats.org/officeDocument/2006/relationships/slide" Target="slides/slide15.xml"/><Relationship Id="rId179" Type="http://schemas.openxmlformats.org/officeDocument/2006/relationships/slide" Target="slides/slide176.xml"/><Relationship Id="rId178" Type="http://schemas.openxmlformats.org/officeDocument/2006/relationships/slide" Target="slides/slide175.xml"/><Relationship Id="rId177" Type="http://schemas.openxmlformats.org/officeDocument/2006/relationships/slide" Target="slides/slide174.xml"/><Relationship Id="rId176" Type="http://schemas.openxmlformats.org/officeDocument/2006/relationships/slide" Target="slides/slide173.xml"/><Relationship Id="rId175" Type="http://schemas.openxmlformats.org/officeDocument/2006/relationships/slide" Target="slides/slide172.xml"/><Relationship Id="rId174" Type="http://schemas.openxmlformats.org/officeDocument/2006/relationships/slide" Target="slides/slide171.xml"/><Relationship Id="rId173" Type="http://schemas.openxmlformats.org/officeDocument/2006/relationships/slide" Target="slides/slide170.xml"/><Relationship Id="rId172" Type="http://schemas.openxmlformats.org/officeDocument/2006/relationships/slide" Target="slides/slide169.xml"/><Relationship Id="rId171" Type="http://schemas.openxmlformats.org/officeDocument/2006/relationships/slide" Target="slides/slide168.xml"/><Relationship Id="rId170" Type="http://schemas.openxmlformats.org/officeDocument/2006/relationships/slide" Target="slides/slide167.xml"/><Relationship Id="rId17" Type="http://schemas.openxmlformats.org/officeDocument/2006/relationships/slide" Target="slides/slide14.xml"/><Relationship Id="rId169" Type="http://schemas.openxmlformats.org/officeDocument/2006/relationships/slide" Target="slides/slide166.xml"/><Relationship Id="rId168" Type="http://schemas.openxmlformats.org/officeDocument/2006/relationships/slide" Target="slides/slide165.xml"/><Relationship Id="rId167" Type="http://schemas.openxmlformats.org/officeDocument/2006/relationships/slide" Target="slides/slide164.xml"/><Relationship Id="rId166" Type="http://schemas.openxmlformats.org/officeDocument/2006/relationships/slide" Target="slides/slide163.xml"/><Relationship Id="rId165" Type="http://schemas.openxmlformats.org/officeDocument/2006/relationships/slide" Target="slides/slide162.xml"/><Relationship Id="rId164" Type="http://schemas.openxmlformats.org/officeDocument/2006/relationships/slide" Target="slides/slide161.xml"/><Relationship Id="rId163" Type="http://schemas.openxmlformats.org/officeDocument/2006/relationships/slide" Target="slides/slide160.xml"/><Relationship Id="rId162" Type="http://schemas.openxmlformats.org/officeDocument/2006/relationships/slide" Target="slides/slide159.xml"/><Relationship Id="rId161" Type="http://schemas.openxmlformats.org/officeDocument/2006/relationships/slide" Target="slides/slide158.xml"/><Relationship Id="rId160" Type="http://schemas.openxmlformats.org/officeDocument/2006/relationships/slide" Target="slides/slide157.xml"/><Relationship Id="rId16" Type="http://schemas.openxmlformats.org/officeDocument/2006/relationships/slide" Target="slides/slide13.xml"/><Relationship Id="rId159" Type="http://schemas.openxmlformats.org/officeDocument/2006/relationships/slide" Target="slides/slide156.xml"/><Relationship Id="rId158" Type="http://schemas.openxmlformats.org/officeDocument/2006/relationships/slide" Target="slides/slide155.xml"/><Relationship Id="rId157" Type="http://schemas.openxmlformats.org/officeDocument/2006/relationships/slide" Target="slides/slide154.xml"/><Relationship Id="rId156" Type="http://schemas.openxmlformats.org/officeDocument/2006/relationships/slide" Target="slides/slide153.xml"/><Relationship Id="rId155" Type="http://schemas.openxmlformats.org/officeDocument/2006/relationships/slide" Target="slides/slide152.xml"/><Relationship Id="rId154" Type="http://schemas.openxmlformats.org/officeDocument/2006/relationships/slide" Target="slides/slide151.xml"/><Relationship Id="rId153" Type="http://schemas.openxmlformats.org/officeDocument/2006/relationships/slide" Target="slides/slide150.xml"/><Relationship Id="rId152" Type="http://schemas.openxmlformats.org/officeDocument/2006/relationships/slide" Target="slides/slide149.xml"/><Relationship Id="rId151" Type="http://schemas.openxmlformats.org/officeDocument/2006/relationships/slide" Target="slides/slide148.xml"/><Relationship Id="rId150" Type="http://schemas.openxmlformats.org/officeDocument/2006/relationships/slide" Target="slides/slide147.xml"/><Relationship Id="rId15" Type="http://schemas.openxmlformats.org/officeDocument/2006/relationships/slide" Target="slides/slide12.xml"/><Relationship Id="rId149" Type="http://schemas.openxmlformats.org/officeDocument/2006/relationships/slide" Target="slides/slide146.xml"/><Relationship Id="rId148" Type="http://schemas.openxmlformats.org/officeDocument/2006/relationships/slide" Target="slides/slide145.xml"/><Relationship Id="rId147" Type="http://schemas.openxmlformats.org/officeDocument/2006/relationships/slide" Target="slides/slide144.xml"/><Relationship Id="rId146" Type="http://schemas.openxmlformats.org/officeDocument/2006/relationships/slide" Target="slides/slide143.xml"/><Relationship Id="rId145" Type="http://schemas.openxmlformats.org/officeDocument/2006/relationships/slide" Target="slides/slide142.xml"/><Relationship Id="rId144" Type="http://schemas.openxmlformats.org/officeDocument/2006/relationships/slide" Target="slides/slide141.xml"/><Relationship Id="rId143" Type="http://schemas.openxmlformats.org/officeDocument/2006/relationships/slide" Target="slides/slide140.xml"/><Relationship Id="rId142" Type="http://schemas.openxmlformats.org/officeDocument/2006/relationships/slide" Target="slides/slide139.xml"/><Relationship Id="rId141" Type="http://schemas.openxmlformats.org/officeDocument/2006/relationships/slide" Target="slides/slide138.xml"/><Relationship Id="rId140" Type="http://schemas.openxmlformats.org/officeDocument/2006/relationships/slide" Target="slides/slide137.xml"/><Relationship Id="rId14" Type="http://schemas.openxmlformats.org/officeDocument/2006/relationships/slide" Target="slides/slide11.xml"/><Relationship Id="rId139" Type="http://schemas.openxmlformats.org/officeDocument/2006/relationships/slide" Target="slides/slide136.xml"/><Relationship Id="rId138" Type="http://schemas.openxmlformats.org/officeDocument/2006/relationships/slide" Target="slides/slide135.xml"/><Relationship Id="rId137" Type="http://schemas.openxmlformats.org/officeDocument/2006/relationships/slide" Target="slides/slide134.xml"/><Relationship Id="rId136" Type="http://schemas.openxmlformats.org/officeDocument/2006/relationships/slide" Target="slides/slide133.xml"/><Relationship Id="rId135" Type="http://schemas.openxmlformats.org/officeDocument/2006/relationships/slide" Target="slides/slide132.xml"/><Relationship Id="rId134" Type="http://schemas.openxmlformats.org/officeDocument/2006/relationships/slide" Target="slides/slide131.xml"/><Relationship Id="rId133" Type="http://schemas.openxmlformats.org/officeDocument/2006/relationships/slide" Target="slides/slide130.xml"/><Relationship Id="rId132" Type="http://schemas.openxmlformats.org/officeDocument/2006/relationships/slide" Target="slides/slide129.xml"/><Relationship Id="rId131" Type="http://schemas.openxmlformats.org/officeDocument/2006/relationships/slide" Target="slides/slide128.xml"/><Relationship Id="rId130" Type="http://schemas.openxmlformats.org/officeDocument/2006/relationships/slide" Target="slides/slide127.xml"/><Relationship Id="rId13" Type="http://schemas.openxmlformats.org/officeDocument/2006/relationships/slide" Target="slides/slide10.xml"/><Relationship Id="rId129" Type="http://schemas.openxmlformats.org/officeDocument/2006/relationships/slide" Target="slides/slide126.xml"/><Relationship Id="rId128" Type="http://schemas.openxmlformats.org/officeDocument/2006/relationships/slide" Target="slides/slide125.xml"/><Relationship Id="rId127" Type="http://schemas.openxmlformats.org/officeDocument/2006/relationships/slide" Target="slides/slide124.xml"/><Relationship Id="rId126" Type="http://schemas.openxmlformats.org/officeDocument/2006/relationships/slide" Target="slides/slide123.xml"/><Relationship Id="rId125" Type="http://schemas.openxmlformats.org/officeDocument/2006/relationships/slide" Target="slides/slide122.xml"/><Relationship Id="rId124" Type="http://schemas.openxmlformats.org/officeDocument/2006/relationships/slide" Target="slides/slide121.xml"/><Relationship Id="rId123" Type="http://schemas.openxmlformats.org/officeDocument/2006/relationships/slide" Target="slides/slide120.xml"/><Relationship Id="rId122" Type="http://schemas.openxmlformats.org/officeDocument/2006/relationships/slide" Target="slides/slide119.xml"/><Relationship Id="rId121" Type="http://schemas.openxmlformats.org/officeDocument/2006/relationships/slide" Target="slides/slide118.xml"/><Relationship Id="rId120" Type="http://schemas.openxmlformats.org/officeDocument/2006/relationships/slide" Target="slides/slide117.xml"/><Relationship Id="rId12" Type="http://schemas.openxmlformats.org/officeDocument/2006/relationships/slide" Target="slides/slide9.xml"/><Relationship Id="rId119" Type="http://schemas.openxmlformats.org/officeDocument/2006/relationships/slide" Target="slides/slide116.xml"/><Relationship Id="rId118" Type="http://schemas.openxmlformats.org/officeDocument/2006/relationships/slide" Target="slides/slide115.xml"/><Relationship Id="rId117" Type="http://schemas.openxmlformats.org/officeDocument/2006/relationships/slide" Target="slides/slide114.xml"/><Relationship Id="rId116" Type="http://schemas.openxmlformats.org/officeDocument/2006/relationships/slide" Target="slides/slide113.xml"/><Relationship Id="rId115" Type="http://schemas.openxmlformats.org/officeDocument/2006/relationships/slide" Target="slides/slide112.xml"/><Relationship Id="rId114" Type="http://schemas.openxmlformats.org/officeDocument/2006/relationships/slide" Target="slides/slide111.xml"/><Relationship Id="rId113" Type="http://schemas.openxmlformats.org/officeDocument/2006/relationships/slide" Target="slides/slide110.xml"/><Relationship Id="rId112" Type="http://schemas.openxmlformats.org/officeDocument/2006/relationships/slide" Target="slides/slide109.xml"/><Relationship Id="rId111" Type="http://schemas.openxmlformats.org/officeDocument/2006/relationships/slide" Target="slides/slide108.xml"/><Relationship Id="rId110" Type="http://schemas.openxmlformats.org/officeDocument/2006/relationships/slide" Target="slides/slide107.xml"/><Relationship Id="rId11" Type="http://schemas.openxmlformats.org/officeDocument/2006/relationships/slide" Target="slides/slide8.xml"/><Relationship Id="rId109" Type="http://schemas.openxmlformats.org/officeDocument/2006/relationships/slide" Target="slides/slide106.xml"/><Relationship Id="rId108" Type="http://schemas.openxmlformats.org/officeDocument/2006/relationships/slide" Target="slides/slide105.xml"/><Relationship Id="rId107" Type="http://schemas.openxmlformats.org/officeDocument/2006/relationships/slide" Target="slides/slide104.xml"/><Relationship Id="rId106" Type="http://schemas.openxmlformats.org/officeDocument/2006/relationships/slide" Target="slides/slide103.xml"/><Relationship Id="rId105" Type="http://schemas.openxmlformats.org/officeDocument/2006/relationships/slide" Target="slides/slide102.xml"/><Relationship Id="rId104" Type="http://schemas.openxmlformats.org/officeDocument/2006/relationships/slide" Target="slides/slide101.xml"/><Relationship Id="rId103" Type="http://schemas.openxmlformats.org/officeDocument/2006/relationships/slide" Target="slides/slide100.xml"/><Relationship Id="rId102" Type="http://schemas.openxmlformats.org/officeDocument/2006/relationships/slide" Target="slides/slide99.xml"/><Relationship Id="rId101" Type="http://schemas.openxmlformats.org/officeDocument/2006/relationships/slide" Target="slides/slide98.xml"/><Relationship Id="rId100" Type="http://schemas.openxmlformats.org/officeDocument/2006/relationships/slide" Target="slides/slide97.xml"/><Relationship Id="rId10" Type="http://schemas.openxmlformats.org/officeDocument/2006/relationships/slide" Target="slides/slide7.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6" Type="http://schemas.openxmlformats.org/officeDocument/2006/relationships/image" Target="../media/image12.wmf"/><Relationship Id="rId5" Type="http://schemas.openxmlformats.org/officeDocument/2006/relationships/image" Target="../media/image11.wmf"/><Relationship Id="rId4" Type="http://schemas.openxmlformats.org/officeDocument/2006/relationships/image" Target="../media/image10.wmf"/><Relationship Id="rId3" Type="http://schemas.openxmlformats.org/officeDocument/2006/relationships/image" Target="../media/image9.wmf"/><Relationship Id="rId2" Type="http://schemas.openxmlformats.org/officeDocument/2006/relationships/image" Target="../media/image8.wmf"/><Relationship Id="rId1" Type="http://schemas.openxmlformats.org/officeDocument/2006/relationships/image" Target="../media/image7.w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15.wmf"/><Relationship Id="rId2" Type="http://schemas.openxmlformats.org/officeDocument/2006/relationships/image" Target="../media/image14.wmf"/><Relationship Id="rId1" Type="http://schemas.openxmlformats.org/officeDocument/2006/relationships/image" Target="../media/image13.wmf"/></Relationships>
</file>

<file path=ppt/drawings/_rels/vmlDrawing3.vml.rels><?xml version="1.0" encoding="UTF-8" standalone="yes"?>
<Relationships xmlns="http://schemas.openxmlformats.org/package/2006/relationships"><Relationship Id="rId5" Type="http://schemas.openxmlformats.org/officeDocument/2006/relationships/image" Target="../media/image21.emf"/><Relationship Id="rId4" Type="http://schemas.openxmlformats.org/officeDocument/2006/relationships/image" Target="../media/image20.emf"/><Relationship Id="rId3" Type="http://schemas.openxmlformats.org/officeDocument/2006/relationships/image" Target="../media/image19.emf"/><Relationship Id="rId2" Type="http://schemas.openxmlformats.org/officeDocument/2006/relationships/image" Target="../media/image18.emf"/><Relationship Id="rId1" Type="http://schemas.openxmlformats.org/officeDocument/2006/relationships/image" Target="../media/image17.e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28.wmf"/></Relationships>
</file>

<file path=ppt/drawings/_rels/vmlDrawing5.vml.rels><?xml version="1.0" encoding="UTF-8" standalone="yes"?>
<Relationships xmlns="http://schemas.openxmlformats.org/package/2006/relationships"><Relationship Id="rId2" Type="http://schemas.openxmlformats.org/officeDocument/2006/relationships/image" Target="../media/image34.wmf"/><Relationship Id="rId1" Type="http://schemas.openxmlformats.org/officeDocument/2006/relationships/image" Target="../media/image33.w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36.wmf"/></Relationships>
</file>

<file path=ppt/drawings/_rels/vmlDrawing7.vml.rels><?xml version="1.0" encoding="UTF-8" standalone="yes"?>
<Relationships xmlns="http://schemas.openxmlformats.org/package/2006/relationships"><Relationship Id="rId2" Type="http://schemas.openxmlformats.org/officeDocument/2006/relationships/image" Target="../media/image39.wmf"/><Relationship Id="rId1" Type="http://schemas.openxmlformats.org/officeDocument/2006/relationships/image" Target="../media/image38.w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43.wmf"/></Relationships>
</file>

<file path=ppt/drawings/_rels/vmlDrawing9.vml.rels><?xml version="1.0" encoding="UTF-8" standalone="yes"?>
<Relationships xmlns="http://schemas.openxmlformats.org/package/2006/relationships"><Relationship Id="rId3" Type="http://schemas.openxmlformats.org/officeDocument/2006/relationships/image" Target="../media/image46.wmf"/><Relationship Id="rId2" Type="http://schemas.openxmlformats.org/officeDocument/2006/relationships/image" Target="../media/image45.wmf"/><Relationship Id="rId1" Type="http://schemas.openxmlformats.org/officeDocument/2006/relationships/image" Target="../media/image44.wmf"/></Relationships>
</file>

<file path=ppt/drawings/_rels/vmlDrawing10.vml.rels><?xml version="1.0" encoding="UTF-8" standalone="yes"?>
<Relationships xmlns="http://schemas.openxmlformats.org/package/2006/relationships"><Relationship Id="rId3" Type="http://schemas.openxmlformats.org/officeDocument/2006/relationships/image" Target="../media/image55.wmf"/><Relationship Id="rId2" Type="http://schemas.openxmlformats.org/officeDocument/2006/relationships/image" Target="../media/image54.wmf"/><Relationship Id="rId1" Type="http://schemas.openxmlformats.org/officeDocument/2006/relationships/image" Target="../media/image53.w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59.wmf"/></Relationships>
</file>

<file path=ppt/drawings/_rels/vmlDrawing12.vml.rels><?xml version="1.0" encoding="UTF-8" standalone="yes"?>
<Relationships xmlns="http://schemas.openxmlformats.org/package/2006/relationships"><Relationship Id="rId1" Type="http://schemas.openxmlformats.org/officeDocument/2006/relationships/image" Target="../media/image61.wmf"/></Relationships>
</file>

<file path=ppt/drawings/_rels/vmlDrawing13.vml.rels><?xml version="1.0" encoding="UTF-8" standalone="yes"?>
<Relationships xmlns="http://schemas.openxmlformats.org/package/2006/relationships"><Relationship Id="rId2" Type="http://schemas.openxmlformats.org/officeDocument/2006/relationships/image" Target="../media/image63.wmf"/><Relationship Id="rId1" Type="http://schemas.openxmlformats.org/officeDocument/2006/relationships/image" Target="../media/image62.wmf"/></Relationships>
</file>

<file path=ppt/drawings/_rels/vmlDrawing14.vml.rels><?xml version="1.0" encoding="UTF-8" standalone="yes"?>
<Relationships xmlns="http://schemas.openxmlformats.org/package/2006/relationships"><Relationship Id="rId2" Type="http://schemas.openxmlformats.org/officeDocument/2006/relationships/image" Target="../media/image66.wmf"/><Relationship Id="rId1" Type="http://schemas.openxmlformats.org/officeDocument/2006/relationships/image" Target="../media/image65.wmf"/></Relationships>
</file>

<file path=ppt/drawings/_rels/vmlDrawing15.vml.rels><?xml version="1.0" encoding="UTF-8" standalone="yes"?>
<Relationships xmlns="http://schemas.openxmlformats.org/package/2006/relationships"><Relationship Id="rId2" Type="http://schemas.openxmlformats.org/officeDocument/2006/relationships/image" Target="../media/image69.wmf"/><Relationship Id="rId1" Type="http://schemas.openxmlformats.org/officeDocument/2006/relationships/image" Target="../media/image68.wmf"/></Relationships>
</file>

<file path=ppt/drawings/_rels/vmlDrawing16.vml.rels><?xml version="1.0" encoding="UTF-8" standalone="yes"?>
<Relationships xmlns="http://schemas.openxmlformats.org/package/2006/relationships"><Relationship Id="rId2" Type="http://schemas.openxmlformats.org/officeDocument/2006/relationships/image" Target="../media/image72.wmf"/><Relationship Id="rId1" Type="http://schemas.openxmlformats.org/officeDocument/2006/relationships/image" Target="../media/image71.wmf"/></Relationships>
</file>

<file path=ppt/drawings/_rels/vmlDrawing17.vml.rels><?xml version="1.0" encoding="UTF-8" standalone="yes"?>
<Relationships xmlns="http://schemas.openxmlformats.org/package/2006/relationships"><Relationship Id="rId3" Type="http://schemas.openxmlformats.org/officeDocument/2006/relationships/image" Target="../media/image75.wmf"/><Relationship Id="rId2" Type="http://schemas.openxmlformats.org/officeDocument/2006/relationships/image" Target="../media/image74.wmf"/><Relationship Id="rId1" Type="http://schemas.openxmlformats.org/officeDocument/2006/relationships/image" Target="../media/image73.wmf"/></Relationships>
</file>

<file path=ppt/drawings/_rels/vmlDrawing18.vml.rels><?xml version="1.0" encoding="UTF-8" standalone="yes"?>
<Relationships xmlns="http://schemas.openxmlformats.org/package/2006/relationships"><Relationship Id="rId1" Type="http://schemas.openxmlformats.org/officeDocument/2006/relationships/image" Target="../media/image76.wmf"/></Relationships>
</file>

<file path=ppt/drawings/_rels/vmlDrawing19.vml.rels><?xml version="1.0" encoding="UTF-8" standalone="yes"?>
<Relationships xmlns="http://schemas.openxmlformats.org/package/2006/relationships"><Relationship Id="rId2" Type="http://schemas.openxmlformats.org/officeDocument/2006/relationships/image" Target="../media/image79.wmf"/><Relationship Id="rId1" Type="http://schemas.openxmlformats.org/officeDocument/2006/relationships/image" Target="../media/image78.wmf"/></Relationships>
</file>

<file path=ppt/drawings/_rels/vmlDrawing20.vml.rels><?xml version="1.0" encoding="UTF-8" standalone="yes"?>
<Relationships xmlns="http://schemas.openxmlformats.org/package/2006/relationships"><Relationship Id="rId2" Type="http://schemas.openxmlformats.org/officeDocument/2006/relationships/image" Target="../media/image81.wmf"/><Relationship Id="rId1" Type="http://schemas.openxmlformats.org/officeDocument/2006/relationships/image" Target="../media/image80.wmf"/></Relationships>
</file>

<file path=ppt/drawings/_rels/vmlDrawing21.vml.rels><?xml version="1.0" encoding="UTF-8" standalone="yes"?>
<Relationships xmlns="http://schemas.openxmlformats.org/package/2006/relationships"><Relationship Id="rId2" Type="http://schemas.openxmlformats.org/officeDocument/2006/relationships/image" Target="../media/image83.wmf"/><Relationship Id="rId1" Type="http://schemas.openxmlformats.org/officeDocument/2006/relationships/image" Target="../media/image82.wmf"/></Relationships>
</file>

<file path=ppt/drawings/_rels/vmlDrawing22.vml.rels><?xml version="1.0" encoding="UTF-8" standalone="yes"?>
<Relationships xmlns="http://schemas.openxmlformats.org/package/2006/relationships"><Relationship Id="rId1" Type="http://schemas.openxmlformats.org/officeDocument/2006/relationships/image" Target="../media/image84.wmf"/></Relationships>
</file>

<file path=ppt/drawings/_rels/vmlDrawing23.vml.rels><?xml version="1.0" encoding="UTF-8" standalone="yes"?>
<Relationships xmlns="http://schemas.openxmlformats.org/package/2006/relationships"><Relationship Id="rId1" Type="http://schemas.openxmlformats.org/officeDocument/2006/relationships/image" Target="../media/image88.emf"/></Relationships>
</file>

<file path=ppt/drawings/_rels/vmlDrawing24.vml.rels><?xml version="1.0" encoding="UTF-8" standalone="yes"?>
<Relationships xmlns="http://schemas.openxmlformats.org/package/2006/relationships"><Relationship Id="rId1" Type="http://schemas.openxmlformats.org/officeDocument/2006/relationships/image" Target="../media/image89.wmf"/></Relationships>
</file>

<file path=ppt/drawings/_rels/vmlDrawing25.vml.rels><?xml version="1.0" encoding="UTF-8" standalone="yes"?>
<Relationships xmlns="http://schemas.openxmlformats.org/package/2006/relationships"><Relationship Id="rId1" Type="http://schemas.openxmlformats.org/officeDocument/2006/relationships/image" Target="../media/image90.wmf"/></Relationships>
</file>

<file path=ppt/drawings/_rels/vmlDrawing26.vml.rels><?xml version="1.0" encoding="UTF-8" standalone="yes"?>
<Relationships xmlns="http://schemas.openxmlformats.org/package/2006/relationships"><Relationship Id="rId1" Type="http://schemas.openxmlformats.org/officeDocument/2006/relationships/image" Target="../media/image91.emf"/></Relationships>
</file>

<file path=ppt/drawings/_rels/vmlDrawing27.vml.rels><?xml version="1.0" encoding="UTF-8" standalone="yes"?>
<Relationships xmlns="http://schemas.openxmlformats.org/package/2006/relationships"><Relationship Id="rId1" Type="http://schemas.openxmlformats.org/officeDocument/2006/relationships/image" Target="../media/image92.wmf"/></Relationships>
</file>

<file path=ppt/drawings/_rels/vmlDrawing28.vml.rels><?xml version="1.0" encoding="UTF-8" standalone="yes"?>
<Relationships xmlns="http://schemas.openxmlformats.org/package/2006/relationships"><Relationship Id="rId1" Type="http://schemas.openxmlformats.org/officeDocument/2006/relationships/image" Target="../media/image94.wmf"/></Relationships>
</file>

<file path=ppt/drawings/_rels/vmlDrawing29.vml.rels><?xml version="1.0" encoding="UTF-8" standalone="yes"?>
<Relationships xmlns="http://schemas.openxmlformats.org/package/2006/relationships"><Relationship Id="rId1" Type="http://schemas.openxmlformats.org/officeDocument/2006/relationships/image" Target="../media/image95.wmf"/></Relationships>
</file>

<file path=ppt/drawings/_rels/vmlDrawing30.vml.rels><?xml version="1.0" encoding="UTF-8" standalone="yes"?>
<Relationships xmlns="http://schemas.openxmlformats.org/package/2006/relationships"><Relationship Id="rId1" Type="http://schemas.openxmlformats.org/officeDocument/2006/relationships/image" Target="../media/image96.wmf"/></Relationships>
</file>

<file path=ppt/drawings/_rels/vmlDrawing31.vml.rels><?xml version="1.0" encoding="UTF-8" standalone="yes"?>
<Relationships xmlns="http://schemas.openxmlformats.org/package/2006/relationships"><Relationship Id="rId1" Type="http://schemas.openxmlformats.org/officeDocument/2006/relationships/image" Target="../media/image97.wmf"/></Relationships>
</file>

<file path=ppt/drawings/_rels/vmlDrawing32.vml.rels><?xml version="1.0" encoding="UTF-8" standalone="yes"?>
<Relationships xmlns="http://schemas.openxmlformats.org/package/2006/relationships"><Relationship Id="rId1" Type="http://schemas.openxmlformats.org/officeDocument/2006/relationships/image" Target="../media/image98.emf"/></Relationships>
</file>

<file path=ppt/drawings/_rels/vmlDrawing33.vml.rels><?xml version="1.0" encoding="UTF-8" standalone="yes"?>
<Relationships xmlns="http://schemas.openxmlformats.org/package/2006/relationships"><Relationship Id="rId1" Type="http://schemas.openxmlformats.org/officeDocument/2006/relationships/image" Target="../media/image99.emf"/></Relationships>
</file>

<file path=ppt/drawings/_rels/vmlDrawing34.vml.rels><?xml version="1.0" encoding="UTF-8" standalone="yes"?>
<Relationships xmlns="http://schemas.openxmlformats.org/package/2006/relationships"><Relationship Id="rId1" Type="http://schemas.openxmlformats.org/officeDocument/2006/relationships/image" Target="../media/image100.emf"/></Relationships>
</file>

<file path=ppt/drawings/_rels/vmlDrawing35.vml.rels><?xml version="1.0" encoding="UTF-8" standalone="yes"?>
<Relationships xmlns="http://schemas.openxmlformats.org/package/2006/relationships"><Relationship Id="rId2" Type="http://schemas.openxmlformats.org/officeDocument/2006/relationships/image" Target="../media/image102.emf"/><Relationship Id="rId1" Type="http://schemas.openxmlformats.org/officeDocument/2006/relationships/image" Target="../media/image101.emf"/></Relationships>
</file>

<file path=ppt/drawings/_rels/vmlDrawing36.vml.rels><?xml version="1.0" encoding="UTF-8" standalone="yes"?>
<Relationships xmlns="http://schemas.openxmlformats.org/package/2006/relationships"><Relationship Id="rId1" Type="http://schemas.openxmlformats.org/officeDocument/2006/relationships/image" Target="../media/image105.emf"/></Relationships>
</file>

<file path=ppt/drawings/_rels/vmlDrawing37.vml.rels><?xml version="1.0" encoding="UTF-8" standalone="yes"?>
<Relationships xmlns="http://schemas.openxmlformats.org/package/2006/relationships"><Relationship Id="rId2" Type="http://schemas.openxmlformats.org/officeDocument/2006/relationships/image" Target="../media/image107.emf"/><Relationship Id="rId1" Type="http://schemas.openxmlformats.org/officeDocument/2006/relationships/image" Target="../media/image106.emf"/></Relationships>
</file>

<file path=ppt/drawings/_rels/vmlDrawing38.vml.rels><?xml version="1.0" encoding="UTF-8" standalone="yes"?>
<Relationships xmlns="http://schemas.openxmlformats.org/package/2006/relationships"><Relationship Id="rId2" Type="http://schemas.openxmlformats.org/officeDocument/2006/relationships/image" Target="../media/image109.emf"/><Relationship Id="rId1" Type="http://schemas.openxmlformats.org/officeDocument/2006/relationships/image" Target="../media/image108.emf"/></Relationships>
</file>

<file path=ppt/drawings/_rels/vmlDrawing39.vml.rels><?xml version="1.0" encoding="UTF-8" standalone="yes"?>
<Relationships xmlns="http://schemas.openxmlformats.org/package/2006/relationships"><Relationship Id="rId2" Type="http://schemas.openxmlformats.org/officeDocument/2006/relationships/image" Target="../media/image112.emf"/><Relationship Id="rId1" Type="http://schemas.openxmlformats.org/officeDocument/2006/relationships/image" Target="../media/image111.emf"/></Relationships>
</file>

<file path=ppt/drawings/_rels/vmlDrawing40.vml.rels><?xml version="1.0" encoding="UTF-8" standalone="yes"?>
<Relationships xmlns="http://schemas.openxmlformats.org/package/2006/relationships"><Relationship Id="rId1" Type="http://schemas.openxmlformats.org/officeDocument/2006/relationships/image" Target="../media/image113.emf"/></Relationships>
</file>

<file path=ppt/drawings/_rels/vmlDrawing41.vml.rels><?xml version="1.0" encoding="UTF-8" standalone="yes"?>
<Relationships xmlns="http://schemas.openxmlformats.org/package/2006/relationships"><Relationship Id="rId1" Type="http://schemas.openxmlformats.org/officeDocument/2006/relationships/image" Target="../media/image114.emf"/></Relationships>
</file>

<file path=ppt/drawings/_rels/vmlDrawing42.vml.rels><?xml version="1.0" encoding="UTF-8" standalone="yes"?>
<Relationships xmlns="http://schemas.openxmlformats.org/package/2006/relationships"><Relationship Id="rId1" Type="http://schemas.openxmlformats.org/officeDocument/2006/relationships/image" Target="../media/image118.png"/></Relationships>
</file>

<file path=ppt/drawings/_rels/vmlDrawing43.v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image" Target="../media/image119.wmf"/></Relationships>
</file>

<file path=ppt/drawings/_rels/vmlDrawing44.v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image" Target="../media/image121.png"/></Relationships>
</file>

<file path=ppt/drawings/_rels/vmlDrawing45.vml.rels><?xml version="1.0" encoding="UTF-8" standalone="yes"?>
<Relationships xmlns="http://schemas.openxmlformats.org/package/2006/relationships"><Relationship Id="rId1" Type="http://schemas.openxmlformats.org/officeDocument/2006/relationships/image" Target="../media/image123.wmf"/></Relationships>
</file>

<file path=ppt/drawings/_rels/vmlDrawing46.vml.rels><?xml version="1.0" encoding="UTF-8" standalone="yes"?>
<Relationships xmlns="http://schemas.openxmlformats.org/package/2006/relationships"><Relationship Id="rId1" Type="http://schemas.openxmlformats.org/officeDocument/2006/relationships/image" Target="../media/image125.wmf"/></Relationships>
</file>

<file path=ppt/drawings/_rels/vmlDrawing47.v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image" Target="../media/image126.png"/></Relationships>
</file>

<file path=ppt/drawings/_rels/vmlDrawing48.vml.rels><?xml version="1.0" encoding="UTF-8" standalone="yes"?>
<Relationships xmlns="http://schemas.openxmlformats.org/package/2006/relationships"><Relationship Id="rId1" Type="http://schemas.openxmlformats.org/officeDocument/2006/relationships/image" Target="../media/image128.wmf"/></Relationships>
</file>

<file path=ppt/drawings/_rels/vmlDrawing49.vml.rels><?xml version="1.0" encoding="UTF-8" standalone="yes"?>
<Relationships xmlns="http://schemas.openxmlformats.org/package/2006/relationships"><Relationship Id="rId1" Type="http://schemas.openxmlformats.org/officeDocument/2006/relationships/image" Target="../media/image128.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689F19D-0058-496E-8BF7-3344A0807233}"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CCAF01E-7A43-4B96-A15F-ED8F987B5B79}"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4" Type="http://schemas.openxmlformats.org/officeDocument/2006/relationships/hyperlink" Target="http://baike.baidu.com/view/17568.htm" TargetMode="External"/><Relationship Id="rId3" Type="http://schemas.openxmlformats.org/officeDocument/2006/relationships/hyperlink" Target="http://baike.baidu.com/view/3762.htm" TargetMode="External"/><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3" Type="http://schemas.openxmlformats.org/officeDocument/2006/relationships/hyperlink" Target="http://baike.baidu.com/view/544149.htm" TargetMode="External"/><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9.xml"/></Relationships>
</file>

<file path=ppt/notesSlides/_rels/notesSlide5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0.xml"/></Relationships>
</file>

<file path=ppt/notesSlides/_rels/notesSlide5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1.xml"/></Relationships>
</file>

<file path=ppt/notesSlides/_rels/notesSlide5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7.xml"/></Relationships>
</file>

<file path=ppt/notesSlides/_rels/notesSlide5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8.xml"/></Relationships>
</file>

<file path=ppt/notesSlides/_rels/notesSlide6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9.xml"/></Relationships>
</file>

<file path=ppt/notesSlides/_rels/notesSlide6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0.xml"/></Relationships>
</file>

<file path=ppt/notesSlides/_rels/notesSlide6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1.xml"/></Relationships>
</file>

<file path=ppt/notesSlides/_rels/notesSlide6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2.xml"/></Relationships>
</file>

<file path=ppt/notesSlides/_rels/notesSlide6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3.xml"/></Relationships>
</file>

<file path=ppt/notesSlides/_rels/notesSlide6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4.xml"/></Relationships>
</file>

<file path=ppt/notesSlides/_rels/notesSlide6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5.xml"/></Relationships>
</file>

<file path=ppt/notesSlides/_rels/notesSlide6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6.xml"/></Relationships>
</file>

<file path=ppt/notesSlides/_rels/notesSlide6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7.xml"/></Relationships>
</file>

<file path=ppt/notesSlides/_rels/notesSlide6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8.xml"/></Relationships>
</file>

<file path=ppt/notesSlides/_rels/notesSlide7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9.xml"/></Relationships>
</file>

<file path=ppt/notesSlides/_rels/notesSlide7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0.xml"/></Relationships>
</file>

<file path=ppt/notesSlides/_rels/notesSlide7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1.xml"/></Relationships>
</file>

<file path=ppt/notesSlides/_rels/notesSlide7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2.xml"/></Relationships>
</file>

<file path=ppt/notesSlides/_rels/notesSlide7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3.xml"/></Relationships>
</file>

<file path=ppt/notesSlides/_rels/notesSlide7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4.xml"/></Relationships>
</file>

<file path=ppt/notesSlides/_rels/notesSlide7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5.xml"/></Relationships>
</file>

<file path=ppt/notesSlides/_rels/notesSlide7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6.xml"/></Relationships>
</file>

<file path=ppt/notesSlides/_rels/notesSlide7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7.xml"/></Relationships>
</file>

<file path=ppt/notesSlides/_rels/notesSlide7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8.xml"/></Relationships>
</file>

<file path=ppt/notesSlides/_rels/notesSlide8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9.xml"/></Relationships>
</file>

<file path=ppt/notesSlides/_rels/notesSlide8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0.xml"/></Relationships>
</file>

<file path=ppt/notesSlides/_rels/notesSlide8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1.xml"/></Relationships>
</file>

<file path=ppt/notesSlides/_rels/notesSlide8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2.xml"/></Relationships>
</file>

<file path=ppt/notesSlides/_rels/notesSlide8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3.xml"/></Relationships>
</file>

<file path=ppt/notesSlides/_rels/notesSlide8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4.xml"/></Relationships>
</file>

<file path=ppt/notesSlides/_rels/notesSlide8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5.xml"/></Relationships>
</file>

<file path=ppt/notesSlides/_rels/notesSlide8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6.xml"/></Relationships>
</file>

<file path=ppt/notesSlides/_rels/notesSlide8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7.xml"/></Relationships>
</file>

<file path=ppt/notesSlides/_rels/notesSlide8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8.xml"/></Relationships>
</file>

<file path=ppt/notesSlides/_rels/notesSlide9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9.xml"/></Relationships>
</file>

<file path=ppt/notesSlides/_rels/notesSlide9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0.xml"/></Relationships>
</file>

<file path=ppt/notesSlides/_rels/notesSlide9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1.xml"/></Relationships>
</file>

<file path=ppt/notesSlides/_rels/notesSlide9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2.xml"/></Relationships>
</file>

<file path=ppt/notesSlides/_rels/notesSlide9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3.xml"/></Relationships>
</file>

<file path=ppt/notesSlides/_rels/notesSlide9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5.xml"/></Relationships>
</file>

<file path=ppt/notesSlides/_rels/notesSlide9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6.xml"/></Relationships>
</file>

<file path=ppt/notesSlides/_rels/notesSlide9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7.xml"/></Relationships>
</file>

<file path=ppt/notesSlides/_rels/notesSlide9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8.xml"/></Relationships>
</file>

<file path=ppt/notesSlides/_rels/notesSlide9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9.xml"/></Relationships>
</file>

<file path=ppt/notesSlides/_rels/notesSlide10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1.xml"/></Relationships>
</file>

<file path=ppt/notesSlides/_rels/notesSlide10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2.xml"/></Relationships>
</file>

<file path=ppt/notesSlides/_rels/notesSlide10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3.xml"/></Relationships>
</file>

<file path=ppt/notesSlides/_rels/notesSlide10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6.xml"/></Relationships>
</file>

<file path=ppt/notesSlides/_rels/notesSlide10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7.xml"/></Relationships>
</file>

<file path=ppt/notesSlides/_rels/notesSlide10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8.xml"/></Relationships>
</file>

<file path=ppt/notesSlides/_rels/notesSlide10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9.xml"/></Relationships>
</file>

<file path=ppt/notesSlides/_rels/notesSlide10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0.xml"/></Relationships>
</file>

<file path=ppt/notesSlides/_rels/notesSlide10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1.xml"/></Relationships>
</file>

<file path=ppt/notesSlides/_rels/notesSlide10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2.xml"/></Relationships>
</file>

<file path=ppt/notesSlides/_rels/notesSlide1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3.xml"/></Relationships>
</file>

<file path=ppt/notesSlides/_rels/notesSlide1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4.xml"/></Relationships>
</file>

<file path=ppt/notesSlides/_rels/notesSlide1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6.xml"/></Relationships>
</file>

<file path=ppt/notesSlides/_rels/notesSlide1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7.xml"/></Relationships>
</file>

<file path=ppt/notesSlides/_rels/notesSlide1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8.xml"/></Relationships>
</file>

<file path=ppt/notesSlides/_rels/notesSlide1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9.xml"/></Relationships>
</file>

<file path=ppt/notesSlides/_rels/notesSlide1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0.xml"/></Relationships>
</file>

<file path=ppt/notesSlides/_rels/notesSlide1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3.xml"/></Relationships>
</file>

<file path=ppt/notesSlides/_rels/notesSlide1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0.xml"/></Relationships>
</file>

<file path=ppt/notesSlides/_rels/notesSlide1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1.xml"/></Relationships>
</file>

<file path=ppt/notesSlides/_rels/notesSlide1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2.xml"/></Relationships>
</file>

<file path=ppt/notesSlides/_rels/notesSlide1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3.xml"/></Relationships>
</file>

<file path=ppt/notesSlides/_rels/notesSlide1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4.xml"/></Relationships>
</file>

<file path=ppt/notesSlides/_rels/notesSlide1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5.xml"/></Relationships>
</file>

<file path=ppt/notesSlides/_rels/notesSlide1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9.xml"/></Relationships>
</file>

<file path=ppt/notesSlides/_rels/notesSlide1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0.xml"/></Relationships>
</file>

<file path=ppt/notesSlides/_rels/notesSlide1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5.xml"/></Relationships>
</file>

<file path=ppt/notesSlides/_rels/notesSlide1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6.xml"/></Relationships>
</file>

<file path=ppt/notesSlides/_rels/notesSlide1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7.xml"/></Relationships>
</file>

<file path=ppt/notesSlides/_rels/notesSlide1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2.xml"/></Relationships>
</file>

<file path=ppt/notesSlides/_rels/notesSlide1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3.xml"/></Relationships>
</file>

<file path=ppt/notesSlides/_rels/notesSlide1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9.xml"/></Relationships>
</file>

<file path=ppt/notesSlides/_rels/notesSlide1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1.xml"/></Relationships>
</file>

<file path=ppt/notesSlides/_rels/notesSlide1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2.xml"/></Relationships>
</file>

<file path=ppt/notesSlides/_rels/notesSlide1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3.xml"/></Relationships>
</file>

<file path=ppt/notesSlides/_rels/notesSlide1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4.xml"/></Relationships>
</file>

<file path=ppt/notesSlides/_rels/notesSlide1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4.xml"/></Relationships>
</file>

<file path=ppt/notesSlides/_rels/notesSlide1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5.xml"/></Relationships>
</file>

<file path=ppt/notesSlides/_rels/notesSlide1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6.xml"/></Relationships>
</file>

<file path=ppt/notesSlides/_rels/notesSlide13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8.xml"/></Relationships>
</file>

<file path=ppt/notesSlides/_rels/notesSlide14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9.xml"/></Relationships>
</file>

<file path=ppt/notesSlides/_rels/notesSlide14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0.xml"/></Relationships>
</file>

<file path=ppt/notesSlides/_rels/notesSlide14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3.xml"/></Relationships>
</file>

<file path=ppt/notesSlides/_rels/notesSlide143.xml.rels><?xml version="1.0" encoding="UTF-8" standalone="yes"?>
<Relationships xmlns="http://schemas.openxmlformats.org/package/2006/relationships"><Relationship Id="rId3" Type="http://schemas.openxmlformats.org/officeDocument/2006/relationships/hyperlink" Target="http://baike.baidu.com/view/47398.htm" TargetMode="External"/><Relationship Id="rId2" Type="http://schemas.openxmlformats.org/officeDocument/2006/relationships/notesMaster" Target="../notesMasters/notesMaster1.xml"/><Relationship Id="rId1" Type="http://schemas.openxmlformats.org/officeDocument/2006/relationships/slide" Target="../slides/slide194.xml"/></Relationships>
</file>

<file path=ppt/notesSlides/_rels/notesSlide14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5.xml"/></Relationships>
</file>

<file path=ppt/notesSlides/_rels/notesSlide14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9.xml"/></Relationships>
</file>

<file path=ppt/notesSlides/_rels/notesSlide14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0.xml"/></Relationships>
</file>

<file path=ppt/notesSlides/_rels/notesSlide14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marL="0" marR="0" lvl="0" indent="0" algn="r" defTabSz="914400" rtl="0" eaLnBrk="1" fontAlgn="base" latinLnBrk="0" hangingPunct="1">
              <a:lnSpc>
                <a:spcPct val="100000"/>
              </a:lnSpc>
              <a:spcBef>
                <a:spcPct val="0"/>
              </a:spcBef>
              <a:spcAft>
                <a:spcPct val="0"/>
              </a:spcAft>
              <a:buClrTx/>
              <a:buSzTx/>
              <a:buFontTx/>
              <a:buNone/>
              <a:defRPr/>
            </a:pPr>
            <a:fld id="{EEF52B9F-4347-4430-A465-487979D9E780}" type="slidenum">
              <a:rPr kumimoji="0" lang="en-US" altLang="zh-CN" sz="1200" b="0" i="0" u="none" strike="noStrike" kern="1200" cap="none" spc="0" normalizeH="0" baseline="0" noProof="0" smtClean="0">
                <a:ln>
                  <a:noFill/>
                </a:ln>
                <a:solidFill>
                  <a:srgbClr val="000000"/>
                </a:solidFill>
                <a:effectLst/>
                <a:uLnTx/>
                <a:uFillTx/>
                <a:latin typeface="Arial" panose="020B0604020202090204" pitchFamily="34" charset="0"/>
                <a:ea typeface="宋体" pitchFamily="2" charset="-122"/>
                <a:cs typeface="+mn-cs"/>
              </a:rPr>
            </a:fld>
            <a:endParaRPr kumimoji="0" lang="en-US" altLang="zh-CN" sz="1200" b="0" i="0" u="none" strike="noStrike" kern="1200" cap="none" spc="0" normalizeH="0" baseline="0" noProof="0" smtClean="0">
              <a:ln>
                <a:noFill/>
              </a:ln>
              <a:solidFill>
                <a:srgbClr val="000000"/>
              </a:solidFill>
              <a:effectLst/>
              <a:uLnTx/>
              <a:uFillTx/>
              <a:latin typeface="Arial" panose="020B0604020202090204" pitchFamily="34" charset="0"/>
              <a:ea typeface="宋体" pitchFamily="2" charset="-122"/>
              <a:cs typeface="+mn-cs"/>
            </a:endParaRPr>
          </a:p>
        </p:txBody>
      </p:sp>
      <p:sp>
        <p:nvSpPr>
          <p:cNvPr id="6147" name="Rectangle 2"/>
          <p:cNvSpPr>
            <a:spLocks noGrp="1" noRot="1" noChangeAspect="1" noChangeArrowheads="1" noTextEdit="1"/>
          </p:cNvSpPr>
          <p:nvPr>
            <p:ph type="sldImg"/>
          </p:nvPr>
        </p:nvSpPr>
        <p:spPr/>
      </p:sp>
      <p:sp>
        <p:nvSpPr>
          <p:cNvPr id="614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E8744D54-9FC5-4719-B01B-95FD5CF38F57}" type="slidenum">
              <a:rPr lang="en-US" altLang="zh-CN" smtClean="0"/>
            </a:fld>
            <a:endParaRPr lang="en-US" altLang="zh-CN" smtClean="0"/>
          </a:p>
        </p:txBody>
      </p:sp>
      <p:sp>
        <p:nvSpPr>
          <p:cNvPr id="8195" name="Rectangle 2"/>
          <p:cNvSpPr>
            <a:spLocks noGrp="1" noRot="1" noChangeAspect="1" noChangeArrowheads="1" noTextEdit="1"/>
          </p:cNvSpPr>
          <p:nvPr>
            <p:ph type="sldImg"/>
          </p:nvPr>
        </p:nvSpPr>
        <p:spPr/>
      </p:sp>
      <p:sp>
        <p:nvSpPr>
          <p:cNvPr id="819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6DFFB665-101B-46AD-8E4C-5AE93ADC48FB}" type="slidenum">
              <a:rPr lang="en-US" altLang="zh-CN" smtClean="0"/>
            </a:fld>
            <a:endParaRPr lang="en-US" altLang="zh-CN" smtClean="0"/>
          </a:p>
        </p:txBody>
      </p:sp>
      <p:sp>
        <p:nvSpPr>
          <p:cNvPr id="12291" name="Rectangle 2"/>
          <p:cNvSpPr>
            <a:spLocks noGrp="1" noRot="1" noChangeAspect="1" noChangeArrowheads="1" noTextEdit="1"/>
          </p:cNvSpPr>
          <p:nvPr>
            <p:ph type="sldImg"/>
          </p:nvPr>
        </p:nvSpPr>
        <p:spPr/>
      </p:sp>
      <p:sp>
        <p:nvSpPr>
          <p:cNvPr id="1229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6DFFB665-101B-46AD-8E4C-5AE93ADC48FB}" type="slidenum">
              <a:rPr lang="en-US" altLang="zh-CN" smtClean="0"/>
            </a:fld>
            <a:endParaRPr lang="en-US" altLang="zh-CN" smtClean="0"/>
          </a:p>
        </p:txBody>
      </p:sp>
      <p:sp>
        <p:nvSpPr>
          <p:cNvPr id="12291" name="Rectangle 2"/>
          <p:cNvSpPr>
            <a:spLocks noGrp="1" noRot="1" noChangeAspect="1" noChangeArrowheads="1" noTextEdit="1"/>
          </p:cNvSpPr>
          <p:nvPr>
            <p:ph type="sldImg"/>
          </p:nvPr>
        </p:nvSpPr>
        <p:spPr/>
      </p:sp>
      <p:sp>
        <p:nvSpPr>
          <p:cNvPr id="1229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D120FB34-A19C-4EC3-A31A-87D7C89C8626}" type="slidenum">
              <a:rPr lang="en-US" altLang="zh-CN" smtClean="0"/>
            </a:fld>
            <a:endParaRPr lang="en-US" altLang="zh-CN" smtClean="0"/>
          </a:p>
        </p:txBody>
      </p:sp>
      <p:sp>
        <p:nvSpPr>
          <p:cNvPr id="14339" name="Rectangle 2"/>
          <p:cNvSpPr>
            <a:spLocks noGrp="1" noRot="1" noChangeAspect="1" noChangeArrowheads="1" noTextEdit="1"/>
          </p:cNvSpPr>
          <p:nvPr>
            <p:ph type="sldImg"/>
          </p:nvPr>
        </p:nvSpPr>
        <p:spPr/>
      </p:sp>
      <p:sp>
        <p:nvSpPr>
          <p:cNvPr id="14340"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zh-CN" altLang="en-US" smtClean="0">
                <a:latin typeface="Arial" panose="020B0604020202090204" pitchFamily="34" charset="0"/>
              </a:rPr>
              <a:t>数据结构</a:t>
            </a:r>
            <a:r>
              <a:rPr lang="en-US" altLang="zh-CN" smtClean="0">
                <a:latin typeface="Arial" panose="020B0604020202090204" pitchFamily="34" charset="0"/>
              </a:rPr>
              <a:t>+</a:t>
            </a:r>
            <a:r>
              <a:rPr lang="zh-CN" altLang="en-US" smtClean="0">
                <a:latin typeface="Arial" panose="020B0604020202090204" pitchFamily="34" charset="0"/>
              </a:rPr>
              <a:t>算法</a:t>
            </a:r>
            <a:r>
              <a:rPr lang="en-US" altLang="zh-CN" smtClean="0">
                <a:latin typeface="Arial" panose="020B0604020202090204" pitchFamily="34" charset="0"/>
              </a:rPr>
              <a:t>=</a:t>
            </a:r>
            <a:r>
              <a:rPr lang="zh-CN" altLang="en-US" smtClean="0">
                <a:latin typeface="Arial" panose="020B0604020202090204" pitchFamily="34" charset="0"/>
              </a:rPr>
              <a:t>程序</a:t>
            </a:r>
            <a:endParaRPr lang="en-US" altLang="zh-CN" smtClean="0">
              <a:latin typeface="Arial" panose="020B0604020202090204" pitchFamily="34" charset="0"/>
            </a:endParaRPr>
          </a:p>
          <a:p>
            <a:pPr eaLnBrk="1" hangingPunct="1"/>
            <a:r>
              <a:rPr lang="zh-CN" altLang="en-US" smtClean="0">
                <a:latin typeface="Arial" panose="020B0604020202090204" pitchFamily="34" charset="0"/>
              </a:rPr>
              <a:t>算法是计算机软件的灵魂</a:t>
            </a:r>
            <a:endParaRPr lang="en-US" altLang="zh-CN" smtClean="0">
              <a:latin typeface="Arial" panose="020B0604020202090204" pitchFamily="34" charset="0"/>
            </a:endParaRPr>
          </a:p>
          <a:p>
            <a:pPr eaLnBrk="1" hangingPunct="1"/>
            <a:r>
              <a:rPr lang="en-US" altLang="zh-CN" smtClean="0">
                <a:latin typeface="Arial" panose="020B0604020202090204" pitchFamily="34" charset="0"/>
              </a:rPr>
              <a:t>1</a:t>
            </a:r>
            <a:r>
              <a:rPr lang="zh-CN" altLang="en-US" smtClean="0">
                <a:latin typeface="Arial" panose="020B0604020202090204" pitchFamily="34" charset="0"/>
              </a:rPr>
              <a:t>、在计算机科学领域，算法设计与分析是十分重要，正如</a:t>
            </a:r>
            <a:r>
              <a:rPr lang="en-US" altLang="zh-CN" smtClean="0">
                <a:latin typeface="Arial" panose="020B0604020202090204" pitchFamily="34" charset="0"/>
              </a:rPr>
              <a:t>Donald E.Knuth</a:t>
            </a:r>
            <a:r>
              <a:rPr lang="zh-CN" altLang="en-US" smtClean="0">
                <a:latin typeface="Arial" panose="020B0604020202090204" pitchFamily="34" charset="0"/>
              </a:rPr>
              <a:t>所说：“计算机科学就是算法的研究”。</a:t>
            </a:r>
            <a:endParaRPr lang="en-US" altLang="zh-CN" smtClean="0">
              <a:latin typeface="Arial" panose="020B0604020202090204" pitchFamily="34" charset="0"/>
            </a:endParaRPr>
          </a:p>
          <a:p>
            <a:pPr eaLnBrk="1" hangingPunct="1"/>
            <a:r>
              <a:rPr lang="en-US" altLang="zh-CN" smtClean="0">
                <a:latin typeface="Arial" panose="020B0604020202090204" pitchFamily="34" charset="0"/>
              </a:rPr>
              <a:t>2</a:t>
            </a:r>
            <a:r>
              <a:rPr lang="zh-CN" altLang="en-US" smtClean="0">
                <a:latin typeface="Arial" panose="020B0604020202090204" pitchFamily="34" charset="0"/>
              </a:rPr>
              <a:t>、例子：</a:t>
            </a:r>
            <a:r>
              <a:rPr lang="en-US" altLang="zh-CN" smtClean="0">
                <a:latin typeface="Arial" panose="020B0604020202090204" pitchFamily="34" charset="0"/>
              </a:rPr>
              <a:t>1+1=2</a:t>
            </a:r>
            <a:r>
              <a:rPr lang="zh-CN" altLang="en-US" smtClean="0">
                <a:latin typeface="Arial" panose="020B0604020202090204" pitchFamily="34" charset="0"/>
              </a:rPr>
              <a:t>，解一个方程式，一组数字的排序，寻找最佳路径、寻找班级的最高最低平均分数等。</a:t>
            </a:r>
            <a:endParaRPr lang="en-US" altLang="zh-CN" smtClean="0">
              <a:latin typeface="Arial" panose="020B0604020202090204" pitchFamily="34" charset="0"/>
            </a:endParaRPr>
          </a:p>
          <a:p>
            <a:pPr eaLnBrk="1" hangingPunct="1"/>
            <a:r>
              <a:rPr lang="en-US" altLang="zh-CN" smtClean="0">
                <a:latin typeface="Arial" panose="020B0604020202090204" pitchFamily="34" charset="0"/>
              </a:rPr>
              <a:t>3</a:t>
            </a:r>
            <a:r>
              <a:rPr lang="zh-CN" altLang="en-US" smtClean="0">
                <a:latin typeface="Arial" panose="020B0604020202090204" pitchFamily="34" charset="0"/>
              </a:rPr>
              <a:t>、可解的问题，不可解的问题，需要耗费大量计算的问题等，需要寻找最优算法。</a:t>
            </a:r>
            <a:endParaRPr lang="en-US" altLang="zh-CN" smtClean="0">
              <a:latin typeface="Arial" panose="020B0604020202090204" pitchFamily="34" charset="0"/>
            </a:endParaRPr>
          </a:p>
          <a:p>
            <a:pPr eaLnBrk="1" hangingPunct="1"/>
            <a:r>
              <a:rPr lang="en-US" altLang="zh-CN" smtClean="0">
                <a:latin typeface="Arial" panose="020B0604020202090204" pitchFamily="34" charset="0"/>
              </a:rPr>
              <a:t>4</a:t>
            </a:r>
            <a:r>
              <a:rPr lang="zh-CN" altLang="en-US" smtClean="0">
                <a:latin typeface="Arial" panose="020B0604020202090204" pitchFamily="34" charset="0"/>
              </a:rPr>
              <a:t>、一个问题是否只有一种算法？相似的问题用某一相似算法进行计算，就得到某一类算法。</a:t>
            </a:r>
            <a:endParaRPr lang="zh-CN" altLang="zh-CN" smtClean="0">
              <a:latin typeface="Arial" panose="020B0604020202090204" pitchFamily="34" charset="0"/>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幻灯片图像占位符 1"/>
          <p:cNvSpPr>
            <a:spLocks noGrp="1" noRot="1" noChangeAspect="1" noTextEdit="1"/>
          </p:cNvSpPr>
          <p:nvPr>
            <p:ph type="sldImg"/>
          </p:nvPr>
        </p:nvSpPr>
        <p:spPr/>
      </p:sp>
      <p:sp>
        <p:nvSpPr>
          <p:cNvPr id="17411"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zh-CN" altLang="en-US" smtClean="0">
                <a:latin typeface="Arial" panose="020B0604020202090204" pitchFamily="34" charset="0"/>
              </a:rPr>
              <a:t>可行性：整数算术运算能行，实数算术运算不能行；</a:t>
            </a:r>
            <a:br>
              <a:rPr lang="zh-CN" altLang="zh-CN" smtClean="0">
                <a:latin typeface="Arial" panose="020B0604020202090204" pitchFamily="34" charset="0"/>
              </a:rPr>
            </a:br>
            <a:r>
              <a:rPr lang="zh-CN" altLang="en-US" smtClean="0">
                <a:latin typeface="Arial" panose="020B0604020202090204" pitchFamily="34" charset="0"/>
              </a:rPr>
              <a:t>明确性：不能有二义，如</a:t>
            </a:r>
            <a:r>
              <a:rPr lang="en-US" altLang="zh-CN" smtClean="0">
                <a:latin typeface="Arial" panose="020B0604020202090204" pitchFamily="34" charset="0"/>
              </a:rPr>
              <a:t>5/0</a:t>
            </a:r>
            <a:r>
              <a:rPr lang="zh-CN" altLang="en-US" smtClean="0">
                <a:latin typeface="Arial" panose="020B0604020202090204" pitchFamily="34" charset="0"/>
              </a:rPr>
              <a:t>，</a:t>
            </a:r>
            <a:r>
              <a:rPr lang="en-US" altLang="zh-CN" smtClean="0">
                <a:latin typeface="Arial" panose="020B0604020202090204" pitchFamily="34" charset="0"/>
              </a:rPr>
              <a:t>6+x,x</a:t>
            </a:r>
            <a:r>
              <a:rPr lang="zh-CN" altLang="en-US" smtClean="0">
                <a:latin typeface="Arial" panose="020B0604020202090204" pitchFamily="34" charset="0"/>
              </a:rPr>
              <a:t>为未赋值变量</a:t>
            </a:r>
            <a:endParaRPr lang="en-US" altLang="zh-CN" smtClean="0">
              <a:latin typeface="Arial" panose="020B0604020202090204" pitchFamily="34" charset="0"/>
            </a:endParaRPr>
          </a:p>
          <a:p>
            <a:pPr eaLnBrk="1" hangingPunct="1"/>
            <a:endParaRPr lang="en-US" altLang="zh-CN" smtClean="0">
              <a:latin typeface="Arial" panose="020B0604020202090204" pitchFamily="34" charset="0"/>
            </a:endParaRPr>
          </a:p>
          <a:p>
            <a:pPr eaLnBrk="1" hangingPunct="1"/>
            <a:endParaRPr lang="zh-CN" altLang="en-US" smtClean="0">
              <a:latin typeface="Arial" panose="020B0604020202090204" pitchFamily="34" charset="0"/>
            </a:endParaRPr>
          </a:p>
        </p:txBody>
      </p:sp>
      <p:sp>
        <p:nvSpPr>
          <p:cNvPr id="17412"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749DAB55-748C-453A-85D8-714EC285ED41}" type="slidenum">
              <a:rPr lang="en-US" altLang="zh-CN" smtClean="0"/>
            </a:fld>
            <a:endParaRPr lang="en-US" altLang="zh-CN"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9A343E13-E282-46A0-9E2B-CC09F1FE2F05}" type="slidenum">
              <a:rPr lang="en-US" altLang="zh-CN" smtClean="0"/>
            </a:fld>
            <a:endParaRPr lang="en-US" altLang="zh-CN" smtClean="0"/>
          </a:p>
        </p:txBody>
      </p:sp>
      <p:sp>
        <p:nvSpPr>
          <p:cNvPr id="19459" name="Rectangle 2"/>
          <p:cNvSpPr>
            <a:spLocks noGrp="1" noRot="1" noChangeAspect="1" noChangeArrowheads="1" noTextEdit="1"/>
          </p:cNvSpPr>
          <p:nvPr>
            <p:ph type="sldImg"/>
          </p:nvPr>
        </p:nvSpPr>
        <p:spPr/>
      </p:sp>
      <p:sp>
        <p:nvSpPr>
          <p:cNvPr id="19460"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D67FED01-0D76-48FE-818B-E747B9A61F64}" type="slidenum">
              <a:rPr lang="en-US" altLang="zh-CN" smtClean="0"/>
            </a:fld>
            <a:endParaRPr lang="en-US" altLang="zh-CN" smtClean="0"/>
          </a:p>
        </p:txBody>
      </p:sp>
      <p:sp>
        <p:nvSpPr>
          <p:cNvPr id="21507" name="Rectangle 2"/>
          <p:cNvSpPr>
            <a:spLocks noGrp="1" noRot="1" noChangeAspect="1" noChangeArrowheads="1" noTextEdit="1"/>
          </p:cNvSpPr>
          <p:nvPr>
            <p:ph type="sldImg"/>
          </p:nvPr>
        </p:nvSpPr>
        <p:spPr/>
      </p:sp>
      <p:sp>
        <p:nvSpPr>
          <p:cNvPr id="2150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04D17D5E-A89E-44CB-A16F-614473B47611}" type="slidenum">
              <a:rPr lang="en-US" altLang="zh-CN" smtClean="0"/>
            </a:fld>
            <a:endParaRPr lang="en-US" altLang="zh-CN" smtClean="0"/>
          </a:p>
        </p:txBody>
      </p:sp>
      <p:sp>
        <p:nvSpPr>
          <p:cNvPr id="23555" name="Rectangle 2"/>
          <p:cNvSpPr>
            <a:spLocks noGrp="1" noRot="1" noChangeAspect="1" noChangeArrowheads="1" noTextEdit="1"/>
          </p:cNvSpPr>
          <p:nvPr>
            <p:ph type="sldImg"/>
          </p:nvPr>
        </p:nvSpPr>
        <p:spPr/>
      </p:sp>
      <p:sp>
        <p:nvSpPr>
          <p:cNvPr id="2355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6DFFB665-101B-46AD-8E4C-5AE93ADC48FB}" type="slidenum">
              <a:rPr lang="en-US" altLang="zh-CN" smtClean="0"/>
            </a:fld>
            <a:endParaRPr lang="en-US" altLang="zh-CN" smtClean="0"/>
          </a:p>
        </p:txBody>
      </p:sp>
      <p:sp>
        <p:nvSpPr>
          <p:cNvPr id="12291" name="Rectangle 2"/>
          <p:cNvSpPr>
            <a:spLocks noGrp="1" noRot="1" noChangeAspect="1" noChangeArrowheads="1" noTextEdit="1"/>
          </p:cNvSpPr>
          <p:nvPr>
            <p:ph type="sldImg"/>
          </p:nvPr>
        </p:nvSpPr>
        <p:spPr/>
      </p:sp>
      <p:sp>
        <p:nvSpPr>
          <p:cNvPr id="1229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6DFFB665-101B-46AD-8E4C-5AE93ADC48FB}" type="slidenum">
              <a:rPr lang="en-US" altLang="zh-CN" smtClean="0"/>
            </a:fld>
            <a:endParaRPr lang="en-US" altLang="zh-CN" smtClean="0"/>
          </a:p>
        </p:txBody>
      </p:sp>
      <p:sp>
        <p:nvSpPr>
          <p:cNvPr id="12291" name="Rectangle 2"/>
          <p:cNvSpPr>
            <a:spLocks noGrp="1" noRot="1" noChangeAspect="1" noChangeArrowheads="1" noTextEdit="1"/>
          </p:cNvSpPr>
          <p:nvPr>
            <p:ph type="sldImg"/>
          </p:nvPr>
        </p:nvSpPr>
        <p:spPr/>
      </p:sp>
      <p:sp>
        <p:nvSpPr>
          <p:cNvPr id="1229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dirty="0" smtClean="0">
              <a:latin typeface="Arial" panose="020B0604020202090204" pitchFamily="34" charset="0"/>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9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D02652BD-7F84-49D3-8392-D8249103B65A}" type="slidenum">
              <a:rPr lang="en-US" altLang="zh-CN"/>
            </a:fld>
            <a:endParaRPr lang="en-US" altLang="zh-CN"/>
          </a:p>
        </p:txBody>
      </p:sp>
      <p:sp>
        <p:nvSpPr>
          <p:cNvPr id="140291" name="Rectangle 2"/>
          <p:cNvSpPr>
            <a:spLocks noGrp="1" noRot="1" noChangeAspect="1" noChangeArrowheads="1" noTextEdit="1"/>
          </p:cNvSpPr>
          <p:nvPr>
            <p:ph type="sldImg"/>
          </p:nvPr>
        </p:nvSpPr>
        <p:spPr/>
      </p:sp>
      <p:sp>
        <p:nvSpPr>
          <p:cNvPr id="14029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31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9390840E-0028-434D-BF69-729EB7C29424}" type="slidenum">
              <a:rPr lang="en-US" altLang="zh-CN"/>
            </a:fld>
            <a:endParaRPr lang="en-US" altLang="zh-CN"/>
          </a:p>
        </p:txBody>
      </p:sp>
      <p:sp>
        <p:nvSpPr>
          <p:cNvPr id="141315" name="Rectangle 2"/>
          <p:cNvSpPr>
            <a:spLocks noGrp="1" noRot="1" noChangeAspect="1" noChangeArrowheads="1" noTextEdit="1"/>
          </p:cNvSpPr>
          <p:nvPr>
            <p:ph type="sldImg"/>
          </p:nvPr>
        </p:nvSpPr>
        <p:spPr/>
      </p:sp>
      <p:sp>
        <p:nvSpPr>
          <p:cNvPr id="14131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3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78A7307D-DDFA-454E-BBD4-33F15872B1CE}" type="slidenum">
              <a:rPr lang="en-US" altLang="zh-CN"/>
            </a:fld>
            <a:endParaRPr lang="en-US" altLang="zh-CN"/>
          </a:p>
        </p:txBody>
      </p:sp>
      <p:sp>
        <p:nvSpPr>
          <p:cNvPr id="142339" name="Rectangle 2"/>
          <p:cNvSpPr>
            <a:spLocks noGrp="1" noRot="1" noChangeAspect="1" noChangeArrowheads="1" noTextEdit="1"/>
          </p:cNvSpPr>
          <p:nvPr>
            <p:ph type="sldImg"/>
          </p:nvPr>
        </p:nvSpPr>
        <p:spPr/>
      </p:sp>
      <p:sp>
        <p:nvSpPr>
          <p:cNvPr id="142340"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2"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DD426CC6-B2F2-433F-89D5-93B587FBE09B}" type="slidenum">
              <a:rPr lang="en-US" altLang="zh-CN"/>
            </a:fld>
            <a:endParaRPr lang="en-US" altLang="zh-CN"/>
          </a:p>
        </p:txBody>
      </p:sp>
      <p:sp>
        <p:nvSpPr>
          <p:cNvPr id="143363" name="Rectangle 2"/>
          <p:cNvSpPr>
            <a:spLocks noGrp="1" noRot="1" noChangeAspect="1" noChangeArrowheads="1" noTextEdit="1"/>
          </p:cNvSpPr>
          <p:nvPr>
            <p:ph type="sldImg"/>
          </p:nvPr>
        </p:nvSpPr>
        <p:spPr/>
      </p:sp>
      <p:sp>
        <p:nvSpPr>
          <p:cNvPr id="14336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386"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446A1E6E-D33F-4F96-9720-0BBD9528853B}" type="slidenum">
              <a:rPr lang="en-US" altLang="zh-CN"/>
            </a:fld>
            <a:endParaRPr lang="en-US" altLang="zh-CN"/>
          </a:p>
        </p:txBody>
      </p:sp>
      <p:sp>
        <p:nvSpPr>
          <p:cNvPr id="144387" name="Rectangle 2"/>
          <p:cNvSpPr>
            <a:spLocks noGrp="1" noRot="1" noChangeAspect="1" noChangeArrowheads="1" noTextEdit="1"/>
          </p:cNvSpPr>
          <p:nvPr>
            <p:ph type="sldImg"/>
          </p:nvPr>
        </p:nvSpPr>
        <p:spPr/>
      </p:sp>
      <p:sp>
        <p:nvSpPr>
          <p:cNvPr id="14438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1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A2B55FE9-1356-4B7B-8015-B3A9E0C9A5F0}" type="slidenum">
              <a:rPr lang="en-US" altLang="zh-CN"/>
            </a:fld>
            <a:endParaRPr lang="en-US" altLang="zh-CN"/>
          </a:p>
        </p:txBody>
      </p:sp>
      <p:sp>
        <p:nvSpPr>
          <p:cNvPr id="145411" name="Rectangle 2"/>
          <p:cNvSpPr>
            <a:spLocks noGrp="1" noRot="1" noChangeAspect="1" noChangeArrowheads="1" noTextEdit="1"/>
          </p:cNvSpPr>
          <p:nvPr>
            <p:ph type="sldImg"/>
          </p:nvPr>
        </p:nvSpPr>
        <p:spPr/>
      </p:sp>
      <p:sp>
        <p:nvSpPr>
          <p:cNvPr id="14541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43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FC4E7C26-F2E3-4EB3-811F-31ABB2ABA3B3}" type="slidenum">
              <a:rPr lang="en-US" altLang="zh-CN"/>
            </a:fld>
            <a:endParaRPr lang="en-US" altLang="zh-CN"/>
          </a:p>
        </p:txBody>
      </p:sp>
      <p:sp>
        <p:nvSpPr>
          <p:cNvPr id="146435" name="Rectangle 2"/>
          <p:cNvSpPr>
            <a:spLocks noGrp="1" noRot="1" noChangeAspect="1" noChangeArrowheads="1" noTextEdit="1"/>
          </p:cNvSpPr>
          <p:nvPr>
            <p:ph type="sldImg"/>
          </p:nvPr>
        </p:nvSpPr>
        <p:spPr/>
      </p:sp>
      <p:sp>
        <p:nvSpPr>
          <p:cNvPr id="14643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211F2989-819D-4A9D-A8D3-DF6E0B259D22}" type="slidenum">
              <a:rPr lang="en-US" altLang="zh-CN"/>
            </a:fld>
            <a:endParaRPr lang="en-US" altLang="zh-CN"/>
          </a:p>
        </p:txBody>
      </p:sp>
      <p:sp>
        <p:nvSpPr>
          <p:cNvPr id="147459" name="Rectangle 2"/>
          <p:cNvSpPr>
            <a:spLocks noGrp="1" noRot="1" noChangeAspect="1" noChangeArrowheads="1" noTextEdit="1"/>
          </p:cNvSpPr>
          <p:nvPr>
            <p:ph type="sldImg"/>
          </p:nvPr>
        </p:nvSpPr>
        <p:spPr/>
      </p:sp>
      <p:sp>
        <p:nvSpPr>
          <p:cNvPr id="147460"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482"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D0A064A1-8181-4AD9-AEA5-379023E92106}" type="slidenum">
              <a:rPr lang="en-US" altLang="zh-CN"/>
            </a:fld>
            <a:endParaRPr lang="en-US" altLang="zh-CN"/>
          </a:p>
        </p:txBody>
      </p:sp>
      <p:sp>
        <p:nvSpPr>
          <p:cNvPr id="148483" name="Rectangle 2"/>
          <p:cNvSpPr>
            <a:spLocks noGrp="1" noRot="1" noChangeAspect="1" noChangeArrowheads="1" noTextEdit="1"/>
          </p:cNvSpPr>
          <p:nvPr>
            <p:ph type="sldImg"/>
          </p:nvPr>
        </p:nvSpPr>
        <p:spPr/>
      </p:sp>
      <p:sp>
        <p:nvSpPr>
          <p:cNvPr id="14848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506"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741CC19F-C5C4-4C72-8384-3E31E0A4B5ED}" type="slidenum">
              <a:rPr lang="en-US" altLang="zh-CN"/>
            </a:fld>
            <a:endParaRPr lang="en-US" altLang="zh-CN"/>
          </a:p>
        </p:txBody>
      </p:sp>
      <p:sp>
        <p:nvSpPr>
          <p:cNvPr id="149507" name="Rectangle 2"/>
          <p:cNvSpPr>
            <a:spLocks noGrp="1" noRot="1" noChangeAspect="1" noChangeArrowheads="1" noTextEdit="1"/>
          </p:cNvSpPr>
          <p:nvPr>
            <p:ph type="sldImg"/>
          </p:nvPr>
        </p:nvSpPr>
        <p:spPr/>
      </p:sp>
      <p:sp>
        <p:nvSpPr>
          <p:cNvPr id="14950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53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ECDE3BC9-65C6-4683-A47C-591FEB27616E}" type="slidenum">
              <a:rPr lang="en-US" altLang="zh-CN"/>
            </a:fld>
            <a:endParaRPr lang="en-US" altLang="zh-CN"/>
          </a:p>
        </p:txBody>
      </p:sp>
      <p:sp>
        <p:nvSpPr>
          <p:cNvPr id="150531" name="Rectangle 2"/>
          <p:cNvSpPr>
            <a:spLocks noGrp="1" noRot="1" noChangeAspect="1" noChangeArrowheads="1" noTextEdit="1"/>
          </p:cNvSpPr>
          <p:nvPr>
            <p:ph type="sldImg"/>
          </p:nvPr>
        </p:nvSpPr>
        <p:spPr/>
      </p:sp>
      <p:sp>
        <p:nvSpPr>
          <p:cNvPr id="15053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55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7054C16F-6B3F-47C6-8B2C-6DC44675DA41}" type="slidenum">
              <a:rPr lang="en-US" altLang="zh-CN"/>
            </a:fld>
            <a:endParaRPr lang="en-US" altLang="zh-CN"/>
          </a:p>
        </p:txBody>
      </p:sp>
      <p:sp>
        <p:nvSpPr>
          <p:cNvPr id="151555" name="Rectangle 2"/>
          <p:cNvSpPr>
            <a:spLocks noGrp="1" noRot="1" noChangeAspect="1" noChangeArrowheads="1" noTextEdit="1"/>
          </p:cNvSpPr>
          <p:nvPr>
            <p:ph type="sldImg"/>
          </p:nvPr>
        </p:nvSpPr>
        <p:spPr/>
      </p:sp>
      <p:sp>
        <p:nvSpPr>
          <p:cNvPr id="15155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57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5CD3D68D-583F-4293-9EC7-C27B8FB73F6A}" type="slidenum">
              <a:rPr lang="en-US" altLang="zh-CN"/>
            </a:fld>
            <a:endParaRPr lang="en-US" altLang="zh-CN"/>
          </a:p>
        </p:txBody>
      </p:sp>
      <p:sp>
        <p:nvSpPr>
          <p:cNvPr id="152579" name="Rectangle 2"/>
          <p:cNvSpPr>
            <a:spLocks noGrp="1" noRot="1" noChangeAspect="1" noChangeArrowheads="1" noTextEdit="1"/>
          </p:cNvSpPr>
          <p:nvPr>
            <p:ph type="sldImg"/>
          </p:nvPr>
        </p:nvSpPr>
        <p:spPr/>
      </p:sp>
      <p:sp>
        <p:nvSpPr>
          <p:cNvPr id="152580"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02"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E68115C4-33BE-4340-BEF9-D8AF424B6481}" type="slidenum">
              <a:rPr lang="en-US" altLang="zh-CN"/>
            </a:fld>
            <a:endParaRPr lang="en-US" altLang="zh-CN"/>
          </a:p>
        </p:txBody>
      </p:sp>
      <p:sp>
        <p:nvSpPr>
          <p:cNvPr id="153603" name="Rectangle 2"/>
          <p:cNvSpPr>
            <a:spLocks noGrp="1" noRot="1" noChangeAspect="1" noChangeArrowheads="1" noTextEdit="1"/>
          </p:cNvSpPr>
          <p:nvPr>
            <p:ph type="sldImg"/>
          </p:nvPr>
        </p:nvSpPr>
        <p:spPr/>
      </p:sp>
      <p:sp>
        <p:nvSpPr>
          <p:cNvPr id="15360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zh-CN" altLang="en-US" smtClean="0">
                <a:latin typeface="Arial" panose="020B0604020202090204" pitchFamily="34" charset="0"/>
              </a:rPr>
              <a:t>小</a:t>
            </a:r>
            <a:r>
              <a:rPr lang="en-US" altLang="zh-CN" smtClean="0">
                <a:latin typeface="Arial" panose="020B0604020202090204" pitchFamily="34" charset="0"/>
              </a:rPr>
              <a:t>o</a:t>
            </a:r>
            <a:r>
              <a:rPr lang="zh-CN" altLang="en-US" smtClean="0">
                <a:latin typeface="Arial" panose="020B0604020202090204" pitchFamily="34" charset="0"/>
              </a:rPr>
              <a:t>记法（非渐进紧确上界）</a:t>
            </a:r>
            <a:endParaRPr lang="zh-CN" altLang="zh-CN" smtClean="0">
              <a:latin typeface="Arial" panose="020B0604020202090204" pitchFamily="34" charset="0"/>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626"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D188D89F-BDEA-4447-AEB8-B2193623819B}" type="slidenum">
              <a:rPr lang="en-US" altLang="zh-CN"/>
            </a:fld>
            <a:endParaRPr lang="en-US" altLang="zh-CN"/>
          </a:p>
        </p:txBody>
      </p:sp>
      <p:sp>
        <p:nvSpPr>
          <p:cNvPr id="154627" name="Rectangle 2"/>
          <p:cNvSpPr>
            <a:spLocks noGrp="1" noRot="1" noChangeAspect="1" noChangeArrowheads="1" noTextEdit="1"/>
          </p:cNvSpPr>
          <p:nvPr>
            <p:ph type="sldImg"/>
          </p:nvPr>
        </p:nvSpPr>
        <p:spPr/>
      </p:sp>
      <p:sp>
        <p:nvSpPr>
          <p:cNvPr id="15462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65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0CF04399-72DB-4109-88BB-500EDA6619C5}" type="slidenum">
              <a:rPr lang="en-US" altLang="zh-CN"/>
            </a:fld>
            <a:endParaRPr lang="en-US" altLang="zh-CN"/>
          </a:p>
        </p:txBody>
      </p:sp>
      <p:sp>
        <p:nvSpPr>
          <p:cNvPr id="155651" name="Rectangle 2"/>
          <p:cNvSpPr>
            <a:spLocks noGrp="1" noRot="1" noChangeAspect="1" noChangeArrowheads="1" noTextEdit="1"/>
          </p:cNvSpPr>
          <p:nvPr>
            <p:ph type="sldImg"/>
          </p:nvPr>
        </p:nvSpPr>
        <p:spPr/>
      </p:sp>
      <p:sp>
        <p:nvSpPr>
          <p:cNvPr id="15565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67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24B156A8-127D-411A-8F9E-63E90BCC0C20}" type="slidenum">
              <a:rPr lang="en-US" altLang="zh-CN"/>
            </a:fld>
            <a:endParaRPr lang="en-US" altLang="zh-CN"/>
          </a:p>
        </p:txBody>
      </p:sp>
      <p:sp>
        <p:nvSpPr>
          <p:cNvPr id="156675" name="Rectangle 2"/>
          <p:cNvSpPr>
            <a:spLocks noGrp="1" noRot="1" noChangeAspect="1" noChangeArrowheads="1" noTextEdit="1"/>
          </p:cNvSpPr>
          <p:nvPr>
            <p:ph type="sldImg"/>
          </p:nvPr>
        </p:nvSpPr>
        <p:spPr/>
      </p:sp>
      <p:sp>
        <p:nvSpPr>
          <p:cNvPr id="15667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69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5F98CA7E-4FA2-49E1-B8D6-B2FFB15145CF}" type="slidenum">
              <a:rPr lang="en-US" altLang="zh-CN"/>
            </a:fld>
            <a:endParaRPr lang="en-US" altLang="zh-CN"/>
          </a:p>
        </p:txBody>
      </p:sp>
      <p:sp>
        <p:nvSpPr>
          <p:cNvPr id="157699" name="Rectangle 2"/>
          <p:cNvSpPr>
            <a:spLocks noGrp="1" noRot="1" noChangeAspect="1" noChangeArrowheads="1" noTextEdit="1"/>
          </p:cNvSpPr>
          <p:nvPr>
            <p:ph type="sldImg"/>
          </p:nvPr>
        </p:nvSpPr>
        <p:spPr/>
      </p:sp>
      <p:sp>
        <p:nvSpPr>
          <p:cNvPr id="157700"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zh-CN" smtClean="0">
              <a:latin typeface="Arial" panose="020B0604020202090204" pitchFamily="34" charset="0"/>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722"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E7B95EE5-A396-4203-B93F-552E065B6922}" type="slidenum">
              <a:rPr lang="en-US" altLang="zh-CN"/>
            </a:fld>
            <a:endParaRPr lang="en-US" altLang="zh-CN"/>
          </a:p>
        </p:txBody>
      </p:sp>
      <p:sp>
        <p:nvSpPr>
          <p:cNvPr id="158723" name="Rectangle 2"/>
          <p:cNvSpPr>
            <a:spLocks noGrp="1" noRot="1" noChangeAspect="1" noChangeArrowheads="1" noTextEdit="1"/>
          </p:cNvSpPr>
          <p:nvPr>
            <p:ph type="sldImg"/>
          </p:nvPr>
        </p:nvSpPr>
        <p:spPr/>
      </p:sp>
      <p:sp>
        <p:nvSpPr>
          <p:cNvPr id="15872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zh-CN" altLang="en-US" smtClean="0">
                <a:latin typeface="Arial" panose="020B0604020202090204" pitchFamily="34" charset="0"/>
              </a:rPr>
              <a:t>大</a:t>
            </a:r>
            <a:r>
              <a:rPr lang="en-US" altLang="zh-CN" smtClean="0">
                <a:latin typeface="Arial" panose="020B0604020202090204" pitchFamily="34" charset="0"/>
              </a:rPr>
              <a:t>O</a:t>
            </a:r>
            <a:r>
              <a:rPr lang="zh-CN" altLang="en-US" smtClean="0">
                <a:latin typeface="Arial" panose="020B0604020202090204" pitchFamily="34" charset="0"/>
              </a:rPr>
              <a:t>符号是由</a:t>
            </a:r>
            <a:r>
              <a:rPr lang="zh-CN" altLang="en-US" smtClean="0">
                <a:latin typeface="Arial" panose="020B0604020202090204" pitchFamily="34" charset="0"/>
                <a:hlinkClick r:id="rId3"/>
              </a:rPr>
              <a:t>德国</a:t>
            </a:r>
            <a:r>
              <a:rPr lang="zh-CN" altLang="en-US" smtClean="0">
                <a:latin typeface="Arial" panose="020B0604020202090204" pitchFamily="34" charset="0"/>
                <a:hlinkClick r:id="rId4"/>
              </a:rPr>
              <a:t>数论</a:t>
            </a:r>
            <a:r>
              <a:rPr lang="zh-CN" altLang="en-US" smtClean="0">
                <a:latin typeface="Arial" panose="020B0604020202090204" pitchFamily="34" charset="0"/>
              </a:rPr>
              <a:t>学家保罗</a:t>
            </a:r>
            <a:r>
              <a:rPr lang="en-US" altLang="zh-CN" smtClean="0">
                <a:latin typeface="Arial" panose="020B0604020202090204" pitchFamily="34" charset="0"/>
              </a:rPr>
              <a:t>·</a:t>
            </a:r>
            <a:r>
              <a:rPr lang="zh-CN" altLang="en-US" smtClean="0">
                <a:latin typeface="Arial" panose="020B0604020202090204" pitchFamily="34" charset="0"/>
              </a:rPr>
              <a:t>巴赫曼（</a:t>
            </a:r>
            <a:r>
              <a:rPr lang="en-US" altLang="zh-CN" smtClean="0">
                <a:latin typeface="Arial" panose="020B0604020202090204" pitchFamily="34" charset="0"/>
              </a:rPr>
              <a:t>Paul Bachmann</a:t>
            </a:r>
            <a:r>
              <a:rPr lang="zh-CN" altLang="en-US" smtClean="0">
                <a:latin typeface="Arial" panose="020B0604020202090204" pitchFamily="34" charset="0"/>
              </a:rPr>
              <a:t>）在其</a:t>
            </a:r>
            <a:r>
              <a:rPr lang="en-US" altLang="zh-CN" smtClean="0">
                <a:latin typeface="Arial" panose="020B0604020202090204" pitchFamily="34" charset="0"/>
              </a:rPr>
              <a:t>1892</a:t>
            </a:r>
            <a:r>
              <a:rPr lang="zh-CN" altLang="en-US" smtClean="0">
                <a:latin typeface="Arial" panose="020B0604020202090204" pitchFamily="34" charset="0"/>
              </a:rPr>
              <a:t>年的著作</a:t>
            </a:r>
            <a:r>
              <a:rPr lang="en-US" altLang="zh-CN" smtClean="0">
                <a:latin typeface="Arial" panose="020B0604020202090204" pitchFamily="34" charset="0"/>
              </a:rPr>
              <a:t>《</a:t>
            </a:r>
            <a:r>
              <a:rPr lang="zh-CN" altLang="en-US" smtClean="0">
                <a:latin typeface="Arial" panose="020B0604020202090204" pitchFamily="34" charset="0"/>
              </a:rPr>
              <a:t>解析数论</a:t>
            </a:r>
            <a:r>
              <a:rPr lang="en-US" altLang="zh-CN" smtClean="0">
                <a:latin typeface="Arial" panose="020B0604020202090204" pitchFamily="34" charset="0"/>
              </a:rPr>
              <a:t>》</a:t>
            </a:r>
            <a:r>
              <a:rPr lang="zh-CN" altLang="en-US" smtClean="0">
                <a:latin typeface="Arial" panose="020B0604020202090204" pitchFamily="34" charset="0"/>
              </a:rPr>
              <a:t>（</a:t>
            </a:r>
            <a:r>
              <a:rPr lang="en-US" altLang="zh-CN" i="1" smtClean="0">
                <a:latin typeface="Arial" panose="020B0604020202090204" pitchFamily="34" charset="0"/>
              </a:rPr>
              <a:t>Analytische Zahlentheorie</a:t>
            </a:r>
            <a:r>
              <a:rPr lang="zh-CN" altLang="en-US" smtClean="0">
                <a:latin typeface="Arial" panose="020B0604020202090204" pitchFamily="34" charset="0"/>
              </a:rPr>
              <a:t>）首先引入的。</a:t>
            </a:r>
            <a:endParaRPr lang="zh-CN" altLang="zh-CN" smtClean="0">
              <a:latin typeface="Arial" panose="020B0604020202090204" pitchFamily="34" charset="0"/>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746"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E56EDAEB-7B93-465C-B905-966DF23B41BB}" type="slidenum">
              <a:rPr lang="en-US" altLang="zh-CN"/>
            </a:fld>
            <a:endParaRPr lang="en-US" altLang="zh-CN"/>
          </a:p>
        </p:txBody>
      </p:sp>
      <p:sp>
        <p:nvSpPr>
          <p:cNvPr id="159747" name="Rectangle 2"/>
          <p:cNvSpPr>
            <a:spLocks noGrp="1" noRot="1" noChangeAspect="1" noChangeArrowheads="1" noTextEdit="1"/>
          </p:cNvSpPr>
          <p:nvPr>
            <p:ph type="sldImg"/>
          </p:nvPr>
        </p:nvSpPr>
        <p:spPr/>
      </p:sp>
      <p:sp>
        <p:nvSpPr>
          <p:cNvPr id="15974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77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6B03B915-10C5-4FFC-B8F4-5ABA83F2E2C2}" type="slidenum">
              <a:rPr lang="en-US" altLang="zh-CN"/>
            </a:fld>
            <a:endParaRPr lang="en-US" altLang="zh-CN"/>
          </a:p>
        </p:txBody>
      </p:sp>
      <p:sp>
        <p:nvSpPr>
          <p:cNvPr id="160771" name="Rectangle 2"/>
          <p:cNvSpPr>
            <a:spLocks noGrp="1" noRot="1" noChangeAspect="1" noChangeArrowheads="1" noTextEdit="1"/>
          </p:cNvSpPr>
          <p:nvPr>
            <p:ph type="sldImg"/>
          </p:nvPr>
        </p:nvSpPr>
        <p:spPr/>
      </p:sp>
      <p:sp>
        <p:nvSpPr>
          <p:cNvPr id="16077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zh-CN" smtClean="0">
                <a:latin typeface="Arial" panose="020B0604020202090204" pitchFamily="34" charset="0"/>
              </a:rPr>
              <a:t>O(g(n))</a:t>
            </a:r>
            <a:r>
              <a:rPr lang="zh-CN" altLang="en-US" smtClean="0">
                <a:latin typeface="Arial" panose="020B0604020202090204" pitchFamily="34" charset="0"/>
              </a:rPr>
              <a:t>表示以</a:t>
            </a:r>
            <a:r>
              <a:rPr lang="en-US" altLang="zh-CN" smtClean="0">
                <a:latin typeface="Arial" panose="020B0604020202090204" pitchFamily="34" charset="0"/>
              </a:rPr>
              <a:t>g(n)</a:t>
            </a:r>
            <a:r>
              <a:rPr lang="zh-CN" altLang="en-US" smtClean="0">
                <a:latin typeface="Arial" panose="020B0604020202090204" pitchFamily="34" charset="0"/>
              </a:rPr>
              <a:t>为上界的函数集合。</a:t>
            </a:r>
            <a:r>
              <a:rPr lang="en-US" altLang="zh-CN" smtClean="0">
                <a:latin typeface="Arial" panose="020B0604020202090204" pitchFamily="34" charset="0"/>
              </a:rPr>
              <a:t>f(n)</a:t>
            </a:r>
            <a:r>
              <a:rPr lang="zh-CN" altLang="en-US" smtClean="0">
                <a:latin typeface="Arial" panose="020B0604020202090204" pitchFamily="34" charset="0"/>
              </a:rPr>
              <a:t>为其中之一。</a:t>
            </a:r>
            <a:endParaRPr lang="en-US" altLang="zh-CN" smtClean="0">
              <a:latin typeface="Arial" panose="020B0604020202090204" pitchFamily="34" charset="0"/>
            </a:endParaRPr>
          </a:p>
          <a:p>
            <a:pPr eaLnBrk="1" hangingPunct="1"/>
            <a:r>
              <a:rPr lang="zh-CN" altLang="en-US" smtClean="0">
                <a:latin typeface="Arial" panose="020B0604020202090204" pitchFamily="34" charset="0"/>
              </a:rPr>
              <a:t>错误的表示</a:t>
            </a:r>
            <a:r>
              <a:rPr lang="en-US" altLang="zh-CN" smtClean="0">
                <a:latin typeface="Arial" panose="020B0604020202090204" pitchFamily="34" charset="0"/>
              </a:rPr>
              <a:t>O(g(n))=f(n)</a:t>
            </a:r>
            <a:endParaRPr lang="zh-CN" altLang="zh-CN" smtClean="0">
              <a:latin typeface="Arial" panose="020B0604020202090204" pitchFamily="34" charset="0"/>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42"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5BE4487D-A92F-4244-A5A8-2C64649BDB8A}" type="slidenum">
              <a:rPr lang="en-US" altLang="zh-CN"/>
            </a:fld>
            <a:endParaRPr lang="en-US" altLang="zh-CN"/>
          </a:p>
        </p:txBody>
      </p:sp>
      <p:sp>
        <p:nvSpPr>
          <p:cNvPr id="163843" name="Rectangle 2"/>
          <p:cNvSpPr>
            <a:spLocks noGrp="1" noRot="1" noChangeAspect="1" noChangeArrowheads="1" noTextEdit="1"/>
          </p:cNvSpPr>
          <p:nvPr>
            <p:ph type="sldImg"/>
          </p:nvPr>
        </p:nvSpPr>
        <p:spPr/>
      </p:sp>
      <p:sp>
        <p:nvSpPr>
          <p:cNvPr id="16384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zh-CN" altLang="en-US" smtClean="0">
                <a:latin typeface="Arial" panose="020B0604020202090204" pitchFamily="34" charset="0"/>
              </a:rPr>
              <a:t>一个问题本身也有它的</a:t>
            </a:r>
            <a:r>
              <a:rPr lang="zh-CN" altLang="en-US" smtClean="0">
                <a:latin typeface="Arial" panose="020B0604020202090204" pitchFamily="34" charset="0"/>
                <a:hlinkClick r:id="rId3"/>
              </a:rPr>
              <a:t>复杂度</a:t>
            </a:r>
            <a:r>
              <a:rPr lang="zh-CN" altLang="en-US" smtClean="0">
                <a:latin typeface="Arial" panose="020B0604020202090204" pitchFamily="34" charset="0"/>
              </a:rPr>
              <a:t>，如果某个算法的复杂度到达了这个问题复杂度的下界，那就称这样的算法是最佳算法。</a:t>
            </a:r>
            <a:endParaRPr lang="en-US" altLang="zh-CN" i="1" smtClean="0">
              <a:latin typeface="Arial" panose="020B0604020202090204" pitchFamily="34" charset="0"/>
              <a:sym typeface="Symbol" panose="05050102010706020507" pitchFamily="18" charset="2"/>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866"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F99639DB-CEF2-464B-B9B1-098EF127D537}" type="slidenum">
              <a:rPr lang="en-US" altLang="zh-CN"/>
            </a:fld>
            <a:endParaRPr lang="en-US" altLang="zh-CN"/>
          </a:p>
        </p:txBody>
      </p:sp>
      <p:sp>
        <p:nvSpPr>
          <p:cNvPr id="164867" name="Rectangle 2"/>
          <p:cNvSpPr>
            <a:spLocks noGrp="1" noRot="1" noChangeAspect="1" noChangeArrowheads="1" noTextEdit="1"/>
          </p:cNvSpPr>
          <p:nvPr>
            <p:ph type="sldImg"/>
          </p:nvPr>
        </p:nvSpPr>
        <p:spPr/>
      </p:sp>
      <p:sp>
        <p:nvSpPr>
          <p:cNvPr id="16486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zh-CN" i="1" smtClean="0">
              <a:latin typeface="Arial" panose="020B0604020202090204" pitchFamily="34" charset="0"/>
              <a:sym typeface="Symbol" panose="05050102010706020507" pitchFamily="18" charset="2"/>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89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C5A164CE-23BC-4180-8D76-52C4CE834F49}" type="slidenum">
              <a:rPr lang="en-US" altLang="zh-CN"/>
            </a:fld>
            <a:endParaRPr lang="en-US" altLang="zh-CN"/>
          </a:p>
        </p:txBody>
      </p:sp>
      <p:sp>
        <p:nvSpPr>
          <p:cNvPr id="165891" name="Rectangle 2"/>
          <p:cNvSpPr>
            <a:spLocks noGrp="1" noRot="1" noChangeAspect="1" noChangeArrowheads="1" noTextEdit="1"/>
          </p:cNvSpPr>
          <p:nvPr>
            <p:ph type="sldImg"/>
          </p:nvPr>
        </p:nvSpPr>
        <p:spPr/>
      </p:sp>
      <p:sp>
        <p:nvSpPr>
          <p:cNvPr id="16589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zh-CN" altLang="en-US" i="1" smtClean="0">
                <a:latin typeface="Arial" panose="020B0604020202090204" pitchFamily="34" charset="0"/>
                <a:sym typeface="Symbol" panose="05050102010706020507" pitchFamily="18" charset="2"/>
              </a:rPr>
              <a:t>用曲线说明</a:t>
            </a:r>
            <a:r>
              <a:rPr lang="en-US" altLang="zh-CN" i="1" smtClean="0">
                <a:latin typeface="Arial" panose="020B0604020202090204" pitchFamily="34" charset="0"/>
                <a:sym typeface="Symbol" panose="05050102010706020507" pitchFamily="18" charset="2"/>
              </a:rPr>
              <a:t>3</a:t>
            </a:r>
            <a:r>
              <a:rPr lang="zh-CN" altLang="en-US" i="1" smtClean="0">
                <a:latin typeface="Arial" panose="020B0604020202090204" pitchFamily="34" charset="0"/>
                <a:sym typeface="Symbol" panose="05050102010706020507" pitchFamily="18" charset="2"/>
              </a:rPr>
              <a:t>种记号的关系</a:t>
            </a:r>
            <a:endParaRPr lang="en-US" altLang="zh-CN" i="1" smtClean="0">
              <a:latin typeface="Arial" panose="020B0604020202090204" pitchFamily="34" charset="0"/>
              <a:sym typeface="Symbol" panose="05050102010706020507" pitchFamily="18" charset="2"/>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914" name="幻灯片图像占位符 1"/>
          <p:cNvSpPr>
            <a:spLocks noGrp="1" noRot="1" noChangeAspect="1" noTextEdit="1"/>
          </p:cNvSpPr>
          <p:nvPr>
            <p:ph type="sldImg"/>
          </p:nvPr>
        </p:nvSpPr>
        <p:spPr/>
      </p:sp>
      <p:sp>
        <p:nvSpPr>
          <p:cNvPr id="16691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latin typeface="Arial" panose="020B0604020202090204" pitchFamily="34" charset="0"/>
              </a:rPr>
              <a:t>从曲线上看，结合大</a:t>
            </a:r>
            <a:r>
              <a:rPr lang="en-US" altLang="zh-CN" smtClean="0">
                <a:latin typeface="Arial" panose="020B0604020202090204" pitchFamily="34" charset="0"/>
              </a:rPr>
              <a:t>O</a:t>
            </a:r>
            <a:r>
              <a:rPr lang="zh-CN" altLang="en-US" smtClean="0">
                <a:latin typeface="Arial" panose="020B0604020202090204" pitchFamily="34" charset="0"/>
              </a:rPr>
              <a:t>计数的</a:t>
            </a:r>
            <a:r>
              <a:rPr lang="en-US" altLang="zh-CN" smtClean="0">
                <a:latin typeface="Arial" panose="020B0604020202090204" pitchFamily="34" charset="0"/>
              </a:rPr>
              <a:t>lim</a:t>
            </a:r>
            <a:r>
              <a:rPr lang="zh-CN" altLang="en-US" smtClean="0">
                <a:latin typeface="Arial" panose="020B0604020202090204" pitchFamily="34" charset="0"/>
              </a:rPr>
              <a:t>定义，说明</a:t>
            </a:r>
            <a:r>
              <a:rPr lang="en-US" altLang="zh-CN" smtClean="0">
                <a:latin typeface="Arial" panose="020B0604020202090204" pitchFamily="34" charset="0"/>
              </a:rPr>
              <a:t>f</a:t>
            </a:r>
            <a:r>
              <a:rPr lang="zh-CN" altLang="en-US" smtClean="0">
                <a:latin typeface="Arial" panose="020B0604020202090204" pitchFamily="34" charset="0"/>
              </a:rPr>
              <a:t>（</a:t>
            </a:r>
            <a:r>
              <a:rPr lang="en-US" altLang="zh-CN" smtClean="0">
                <a:latin typeface="Arial" panose="020B0604020202090204" pitchFamily="34" charset="0"/>
              </a:rPr>
              <a:t>n</a:t>
            </a:r>
            <a:r>
              <a:rPr lang="zh-CN" altLang="en-US" smtClean="0">
                <a:latin typeface="Arial" panose="020B0604020202090204" pitchFamily="34" charset="0"/>
              </a:rPr>
              <a:t>）与</a:t>
            </a:r>
            <a:r>
              <a:rPr lang="en-US" altLang="zh-CN" smtClean="0">
                <a:latin typeface="Arial" panose="020B0604020202090204" pitchFamily="34" charset="0"/>
              </a:rPr>
              <a:t>g(n)</a:t>
            </a:r>
            <a:r>
              <a:rPr lang="zh-CN" altLang="en-US" smtClean="0">
                <a:latin typeface="Arial" panose="020B0604020202090204" pitchFamily="34" charset="0"/>
              </a:rPr>
              <a:t>曲线之间的关系，</a:t>
            </a:r>
            <a:r>
              <a:rPr lang="en-US" altLang="zh-CN" smtClean="0">
                <a:latin typeface="Arial" panose="020B0604020202090204" pitchFamily="34" charset="0"/>
              </a:rPr>
              <a:t>fn </a:t>
            </a:r>
            <a:r>
              <a:rPr lang="zh-CN" altLang="en-US" smtClean="0">
                <a:latin typeface="Arial" panose="020B0604020202090204" pitchFamily="34" charset="0"/>
              </a:rPr>
              <a:t>不能在</a:t>
            </a:r>
            <a:r>
              <a:rPr lang="en-US" altLang="zh-CN" smtClean="0">
                <a:latin typeface="Arial" panose="020B0604020202090204" pitchFamily="34" charset="0"/>
              </a:rPr>
              <a:t>n-&gt;</a:t>
            </a:r>
            <a:r>
              <a:rPr lang="zh-CN" altLang="en-US" smtClean="0">
                <a:latin typeface="Arial" panose="020B0604020202090204" pitchFamily="34" charset="0"/>
              </a:rPr>
              <a:t>无穷大时，</a:t>
            </a:r>
            <a:r>
              <a:rPr lang="en-US" altLang="zh-CN" smtClean="0">
                <a:latin typeface="Arial" panose="020B0604020202090204" pitchFamily="34" charset="0"/>
              </a:rPr>
              <a:t>f(n)</a:t>
            </a:r>
            <a:r>
              <a:rPr lang="zh-CN" altLang="en-US" smtClean="0">
                <a:latin typeface="Arial" panose="020B0604020202090204" pitchFamily="34" charset="0"/>
              </a:rPr>
              <a:t>超过曲线</a:t>
            </a:r>
            <a:r>
              <a:rPr lang="en-US" altLang="zh-CN" smtClean="0">
                <a:latin typeface="Arial" panose="020B0604020202090204" pitchFamily="34" charset="0"/>
              </a:rPr>
              <a:t>g(n)</a:t>
            </a:r>
            <a:r>
              <a:rPr lang="zh-CN" altLang="en-US" smtClean="0">
                <a:latin typeface="Arial" panose="020B0604020202090204" pitchFamily="34" charset="0"/>
              </a:rPr>
              <a:t>，否则</a:t>
            </a:r>
            <a:r>
              <a:rPr lang="en-US" altLang="zh-CN" smtClean="0">
                <a:latin typeface="Arial" panose="020B0604020202090204" pitchFamily="34" charset="0"/>
              </a:rPr>
              <a:t>lim</a:t>
            </a:r>
            <a:r>
              <a:rPr lang="zh-CN" altLang="en-US" smtClean="0">
                <a:latin typeface="Arial" panose="020B0604020202090204" pitchFamily="34" charset="0"/>
              </a:rPr>
              <a:t>极限</a:t>
            </a:r>
            <a:r>
              <a:rPr lang="en-US" altLang="zh-CN" smtClean="0">
                <a:latin typeface="Arial" panose="020B0604020202090204" pitchFamily="34" charset="0"/>
              </a:rPr>
              <a:t>-&gt;</a:t>
            </a:r>
            <a:r>
              <a:rPr lang="zh-CN" altLang="en-US" smtClean="0">
                <a:latin typeface="Arial" panose="020B0604020202090204" pitchFamily="34" charset="0"/>
              </a:rPr>
              <a:t>无穷大。</a:t>
            </a:r>
            <a:endParaRPr lang="en-US" altLang="zh-CN" smtClean="0">
              <a:latin typeface="Arial" panose="020B0604020202090204" pitchFamily="34" charset="0"/>
            </a:endParaRPr>
          </a:p>
          <a:p>
            <a:endParaRPr lang="zh-CN" altLang="en-US" smtClean="0">
              <a:latin typeface="Arial" panose="020B0604020202090204" pitchFamily="34" charset="0"/>
            </a:endParaRPr>
          </a:p>
        </p:txBody>
      </p:sp>
      <p:sp>
        <p:nvSpPr>
          <p:cNvPr id="16691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801EC531-8676-406E-9399-F12A415AB8AA}" type="slidenum">
              <a:rPr lang="en-US" altLang="zh-CN"/>
            </a:fld>
            <a:endParaRPr lang="en-US" altLang="zh-CN"/>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93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E7DD0258-E265-475F-878C-1071BB2D1408}" type="slidenum">
              <a:rPr lang="en-US" altLang="zh-CN"/>
            </a:fld>
            <a:endParaRPr lang="en-US" altLang="zh-CN"/>
          </a:p>
        </p:txBody>
      </p:sp>
      <p:sp>
        <p:nvSpPr>
          <p:cNvPr id="167939" name="Rectangle 2"/>
          <p:cNvSpPr>
            <a:spLocks noGrp="1" noRot="1" noChangeAspect="1" noChangeArrowheads="1" noTextEdit="1"/>
          </p:cNvSpPr>
          <p:nvPr>
            <p:ph type="sldImg"/>
          </p:nvPr>
        </p:nvSpPr>
        <p:spPr/>
      </p:sp>
      <p:sp>
        <p:nvSpPr>
          <p:cNvPr id="167940"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zh-CN" i="1" smtClean="0">
              <a:latin typeface="Arial" panose="020B0604020202090204" pitchFamily="34" charset="0"/>
              <a:sym typeface="Symbol" panose="05050102010706020507" pitchFamily="18" charset="2"/>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962"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9543D7A6-EBE6-46E5-BD9F-7D7B715C8DD7}" type="slidenum">
              <a:rPr lang="en-US" altLang="zh-CN"/>
            </a:fld>
            <a:endParaRPr lang="en-US" altLang="zh-CN"/>
          </a:p>
        </p:txBody>
      </p:sp>
      <p:sp>
        <p:nvSpPr>
          <p:cNvPr id="168963" name="Rectangle 2"/>
          <p:cNvSpPr>
            <a:spLocks noGrp="1" noRot="1" noChangeAspect="1" noChangeArrowheads="1" noTextEdit="1"/>
          </p:cNvSpPr>
          <p:nvPr>
            <p:ph type="sldImg"/>
          </p:nvPr>
        </p:nvSpPr>
        <p:spPr/>
      </p:sp>
      <p:sp>
        <p:nvSpPr>
          <p:cNvPr id="16896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zh-CN" i="1" smtClean="0">
              <a:latin typeface="Arial" panose="020B0604020202090204" pitchFamily="34" charset="0"/>
              <a:sym typeface="Symbol" panose="05050102010706020507" pitchFamily="18" charset="2"/>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986"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86DD2D1B-F85F-4638-BB3C-5CB00E311F3F}" type="slidenum">
              <a:rPr lang="en-US" altLang="zh-CN"/>
            </a:fld>
            <a:endParaRPr lang="en-US" altLang="zh-CN"/>
          </a:p>
        </p:txBody>
      </p:sp>
      <p:sp>
        <p:nvSpPr>
          <p:cNvPr id="169987" name="Rectangle 2"/>
          <p:cNvSpPr>
            <a:spLocks noGrp="1" noRot="1" noChangeAspect="1" noChangeArrowheads="1" noTextEdit="1"/>
          </p:cNvSpPr>
          <p:nvPr>
            <p:ph type="sldImg"/>
          </p:nvPr>
        </p:nvSpPr>
        <p:spPr/>
      </p:sp>
      <p:sp>
        <p:nvSpPr>
          <p:cNvPr id="16998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zh-CN" altLang="en-US" smtClean="0">
                <a:latin typeface="Arial" panose="020B0604020202090204" pitchFamily="34" charset="0"/>
              </a:rPr>
              <a:t>例如：</a:t>
            </a:r>
            <a:r>
              <a:rPr lang="en-US" altLang="zh-CN" smtClean="0">
                <a:latin typeface="Arial" panose="020B0604020202090204" pitchFamily="34" charset="0"/>
              </a:rPr>
              <a:t>n =o(n</a:t>
            </a:r>
            <a:r>
              <a:rPr lang="en-US" altLang="zh-CN" baseline="30000" smtClean="0">
                <a:latin typeface="Arial" panose="020B0604020202090204" pitchFamily="34" charset="0"/>
              </a:rPr>
              <a:t>2</a:t>
            </a:r>
            <a:r>
              <a:rPr lang="en-US" altLang="zh-CN" smtClean="0">
                <a:latin typeface="Arial" panose="020B0604020202090204" pitchFamily="34" charset="0"/>
              </a:rPr>
              <a:t> )</a:t>
            </a:r>
            <a:endParaRPr lang="zh-CN" altLang="zh-CN" baseline="30000" smtClean="0">
              <a:latin typeface="Arial" panose="020B0604020202090204" pitchFamily="34" charset="0"/>
            </a:endParaRPr>
          </a:p>
          <a:p>
            <a:pPr eaLnBrk="1" hangingPunct="1"/>
            <a:endParaRPr lang="zh-CN" altLang="zh-CN" baseline="30000" smtClean="0">
              <a:latin typeface="Arial" panose="020B0604020202090204" pitchFamily="34" charset="0"/>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01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66584C6A-33DB-4DB5-8115-F51175163C5A}" type="slidenum">
              <a:rPr lang="en-US" altLang="zh-CN"/>
            </a:fld>
            <a:endParaRPr lang="en-US" altLang="zh-CN"/>
          </a:p>
        </p:txBody>
      </p:sp>
      <p:sp>
        <p:nvSpPr>
          <p:cNvPr id="171011" name="Rectangle 2"/>
          <p:cNvSpPr>
            <a:spLocks noGrp="1" noRot="1" noChangeAspect="1" noChangeArrowheads="1" noTextEdit="1"/>
          </p:cNvSpPr>
          <p:nvPr>
            <p:ph type="sldImg"/>
          </p:nvPr>
        </p:nvSpPr>
        <p:spPr/>
      </p:sp>
      <p:sp>
        <p:nvSpPr>
          <p:cNvPr id="17101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zh-CN" altLang="en-US" smtClean="0">
                <a:latin typeface="Arial" panose="020B0604020202090204" pitchFamily="34" charset="0"/>
              </a:rPr>
              <a:t>例如：</a:t>
            </a:r>
            <a:r>
              <a:rPr lang="en-US" altLang="zh-CN" smtClean="0">
                <a:latin typeface="Arial" panose="020B0604020202090204" pitchFamily="34" charset="0"/>
              </a:rPr>
              <a:t>n</a:t>
            </a:r>
            <a:r>
              <a:rPr lang="en-US" altLang="zh-CN" baseline="30000" smtClean="0">
                <a:latin typeface="Arial" panose="020B0604020202090204" pitchFamily="34" charset="0"/>
              </a:rPr>
              <a:t>2</a:t>
            </a:r>
            <a:r>
              <a:rPr lang="en-US" altLang="zh-CN" smtClean="0">
                <a:latin typeface="Arial" panose="020B0604020202090204" pitchFamily="34" charset="0"/>
              </a:rPr>
              <a:t> =w(n)</a:t>
            </a:r>
            <a:endParaRPr lang="en-US" altLang="zh-CN" smtClean="0">
              <a:latin typeface="Arial" panose="020B0604020202090204" pitchFamily="34" charset="0"/>
            </a:endParaRPr>
          </a:p>
          <a:p>
            <a:pPr eaLnBrk="1" hangingPunct="1"/>
            <a:endParaRPr lang="zh-CN" altLang="zh-CN" smtClean="0">
              <a:latin typeface="Arial" panose="020B0604020202090204" pitchFamily="34" charset="0"/>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03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869757D5-48F4-414D-B769-A6E29A501C0E}" type="slidenum">
              <a:rPr lang="en-US" altLang="zh-CN"/>
            </a:fld>
            <a:endParaRPr lang="en-US" altLang="zh-CN"/>
          </a:p>
        </p:txBody>
      </p:sp>
      <p:sp>
        <p:nvSpPr>
          <p:cNvPr id="172035" name="Rectangle 2"/>
          <p:cNvSpPr>
            <a:spLocks noGrp="1" noRot="1" noChangeAspect="1" noChangeArrowheads="1" noTextEdit="1"/>
          </p:cNvSpPr>
          <p:nvPr>
            <p:ph type="sldImg"/>
          </p:nvPr>
        </p:nvSpPr>
        <p:spPr/>
      </p:sp>
      <p:sp>
        <p:nvSpPr>
          <p:cNvPr id="17203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5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10B4B220-3C41-4589-A3EA-AFF52918684A}" type="slidenum">
              <a:rPr lang="en-US" altLang="zh-CN"/>
            </a:fld>
            <a:endParaRPr lang="en-US" altLang="zh-CN"/>
          </a:p>
        </p:txBody>
      </p:sp>
      <p:sp>
        <p:nvSpPr>
          <p:cNvPr id="173059" name="Rectangle 2"/>
          <p:cNvSpPr>
            <a:spLocks noGrp="1" noRot="1" noChangeAspect="1" noChangeArrowheads="1" noTextEdit="1"/>
          </p:cNvSpPr>
          <p:nvPr>
            <p:ph type="sldImg"/>
          </p:nvPr>
        </p:nvSpPr>
        <p:spPr/>
      </p:sp>
      <p:sp>
        <p:nvSpPr>
          <p:cNvPr id="173060"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82"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3DC5480A-1FB5-4905-866E-7ED4DFB6A2D2}" type="slidenum">
              <a:rPr lang="en-US" altLang="zh-CN"/>
            </a:fld>
            <a:endParaRPr lang="en-US" altLang="zh-CN"/>
          </a:p>
        </p:txBody>
      </p:sp>
      <p:sp>
        <p:nvSpPr>
          <p:cNvPr id="174083" name="Rectangle 2"/>
          <p:cNvSpPr>
            <a:spLocks noGrp="1" noRot="1" noChangeAspect="1" noChangeArrowheads="1" noTextEdit="1"/>
          </p:cNvSpPr>
          <p:nvPr>
            <p:ph type="sldImg"/>
          </p:nvPr>
        </p:nvSpPr>
        <p:spPr/>
      </p:sp>
      <p:sp>
        <p:nvSpPr>
          <p:cNvPr id="17408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106"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EDB2D590-3797-433F-8980-438BB34AD2C5}" type="slidenum">
              <a:rPr lang="en-US" altLang="zh-CN"/>
            </a:fld>
            <a:endParaRPr lang="en-US" altLang="zh-CN"/>
          </a:p>
        </p:txBody>
      </p:sp>
      <p:sp>
        <p:nvSpPr>
          <p:cNvPr id="175107" name="Rectangle 2"/>
          <p:cNvSpPr>
            <a:spLocks noGrp="1" noRot="1" noChangeAspect="1" noChangeArrowheads="1" noTextEdit="1"/>
          </p:cNvSpPr>
          <p:nvPr>
            <p:ph type="sldImg"/>
          </p:nvPr>
        </p:nvSpPr>
        <p:spPr/>
      </p:sp>
      <p:sp>
        <p:nvSpPr>
          <p:cNvPr id="17510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613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1743E3C1-CCFF-435B-AC27-5670DC3933C2}" type="slidenum">
              <a:rPr lang="en-US" altLang="zh-CN"/>
            </a:fld>
            <a:endParaRPr lang="en-US" altLang="zh-CN"/>
          </a:p>
        </p:txBody>
      </p:sp>
      <p:sp>
        <p:nvSpPr>
          <p:cNvPr id="176131" name="Rectangle 2"/>
          <p:cNvSpPr>
            <a:spLocks noGrp="1" noRot="1" noChangeAspect="1" noChangeArrowheads="1" noTextEdit="1"/>
          </p:cNvSpPr>
          <p:nvPr>
            <p:ph type="sldImg"/>
          </p:nvPr>
        </p:nvSpPr>
        <p:spPr/>
      </p:sp>
      <p:sp>
        <p:nvSpPr>
          <p:cNvPr id="17613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15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DA7B0291-47E2-490F-98B6-F6CFFEF9BB08}" type="slidenum">
              <a:rPr lang="en-US" altLang="zh-CN"/>
            </a:fld>
            <a:endParaRPr lang="en-US" altLang="zh-CN"/>
          </a:p>
        </p:txBody>
      </p:sp>
      <p:sp>
        <p:nvSpPr>
          <p:cNvPr id="177155" name="Rectangle 2"/>
          <p:cNvSpPr>
            <a:spLocks noGrp="1" noRot="1" noChangeAspect="1" noChangeArrowheads="1" noTextEdit="1"/>
          </p:cNvSpPr>
          <p:nvPr>
            <p:ph type="sldImg"/>
          </p:nvPr>
        </p:nvSpPr>
        <p:spPr/>
      </p:sp>
      <p:sp>
        <p:nvSpPr>
          <p:cNvPr id="17715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17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C0F8AB9A-1D54-4BFF-B468-19CC310E294B}" type="slidenum">
              <a:rPr lang="en-US" altLang="zh-CN"/>
            </a:fld>
            <a:endParaRPr lang="en-US" altLang="zh-CN"/>
          </a:p>
        </p:txBody>
      </p:sp>
      <p:sp>
        <p:nvSpPr>
          <p:cNvPr id="178179" name="Rectangle 2"/>
          <p:cNvSpPr>
            <a:spLocks noGrp="1" noRot="1" noChangeAspect="1" noChangeArrowheads="1" noTextEdit="1"/>
          </p:cNvSpPr>
          <p:nvPr>
            <p:ph type="sldImg"/>
          </p:nvPr>
        </p:nvSpPr>
        <p:spPr/>
      </p:sp>
      <p:sp>
        <p:nvSpPr>
          <p:cNvPr id="178180"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202"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76E81DC7-6A0C-4671-921D-8B01A8AD1B04}" type="slidenum">
              <a:rPr lang="en-US" altLang="zh-CN"/>
            </a:fld>
            <a:endParaRPr lang="en-US" altLang="zh-CN"/>
          </a:p>
        </p:txBody>
      </p:sp>
      <p:sp>
        <p:nvSpPr>
          <p:cNvPr id="179203" name="Rectangle 2"/>
          <p:cNvSpPr>
            <a:spLocks noGrp="1" noRot="1" noChangeAspect="1" noChangeArrowheads="1" noTextEdit="1"/>
          </p:cNvSpPr>
          <p:nvPr>
            <p:ph type="sldImg"/>
          </p:nvPr>
        </p:nvSpPr>
        <p:spPr/>
      </p:sp>
      <p:sp>
        <p:nvSpPr>
          <p:cNvPr id="17920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0226"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450B531B-5DB8-496D-B46B-6D425E6753F7}" type="slidenum">
              <a:rPr lang="en-US" altLang="zh-CN"/>
            </a:fld>
            <a:endParaRPr lang="en-US" altLang="zh-CN"/>
          </a:p>
        </p:txBody>
      </p:sp>
      <p:sp>
        <p:nvSpPr>
          <p:cNvPr id="180227" name="Rectangle 2"/>
          <p:cNvSpPr>
            <a:spLocks noGrp="1" noRot="1" noChangeAspect="1" noChangeArrowheads="1" noTextEdit="1"/>
          </p:cNvSpPr>
          <p:nvPr>
            <p:ph type="sldImg"/>
          </p:nvPr>
        </p:nvSpPr>
        <p:spPr/>
      </p:sp>
      <p:sp>
        <p:nvSpPr>
          <p:cNvPr id="18022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25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25E3AF36-6A92-4AD2-89D7-E5EF9F1A02CB}" type="slidenum">
              <a:rPr lang="en-US" altLang="zh-CN"/>
            </a:fld>
            <a:endParaRPr lang="en-US" altLang="zh-CN"/>
          </a:p>
        </p:txBody>
      </p:sp>
      <p:sp>
        <p:nvSpPr>
          <p:cNvPr id="181251" name="Rectangle 2"/>
          <p:cNvSpPr>
            <a:spLocks noGrp="1" noRot="1" noChangeAspect="1" noChangeArrowheads="1" noTextEdit="1"/>
          </p:cNvSpPr>
          <p:nvPr>
            <p:ph type="sldImg"/>
          </p:nvPr>
        </p:nvSpPr>
        <p:spPr/>
      </p:sp>
      <p:sp>
        <p:nvSpPr>
          <p:cNvPr id="18125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B64F89CC-5DFF-4A67-ABE7-D669CF8345C9}" type="slidenum">
              <a:rPr lang="en-US" altLang="zh-CN"/>
            </a:fld>
            <a:endParaRPr lang="en-US" altLang="zh-CN"/>
          </a:p>
        </p:txBody>
      </p:sp>
      <p:sp>
        <p:nvSpPr>
          <p:cNvPr id="182275" name="Rectangle 2"/>
          <p:cNvSpPr>
            <a:spLocks noGrp="1" noRot="1" noChangeAspect="1" noChangeArrowheads="1" noTextEdit="1"/>
          </p:cNvSpPr>
          <p:nvPr>
            <p:ph type="sldImg"/>
          </p:nvPr>
        </p:nvSpPr>
        <p:spPr/>
      </p:sp>
      <p:sp>
        <p:nvSpPr>
          <p:cNvPr id="18227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29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54940EDB-3B74-40D8-8243-611D371E050D}" type="slidenum">
              <a:rPr lang="en-US" altLang="zh-CN"/>
            </a:fld>
            <a:endParaRPr lang="en-US" altLang="zh-CN"/>
          </a:p>
        </p:txBody>
      </p:sp>
      <p:sp>
        <p:nvSpPr>
          <p:cNvPr id="183299" name="Rectangle 2"/>
          <p:cNvSpPr>
            <a:spLocks noGrp="1" noRot="1" noChangeAspect="1" noChangeArrowheads="1" noTextEdit="1"/>
          </p:cNvSpPr>
          <p:nvPr>
            <p:ph type="sldImg"/>
          </p:nvPr>
        </p:nvSpPr>
        <p:spPr/>
      </p:sp>
      <p:sp>
        <p:nvSpPr>
          <p:cNvPr id="183300"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22"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E29C55F4-5F8B-4627-8D32-7DE27E599F3C}" type="slidenum">
              <a:rPr lang="en-US" altLang="zh-CN"/>
            </a:fld>
            <a:endParaRPr lang="en-US" altLang="zh-CN"/>
          </a:p>
        </p:txBody>
      </p:sp>
      <p:sp>
        <p:nvSpPr>
          <p:cNvPr id="184323" name="Rectangle 2"/>
          <p:cNvSpPr>
            <a:spLocks noGrp="1" noRot="1" noChangeAspect="1" noChangeArrowheads="1" noTextEdit="1"/>
          </p:cNvSpPr>
          <p:nvPr>
            <p:ph type="sldImg"/>
          </p:nvPr>
        </p:nvSpPr>
        <p:spPr/>
      </p:sp>
      <p:sp>
        <p:nvSpPr>
          <p:cNvPr id="18432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346"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32ECC1C6-401E-4BAF-A212-5F1FD1C3FC36}" type="slidenum">
              <a:rPr lang="en-US" altLang="zh-CN"/>
            </a:fld>
            <a:endParaRPr lang="en-US" altLang="zh-CN"/>
          </a:p>
        </p:txBody>
      </p:sp>
      <p:sp>
        <p:nvSpPr>
          <p:cNvPr id="185347" name="Rectangle 2"/>
          <p:cNvSpPr>
            <a:spLocks noGrp="1" noRot="1" noChangeAspect="1" noChangeArrowheads="1" noTextEdit="1"/>
          </p:cNvSpPr>
          <p:nvPr>
            <p:ph type="sldImg"/>
          </p:nvPr>
        </p:nvSpPr>
        <p:spPr/>
      </p:sp>
      <p:sp>
        <p:nvSpPr>
          <p:cNvPr id="18534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7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B402E15C-B906-4238-B41D-9688B5BB6992}" type="slidenum">
              <a:rPr lang="en-US" altLang="zh-CN"/>
            </a:fld>
            <a:endParaRPr lang="en-US" altLang="zh-CN"/>
          </a:p>
        </p:txBody>
      </p:sp>
      <p:sp>
        <p:nvSpPr>
          <p:cNvPr id="186371" name="Rectangle 2"/>
          <p:cNvSpPr>
            <a:spLocks noGrp="1" noRot="1" noChangeAspect="1" noChangeArrowheads="1" noTextEdit="1"/>
          </p:cNvSpPr>
          <p:nvPr>
            <p:ph type="sldImg"/>
          </p:nvPr>
        </p:nvSpPr>
        <p:spPr/>
      </p:sp>
      <p:sp>
        <p:nvSpPr>
          <p:cNvPr id="18637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39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13E05437-9E2C-451F-87DD-64D715051AC8}" type="slidenum">
              <a:rPr lang="en-US" altLang="zh-CN"/>
            </a:fld>
            <a:endParaRPr lang="en-US" altLang="zh-CN"/>
          </a:p>
        </p:txBody>
      </p:sp>
      <p:sp>
        <p:nvSpPr>
          <p:cNvPr id="187395" name="Rectangle 2"/>
          <p:cNvSpPr>
            <a:spLocks noGrp="1" noRot="1" noChangeAspect="1" noChangeArrowheads="1" noTextEdit="1"/>
          </p:cNvSpPr>
          <p:nvPr>
            <p:ph type="sldImg"/>
          </p:nvPr>
        </p:nvSpPr>
        <p:spPr/>
      </p:sp>
      <p:sp>
        <p:nvSpPr>
          <p:cNvPr id="18739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22"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A305FD6A-94FB-486A-807B-1317130147E9}" type="slidenum">
              <a:rPr lang="en-US" altLang="zh-CN" smtClean="0"/>
            </a:fld>
            <a:endParaRPr lang="en-US" altLang="zh-CN" dirty="0" smtClean="0"/>
          </a:p>
        </p:txBody>
      </p:sp>
      <p:sp>
        <p:nvSpPr>
          <p:cNvPr id="184323" name="Rectangle 2"/>
          <p:cNvSpPr>
            <a:spLocks noGrp="1" noRot="1" noChangeAspect="1" noChangeArrowheads="1" noTextEdit="1"/>
          </p:cNvSpPr>
          <p:nvPr>
            <p:ph type="sldImg"/>
          </p:nvPr>
        </p:nvSpPr>
        <p:spPr/>
      </p:sp>
      <p:sp>
        <p:nvSpPr>
          <p:cNvPr id="18432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6DFFB665-101B-46AD-8E4C-5AE93ADC48FB}" type="slidenum">
              <a:rPr lang="en-US" altLang="zh-CN" smtClean="0"/>
            </a:fld>
            <a:endParaRPr lang="en-US" altLang="zh-CN" smtClean="0"/>
          </a:p>
        </p:txBody>
      </p:sp>
      <p:sp>
        <p:nvSpPr>
          <p:cNvPr id="12291" name="Rectangle 2"/>
          <p:cNvSpPr>
            <a:spLocks noGrp="1" noRot="1" noChangeAspect="1" noChangeArrowheads="1" noTextEdit="1"/>
          </p:cNvSpPr>
          <p:nvPr>
            <p:ph type="sldImg"/>
          </p:nvPr>
        </p:nvSpPr>
        <p:spPr/>
      </p:sp>
      <p:sp>
        <p:nvSpPr>
          <p:cNvPr id="1229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6DFFB665-101B-46AD-8E4C-5AE93ADC48FB}" type="slidenum">
              <a:rPr lang="en-US" altLang="zh-CN" smtClean="0"/>
            </a:fld>
            <a:endParaRPr lang="en-US" altLang="zh-CN" smtClean="0"/>
          </a:p>
        </p:txBody>
      </p:sp>
      <p:sp>
        <p:nvSpPr>
          <p:cNvPr id="12291" name="Rectangle 2"/>
          <p:cNvSpPr>
            <a:spLocks noGrp="1" noRot="1" noChangeAspect="1" noChangeArrowheads="1" noTextEdit="1"/>
          </p:cNvSpPr>
          <p:nvPr>
            <p:ph type="sldImg"/>
          </p:nvPr>
        </p:nvSpPr>
        <p:spPr/>
      </p:sp>
      <p:sp>
        <p:nvSpPr>
          <p:cNvPr id="1229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dirty="0" smtClean="0">
              <a:latin typeface="Arial" panose="020B0604020202090204" pitchFamily="34" charset="0"/>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DCF952A7-49F2-4C76-8B90-551E200149B3}" type="slidenum">
              <a:rPr lang="en-US" altLang="zh-CN" smtClean="0"/>
            </a:fld>
            <a:endParaRPr lang="en-US" altLang="zh-CN" smtClean="0"/>
          </a:p>
        </p:txBody>
      </p:sp>
      <p:sp>
        <p:nvSpPr>
          <p:cNvPr id="9219" name="Rectangle 2"/>
          <p:cNvSpPr>
            <a:spLocks noGrp="1" noRot="1" noChangeAspect="1" noChangeArrowheads="1" noTextEdit="1"/>
          </p:cNvSpPr>
          <p:nvPr>
            <p:ph type="sldImg"/>
          </p:nvPr>
        </p:nvSpPr>
        <p:spPr/>
      </p:sp>
      <p:sp>
        <p:nvSpPr>
          <p:cNvPr id="9220"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C447CBC9-CEFB-4766-9B27-E7EDC1CA493B}" type="slidenum">
              <a:rPr lang="en-US" altLang="zh-CN" smtClean="0"/>
            </a:fld>
            <a:endParaRPr lang="en-US" altLang="zh-CN" smtClean="0"/>
          </a:p>
        </p:txBody>
      </p:sp>
      <p:sp>
        <p:nvSpPr>
          <p:cNvPr id="11267" name="Rectangle 2"/>
          <p:cNvSpPr>
            <a:spLocks noGrp="1" noRot="1" noChangeAspect="1" noChangeArrowheads="1" noTextEdit="1"/>
          </p:cNvSpPr>
          <p:nvPr>
            <p:ph type="sldImg"/>
          </p:nvPr>
        </p:nvSpPr>
        <p:spPr/>
      </p:sp>
      <p:sp>
        <p:nvSpPr>
          <p:cNvPr id="1126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E64627C8-9597-446F-A627-14F4C5E044C2}" type="slidenum">
              <a:rPr lang="en-US" altLang="zh-CN" smtClean="0"/>
            </a:fld>
            <a:endParaRPr lang="en-US" altLang="zh-CN" smtClean="0"/>
          </a:p>
        </p:txBody>
      </p:sp>
      <p:sp>
        <p:nvSpPr>
          <p:cNvPr id="13315" name="Rectangle 2"/>
          <p:cNvSpPr>
            <a:spLocks noGrp="1" noRot="1" noChangeAspect="1" noChangeArrowheads="1" noTextEdit="1"/>
          </p:cNvSpPr>
          <p:nvPr>
            <p:ph type="sldImg"/>
          </p:nvPr>
        </p:nvSpPr>
        <p:spPr/>
      </p:sp>
      <p:sp>
        <p:nvSpPr>
          <p:cNvPr id="1331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41B37465-EB02-4E8D-BC4E-CC72644A44A5}" type="slidenum">
              <a:rPr lang="en-US" altLang="zh-CN" smtClean="0"/>
            </a:fld>
            <a:endParaRPr lang="en-US" altLang="zh-CN" smtClean="0"/>
          </a:p>
        </p:txBody>
      </p:sp>
      <p:sp>
        <p:nvSpPr>
          <p:cNvPr id="15363" name="Rectangle 2"/>
          <p:cNvSpPr>
            <a:spLocks noGrp="1" noRot="1" noChangeAspect="1" noChangeArrowheads="1" noTextEdit="1"/>
          </p:cNvSpPr>
          <p:nvPr>
            <p:ph type="sldImg"/>
          </p:nvPr>
        </p:nvSpPr>
        <p:spPr/>
      </p:sp>
      <p:sp>
        <p:nvSpPr>
          <p:cNvPr id="1536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8CF7602B-CE2A-43CE-B547-F4830955EB34}" type="slidenum">
              <a:rPr lang="en-US" altLang="zh-CN" smtClean="0"/>
            </a:fld>
            <a:endParaRPr lang="en-US" altLang="zh-CN" smtClean="0"/>
          </a:p>
        </p:txBody>
      </p:sp>
      <p:sp>
        <p:nvSpPr>
          <p:cNvPr id="17411" name="Rectangle 2"/>
          <p:cNvSpPr>
            <a:spLocks noGrp="1" noRot="1" noChangeAspect="1" noChangeArrowheads="1" noTextEdit="1"/>
          </p:cNvSpPr>
          <p:nvPr>
            <p:ph type="sldImg"/>
          </p:nvPr>
        </p:nvSpPr>
        <p:spPr/>
      </p:sp>
      <p:sp>
        <p:nvSpPr>
          <p:cNvPr id="1741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zh-CN" altLang="en-US" smtClean="0">
                <a:latin typeface="Arial" panose="020B0604020202090204" pitchFamily="34" charset="0"/>
              </a:rPr>
              <a:t>关系可以分为一个集合内部的关系，两个集合之间的关系</a:t>
            </a:r>
            <a:endParaRPr lang="en-US" altLang="zh-CN" smtClean="0">
              <a:latin typeface="Arial" panose="020B0604020202090204" pitchFamily="34" charset="0"/>
            </a:endParaRPr>
          </a:p>
          <a:p>
            <a:pPr eaLnBrk="1" hangingPunct="1"/>
            <a:r>
              <a:rPr lang="zh-CN" altLang="en-US" smtClean="0">
                <a:latin typeface="Arial" panose="020B0604020202090204" pitchFamily="34" charset="0"/>
              </a:rPr>
              <a:t>（稍微讲解笛卡尔积）</a:t>
            </a:r>
            <a:endParaRPr lang="zh-CN" altLang="zh-CN" smtClean="0">
              <a:latin typeface="Arial" panose="020B0604020202090204" pitchFamily="34" charset="0"/>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882BE5A2-FAE3-4EE1-931B-093B0C8989C6}" type="slidenum">
              <a:rPr lang="en-US" altLang="zh-CN" smtClean="0"/>
            </a:fld>
            <a:endParaRPr lang="en-US" altLang="zh-CN" smtClean="0"/>
          </a:p>
        </p:txBody>
      </p:sp>
      <p:sp>
        <p:nvSpPr>
          <p:cNvPr id="19459" name="Rectangle 2"/>
          <p:cNvSpPr>
            <a:spLocks noGrp="1" noRot="1" noChangeAspect="1" noChangeArrowheads="1" noTextEdit="1"/>
          </p:cNvSpPr>
          <p:nvPr>
            <p:ph type="sldImg"/>
          </p:nvPr>
        </p:nvSpPr>
        <p:spPr/>
      </p:sp>
      <p:sp>
        <p:nvSpPr>
          <p:cNvPr id="19460"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C9C99261-DEB1-41F6-B367-C9D5AB443560}" type="slidenum">
              <a:rPr lang="en-US" altLang="zh-CN" smtClean="0"/>
            </a:fld>
            <a:endParaRPr lang="en-US" altLang="zh-CN" smtClean="0"/>
          </a:p>
        </p:txBody>
      </p:sp>
      <p:sp>
        <p:nvSpPr>
          <p:cNvPr id="21507" name="Rectangle 2"/>
          <p:cNvSpPr>
            <a:spLocks noGrp="1" noRot="1" noChangeAspect="1" noChangeArrowheads="1" noTextEdit="1"/>
          </p:cNvSpPr>
          <p:nvPr>
            <p:ph type="sldImg"/>
          </p:nvPr>
        </p:nvSpPr>
        <p:spPr/>
      </p:sp>
      <p:sp>
        <p:nvSpPr>
          <p:cNvPr id="2150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zh-CN" altLang="en-US" smtClean="0">
                <a:latin typeface="Arial" panose="020B0604020202090204" pitchFamily="34" charset="0"/>
              </a:rPr>
              <a:t>讲解二院关系</a:t>
            </a:r>
            <a:endParaRPr lang="zh-CN" altLang="zh-CN" smtClean="0">
              <a:latin typeface="Arial" panose="020B0604020202090204" pitchFamily="34" charset="0"/>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B5A3FFCC-888D-4E94-B4FA-AC1D7F1B9F8C}" type="slidenum">
              <a:rPr lang="en-US" altLang="zh-CN" smtClean="0"/>
            </a:fld>
            <a:endParaRPr lang="en-US" altLang="zh-CN" smtClean="0"/>
          </a:p>
        </p:txBody>
      </p:sp>
      <p:sp>
        <p:nvSpPr>
          <p:cNvPr id="23555" name="Rectangle 2"/>
          <p:cNvSpPr>
            <a:spLocks noGrp="1" noRot="1" noChangeAspect="1" noChangeArrowheads="1" noTextEdit="1"/>
          </p:cNvSpPr>
          <p:nvPr>
            <p:ph type="sldImg"/>
          </p:nvPr>
        </p:nvSpPr>
        <p:spPr/>
      </p:sp>
      <p:sp>
        <p:nvSpPr>
          <p:cNvPr id="2355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0F099036-2FBA-4CC4-BCC7-AD7188C9EC11}" type="slidenum">
              <a:rPr lang="en-US" altLang="zh-CN" smtClean="0"/>
            </a:fld>
            <a:endParaRPr lang="en-US" altLang="zh-CN" smtClean="0"/>
          </a:p>
        </p:txBody>
      </p:sp>
      <p:sp>
        <p:nvSpPr>
          <p:cNvPr id="25603" name="Rectangle 2"/>
          <p:cNvSpPr>
            <a:spLocks noGrp="1" noRot="1" noChangeAspect="1" noChangeArrowheads="1" noTextEdit="1"/>
          </p:cNvSpPr>
          <p:nvPr>
            <p:ph type="sldImg"/>
          </p:nvPr>
        </p:nvSpPr>
        <p:spPr/>
      </p:sp>
      <p:sp>
        <p:nvSpPr>
          <p:cNvPr id="2560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AC5DE031-9A40-4BEE-9C2F-4A60265A03A3}" type="slidenum">
              <a:rPr lang="en-US" altLang="zh-CN" smtClean="0"/>
            </a:fld>
            <a:endParaRPr lang="en-US" altLang="zh-CN" smtClean="0"/>
          </a:p>
        </p:txBody>
      </p:sp>
      <p:sp>
        <p:nvSpPr>
          <p:cNvPr id="27651" name="Rectangle 2"/>
          <p:cNvSpPr>
            <a:spLocks noGrp="1" noRot="1" noChangeAspect="1" noChangeArrowheads="1" noTextEdit="1"/>
          </p:cNvSpPr>
          <p:nvPr>
            <p:ph type="sldImg"/>
          </p:nvPr>
        </p:nvSpPr>
        <p:spPr/>
      </p:sp>
      <p:sp>
        <p:nvSpPr>
          <p:cNvPr id="2765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F4583E1A-4996-4560-9FC9-EE91F6D58D5E}" type="slidenum">
              <a:rPr lang="en-US" altLang="zh-CN" smtClean="0"/>
            </a:fld>
            <a:endParaRPr lang="en-US" altLang="zh-CN" smtClean="0"/>
          </a:p>
        </p:txBody>
      </p:sp>
      <p:sp>
        <p:nvSpPr>
          <p:cNvPr id="29699" name="Rectangle 2"/>
          <p:cNvSpPr>
            <a:spLocks noGrp="1" noRot="1" noChangeAspect="1" noChangeArrowheads="1" noTextEdit="1"/>
          </p:cNvSpPr>
          <p:nvPr>
            <p:ph type="sldImg"/>
          </p:nvPr>
        </p:nvSpPr>
        <p:spPr/>
      </p:sp>
      <p:sp>
        <p:nvSpPr>
          <p:cNvPr id="29700"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zh-CN" smtClean="0">
                <a:latin typeface="Arial" panose="020B0604020202090204" pitchFamily="34" charset="0"/>
              </a:rPr>
              <a:t>R1:</a:t>
            </a:r>
            <a:endParaRPr lang="en-US" altLang="zh-CN" smtClean="0">
              <a:latin typeface="Arial" panose="020B0604020202090204" pitchFamily="34" charset="0"/>
            </a:endParaRPr>
          </a:p>
          <a:p>
            <a:pPr eaLnBrk="1" hangingPunct="1"/>
            <a:r>
              <a:rPr lang="zh-CN" altLang="en-US" smtClean="0">
                <a:latin typeface="Arial" panose="020B0604020202090204" pitchFamily="34" charset="0"/>
              </a:rPr>
              <a:t>自反的：</a:t>
            </a:r>
            <a:r>
              <a:rPr lang="en-US" altLang="zh-CN" smtClean="0">
                <a:latin typeface="Arial" panose="020B0604020202090204" pitchFamily="34" charset="0"/>
              </a:rPr>
              <a:t>X</a:t>
            </a:r>
            <a:r>
              <a:rPr lang="zh-CN" altLang="en-US" smtClean="0">
                <a:latin typeface="Arial" panose="020B0604020202090204" pitchFamily="34" charset="0"/>
              </a:rPr>
              <a:t>可以整除</a:t>
            </a:r>
            <a:r>
              <a:rPr lang="en-US" altLang="zh-CN" smtClean="0">
                <a:latin typeface="Arial" panose="020B0604020202090204" pitchFamily="34" charset="0"/>
              </a:rPr>
              <a:t>X</a:t>
            </a:r>
            <a:r>
              <a:rPr lang="zh-CN" altLang="en-US" smtClean="0">
                <a:latin typeface="Arial" panose="020B0604020202090204" pitchFamily="34" charset="0"/>
              </a:rPr>
              <a:t>； </a:t>
            </a:r>
            <a:endParaRPr lang="en-US" altLang="zh-CN" smtClean="0">
              <a:latin typeface="Arial" panose="020B0604020202090204" pitchFamily="34" charset="0"/>
            </a:endParaRPr>
          </a:p>
          <a:p>
            <a:pPr eaLnBrk="1" hangingPunct="1"/>
            <a:r>
              <a:rPr lang="zh-CN" altLang="en-US" smtClean="0">
                <a:latin typeface="Arial" panose="020B0604020202090204" pitchFamily="34" charset="0"/>
              </a:rPr>
              <a:t>反对称的：如果</a:t>
            </a:r>
            <a:r>
              <a:rPr lang="en-US" altLang="zh-CN" smtClean="0">
                <a:latin typeface="Arial" panose="020B0604020202090204" pitchFamily="34" charset="0"/>
              </a:rPr>
              <a:t>X</a:t>
            </a:r>
            <a:r>
              <a:rPr lang="zh-CN" altLang="en-US" smtClean="0">
                <a:latin typeface="Arial" panose="020B0604020202090204" pitchFamily="34" charset="0"/>
              </a:rPr>
              <a:t>能整除</a:t>
            </a:r>
            <a:r>
              <a:rPr lang="en-US" altLang="zh-CN" smtClean="0">
                <a:latin typeface="Arial" panose="020B0604020202090204" pitchFamily="34" charset="0"/>
              </a:rPr>
              <a:t>Y</a:t>
            </a:r>
            <a:r>
              <a:rPr lang="zh-CN" altLang="en-US" smtClean="0">
                <a:latin typeface="Arial" panose="020B0604020202090204" pitchFamily="34" charset="0"/>
              </a:rPr>
              <a:t>，</a:t>
            </a:r>
            <a:r>
              <a:rPr lang="en-US" altLang="zh-CN" smtClean="0">
                <a:latin typeface="Arial" panose="020B0604020202090204" pitchFamily="34" charset="0"/>
              </a:rPr>
              <a:t>Y</a:t>
            </a:r>
            <a:r>
              <a:rPr lang="zh-CN" altLang="en-US" smtClean="0">
                <a:latin typeface="Arial" panose="020B0604020202090204" pitchFamily="34" charset="0"/>
              </a:rPr>
              <a:t>也能整除</a:t>
            </a:r>
            <a:r>
              <a:rPr lang="en-US" altLang="zh-CN" smtClean="0">
                <a:latin typeface="Arial" panose="020B0604020202090204" pitchFamily="34" charset="0"/>
              </a:rPr>
              <a:t>X</a:t>
            </a:r>
            <a:r>
              <a:rPr lang="zh-CN" altLang="en-US" smtClean="0">
                <a:latin typeface="Arial" panose="020B0604020202090204" pitchFamily="34" charset="0"/>
              </a:rPr>
              <a:t>，则</a:t>
            </a:r>
            <a:r>
              <a:rPr lang="en-US" altLang="zh-CN" smtClean="0">
                <a:latin typeface="Arial" panose="020B0604020202090204" pitchFamily="34" charset="0"/>
              </a:rPr>
              <a:t>X=Y</a:t>
            </a:r>
            <a:r>
              <a:rPr lang="zh-CN" altLang="en-US" smtClean="0">
                <a:latin typeface="Arial" panose="020B0604020202090204" pitchFamily="34" charset="0"/>
              </a:rPr>
              <a:t>；</a:t>
            </a:r>
            <a:endParaRPr lang="en-US" altLang="zh-CN" smtClean="0">
              <a:latin typeface="Arial" panose="020B0604020202090204" pitchFamily="34" charset="0"/>
            </a:endParaRPr>
          </a:p>
          <a:p>
            <a:pPr eaLnBrk="1" hangingPunct="1"/>
            <a:r>
              <a:rPr lang="zh-CN" altLang="en-US" smtClean="0">
                <a:latin typeface="Arial" panose="020B0604020202090204" pitchFamily="34" charset="0"/>
              </a:rPr>
              <a:t>传递的：如果</a:t>
            </a:r>
            <a:r>
              <a:rPr lang="en-US" altLang="zh-CN" smtClean="0">
                <a:latin typeface="Arial" panose="020B0604020202090204" pitchFamily="34" charset="0"/>
              </a:rPr>
              <a:t>X</a:t>
            </a:r>
            <a:r>
              <a:rPr lang="zh-CN" altLang="en-US" smtClean="0">
                <a:latin typeface="Arial" panose="020B0604020202090204" pitchFamily="34" charset="0"/>
              </a:rPr>
              <a:t>能整除</a:t>
            </a:r>
            <a:r>
              <a:rPr lang="en-US" altLang="zh-CN" smtClean="0">
                <a:latin typeface="Arial" panose="020B0604020202090204" pitchFamily="34" charset="0"/>
              </a:rPr>
              <a:t>Y</a:t>
            </a:r>
            <a:r>
              <a:rPr lang="zh-CN" altLang="en-US" smtClean="0">
                <a:latin typeface="Arial" panose="020B0604020202090204" pitchFamily="34" charset="0"/>
              </a:rPr>
              <a:t>，</a:t>
            </a:r>
            <a:r>
              <a:rPr lang="en-US" altLang="zh-CN" smtClean="0">
                <a:latin typeface="Arial" panose="020B0604020202090204" pitchFamily="34" charset="0"/>
              </a:rPr>
              <a:t>Y</a:t>
            </a:r>
            <a:r>
              <a:rPr lang="zh-CN" altLang="en-US" smtClean="0">
                <a:latin typeface="Arial" panose="020B0604020202090204" pitchFamily="34" charset="0"/>
              </a:rPr>
              <a:t>能整除</a:t>
            </a:r>
            <a:r>
              <a:rPr lang="en-US" altLang="zh-CN" smtClean="0">
                <a:latin typeface="Arial" panose="020B0604020202090204" pitchFamily="34" charset="0"/>
              </a:rPr>
              <a:t>Z</a:t>
            </a:r>
            <a:r>
              <a:rPr lang="zh-CN" altLang="en-US" smtClean="0">
                <a:latin typeface="Arial" panose="020B0604020202090204" pitchFamily="34" charset="0"/>
              </a:rPr>
              <a:t>，则</a:t>
            </a:r>
            <a:r>
              <a:rPr lang="en-US" altLang="zh-CN" smtClean="0">
                <a:latin typeface="Arial" panose="020B0604020202090204" pitchFamily="34" charset="0"/>
              </a:rPr>
              <a:t>X</a:t>
            </a:r>
            <a:r>
              <a:rPr lang="zh-CN" altLang="en-US" smtClean="0">
                <a:latin typeface="Arial" panose="020B0604020202090204" pitchFamily="34" charset="0"/>
              </a:rPr>
              <a:t>能整除</a:t>
            </a:r>
            <a:r>
              <a:rPr lang="en-US" altLang="zh-CN" smtClean="0">
                <a:latin typeface="Arial" panose="020B0604020202090204" pitchFamily="34" charset="0"/>
              </a:rPr>
              <a:t>Z</a:t>
            </a:r>
            <a:r>
              <a:rPr lang="zh-CN" altLang="en-US" smtClean="0">
                <a:latin typeface="Arial" panose="020B0604020202090204" pitchFamily="34" charset="0"/>
              </a:rPr>
              <a:t>；</a:t>
            </a:r>
            <a:endParaRPr lang="en-US" altLang="zh-CN" smtClean="0">
              <a:latin typeface="Arial" panose="020B0604020202090204" pitchFamily="34" charset="0"/>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7FAA0E45-EE01-4F5D-BC2B-ADBEAD8142BA}" type="slidenum">
              <a:rPr lang="en-US" altLang="zh-CN" smtClean="0"/>
            </a:fld>
            <a:endParaRPr lang="en-US" altLang="zh-CN" smtClean="0"/>
          </a:p>
        </p:txBody>
      </p:sp>
      <p:sp>
        <p:nvSpPr>
          <p:cNvPr id="31747" name="Rectangle 2"/>
          <p:cNvSpPr>
            <a:spLocks noGrp="1" noRot="1" noChangeAspect="1" noChangeArrowheads="1" noTextEdit="1"/>
          </p:cNvSpPr>
          <p:nvPr>
            <p:ph type="sldImg"/>
          </p:nvPr>
        </p:nvSpPr>
        <p:spPr/>
      </p:sp>
      <p:sp>
        <p:nvSpPr>
          <p:cNvPr id="3174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zh-CN" altLang="en-US" smtClean="0">
                <a:latin typeface="Arial" panose="020B0604020202090204" pitchFamily="34" charset="0"/>
              </a:rPr>
              <a:t>等价关系：是在一个集合内部，所有元素之间的关系满足自反的、对称的和传递的特点。</a:t>
            </a:r>
            <a:endParaRPr lang="en-US" altLang="zh-CN" smtClean="0">
              <a:latin typeface="Arial" panose="020B0604020202090204" pitchFamily="34" charset="0"/>
            </a:endParaRPr>
          </a:p>
          <a:p>
            <a:pPr eaLnBrk="1" hangingPunct="1"/>
            <a:r>
              <a:rPr lang="zh-CN" altLang="en-US" smtClean="0">
                <a:latin typeface="Arial" panose="020B0604020202090204" pitchFamily="34" charset="0"/>
              </a:rPr>
              <a:t>等价类：是满足等价关系的多个不同的集合。可以列出来。</a:t>
            </a:r>
            <a:endParaRPr lang="zh-CN" altLang="zh-CN" smtClean="0">
              <a:latin typeface="Arial" panose="020B0604020202090204" pitchFamily="34" charset="0"/>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285EDB3A-C82D-4F65-BC60-F9BFB6B3F3DA}" type="slidenum">
              <a:rPr lang="en-US" altLang="zh-CN" smtClean="0"/>
            </a:fld>
            <a:endParaRPr lang="en-US" altLang="zh-CN" smtClean="0"/>
          </a:p>
        </p:txBody>
      </p:sp>
      <p:sp>
        <p:nvSpPr>
          <p:cNvPr id="33795" name="Rectangle 2"/>
          <p:cNvSpPr>
            <a:spLocks noGrp="1" noRot="1" noChangeAspect="1" noChangeArrowheads="1" noTextEdit="1"/>
          </p:cNvSpPr>
          <p:nvPr>
            <p:ph type="sldImg"/>
          </p:nvPr>
        </p:nvSpPr>
        <p:spPr/>
      </p:sp>
      <p:sp>
        <p:nvSpPr>
          <p:cNvPr id="3379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85224258-AC62-46B3-8692-0EC8626D4F0D}" type="slidenum">
              <a:rPr lang="en-US" altLang="zh-CN" smtClean="0"/>
            </a:fld>
            <a:endParaRPr lang="en-US" altLang="zh-CN" smtClean="0"/>
          </a:p>
        </p:txBody>
      </p:sp>
      <p:sp>
        <p:nvSpPr>
          <p:cNvPr id="35843" name="Rectangle 2"/>
          <p:cNvSpPr>
            <a:spLocks noGrp="1" noRot="1" noChangeAspect="1" noChangeArrowheads="1" noTextEdit="1"/>
          </p:cNvSpPr>
          <p:nvPr>
            <p:ph type="sldImg"/>
          </p:nvPr>
        </p:nvSpPr>
        <p:spPr/>
      </p:sp>
      <p:sp>
        <p:nvSpPr>
          <p:cNvPr id="3584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CA84F955-A51C-4676-A7F6-D9BC977ED36E}" type="slidenum">
              <a:rPr lang="en-US" altLang="zh-CN" smtClean="0"/>
            </a:fld>
            <a:endParaRPr lang="en-US" altLang="zh-CN" smtClean="0"/>
          </a:p>
        </p:txBody>
      </p:sp>
      <p:sp>
        <p:nvSpPr>
          <p:cNvPr id="37891" name="Rectangle 2"/>
          <p:cNvSpPr>
            <a:spLocks noGrp="1" noRot="1" noChangeAspect="1" noChangeArrowheads="1" noTextEdit="1"/>
          </p:cNvSpPr>
          <p:nvPr>
            <p:ph type="sldImg"/>
          </p:nvPr>
        </p:nvSpPr>
        <p:spPr/>
      </p:sp>
      <p:sp>
        <p:nvSpPr>
          <p:cNvPr id="3789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8852ABED-05CA-4F74-AECF-CEDE6ECC2528}" type="slidenum">
              <a:rPr lang="en-US" altLang="zh-CN" smtClean="0"/>
            </a:fld>
            <a:endParaRPr lang="en-US" altLang="zh-CN" smtClean="0"/>
          </a:p>
        </p:txBody>
      </p:sp>
      <p:sp>
        <p:nvSpPr>
          <p:cNvPr id="39939" name="Rectangle 2"/>
          <p:cNvSpPr>
            <a:spLocks noGrp="1" noRot="1" noChangeAspect="1" noChangeArrowheads="1" noTextEdit="1"/>
          </p:cNvSpPr>
          <p:nvPr>
            <p:ph type="sldImg"/>
          </p:nvPr>
        </p:nvSpPr>
        <p:spPr/>
      </p:sp>
      <p:sp>
        <p:nvSpPr>
          <p:cNvPr id="39940"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189B876A-054B-4474-9EF1-70791120D562}" type="slidenum">
              <a:rPr lang="en-US" altLang="zh-CN" smtClean="0"/>
            </a:fld>
            <a:endParaRPr lang="en-US" altLang="zh-CN" smtClean="0"/>
          </a:p>
        </p:txBody>
      </p:sp>
      <p:sp>
        <p:nvSpPr>
          <p:cNvPr id="41987" name="Rectangle 2"/>
          <p:cNvSpPr>
            <a:spLocks noGrp="1" noRot="1" noChangeAspect="1" noChangeArrowheads="1" noTextEdit="1"/>
          </p:cNvSpPr>
          <p:nvPr>
            <p:ph type="sldImg"/>
          </p:nvPr>
        </p:nvSpPr>
        <p:spPr/>
      </p:sp>
      <p:sp>
        <p:nvSpPr>
          <p:cNvPr id="4198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C8C9E4F2-6080-44CD-B87E-A2072878F4AB}" type="slidenum">
              <a:rPr lang="en-US" altLang="zh-CN" smtClean="0"/>
            </a:fld>
            <a:endParaRPr lang="en-US" altLang="zh-CN" smtClean="0"/>
          </a:p>
        </p:txBody>
      </p:sp>
      <p:sp>
        <p:nvSpPr>
          <p:cNvPr id="44035" name="Rectangle 2"/>
          <p:cNvSpPr>
            <a:spLocks noGrp="1" noRot="1" noChangeAspect="1" noChangeArrowheads="1" noTextEdit="1"/>
          </p:cNvSpPr>
          <p:nvPr>
            <p:ph type="sldImg"/>
          </p:nvPr>
        </p:nvSpPr>
        <p:spPr/>
      </p:sp>
      <p:sp>
        <p:nvSpPr>
          <p:cNvPr id="4403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C6862FB6-8FC9-4346-91B4-B10392044F94}" type="slidenum">
              <a:rPr lang="en-US" altLang="zh-CN" smtClean="0"/>
            </a:fld>
            <a:endParaRPr lang="en-US" altLang="zh-CN" smtClean="0"/>
          </a:p>
        </p:txBody>
      </p:sp>
      <p:sp>
        <p:nvSpPr>
          <p:cNvPr id="46083" name="Rectangle 2"/>
          <p:cNvSpPr>
            <a:spLocks noGrp="1" noRot="1" noChangeAspect="1" noChangeArrowheads="1" noTextEdit="1"/>
          </p:cNvSpPr>
          <p:nvPr>
            <p:ph type="sldImg"/>
          </p:nvPr>
        </p:nvSpPr>
        <p:spPr/>
      </p:sp>
      <p:sp>
        <p:nvSpPr>
          <p:cNvPr id="4608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C5B71FDA-9EA9-45C1-B180-FD9B379DF76A}" type="slidenum">
              <a:rPr lang="en-US" altLang="zh-CN" smtClean="0"/>
            </a:fld>
            <a:endParaRPr lang="en-US" altLang="zh-CN" smtClean="0"/>
          </a:p>
        </p:txBody>
      </p:sp>
      <p:sp>
        <p:nvSpPr>
          <p:cNvPr id="48131" name="Rectangle 2"/>
          <p:cNvSpPr>
            <a:spLocks noGrp="1" noRot="1" noChangeAspect="1" noChangeArrowheads="1" noTextEdit="1"/>
          </p:cNvSpPr>
          <p:nvPr>
            <p:ph type="sldImg"/>
          </p:nvPr>
        </p:nvSpPr>
        <p:spPr/>
      </p:sp>
      <p:sp>
        <p:nvSpPr>
          <p:cNvPr id="4813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9B01069D-B870-48B7-9D98-DD4A8A359B15}" type="slidenum">
              <a:rPr lang="en-US" altLang="zh-CN" smtClean="0"/>
            </a:fld>
            <a:endParaRPr lang="en-US" altLang="zh-CN" smtClean="0"/>
          </a:p>
        </p:txBody>
      </p:sp>
      <p:sp>
        <p:nvSpPr>
          <p:cNvPr id="50179" name="Rectangle 2"/>
          <p:cNvSpPr>
            <a:spLocks noGrp="1" noRot="1" noChangeAspect="1" noChangeArrowheads="1" noTextEdit="1"/>
          </p:cNvSpPr>
          <p:nvPr>
            <p:ph type="sldImg"/>
          </p:nvPr>
        </p:nvSpPr>
        <p:spPr/>
      </p:sp>
      <p:sp>
        <p:nvSpPr>
          <p:cNvPr id="50180"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0409502C-A178-4DB3-AEE1-C8DE2D709084}" type="slidenum">
              <a:rPr lang="en-US" altLang="zh-CN" smtClean="0"/>
            </a:fld>
            <a:endParaRPr lang="en-US" altLang="zh-CN" smtClean="0"/>
          </a:p>
        </p:txBody>
      </p:sp>
      <p:sp>
        <p:nvSpPr>
          <p:cNvPr id="52227" name="Rectangle 2"/>
          <p:cNvSpPr>
            <a:spLocks noGrp="1" noRot="1" noChangeAspect="1" noChangeArrowheads="1" noTextEdit="1"/>
          </p:cNvSpPr>
          <p:nvPr>
            <p:ph type="sldImg"/>
          </p:nvPr>
        </p:nvSpPr>
        <p:spPr/>
      </p:sp>
      <p:sp>
        <p:nvSpPr>
          <p:cNvPr id="5222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BE4DD179-7E14-4815-A057-2E404DD43FC2}" type="slidenum">
              <a:rPr lang="en-US" altLang="zh-CN" smtClean="0"/>
            </a:fld>
            <a:endParaRPr lang="en-US" altLang="zh-CN" smtClean="0"/>
          </a:p>
        </p:txBody>
      </p:sp>
      <p:sp>
        <p:nvSpPr>
          <p:cNvPr id="54275" name="Rectangle 2"/>
          <p:cNvSpPr>
            <a:spLocks noGrp="1" noRot="1" noChangeAspect="1" noChangeArrowheads="1" noTextEdit="1"/>
          </p:cNvSpPr>
          <p:nvPr>
            <p:ph type="sldImg"/>
          </p:nvPr>
        </p:nvSpPr>
        <p:spPr/>
      </p:sp>
      <p:sp>
        <p:nvSpPr>
          <p:cNvPr id="5427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B77A2EF6-C454-4BA0-A4F0-676A645A5894}" type="slidenum">
              <a:rPr lang="en-US" altLang="zh-CN" smtClean="0"/>
            </a:fld>
            <a:endParaRPr lang="en-US" altLang="zh-CN" smtClean="0"/>
          </a:p>
        </p:txBody>
      </p:sp>
      <p:sp>
        <p:nvSpPr>
          <p:cNvPr id="56323" name="Rectangle 2"/>
          <p:cNvSpPr>
            <a:spLocks noGrp="1" noRot="1" noChangeAspect="1" noChangeArrowheads="1" noTextEdit="1"/>
          </p:cNvSpPr>
          <p:nvPr>
            <p:ph type="sldImg"/>
          </p:nvPr>
        </p:nvSpPr>
        <p:spPr/>
      </p:sp>
      <p:sp>
        <p:nvSpPr>
          <p:cNvPr id="5632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D11B7C95-B0C8-408F-BC3F-C12B4F2C2E00}" type="slidenum">
              <a:rPr lang="en-US" altLang="zh-CN" smtClean="0"/>
            </a:fld>
            <a:endParaRPr lang="en-US" altLang="zh-CN" smtClean="0"/>
          </a:p>
        </p:txBody>
      </p:sp>
      <p:sp>
        <p:nvSpPr>
          <p:cNvPr id="58371" name="Rectangle 2"/>
          <p:cNvSpPr>
            <a:spLocks noGrp="1" noRot="1" noChangeAspect="1" noChangeArrowheads="1" noTextEdit="1"/>
          </p:cNvSpPr>
          <p:nvPr>
            <p:ph type="sldImg"/>
          </p:nvPr>
        </p:nvSpPr>
        <p:spPr/>
      </p:sp>
      <p:sp>
        <p:nvSpPr>
          <p:cNvPr id="5837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648530C1-27DB-449E-9670-1D4F1C4FBE15}" type="slidenum">
              <a:rPr lang="en-US" altLang="zh-CN" smtClean="0"/>
            </a:fld>
            <a:endParaRPr lang="en-US" altLang="zh-CN" smtClean="0"/>
          </a:p>
        </p:txBody>
      </p:sp>
      <p:sp>
        <p:nvSpPr>
          <p:cNvPr id="60419" name="Rectangle 2"/>
          <p:cNvSpPr>
            <a:spLocks noGrp="1" noRot="1" noChangeAspect="1" noChangeArrowheads="1" noTextEdit="1"/>
          </p:cNvSpPr>
          <p:nvPr>
            <p:ph type="sldImg"/>
          </p:nvPr>
        </p:nvSpPr>
        <p:spPr/>
      </p:sp>
      <p:sp>
        <p:nvSpPr>
          <p:cNvPr id="60420"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zh-CN" altLang="en-US" smtClean="0">
                <a:latin typeface="Arial" panose="020B0604020202090204" pitchFamily="34" charset="0"/>
              </a:rPr>
              <a:t>将（</a:t>
            </a:r>
            <a:r>
              <a:rPr lang="en-US" altLang="zh-CN" smtClean="0">
                <a:latin typeface="Arial" panose="020B0604020202090204" pitchFamily="34" charset="0"/>
              </a:rPr>
              <a:t>1+x</a:t>
            </a:r>
            <a:r>
              <a:rPr lang="zh-CN" altLang="en-US" smtClean="0">
                <a:latin typeface="Arial" panose="020B0604020202090204" pitchFamily="34" charset="0"/>
              </a:rPr>
              <a:t>）的</a:t>
            </a:r>
            <a:r>
              <a:rPr lang="en-US" altLang="zh-CN" smtClean="0">
                <a:latin typeface="Arial" panose="020B0604020202090204" pitchFamily="34" charset="0"/>
              </a:rPr>
              <a:t>n</a:t>
            </a:r>
            <a:r>
              <a:rPr lang="zh-CN" altLang="en-US" smtClean="0">
                <a:latin typeface="Arial" panose="020B0604020202090204" pitchFamily="34" charset="0"/>
              </a:rPr>
              <a:t>次方先分解，然后假设（</a:t>
            </a:r>
            <a:r>
              <a:rPr lang="en-US" altLang="zh-CN" smtClean="0">
                <a:latin typeface="Arial" panose="020B0604020202090204" pitchFamily="34" charset="0"/>
              </a:rPr>
              <a:t>1+x</a:t>
            </a:r>
            <a:r>
              <a:rPr lang="zh-CN" altLang="en-US" smtClean="0">
                <a:latin typeface="Arial" panose="020B0604020202090204" pitchFamily="34" charset="0"/>
              </a:rPr>
              <a:t>）的</a:t>
            </a:r>
            <a:r>
              <a:rPr lang="en-US" altLang="zh-CN" smtClean="0">
                <a:latin typeface="Arial" panose="020B0604020202090204" pitchFamily="34" charset="0"/>
              </a:rPr>
              <a:t>n-1</a:t>
            </a:r>
            <a:r>
              <a:rPr lang="zh-CN" altLang="en-US" smtClean="0">
                <a:latin typeface="Arial" panose="020B0604020202090204" pitchFamily="34" charset="0"/>
              </a:rPr>
              <a:t>次方的不等式成立，代入后再求解</a:t>
            </a:r>
            <a:endParaRPr lang="zh-CN" altLang="zh-CN" smtClean="0">
              <a:latin typeface="Arial" panose="020B0604020202090204" pitchFamily="34" charset="0"/>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A6142579-148F-4576-9E92-3CE41021CB5F}" type="slidenum">
              <a:rPr lang="en-US" altLang="zh-CN" smtClean="0"/>
            </a:fld>
            <a:endParaRPr lang="en-US" altLang="zh-CN" smtClean="0"/>
          </a:p>
        </p:txBody>
      </p:sp>
      <p:sp>
        <p:nvSpPr>
          <p:cNvPr id="62467" name="Rectangle 2"/>
          <p:cNvSpPr>
            <a:spLocks noGrp="1" noRot="1" noChangeAspect="1" noChangeArrowheads="1" noTextEdit="1"/>
          </p:cNvSpPr>
          <p:nvPr>
            <p:ph type="sldImg"/>
          </p:nvPr>
        </p:nvSpPr>
        <p:spPr/>
      </p:sp>
      <p:sp>
        <p:nvSpPr>
          <p:cNvPr id="6246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EAF8D088-FBC0-4A33-B5E6-DDC09213FC49}" type="slidenum">
              <a:rPr lang="en-US" altLang="zh-CN" smtClean="0"/>
            </a:fld>
            <a:endParaRPr lang="en-US" altLang="zh-CN" smtClean="0"/>
          </a:p>
        </p:txBody>
      </p:sp>
      <p:sp>
        <p:nvSpPr>
          <p:cNvPr id="64515" name="Rectangle 2"/>
          <p:cNvSpPr>
            <a:spLocks noGrp="1" noRot="1" noChangeAspect="1" noChangeArrowheads="1" noTextEdit="1"/>
          </p:cNvSpPr>
          <p:nvPr>
            <p:ph type="sldImg"/>
          </p:nvPr>
        </p:nvSpPr>
        <p:spPr/>
      </p:sp>
      <p:sp>
        <p:nvSpPr>
          <p:cNvPr id="6451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D3047D6C-3D1D-4E45-A02D-487FB03D730B}" type="slidenum">
              <a:rPr lang="en-US" altLang="zh-CN" smtClean="0"/>
            </a:fld>
            <a:endParaRPr lang="en-US" altLang="zh-CN" smtClean="0"/>
          </a:p>
        </p:txBody>
      </p:sp>
      <p:sp>
        <p:nvSpPr>
          <p:cNvPr id="68611" name="Rectangle 2"/>
          <p:cNvSpPr>
            <a:spLocks noGrp="1" noRot="1" noChangeAspect="1" noChangeArrowheads="1" noTextEdit="1"/>
          </p:cNvSpPr>
          <p:nvPr>
            <p:ph type="sldImg"/>
          </p:nvPr>
        </p:nvSpPr>
        <p:spPr/>
      </p:sp>
      <p:sp>
        <p:nvSpPr>
          <p:cNvPr id="6861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3946B920-C7F5-4E7D-97D4-CAEBB5E37633}" type="slidenum">
              <a:rPr lang="en-US" altLang="zh-CN" smtClean="0"/>
            </a:fld>
            <a:endParaRPr lang="en-US" altLang="zh-CN" smtClean="0"/>
          </a:p>
        </p:txBody>
      </p:sp>
      <p:sp>
        <p:nvSpPr>
          <p:cNvPr id="70659" name="Rectangle 2"/>
          <p:cNvSpPr>
            <a:spLocks noGrp="1" noRot="1" noChangeAspect="1" noChangeArrowheads="1" noTextEdit="1"/>
          </p:cNvSpPr>
          <p:nvPr>
            <p:ph type="sldImg"/>
          </p:nvPr>
        </p:nvSpPr>
        <p:spPr/>
      </p:sp>
      <p:sp>
        <p:nvSpPr>
          <p:cNvPr id="70660"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8A46BBFA-490F-4A38-ADEF-A2F6F201080D}" type="slidenum">
              <a:rPr lang="en-US" altLang="zh-CN" smtClean="0"/>
            </a:fld>
            <a:endParaRPr lang="en-US" altLang="zh-CN" smtClean="0"/>
          </a:p>
        </p:txBody>
      </p:sp>
      <p:sp>
        <p:nvSpPr>
          <p:cNvPr id="72707" name="Rectangle 2"/>
          <p:cNvSpPr>
            <a:spLocks noGrp="1" noRot="1" noChangeAspect="1" noChangeArrowheads="1" noTextEdit="1"/>
          </p:cNvSpPr>
          <p:nvPr>
            <p:ph type="sldImg"/>
          </p:nvPr>
        </p:nvSpPr>
        <p:spPr/>
      </p:sp>
      <p:sp>
        <p:nvSpPr>
          <p:cNvPr id="7270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E954D0D9-261B-4833-B521-D75D1EC73423}" type="slidenum">
              <a:rPr lang="en-US" altLang="zh-CN" smtClean="0"/>
            </a:fld>
            <a:endParaRPr lang="en-US" altLang="zh-CN" smtClean="0"/>
          </a:p>
        </p:txBody>
      </p:sp>
      <p:sp>
        <p:nvSpPr>
          <p:cNvPr id="74755" name="Rectangle 2"/>
          <p:cNvSpPr>
            <a:spLocks noGrp="1" noRot="1" noChangeAspect="1" noChangeArrowheads="1" noTextEdit="1"/>
          </p:cNvSpPr>
          <p:nvPr>
            <p:ph type="sldImg"/>
          </p:nvPr>
        </p:nvSpPr>
        <p:spPr/>
      </p:sp>
      <p:sp>
        <p:nvSpPr>
          <p:cNvPr id="7475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0E2977C7-EE67-44B0-AF41-6DDD377721BE}" type="slidenum">
              <a:rPr lang="en-US" altLang="zh-CN" smtClean="0"/>
            </a:fld>
            <a:endParaRPr lang="en-US" altLang="zh-CN" smtClean="0"/>
          </a:p>
        </p:txBody>
      </p:sp>
      <p:sp>
        <p:nvSpPr>
          <p:cNvPr id="76803" name="Rectangle 2"/>
          <p:cNvSpPr>
            <a:spLocks noGrp="1" noRot="1" noChangeAspect="1" noChangeArrowheads="1" noTextEdit="1"/>
          </p:cNvSpPr>
          <p:nvPr>
            <p:ph type="sldImg"/>
          </p:nvPr>
        </p:nvSpPr>
        <p:spPr/>
      </p:sp>
      <p:sp>
        <p:nvSpPr>
          <p:cNvPr id="7680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4E564B9C-1134-42DA-A417-6C72A4C0AB3E}" type="slidenum">
              <a:rPr lang="en-US" altLang="zh-CN" smtClean="0"/>
            </a:fld>
            <a:endParaRPr lang="en-US" altLang="zh-CN" smtClean="0"/>
          </a:p>
        </p:txBody>
      </p:sp>
      <p:sp>
        <p:nvSpPr>
          <p:cNvPr id="78851" name="Rectangle 2"/>
          <p:cNvSpPr>
            <a:spLocks noGrp="1" noRot="1" noChangeAspect="1" noChangeArrowheads="1" noTextEdit="1"/>
          </p:cNvSpPr>
          <p:nvPr>
            <p:ph type="sldImg"/>
          </p:nvPr>
        </p:nvSpPr>
        <p:spPr/>
      </p:sp>
      <p:sp>
        <p:nvSpPr>
          <p:cNvPr id="7885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9A0AEAD1-0E5D-41D0-B6F8-FC1252862986}" type="slidenum">
              <a:rPr lang="en-US" altLang="zh-CN" smtClean="0"/>
            </a:fld>
            <a:endParaRPr lang="en-US" altLang="zh-CN" smtClean="0"/>
          </a:p>
        </p:txBody>
      </p:sp>
      <p:sp>
        <p:nvSpPr>
          <p:cNvPr id="80899" name="Rectangle 2"/>
          <p:cNvSpPr>
            <a:spLocks noGrp="1" noRot="1" noChangeAspect="1" noChangeArrowheads="1" noTextEdit="1"/>
          </p:cNvSpPr>
          <p:nvPr>
            <p:ph type="sldImg"/>
          </p:nvPr>
        </p:nvSpPr>
        <p:spPr/>
      </p:sp>
      <p:sp>
        <p:nvSpPr>
          <p:cNvPr id="80900"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lvl="1" eaLnBrk="1" hangingPunct="1"/>
            <a:r>
              <a:rPr lang="zh-CN" altLang="en-US" smtClean="0">
                <a:latin typeface="Arial" panose="020B0604020202090204" pitchFamily="34" charset="0"/>
                <a:sym typeface="Symbol" panose="05050102010706020507" pitchFamily="18" charset="2"/>
              </a:rPr>
              <a:t>一定存在一个盒子，必定最多装</a:t>
            </a:r>
            <a:r>
              <a:rPr lang="en-US" altLang="zh-CN" smtClean="0">
                <a:latin typeface="Arial" panose="020B0604020202090204" pitchFamily="34" charset="0"/>
                <a:sym typeface="Symbol" panose="05050102010706020507" pitchFamily="18" charset="2"/>
              </a:rPr>
              <a:t></a:t>
            </a:r>
            <a:r>
              <a:rPr lang="en-US" altLang="zh-CN" i="1" smtClean="0">
                <a:latin typeface="Arial" panose="020B0604020202090204" pitchFamily="34" charset="0"/>
                <a:sym typeface="Symbol" panose="05050102010706020507" pitchFamily="18" charset="2"/>
              </a:rPr>
              <a:t>n/m</a:t>
            </a:r>
            <a:r>
              <a:rPr lang="en-US" altLang="zh-CN" smtClean="0">
                <a:latin typeface="Arial" panose="020B0604020202090204" pitchFamily="34" charset="0"/>
                <a:sym typeface="Symbol" panose="05050102010706020507" pitchFamily="18" charset="2"/>
              </a:rPr>
              <a:t> </a:t>
            </a:r>
            <a:r>
              <a:rPr lang="zh-CN" altLang="en-US" smtClean="0">
                <a:latin typeface="Arial" panose="020B0604020202090204" pitchFamily="34" charset="0"/>
                <a:sym typeface="Symbol" panose="05050102010706020507" pitchFamily="18" charset="2"/>
              </a:rPr>
              <a:t>个球。</a:t>
            </a:r>
            <a:endParaRPr lang="en-US" altLang="zh-CN" smtClean="0">
              <a:latin typeface="Arial" panose="020B0604020202090204" pitchFamily="34" charset="0"/>
              <a:sym typeface="Symbol" panose="05050102010706020507" pitchFamily="18" charset="2"/>
            </a:endParaRPr>
          </a:p>
          <a:p>
            <a:pPr eaLnBrk="1" hangingPunct="1"/>
            <a:r>
              <a:rPr lang="zh-CN" altLang="en-US" smtClean="0">
                <a:latin typeface="Arial" panose="020B0604020202090204" pitchFamily="34" charset="0"/>
              </a:rPr>
              <a:t>理解：相区别于说：没有一个盒子，可以最多装</a:t>
            </a:r>
            <a:r>
              <a:rPr lang="en-US" altLang="zh-CN" smtClean="0">
                <a:latin typeface="Arial" panose="020B0604020202090204" pitchFamily="34" charset="0"/>
                <a:sym typeface="Symbol" panose="05050102010706020507" pitchFamily="18" charset="2"/>
              </a:rPr>
              <a:t></a:t>
            </a:r>
            <a:r>
              <a:rPr lang="en-US" altLang="zh-CN" i="1" smtClean="0">
                <a:latin typeface="Arial" panose="020B0604020202090204" pitchFamily="34" charset="0"/>
                <a:sym typeface="Symbol" panose="05050102010706020507" pitchFamily="18" charset="2"/>
              </a:rPr>
              <a:t>n/m</a:t>
            </a:r>
            <a:r>
              <a:rPr lang="en-US" altLang="zh-CN" smtClean="0">
                <a:latin typeface="Arial" panose="020B0604020202090204" pitchFamily="34" charset="0"/>
                <a:sym typeface="Symbol" panose="05050102010706020507" pitchFamily="18" charset="2"/>
              </a:rPr>
              <a:t> </a:t>
            </a:r>
            <a:r>
              <a:rPr lang="zh-CN" altLang="en-US" smtClean="0">
                <a:latin typeface="Arial" panose="020B0604020202090204" pitchFamily="34" charset="0"/>
                <a:sym typeface="Symbol" panose="05050102010706020507" pitchFamily="18" charset="2"/>
              </a:rPr>
              <a:t>个球；也就是说不是所有盒子都能装</a:t>
            </a:r>
            <a:r>
              <a:rPr lang="en-US" altLang="zh-CN" smtClean="0">
                <a:latin typeface="Arial" panose="020B0604020202090204" pitchFamily="34" charset="0"/>
                <a:sym typeface="Symbol" panose="05050102010706020507" pitchFamily="18" charset="2"/>
              </a:rPr>
              <a:t></a:t>
            </a:r>
            <a:r>
              <a:rPr lang="en-US" altLang="zh-CN" i="1" smtClean="0">
                <a:latin typeface="Arial" panose="020B0604020202090204" pitchFamily="34" charset="0"/>
                <a:sym typeface="Symbol" panose="05050102010706020507" pitchFamily="18" charset="2"/>
              </a:rPr>
              <a:t>n/m</a:t>
            </a:r>
            <a:r>
              <a:rPr lang="en-US" altLang="zh-CN" smtClean="0">
                <a:latin typeface="Arial" panose="020B0604020202090204" pitchFamily="34" charset="0"/>
                <a:sym typeface="Symbol" panose="05050102010706020507" pitchFamily="18" charset="2"/>
              </a:rPr>
              <a:t> </a:t>
            </a:r>
            <a:r>
              <a:rPr lang="zh-CN" altLang="en-US" smtClean="0">
                <a:latin typeface="Arial" panose="020B0604020202090204" pitchFamily="34" charset="0"/>
                <a:sym typeface="Symbol" panose="05050102010706020507" pitchFamily="18" charset="2"/>
              </a:rPr>
              <a:t>个球</a:t>
            </a:r>
            <a:endParaRPr lang="zh-CN" altLang="zh-CN" smtClean="0">
              <a:latin typeface="Arial" panose="020B0604020202090204" pitchFamily="34" charset="0"/>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42890FA9-C61D-45F1-98DC-E1939902F43B}" type="slidenum">
              <a:rPr lang="en-US" altLang="zh-CN" smtClean="0"/>
            </a:fld>
            <a:endParaRPr lang="en-US" altLang="zh-CN" smtClean="0"/>
          </a:p>
        </p:txBody>
      </p:sp>
      <p:sp>
        <p:nvSpPr>
          <p:cNvPr id="83971" name="Rectangle 2"/>
          <p:cNvSpPr>
            <a:spLocks noGrp="1" noRot="1" noChangeAspect="1" noChangeArrowheads="1" noTextEdit="1"/>
          </p:cNvSpPr>
          <p:nvPr>
            <p:ph type="sldImg"/>
          </p:nvPr>
        </p:nvSpPr>
        <p:spPr/>
      </p:sp>
      <p:sp>
        <p:nvSpPr>
          <p:cNvPr id="8397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A5F63243-92DC-4C7C-AB88-BADCB562E677}" type="slidenum">
              <a:rPr lang="en-US" altLang="zh-CN" smtClean="0"/>
            </a:fld>
            <a:endParaRPr lang="en-US" altLang="zh-CN" smtClean="0"/>
          </a:p>
        </p:txBody>
      </p:sp>
      <p:sp>
        <p:nvSpPr>
          <p:cNvPr id="86019" name="Rectangle 2"/>
          <p:cNvSpPr>
            <a:spLocks noGrp="1" noRot="1" noChangeAspect="1" noChangeArrowheads="1" noTextEdit="1"/>
          </p:cNvSpPr>
          <p:nvPr>
            <p:ph type="sldImg"/>
          </p:nvPr>
        </p:nvSpPr>
        <p:spPr/>
      </p:sp>
      <p:sp>
        <p:nvSpPr>
          <p:cNvPr id="86020"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C9832C46-8B86-4EE6-BD9D-B725A9A6928B}" type="slidenum">
              <a:rPr lang="en-US" altLang="zh-CN" smtClean="0"/>
            </a:fld>
            <a:endParaRPr lang="en-US" altLang="zh-CN" smtClean="0"/>
          </a:p>
        </p:txBody>
      </p:sp>
      <p:sp>
        <p:nvSpPr>
          <p:cNvPr id="88067" name="Rectangle 2"/>
          <p:cNvSpPr>
            <a:spLocks noGrp="1" noRot="1" noChangeAspect="1" noChangeArrowheads="1" noTextEdit="1"/>
          </p:cNvSpPr>
          <p:nvPr>
            <p:ph type="sldImg"/>
          </p:nvPr>
        </p:nvSpPr>
        <p:spPr/>
      </p:sp>
      <p:sp>
        <p:nvSpPr>
          <p:cNvPr id="8806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2BCD3A30-61FE-4390-A874-C76060F8D483}" type="slidenum">
              <a:rPr lang="en-US" altLang="zh-CN" smtClean="0"/>
            </a:fld>
            <a:endParaRPr lang="en-US" altLang="zh-CN" smtClean="0"/>
          </a:p>
        </p:txBody>
      </p:sp>
      <p:sp>
        <p:nvSpPr>
          <p:cNvPr id="90115" name="Rectangle 2"/>
          <p:cNvSpPr>
            <a:spLocks noGrp="1" noRot="1" noChangeAspect="1" noChangeArrowheads="1" noTextEdit="1"/>
          </p:cNvSpPr>
          <p:nvPr>
            <p:ph type="sldImg"/>
          </p:nvPr>
        </p:nvSpPr>
        <p:spPr/>
      </p:sp>
      <p:sp>
        <p:nvSpPr>
          <p:cNvPr id="9011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5C6DD920-6DD0-4E13-9FC9-1F1ABBB11B5D}" type="slidenum">
              <a:rPr lang="en-US" altLang="zh-CN" smtClean="0"/>
            </a:fld>
            <a:endParaRPr lang="en-US" altLang="zh-CN" smtClean="0"/>
          </a:p>
        </p:txBody>
      </p:sp>
      <p:sp>
        <p:nvSpPr>
          <p:cNvPr id="92163" name="Rectangle 2"/>
          <p:cNvSpPr>
            <a:spLocks noGrp="1" noRot="1" noChangeAspect="1" noChangeArrowheads="1" noTextEdit="1"/>
          </p:cNvSpPr>
          <p:nvPr>
            <p:ph type="sldImg"/>
          </p:nvPr>
        </p:nvSpPr>
        <p:spPr/>
      </p:sp>
      <p:sp>
        <p:nvSpPr>
          <p:cNvPr id="9216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zh-CN" altLang="en-US" smtClean="0">
                <a:latin typeface="Arial" panose="020B0604020202090204" pitchFamily="34" charset="0"/>
              </a:rPr>
              <a:t>结合书上内容讲</a:t>
            </a:r>
            <a:endParaRPr lang="zh-CN" altLang="zh-CN" smtClean="0">
              <a:latin typeface="Arial" panose="020B0604020202090204" pitchFamily="34" charset="0"/>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B724F71C-8661-4F45-82B9-CB25FE76DF06}" type="slidenum">
              <a:rPr lang="en-US" altLang="zh-CN" smtClean="0"/>
            </a:fld>
            <a:endParaRPr lang="en-US" altLang="zh-CN" smtClean="0"/>
          </a:p>
        </p:txBody>
      </p:sp>
      <p:sp>
        <p:nvSpPr>
          <p:cNvPr id="95235" name="Rectangle 2"/>
          <p:cNvSpPr>
            <a:spLocks noGrp="1" noRot="1" noChangeAspect="1" noChangeArrowheads="1" noTextEdit="1"/>
          </p:cNvSpPr>
          <p:nvPr>
            <p:ph type="sldImg"/>
          </p:nvPr>
        </p:nvSpPr>
        <p:spPr/>
      </p:sp>
      <p:sp>
        <p:nvSpPr>
          <p:cNvPr id="9523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4A6E426C-786C-4A91-AB92-CAE2C3141650}" type="slidenum">
              <a:rPr lang="en-US" altLang="zh-CN" smtClean="0"/>
            </a:fld>
            <a:endParaRPr lang="en-US" altLang="zh-CN" smtClean="0"/>
          </a:p>
        </p:txBody>
      </p:sp>
      <p:sp>
        <p:nvSpPr>
          <p:cNvPr id="97283" name="Rectangle 2"/>
          <p:cNvSpPr>
            <a:spLocks noGrp="1" noRot="1" noChangeAspect="1" noChangeArrowheads="1" noTextEdit="1"/>
          </p:cNvSpPr>
          <p:nvPr>
            <p:ph type="sldImg"/>
          </p:nvPr>
        </p:nvSpPr>
        <p:spPr/>
      </p:sp>
      <p:sp>
        <p:nvSpPr>
          <p:cNvPr id="9728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A4F52B9A-C711-409C-B2E4-1F0C450C58D5}" type="slidenum">
              <a:rPr lang="en-US" altLang="zh-CN" smtClean="0"/>
            </a:fld>
            <a:endParaRPr lang="en-US" altLang="zh-CN" smtClean="0"/>
          </a:p>
        </p:txBody>
      </p:sp>
      <p:sp>
        <p:nvSpPr>
          <p:cNvPr id="99331" name="Rectangle 2"/>
          <p:cNvSpPr>
            <a:spLocks noGrp="1" noRot="1" noChangeAspect="1" noChangeArrowheads="1" noTextEdit="1"/>
          </p:cNvSpPr>
          <p:nvPr>
            <p:ph type="sldImg"/>
          </p:nvPr>
        </p:nvSpPr>
        <p:spPr/>
      </p:sp>
      <p:sp>
        <p:nvSpPr>
          <p:cNvPr id="9933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6"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4EF74E33-BB0C-42C5-9FC5-B1F74FE7C821}" type="slidenum">
              <a:rPr lang="en-US" altLang="zh-CN" smtClean="0"/>
            </a:fld>
            <a:endParaRPr lang="en-US" altLang="zh-CN" smtClean="0"/>
          </a:p>
        </p:txBody>
      </p:sp>
      <p:sp>
        <p:nvSpPr>
          <p:cNvPr id="103427" name="Rectangle 2"/>
          <p:cNvSpPr>
            <a:spLocks noGrp="1" noRot="1" noChangeAspect="1" noChangeArrowheads="1" noTextEdit="1"/>
          </p:cNvSpPr>
          <p:nvPr>
            <p:ph type="sldImg"/>
          </p:nvPr>
        </p:nvSpPr>
        <p:spPr/>
      </p:sp>
      <p:sp>
        <p:nvSpPr>
          <p:cNvPr id="10342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E34B6D2F-5030-4FFE-8411-6AC9A8CDD8F4}" type="slidenum">
              <a:rPr lang="en-US" altLang="zh-CN" smtClean="0"/>
            </a:fld>
            <a:endParaRPr lang="en-US" altLang="zh-CN" smtClean="0"/>
          </a:p>
        </p:txBody>
      </p:sp>
      <p:sp>
        <p:nvSpPr>
          <p:cNvPr id="105475" name="Rectangle 2"/>
          <p:cNvSpPr>
            <a:spLocks noGrp="1" noRot="1" noChangeAspect="1" noChangeArrowheads="1" noTextEdit="1"/>
          </p:cNvSpPr>
          <p:nvPr>
            <p:ph type="sldImg"/>
          </p:nvPr>
        </p:nvSpPr>
        <p:spPr/>
      </p:sp>
      <p:sp>
        <p:nvSpPr>
          <p:cNvPr id="10547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F989E420-ADC1-4748-9079-6B78AD13F23C}" type="slidenum">
              <a:rPr lang="en-US" altLang="zh-CN" smtClean="0"/>
            </a:fld>
            <a:endParaRPr lang="en-US" altLang="zh-CN" smtClean="0"/>
          </a:p>
        </p:txBody>
      </p:sp>
      <p:sp>
        <p:nvSpPr>
          <p:cNvPr id="107523" name="Rectangle 2"/>
          <p:cNvSpPr>
            <a:spLocks noGrp="1" noRot="1" noChangeAspect="1" noChangeArrowheads="1" noTextEdit="1"/>
          </p:cNvSpPr>
          <p:nvPr>
            <p:ph type="sldImg"/>
          </p:nvPr>
        </p:nvSpPr>
        <p:spPr/>
      </p:sp>
      <p:sp>
        <p:nvSpPr>
          <p:cNvPr id="10752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07E8C550-ECA2-47FC-940A-9FF0DAB89002}" type="slidenum">
              <a:rPr lang="en-US" altLang="zh-CN" smtClean="0"/>
            </a:fld>
            <a:endParaRPr lang="en-US" altLang="zh-CN" smtClean="0"/>
          </a:p>
        </p:txBody>
      </p:sp>
      <p:sp>
        <p:nvSpPr>
          <p:cNvPr id="109571" name="Rectangle 2"/>
          <p:cNvSpPr>
            <a:spLocks noGrp="1" noRot="1" noChangeAspect="1" noChangeArrowheads="1" noTextEdit="1"/>
          </p:cNvSpPr>
          <p:nvPr>
            <p:ph type="sldImg"/>
          </p:nvPr>
        </p:nvSpPr>
        <p:spPr/>
      </p:sp>
      <p:sp>
        <p:nvSpPr>
          <p:cNvPr id="10957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4897160E-DE1B-4290-94B1-966FDCD4B8C0}" type="slidenum">
              <a:rPr lang="en-US" altLang="zh-CN" smtClean="0"/>
            </a:fld>
            <a:endParaRPr lang="en-US" altLang="zh-CN" smtClean="0"/>
          </a:p>
        </p:txBody>
      </p:sp>
      <p:sp>
        <p:nvSpPr>
          <p:cNvPr id="111619" name="Rectangle 2"/>
          <p:cNvSpPr>
            <a:spLocks noGrp="1" noRot="1" noChangeAspect="1" noChangeArrowheads="1" noTextEdit="1"/>
          </p:cNvSpPr>
          <p:nvPr>
            <p:ph type="sldImg"/>
          </p:nvPr>
        </p:nvSpPr>
        <p:spPr/>
      </p:sp>
      <p:sp>
        <p:nvSpPr>
          <p:cNvPr id="111620"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C9EE583B-9ACB-4E26-91A8-9E9BC8A7C748}" type="slidenum">
              <a:rPr lang="en-US" altLang="zh-CN" smtClean="0"/>
            </a:fld>
            <a:endParaRPr lang="en-US" altLang="zh-CN" smtClean="0"/>
          </a:p>
        </p:txBody>
      </p:sp>
      <p:sp>
        <p:nvSpPr>
          <p:cNvPr id="113667" name="Rectangle 2"/>
          <p:cNvSpPr>
            <a:spLocks noGrp="1" noRot="1" noChangeAspect="1" noChangeArrowheads="1" noTextEdit="1"/>
          </p:cNvSpPr>
          <p:nvPr>
            <p:ph type="sldImg"/>
          </p:nvPr>
        </p:nvSpPr>
        <p:spPr/>
      </p:sp>
      <p:sp>
        <p:nvSpPr>
          <p:cNvPr id="11366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C464630C-AF3E-4890-A2AC-41A8EF3DEE0A}" type="slidenum">
              <a:rPr lang="en-US" altLang="zh-CN" smtClean="0"/>
            </a:fld>
            <a:endParaRPr lang="en-US" altLang="zh-CN" smtClean="0"/>
          </a:p>
        </p:txBody>
      </p:sp>
      <p:sp>
        <p:nvSpPr>
          <p:cNvPr id="115715" name="Rectangle 2"/>
          <p:cNvSpPr>
            <a:spLocks noGrp="1" noRot="1" noChangeAspect="1" noChangeArrowheads="1" noTextEdit="1"/>
          </p:cNvSpPr>
          <p:nvPr>
            <p:ph type="sldImg"/>
          </p:nvPr>
        </p:nvSpPr>
        <p:spPr/>
      </p:sp>
      <p:sp>
        <p:nvSpPr>
          <p:cNvPr id="11571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2"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41275094-F6F9-4738-98F7-51F7027BAEF2}" type="slidenum">
              <a:rPr lang="en-US" altLang="zh-CN" smtClean="0"/>
            </a:fld>
            <a:endParaRPr lang="en-US" altLang="zh-CN" smtClean="0"/>
          </a:p>
        </p:txBody>
      </p:sp>
      <p:sp>
        <p:nvSpPr>
          <p:cNvPr id="117763" name="Rectangle 2"/>
          <p:cNvSpPr>
            <a:spLocks noGrp="1" noRot="1" noChangeAspect="1" noChangeArrowheads="1" noTextEdit="1"/>
          </p:cNvSpPr>
          <p:nvPr>
            <p:ph type="sldImg"/>
          </p:nvPr>
        </p:nvSpPr>
        <p:spPr/>
      </p:sp>
      <p:sp>
        <p:nvSpPr>
          <p:cNvPr id="11776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0E0A9FF9-4DDF-40B6-BA81-4AFF8955F687}" type="slidenum">
              <a:rPr lang="en-US" altLang="zh-CN" smtClean="0"/>
            </a:fld>
            <a:endParaRPr lang="en-US" altLang="zh-CN" smtClean="0"/>
          </a:p>
        </p:txBody>
      </p:sp>
      <p:sp>
        <p:nvSpPr>
          <p:cNvPr id="119811" name="Rectangle 2"/>
          <p:cNvSpPr>
            <a:spLocks noGrp="1" noRot="1" noChangeAspect="1" noChangeArrowheads="1" noTextEdit="1"/>
          </p:cNvSpPr>
          <p:nvPr>
            <p:ph type="sldImg"/>
          </p:nvPr>
        </p:nvSpPr>
        <p:spPr/>
      </p:sp>
      <p:sp>
        <p:nvSpPr>
          <p:cNvPr id="11981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2"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D8F61D25-F6EF-4863-924D-E7271724FE35}" type="slidenum">
              <a:rPr lang="en-US" altLang="zh-CN" smtClean="0"/>
            </a:fld>
            <a:endParaRPr lang="en-US" altLang="zh-CN" smtClean="0"/>
          </a:p>
        </p:txBody>
      </p:sp>
      <p:sp>
        <p:nvSpPr>
          <p:cNvPr id="122883" name="Rectangle 2"/>
          <p:cNvSpPr>
            <a:spLocks noGrp="1" noRot="1" noChangeAspect="1" noChangeArrowheads="1" noTextEdit="1"/>
          </p:cNvSpPr>
          <p:nvPr>
            <p:ph type="sldImg"/>
          </p:nvPr>
        </p:nvSpPr>
        <p:spPr/>
      </p:sp>
      <p:sp>
        <p:nvSpPr>
          <p:cNvPr id="12288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2B765E88-3DDA-4D5F-8102-C6ED456C5D1F}" type="slidenum">
              <a:rPr lang="en-US" altLang="zh-CN" smtClean="0"/>
            </a:fld>
            <a:endParaRPr lang="en-US" altLang="zh-CN" smtClean="0"/>
          </a:p>
        </p:txBody>
      </p:sp>
      <p:sp>
        <p:nvSpPr>
          <p:cNvPr id="124931" name="Rectangle 2"/>
          <p:cNvSpPr>
            <a:spLocks noGrp="1" noRot="1" noChangeAspect="1" noChangeArrowheads="1" noTextEdit="1"/>
          </p:cNvSpPr>
          <p:nvPr>
            <p:ph type="sldImg"/>
          </p:nvPr>
        </p:nvSpPr>
        <p:spPr/>
      </p:sp>
      <p:sp>
        <p:nvSpPr>
          <p:cNvPr id="12493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97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7F0A9228-6BDE-48FE-9FE6-EB6DE1DB1754}" type="slidenum">
              <a:rPr lang="en-US" altLang="zh-CN" smtClean="0"/>
            </a:fld>
            <a:endParaRPr lang="en-US" altLang="zh-CN" smtClean="0"/>
          </a:p>
        </p:txBody>
      </p:sp>
      <p:sp>
        <p:nvSpPr>
          <p:cNvPr id="126979" name="Rectangle 2"/>
          <p:cNvSpPr>
            <a:spLocks noGrp="1" noRot="1" noChangeAspect="1" noChangeArrowheads="1" noTextEdit="1"/>
          </p:cNvSpPr>
          <p:nvPr>
            <p:ph type="sldImg"/>
          </p:nvPr>
        </p:nvSpPr>
        <p:spPr/>
      </p:sp>
      <p:sp>
        <p:nvSpPr>
          <p:cNvPr id="126980"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026"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939F88B6-8EAA-4CAD-BCD1-5409354A608E}" type="slidenum">
              <a:rPr lang="en-US" altLang="zh-CN" smtClean="0"/>
            </a:fld>
            <a:endParaRPr lang="en-US" altLang="zh-CN" smtClean="0"/>
          </a:p>
        </p:txBody>
      </p:sp>
      <p:sp>
        <p:nvSpPr>
          <p:cNvPr id="129027" name="Rectangle 2"/>
          <p:cNvSpPr>
            <a:spLocks noGrp="1" noRot="1" noChangeAspect="1" noChangeArrowheads="1" noTextEdit="1"/>
          </p:cNvSpPr>
          <p:nvPr>
            <p:ph type="sldImg"/>
          </p:nvPr>
        </p:nvSpPr>
        <p:spPr/>
      </p:sp>
      <p:sp>
        <p:nvSpPr>
          <p:cNvPr id="12902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2171492B-BB24-4855-9C49-BC48532CD4A2}" type="slidenum">
              <a:rPr lang="en-US" altLang="zh-CN" smtClean="0"/>
            </a:fld>
            <a:endParaRPr lang="en-US" altLang="zh-CN" smtClean="0"/>
          </a:p>
        </p:txBody>
      </p:sp>
      <p:sp>
        <p:nvSpPr>
          <p:cNvPr id="131075" name="Rectangle 2"/>
          <p:cNvSpPr>
            <a:spLocks noGrp="1" noRot="1" noChangeAspect="1" noChangeArrowheads="1" noTextEdit="1"/>
          </p:cNvSpPr>
          <p:nvPr>
            <p:ph type="sldImg"/>
          </p:nvPr>
        </p:nvSpPr>
        <p:spPr/>
      </p:sp>
      <p:sp>
        <p:nvSpPr>
          <p:cNvPr id="13107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panose="020B0604020202090204" pitchFamily="34" charset="0"/>
                <a:ea typeface="宋体" pitchFamily="2" charset="-122"/>
              </a:defRPr>
            </a:lvl1pPr>
            <a:lvl2pPr marL="742950" indent="-285750">
              <a:spcBef>
                <a:spcPct val="30000"/>
              </a:spcBef>
              <a:defRPr sz="1200">
                <a:solidFill>
                  <a:schemeClr val="tx1"/>
                </a:solidFill>
                <a:latin typeface="Arial" panose="020B0604020202090204" pitchFamily="34" charset="0"/>
                <a:ea typeface="宋体" pitchFamily="2" charset="-122"/>
              </a:defRPr>
            </a:lvl2pPr>
            <a:lvl3pPr marL="1143000" indent="-228600">
              <a:spcBef>
                <a:spcPct val="30000"/>
              </a:spcBef>
              <a:defRPr sz="1200">
                <a:solidFill>
                  <a:schemeClr val="tx1"/>
                </a:solidFill>
                <a:latin typeface="Arial" panose="020B0604020202090204" pitchFamily="34" charset="0"/>
                <a:ea typeface="宋体" pitchFamily="2" charset="-122"/>
              </a:defRPr>
            </a:lvl3pPr>
            <a:lvl4pPr marL="1600200" indent="-228600">
              <a:spcBef>
                <a:spcPct val="30000"/>
              </a:spcBef>
              <a:defRPr sz="1200">
                <a:solidFill>
                  <a:schemeClr val="tx1"/>
                </a:solidFill>
                <a:latin typeface="Arial" panose="020B0604020202090204" pitchFamily="34" charset="0"/>
                <a:ea typeface="宋体" pitchFamily="2" charset="-122"/>
              </a:defRPr>
            </a:lvl4pPr>
            <a:lvl5pPr marL="2057400" indent="-228600">
              <a:spcBef>
                <a:spcPct val="30000"/>
              </a:spcBef>
              <a:defRPr sz="1200">
                <a:solidFill>
                  <a:schemeClr val="tx1"/>
                </a:solidFill>
                <a:latin typeface="Arial" panose="020B0604020202090204" pitchFamily="34" charset="0"/>
                <a:ea typeface="宋体" pitchFamily="2" charset="-122"/>
              </a:defRPr>
            </a:lvl5pPr>
            <a:lvl6pPr marL="25146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6pPr>
            <a:lvl7pPr marL="29718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7pPr>
            <a:lvl8pPr marL="34290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8pPr>
            <a:lvl9pPr marL="3886200" indent="-228600" eaLnBrk="0" fontAlgn="base" hangingPunct="0">
              <a:spcBef>
                <a:spcPct val="30000"/>
              </a:spcBef>
              <a:spcAft>
                <a:spcPct val="0"/>
              </a:spcAft>
              <a:defRPr sz="1200">
                <a:solidFill>
                  <a:schemeClr val="tx1"/>
                </a:solidFill>
                <a:latin typeface="Arial" panose="020B0604020202090204" pitchFamily="34" charset="0"/>
                <a:ea typeface="宋体" pitchFamily="2" charset="-122"/>
              </a:defRPr>
            </a:lvl9pPr>
          </a:lstStyle>
          <a:p>
            <a:pPr>
              <a:spcBef>
                <a:spcPct val="0"/>
              </a:spcBef>
            </a:pPr>
            <a:fld id="{6DFFB665-101B-46AD-8E4C-5AE93ADC48FB}" type="slidenum">
              <a:rPr lang="en-US" altLang="zh-CN" smtClean="0"/>
            </a:fld>
            <a:endParaRPr lang="en-US" altLang="zh-CN" smtClean="0"/>
          </a:p>
        </p:txBody>
      </p:sp>
      <p:sp>
        <p:nvSpPr>
          <p:cNvPr id="12291" name="Rectangle 2"/>
          <p:cNvSpPr>
            <a:spLocks noGrp="1" noRot="1" noChangeAspect="1" noChangeArrowheads="1" noTextEdit="1"/>
          </p:cNvSpPr>
          <p:nvPr>
            <p:ph type="sldImg"/>
          </p:nvPr>
        </p:nvSpPr>
        <p:spPr/>
      </p:sp>
      <p:sp>
        <p:nvSpPr>
          <p:cNvPr id="1229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2BD16E67-36FE-410A-BE0A-095C5487C522}" type="slidenum">
              <a:rPr lang="en-US" altLang="zh-CN"/>
            </a:fld>
            <a:endParaRPr lang="en-US" altLang="zh-CN"/>
          </a:p>
        </p:txBody>
      </p:sp>
      <p:sp>
        <p:nvSpPr>
          <p:cNvPr id="99331" name="Rectangle 2"/>
          <p:cNvSpPr>
            <a:spLocks noGrp="1" noRot="1" noChangeAspect="1" noChangeArrowheads="1" noTextEdit="1"/>
          </p:cNvSpPr>
          <p:nvPr>
            <p:ph type="sldImg"/>
          </p:nvPr>
        </p:nvSpPr>
        <p:spPr/>
      </p:sp>
      <p:sp>
        <p:nvSpPr>
          <p:cNvPr id="9933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4" name="幻灯片图像占位符 1"/>
          <p:cNvSpPr>
            <a:spLocks noGrp="1" noRot="1" noChangeAspect="1" noTextEdit="1"/>
          </p:cNvSpPr>
          <p:nvPr>
            <p:ph type="sldImg"/>
          </p:nvPr>
        </p:nvSpPr>
        <p:spPr/>
      </p:sp>
      <p:sp>
        <p:nvSpPr>
          <p:cNvPr id="10035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spcBef>
                <a:spcPct val="0"/>
              </a:spcBef>
            </a:pPr>
            <a:endParaRPr lang="zh-CN" altLang="en-US" smtClean="0">
              <a:latin typeface="Arial" panose="020B0604020202090204" pitchFamily="34" charset="0"/>
            </a:endParaRPr>
          </a:p>
        </p:txBody>
      </p:sp>
      <p:sp>
        <p:nvSpPr>
          <p:cNvPr id="10035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CADEED1F-47DF-48B7-8435-8CEBD8C3E08B}" type="slidenum">
              <a:rPr lang="zh-CN" altLang="en-US"/>
            </a:fld>
            <a:endParaRPr lang="zh-CN" altLang="en-US"/>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幻灯片图像占位符 1"/>
          <p:cNvSpPr>
            <a:spLocks noGrp="1" noRot="1" noChangeAspect="1" noTextEdit="1"/>
          </p:cNvSpPr>
          <p:nvPr>
            <p:ph type="sldImg"/>
          </p:nvPr>
        </p:nvSpPr>
        <p:spPr/>
      </p:sp>
      <p:sp>
        <p:nvSpPr>
          <p:cNvPr id="101379"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spcBef>
                <a:spcPct val="0"/>
              </a:spcBef>
            </a:pPr>
            <a:endParaRPr lang="zh-CN" altLang="en-US" smtClean="0">
              <a:latin typeface="Arial" panose="020B0604020202090204" pitchFamily="34" charset="0"/>
            </a:endParaRPr>
          </a:p>
        </p:txBody>
      </p:sp>
      <p:sp>
        <p:nvSpPr>
          <p:cNvPr id="101380"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981CACD3-C48C-4B52-A64D-E3335FCA5BC2}" type="slidenum">
              <a:rPr lang="zh-CN" altLang="en-US"/>
            </a:fld>
            <a:endParaRPr lang="zh-CN" altLang="en-US"/>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幻灯片图像占位符 1"/>
          <p:cNvSpPr>
            <a:spLocks noGrp="1" noRot="1" noChangeAspect="1" noTextEdit="1"/>
          </p:cNvSpPr>
          <p:nvPr>
            <p:ph type="sldImg"/>
          </p:nvPr>
        </p:nvSpPr>
        <p:spPr/>
      </p:sp>
      <p:sp>
        <p:nvSpPr>
          <p:cNvPr id="10240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spcBef>
                <a:spcPct val="0"/>
              </a:spcBef>
            </a:pPr>
            <a:endParaRPr lang="zh-CN" altLang="en-US" smtClean="0">
              <a:latin typeface="Arial" panose="020B0604020202090204" pitchFamily="34" charset="0"/>
            </a:endParaRPr>
          </a:p>
        </p:txBody>
      </p:sp>
      <p:sp>
        <p:nvSpPr>
          <p:cNvPr id="10240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0C0D2FD7-0C4D-4F3E-8EAC-4130833ADC4D}" type="slidenum">
              <a:rPr lang="zh-CN" altLang="en-US"/>
            </a:fld>
            <a:endParaRPr lang="zh-CN" altLang="en-US"/>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6" name="幻灯片图像占位符 1"/>
          <p:cNvSpPr>
            <a:spLocks noGrp="1" noRot="1" noChangeAspect="1" noTextEdit="1"/>
          </p:cNvSpPr>
          <p:nvPr>
            <p:ph type="sldImg"/>
          </p:nvPr>
        </p:nvSpPr>
        <p:spPr/>
      </p:sp>
      <p:sp>
        <p:nvSpPr>
          <p:cNvPr id="10342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spcBef>
                <a:spcPct val="0"/>
              </a:spcBef>
            </a:pPr>
            <a:endParaRPr lang="zh-CN" altLang="en-US" smtClean="0">
              <a:latin typeface="Arial" panose="020B0604020202090204" pitchFamily="34" charset="0"/>
            </a:endParaRPr>
          </a:p>
        </p:txBody>
      </p:sp>
      <p:sp>
        <p:nvSpPr>
          <p:cNvPr id="10342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28B11A7F-4B00-42C4-9876-AEC168D755E3}" type="slidenum">
              <a:rPr lang="zh-CN" altLang="en-US"/>
            </a:fld>
            <a:endParaRPr lang="zh-CN" altLang="en-US"/>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5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C0997D3C-1C2D-490E-BB43-26C483F6CBDF}" type="slidenum">
              <a:rPr lang="en-US" altLang="zh-CN"/>
            </a:fld>
            <a:endParaRPr lang="en-US" altLang="zh-CN"/>
          </a:p>
        </p:txBody>
      </p:sp>
      <p:sp>
        <p:nvSpPr>
          <p:cNvPr id="104451" name="Rectangle 2"/>
          <p:cNvSpPr>
            <a:spLocks noGrp="1" noRot="1" noChangeAspect="1" noChangeArrowheads="1" noTextEdit="1"/>
          </p:cNvSpPr>
          <p:nvPr>
            <p:ph type="sldImg"/>
          </p:nvPr>
        </p:nvSpPr>
        <p:spPr/>
      </p:sp>
      <p:sp>
        <p:nvSpPr>
          <p:cNvPr id="10445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C7865FBF-0F21-43BD-ABDE-A5296FD9C861}" type="slidenum">
              <a:rPr lang="en-US" altLang="zh-CN"/>
            </a:fld>
            <a:endParaRPr lang="en-US" altLang="zh-CN"/>
          </a:p>
        </p:txBody>
      </p:sp>
      <p:sp>
        <p:nvSpPr>
          <p:cNvPr id="105475" name="Rectangle 2"/>
          <p:cNvSpPr>
            <a:spLocks noGrp="1" noRot="1" noChangeAspect="1" noChangeArrowheads="1" noTextEdit="1"/>
          </p:cNvSpPr>
          <p:nvPr>
            <p:ph type="sldImg"/>
          </p:nvPr>
        </p:nvSpPr>
        <p:spPr/>
      </p:sp>
      <p:sp>
        <p:nvSpPr>
          <p:cNvPr id="10547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315F9161-43EF-4C1C-8452-BE7565C4C8EA}" type="slidenum">
              <a:rPr lang="en-US" altLang="zh-CN"/>
            </a:fld>
            <a:endParaRPr lang="en-US" altLang="zh-CN"/>
          </a:p>
        </p:txBody>
      </p:sp>
      <p:sp>
        <p:nvSpPr>
          <p:cNvPr id="106499" name="Rectangle 2"/>
          <p:cNvSpPr>
            <a:spLocks noGrp="1" noRot="1" noChangeAspect="1" noChangeArrowheads="1" noTextEdit="1"/>
          </p:cNvSpPr>
          <p:nvPr>
            <p:ph type="sldImg"/>
          </p:nvPr>
        </p:nvSpPr>
        <p:spPr/>
      </p:sp>
      <p:sp>
        <p:nvSpPr>
          <p:cNvPr id="106500"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C4A56FD8-7DA8-403C-AC0B-A3C3BAC26E65}" type="slidenum">
              <a:rPr lang="en-US" altLang="zh-CN"/>
            </a:fld>
            <a:endParaRPr lang="en-US" altLang="zh-CN"/>
          </a:p>
        </p:txBody>
      </p:sp>
      <p:sp>
        <p:nvSpPr>
          <p:cNvPr id="107523" name="Rectangle 2"/>
          <p:cNvSpPr>
            <a:spLocks noGrp="1" noRot="1" noChangeAspect="1" noChangeArrowheads="1" noTextEdit="1"/>
          </p:cNvSpPr>
          <p:nvPr>
            <p:ph type="sldImg"/>
          </p:nvPr>
        </p:nvSpPr>
        <p:spPr/>
      </p:sp>
      <p:sp>
        <p:nvSpPr>
          <p:cNvPr id="10752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4173C47B-370C-4809-B620-35DC76E795DB}" type="slidenum">
              <a:rPr lang="en-US" altLang="zh-CN"/>
            </a:fld>
            <a:endParaRPr lang="en-US" altLang="zh-CN"/>
          </a:p>
        </p:txBody>
      </p:sp>
      <p:sp>
        <p:nvSpPr>
          <p:cNvPr id="108547" name="Rectangle 2"/>
          <p:cNvSpPr>
            <a:spLocks noGrp="1" noRot="1" noChangeAspect="1" noChangeArrowheads="1" noTextEdit="1"/>
          </p:cNvSpPr>
          <p:nvPr>
            <p:ph type="sldImg"/>
          </p:nvPr>
        </p:nvSpPr>
        <p:spPr/>
      </p:sp>
      <p:sp>
        <p:nvSpPr>
          <p:cNvPr id="10854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B34DD201-2FAA-4E3E-BBDF-0B4F041F0F58}" type="slidenum">
              <a:rPr lang="en-US" altLang="zh-CN"/>
            </a:fld>
            <a:endParaRPr lang="en-US" altLang="zh-CN"/>
          </a:p>
        </p:txBody>
      </p:sp>
      <p:sp>
        <p:nvSpPr>
          <p:cNvPr id="109571" name="Rectangle 2"/>
          <p:cNvSpPr>
            <a:spLocks noGrp="1" noRot="1" noChangeAspect="1" noChangeArrowheads="1" noTextEdit="1"/>
          </p:cNvSpPr>
          <p:nvPr>
            <p:ph type="sldImg"/>
          </p:nvPr>
        </p:nvSpPr>
        <p:spPr/>
      </p:sp>
      <p:sp>
        <p:nvSpPr>
          <p:cNvPr id="10957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94D49E28-0A07-49EF-B510-5544C79104F3}" type="slidenum">
              <a:rPr lang="en-US" altLang="zh-CN"/>
            </a:fld>
            <a:endParaRPr lang="en-US" altLang="zh-CN"/>
          </a:p>
        </p:txBody>
      </p:sp>
      <p:sp>
        <p:nvSpPr>
          <p:cNvPr id="110595" name="Rectangle 2"/>
          <p:cNvSpPr>
            <a:spLocks noGrp="1" noRot="1" noChangeAspect="1" noChangeArrowheads="1" noTextEdit="1"/>
          </p:cNvSpPr>
          <p:nvPr>
            <p:ph type="sldImg"/>
          </p:nvPr>
        </p:nvSpPr>
        <p:spPr/>
      </p:sp>
      <p:sp>
        <p:nvSpPr>
          <p:cNvPr id="11059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B071C175-749F-4579-B1DB-C36726B783BE}" type="slidenum">
              <a:rPr lang="en-US" altLang="zh-CN"/>
            </a:fld>
            <a:endParaRPr lang="en-US" altLang="zh-CN"/>
          </a:p>
        </p:txBody>
      </p:sp>
      <p:sp>
        <p:nvSpPr>
          <p:cNvPr id="111619" name="Rectangle 2"/>
          <p:cNvSpPr>
            <a:spLocks noGrp="1" noRot="1" noChangeAspect="1" noChangeArrowheads="1" noTextEdit="1"/>
          </p:cNvSpPr>
          <p:nvPr>
            <p:ph type="sldImg"/>
          </p:nvPr>
        </p:nvSpPr>
        <p:spPr/>
      </p:sp>
      <p:sp>
        <p:nvSpPr>
          <p:cNvPr id="111620"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4D8C1ED7-E5EE-4ACB-AF97-B7A44576AAF6}" type="slidenum">
              <a:rPr lang="en-US" altLang="zh-CN"/>
            </a:fld>
            <a:endParaRPr lang="en-US" altLang="zh-CN"/>
          </a:p>
        </p:txBody>
      </p:sp>
      <p:sp>
        <p:nvSpPr>
          <p:cNvPr id="112643" name="Rectangle 2"/>
          <p:cNvSpPr>
            <a:spLocks noGrp="1" noRot="1" noChangeAspect="1" noChangeArrowheads="1" noTextEdit="1"/>
          </p:cNvSpPr>
          <p:nvPr>
            <p:ph type="sldImg"/>
          </p:nvPr>
        </p:nvSpPr>
        <p:spPr/>
      </p:sp>
      <p:sp>
        <p:nvSpPr>
          <p:cNvPr id="11264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56E83001-C935-47F0-BB2C-B30CE9D5DD54}" type="slidenum">
              <a:rPr lang="en-US" altLang="zh-CN"/>
            </a:fld>
            <a:endParaRPr lang="en-US" altLang="zh-CN"/>
          </a:p>
        </p:txBody>
      </p:sp>
      <p:sp>
        <p:nvSpPr>
          <p:cNvPr id="113667" name="Rectangle 2"/>
          <p:cNvSpPr>
            <a:spLocks noGrp="1" noRot="1" noChangeAspect="1" noChangeArrowheads="1" noTextEdit="1"/>
          </p:cNvSpPr>
          <p:nvPr>
            <p:ph type="sldImg"/>
          </p:nvPr>
        </p:nvSpPr>
        <p:spPr/>
      </p:sp>
      <p:sp>
        <p:nvSpPr>
          <p:cNvPr id="11366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69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54DCA693-FD2B-4A57-AB65-9DB45911DF96}" type="slidenum">
              <a:rPr lang="en-US" altLang="zh-CN"/>
            </a:fld>
            <a:endParaRPr lang="en-US" altLang="zh-CN"/>
          </a:p>
        </p:txBody>
      </p:sp>
      <p:sp>
        <p:nvSpPr>
          <p:cNvPr id="114691" name="Rectangle 2"/>
          <p:cNvSpPr>
            <a:spLocks noGrp="1" noRot="1" noChangeAspect="1" noChangeArrowheads="1" noTextEdit="1"/>
          </p:cNvSpPr>
          <p:nvPr>
            <p:ph type="sldImg"/>
          </p:nvPr>
        </p:nvSpPr>
        <p:spPr/>
      </p:sp>
      <p:sp>
        <p:nvSpPr>
          <p:cNvPr id="11469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0F4597A9-1921-4931-9FF0-742BEC16B10A}" type="slidenum">
              <a:rPr lang="en-US" altLang="zh-CN"/>
            </a:fld>
            <a:endParaRPr lang="en-US" altLang="zh-CN"/>
          </a:p>
        </p:txBody>
      </p:sp>
      <p:sp>
        <p:nvSpPr>
          <p:cNvPr id="115715" name="Rectangle 2"/>
          <p:cNvSpPr>
            <a:spLocks noGrp="1" noRot="1" noChangeAspect="1" noChangeArrowheads="1" noTextEdit="1"/>
          </p:cNvSpPr>
          <p:nvPr>
            <p:ph type="sldImg"/>
          </p:nvPr>
        </p:nvSpPr>
        <p:spPr/>
      </p:sp>
      <p:sp>
        <p:nvSpPr>
          <p:cNvPr id="11571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67E2EBEE-AF17-4FCE-802A-7FF053A35278}" type="slidenum">
              <a:rPr lang="en-US" altLang="zh-CN"/>
            </a:fld>
            <a:endParaRPr lang="en-US" altLang="zh-CN"/>
          </a:p>
        </p:txBody>
      </p:sp>
      <p:sp>
        <p:nvSpPr>
          <p:cNvPr id="116739" name="Rectangle 2"/>
          <p:cNvSpPr>
            <a:spLocks noGrp="1" noRot="1" noChangeAspect="1" noChangeArrowheads="1" noTextEdit="1"/>
          </p:cNvSpPr>
          <p:nvPr>
            <p:ph type="sldImg"/>
          </p:nvPr>
        </p:nvSpPr>
        <p:spPr/>
      </p:sp>
      <p:sp>
        <p:nvSpPr>
          <p:cNvPr id="116740"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2"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A4563716-4013-4F14-A693-EC5C4E61B832}" type="slidenum">
              <a:rPr lang="en-US" altLang="zh-CN"/>
            </a:fld>
            <a:endParaRPr lang="en-US" altLang="zh-CN"/>
          </a:p>
        </p:txBody>
      </p:sp>
      <p:sp>
        <p:nvSpPr>
          <p:cNvPr id="117763" name="Rectangle 2"/>
          <p:cNvSpPr>
            <a:spLocks noGrp="1" noRot="1" noChangeAspect="1" noChangeArrowheads="1" noTextEdit="1"/>
          </p:cNvSpPr>
          <p:nvPr>
            <p:ph type="sldImg"/>
          </p:nvPr>
        </p:nvSpPr>
        <p:spPr/>
      </p:sp>
      <p:sp>
        <p:nvSpPr>
          <p:cNvPr id="11776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1D3060B2-D6ED-4DF3-8319-AB35DC76F984}" type="slidenum">
              <a:rPr lang="en-US" altLang="zh-CN"/>
            </a:fld>
            <a:endParaRPr lang="en-US" altLang="zh-CN"/>
          </a:p>
        </p:txBody>
      </p:sp>
      <p:sp>
        <p:nvSpPr>
          <p:cNvPr id="118787" name="Rectangle 2"/>
          <p:cNvSpPr>
            <a:spLocks noGrp="1" noRot="1" noChangeAspect="1" noChangeArrowheads="1" noTextEdit="1"/>
          </p:cNvSpPr>
          <p:nvPr>
            <p:ph type="sldImg"/>
          </p:nvPr>
        </p:nvSpPr>
        <p:spPr/>
      </p:sp>
      <p:sp>
        <p:nvSpPr>
          <p:cNvPr id="11878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zh-CN" smtClean="0">
                <a:latin typeface="Arial" panose="020B0604020202090204" pitchFamily="34" charset="0"/>
              </a:rPr>
              <a:t>4-6+4=2</a:t>
            </a:r>
            <a:endParaRPr lang="en-US" altLang="zh-CN" smtClean="0">
              <a:latin typeface="Arial" panose="020B0604020202090204" pitchFamily="34" charset="0"/>
            </a:endParaRPr>
          </a:p>
          <a:p>
            <a:pPr eaLnBrk="1" hangingPunct="1"/>
            <a:r>
              <a:rPr lang="zh-CN" altLang="en-US" smtClean="0">
                <a:latin typeface="Arial" panose="020B0604020202090204" pitchFamily="34" charset="0"/>
              </a:rPr>
              <a:t>顶点数</a:t>
            </a:r>
            <a:r>
              <a:rPr lang="en-US" altLang="zh-CN" smtClean="0">
                <a:latin typeface="Arial" panose="020B0604020202090204" pitchFamily="34" charset="0"/>
              </a:rPr>
              <a:t>-</a:t>
            </a:r>
            <a:r>
              <a:rPr lang="zh-CN" altLang="en-US" smtClean="0">
                <a:latin typeface="Arial" panose="020B0604020202090204" pitchFamily="34" charset="0"/>
              </a:rPr>
              <a:t>边数</a:t>
            </a:r>
            <a:r>
              <a:rPr lang="en-US" altLang="zh-CN" smtClean="0">
                <a:latin typeface="Arial" panose="020B0604020202090204" pitchFamily="34" charset="0"/>
              </a:rPr>
              <a:t>+</a:t>
            </a:r>
            <a:r>
              <a:rPr lang="zh-CN" altLang="en-US" smtClean="0">
                <a:latin typeface="Arial" panose="020B0604020202090204" pitchFamily="34" charset="0"/>
              </a:rPr>
              <a:t>区域数</a:t>
            </a:r>
            <a:endParaRPr lang="zh-CN" altLang="zh-CN" smtClean="0">
              <a:latin typeface="Arial" panose="020B0604020202090204" pitchFamily="34" charset="0"/>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61463E7A-D43E-4B51-896F-5334A425C6B6}" type="slidenum">
              <a:rPr lang="en-US" altLang="zh-CN"/>
            </a:fld>
            <a:endParaRPr lang="en-US" altLang="zh-CN"/>
          </a:p>
        </p:txBody>
      </p:sp>
      <p:sp>
        <p:nvSpPr>
          <p:cNvPr id="119811" name="Rectangle 2"/>
          <p:cNvSpPr>
            <a:spLocks noGrp="1" noRot="1" noChangeAspect="1" noChangeArrowheads="1" noTextEdit="1"/>
          </p:cNvSpPr>
          <p:nvPr>
            <p:ph type="sldImg"/>
          </p:nvPr>
        </p:nvSpPr>
        <p:spPr/>
      </p:sp>
      <p:sp>
        <p:nvSpPr>
          <p:cNvPr id="11981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1055F399-6365-4104-8BB1-CC1A25BF081E}" type="slidenum">
              <a:rPr lang="en-US" altLang="zh-CN"/>
            </a:fld>
            <a:endParaRPr lang="en-US" altLang="zh-CN"/>
          </a:p>
        </p:txBody>
      </p:sp>
      <p:sp>
        <p:nvSpPr>
          <p:cNvPr id="120835" name="Rectangle 2"/>
          <p:cNvSpPr>
            <a:spLocks noGrp="1" noRot="1" noChangeAspect="1" noChangeArrowheads="1" noTextEdit="1"/>
          </p:cNvSpPr>
          <p:nvPr>
            <p:ph type="sldImg"/>
          </p:nvPr>
        </p:nvSpPr>
        <p:spPr/>
      </p:sp>
      <p:sp>
        <p:nvSpPr>
          <p:cNvPr id="12083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B52561C6-7F56-4C3D-A471-D36DC810D179}" type="slidenum">
              <a:rPr lang="en-US" altLang="zh-CN"/>
            </a:fld>
            <a:endParaRPr lang="en-US" altLang="zh-CN"/>
          </a:p>
        </p:txBody>
      </p:sp>
      <p:sp>
        <p:nvSpPr>
          <p:cNvPr id="121859" name="Rectangle 2"/>
          <p:cNvSpPr>
            <a:spLocks noGrp="1" noRot="1" noChangeAspect="1" noChangeArrowheads="1" noTextEdit="1"/>
          </p:cNvSpPr>
          <p:nvPr>
            <p:ph type="sldImg"/>
          </p:nvPr>
        </p:nvSpPr>
        <p:spPr/>
      </p:sp>
      <p:sp>
        <p:nvSpPr>
          <p:cNvPr id="121860"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2"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DC08220C-4EF3-4D26-87D1-AF24643A4FA9}" type="slidenum">
              <a:rPr lang="en-US" altLang="zh-CN"/>
            </a:fld>
            <a:endParaRPr lang="en-US" altLang="zh-CN"/>
          </a:p>
        </p:txBody>
      </p:sp>
      <p:sp>
        <p:nvSpPr>
          <p:cNvPr id="122883" name="Rectangle 2"/>
          <p:cNvSpPr>
            <a:spLocks noGrp="1" noRot="1" noChangeAspect="1" noChangeArrowheads="1" noTextEdit="1"/>
          </p:cNvSpPr>
          <p:nvPr>
            <p:ph type="sldImg"/>
          </p:nvPr>
        </p:nvSpPr>
        <p:spPr/>
      </p:sp>
      <p:sp>
        <p:nvSpPr>
          <p:cNvPr id="12288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6"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E89BF1FA-2B67-46D0-94A9-52BEFB9A6B4C}" type="slidenum">
              <a:rPr lang="en-US" altLang="zh-CN"/>
            </a:fld>
            <a:endParaRPr lang="en-US" altLang="zh-CN"/>
          </a:p>
        </p:txBody>
      </p:sp>
      <p:sp>
        <p:nvSpPr>
          <p:cNvPr id="123907" name="Rectangle 2"/>
          <p:cNvSpPr>
            <a:spLocks noGrp="1" noRot="1" noChangeAspect="1" noChangeArrowheads="1" noTextEdit="1"/>
          </p:cNvSpPr>
          <p:nvPr>
            <p:ph type="sldImg"/>
          </p:nvPr>
        </p:nvSpPr>
        <p:spPr/>
      </p:sp>
      <p:sp>
        <p:nvSpPr>
          <p:cNvPr id="12390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0"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89B3C467-D53A-4DB5-940D-7C398273CF2F}" type="slidenum">
              <a:rPr lang="en-US" altLang="zh-CN"/>
            </a:fld>
            <a:endParaRPr lang="en-US" altLang="zh-CN"/>
          </a:p>
        </p:txBody>
      </p:sp>
      <p:sp>
        <p:nvSpPr>
          <p:cNvPr id="124931" name="Rectangle 2"/>
          <p:cNvSpPr>
            <a:spLocks noGrp="1" noRot="1" noChangeAspect="1" noChangeArrowheads="1" noTextEdit="1"/>
          </p:cNvSpPr>
          <p:nvPr>
            <p:ph type="sldImg"/>
          </p:nvPr>
        </p:nvSpPr>
        <p:spPr/>
      </p:sp>
      <p:sp>
        <p:nvSpPr>
          <p:cNvPr id="124932"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zh-CN" altLang="en-US" smtClean="0">
                <a:latin typeface="Arial" panose="020B0604020202090204" pitchFamily="34" charset="0"/>
              </a:rPr>
              <a:t>满二叉树：除最后一层无任何子</a:t>
            </a:r>
            <a:r>
              <a:rPr lang="zh-CN" altLang="en-US" smtClean="0">
                <a:latin typeface="Arial" panose="020B0604020202090204" pitchFamily="34" charset="0"/>
                <a:hlinkClick r:id="rId3"/>
              </a:rPr>
              <a:t>节点</a:t>
            </a:r>
            <a:r>
              <a:rPr lang="zh-CN" altLang="en-US" smtClean="0">
                <a:latin typeface="Arial" panose="020B0604020202090204" pitchFamily="34" charset="0"/>
              </a:rPr>
              <a:t>外，每一层上的所有结点都有两个子结点</a:t>
            </a:r>
            <a:endParaRPr lang="en-US" altLang="zh-CN" smtClean="0">
              <a:latin typeface="Arial" panose="020B0604020202090204" pitchFamily="34" charset="0"/>
            </a:endParaRPr>
          </a:p>
          <a:p>
            <a:pPr eaLnBrk="1" hangingPunct="1"/>
            <a:r>
              <a:rPr lang="zh-CN" altLang="en-US" smtClean="0">
                <a:latin typeface="Arial" panose="020B0604020202090204" pitchFamily="34" charset="0"/>
              </a:rPr>
              <a:t>完全二叉树：除最后一层外，每一层上的节点数均达到最大值；在最后一层上只缺少右边的若干结点</a:t>
            </a:r>
            <a:endParaRPr lang="zh-CN" altLang="zh-CN" smtClean="0">
              <a:latin typeface="Arial" panose="020B0604020202090204" pitchFamily="34" charset="0"/>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9EBF6B96-6611-4534-966D-1DB49BA40B47}" type="slidenum">
              <a:rPr lang="en-US" altLang="zh-CN"/>
            </a:fld>
            <a:endParaRPr lang="en-US" altLang="zh-CN"/>
          </a:p>
        </p:txBody>
      </p:sp>
      <p:sp>
        <p:nvSpPr>
          <p:cNvPr id="125955" name="Rectangle 2"/>
          <p:cNvSpPr>
            <a:spLocks noGrp="1" noRot="1" noChangeAspect="1" noChangeArrowheads="1" noTextEdit="1"/>
          </p:cNvSpPr>
          <p:nvPr>
            <p:ph type="sldImg"/>
          </p:nvPr>
        </p:nvSpPr>
        <p:spPr/>
      </p:sp>
      <p:sp>
        <p:nvSpPr>
          <p:cNvPr id="12595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97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79530FE0-CC37-4CCA-B7FF-29A1C445E2EB}" type="slidenum">
              <a:rPr lang="en-US" altLang="zh-CN"/>
            </a:fld>
            <a:endParaRPr lang="en-US" altLang="zh-CN"/>
          </a:p>
        </p:txBody>
      </p:sp>
      <p:sp>
        <p:nvSpPr>
          <p:cNvPr id="126979" name="Rectangle 2"/>
          <p:cNvSpPr>
            <a:spLocks noGrp="1" noRot="1" noChangeAspect="1" noChangeArrowheads="1" noTextEdit="1"/>
          </p:cNvSpPr>
          <p:nvPr>
            <p:ph type="sldImg"/>
          </p:nvPr>
        </p:nvSpPr>
        <p:spPr/>
      </p:sp>
      <p:sp>
        <p:nvSpPr>
          <p:cNvPr id="126980"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002"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F75E2F7C-D2DF-42D6-874E-B2D61C511848}" type="slidenum">
              <a:rPr lang="en-US" altLang="zh-CN"/>
            </a:fld>
            <a:endParaRPr lang="en-US" altLang="zh-CN"/>
          </a:p>
        </p:txBody>
      </p:sp>
      <p:sp>
        <p:nvSpPr>
          <p:cNvPr id="128003" name="Rectangle 2"/>
          <p:cNvSpPr>
            <a:spLocks noGrp="1" noRot="1" noChangeAspect="1" noChangeArrowheads="1" noTextEdit="1"/>
          </p:cNvSpPr>
          <p:nvPr>
            <p:ph type="sldImg"/>
          </p:nvPr>
        </p:nvSpPr>
        <p:spPr/>
      </p:sp>
      <p:sp>
        <p:nvSpPr>
          <p:cNvPr id="12800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026"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8A7E065D-F5F0-4BA8-B427-D76D92B367D7}" type="slidenum">
              <a:rPr lang="en-US" altLang="zh-CN"/>
            </a:fld>
            <a:endParaRPr lang="en-US" altLang="zh-CN"/>
          </a:p>
        </p:txBody>
      </p:sp>
      <p:sp>
        <p:nvSpPr>
          <p:cNvPr id="129027" name="Rectangle 2"/>
          <p:cNvSpPr>
            <a:spLocks noGrp="1" noRot="1" noChangeAspect="1" noChangeArrowheads="1" noTextEdit="1"/>
          </p:cNvSpPr>
          <p:nvPr>
            <p:ph type="sldImg"/>
          </p:nvPr>
        </p:nvSpPr>
        <p:spPr/>
      </p:sp>
      <p:sp>
        <p:nvSpPr>
          <p:cNvPr id="12902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zh-CN" smtClean="0">
              <a:latin typeface="Arial" panose="020B0604020202090204" pitchFamily="34"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pic>
        <p:nvPicPr>
          <p:cNvPr id="4" name="Picture 4" descr="index_0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381750"/>
            <a:ext cx="8243888" cy="476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5" descr="200311_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308850" y="6381750"/>
            <a:ext cx="1800225" cy="476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5522" name="Rectangle 2"/>
          <p:cNvSpPr>
            <a:spLocks noGrp="1" noChangeArrowheads="1"/>
          </p:cNvSpPr>
          <p:nvPr>
            <p:ph type="ctrTitle"/>
          </p:nvPr>
        </p:nvSpPr>
        <p:spPr>
          <a:xfrm>
            <a:off x="685800" y="2130425"/>
            <a:ext cx="7772400" cy="1470025"/>
          </a:xfrm>
        </p:spPr>
        <p:txBody>
          <a:bodyPr/>
          <a:lstStyle>
            <a:lvl1pPr>
              <a:defRPr>
                <a:solidFill>
                  <a:srgbClr val="0066CC"/>
                </a:solidFill>
                <a:latin typeface="Times New Roman" panose="02020503050405090304" pitchFamily="18" charset="0"/>
              </a:defRPr>
            </a:lvl1pPr>
          </a:lstStyle>
          <a:p>
            <a:r>
              <a:rPr lang="zh-CN" altLang="en-US"/>
              <a:t>单击此处编辑母版标题样式</a:t>
            </a:r>
            <a:endParaRPr lang="zh-CN" altLang="en-US"/>
          </a:p>
        </p:txBody>
      </p:sp>
      <p:sp>
        <p:nvSpPr>
          <p:cNvPr id="235523" name="Rectangle 3"/>
          <p:cNvSpPr>
            <a:spLocks noGrp="1" noChangeArrowheads="1"/>
          </p:cNvSpPr>
          <p:nvPr>
            <p:ph type="subTitle" idx="1"/>
          </p:nvPr>
        </p:nvSpPr>
        <p:spPr>
          <a:xfrm>
            <a:off x="1371600" y="3886200"/>
            <a:ext cx="6400800" cy="1752600"/>
          </a:xfrm>
        </p:spPr>
        <p:txBody>
          <a:bodyPr/>
          <a:lstStyle>
            <a:lvl1pPr marL="0" indent="0" algn="ctr">
              <a:buFontTx/>
              <a:buNone/>
              <a:defRPr>
                <a:solidFill>
                  <a:schemeClr val="hlink"/>
                </a:solidFill>
              </a:defRPr>
            </a:lvl1pPr>
          </a:lstStyle>
          <a:p>
            <a:r>
              <a:rPr lang="zh-CN" altLang="en-US"/>
              <a:t>单击此处编辑母版副标题样式</a:t>
            </a:r>
            <a:endParaRPr lang="zh-CN" altLang="en-US"/>
          </a:p>
        </p:txBody>
      </p:sp>
      <p:sp>
        <p:nvSpPr>
          <p:cNvPr id="6" name="Rectangle 6"/>
          <p:cNvSpPr>
            <a:spLocks noGrp="1" noChangeArrowheads="1"/>
          </p:cNvSpPr>
          <p:nvPr>
            <p:ph type="ftr" sz="quarter" idx="10"/>
          </p:nvPr>
        </p:nvSpPr>
        <p:spPr/>
        <p:txBody>
          <a:bodyPr/>
          <a:lstStyle>
            <a:lvl1pPr>
              <a:defRPr/>
            </a:lvl1pPr>
          </a:lstStyle>
          <a:p>
            <a:pPr>
              <a:defRPr/>
            </a:pPr>
            <a:r>
              <a:rPr lang="en-US" altLang="zh-CN"/>
              <a:t>Algorithms Design Techniques and Analysis</a:t>
            </a:r>
            <a:endParaRPr lang="en-US" alt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Rectangle 6"/>
          <p:cNvSpPr>
            <a:spLocks noGrp="1" noChangeArrowheads="1"/>
          </p:cNvSpPr>
          <p:nvPr>
            <p:ph type="ftr" sz="quarter" idx="10"/>
          </p:nvPr>
        </p:nvSpPr>
        <p:spPr/>
        <p:txBody>
          <a:bodyPr/>
          <a:lstStyle>
            <a:lvl1pPr>
              <a:defRPr/>
            </a:lvl1pPr>
          </a:lstStyle>
          <a:p>
            <a:pPr>
              <a:defRPr/>
            </a:pPr>
            <a:r>
              <a:rPr lang="en-US" altLang="zh-CN"/>
              <a:t>Algorithms Design Techniques and Analysis</a:t>
            </a:r>
            <a:endParaRPr lang="en-US" alt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单击此处编辑母版文本样式</a:t>
            </a:r>
            <a:endParaRPr lang="zh-CN" altLang="en-US" smtClean="0"/>
          </a:p>
        </p:txBody>
      </p:sp>
      <p:sp>
        <p:nvSpPr>
          <p:cNvPr id="4" name="Rectangle 6"/>
          <p:cNvSpPr>
            <a:spLocks noGrp="1" noChangeArrowheads="1"/>
          </p:cNvSpPr>
          <p:nvPr>
            <p:ph type="ftr" sz="quarter" idx="10"/>
          </p:nvPr>
        </p:nvSpPr>
        <p:spPr/>
        <p:txBody>
          <a:bodyPr/>
          <a:lstStyle>
            <a:lvl1pPr>
              <a:defRPr/>
            </a:lvl1pPr>
          </a:lstStyle>
          <a:p>
            <a:pPr>
              <a:defRPr/>
            </a:pPr>
            <a:r>
              <a:rPr lang="en-US" altLang="zh-CN"/>
              <a:t>Algorithms Design Techniques and Analysis</a:t>
            </a:r>
            <a:endParaRPr lang="en-US" alt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900113" y="1268413"/>
            <a:ext cx="3816350" cy="45259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内容占位符 3"/>
          <p:cNvSpPr>
            <a:spLocks noGrp="1"/>
          </p:cNvSpPr>
          <p:nvPr>
            <p:ph sz="half" idx="2"/>
          </p:nvPr>
        </p:nvSpPr>
        <p:spPr>
          <a:xfrm>
            <a:off x="4868863" y="1268413"/>
            <a:ext cx="3817937" cy="45259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Rectangle 6"/>
          <p:cNvSpPr>
            <a:spLocks noGrp="1" noChangeArrowheads="1"/>
          </p:cNvSpPr>
          <p:nvPr>
            <p:ph type="ftr" sz="quarter" idx="10"/>
          </p:nvPr>
        </p:nvSpPr>
        <p:spPr/>
        <p:txBody>
          <a:bodyPr/>
          <a:lstStyle>
            <a:lvl1pPr>
              <a:defRPr/>
            </a:lvl1pPr>
          </a:lstStyle>
          <a:p>
            <a:pPr>
              <a:defRPr/>
            </a:pPr>
            <a:r>
              <a:rPr lang="en-US" altLang="zh-CN"/>
              <a:t>Algorithms Design Techniques and Analysis</a:t>
            </a:r>
            <a:endParaRPr lang="en-US" alt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7" name="Rectangle 6"/>
          <p:cNvSpPr>
            <a:spLocks noGrp="1" noChangeArrowheads="1"/>
          </p:cNvSpPr>
          <p:nvPr>
            <p:ph type="ftr" sz="quarter" idx="10"/>
          </p:nvPr>
        </p:nvSpPr>
        <p:spPr/>
        <p:txBody>
          <a:bodyPr/>
          <a:lstStyle>
            <a:lvl1pPr>
              <a:defRPr/>
            </a:lvl1pPr>
          </a:lstStyle>
          <a:p>
            <a:pPr>
              <a:defRPr/>
            </a:pPr>
            <a:r>
              <a:rPr lang="en-US" altLang="zh-CN"/>
              <a:t>Algorithms Design Techniques and Analysis</a:t>
            </a:r>
            <a:endParaRPr lang="en-US" alt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Rectangle 6"/>
          <p:cNvSpPr>
            <a:spLocks noGrp="1" noChangeArrowheads="1"/>
          </p:cNvSpPr>
          <p:nvPr>
            <p:ph type="ftr" sz="quarter" idx="10"/>
          </p:nvPr>
        </p:nvSpPr>
        <p:spPr/>
        <p:txBody>
          <a:bodyPr/>
          <a:lstStyle>
            <a:lvl1pPr>
              <a:defRPr/>
            </a:lvl1pPr>
          </a:lstStyle>
          <a:p>
            <a:pPr>
              <a:defRPr/>
            </a:pPr>
            <a:r>
              <a:rPr lang="en-US" altLang="zh-CN"/>
              <a:t>Algorithms Design Techniques and Analysis</a:t>
            </a:r>
            <a:endParaRPr lang="en-US" alt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6"/>
          <p:cNvSpPr>
            <a:spLocks noGrp="1" noChangeArrowheads="1"/>
          </p:cNvSpPr>
          <p:nvPr>
            <p:ph type="ftr" sz="quarter" idx="10"/>
          </p:nvPr>
        </p:nvSpPr>
        <p:spPr/>
        <p:txBody>
          <a:bodyPr/>
          <a:lstStyle>
            <a:lvl1pPr>
              <a:defRPr/>
            </a:lvl1pPr>
          </a:lstStyle>
          <a:p>
            <a:pPr>
              <a:defRPr/>
            </a:pPr>
            <a:r>
              <a:rPr lang="en-US" altLang="zh-CN"/>
              <a:t>Algorithms Design Techniques and Analysis</a:t>
            </a:r>
            <a:endParaRPr lang="en-US" alt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endParaRPr lang="zh-CN" altLang="en-US" smtClean="0"/>
          </a:p>
        </p:txBody>
      </p:sp>
      <p:sp>
        <p:nvSpPr>
          <p:cNvPr id="5" name="Rectangle 6"/>
          <p:cNvSpPr>
            <a:spLocks noGrp="1" noChangeArrowheads="1"/>
          </p:cNvSpPr>
          <p:nvPr>
            <p:ph type="ftr" sz="quarter" idx="10"/>
          </p:nvPr>
        </p:nvSpPr>
        <p:spPr/>
        <p:txBody>
          <a:bodyPr/>
          <a:lstStyle>
            <a:lvl1pPr>
              <a:defRPr/>
            </a:lvl1pPr>
          </a:lstStyle>
          <a:p>
            <a:pPr>
              <a:defRPr/>
            </a:pPr>
            <a:r>
              <a:rPr lang="en-US" altLang="zh-CN"/>
              <a:t>Algorithms Design Techniques and Analysis</a:t>
            </a:r>
            <a:endParaRPr lang="en-US" alt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smtClean="0"/>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endParaRPr lang="zh-CN" altLang="en-US" smtClean="0"/>
          </a:p>
        </p:txBody>
      </p:sp>
      <p:sp>
        <p:nvSpPr>
          <p:cNvPr id="5" name="Rectangle 6"/>
          <p:cNvSpPr>
            <a:spLocks noGrp="1" noChangeArrowheads="1"/>
          </p:cNvSpPr>
          <p:nvPr>
            <p:ph type="ftr" sz="quarter" idx="10"/>
          </p:nvPr>
        </p:nvSpPr>
        <p:spPr/>
        <p:txBody>
          <a:bodyPr/>
          <a:lstStyle>
            <a:lvl1pPr>
              <a:defRPr/>
            </a:lvl1pPr>
          </a:lstStyle>
          <a:p>
            <a:pPr>
              <a:defRPr/>
            </a:pPr>
            <a:r>
              <a:rPr lang="en-US" altLang="zh-CN"/>
              <a:t>Algorithms Design Techniques and Analysis</a:t>
            </a:r>
            <a:endParaRPr lang="en-US" alt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Rectangle 6"/>
          <p:cNvSpPr>
            <a:spLocks noGrp="1" noChangeArrowheads="1"/>
          </p:cNvSpPr>
          <p:nvPr>
            <p:ph type="ftr" sz="quarter" idx="10"/>
          </p:nvPr>
        </p:nvSpPr>
        <p:spPr/>
        <p:txBody>
          <a:bodyPr/>
          <a:lstStyle>
            <a:lvl1pPr>
              <a:defRPr/>
            </a:lvl1pPr>
          </a:lstStyle>
          <a:p>
            <a:pPr>
              <a:defRPr/>
            </a:pPr>
            <a:r>
              <a:rPr lang="en-US" altLang="zh-CN"/>
              <a:t>Algorithms Design Techniques and Analysis</a:t>
            </a:r>
            <a:endParaRPr lang="en-US" alt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781800" y="269875"/>
            <a:ext cx="1966913" cy="5524500"/>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879475" y="269875"/>
            <a:ext cx="5749925" cy="5524500"/>
          </a:xfrm>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Rectangle 6"/>
          <p:cNvSpPr>
            <a:spLocks noGrp="1" noChangeArrowheads="1"/>
          </p:cNvSpPr>
          <p:nvPr>
            <p:ph type="ftr" sz="quarter" idx="10"/>
          </p:nvPr>
        </p:nvSpPr>
        <p:spPr/>
        <p:txBody>
          <a:bodyPr/>
          <a:lstStyle>
            <a:lvl1pPr>
              <a:defRPr/>
            </a:lvl1pPr>
          </a:lstStyle>
          <a:p>
            <a:pPr>
              <a:defRPr/>
            </a:pPr>
            <a:r>
              <a:rPr lang="en-US" altLang="zh-CN"/>
              <a:t>Algorithms Design Techniques and Analysis</a:t>
            </a:r>
            <a:endParaRPr lang="en-US" alt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879475" y="269875"/>
            <a:ext cx="7869238" cy="927100"/>
          </a:xfrm>
        </p:spPr>
        <p:txBody>
          <a:bodyPr/>
          <a:lstStyle/>
          <a:p>
            <a:r>
              <a:rPr lang="zh-CN" altLang="en-US" smtClean="0"/>
              <a:t>单击此处编辑母版标题样式</a:t>
            </a:r>
            <a:endParaRPr lang="zh-CN" altLang="en-US"/>
          </a:p>
        </p:txBody>
      </p:sp>
      <p:sp>
        <p:nvSpPr>
          <p:cNvPr id="3" name="文本占位符 2"/>
          <p:cNvSpPr>
            <a:spLocks noGrp="1"/>
          </p:cNvSpPr>
          <p:nvPr>
            <p:ph type="body" sz="half" idx="1"/>
          </p:nvPr>
        </p:nvSpPr>
        <p:spPr>
          <a:xfrm>
            <a:off x="900113" y="1268413"/>
            <a:ext cx="3816350" cy="4525962"/>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内容占位符 3"/>
          <p:cNvSpPr>
            <a:spLocks noGrp="1"/>
          </p:cNvSpPr>
          <p:nvPr>
            <p:ph sz="half" idx="2"/>
          </p:nvPr>
        </p:nvSpPr>
        <p:spPr>
          <a:xfrm>
            <a:off x="4868863" y="1268413"/>
            <a:ext cx="3817937" cy="4525962"/>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Rectangle 6"/>
          <p:cNvSpPr>
            <a:spLocks noGrp="1" noChangeArrowheads="1"/>
          </p:cNvSpPr>
          <p:nvPr>
            <p:ph type="ftr" sz="quarter" idx="10"/>
          </p:nvPr>
        </p:nvSpPr>
        <p:spPr/>
        <p:txBody>
          <a:bodyPr/>
          <a:lstStyle>
            <a:lvl1pPr>
              <a:defRPr/>
            </a:lvl1pPr>
          </a:lstStyle>
          <a:p>
            <a:pPr>
              <a:defRPr/>
            </a:pPr>
            <a:r>
              <a:rPr lang="en-US" altLang="zh-CN"/>
              <a:t>Algorithms Design Techniques and Analysis</a:t>
            </a:r>
            <a:endParaRPr lang="en-US" altLang="zh-CN"/>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TwoObj" preserve="1">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a:xfrm>
            <a:off x="879475" y="269875"/>
            <a:ext cx="7869238" cy="927100"/>
          </a:xfrm>
        </p:spPr>
        <p:txBody>
          <a:bodyPr/>
          <a:lstStyle/>
          <a:p>
            <a:r>
              <a:rPr lang="zh-CN" altLang="en-US" smtClean="0"/>
              <a:t>单击此处编辑母版标题样式</a:t>
            </a:r>
            <a:endParaRPr lang="zh-CN" altLang="en-US"/>
          </a:p>
        </p:txBody>
      </p:sp>
      <p:sp>
        <p:nvSpPr>
          <p:cNvPr id="3" name="文本占位符 2"/>
          <p:cNvSpPr>
            <a:spLocks noGrp="1"/>
          </p:cNvSpPr>
          <p:nvPr>
            <p:ph type="body" sz="half" idx="1"/>
          </p:nvPr>
        </p:nvSpPr>
        <p:spPr>
          <a:xfrm>
            <a:off x="900113" y="1268413"/>
            <a:ext cx="3816350" cy="4525962"/>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内容占位符 3"/>
          <p:cNvSpPr>
            <a:spLocks noGrp="1"/>
          </p:cNvSpPr>
          <p:nvPr>
            <p:ph sz="quarter" idx="2"/>
          </p:nvPr>
        </p:nvSpPr>
        <p:spPr>
          <a:xfrm>
            <a:off x="4868863" y="1268413"/>
            <a:ext cx="3817937" cy="2185987"/>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内容占位符 4"/>
          <p:cNvSpPr>
            <a:spLocks noGrp="1"/>
          </p:cNvSpPr>
          <p:nvPr>
            <p:ph sz="quarter" idx="3"/>
          </p:nvPr>
        </p:nvSpPr>
        <p:spPr>
          <a:xfrm>
            <a:off x="4868863" y="3606800"/>
            <a:ext cx="3817937" cy="2187575"/>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Rectangle 6"/>
          <p:cNvSpPr>
            <a:spLocks noGrp="1" noChangeArrowheads="1"/>
          </p:cNvSpPr>
          <p:nvPr>
            <p:ph type="ftr" sz="quarter" idx="10"/>
          </p:nvPr>
        </p:nvSpPr>
        <p:spPr/>
        <p:txBody>
          <a:bodyPr/>
          <a:lstStyle>
            <a:lvl1pPr>
              <a:defRPr/>
            </a:lvl1pPr>
          </a:lstStyle>
          <a:p>
            <a:pPr>
              <a:defRPr/>
            </a:pPr>
            <a:r>
              <a:rPr lang="en-US" altLang="zh-CN"/>
              <a:t>Algorithms Design Techniques and Analysis</a:t>
            </a:r>
            <a:endParaRPr lang="en-US" altLang="zh-CN"/>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OverObj">
  <p:cSld name="标题和文本在内容之上">
    <p:spTree>
      <p:nvGrpSpPr>
        <p:cNvPr id="1" name=""/>
        <p:cNvGrpSpPr/>
        <p:nvPr/>
      </p:nvGrpSpPr>
      <p:grpSpPr>
        <a:xfrm>
          <a:off x="0" y="0"/>
          <a:ext cx="0" cy="0"/>
          <a:chOff x="0" y="0"/>
          <a:chExt cx="0" cy="0"/>
        </a:xfrm>
      </p:grpSpPr>
      <p:sp>
        <p:nvSpPr>
          <p:cNvPr id="2" name="标题 1"/>
          <p:cNvSpPr>
            <a:spLocks noGrp="1"/>
          </p:cNvSpPr>
          <p:nvPr>
            <p:ph type="title"/>
          </p:nvPr>
        </p:nvSpPr>
        <p:spPr>
          <a:xfrm>
            <a:off x="879475" y="269875"/>
            <a:ext cx="7869238" cy="927100"/>
          </a:xfrm>
        </p:spPr>
        <p:txBody>
          <a:bodyPr/>
          <a:lstStyle/>
          <a:p>
            <a:r>
              <a:rPr lang="zh-CN" altLang="en-US" smtClean="0"/>
              <a:t>单击此处编辑母版标题样式</a:t>
            </a:r>
            <a:endParaRPr lang="zh-CN" altLang="en-US"/>
          </a:p>
        </p:txBody>
      </p:sp>
      <p:sp>
        <p:nvSpPr>
          <p:cNvPr id="3" name="文本占位符 2"/>
          <p:cNvSpPr>
            <a:spLocks noGrp="1"/>
          </p:cNvSpPr>
          <p:nvPr>
            <p:ph type="body" sz="half" idx="1"/>
          </p:nvPr>
        </p:nvSpPr>
        <p:spPr>
          <a:xfrm>
            <a:off x="900113" y="1268413"/>
            <a:ext cx="7786687" cy="2185987"/>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内容占位符 3"/>
          <p:cNvSpPr>
            <a:spLocks noGrp="1"/>
          </p:cNvSpPr>
          <p:nvPr>
            <p:ph sz="half" idx="2"/>
          </p:nvPr>
        </p:nvSpPr>
        <p:spPr>
          <a:xfrm>
            <a:off x="900113" y="3606800"/>
            <a:ext cx="7786687" cy="2187575"/>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Rectangle 6"/>
          <p:cNvSpPr>
            <a:spLocks noGrp="1" noChangeArrowheads="1"/>
          </p:cNvSpPr>
          <p:nvPr>
            <p:ph type="ftr" sz="quarter" idx="10"/>
          </p:nvPr>
        </p:nvSpPr>
        <p:spPr/>
        <p:txBody>
          <a:bodyPr/>
          <a:lstStyle>
            <a:lvl1pPr>
              <a:defRPr/>
            </a:lvl1pPr>
          </a:lstStyle>
          <a:p>
            <a:pPr>
              <a:defRPr/>
            </a:pPr>
            <a:r>
              <a:rPr lang="en-US" altLang="zh-CN"/>
              <a:t>Algorithms Design Techniques and Analysis</a:t>
            </a:r>
            <a:endParaRPr lang="en-US" altLang="zh-CN"/>
          </a:p>
        </p:txBody>
      </p:sp>
    </p:spTree>
  </p:cSld>
  <p:clrMapOvr>
    <a:masterClrMapping/>
  </p:clrMapOvr>
  <p:transition/>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8" Type="http://schemas.openxmlformats.org/officeDocument/2006/relationships/theme" Target="../theme/theme1.xml"/><Relationship Id="rId17" Type="http://schemas.openxmlformats.org/officeDocument/2006/relationships/image" Target="../media/image2.jpeg"/><Relationship Id="rId16" Type="http://schemas.openxmlformats.org/officeDocument/2006/relationships/image" Target="../media/image1.jpeg"/><Relationship Id="rId15" Type="http://schemas.openxmlformats.org/officeDocument/2006/relationships/image" Target="../media/image3.jpeg"/><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0">
          <a:blip r:embed="rId15"/>
          <a:srcRect/>
          <a:stretch>
            <a:fillRect/>
          </a:stretch>
        </a:blip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79475" y="269875"/>
            <a:ext cx="7869238" cy="927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p>
            <a:pPr lvl="0"/>
            <a:r>
              <a:rPr lang="zh-CN" altLang="en-US" smtClean="0"/>
              <a:t>单击此处编辑母版标题样式</a:t>
            </a:r>
            <a:endParaRPr lang="zh-CN" altLang="en-US" smtClean="0"/>
          </a:p>
        </p:txBody>
      </p:sp>
      <p:sp>
        <p:nvSpPr>
          <p:cNvPr id="1027" name="Rectangle 3"/>
          <p:cNvSpPr>
            <a:spLocks noGrp="1" noChangeArrowheads="1"/>
          </p:cNvSpPr>
          <p:nvPr>
            <p:ph type="body" idx="1"/>
          </p:nvPr>
        </p:nvSpPr>
        <p:spPr bwMode="auto">
          <a:xfrm>
            <a:off x="900113" y="1268413"/>
            <a:ext cx="7786687" cy="452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p:txBody>
      </p:sp>
      <p:pic>
        <p:nvPicPr>
          <p:cNvPr id="1028" name="Picture 4" descr="index_07"/>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0" y="6381750"/>
            <a:ext cx="8243888" cy="476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9" name="Picture 5" descr="200311_3"/>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7308850" y="6381750"/>
            <a:ext cx="1800225" cy="476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4502" name="Rectangle 6"/>
          <p:cNvSpPr>
            <a:spLocks noGrp="1" noChangeArrowheads="1"/>
          </p:cNvSpPr>
          <p:nvPr>
            <p:ph type="ftr" sz="quarter" idx="3"/>
          </p:nvPr>
        </p:nvSpPr>
        <p:spPr bwMode="auto">
          <a:xfrm>
            <a:off x="3492500" y="6381750"/>
            <a:ext cx="3816350" cy="431800"/>
          </a:xfrm>
          <a:prstGeom prst="rect">
            <a:avLst/>
          </a:prstGeom>
          <a:noFill/>
          <a:ln w="9525">
            <a:noFill/>
            <a:miter lim="800000"/>
          </a:ln>
          <a:effectLst/>
        </p:spPr>
        <p:txBody>
          <a:bodyPr vert="horz" wrap="square" lIns="91440" tIns="45720" rIns="91440" bIns="45720" numCol="1" anchor="t" anchorCtr="0" compatLnSpc="1"/>
          <a:lstStyle>
            <a:lvl1pPr algn="ctr" eaLnBrk="1" hangingPunct="1">
              <a:defRPr sz="1400">
                <a:latin typeface="Arial" panose="020B0604020202090204" pitchFamily="34" charset="0"/>
              </a:defRPr>
            </a:lvl1pPr>
          </a:lstStyle>
          <a:p>
            <a:pPr>
              <a:defRPr/>
            </a:pPr>
            <a:r>
              <a:rPr lang="en-US" altLang="zh-CN"/>
              <a:t>Algorithms Design Techniques and Analysis</a:t>
            </a:r>
            <a:endParaRPr lang="en-US" altLang="zh-CN"/>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timing>
    <p:tnLst>
      <p:par>
        <p:cTn id="1" dur="indefinite" restart="never" nodeType="tmRoot"/>
      </p:par>
    </p:tnLst>
  </p:timing>
  <p:hf sldNum="0" hdr="0" dt="0"/>
  <p:txStyles>
    <p:titleStyle>
      <a:lvl1pPr algn="l" rtl="0" eaLnBrk="0" fontAlgn="base" hangingPunct="0">
        <a:spcBef>
          <a:spcPct val="0"/>
        </a:spcBef>
        <a:spcAft>
          <a:spcPct val="0"/>
        </a:spcAft>
        <a:defRPr sz="3200" b="1">
          <a:solidFill>
            <a:schemeClr val="accent2"/>
          </a:solidFill>
          <a:latin typeface="+mj-lt"/>
          <a:ea typeface="+mj-ea"/>
          <a:cs typeface="+mj-cs"/>
        </a:defRPr>
      </a:lvl1pPr>
      <a:lvl2pPr algn="l" rtl="0" eaLnBrk="0" fontAlgn="base" hangingPunct="0">
        <a:spcBef>
          <a:spcPct val="0"/>
        </a:spcBef>
        <a:spcAft>
          <a:spcPct val="0"/>
        </a:spcAft>
        <a:defRPr sz="3200" b="1">
          <a:solidFill>
            <a:schemeClr val="accent2"/>
          </a:solidFill>
          <a:latin typeface="Garamond" pitchFamily="18" charset="0"/>
          <a:ea typeface="宋体" pitchFamily="2" charset="-122"/>
        </a:defRPr>
      </a:lvl2pPr>
      <a:lvl3pPr algn="l" rtl="0" eaLnBrk="0" fontAlgn="base" hangingPunct="0">
        <a:spcBef>
          <a:spcPct val="0"/>
        </a:spcBef>
        <a:spcAft>
          <a:spcPct val="0"/>
        </a:spcAft>
        <a:defRPr sz="3200" b="1">
          <a:solidFill>
            <a:schemeClr val="accent2"/>
          </a:solidFill>
          <a:latin typeface="Garamond" pitchFamily="18" charset="0"/>
          <a:ea typeface="宋体" pitchFamily="2" charset="-122"/>
        </a:defRPr>
      </a:lvl3pPr>
      <a:lvl4pPr algn="l" rtl="0" eaLnBrk="0" fontAlgn="base" hangingPunct="0">
        <a:spcBef>
          <a:spcPct val="0"/>
        </a:spcBef>
        <a:spcAft>
          <a:spcPct val="0"/>
        </a:spcAft>
        <a:defRPr sz="3200" b="1">
          <a:solidFill>
            <a:schemeClr val="accent2"/>
          </a:solidFill>
          <a:latin typeface="Garamond" pitchFamily="18" charset="0"/>
          <a:ea typeface="宋体" pitchFamily="2" charset="-122"/>
        </a:defRPr>
      </a:lvl4pPr>
      <a:lvl5pPr algn="l" rtl="0" eaLnBrk="0" fontAlgn="base" hangingPunct="0">
        <a:spcBef>
          <a:spcPct val="0"/>
        </a:spcBef>
        <a:spcAft>
          <a:spcPct val="0"/>
        </a:spcAft>
        <a:defRPr sz="3200" b="1">
          <a:solidFill>
            <a:schemeClr val="accent2"/>
          </a:solidFill>
          <a:latin typeface="Garamond" pitchFamily="18" charset="0"/>
          <a:ea typeface="宋体" pitchFamily="2" charset="-122"/>
        </a:defRPr>
      </a:lvl5pPr>
      <a:lvl6pPr marL="457200" algn="l" rtl="0" fontAlgn="base">
        <a:spcBef>
          <a:spcPct val="0"/>
        </a:spcBef>
        <a:spcAft>
          <a:spcPct val="0"/>
        </a:spcAft>
        <a:defRPr sz="3200" b="1">
          <a:solidFill>
            <a:schemeClr val="accent2"/>
          </a:solidFill>
          <a:latin typeface="Garamond" pitchFamily="18" charset="0"/>
          <a:ea typeface="宋体" pitchFamily="2" charset="-122"/>
        </a:defRPr>
      </a:lvl6pPr>
      <a:lvl7pPr marL="914400" algn="l" rtl="0" fontAlgn="base">
        <a:spcBef>
          <a:spcPct val="0"/>
        </a:spcBef>
        <a:spcAft>
          <a:spcPct val="0"/>
        </a:spcAft>
        <a:defRPr sz="3200" b="1">
          <a:solidFill>
            <a:schemeClr val="accent2"/>
          </a:solidFill>
          <a:latin typeface="Garamond" pitchFamily="18" charset="0"/>
          <a:ea typeface="宋体" pitchFamily="2" charset="-122"/>
        </a:defRPr>
      </a:lvl7pPr>
      <a:lvl8pPr marL="1371600" algn="l" rtl="0" fontAlgn="base">
        <a:spcBef>
          <a:spcPct val="0"/>
        </a:spcBef>
        <a:spcAft>
          <a:spcPct val="0"/>
        </a:spcAft>
        <a:defRPr sz="3200" b="1">
          <a:solidFill>
            <a:schemeClr val="accent2"/>
          </a:solidFill>
          <a:latin typeface="Garamond" pitchFamily="18" charset="0"/>
          <a:ea typeface="宋体" pitchFamily="2" charset="-122"/>
        </a:defRPr>
      </a:lvl8pPr>
      <a:lvl9pPr marL="1828800" algn="l" rtl="0" fontAlgn="base">
        <a:spcBef>
          <a:spcPct val="0"/>
        </a:spcBef>
        <a:spcAft>
          <a:spcPct val="0"/>
        </a:spcAft>
        <a:defRPr sz="3200" b="1">
          <a:solidFill>
            <a:schemeClr val="accent2"/>
          </a:solidFill>
          <a:latin typeface="Garamond" pitchFamily="18" charset="0"/>
          <a:ea typeface="宋体" pitchFamily="2" charset="-122"/>
        </a:defRPr>
      </a:lvl9pPr>
    </p:titleStyle>
    <p:bodyStyle>
      <a:lvl1pPr marL="342900" indent="-342900" algn="l" rtl="0" eaLnBrk="0" fontAlgn="base" hangingPunct="0">
        <a:spcBef>
          <a:spcPct val="20000"/>
        </a:spcBef>
        <a:spcAft>
          <a:spcPct val="0"/>
        </a:spcAft>
        <a:buChar char="•"/>
        <a:defRPr sz="2500">
          <a:solidFill>
            <a:schemeClr val="accent2"/>
          </a:solidFill>
          <a:latin typeface="+mn-lt"/>
          <a:ea typeface="+mn-ea"/>
          <a:cs typeface="+mn-cs"/>
        </a:defRPr>
      </a:lvl1pPr>
      <a:lvl2pPr marL="742950" indent="-285750" algn="l" rtl="0" eaLnBrk="0" fontAlgn="base" hangingPunct="0">
        <a:spcBef>
          <a:spcPct val="20000"/>
        </a:spcBef>
        <a:spcAft>
          <a:spcPct val="0"/>
        </a:spcAft>
        <a:buChar char="•"/>
        <a:defRPr sz="2200">
          <a:solidFill>
            <a:schemeClr val="accent2"/>
          </a:solidFill>
          <a:latin typeface="Arial" panose="020B0604020202090204" pitchFamily="34" charset="0"/>
          <a:ea typeface="华文行楷" pitchFamily="2" charset="-122"/>
        </a:defRPr>
      </a:lvl2pPr>
      <a:lvl3pPr marL="1143000" indent="-228600" algn="l" rtl="0" eaLnBrk="0" fontAlgn="base" hangingPunct="0">
        <a:spcBef>
          <a:spcPct val="20000"/>
        </a:spcBef>
        <a:spcAft>
          <a:spcPct val="0"/>
        </a:spcAft>
        <a:buChar char="•"/>
        <a:defRPr sz="2000">
          <a:solidFill>
            <a:schemeClr val="accent2"/>
          </a:solidFill>
          <a:latin typeface="Arial" panose="020B0604020202090204" pitchFamily="34" charset="0"/>
          <a:ea typeface="+mj-ea"/>
        </a:defRPr>
      </a:lvl3pPr>
      <a:lvl4pPr marL="1600200" indent="-228600" algn="l" rtl="0" eaLnBrk="0" fontAlgn="base" hangingPunct="0">
        <a:spcBef>
          <a:spcPct val="20000"/>
        </a:spcBef>
        <a:spcAft>
          <a:spcPct val="0"/>
        </a:spcAft>
        <a:buChar char="•"/>
        <a:defRPr sz="2000">
          <a:solidFill>
            <a:schemeClr val="tx1"/>
          </a:solidFill>
          <a:latin typeface="Arial" panose="020B0604020202090204" pitchFamily="34" charset="0"/>
          <a:ea typeface="+mj-ea"/>
        </a:defRPr>
      </a:lvl4pPr>
      <a:lvl5pPr marL="2057400" indent="-228600" algn="l" rtl="0" eaLnBrk="0" fontAlgn="base" hangingPunct="0">
        <a:spcBef>
          <a:spcPct val="20000"/>
        </a:spcBef>
        <a:spcAft>
          <a:spcPct val="0"/>
        </a:spcAft>
        <a:buChar char="•"/>
        <a:defRPr sz="2000">
          <a:solidFill>
            <a:schemeClr val="tx1"/>
          </a:solidFill>
          <a:latin typeface="Arial" panose="020B0604020202090204" pitchFamily="34" charset="0"/>
          <a:ea typeface="+mj-ea"/>
        </a:defRPr>
      </a:lvl5pPr>
      <a:lvl6pPr marL="2514600" indent="-228600" algn="l" rtl="0" fontAlgn="base">
        <a:spcBef>
          <a:spcPct val="20000"/>
        </a:spcBef>
        <a:spcAft>
          <a:spcPct val="0"/>
        </a:spcAft>
        <a:buChar char="•"/>
        <a:defRPr sz="2000">
          <a:solidFill>
            <a:schemeClr val="tx1"/>
          </a:solidFill>
          <a:latin typeface="Arial" panose="020B0604020202090204" pitchFamily="34" charset="0"/>
          <a:ea typeface="+mj-ea"/>
        </a:defRPr>
      </a:lvl6pPr>
      <a:lvl7pPr marL="2971800" indent="-228600" algn="l" rtl="0" fontAlgn="base">
        <a:spcBef>
          <a:spcPct val="20000"/>
        </a:spcBef>
        <a:spcAft>
          <a:spcPct val="0"/>
        </a:spcAft>
        <a:buChar char="•"/>
        <a:defRPr sz="2000">
          <a:solidFill>
            <a:schemeClr val="tx1"/>
          </a:solidFill>
          <a:latin typeface="Arial" panose="020B0604020202090204" pitchFamily="34" charset="0"/>
          <a:ea typeface="+mj-ea"/>
        </a:defRPr>
      </a:lvl7pPr>
      <a:lvl8pPr marL="3429000" indent="-228600" algn="l" rtl="0" fontAlgn="base">
        <a:spcBef>
          <a:spcPct val="20000"/>
        </a:spcBef>
        <a:spcAft>
          <a:spcPct val="0"/>
        </a:spcAft>
        <a:buChar char="•"/>
        <a:defRPr sz="2000">
          <a:solidFill>
            <a:schemeClr val="tx1"/>
          </a:solidFill>
          <a:latin typeface="Arial" panose="020B0604020202090204" pitchFamily="34" charset="0"/>
          <a:ea typeface="+mj-ea"/>
        </a:defRPr>
      </a:lvl8pPr>
      <a:lvl9pPr marL="3886200" indent="-228600" algn="l" rtl="0" fontAlgn="base">
        <a:spcBef>
          <a:spcPct val="20000"/>
        </a:spcBef>
        <a:spcAft>
          <a:spcPct val="0"/>
        </a:spcAft>
        <a:buChar char="•"/>
        <a:defRPr sz="2000">
          <a:solidFill>
            <a:schemeClr val="tx1"/>
          </a:solidFill>
          <a:latin typeface="Arial" panose="020B0604020202090204" pitchFamily="34" charset="0"/>
          <a:ea typeface="+mj-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4.wmf"/></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image" Target="../media/image4.wmf"/></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hyperlink" Target="https://en.wikipedia.org/wiki/Algorithm#cite_note-6" TargetMode="External"/><Relationship Id="rId4" Type="http://schemas.openxmlformats.org/officeDocument/2006/relationships/hyperlink" Target="https://en.wikipedia.org/wiki/Algorithm#cite_note-5" TargetMode="External"/><Relationship Id="rId3" Type="http://schemas.openxmlformats.org/officeDocument/2006/relationships/hyperlink" Target="https://en.wikipedia.org/wiki/Algorithm#cite_note-4" TargetMode="External"/><Relationship Id="rId2" Type="http://schemas.openxmlformats.org/officeDocument/2006/relationships/hyperlink" Target="https://en.wikipedia.org/wiki/Algorithm#cite_note-2" TargetMode="External"/><Relationship Id="rId1" Type="http://schemas.openxmlformats.org/officeDocument/2006/relationships/hyperlink" Target="https://en.wikipedia.org/wiki/Algorithm#cite_note-1" TargetMode="Externa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2.xml"/><Relationship Id="rId1" Type="http://schemas.openxmlformats.org/officeDocument/2006/relationships/image" Target="../media/image4.wmf"/></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image" Target="../media/image4.wm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image" Target="../media/image5.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9" Type="http://schemas.openxmlformats.org/officeDocument/2006/relationships/image" Target="../media/image10.wmf"/><Relationship Id="rId8" Type="http://schemas.openxmlformats.org/officeDocument/2006/relationships/oleObject" Target="../embeddings/oleObject4.bin"/><Relationship Id="rId7" Type="http://schemas.openxmlformats.org/officeDocument/2006/relationships/image" Target="../media/image9.wmf"/><Relationship Id="rId6" Type="http://schemas.openxmlformats.org/officeDocument/2006/relationships/oleObject" Target="../embeddings/oleObject3.bin"/><Relationship Id="rId5" Type="http://schemas.openxmlformats.org/officeDocument/2006/relationships/image" Target="../media/image8.wmf"/><Relationship Id="rId4" Type="http://schemas.openxmlformats.org/officeDocument/2006/relationships/oleObject" Target="../embeddings/oleObject2.bin"/><Relationship Id="rId3" Type="http://schemas.openxmlformats.org/officeDocument/2006/relationships/image" Target="../media/image7.wmf"/><Relationship Id="rId2" Type="http://schemas.openxmlformats.org/officeDocument/2006/relationships/oleObject" Target="../embeddings/oleObject1.bin"/><Relationship Id="rId16" Type="http://schemas.openxmlformats.org/officeDocument/2006/relationships/notesSlide" Target="../notesSlides/notesSlide25.xml"/><Relationship Id="rId15" Type="http://schemas.openxmlformats.org/officeDocument/2006/relationships/vmlDrawing" Target="../drawings/vmlDrawing1.vml"/><Relationship Id="rId14" Type="http://schemas.openxmlformats.org/officeDocument/2006/relationships/slideLayout" Target="../slideLayouts/slideLayout2.xml"/><Relationship Id="rId13" Type="http://schemas.openxmlformats.org/officeDocument/2006/relationships/image" Target="../media/image12.wmf"/><Relationship Id="rId12" Type="http://schemas.openxmlformats.org/officeDocument/2006/relationships/oleObject" Target="../embeddings/oleObject6.bin"/><Relationship Id="rId11" Type="http://schemas.openxmlformats.org/officeDocument/2006/relationships/image" Target="../media/image11.wmf"/><Relationship Id="rId10" Type="http://schemas.openxmlformats.org/officeDocument/2006/relationships/oleObject" Target="../embeddings/oleObject5.bin"/><Relationship Id="rId1" Type="http://schemas.openxmlformats.org/officeDocument/2006/relationships/image" Target="../media/image6.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9" Type="http://schemas.openxmlformats.org/officeDocument/2006/relationships/notesSlide" Target="../notesSlides/notesSlide27.xml"/><Relationship Id="rId8" Type="http://schemas.openxmlformats.org/officeDocument/2006/relationships/vmlDrawing" Target="../drawings/vmlDrawing2.vml"/><Relationship Id="rId7" Type="http://schemas.openxmlformats.org/officeDocument/2006/relationships/slideLayout" Target="../slideLayouts/slideLayout2.xml"/><Relationship Id="rId6" Type="http://schemas.openxmlformats.org/officeDocument/2006/relationships/image" Target="../media/image15.wmf"/><Relationship Id="rId5" Type="http://schemas.openxmlformats.org/officeDocument/2006/relationships/oleObject" Target="../embeddings/oleObject9.bin"/><Relationship Id="rId4" Type="http://schemas.openxmlformats.org/officeDocument/2006/relationships/image" Target="../media/image14.wmf"/><Relationship Id="rId3" Type="http://schemas.openxmlformats.org/officeDocument/2006/relationships/oleObject" Target="../embeddings/oleObject8.bin"/><Relationship Id="rId2" Type="http://schemas.openxmlformats.org/officeDocument/2006/relationships/image" Target="../media/image13.wmf"/><Relationship Id="rId1" Type="http://schemas.openxmlformats.org/officeDocument/2006/relationships/oleObject" Target="../embeddings/oleObject7.bin"/></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29.xml"/><Relationship Id="rId2" Type="http://schemas.openxmlformats.org/officeDocument/2006/relationships/slideLayout" Target="../slideLayouts/slideLayout2.xml"/><Relationship Id="rId1" Type="http://schemas.openxmlformats.org/officeDocument/2006/relationships/image" Target="../media/image16.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9" Type="http://schemas.openxmlformats.org/officeDocument/2006/relationships/oleObject" Target="../embeddings/oleObject14.bin"/><Relationship Id="rId8" Type="http://schemas.openxmlformats.org/officeDocument/2006/relationships/image" Target="../media/image20.emf"/><Relationship Id="rId7" Type="http://schemas.openxmlformats.org/officeDocument/2006/relationships/oleObject" Target="../embeddings/oleObject13.bin"/><Relationship Id="rId6" Type="http://schemas.openxmlformats.org/officeDocument/2006/relationships/image" Target="../media/image19.emf"/><Relationship Id="rId5" Type="http://schemas.openxmlformats.org/officeDocument/2006/relationships/oleObject" Target="../embeddings/oleObject12.bin"/><Relationship Id="rId4" Type="http://schemas.openxmlformats.org/officeDocument/2006/relationships/image" Target="../media/image18.emf"/><Relationship Id="rId3" Type="http://schemas.openxmlformats.org/officeDocument/2006/relationships/oleObject" Target="../embeddings/oleObject11.bin"/><Relationship Id="rId2" Type="http://schemas.openxmlformats.org/officeDocument/2006/relationships/image" Target="../media/image17.emf"/><Relationship Id="rId13" Type="http://schemas.openxmlformats.org/officeDocument/2006/relationships/notesSlide" Target="../notesSlides/notesSlide31.xml"/><Relationship Id="rId12" Type="http://schemas.openxmlformats.org/officeDocument/2006/relationships/vmlDrawing" Target="../drawings/vmlDrawing3.vml"/><Relationship Id="rId11" Type="http://schemas.openxmlformats.org/officeDocument/2006/relationships/slideLayout" Target="../slideLayouts/slideLayout2.xml"/><Relationship Id="rId10" Type="http://schemas.openxmlformats.org/officeDocument/2006/relationships/image" Target="../media/image21.emf"/><Relationship Id="rId1" Type="http://schemas.openxmlformats.org/officeDocument/2006/relationships/oleObject" Target="../embeddings/oleObject10.bin"/></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4" Type="http://schemas.openxmlformats.org/officeDocument/2006/relationships/notesSlide" Target="../notesSlides/notesSlide33.xml"/><Relationship Id="rId3" Type="http://schemas.openxmlformats.org/officeDocument/2006/relationships/slideLayout" Target="../slideLayouts/slideLayout2.xml"/><Relationship Id="rId2" Type="http://schemas.openxmlformats.org/officeDocument/2006/relationships/image" Target="../media/image5.png"/><Relationship Id="rId1" Type="http://schemas.openxmlformats.org/officeDocument/2006/relationships/image" Target="../media/image16.png"/></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slideLayout" Target="../slideLayouts/slideLayout2.xml"/><Relationship Id="rId1" Type="http://schemas.openxmlformats.org/officeDocument/2006/relationships/image" Target="../media/image22.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notesSlide" Target="../notesSlides/notesSlide36.xml"/><Relationship Id="rId2" Type="http://schemas.openxmlformats.org/officeDocument/2006/relationships/slideLayout" Target="../slideLayouts/slideLayout2.xml"/><Relationship Id="rId1" Type="http://schemas.openxmlformats.org/officeDocument/2006/relationships/image" Target="../media/image23.jpe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2.xml"/><Relationship Id="rId1" Type="http://schemas.openxmlformats.org/officeDocument/2006/relationships/image" Target="../media/image16.png"/></Relationships>
</file>

<file path=ppt/slides/_rels/slide44.xml.rels><?xml version="1.0" encoding="UTF-8" standalone="yes"?>
<Relationships xmlns="http://schemas.openxmlformats.org/package/2006/relationships"><Relationship Id="rId3" Type="http://schemas.openxmlformats.org/officeDocument/2006/relationships/notesSlide" Target="../notesSlides/notesSlide40.xml"/><Relationship Id="rId2" Type="http://schemas.openxmlformats.org/officeDocument/2006/relationships/slideLayout" Target="../slideLayouts/slideLayout2.xml"/><Relationship Id="rId1" Type="http://schemas.openxmlformats.org/officeDocument/2006/relationships/image" Target="../media/image16.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notesSlide" Target="../notesSlides/notesSlide45.xml"/><Relationship Id="rId2" Type="http://schemas.openxmlformats.org/officeDocument/2006/relationships/slideLayout" Target="../slideLayouts/slideLayout2.xml"/><Relationship Id="rId1" Type="http://schemas.openxmlformats.org/officeDocument/2006/relationships/image" Target="../media/image24.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6.wmf"/><Relationship Id="rId1" Type="http://schemas.openxmlformats.org/officeDocument/2006/relationships/image" Target="../media/image25.png"/></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58.xml"/><Relationship Id="rId2" Type="http://schemas.openxmlformats.org/officeDocument/2006/relationships/slideLayout" Target="../slideLayouts/slideLayout2.xml"/><Relationship Id="rId1" Type="http://schemas.openxmlformats.org/officeDocument/2006/relationships/image" Target="../media/image4.wmf"/></Relationships>
</file>

<file path=ppt/slides/_rels/slide68.xml.rels><?xml version="1.0" encoding="UTF-8" standalone="yes"?>
<Relationships xmlns="http://schemas.openxmlformats.org/package/2006/relationships"><Relationship Id="rId3" Type="http://schemas.openxmlformats.org/officeDocument/2006/relationships/notesSlide" Target="../notesSlides/notesSlide59.xml"/><Relationship Id="rId2" Type="http://schemas.openxmlformats.org/officeDocument/2006/relationships/slideLayout" Target="../slideLayouts/slideLayout2.xml"/><Relationship Id="rId1" Type="http://schemas.openxmlformats.org/officeDocument/2006/relationships/image" Target="../media/image4.wmf"/></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notesSlide" Target="../notesSlides/notesSlide76.xml"/><Relationship Id="rId2" Type="http://schemas.openxmlformats.org/officeDocument/2006/relationships/slideLayout" Target="../slideLayouts/slideLayout2.xml"/><Relationship Id="rId1" Type="http://schemas.openxmlformats.org/officeDocument/2006/relationships/image" Target="../media/image27.png"/></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5" Type="http://schemas.openxmlformats.org/officeDocument/2006/relationships/notesSlide" Target="../notesSlides/notesSlide85.xml"/><Relationship Id="rId4" Type="http://schemas.openxmlformats.org/officeDocument/2006/relationships/vmlDrawing" Target="../drawings/vmlDrawing4.vml"/><Relationship Id="rId3" Type="http://schemas.openxmlformats.org/officeDocument/2006/relationships/slideLayout" Target="../slideLayouts/slideLayout12.xml"/><Relationship Id="rId2" Type="http://schemas.openxmlformats.org/officeDocument/2006/relationships/image" Target="../media/image28.wmf"/><Relationship Id="rId1" Type="http://schemas.openxmlformats.org/officeDocument/2006/relationships/oleObject" Target="../embeddings/oleObject15.bin"/></Relationships>
</file>

<file path=ppt/slides/_rels/slide95.xml.rels><?xml version="1.0" encoding="UTF-8" standalone="yes"?>
<Relationships xmlns="http://schemas.openxmlformats.org/package/2006/relationships"><Relationship Id="rId4" Type="http://schemas.openxmlformats.org/officeDocument/2006/relationships/notesSlide" Target="../notesSlides/notesSlide86.xml"/><Relationship Id="rId3" Type="http://schemas.openxmlformats.org/officeDocument/2006/relationships/slideLayout" Target="../slideLayouts/slideLayout2.xml"/><Relationship Id="rId2" Type="http://schemas.openxmlformats.org/officeDocument/2006/relationships/image" Target="../media/image30.png"/><Relationship Id="rId1" Type="http://schemas.openxmlformats.org/officeDocument/2006/relationships/image" Target="../media/image29.png"/></Relationships>
</file>

<file path=ppt/slides/_rels/slide96.xml.rels><?xml version="1.0" encoding="UTF-8" standalone="yes"?>
<Relationships xmlns="http://schemas.openxmlformats.org/package/2006/relationships"><Relationship Id="rId4" Type="http://schemas.openxmlformats.org/officeDocument/2006/relationships/notesSlide" Target="../notesSlides/notesSlide87.xml"/><Relationship Id="rId3" Type="http://schemas.openxmlformats.org/officeDocument/2006/relationships/slideLayout" Target="../slideLayouts/slideLayout2.xml"/><Relationship Id="rId2" Type="http://schemas.openxmlformats.org/officeDocument/2006/relationships/image" Target="../media/image32.png"/><Relationship Id="rId1" Type="http://schemas.openxmlformats.org/officeDocument/2006/relationships/image" Target="../media/image31.jpeg"/></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8" Type="http://schemas.openxmlformats.org/officeDocument/2006/relationships/notesSlide" Target="../notesSlides/notesSlide89.xml"/><Relationship Id="rId7" Type="http://schemas.openxmlformats.org/officeDocument/2006/relationships/vmlDrawing" Target="../drawings/vmlDrawing5.vml"/><Relationship Id="rId6" Type="http://schemas.openxmlformats.org/officeDocument/2006/relationships/slideLayout" Target="../slideLayouts/slideLayout13.xml"/><Relationship Id="rId5" Type="http://schemas.openxmlformats.org/officeDocument/2006/relationships/image" Target="../media/image35.png"/><Relationship Id="rId4" Type="http://schemas.openxmlformats.org/officeDocument/2006/relationships/image" Target="../media/image34.wmf"/><Relationship Id="rId3" Type="http://schemas.openxmlformats.org/officeDocument/2006/relationships/oleObject" Target="../embeddings/oleObject17.bin"/><Relationship Id="rId2" Type="http://schemas.openxmlformats.org/officeDocument/2006/relationships/image" Target="../media/image33.wmf"/><Relationship Id="rId1" Type="http://schemas.openxmlformats.org/officeDocument/2006/relationships/oleObject" Target="../embeddings/oleObject16.bin"/></Relationships>
</file>

<file path=ppt/slides/_rels/slide99.xml.rels><?xml version="1.0" encoding="UTF-8" standalone="yes"?>
<Relationships xmlns="http://schemas.openxmlformats.org/package/2006/relationships"><Relationship Id="rId6" Type="http://schemas.openxmlformats.org/officeDocument/2006/relationships/notesSlide" Target="../notesSlides/notesSlide90.xml"/><Relationship Id="rId5" Type="http://schemas.openxmlformats.org/officeDocument/2006/relationships/vmlDrawing" Target="../drawings/vmlDrawing6.vml"/><Relationship Id="rId4" Type="http://schemas.openxmlformats.org/officeDocument/2006/relationships/slideLayout" Target="../slideLayouts/slideLayout13.xml"/><Relationship Id="rId3" Type="http://schemas.openxmlformats.org/officeDocument/2006/relationships/image" Target="../media/image37.png"/><Relationship Id="rId2" Type="http://schemas.openxmlformats.org/officeDocument/2006/relationships/image" Target="../media/image36.wmf"/><Relationship Id="rId1" Type="http://schemas.openxmlformats.org/officeDocument/2006/relationships/oleObject" Target="../embeddings/oleObject18.bin"/></Relationships>
</file>

<file path=ppt/slides/_rels/slide100.xml.rels><?xml version="1.0" encoding="UTF-8" standalone="yes"?>
<Relationships xmlns="http://schemas.openxmlformats.org/package/2006/relationships"><Relationship Id="rId9" Type="http://schemas.openxmlformats.org/officeDocument/2006/relationships/notesSlide" Target="../notesSlides/notesSlide91.xml"/><Relationship Id="rId8" Type="http://schemas.openxmlformats.org/officeDocument/2006/relationships/vmlDrawing" Target="../drawings/vmlDrawing7.vml"/><Relationship Id="rId7" Type="http://schemas.openxmlformats.org/officeDocument/2006/relationships/slideLayout" Target="../slideLayouts/slideLayout13.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wmf"/><Relationship Id="rId3" Type="http://schemas.openxmlformats.org/officeDocument/2006/relationships/oleObject" Target="../embeddings/oleObject20.bin"/><Relationship Id="rId2" Type="http://schemas.openxmlformats.org/officeDocument/2006/relationships/image" Target="../media/image38.wmf"/><Relationship Id="rId1" Type="http://schemas.openxmlformats.org/officeDocument/2006/relationships/oleObject" Target="../embeddings/oleObject19.bin"/></Relationships>
</file>

<file path=ppt/slides/_rels/slide101.xml.rels><?xml version="1.0" encoding="UTF-8" standalone="yes"?>
<Relationships xmlns="http://schemas.openxmlformats.org/package/2006/relationships"><Relationship Id="rId3" Type="http://schemas.openxmlformats.org/officeDocument/2006/relationships/notesSlide" Target="../notesSlides/notesSlide92.xml"/><Relationship Id="rId2" Type="http://schemas.openxmlformats.org/officeDocument/2006/relationships/slideLayout" Target="../slideLayouts/slideLayout2.xml"/><Relationship Id="rId1" Type="http://schemas.openxmlformats.org/officeDocument/2006/relationships/image" Target="../media/image42.jpeg"/></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4" Type="http://schemas.openxmlformats.org/officeDocument/2006/relationships/vmlDrawing" Target="../drawings/vmlDrawing8.vml"/><Relationship Id="rId3" Type="http://schemas.openxmlformats.org/officeDocument/2006/relationships/slideLayout" Target="../slideLayouts/slideLayout2.xml"/><Relationship Id="rId2" Type="http://schemas.openxmlformats.org/officeDocument/2006/relationships/image" Target="../media/image43.wmf"/><Relationship Id="rId1" Type="http://schemas.openxmlformats.org/officeDocument/2006/relationships/oleObject" Target="../embeddings/oleObject21.bin"/></Relationships>
</file>

<file path=ppt/slides/_rels/slide105.xml.rels><?xml version="1.0" encoding="UTF-8" standalone="yes"?>
<Relationships xmlns="http://schemas.openxmlformats.org/package/2006/relationships"><Relationship Id="rId9" Type="http://schemas.openxmlformats.org/officeDocument/2006/relationships/slideLayout" Target="../slideLayouts/slideLayout13.xml"/><Relationship Id="rId8" Type="http://schemas.openxmlformats.org/officeDocument/2006/relationships/image" Target="../media/image48.png"/><Relationship Id="rId7" Type="http://schemas.openxmlformats.org/officeDocument/2006/relationships/image" Target="../media/image47.png"/><Relationship Id="rId6" Type="http://schemas.openxmlformats.org/officeDocument/2006/relationships/image" Target="../media/image46.wmf"/><Relationship Id="rId5" Type="http://schemas.openxmlformats.org/officeDocument/2006/relationships/oleObject" Target="../embeddings/oleObject24.bin"/><Relationship Id="rId4" Type="http://schemas.openxmlformats.org/officeDocument/2006/relationships/image" Target="../media/image45.wmf"/><Relationship Id="rId3" Type="http://schemas.openxmlformats.org/officeDocument/2006/relationships/oleObject" Target="../embeddings/oleObject23.bin"/><Relationship Id="rId2" Type="http://schemas.openxmlformats.org/officeDocument/2006/relationships/image" Target="../media/image44.wmf"/><Relationship Id="rId11" Type="http://schemas.openxmlformats.org/officeDocument/2006/relationships/notesSlide" Target="../notesSlides/notesSlide95.xml"/><Relationship Id="rId10" Type="http://schemas.openxmlformats.org/officeDocument/2006/relationships/vmlDrawing" Target="../drawings/vmlDrawing9.vml"/><Relationship Id="rId1" Type="http://schemas.openxmlformats.org/officeDocument/2006/relationships/oleObject" Target="../embeddings/oleObject22.bin"/></Relationships>
</file>

<file path=ppt/slides/_rels/slide106.xml.rels><?xml version="1.0" encoding="UTF-8" standalone="yes"?>
<Relationships xmlns="http://schemas.openxmlformats.org/package/2006/relationships"><Relationship Id="rId3" Type="http://schemas.openxmlformats.org/officeDocument/2006/relationships/notesSlide" Target="../notesSlides/notesSlide96.xml"/><Relationship Id="rId2" Type="http://schemas.openxmlformats.org/officeDocument/2006/relationships/slideLayout" Target="../slideLayouts/slideLayout2.xml"/><Relationship Id="rId1" Type="http://schemas.openxmlformats.org/officeDocument/2006/relationships/image" Target="../media/image5.png"/></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notesSlide" Target="../notesSlides/notesSlide99.xml"/><Relationship Id="rId2" Type="http://schemas.openxmlformats.org/officeDocument/2006/relationships/slideLayout" Target="../slideLayouts/slideLayout2.xml"/><Relationship Id="rId1" Type="http://schemas.openxmlformats.org/officeDocument/2006/relationships/image" Target="../media/image49.png"/></Relationships>
</file>

<file path=ppt/slides/_rels/slide11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0.png"/></Relationships>
</file>

<file path=ppt/slides/_rels/slide111.xml.rels><?xml version="1.0" encoding="UTF-8" standalone="yes"?>
<Relationships xmlns="http://schemas.openxmlformats.org/package/2006/relationships"><Relationship Id="rId3" Type="http://schemas.openxmlformats.org/officeDocument/2006/relationships/notesSlide" Target="../notesSlides/notesSlide100.xml"/><Relationship Id="rId2" Type="http://schemas.openxmlformats.org/officeDocument/2006/relationships/slideLayout" Target="../slideLayouts/slideLayout2.xml"/><Relationship Id="rId1" Type="http://schemas.openxmlformats.org/officeDocument/2006/relationships/image" Target="../media/image51.png"/></Relationships>
</file>

<file path=ppt/slides/_rels/slide112.xml.rels><?xml version="1.0" encoding="UTF-8" standalone="yes"?>
<Relationships xmlns="http://schemas.openxmlformats.org/package/2006/relationships"><Relationship Id="rId3" Type="http://schemas.openxmlformats.org/officeDocument/2006/relationships/notesSlide" Target="../notesSlides/notesSlide101.xml"/><Relationship Id="rId2" Type="http://schemas.openxmlformats.org/officeDocument/2006/relationships/slideLayout" Target="../slideLayouts/slideLayout2.xml"/><Relationship Id="rId1" Type="http://schemas.openxmlformats.org/officeDocument/2006/relationships/image" Target="../media/image52.png"/></Relationships>
</file>

<file path=ppt/slides/_rels/slide113.xml.rels><?xml version="1.0" encoding="UTF-8" standalone="yes"?>
<Relationships xmlns="http://schemas.openxmlformats.org/package/2006/relationships"><Relationship Id="rId9" Type="http://schemas.openxmlformats.org/officeDocument/2006/relationships/notesSlide" Target="../notesSlides/notesSlide102.xml"/><Relationship Id="rId8" Type="http://schemas.openxmlformats.org/officeDocument/2006/relationships/vmlDrawing" Target="../drawings/vmlDrawing10.vml"/><Relationship Id="rId7" Type="http://schemas.openxmlformats.org/officeDocument/2006/relationships/slideLayout" Target="../slideLayouts/slideLayout13.xml"/><Relationship Id="rId6" Type="http://schemas.openxmlformats.org/officeDocument/2006/relationships/image" Target="../media/image55.wmf"/><Relationship Id="rId5" Type="http://schemas.openxmlformats.org/officeDocument/2006/relationships/oleObject" Target="../embeddings/oleObject27.bin"/><Relationship Id="rId4" Type="http://schemas.openxmlformats.org/officeDocument/2006/relationships/image" Target="../media/image54.wmf"/><Relationship Id="rId3" Type="http://schemas.openxmlformats.org/officeDocument/2006/relationships/oleObject" Target="../embeddings/oleObject26.bin"/><Relationship Id="rId2" Type="http://schemas.openxmlformats.org/officeDocument/2006/relationships/image" Target="../media/image53.wmf"/><Relationship Id="rId1" Type="http://schemas.openxmlformats.org/officeDocument/2006/relationships/oleObject" Target="../embeddings/oleObject25.bin"/></Relationships>
</file>

<file path=ppt/slides/_rels/slide114.xml.rels><?xml version="1.0" encoding="UTF-8" standalone="yes"?>
<Relationships xmlns="http://schemas.openxmlformats.org/package/2006/relationships"><Relationship Id="rId2" Type="http://schemas.openxmlformats.org/officeDocument/2006/relationships/slideLayout" Target="../slideLayouts/slideLayout13.xml"/><Relationship Id="rId1" Type="http://schemas.openxmlformats.org/officeDocument/2006/relationships/image" Target="../media/image56.png"/></Relationships>
</file>

<file path=ppt/slides/_rels/slide115.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image" Target="../media/image58.png"/><Relationship Id="rId1" Type="http://schemas.openxmlformats.org/officeDocument/2006/relationships/image" Target="../media/image57.png"/></Relationships>
</file>

<file path=ppt/slides/_rels/slide116.xml.rels><?xml version="1.0" encoding="UTF-8" standalone="yes"?>
<Relationships xmlns="http://schemas.openxmlformats.org/package/2006/relationships"><Relationship Id="rId6" Type="http://schemas.openxmlformats.org/officeDocument/2006/relationships/notesSlide" Target="../notesSlides/notesSlide103.xml"/><Relationship Id="rId5" Type="http://schemas.openxmlformats.org/officeDocument/2006/relationships/vmlDrawing" Target="../drawings/vmlDrawing11.vml"/><Relationship Id="rId4" Type="http://schemas.openxmlformats.org/officeDocument/2006/relationships/slideLayout" Target="../slideLayouts/slideLayout12.xml"/><Relationship Id="rId3" Type="http://schemas.openxmlformats.org/officeDocument/2006/relationships/image" Target="../media/image60.png"/><Relationship Id="rId2" Type="http://schemas.openxmlformats.org/officeDocument/2006/relationships/image" Target="../media/image59.wmf"/><Relationship Id="rId1" Type="http://schemas.openxmlformats.org/officeDocument/2006/relationships/oleObject" Target="../embeddings/oleObject28.bin"/></Relationships>
</file>

<file path=ppt/slides/_rels/slide117.xml.rels><?xml version="1.0" encoding="UTF-8" standalone="yes"?>
<Relationships xmlns="http://schemas.openxmlformats.org/package/2006/relationships"><Relationship Id="rId6" Type="http://schemas.openxmlformats.org/officeDocument/2006/relationships/notesSlide" Target="../notesSlides/notesSlide104.xml"/><Relationship Id="rId5" Type="http://schemas.openxmlformats.org/officeDocument/2006/relationships/vmlDrawing" Target="../drawings/vmlDrawing12.vml"/><Relationship Id="rId4" Type="http://schemas.openxmlformats.org/officeDocument/2006/relationships/slideLayout" Target="../slideLayouts/slideLayout12.xml"/><Relationship Id="rId3" Type="http://schemas.openxmlformats.org/officeDocument/2006/relationships/image" Target="../media/image5.png"/><Relationship Id="rId2" Type="http://schemas.openxmlformats.org/officeDocument/2006/relationships/image" Target="../media/image61.wmf"/><Relationship Id="rId1" Type="http://schemas.openxmlformats.org/officeDocument/2006/relationships/oleObject" Target="../embeddings/oleObject29.bin"/></Relationships>
</file>

<file path=ppt/slides/_rels/slide118.xml.rels><?xml version="1.0" encoding="UTF-8" standalone="yes"?>
<Relationships xmlns="http://schemas.openxmlformats.org/package/2006/relationships"><Relationship Id="rId9" Type="http://schemas.openxmlformats.org/officeDocument/2006/relationships/notesSlide" Target="../notesSlides/notesSlide105.xml"/><Relationship Id="rId8" Type="http://schemas.openxmlformats.org/officeDocument/2006/relationships/vmlDrawing" Target="../drawings/vmlDrawing13.vml"/><Relationship Id="rId7" Type="http://schemas.openxmlformats.org/officeDocument/2006/relationships/slideLayout" Target="../slideLayouts/slideLayout14.xml"/><Relationship Id="rId6" Type="http://schemas.openxmlformats.org/officeDocument/2006/relationships/image" Target="../media/image64.png"/><Relationship Id="rId5" Type="http://schemas.openxmlformats.org/officeDocument/2006/relationships/image" Target="../media/image31.jpeg"/><Relationship Id="rId4" Type="http://schemas.openxmlformats.org/officeDocument/2006/relationships/image" Target="../media/image63.wmf"/><Relationship Id="rId3" Type="http://schemas.openxmlformats.org/officeDocument/2006/relationships/oleObject" Target="../embeddings/oleObject31.bin"/><Relationship Id="rId2" Type="http://schemas.openxmlformats.org/officeDocument/2006/relationships/image" Target="../media/image62.wmf"/><Relationship Id="rId1" Type="http://schemas.openxmlformats.org/officeDocument/2006/relationships/oleObject" Target="../embeddings/oleObject30.bin"/></Relationships>
</file>

<file path=ppt/slides/_rels/slide119.xml.rels><?xml version="1.0" encoding="UTF-8" standalone="yes"?>
<Relationships xmlns="http://schemas.openxmlformats.org/package/2006/relationships"><Relationship Id="rId8" Type="http://schemas.openxmlformats.org/officeDocument/2006/relationships/notesSlide" Target="../notesSlides/notesSlide106.xml"/><Relationship Id="rId7" Type="http://schemas.openxmlformats.org/officeDocument/2006/relationships/vmlDrawing" Target="../drawings/vmlDrawing14.vml"/><Relationship Id="rId6" Type="http://schemas.openxmlformats.org/officeDocument/2006/relationships/slideLayout" Target="../slideLayouts/slideLayout13.xml"/><Relationship Id="rId5" Type="http://schemas.openxmlformats.org/officeDocument/2006/relationships/image" Target="../media/image67.png"/><Relationship Id="rId4" Type="http://schemas.openxmlformats.org/officeDocument/2006/relationships/image" Target="../media/image66.wmf"/><Relationship Id="rId3" Type="http://schemas.openxmlformats.org/officeDocument/2006/relationships/oleObject" Target="../embeddings/oleObject33.bin"/><Relationship Id="rId2" Type="http://schemas.openxmlformats.org/officeDocument/2006/relationships/image" Target="../media/image65.wmf"/><Relationship Id="rId1" Type="http://schemas.openxmlformats.org/officeDocument/2006/relationships/oleObject" Target="../embeddings/oleObject32.bin"/></Relationships>
</file>

<file path=ppt/slides/_rels/slide120.xml.rels><?xml version="1.0" encoding="UTF-8" standalone="yes"?>
<Relationships xmlns="http://schemas.openxmlformats.org/package/2006/relationships"><Relationship Id="rId8" Type="http://schemas.openxmlformats.org/officeDocument/2006/relationships/notesSlide" Target="../notesSlides/notesSlide107.xml"/><Relationship Id="rId7" Type="http://schemas.openxmlformats.org/officeDocument/2006/relationships/vmlDrawing" Target="../drawings/vmlDrawing15.vml"/><Relationship Id="rId6" Type="http://schemas.openxmlformats.org/officeDocument/2006/relationships/slideLayout" Target="../slideLayouts/slideLayout13.xml"/><Relationship Id="rId5" Type="http://schemas.openxmlformats.org/officeDocument/2006/relationships/image" Target="../media/image70.GIF"/><Relationship Id="rId4" Type="http://schemas.openxmlformats.org/officeDocument/2006/relationships/image" Target="../media/image69.wmf"/><Relationship Id="rId3" Type="http://schemas.openxmlformats.org/officeDocument/2006/relationships/oleObject" Target="../embeddings/oleObject35.bin"/><Relationship Id="rId2" Type="http://schemas.openxmlformats.org/officeDocument/2006/relationships/image" Target="../media/image68.wmf"/><Relationship Id="rId1" Type="http://schemas.openxmlformats.org/officeDocument/2006/relationships/oleObject" Target="../embeddings/oleObject34.bin"/></Relationships>
</file>

<file path=ppt/slides/_rels/slide121.xml.rels><?xml version="1.0" encoding="UTF-8" standalone="yes"?>
<Relationships xmlns="http://schemas.openxmlformats.org/package/2006/relationships"><Relationship Id="rId8" Type="http://schemas.openxmlformats.org/officeDocument/2006/relationships/notesSlide" Target="../notesSlides/notesSlide108.xml"/><Relationship Id="rId7" Type="http://schemas.openxmlformats.org/officeDocument/2006/relationships/vmlDrawing" Target="../drawings/vmlDrawing16.vml"/><Relationship Id="rId6" Type="http://schemas.openxmlformats.org/officeDocument/2006/relationships/slideLayout" Target="../slideLayouts/slideLayout13.xml"/><Relationship Id="rId5" Type="http://schemas.openxmlformats.org/officeDocument/2006/relationships/image" Target="../media/image70.GIF"/><Relationship Id="rId4" Type="http://schemas.openxmlformats.org/officeDocument/2006/relationships/image" Target="../media/image72.wmf"/><Relationship Id="rId3" Type="http://schemas.openxmlformats.org/officeDocument/2006/relationships/oleObject" Target="../embeddings/oleObject37.bin"/><Relationship Id="rId2" Type="http://schemas.openxmlformats.org/officeDocument/2006/relationships/image" Target="../media/image71.wmf"/><Relationship Id="rId1" Type="http://schemas.openxmlformats.org/officeDocument/2006/relationships/oleObject" Target="../embeddings/oleObject36.bin"/></Relationships>
</file>

<file path=ppt/slides/_rels/slide122.xml.rels><?xml version="1.0" encoding="UTF-8" standalone="yes"?>
<Relationships xmlns="http://schemas.openxmlformats.org/package/2006/relationships"><Relationship Id="rId9" Type="http://schemas.openxmlformats.org/officeDocument/2006/relationships/vmlDrawing" Target="../drawings/vmlDrawing17.vml"/><Relationship Id="rId8" Type="http://schemas.openxmlformats.org/officeDocument/2006/relationships/slideLayout" Target="../slideLayouts/slideLayout13.xml"/><Relationship Id="rId7" Type="http://schemas.openxmlformats.org/officeDocument/2006/relationships/image" Target="../media/image31.jpeg"/><Relationship Id="rId6" Type="http://schemas.openxmlformats.org/officeDocument/2006/relationships/image" Target="../media/image75.wmf"/><Relationship Id="rId5" Type="http://schemas.openxmlformats.org/officeDocument/2006/relationships/oleObject" Target="../embeddings/oleObject40.bin"/><Relationship Id="rId4" Type="http://schemas.openxmlformats.org/officeDocument/2006/relationships/image" Target="../media/image74.wmf"/><Relationship Id="rId3" Type="http://schemas.openxmlformats.org/officeDocument/2006/relationships/oleObject" Target="../embeddings/oleObject39.bin"/><Relationship Id="rId2" Type="http://schemas.openxmlformats.org/officeDocument/2006/relationships/image" Target="../media/image73.wmf"/><Relationship Id="rId10" Type="http://schemas.openxmlformats.org/officeDocument/2006/relationships/notesSlide" Target="../notesSlides/notesSlide109.xml"/><Relationship Id="rId1" Type="http://schemas.openxmlformats.org/officeDocument/2006/relationships/oleObject" Target="../embeddings/oleObject38.bin"/></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5" Type="http://schemas.openxmlformats.org/officeDocument/2006/relationships/notesSlide" Target="../notesSlides/notesSlide111.xml"/><Relationship Id="rId4" Type="http://schemas.openxmlformats.org/officeDocument/2006/relationships/vmlDrawing" Target="../drawings/vmlDrawing18.vml"/><Relationship Id="rId3" Type="http://schemas.openxmlformats.org/officeDocument/2006/relationships/slideLayout" Target="../slideLayouts/slideLayout12.xml"/><Relationship Id="rId2" Type="http://schemas.openxmlformats.org/officeDocument/2006/relationships/image" Target="../media/image76.wmf"/><Relationship Id="rId1" Type="http://schemas.openxmlformats.org/officeDocument/2006/relationships/oleObject" Target="../embeddings/oleObject41.bin"/></Relationships>
</file>

<file path=ppt/slides/_rels/slide125.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77.png"/></Relationships>
</file>

<file path=ppt/slides/_rels/slide126.xml.rels><?xml version="1.0" encoding="UTF-8" standalone="yes"?>
<Relationships xmlns="http://schemas.openxmlformats.org/package/2006/relationships"><Relationship Id="rId8" Type="http://schemas.openxmlformats.org/officeDocument/2006/relationships/notesSlide" Target="../notesSlides/notesSlide112.xml"/><Relationship Id="rId7" Type="http://schemas.openxmlformats.org/officeDocument/2006/relationships/vmlDrawing" Target="../drawings/vmlDrawing19.vml"/><Relationship Id="rId6" Type="http://schemas.openxmlformats.org/officeDocument/2006/relationships/slideLayout" Target="../slideLayouts/slideLayout13.xml"/><Relationship Id="rId5" Type="http://schemas.openxmlformats.org/officeDocument/2006/relationships/image" Target="../media/image31.jpeg"/><Relationship Id="rId4" Type="http://schemas.openxmlformats.org/officeDocument/2006/relationships/image" Target="../media/image79.wmf"/><Relationship Id="rId3" Type="http://schemas.openxmlformats.org/officeDocument/2006/relationships/oleObject" Target="../embeddings/oleObject43.bin"/><Relationship Id="rId2" Type="http://schemas.openxmlformats.org/officeDocument/2006/relationships/image" Target="../media/image78.wmf"/><Relationship Id="rId1" Type="http://schemas.openxmlformats.org/officeDocument/2006/relationships/oleObject" Target="../embeddings/oleObject42.bin"/></Relationships>
</file>

<file path=ppt/slides/_rels/slide127.xml.rels><?xml version="1.0" encoding="UTF-8" standalone="yes"?>
<Relationships xmlns="http://schemas.openxmlformats.org/package/2006/relationships"><Relationship Id="rId7" Type="http://schemas.openxmlformats.org/officeDocument/2006/relationships/notesSlide" Target="../notesSlides/notesSlide113.xml"/><Relationship Id="rId6" Type="http://schemas.openxmlformats.org/officeDocument/2006/relationships/vmlDrawing" Target="../drawings/vmlDrawing20.vml"/><Relationship Id="rId5" Type="http://schemas.openxmlformats.org/officeDocument/2006/relationships/slideLayout" Target="../slideLayouts/slideLayout13.xml"/><Relationship Id="rId4" Type="http://schemas.openxmlformats.org/officeDocument/2006/relationships/image" Target="../media/image81.wmf"/><Relationship Id="rId3" Type="http://schemas.openxmlformats.org/officeDocument/2006/relationships/oleObject" Target="../embeddings/oleObject45.bin"/><Relationship Id="rId2" Type="http://schemas.openxmlformats.org/officeDocument/2006/relationships/image" Target="../media/image80.wmf"/><Relationship Id="rId1" Type="http://schemas.openxmlformats.org/officeDocument/2006/relationships/oleObject" Target="../embeddings/oleObject44.bin"/></Relationships>
</file>

<file path=ppt/slides/_rels/slide128.xml.rels><?xml version="1.0" encoding="UTF-8" standalone="yes"?>
<Relationships xmlns="http://schemas.openxmlformats.org/package/2006/relationships"><Relationship Id="rId8" Type="http://schemas.openxmlformats.org/officeDocument/2006/relationships/notesSlide" Target="../notesSlides/notesSlide114.xml"/><Relationship Id="rId7" Type="http://schemas.openxmlformats.org/officeDocument/2006/relationships/vmlDrawing" Target="../drawings/vmlDrawing21.vml"/><Relationship Id="rId6" Type="http://schemas.openxmlformats.org/officeDocument/2006/relationships/slideLayout" Target="../slideLayouts/slideLayout13.xml"/><Relationship Id="rId5" Type="http://schemas.openxmlformats.org/officeDocument/2006/relationships/image" Target="../media/image31.jpeg"/><Relationship Id="rId4" Type="http://schemas.openxmlformats.org/officeDocument/2006/relationships/image" Target="../media/image83.wmf"/><Relationship Id="rId3" Type="http://schemas.openxmlformats.org/officeDocument/2006/relationships/oleObject" Target="../embeddings/oleObject47.bin"/><Relationship Id="rId2" Type="http://schemas.openxmlformats.org/officeDocument/2006/relationships/image" Target="../media/image82.wmf"/><Relationship Id="rId1" Type="http://schemas.openxmlformats.org/officeDocument/2006/relationships/oleObject" Target="../embeddings/oleObject46.bin"/></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7" Type="http://schemas.openxmlformats.org/officeDocument/2006/relationships/notesSlide" Target="../notesSlides/notesSlide116.xml"/><Relationship Id="rId6" Type="http://schemas.openxmlformats.org/officeDocument/2006/relationships/vmlDrawing" Target="../drawings/vmlDrawing22.vml"/><Relationship Id="rId5" Type="http://schemas.openxmlformats.org/officeDocument/2006/relationships/slideLayout" Target="../slideLayouts/slideLayout12.xml"/><Relationship Id="rId4" Type="http://schemas.openxmlformats.org/officeDocument/2006/relationships/image" Target="../media/image85.png"/><Relationship Id="rId3" Type="http://schemas.openxmlformats.org/officeDocument/2006/relationships/image" Target="../media/image84.wmf"/><Relationship Id="rId2" Type="http://schemas.openxmlformats.org/officeDocument/2006/relationships/oleObject" Target="../embeddings/oleObject48.bin"/><Relationship Id="rId1" Type="http://schemas.openxmlformats.org/officeDocument/2006/relationships/hyperlink" Target="exam229.swf" TargetMode="External"/></Relationships>
</file>

<file path=ppt/slides/_rels/slide131.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86.png"/></Relationships>
</file>

<file path=ppt/slides/_rels/slide132.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87.png"/></Relationships>
</file>

<file path=ppt/slides/_rels/slide133.xml.rels><?xml version="1.0" encoding="UTF-8" standalone="yes"?>
<Relationships xmlns="http://schemas.openxmlformats.org/package/2006/relationships"><Relationship Id="rId3" Type="http://schemas.openxmlformats.org/officeDocument/2006/relationships/notesSlide" Target="../notesSlides/notesSlide117.xml"/><Relationship Id="rId2" Type="http://schemas.openxmlformats.org/officeDocument/2006/relationships/slideLayout" Target="../slideLayouts/slideLayout2.xml"/><Relationship Id="rId1" Type="http://schemas.openxmlformats.org/officeDocument/2006/relationships/image" Target="../media/image4.wmf"/></Relationships>
</file>

<file path=ppt/slides/_rels/slide13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wmf"/></Relationships>
</file>

<file path=ppt/slides/_rels/slide135.xml.rels><?xml version="1.0" encoding="UTF-8" standalone="yes"?>
<Relationships xmlns="http://schemas.openxmlformats.org/package/2006/relationships"><Relationship Id="rId7" Type="http://schemas.openxmlformats.org/officeDocument/2006/relationships/vmlDrawing" Target="../drawings/vmlDrawing23.vml"/><Relationship Id="rId6" Type="http://schemas.openxmlformats.org/officeDocument/2006/relationships/slideLayout" Target="../slideLayouts/slideLayout2.xml"/><Relationship Id="rId5" Type="http://schemas.openxmlformats.org/officeDocument/2006/relationships/audio" Target="../media/audio3.wav"/><Relationship Id="rId4" Type="http://schemas.openxmlformats.org/officeDocument/2006/relationships/audio" Target="../media/audio2.wav"/><Relationship Id="rId3" Type="http://schemas.openxmlformats.org/officeDocument/2006/relationships/audio" Target="../media/audio1.wav"/><Relationship Id="rId2" Type="http://schemas.openxmlformats.org/officeDocument/2006/relationships/image" Target="../media/image88.emf"/><Relationship Id="rId1" Type="http://schemas.openxmlformats.org/officeDocument/2006/relationships/oleObject" Target="../embeddings/oleObject49.bin"/></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audio2.wav"/><Relationship Id="rId1" Type="http://schemas.openxmlformats.org/officeDocument/2006/relationships/audio" Target="../media/audio1.wav"/></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5" Type="http://schemas.openxmlformats.org/officeDocument/2006/relationships/notesSlide" Target="../notesSlides/notesSlide118.xml"/><Relationship Id="rId4" Type="http://schemas.openxmlformats.org/officeDocument/2006/relationships/vmlDrawing" Target="../drawings/vmlDrawing24.vml"/><Relationship Id="rId3" Type="http://schemas.openxmlformats.org/officeDocument/2006/relationships/slideLayout" Target="../slideLayouts/slideLayout2.xml"/><Relationship Id="rId2" Type="http://schemas.openxmlformats.org/officeDocument/2006/relationships/image" Target="../media/image89.wmf"/><Relationship Id="rId1" Type="http://schemas.openxmlformats.org/officeDocument/2006/relationships/oleObject" Target="../embeddings/oleObject50.bin"/></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4" Type="http://schemas.openxmlformats.org/officeDocument/2006/relationships/vmlDrawing" Target="../drawings/vmlDrawing25.vml"/><Relationship Id="rId3" Type="http://schemas.openxmlformats.org/officeDocument/2006/relationships/slideLayout" Target="../slideLayouts/slideLayout2.xml"/><Relationship Id="rId2" Type="http://schemas.openxmlformats.org/officeDocument/2006/relationships/image" Target="../media/image90.wmf"/><Relationship Id="rId1" Type="http://schemas.openxmlformats.org/officeDocument/2006/relationships/oleObject" Target="../embeddings/oleObject51.bin"/></Relationships>
</file>

<file path=ppt/slides/_rels/slide147.xml.rels><?xml version="1.0" encoding="UTF-8" standalone="yes"?>
<Relationships xmlns="http://schemas.openxmlformats.org/package/2006/relationships"><Relationship Id="rId4" Type="http://schemas.openxmlformats.org/officeDocument/2006/relationships/vmlDrawing" Target="../drawings/vmlDrawing26.vml"/><Relationship Id="rId3" Type="http://schemas.openxmlformats.org/officeDocument/2006/relationships/slideLayout" Target="../slideLayouts/slideLayout2.xml"/><Relationship Id="rId2" Type="http://schemas.openxmlformats.org/officeDocument/2006/relationships/image" Target="../media/image91.emf"/><Relationship Id="rId1" Type="http://schemas.openxmlformats.org/officeDocument/2006/relationships/oleObject" Target="../embeddings/oleObject52.bin"/></Relationships>
</file>

<file path=ppt/slides/_rels/slide148.xml.rels><?xml version="1.0" encoding="UTF-8" standalone="yes"?>
<Relationships xmlns="http://schemas.openxmlformats.org/package/2006/relationships"><Relationship Id="rId4" Type="http://schemas.openxmlformats.org/officeDocument/2006/relationships/vmlDrawing" Target="../drawings/vmlDrawing27.vml"/><Relationship Id="rId3" Type="http://schemas.openxmlformats.org/officeDocument/2006/relationships/slideLayout" Target="../slideLayouts/slideLayout2.xml"/><Relationship Id="rId2" Type="http://schemas.openxmlformats.org/officeDocument/2006/relationships/image" Target="../media/image92.wmf"/><Relationship Id="rId1" Type="http://schemas.openxmlformats.org/officeDocument/2006/relationships/oleObject" Target="../embeddings/oleObject53.bin"/></Relationships>
</file>

<file path=ppt/slides/_rels/slide149.xml.rels><?xml version="1.0" encoding="UTF-8" standalone="yes"?>
<Relationships xmlns="http://schemas.openxmlformats.org/package/2006/relationships"><Relationship Id="rId3" Type="http://schemas.openxmlformats.org/officeDocument/2006/relationships/notesSlide" Target="../notesSlides/notesSlide124.xml"/><Relationship Id="rId2" Type="http://schemas.openxmlformats.org/officeDocument/2006/relationships/slideLayout" Target="../slideLayouts/slideLayout2.xml"/><Relationship Id="rId1" Type="http://schemas.openxmlformats.org/officeDocument/2006/relationships/image" Target="../media/image93.jpeg"/></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4" Type="http://schemas.openxmlformats.org/officeDocument/2006/relationships/vmlDrawing" Target="../drawings/vmlDrawing28.vml"/><Relationship Id="rId3" Type="http://schemas.openxmlformats.org/officeDocument/2006/relationships/slideLayout" Target="../slideLayouts/slideLayout2.xml"/><Relationship Id="rId2" Type="http://schemas.openxmlformats.org/officeDocument/2006/relationships/image" Target="../media/image94.wmf"/><Relationship Id="rId1" Type="http://schemas.openxmlformats.org/officeDocument/2006/relationships/oleObject" Target="../embeddings/oleObject54.bin"/></Relationships>
</file>

<file path=ppt/slides/_rels/slide152.xml.rels><?xml version="1.0" encoding="UTF-8" standalone="yes"?>
<Relationships xmlns="http://schemas.openxmlformats.org/package/2006/relationships"><Relationship Id="rId4" Type="http://schemas.openxmlformats.org/officeDocument/2006/relationships/vmlDrawing" Target="../drawings/vmlDrawing29.vml"/><Relationship Id="rId3" Type="http://schemas.openxmlformats.org/officeDocument/2006/relationships/slideLayout" Target="../slideLayouts/slideLayout2.xml"/><Relationship Id="rId2" Type="http://schemas.openxmlformats.org/officeDocument/2006/relationships/image" Target="../media/image95.wmf"/><Relationship Id="rId1" Type="http://schemas.openxmlformats.org/officeDocument/2006/relationships/oleObject" Target="../embeddings/oleObject55.bin"/></Relationships>
</file>

<file path=ppt/slides/_rels/slide153.xml.rels><?xml version="1.0" encoding="UTF-8" standalone="yes"?>
<Relationships xmlns="http://schemas.openxmlformats.org/package/2006/relationships"><Relationship Id="rId4" Type="http://schemas.openxmlformats.org/officeDocument/2006/relationships/vmlDrawing" Target="../drawings/vmlDrawing30.vml"/><Relationship Id="rId3" Type="http://schemas.openxmlformats.org/officeDocument/2006/relationships/slideLayout" Target="../slideLayouts/slideLayout2.xml"/><Relationship Id="rId2" Type="http://schemas.openxmlformats.org/officeDocument/2006/relationships/image" Target="../media/image96.wmf"/><Relationship Id="rId1" Type="http://schemas.openxmlformats.org/officeDocument/2006/relationships/oleObject" Target="../embeddings/oleObject56.bin"/></Relationships>
</file>

<file path=ppt/slides/_rels/slide154.xml.rels><?xml version="1.0" encoding="UTF-8" standalone="yes"?>
<Relationships xmlns="http://schemas.openxmlformats.org/package/2006/relationships"><Relationship Id="rId4" Type="http://schemas.openxmlformats.org/officeDocument/2006/relationships/vmlDrawing" Target="../drawings/vmlDrawing31.vml"/><Relationship Id="rId3" Type="http://schemas.openxmlformats.org/officeDocument/2006/relationships/slideLayout" Target="../slideLayouts/slideLayout2.xml"/><Relationship Id="rId2" Type="http://schemas.openxmlformats.org/officeDocument/2006/relationships/image" Target="../media/image97.wmf"/><Relationship Id="rId1" Type="http://schemas.openxmlformats.org/officeDocument/2006/relationships/oleObject" Target="../embeddings/oleObject57.bin"/></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4" Type="http://schemas.openxmlformats.org/officeDocument/2006/relationships/vmlDrawing" Target="../drawings/vmlDrawing32.vml"/><Relationship Id="rId3" Type="http://schemas.openxmlformats.org/officeDocument/2006/relationships/slideLayout" Target="../slideLayouts/slideLayout2.xml"/><Relationship Id="rId2" Type="http://schemas.openxmlformats.org/officeDocument/2006/relationships/image" Target="../media/image98.emf"/><Relationship Id="rId1" Type="http://schemas.openxmlformats.org/officeDocument/2006/relationships/oleObject" Target="../embeddings/oleObject58.bin"/></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4" Type="http://schemas.openxmlformats.org/officeDocument/2006/relationships/vmlDrawing" Target="../drawings/vmlDrawing33.vml"/><Relationship Id="rId3" Type="http://schemas.openxmlformats.org/officeDocument/2006/relationships/slideLayout" Target="../slideLayouts/slideLayout2.xml"/><Relationship Id="rId2" Type="http://schemas.openxmlformats.org/officeDocument/2006/relationships/image" Target="../media/image99.emf"/><Relationship Id="rId1" Type="http://schemas.openxmlformats.org/officeDocument/2006/relationships/oleObject" Target="../embeddings/oleObject59.bin"/></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4" Type="http://schemas.openxmlformats.org/officeDocument/2006/relationships/vmlDrawing" Target="../drawings/vmlDrawing34.vml"/><Relationship Id="rId3" Type="http://schemas.openxmlformats.org/officeDocument/2006/relationships/slideLayout" Target="../slideLayouts/slideLayout2.xml"/><Relationship Id="rId2" Type="http://schemas.openxmlformats.org/officeDocument/2006/relationships/image" Target="../media/image100.emf"/><Relationship Id="rId1" Type="http://schemas.openxmlformats.org/officeDocument/2006/relationships/oleObject" Target="../embeddings/oleObject60.bin"/></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6" Type="http://schemas.openxmlformats.org/officeDocument/2006/relationships/vmlDrawing" Target="../drawings/vmlDrawing35.vml"/><Relationship Id="rId5" Type="http://schemas.openxmlformats.org/officeDocument/2006/relationships/slideLayout" Target="../slideLayouts/slideLayout2.xml"/><Relationship Id="rId4" Type="http://schemas.openxmlformats.org/officeDocument/2006/relationships/image" Target="../media/image102.emf"/><Relationship Id="rId3" Type="http://schemas.openxmlformats.org/officeDocument/2006/relationships/oleObject" Target="../embeddings/oleObject62.bin"/><Relationship Id="rId2" Type="http://schemas.openxmlformats.org/officeDocument/2006/relationships/image" Target="../media/image101.emf"/><Relationship Id="rId1" Type="http://schemas.openxmlformats.org/officeDocument/2006/relationships/oleObject" Target="../embeddings/oleObject61.bin"/></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4" Type="http://schemas.openxmlformats.org/officeDocument/2006/relationships/notesSlide" Target="../notesSlides/notesSlide134.xml"/><Relationship Id="rId3" Type="http://schemas.openxmlformats.org/officeDocument/2006/relationships/slideLayout" Target="../slideLayouts/slideLayout2.xml"/><Relationship Id="rId2" Type="http://schemas.openxmlformats.org/officeDocument/2006/relationships/image" Target="../media/image104.png"/><Relationship Id="rId1" Type="http://schemas.openxmlformats.org/officeDocument/2006/relationships/image" Target="../media/image103.jpeg"/></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4" Type="http://schemas.openxmlformats.org/officeDocument/2006/relationships/vmlDrawing" Target="../drawings/vmlDrawing36.vml"/><Relationship Id="rId3" Type="http://schemas.openxmlformats.org/officeDocument/2006/relationships/slideLayout" Target="../slideLayouts/slideLayout2.xml"/><Relationship Id="rId2" Type="http://schemas.openxmlformats.org/officeDocument/2006/relationships/image" Target="../media/image105.emf"/><Relationship Id="rId1" Type="http://schemas.openxmlformats.org/officeDocument/2006/relationships/oleObject" Target="../embeddings/oleObject63.bin"/></Relationships>
</file>

<file path=ppt/slides/_rels/slide176.xml.rels><?xml version="1.0" encoding="UTF-8" standalone="yes"?>
<Relationships xmlns="http://schemas.openxmlformats.org/package/2006/relationships"><Relationship Id="rId6" Type="http://schemas.openxmlformats.org/officeDocument/2006/relationships/vmlDrawing" Target="../drawings/vmlDrawing37.vml"/><Relationship Id="rId5" Type="http://schemas.openxmlformats.org/officeDocument/2006/relationships/slideLayout" Target="../slideLayouts/slideLayout2.xml"/><Relationship Id="rId4" Type="http://schemas.openxmlformats.org/officeDocument/2006/relationships/image" Target="../media/image107.emf"/><Relationship Id="rId3" Type="http://schemas.openxmlformats.org/officeDocument/2006/relationships/oleObject" Target="../embeddings/oleObject65.bin"/><Relationship Id="rId2" Type="http://schemas.openxmlformats.org/officeDocument/2006/relationships/image" Target="../media/image106.emf"/><Relationship Id="rId1" Type="http://schemas.openxmlformats.org/officeDocument/2006/relationships/oleObject" Target="../embeddings/oleObject64.bin"/></Relationships>
</file>

<file path=ppt/slides/_rels/slide177.xml.rels><?xml version="1.0" encoding="UTF-8" standalone="yes"?>
<Relationships xmlns="http://schemas.openxmlformats.org/package/2006/relationships"><Relationship Id="rId6" Type="http://schemas.openxmlformats.org/officeDocument/2006/relationships/vmlDrawing" Target="../drawings/vmlDrawing38.vml"/><Relationship Id="rId5" Type="http://schemas.openxmlformats.org/officeDocument/2006/relationships/slideLayout" Target="../slideLayouts/slideLayout2.xml"/><Relationship Id="rId4" Type="http://schemas.openxmlformats.org/officeDocument/2006/relationships/image" Target="../media/image109.emf"/><Relationship Id="rId3" Type="http://schemas.openxmlformats.org/officeDocument/2006/relationships/oleObject" Target="../embeddings/oleObject67.bin"/><Relationship Id="rId2" Type="http://schemas.openxmlformats.org/officeDocument/2006/relationships/image" Target="../media/image108.emf"/><Relationship Id="rId1" Type="http://schemas.openxmlformats.org/officeDocument/2006/relationships/oleObject" Target="../embeddings/oleObject66.bin"/></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audio4.wav"/><Relationship Id="rId1" Type="http://schemas.openxmlformats.org/officeDocument/2006/relationships/image" Target="../media/image110.png"/></Relationships>
</file>

<file path=ppt/slides/_rels/slide180.xml.rels><?xml version="1.0" encoding="UTF-8" standalone="yes"?>
<Relationships xmlns="http://schemas.openxmlformats.org/package/2006/relationships"><Relationship Id="rId6" Type="http://schemas.openxmlformats.org/officeDocument/2006/relationships/vmlDrawing" Target="../drawings/vmlDrawing39.vml"/><Relationship Id="rId5" Type="http://schemas.openxmlformats.org/officeDocument/2006/relationships/slideLayout" Target="../slideLayouts/slideLayout2.xml"/><Relationship Id="rId4" Type="http://schemas.openxmlformats.org/officeDocument/2006/relationships/image" Target="../media/image112.emf"/><Relationship Id="rId3" Type="http://schemas.openxmlformats.org/officeDocument/2006/relationships/oleObject" Target="../embeddings/oleObject69.bin"/><Relationship Id="rId2" Type="http://schemas.openxmlformats.org/officeDocument/2006/relationships/image" Target="../media/image111.emf"/><Relationship Id="rId1" Type="http://schemas.openxmlformats.org/officeDocument/2006/relationships/oleObject" Target="../embeddings/oleObject68.bin"/></Relationships>
</file>

<file path=ppt/slides/_rels/slide181.xml.rels><?xml version="1.0" encoding="UTF-8" standalone="yes"?>
<Relationships xmlns="http://schemas.openxmlformats.org/package/2006/relationships"><Relationship Id="rId4" Type="http://schemas.openxmlformats.org/officeDocument/2006/relationships/vmlDrawing" Target="../drawings/vmlDrawing40.vml"/><Relationship Id="rId3" Type="http://schemas.openxmlformats.org/officeDocument/2006/relationships/slideLayout" Target="../slideLayouts/slideLayout2.xml"/><Relationship Id="rId2" Type="http://schemas.openxmlformats.org/officeDocument/2006/relationships/image" Target="../media/image113.emf"/><Relationship Id="rId1" Type="http://schemas.openxmlformats.org/officeDocument/2006/relationships/oleObject" Target="../embeddings/oleObject70.bin"/></Relationships>
</file>

<file path=ppt/slides/_rels/slide182.xml.rels><?xml version="1.0" encoding="UTF-8" standalone="yes"?>
<Relationships xmlns="http://schemas.openxmlformats.org/package/2006/relationships"><Relationship Id="rId4" Type="http://schemas.openxmlformats.org/officeDocument/2006/relationships/vmlDrawing" Target="../drawings/vmlDrawing41.vml"/><Relationship Id="rId3" Type="http://schemas.openxmlformats.org/officeDocument/2006/relationships/slideLayout" Target="../slideLayouts/slideLayout2.xml"/><Relationship Id="rId2" Type="http://schemas.openxmlformats.org/officeDocument/2006/relationships/image" Target="../media/image114.emf"/><Relationship Id="rId1" Type="http://schemas.openxmlformats.org/officeDocument/2006/relationships/oleObject" Target="../embeddings/oleObject71.bin"/></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3" Type="http://schemas.openxmlformats.org/officeDocument/2006/relationships/notesSlide" Target="../notesSlides/notesSlide138.xml"/><Relationship Id="rId2" Type="http://schemas.openxmlformats.org/officeDocument/2006/relationships/slideLayout" Target="../slideLayouts/slideLayout2.xml"/><Relationship Id="rId1" Type="http://schemas.openxmlformats.org/officeDocument/2006/relationships/image" Target="../media/image31.jpe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3" Type="http://schemas.openxmlformats.org/officeDocument/2006/relationships/notesSlide" Target="../notesSlides/notesSlide139.xml"/><Relationship Id="rId2" Type="http://schemas.openxmlformats.org/officeDocument/2006/relationships/slideLayout" Target="../slideLayouts/slideLayout2.xml"/><Relationship Id="rId1" Type="http://schemas.openxmlformats.org/officeDocument/2006/relationships/image" Target="../media/image115.png"/></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audio" Target="../media/audio3.wav"/></Relationships>
</file>

<file path=ppt/slides/_rels/slide193.xml.rels><?xml version="1.0" encoding="UTF-8" standalone="yes"?>
<Relationships xmlns="http://schemas.openxmlformats.org/package/2006/relationships"><Relationship Id="rId3" Type="http://schemas.openxmlformats.org/officeDocument/2006/relationships/notesSlide" Target="../notesSlides/notesSlide142.xml"/><Relationship Id="rId2" Type="http://schemas.openxmlformats.org/officeDocument/2006/relationships/slideLayout" Target="../slideLayouts/slideLayout2.xml"/><Relationship Id="rId1" Type="http://schemas.openxmlformats.org/officeDocument/2006/relationships/image" Target="../media/image116.png"/></Relationships>
</file>

<file path=ppt/slides/_rels/slide194.xml.rels><?xml version="1.0" encoding="UTF-8" standalone="yes"?>
<Relationships xmlns="http://schemas.openxmlformats.org/package/2006/relationships"><Relationship Id="rId3" Type="http://schemas.openxmlformats.org/officeDocument/2006/relationships/notesSlide" Target="../notesSlides/notesSlide143.xml"/><Relationship Id="rId2" Type="http://schemas.openxmlformats.org/officeDocument/2006/relationships/slideLayout" Target="../slideLayouts/slideLayout2.xml"/><Relationship Id="rId1" Type="http://schemas.openxmlformats.org/officeDocument/2006/relationships/image" Target="../media/image117.png"/></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5" Type="http://schemas.openxmlformats.org/officeDocument/2006/relationships/vmlDrawing" Target="../drawings/vmlDrawing42.vml"/><Relationship Id="rId4" Type="http://schemas.openxmlformats.org/officeDocument/2006/relationships/slideLayout" Target="../slideLayouts/slideLayout13.xml"/><Relationship Id="rId3" Type="http://schemas.openxmlformats.org/officeDocument/2006/relationships/slide" Target="slide208.xml"/><Relationship Id="rId2" Type="http://schemas.openxmlformats.org/officeDocument/2006/relationships/image" Target="../media/image118.png"/><Relationship Id="rId1" Type="http://schemas.openxmlformats.org/officeDocument/2006/relationships/oleObject" Target="../embeddings/oleObject72.bin"/></Relationships>
</file>

<file path=ppt/slides/_rels/slide197.xml.rels><?xml version="1.0" encoding="UTF-8" standalone="yes"?>
<Relationships xmlns="http://schemas.openxmlformats.org/package/2006/relationships"><Relationship Id="rId7" Type="http://schemas.openxmlformats.org/officeDocument/2006/relationships/vmlDrawing" Target="../drawings/vmlDrawing43.vml"/><Relationship Id="rId6" Type="http://schemas.openxmlformats.org/officeDocument/2006/relationships/slideLayout" Target="../slideLayouts/slideLayout12.xml"/><Relationship Id="rId5" Type="http://schemas.openxmlformats.org/officeDocument/2006/relationships/slide" Target="slide174.xml"/><Relationship Id="rId4" Type="http://schemas.openxmlformats.org/officeDocument/2006/relationships/image" Target="../media/image120.png"/><Relationship Id="rId3" Type="http://schemas.openxmlformats.org/officeDocument/2006/relationships/oleObject" Target="../embeddings/oleObject74.bin"/><Relationship Id="rId2" Type="http://schemas.openxmlformats.org/officeDocument/2006/relationships/image" Target="../media/image119.wmf"/><Relationship Id="rId1" Type="http://schemas.openxmlformats.org/officeDocument/2006/relationships/oleObject" Target="../embeddings/oleObject73.bin"/></Relationships>
</file>

<file path=ppt/slides/_rels/slide198.xml.rels><?xml version="1.0" encoding="UTF-8" standalone="yes"?>
<Relationships xmlns="http://schemas.openxmlformats.org/package/2006/relationships"><Relationship Id="rId6" Type="http://schemas.openxmlformats.org/officeDocument/2006/relationships/vmlDrawing" Target="../drawings/vmlDrawing44.vml"/><Relationship Id="rId5" Type="http://schemas.openxmlformats.org/officeDocument/2006/relationships/slideLayout" Target="../slideLayouts/slideLayout13.xml"/><Relationship Id="rId4" Type="http://schemas.openxmlformats.org/officeDocument/2006/relationships/image" Target="../media/image122.png"/><Relationship Id="rId3" Type="http://schemas.openxmlformats.org/officeDocument/2006/relationships/oleObject" Target="../embeddings/oleObject76.bin"/><Relationship Id="rId2" Type="http://schemas.openxmlformats.org/officeDocument/2006/relationships/image" Target="../media/image121.png"/><Relationship Id="rId1" Type="http://schemas.openxmlformats.org/officeDocument/2006/relationships/oleObject" Target="../embeddings/oleObject75.bin"/></Relationships>
</file>

<file path=ppt/slides/_rels/slide199.xml.rels><?xml version="1.0" encoding="UTF-8" standalone="yes"?>
<Relationships xmlns="http://schemas.openxmlformats.org/package/2006/relationships"><Relationship Id="rId5" Type="http://schemas.openxmlformats.org/officeDocument/2006/relationships/notesSlide" Target="../notesSlides/notesSlide145.xml"/><Relationship Id="rId4" Type="http://schemas.openxmlformats.org/officeDocument/2006/relationships/vmlDrawing" Target="../drawings/vmlDrawing45.vml"/><Relationship Id="rId3" Type="http://schemas.openxmlformats.org/officeDocument/2006/relationships/slideLayout" Target="../slideLayouts/slideLayout12.xml"/><Relationship Id="rId2" Type="http://schemas.openxmlformats.org/officeDocument/2006/relationships/image" Target="../media/image123.wmf"/><Relationship Id="rId1" Type="http://schemas.openxmlformats.org/officeDocument/2006/relationships/oleObject" Target="../embeddings/oleObject77.bin"/></Relationships>
</file>

<file path=ppt/slides/_rels/slide200.xml.rels><?xml version="1.0" encoding="UTF-8" standalone="yes"?>
<Relationships xmlns="http://schemas.openxmlformats.org/package/2006/relationships"><Relationship Id="rId3" Type="http://schemas.openxmlformats.org/officeDocument/2006/relationships/notesSlide" Target="../notesSlides/notesSlide146.xml"/><Relationship Id="rId2" Type="http://schemas.openxmlformats.org/officeDocument/2006/relationships/slideLayout" Target="../slideLayouts/slideLayout2.xml"/><Relationship Id="rId1" Type="http://schemas.openxmlformats.org/officeDocument/2006/relationships/image" Target="../media/image124.png"/></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4" Type="http://schemas.openxmlformats.org/officeDocument/2006/relationships/vmlDrawing" Target="../drawings/vmlDrawing46.vml"/><Relationship Id="rId3" Type="http://schemas.openxmlformats.org/officeDocument/2006/relationships/slideLayout" Target="../slideLayouts/slideLayout12.xml"/><Relationship Id="rId2" Type="http://schemas.openxmlformats.org/officeDocument/2006/relationships/image" Target="../media/image125.wmf"/><Relationship Id="rId1" Type="http://schemas.openxmlformats.org/officeDocument/2006/relationships/oleObject" Target="../embeddings/oleObject78.bin"/></Relationships>
</file>

<file path=ppt/slides/_rels/slide203.xml.rels><?xml version="1.0" encoding="UTF-8" standalone="yes"?>
<Relationships xmlns="http://schemas.openxmlformats.org/package/2006/relationships"><Relationship Id="rId6" Type="http://schemas.openxmlformats.org/officeDocument/2006/relationships/vmlDrawing" Target="../drawings/vmlDrawing47.vml"/><Relationship Id="rId5" Type="http://schemas.openxmlformats.org/officeDocument/2006/relationships/slideLayout" Target="../slideLayouts/slideLayout4.xml"/><Relationship Id="rId4" Type="http://schemas.openxmlformats.org/officeDocument/2006/relationships/image" Target="../media/image127.png"/><Relationship Id="rId3" Type="http://schemas.openxmlformats.org/officeDocument/2006/relationships/oleObject" Target="../embeddings/oleObject80.bin"/><Relationship Id="rId2" Type="http://schemas.openxmlformats.org/officeDocument/2006/relationships/image" Target="../media/image126.png"/><Relationship Id="rId1" Type="http://schemas.openxmlformats.org/officeDocument/2006/relationships/oleObject" Target="../embeddings/oleObject79.bin"/></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hyperlink" Target="&#26500;&#36896;&#21704;&#22827;&#26364;&#26641;.swf" TargetMode="Externa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4" Type="http://schemas.openxmlformats.org/officeDocument/2006/relationships/vmlDrawing" Target="../drawings/vmlDrawing48.vml"/><Relationship Id="rId3" Type="http://schemas.openxmlformats.org/officeDocument/2006/relationships/slideLayout" Target="../slideLayouts/slideLayout2.xml"/><Relationship Id="rId2" Type="http://schemas.openxmlformats.org/officeDocument/2006/relationships/image" Target="../media/image128.wmf"/><Relationship Id="rId1" Type="http://schemas.openxmlformats.org/officeDocument/2006/relationships/oleObject" Target="../embeddings/oleObject81.bin"/></Relationships>
</file>

<file path=ppt/slides/_rels/slide208.xml.rels><?xml version="1.0" encoding="UTF-8" standalone="yes"?>
<Relationships xmlns="http://schemas.openxmlformats.org/package/2006/relationships"><Relationship Id="rId4" Type="http://schemas.openxmlformats.org/officeDocument/2006/relationships/vmlDrawing" Target="../drawings/vmlDrawing49.vml"/><Relationship Id="rId3" Type="http://schemas.openxmlformats.org/officeDocument/2006/relationships/slideLayout" Target="../slideLayouts/slideLayout2.xml"/><Relationship Id="rId2" Type="http://schemas.openxmlformats.org/officeDocument/2006/relationships/image" Target="../media/image128.wmf"/><Relationship Id="rId1" Type="http://schemas.openxmlformats.org/officeDocument/2006/relationships/oleObject" Target="../embeddings/oleObject82.bin"/></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30.png"/><Relationship Id="rId1" Type="http://schemas.openxmlformats.org/officeDocument/2006/relationships/image" Target="../media/image129.png"/></Relationships>
</file>

<file path=ppt/slides/_rels/slide21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31.png"/><Relationship Id="rId1" Type="http://schemas.openxmlformats.org/officeDocument/2006/relationships/image" Target="../media/image1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6"/>
          <p:cNvSpPr>
            <a:spLocks noGrp="1" noChangeArrowheads="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r>
              <a:rPr kumimoji="0" lang="en-US" altLang="zh-CN" sz="1400" b="0" i="0" u="none" strike="noStrike" kern="1200" cap="none" spc="0" normalizeH="0" baseline="0" noProof="0" smtClean="0">
                <a:ln>
                  <a:noFill/>
                </a:ln>
                <a:solidFill>
                  <a:srgbClr val="000000"/>
                </a:solidFill>
                <a:effectLst/>
                <a:uLnTx/>
                <a:uFillTx/>
                <a:latin typeface="Arial" panose="020B0604020202090204" pitchFamily="34" charset="0"/>
                <a:ea typeface="宋体" pitchFamily="2" charset="-122"/>
                <a:cs typeface="+mn-cs"/>
              </a:rPr>
              <a:t>Algorithms Design Techniques and Analysis</a:t>
            </a:r>
            <a:endParaRPr kumimoji="0" lang="en-US" altLang="zh-CN" sz="1400" b="0" i="0" u="none" strike="noStrike" kern="1200" cap="none" spc="0" normalizeH="0" baseline="0" noProof="0" smtClean="0">
              <a:ln>
                <a:noFill/>
              </a:ln>
              <a:solidFill>
                <a:srgbClr val="000000"/>
              </a:solidFill>
              <a:effectLst/>
              <a:uLnTx/>
              <a:uFillTx/>
              <a:latin typeface="Arial" panose="020B0604020202090204" pitchFamily="34" charset="0"/>
              <a:ea typeface="宋体" pitchFamily="2" charset="-122"/>
              <a:cs typeface="+mn-cs"/>
            </a:endParaRPr>
          </a:p>
        </p:txBody>
      </p:sp>
      <p:sp>
        <p:nvSpPr>
          <p:cNvPr id="5123" name="Rectangle 4"/>
          <p:cNvSpPr>
            <a:spLocks noGrp="1" noChangeArrowheads="1"/>
          </p:cNvSpPr>
          <p:nvPr>
            <p:ph type="ctrTitle"/>
          </p:nvPr>
        </p:nvSpPr>
        <p:spPr>
          <a:xfrm>
            <a:off x="571500" y="1887538"/>
            <a:ext cx="8208963" cy="1828800"/>
          </a:xfrm>
        </p:spPr>
        <p:txBody>
          <a:bodyPr/>
          <a:lstStyle/>
          <a:p>
            <a:pPr algn="ctr" eaLnBrk="1" hangingPunct="1"/>
            <a:r>
              <a:rPr lang="zh-CN" altLang="en-US" sz="4800" dirty="0" smtClean="0">
                <a:solidFill>
                  <a:srgbClr val="990099"/>
                </a:solidFill>
                <a:ea typeface="黑体" panose="02010609060101010101" pitchFamily="49" charset="-122"/>
              </a:rPr>
              <a:t>算法设计与分析</a:t>
            </a:r>
            <a:endParaRPr lang="en-US" altLang="zh-CN" sz="4800" dirty="0" smtClean="0">
              <a:solidFill>
                <a:schemeClr val="accent2"/>
              </a:solidFill>
            </a:endParaRPr>
          </a:p>
        </p:txBody>
      </p:sp>
      <p:sp>
        <p:nvSpPr>
          <p:cNvPr id="5124" name="Rectangle 5"/>
          <p:cNvSpPr>
            <a:spLocks noGrp="1" noChangeArrowheads="1"/>
          </p:cNvSpPr>
          <p:nvPr>
            <p:ph type="subTitle" idx="1"/>
          </p:nvPr>
        </p:nvSpPr>
        <p:spPr/>
        <p:txBody>
          <a:bodyPr/>
          <a:lstStyle/>
          <a:p>
            <a:pPr eaLnBrk="1" hangingPunct="1"/>
            <a:endParaRPr lang="zh-CN" altLang="zh-CN" sz="4000" smtClean="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6"/>
          <p:cNvSpPr>
            <a:spLocks noGrp="1" noChangeArrowheads="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7171" name="Rectangle 2"/>
          <p:cNvSpPr>
            <a:spLocks noGrp="1" noChangeArrowheads="1"/>
          </p:cNvSpPr>
          <p:nvPr>
            <p:ph type="ctrTitle"/>
          </p:nvPr>
        </p:nvSpPr>
        <p:spPr/>
        <p:txBody>
          <a:bodyPr/>
          <a:lstStyle/>
          <a:p>
            <a:pPr algn="ctr" eaLnBrk="1" hangingPunct="1"/>
            <a:r>
              <a:rPr lang="zh-CN" altLang="en-US" smtClean="0">
                <a:solidFill>
                  <a:schemeClr val="accent2"/>
                </a:solidFill>
              </a:rPr>
              <a:t>第一章</a:t>
            </a:r>
            <a:endParaRPr lang="en-US" altLang="zh-CN" smtClean="0">
              <a:solidFill>
                <a:schemeClr val="accent2"/>
              </a:solidFill>
            </a:endParaRPr>
          </a:p>
        </p:txBody>
      </p:sp>
      <p:sp>
        <p:nvSpPr>
          <p:cNvPr id="7172" name="Rectangle 3"/>
          <p:cNvSpPr>
            <a:spLocks noGrp="1" noChangeArrowheads="1"/>
          </p:cNvSpPr>
          <p:nvPr>
            <p:ph type="subTitle" idx="1"/>
          </p:nvPr>
        </p:nvSpPr>
        <p:spPr>
          <a:xfrm>
            <a:off x="1428750" y="3857625"/>
            <a:ext cx="6400800" cy="1752600"/>
          </a:xfrm>
        </p:spPr>
        <p:txBody>
          <a:bodyPr/>
          <a:lstStyle/>
          <a:p>
            <a:pPr eaLnBrk="1" hangingPunct="1"/>
            <a:r>
              <a:rPr lang="zh-CN" altLang="en-US" sz="3200" smtClean="0"/>
              <a:t>算法绪论</a:t>
            </a:r>
            <a:endParaRPr lang="en-US" altLang="zh-CN" sz="3000" smtClean="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11267" name="Rectangle 2"/>
          <p:cNvSpPr>
            <a:spLocks noGrp="1" noChangeArrowheads="1"/>
          </p:cNvSpPr>
          <p:nvPr>
            <p:ph type="title"/>
          </p:nvPr>
        </p:nvSpPr>
        <p:spPr/>
        <p:txBody>
          <a:bodyPr/>
          <a:lstStyle/>
          <a:p>
            <a:pPr eaLnBrk="1" hangingPunct="1"/>
            <a:r>
              <a:rPr lang="zh-CN" altLang="en-US" b="0" smtClean="0"/>
              <a:t>主要内容</a:t>
            </a:r>
            <a:endParaRPr lang="en-US" altLang="zh-CN" b="0" smtClean="0"/>
          </a:p>
        </p:txBody>
      </p:sp>
      <p:sp>
        <p:nvSpPr>
          <p:cNvPr id="8196" name="Rectangle 3"/>
          <p:cNvSpPr>
            <a:spLocks noGrp="1" noChangeArrowheads="1"/>
          </p:cNvSpPr>
          <p:nvPr>
            <p:ph type="body" idx="1"/>
          </p:nvPr>
        </p:nvSpPr>
        <p:spPr>
          <a:xfrm>
            <a:off x="962026" y="1883206"/>
            <a:ext cx="6210299" cy="2520117"/>
          </a:xfrm>
        </p:spPr>
        <p:txBody>
          <a:bodyPr/>
          <a:lstStyle/>
          <a:p>
            <a:pPr marL="0" lvl="1" indent="-419100" eaLnBrk="1" hangingPunct="1">
              <a:buFontTx/>
              <a:buNone/>
              <a:defRPr/>
            </a:pPr>
            <a:r>
              <a:rPr lang="en-US" altLang="zh-CN" sz="2800" b="1" u="sng" dirty="0" smtClean="0">
                <a:latin typeface="+mn-ea"/>
                <a:ea typeface="+mn-ea"/>
              </a:rPr>
              <a:t>1.1</a:t>
            </a:r>
            <a:r>
              <a:rPr lang="zh-CN" altLang="en-US" sz="2800" b="1" u="sng" dirty="0" smtClean="0">
                <a:latin typeface="+mn-ea"/>
                <a:ea typeface="+mn-ea"/>
              </a:rPr>
              <a:t>算法的基本概念</a:t>
            </a:r>
            <a:endParaRPr lang="en-US" altLang="zh-CN" sz="2800" b="1" u="sng" dirty="0" smtClean="0">
              <a:latin typeface="+mn-ea"/>
              <a:ea typeface="+mn-ea"/>
            </a:endParaRPr>
          </a:p>
          <a:p>
            <a:pPr marL="0" lvl="1" indent="-419100" eaLnBrk="1" hangingPunct="1">
              <a:buFontTx/>
              <a:buNone/>
              <a:defRPr/>
            </a:pPr>
            <a:r>
              <a:rPr lang="en-US" altLang="zh-CN" sz="2400" dirty="0" smtClean="0">
                <a:latin typeface="+mn-ea"/>
                <a:ea typeface="+mn-ea"/>
              </a:rPr>
              <a:t>1.2</a:t>
            </a:r>
            <a:r>
              <a:rPr lang="zh-CN" altLang="en-US" sz="2400" dirty="0" smtClean="0">
                <a:latin typeface="+mn-ea"/>
                <a:ea typeface="+mn-ea"/>
              </a:rPr>
              <a:t>算法分析基础</a:t>
            </a:r>
            <a:endParaRPr lang="en-US" altLang="zh-CN" sz="2400" dirty="0" smtClean="0">
              <a:latin typeface="+mn-ea"/>
              <a:ea typeface="+mn-ea"/>
            </a:endParaRPr>
          </a:p>
          <a:p>
            <a:pPr marL="0" lvl="1" indent="-419100" eaLnBrk="1" hangingPunct="1">
              <a:buFontTx/>
              <a:buNone/>
              <a:defRPr/>
            </a:pPr>
            <a:r>
              <a:rPr lang="en-US" altLang="zh-CN" sz="2400" dirty="0">
                <a:latin typeface="+mn-ea"/>
                <a:ea typeface="+mn-ea"/>
              </a:rPr>
              <a:t>1.3</a:t>
            </a:r>
            <a:r>
              <a:rPr lang="zh-CN" altLang="en-US" sz="2400" dirty="0">
                <a:latin typeface="+mn-ea"/>
                <a:ea typeface="+mn-ea"/>
              </a:rPr>
              <a:t>算法分析常用的数学</a:t>
            </a:r>
            <a:r>
              <a:rPr lang="zh-CN" altLang="en-US" sz="2400" dirty="0" smtClean="0">
                <a:latin typeface="+mn-ea"/>
                <a:ea typeface="+mn-ea"/>
              </a:rPr>
              <a:t>知识</a:t>
            </a:r>
            <a:endParaRPr lang="en-US" altLang="zh-CN" sz="2400" dirty="0" smtClean="0">
              <a:latin typeface="+mn-ea"/>
              <a:ea typeface="+mn-ea"/>
            </a:endParaRPr>
          </a:p>
          <a:p>
            <a:pPr marL="0" lvl="1" indent="-419100" eaLnBrk="1" hangingPunct="1">
              <a:buFontTx/>
              <a:buNone/>
              <a:defRPr/>
            </a:pPr>
            <a:r>
              <a:rPr lang="en-US" altLang="zh-CN" sz="2400" dirty="0">
                <a:latin typeface="+mn-ea"/>
                <a:ea typeface="+mn-ea"/>
              </a:rPr>
              <a:t>1.4</a:t>
            </a:r>
            <a:r>
              <a:rPr lang="zh-CN" altLang="en-US" sz="2400" dirty="0">
                <a:latin typeface="+mn-ea"/>
                <a:ea typeface="+mn-ea"/>
              </a:rPr>
              <a:t>数据结构的表示、操作算法及分析</a:t>
            </a:r>
            <a:endParaRPr lang="zh-CN" altLang="en-US" sz="2400" dirty="0" smtClean="0">
              <a:latin typeface="+mn-ea"/>
              <a:ea typeface="+mn-ea"/>
            </a:endParaRPr>
          </a:p>
        </p:txBody>
      </p:sp>
      <p:pic>
        <p:nvPicPr>
          <p:cNvPr id="11269" name="Picture 4" descr="j0195384"/>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5940425" y="260350"/>
            <a:ext cx="1231900" cy="1257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11267" name="Rectangle 2"/>
          <p:cNvSpPr>
            <a:spLocks noGrp="1" noChangeArrowheads="1"/>
          </p:cNvSpPr>
          <p:nvPr>
            <p:ph type="title"/>
          </p:nvPr>
        </p:nvSpPr>
        <p:spPr/>
        <p:txBody>
          <a:bodyPr/>
          <a:lstStyle/>
          <a:p>
            <a:pPr eaLnBrk="1" hangingPunct="1"/>
            <a:r>
              <a:rPr lang="zh-CN" altLang="en-US" b="0" smtClean="0"/>
              <a:t>主要内容</a:t>
            </a:r>
            <a:endParaRPr lang="en-US" altLang="zh-CN" b="0" smtClean="0"/>
          </a:p>
        </p:txBody>
      </p:sp>
      <p:sp>
        <p:nvSpPr>
          <p:cNvPr id="8196" name="Rectangle 3"/>
          <p:cNvSpPr>
            <a:spLocks noGrp="1" noChangeArrowheads="1"/>
          </p:cNvSpPr>
          <p:nvPr>
            <p:ph type="body" idx="1"/>
          </p:nvPr>
        </p:nvSpPr>
        <p:spPr>
          <a:xfrm>
            <a:off x="900113" y="1279525"/>
            <a:ext cx="7786687" cy="4525963"/>
          </a:xfrm>
        </p:spPr>
        <p:txBody>
          <a:bodyPr/>
          <a:lstStyle/>
          <a:p>
            <a:pPr marL="0" lvl="1" indent="-419100" eaLnBrk="1" hangingPunct="1">
              <a:buFontTx/>
              <a:buNone/>
              <a:defRPr/>
            </a:pPr>
            <a:r>
              <a:rPr lang="en-US" altLang="zh-CN" sz="2400" dirty="0" smtClean="0">
                <a:latin typeface="+mn-ea"/>
                <a:ea typeface="+mn-ea"/>
              </a:rPr>
              <a:t>1.1</a:t>
            </a:r>
            <a:r>
              <a:rPr lang="zh-CN" altLang="en-US" sz="2400" dirty="0" smtClean="0">
                <a:latin typeface="+mn-ea"/>
                <a:ea typeface="+mn-ea"/>
              </a:rPr>
              <a:t>算法的基本概念</a:t>
            </a:r>
            <a:endParaRPr lang="zh-CN" altLang="en-US" sz="2400" dirty="0" smtClean="0">
              <a:latin typeface="+mn-ea"/>
              <a:ea typeface="+mn-ea"/>
            </a:endParaRPr>
          </a:p>
          <a:p>
            <a:pPr marL="0" lvl="1" indent="419100" eaLnBrk="1" hangingPunct="1">
              <a:buFontTx/>
              <a:buNone/>
              <a:defRPr/>
            </a:pPr>
            <a:r>
              <a:rPr lang="en-US" altLang="zh-CN" sz="2400" dirty="0" smtClean="0">
                <a:latin typeface="+mn-ea"/>
                <a:ea typeface="+mn-ea"/>
              </a:rPr>
              <a:t>1.1.1 </a:t>
            </a:r>
            <a:r>
              <a:rPr lang="zh-CN" altLang="en-US" sz="2400" dirty="0" smtClean="0">
                <a:latin typeface="+mn-ea"/>
                <a:ea typeface="+mn-ea"/>
              </a:rPr>
              <a:t>算法的一般描述</a:t>
            </a:r>
            <a:endParaRPr lang="zh-CN" altLang="en-US" sz="2400" dirty="0" smtClean="0">
              <a:latin typeface="+mn-ea"/>
              <a:ea typeface="+mn-ea"/>
            </a:endParaRPr>
          </a:p>
          <a:p>
            <a:pPr marL="0" lvl="1" indent="419100" eaLnBrk="1" hangingPunct="1">
              <a:buFontTx/>
              <a:buNone/>
              <a:defRPr/>
            </a:pPr>
            <a:r>
              <a:rPr lang="en-US" altLang="zh-CN" sz="2400" dirty="0" smtClean="0">
                <a:latin typeface="+mn-ea"/>
                <a:ea typeface="+mn-ea"/>
              </a:rPr>
              <a:t>1.1.2 </a:t>
            </a:r>
            <a:r>
              <a:rPr lang="zh-CN" altLang="en-US" sz="2400" dirty="0" smtClean="0">
                <a:latin typeface="+mn-ea"/>
                <a:ea typeface="+mn-ea"/>
              </a:rPr>
              <a:t>算法的基本特性</a:t>
            </a:r>
            <a:endParaRPr lang="en-US" altLang="zh-CN" sz="2400" dirty="0" smtClean="0">
              <a:latin typeface="+mn-ea"/>
              <a:ea typeface="+mn-ea"/>
            </a:endParaRPr>
          </a:p>
          <a:p>
            <a:pPr marL="0" lvl="1" indent="419100" eaLnBrk="1" hangingPunct="1">
              <a:buFontTx/>
              <a:buNone/>
              <a:defRPr/>
            </a:pPr>
            <a:r>
              <a:rPr lang="en-US" altLang="zh-CN" sz="2400" dirty="0" smtClean="0">
                <a:latin typeface="+mn-ea"/>
                <a:ea typeface="+mn-ea"/>
              </a:rPr>
              <a:t>1.1.3 </a:t>
            </a:r>
            <a:r>
              <a:rPr lang="zh-CN" altLang="en-US" sz="2400" dirty="0">
                <a:latin typeface="+mn-ea"/>
                <a:ea typeface="+mn-ea"/>
              </a:rPr>
              <a:t>算法与计算机程序的</a:t>
            </a:r>
            <a:r>
              <a:rPr lang="zh-CN" altLang="en-US" sz="2400" dirty="0" smtClean="0">
                <a:latin typeface="+mn-ea"/>
                <a:ea typeface="+mn-ea"/>
              </a:rPr>
              <a:t>关系</a:t>
            </a:r>
            <a:endParaRPr lang="zh-CN" altLang="en-US" sz="2400" dirty="0" smtClean="0">
              <a:latin typeface="+mn-ea"/>
              <a:ea typeface="+mn-ea"/>
            </a:endParaRPr>
          </a:p>
          <a:p>
            <a:pPr marL="0" lvl="1" indent="419100" eaLnBrk="1" hangingPunct="1">
              <a:buFontTx/>
              <a:buNone/>
              <a:defRPr/>
            </a:pPr>
            <a:r>
              <a:rPr lang="en-US" altLang="zh-CN" sz="2400" dirty="0" smtClean="0">
                <a:latin typeface="+mn-ea"/>
                <a:ea typeface="+mn-ea"/>
              </a:rPr>
              <a:t>1.1.4 </a:t>
            </a:r>
            <a:r>
              <a:rPr lang="zh-CN" altLang="en-US" sz="2400" dirty="0" smtClean="0">
                <a:latin typeface="+mn-ea"/>
                <a:ea typeface="+mn-ea"/>
              </a:rPr>
              <a:t>算法与过程的关系</a:t>
            </a:r>
            <a:endParaRPr lang="zh-CN" altLang="en-US" sz="2400" dirty="0" smtClean="0">
              <a:latin typeface="+mn-ea"/>
              <a:ea typeface="+mn-ea"/>
            </a:endParaRPr>
          </a:p>
          <a:p>
            <a:pPr marL="0" lvl="1" indent="419100" eaLnBrk="1" hangingPunct="1">
              <a:buFontTx/>
              <a:buNone/>
              <a:defRPr/>
            </a:pPr>
            <a:r>
              <a:rPr lang="en-US" altLang="zh-CN" sz="2400" dirty="0" smtClean="0">
                <a:latin typeface="+mn-ea"/>
                <a:ea typeface="+mn-ea"/>
              </a:rPr>
              <a:t>1.1.5 </a:t>
            </a:r>
            <a:r>
              <a:rPr lang="zh-CN" altLang="en-US" sz="2400" dirty="0" smtClean="0">
                <a:latin typeface="+mn-ea"/>
                <a:ea typeface="+mn-ea"/>
              </a:rPr>
              <a:t>为什么要进行算法设计</a:t>
            </a:r>
            <a:endParaRPr lang="zh-CN" altLang="en-US" sz="2400" dirty="0" smtClean="0">
              <a:latin typeface="+mn-ea"/>
              <a:ea typeface="+mn-ea"/>
            </a:endParaRPr>
          </a:p>
          <a:p>
            <a:pPr marL="0" lvl="1" indent="419100" eaLnBrk="1" hangingPunct="1">
              <a:buFontTx/>
              <a:buNone/>
              <a:defRPr/>
            </a:pPr>
            <a:r>
              <a:rPr lang="en-US" altLang="zh-CN" sz="2400" dirty="0" smtClean="0">
                <a:latin typeface="+mn-ea"/>
                <a:ea typeface="+mn-ea"/>
              </a:rPr>
              <a:t>1.1.6 </a:t>
            </a:r>
            <a:r>
              <a:rPr lang="zh-CN" altLang="en-US" sz="2400" dirty="0" smtClean="0">
                <a:latin typeface="+mn-ea"/>
                <a:ea typeface="+mn-ea"/>
              </a:rPr>
              <a:t>算法与数据结构</a:t>
            </a:r>
            <a:r>
              <a:rPr lang="zh-CN" altLang="en-US" sz="2400" smtClean="0">
                <a:latin typeface="+mn-ea"/>
                <a:ea typeface="+mn-ea"/>
              </a:rPr>
              <a:t>的关系</a:t>
            </a:r>
            <a:endParaRPr lang="zh-CN" altLang="en-US" sz="2400" dirty="0" smtClean="0">
              <a:latin typeface="+mn-ea"/>
              <a:ea typeface="+mn-ea"/>
            </a:endParaRPr>
          </a:p>
        </p:txBody>
      </p:sp>
      <p:pic>
        <p:nvPicPr>
          <p:cNvPr id="11269" name="Picture 4" descr="j0195384"/>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5940425" y="260350"/>
            <a:ext cx="1231900" cy="1257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10243" name="Rectangle 2"/>
          <p:cNvSpPr>
            <a:spLocks noGrp="1" noChangeArrowheads="1"/>
          </p:cNvSpPr>
          <p:nvPr>
            <p:ph type="title"/>
          </p:nvPr>
        </p:nvSpPr>
        <p:spPr/>
        <p:txBody>
          <a:bodyPr/>
          <a:lstStyle/>
          <a:p>
            <a:pPr eaLnBrk="1" hangingPunct="1">
              <a:defRPr/>
            </a:pPr>
            <a:r>
              <a:rPr lang="en-US" altLang="zh-CN" dirty="0" smtClean="0">
                <a:latin typeface="+mn-ea"/>
              </a:rPr>
              <a:t>1.1.1 </a:t>
            </a:r>
            <a:r>
              <a:rPr lang="zh-CN" altLang="en-US" dirty="0">
                <a:latin typeface="+mn-ea"/>
              </a:rPr>
              <a:t>算法的一般</a:t>
            </a:r>
            <a:r>
              <a:rPr lang="zh-CN" altLang="en-US" dirty="0" smtClean="0">
                <a:latin typeface="+mn-ea"/>
              </a:rPr>
              <a:t>描述</a:t>
            </a:r>
            <a:endParaRPr lang="en-US" altLang="zh-CN" dirty="0" smtClean="0"/>
          </a:p>
        </p:txBody>
      </p:sp>
      <p:sp>
        <p:nvSpPr>
          <p:cNvPr id="13316" name="Rectangle 3"/>
          <p:cNvSpPr>
            <a:spLocks noGrp="1" noChangeArrowheads="1"/>
          </p:cNvSpPr>
          <p:nvPr>
            <p:ph type="body" idx="1"/>
          </p:nvPr>
        </p:nvSpPr>
        <p:spPr>
          <a:xfrm>
            <a:off x="817563" y="1268413"/>
            <a:ext cx="7931150" cy="4646612"/>
          </a:xfrm>
        </p:spPr>
        <p:txBody>
          <a:bodyPr/>
          <a:lstStyle/>
          <a:p>
            <a:pPr eaLnBrk="1" hangingPunct="1"/>
            <a:r>
              <a:rPr lang="zh-CN" altLang="en-US" smtClean="0"/>
              <a:t>算法是在</a:t>
            </a:r>
            <a:r>
              <a:rPr lang="zh-CN" altLang="en-US" smtClean="0">
                <a:solidFill>
                  <a:srgbClr val="FF0000"/>
                </a:solidFill>
              </a:rPr>
              <a:t>有限的</a:t>
            </a:r>
            <a:r>
              <a:rPr lang="zh-CN" altLang="en-US" smtClean="0"/>
              <a:t>步骤内求解某一问题，所使用的一组定义</a:t>
            </a:r>
            <a:r>
              <a:rPr lang="zh-CN" altLang="en-US" smtClean="0">
                <a:solidFill>
                  <a:srgbClr val="FF0000"/>
                </a:solidFill>
              </a:rPr>
              <a:t>明确</a:t>
            </a:r>
            <a:r>
              <a:rPr lang="zh-CN" altLang="en-US" smtClean="0"/>
              <a:t>的规则。也就是在通过一组</a:t>
            </a:r>
            <a:r>
              <a:rPr lang="zh-CN" altLang="en-US" smtClean="0">
                <a:solidFill>
                  <a:srgbClr val="FF0000"/>
                </a:solidFill>
              </a:rPr>
              <a:t>有限定义</a:t>
            </a:r>
            <a:r>
              <a:rPr lang="zh-CN" altLang="en-US" smtClean="0"/>
              <a:t>的指令来完成一些任务，给定一个</a:t>
            </a:r>
            <a:r>
              <a:rPr lang="zh-CN" altLang="en-US" smtClean="0">
                <a:solidFill>
                  <a:srgbClr val="FF0000"/>
                </a:solidFill>
              </a:rPr>
              <a:t>初始状态</a:t>
            </a:r>
            <a:r>
              <a:rPr lang="zh-CN" altLang="en-US" smtClean="0"/>
              <a:t>，并相应的获取</a:t>
            </a:r>
            <a:r>
              <a:rPr lang="zh-CN" altLang="en-US" smtClean="0">
                <a:solidFill>
                  <a:srgbClr val="FF0000"/>
                </a:solidFill>
              </a:rPr>
              <a:t>最终结果</a:t>
            </a:r>
            <a:endParaRPr lang="en-US" altLang="zh-CN" smtClean="0">
              <a:solidFill>
                <a:srgbClr val="FF0000"/>
              </a:solidFill>
            </a:endParaRPr>
          </a:p>
          <a:p>
            <a:pPr eaLnBrk="1" hangingPunct="1"/>
            <a:endParaRPr lang="en-US" altLang="zh-CN" smtClean="0"/>
          </a:p>
          <a:p>
            <a:pPr algn="just" eaLnBrk="1" hangingPunct="1"/>
            <a:r>
              <a:rPr lang="zh-CN" altLang="en-US" sz="2400" smtClean="0">
                <a:latin typeface="楷体" panose="02010609060101010101" pitchFamily="49" charset="-122"/>
                <a:ea typeface="楷体" panose="02010609060101010101" pitchFamily="49" charset="-122"/>
              </a:rPr>
              <a:t>算法通常由计算机程序来实现，算法设计的错误可能导致程序运行时的失败。</a:t>
            </a:r>
            <a:endParaRPr lang="en-US" altLang="zh-CN" sz="2400" smtClean="0">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标题 1"/>
          <p:cNvSpPr>
            <a:spLocks noGrp="1"/>
          </p:cNvSpPr>
          <p:nvPr>
            <p:ph type="title"/>
          </p:nvPr>
        </p:nvSpPr>
        <p:spPr/>
        <p:txBody>
          <a:bodyPr/>
          <a:lstStyle/>
          <a:p>
            <a:pPr>
              <a:defRPr/>
            </a:pPr>
            <a:r>
              <a:rPr lang="en-US" altLang="zh-CN" dirty="0" smtClean="0">
                <a:latin typeface="+mn-ea"/>
              </a:rPr>
              <a:t>1.1.1 </a:t>
            </a:r>
            <a:r>
              <a:rPr lang="zh-CN" altLang="en-US" dirty="0" smtClean="0">
                <a:latin typeface="+mn-ea"/>
              </a:rPr>
              <a:t>算法的一般描述</a:t>
            </a:r>
            <a:endParaRPr lang="zh-CN" altLang="en-US" dirty="0" smtClean="0"/>
          </a:p>
        </p:txBody>
      </p:sp>
      <p:sp>
        <p:nvSpPr>
          <p:cNvPr id="15363" name="内容占位符 2"/>
          <p:cNvSpPr>
            <a:spLocks noGrp="1"/>
          </p:cNvSpPr>
          <p:nvPr>
            <p:ph idx="1"/>
          </p:nvPr>
        </p:nvSpPr>
        <p:spPr>
          <a:xfrm>
            <a:off x="857250" y="1857375"/>
            <a:ext cx="7786688" cy="4525963"/>
          </a:xfrm>
        </p:spPr>
        <p:txBody>
          <a:bodyPr/>
          <a:lstStyle/>
          <a:p>
            <a:r>
              <a:rPr lang="en-US" altLang="zh-CN" smtClean="0"/>
              <a:t>An algorithm is an effective method that can be expressed within a finite amount of space and time</a:t>
            </a:r>
            <a:r>
              <a:rPr lang="en-US" altLang="zh-CN" smtClean="0">
                <a:hlinkClick r:id="rId1"/>
              </a:rPr>
              <a:t>[1]</a:t>
            </a:r>
            <a:r>
              <a:rPr lang="en-US" altLang="zh-CN" smtClean="0"/>
              <a:t> and in a well-defined formal language</a:t>
            </a:r>
            <a:r>
              <a:rPr lang="en-US" altLang="zh-CN" smtClean="0">
                <a:hlinkClick r:id="rId2"/>
              </a:rPr>
              <a:t>[2]</a:t>
            </a:r>
            <a:r>
              <a:rPr lang="en-US" altLang="zh-CN" smtClean="0"/>
              <a:t> for calculating a function.</a:t>
            </a:r>
            <a:r>
              <a:rPr lang="en-US" altLang="zh-CN" smtClean="0">
                <a:hlinkClick r:id="rId3"/>
              </a:rPr>
              <a:t>[3] </a:t>
            </a:r>
            <a:r>
              <a:rPr lang="en-US" altLang="zh-CN" smtClean="0"/>
              <a:t>Starting from an initial state and initial input (perhaps empty),</a:t>
            </a:r>
            <a:r>
              <a:rPr lang="en-US" altLang="zh-CN" smtClean="0">
                <a:hlinkClick r:id="rId3"/>
              </a:rPr>
              <a:t>[4]</a:t>
            </a:r>
            <a:r>
              <a:rPr lang="en-US" altLang="zh-CN" smtClean="0"/>
              <a:t> the instructions describe a computation that, when executed, proceeds through a finite</a:t>
            </a:r>
            <a:r>
              <a:rPr lang="en-US" altLang="zh-CN" smtClean="0">
                <a:hlinkClick r:id="rId4"/>
              </a:rPr>
              <a:t>[5]</a:t>
            </a:r>
            <a:r>
              <a:rPr lang="en-US" altLang="zh-CN" smtClean="0"/>
              <a:t> number of well-defined successive states, </a:t>
            </a:r>
            <a:r>
              <a:rPr lang="en-US" altLang="zh-CN" smtClean="0">
                <a:solidFill>
                  <a:srgbClr val="FF0000"/>
                </a:solidFill>
              </a:rPr>
              <a:t>eventually producing "output"</a:t>
            </a:r>
            <a:r>
              <a:rPr lang="en-US" altLang="zh-CN" smtClean="0">
                <a:hlinkClick r:id="rId5"/>
              </a:rPr>
              <a:t>[6]</a:t>
            </a:r>
            <a:r>
              <a:rPr lang="en-US" altLang="zh-CN" smtClean="0"/>
              <a:t> and terminating at a final ending state. </a:t>
            </a:r>
            <a:endParaRPr lang="zh-CN" altLang="en-US" smtClean="0"/>
          </a:p>
        </p:txBody>
      </p:sp>
      <p:sp>
        <p:nvSpPr>
          <p:cNvPr id="15364"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15365" name="矩形 6"/>
          <p:cNvSpPr>
            <a:spLocks noChangeArrowheads="1"/>
          </p:cNvSpPr>
          <p:nvPr/>
        </p:nvSpPr>
        <p:spPr bwMode="auto">
          <a:xfrm>
            <a:off x="1143000" y="1357313"/>
            <a:ext cx="269875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eaLnBrk="1" hangingPunct="1">
              <a:spcBef>
                <a:spcPct val="0"/>
              </a:spcBef>
              <a:buFontTx/>
              <a:buNone/>
            </a:pPr>
            <a:r>
              <a:rPr lang="zh-CN" altLang="en-US" sz="2800">
                <a:solidFill>
                  <a:schemeClr val="tx1"/>
                </a:solidFill>
                <a:latin typeface="Arial" panose="020B0604020202090204" pitchFamily="34" charset="0"/>
                <a:ea typeface="宋体" pitchFamily="2" charset="-122"/>
              </a:rPr>
              <a:t>维基百科定义：</a:t>
            </a:r>
            <a:endParaRPr lang="zh-CN" altLang="en-US" sz="2800">
              <a:solidFill>
                <a:schemeClr val="tx1"/>
              </a:solidFill>
              <a:latin typeface="Arial" panose="020B0604020202090204" pitchFamily="34" charset="0"/>
              <a:ea typeface="宋体" pitchFamily="2" charset="-122"/>
            </a:endParaRP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12291" name="Rectangle 2"/>
          <p:cNvSpPr>
            <a:spLocks noGrp="1" noChangeArrowheads="1"/>
          </p:cNvSpPr>
          <p:nvPr>
            <p:ph type="title"/>
          </p:nvPr>
        </p:nvSpPr>
        <p:spPr/>
        <p:txBody>
          <a:bodyPr/>
          <a:lstStyle/>
          <a:p>
            <a:pPr eaLnBrk="1" hangingPunct="1">
              <a:defRPr/>
            </a:pPr>
            <a:r>
              <a:rPr lang="en-US" altLang="zh-CN" dirty="0">
                <a:latin typeface="+mn-ea"/>
              </a:rPr>
              <a:t>1.1.2 </a:t>
            </a:r>
            <a:r>
              <a:rPr lang="zh-CN" altLang="en-US" dirty="0">
                <a:latin typeface="+mn-ea"/>
              </a:rPr>
              <a:t>算法的基本</a:t>
            </a:r>
            <a:r>
              <a:rPr lang="zh-CN" altLang="en-US" dirty="0" smtClean="0">
                <a:latin typeface="+mn-ea"/>
              </a:rPr>
              <a:t>特性</a:t>
            </a:r>
            <a:endParaRPr lang="en-US" altLang="zh-CN" dirty="0" smtClean="0"/>
          </a:p>
        </p:txBody>
      </p:sp>
      <p:sp>
        <p:nvSpPr>
          <p:cNvPr id="239619" name="Rectangle 3"/>
          <p:cNvSpPr>
            <a:spLocks noGrp="1" noChangeArrowheads="1"/>
          </p:cNvSpPr>
          <p:nvPr>
            <p:ph type="body" idx="1"/>
          </p:nvPr>
        </p:nvSpPr>
        <p:spPr>
          <a:xfrm>
            <a:off x="900113" y="1268413"/>
            <a:ext cx="7786687" cy="4752975"/>
          </a:xfrm>
        </p:spPr>
        <p:txBody>
          <a:bodyPr/>
          <a:lstStyle/>
          <a:p>
            <a:pPr marL="476250" indent="-476250" eaLnBrk="1" hangingPunct="1">
              <a:lnSpc>
                <a:spcPct val="80000"/>
              </a:lnSpc>
              <a:buFontTx/>
              <a:buAutoNum type="arabicPeriod"/>
              <a:defRPr/>
            </a:pPr>
            <a:r>
              <a:rPr lang="zh-CN" altLang="en-US" sz="2400" dirty="0" smtClean="0">
                <a:solidFill>
                  <a:srgbClr val="FF0000"/>
                </a:solidFill>
              </a:rPr>
              <a:t>可行性</a:t>
            </a:r>
            <a:endParaRPr lang="en-US" altLang="zh-CN" sz="2100" dirty="0" smtClean="0">
              <a:solidFill>
                <a:srgbClr val="FF0000"/>
              </a:solidFill>
            </a:endParaRPr>
          </a:p>
          <a:p>
            <a:pPr marL="539750" lvl="1" indent="419100" eaLnBrk="1" hangingPunct="1">
              <a:lnSpc>
                <a:spcPct val="80000"/>
              </a:lnSpc>
              <a:buFontTx/>
              <a:buNone/>
              <a:defRPr/>
            </a:pPr>
            <a:r>
              <a:rPr lang="zh-CN" altLang="en-US" dirty="0" smtClean="0">
                <a:latin typeface="+mn-lt"/>
                <a:ea typeface="+mn-ea"/>
                <a:cs typeface="+mn-cs"/>
              </a:rPr>
              <a:t>算法是</a:t>
            </a:r>
            <a:r>
              <a:rPr lang="zh-CN" altLang="en-US" dirty="0" smtClean="0">
                <a:solidFill>
                  <a:srgbClr val="FF0000"/>
                </a:solidFill>
                <a:latin typeface="+mn-lt"/>
                <a:ea typeface="+mn-ea"/>
                <a:cs typeface="+mn-cs"/>
              </a:rPr>
              <a:t>有效的</a:t>
            </a:r>
            <a:r>
              <a:rPr lang="zh-CN" altLang="en-US" dirty="0" smtClean="0">
                <a:latin typeface="+mn-lt"/>
                <a:ea typeface="+mn-ea"/>
                <a:cs typeface="+mn-cs"/>
              </a:rPr>
              <a:t>，充分的基础，原则上准确运行，人们用笔和纸在有限次运算内能完成。</a:t>
            </a:r>
            <a:endParaRPr lang="en-US" altLang="zh-CN" dirty="0" smtClean="0">
              <a:latin typeface="+mn-lt"/>
              <a:ea typeface="+mn-ea"/>
              <a:cs typeface="+mn-cs"/>
            </a:endParaRPr>
          </a:p>
          <a:p>
            <a:pPr marL="476250" indent="-476250" eaLnBrk="1" hangingPunct="1">
              <a:lnSpc>
                <a:spcPct val="80000"/>
              </a:lnSpc>
              <a:buFontTx/>
              <a:buAutoNum type="arabicPeriod"/>
              <a:defRPr/>
            </a:pPr>
            <a:r>
              <a:rPr lang="zh-CN" altLang="en-US" sz="2400" dirty="0" smtClean="0">
                <a:solidFill>
                  <a:srgbClr val="FF0000"/>
                </a:solidFill>
              </a:rPr>
              <a:t>明确性</a:t>
            </a:r>
            <a:endParaRPr lang="en-US" altLang="zh-CN" sz="2100" dirty="0" smtClean="0">
              <a:solidFill>
                <a:srgbClr val="FF0000"/>
              </a:solidFill>
            </a:endParaRPr>
          </a:p>
          <a:p>
            <a:pPr marL="539750" lvl="1" indent="419100" eaLnBrk="1" hangingPunct="1">
              <a:lnSpc>
                <a:spcPct val="80000"/>
              </a:lnSpc>
              <a:buFontTx/>
              <a:buNone/>
              <a:defRPr/>
            </a:pPr>
            <a:r>
              <a:rPr lang="zh-CN" altLang="en-US" dirty="0">
                <a:latin typeface="+mn-lt"/>
                <a:ea typeface="+mn-ea"/>
                <a:cs typeface="+mn-cs"/>
              </a:rPr>
              <a:t>一个算法的每个步骤，必须精确地定义，每一种情况下，必须明确地指定要执行的每一步操作。</a:t>
            </a:r>
            <a:endParaRPr lang="en-US" altLang="zh-CN" dirty="0">
              <a:latin typeface="+mn-lt"/>
              <a:ea typeface="+mn-ea"/>
              <a:cs typeface="+mn-cs"/>
            </a:endParaRPr>
          </a:p>
          <a:p>
            <a:pPr marL="476250" indent="-476250" eaLnBrk="1" hangingPunct="1">
              <a:lnSpc>
                <a:spcPct val="80000"/>
              </a:lnSpc>
              <a:buFontTx/>
              <a:buAutoNum type="arabicPeriod"/>
              <a:defRPr/>
            </a:pPr>
            <a:r>
              <a:rPr lang="zh-CN" sz="2400" dirty="0" smtClean="0">
                <a:solidFill>
                  <a:srgbClr val="FF0000"/>
                </a:solidFill>
              </a:rPr>
              <a:t>有限性</a:t>
            </a:r>
            <a:endParaRPr lang="en-US" altLang="zh-CN" sz="2100" dirty="0" smtClean="0">
              <a:solidFill>
                <a:srgbClr val="FF0000"/>
              </a:solidFill>
            </a:endParaRPr>
          </a:p>
          <a:p>
            <a:pPr marL="539750" lvl="1" indent="419100" eaLnBrk="1" hangingPunct="1">
              <a:lnSpc>
                <a:spcPct val="80000"/>
              </a:lnSpc>
              <a:buFontTx/>
              <a:buNone/>
              <a:defRPr/>
            </a:pPr>
            <a:r>
              <a:rPr lang="zh-CN" altLang="en-US" dirty="0">
                <a:latin typeface="+mn-lt"/>
                <a:ea typeface="+mn-ea"/>
                <a:cs typeface="+mn-cs"/>
              </a:rPr>
              <a:t>一个算法必须保证有限数量的步骤后完成。</a:t>
            </a:r>
            <a:endParaRPr lang="en-US" altLang="zh-CN" dirty="0">
              <a:latin typeface="+mn-lt"/>
              <a:ea typeface="+mn-ea"/>
              <a:cs typeface="+mn-cs"/>
            </a:endParaRPr>
          </a:p>
          <a:p>
            <a:pPr marL="476250" indent="-476250" eaLnBrk="1" hangingPunct="1">
              <a:lnSpc>
                <a:spcPct val="80000"/>
              </a:lnSpc>
              <a:buFontTx/>
              <a:buAutoNum type="arabicPeriod"/>
              <a:defRPr/>
            </a:pPr>
            <a:r>
              <a:rPr lang="zh-CN" sz="2400" dirty="0" smtClean="0">
                <a:solidFill>
                  <a:srgbClr val="FF0000"/>
                </a:solidFill>
              </a:rPr>
              <a:t>输入</a:t>
            </a:r>
            <a:endParaRPr lang="en-US" altLang="zh-CN" sz="2100" dirty="0" smtClean="0">
              <a:solidFill>
                <a:srgbClr val="FF0000"/>
              </a:solidFill>
            </a:endParaRPr>
          </a:p>
          <a:p>
            <a:pPr marL="539750" lvl="1" indent="419100" eaLnBrk="1" hangingPunct="1">
              <a:lnSpc>
                <a:spcPct val="80000"/>
              </a:lnSpc>
              <a:buFontTx/>
              <a:buNone/>
              <a:defRPr/>
            </a:pPr>
            <a:r>
              <a:rPr lang="zh-CN" altLang="en-US" dirty="0">
                <a:solidFill>
                  <a:srgbClr val="FF0000"/>
                </a:solidFill>
                <a:latin typeface="+mn-lt"/>
                <a:ea typeface="+mn-ea"/>
                <a:cs typeface="+mn-cs"/>
              </a:rPr>
              <a:t>有零个或多个输入</a:t>
            </a:r>
            <a:r>
              <a:rPr lang="zh-CN" altLang="en-US" dirty="0">
                <a:latin typeface="+mn-lt"/>
                <a:ea typeface="+mn-ea"/>
                <a:cs typeface="+mn-cs"/>
              </a:rPr>
              <a:t>。以刻画运算的初始情况，</a:t>
            </a:r>
            <a:r>
              <a:rPr lang="en-US" altLang="zh-CN" dirty="0">
                <a:latin typeface="+mn-lt"/>
                <a:ea typeface="+mn-ea"/>
                <a:cs typeface="+mn-cs"/>
              </a:rPr>
              <a:t>0</a:t>
            </a:r>
            <a:r>
              <a:rPr lang="zh-CN" altLang="en-US" dirty="0">
                <a:latin typeface="+mn-lt"/>
                <a:ea typeface="+mn-ea"/>
                <a:cs typeface="+mn-cs"/>
              </a:rPr>
              <a:t>个输入是指算法本身定义了初始条件。</a:t>
            </a:r>
            <a:endParaRPr lang="en-US" altLang="zh-CN" dirty="0">
              <a:latin typeface="+mn-lt"/>
              <a:ea typeface="+mn-ea"/>
              <a:cs typeface="+mn-cs"/>
            </a:endParaRPr>
          </a:p>
          <a:p>
            <a:pPr marL="476250" indent="-476250" eaLnBrk="1" hangingPunct="1">
              <a:lnSpc>
                <a:spcPct val="80000"/>
              </a:lnSpc>
              <a:buFontTx/>
              <a:buAutoNum type="arabicPeriod"/>
              <a:defRPr/>
            </a:pPr>
            <a:r>
              <a:rPr lang="zh-CN" altLang="en-US" sz="2400" dirty="0" smtClean="0">
                <a:solidFill>
                  <a:srgbClr val="FF0000"/>
                </a:solidFill>
              </a:rPr>
              <a:t>输出</a:t>
            </a:r>
            <a:endParaRPr lang="en-US" altLang="zh-CN" sz="2100" dirty="0" smtClean="0">
              <a:solidFill>
                <a:srgbClr val="FF0000"/>
              </a:solidFill>
            </a:endParaRPr>
          </a:p>
          <a:p>
            <a:pPr marL="539750" lvl="1" indent="419100" eaLnBrk="1" hangingPunct="1">
              <a:lnSpc>
                <a:spcPct val="80000"/>
              </a:lnSpc>
              <a:buFontTx/>
              <a:buNone/>
              <a:defRPr/>
            </a:pPr>
            <a:r>
              <a:rPr lang="zh-CN" altLang="en-US" dirty="0">
                <a:solidFill>
                  <a:srgbClr val="FF0000"/>
                </a:solidFill>
                <a:latin typeface="+mn-lt"/>
                <a:ea typeface="+mn-ea"/>
                <a:cs typeface="+mn-cs"/>
              </a:rPr>
              <a:t>有一个或多个输出</a:t>
            </a:r>
            <a:r>
              <a:rPr lang="zh-CN" altLang="en-US" dirty="0">
                <a:latin typeface="+mn-lt"/>
                <a:ea typeface="+mn-ea"/>
                <a:cs typeface="+mn-cs"/>
              </a:rPr>
              <a:t>。以反映对数据加工后的结果，没有输出的算法是毫无意义的。</a:t>
            </a:r>
            <a:endParaRPr lang="en-US" altLang="zh-CN" dirty="0">
              <a:latin typeface="+mn-lt"/>
              <a:ea typeface="+mn-ea"/>
              <a:cs typeface="+mn-cs"/>
            </a:endParaRP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14340" name="Rectangle 3"/>
          <p:cNvSpPr>
            <a:spLocks noGrp="1" noChangeArrowheads="1"/>
          </p:cNvSpPr>
          <p:nvPr>
            <p:ph type="body" idx="1"/>
          </p:nvPr>
        </p:nvSpPr>
        <p:spPr>
          <a:xfrm>
            <a:off x="857250" y="1295400"/>
            <a:ext cx="8035925" cy="4510088"/>
          </a:xfrm>
        </p:spPr>
        <p:txBody>
          <a:bodyPr/>
          <a:lstStyle/>
          <a:p>
            <a:pPr eaLnBrk="1" hangingPunct="1">
              <a:defRPr/>
            </a:pPr>
            <a:r>
              <a:rPr lang="zh-CN" altLang="zh-CN" b="1" dirty="0" smtClean="0"/>
              <a:t>算法</a:t>
            </a:r>
            <a:r>
              <a:rPr lang="zh-CN" altLang="zh-CN" dirty="0"/>
              <a:t>必须满足所有的</a:t>
            </a:r>
            <a:r>
              <a:rPr lang="zh-CN" altLang="zh-CN" b="1" dirty="0"/>
              <a:t>五个特征</a:t>
            </a:r>
            <a:r>
              <a:rPr lang="zh-CN" altLang="zh-CN" dirty="0"/>
              <a:t>。</a:t>
            </a:r>
            <a:endParaRPr lang="en-US" altLang="zh-CN" dirty="0"/>
          </a:p>
          <a:p>
            <a:pPr eaLnBrk="1" hangingPunct="1">
              <a:defRPr/>
            </a:pPr>
            <a:r>
              <a:rPr lang="zh-CN" altLang="en-US" b="1" dirty="0">
                <a:solidFill>
                  <a:srgbClr val="333399"/>
                </a:solidFill>
              </a:rPr>
              <a:t>程序</a:t>
            </a:r>
            <a:r>
              <a:rPr lang="zh-CN" altLang="en-US" dirty="0" smtClean="0"/>
              <a:t>只</a:t>
            </a:r>
            <a:r>
              <a:rPr lang="zh-CN" altLang="zh-CN" dirty="0"/>
              <a:t>满足</a:t>
            </a:r>
            <a:r>
              <a:rPr lang="zh-CN" altLang="zh-CN" b="1" dirty="0"/>
              <a:t>四个特征</a:t>
            </a:r>
            <a:r>
              <a:rPr lang="zh-CN" altLang="zh-CN" dirty="0"/>
              <a:t>（</a:t>
            </a:r>
            <a:r>
              <a:rPr lang="zh-CN" altLang="en-US" dirty="0"/>
              <a:t>可行性，</a:t>
            </a:r>
            <a:r>
              <a:rPr lang="zh-CN" altLang="zh-CN" dirty="0"/>
              <a:t>明确性，输入，输出</a:t>
            </a:r>
            <a:r>
              <a:rPr lang="zh-CN" altLang="zh-CN" dirty="0" smtClean="0"/>
              <a:t>）</a:t>
            </a:r>
            <a:r>
              <a:rPr lang="zh-CN" altLang="en-US" dirty="0" smtClean="0"/>
              <a:t>，</a:t>
            </a:r>
            <a:r>
              <a:rPr lang="zh-CN" altLang="en-US" dirty="0" smtClean="0">
                <a:solidFill>
                  <a:srgbClr val="333399"/>
                </a:solidFill>
              </a:rPr>
              <a:t>不</a:t>
            </a:r>
            <a:r>
              <a:rPr lang="zh-CN" altLang="zh-CN" dirty="0" smtClean="0">
                <a:solidFill>
                  <a:srgbClr val="333399"/>
                </a:solidFill>
              </a:rPr>
              <a:t>是</a:t>
            </a:r>
            <a:r>
              <a:rPr lang="zh-CN" altLang="zh-CN" dirty="0"/>
              <a:t>一个规则的</a:t>
            </a:r>
            <a:r>
              <a:rPr lang="zh-CN" altLang="zh-CN" dirty="0" smtClean="0"/>
              <a:t>算法。</a:t>
            </a:r>
            <a:endParaRPr lang="en-US" altLang="zh-CN" dirty="0" smtClean="0"/>
          </a:p>
          <a:p>
            <a:pPr eaLnBrk="1" hangingPunct="1">
              <a:defRPr/>
            </a:pPr>
            <a:r>
              <a:rPr lang="zh-CN" altLang="en-US" dirty="0"/>
              <a:t>算法和程序的</a:t>
            </a:r>
            <a:r>
              <a:rPr lang="zh-CN" altLang="en-US" b="1" dirty="0"/>
              <a:t>最大区别</a:t>
            </a:r>
            <a:r>
              <a:rPr lang="zh-CN" altLang="en-US" dirty="0"/>
              <a:t>，算法是有限的，但是程序是可能无限</a:t>
            </a:r>
            <a:r>
              <a:rPr lang="zh-CN" altLang="en-US" dirty="0" smtClean="0"/>
              <a:t>的</a:t>
            </a:r>
            <a:endParaRPr lang="en-US" altLang="zh-CN" dirty="0"/>
          </a:p>
          <a:p>
            <a:pPr eaLnBrk="1" hangingPunct="1">
              <a:defRPr/>
            </a:pPr>
            <a:endParaRPr lang="en-US" altLang="zh-CN" dirty="0" smtClean="0"/>
          </a:p>
          <a:p>
            <a:pPr eaLnBrk="1" hangingPunct="1">
              <a:defRPr/>
            </a:pPr>
            <a:r>
              <a:rPr lang="zh-CN" altLang="en-US" dirty="0" smtClean="0"/>
              <a:t>例如：操作系统</a:t>
            </a:r>
            <a:r>
              <a:rPr lang="zh-CN" altLang="en-US" dirty="0"/>
              <a:t>只要不关机就是一个无限期执行的程序</a:t>
            </a:r>
            <a:r>
              <a:rPr lang="zh-CN" altLang="en-US" dirty="0" smtClean="0">
                <a:latin typeface="+mn-ea"/>
              </a:rPr>
              <a:t>。</a:t>
            </a:r>
            <a:endParaRPr lang="zh-CN" altLang="en-US" dirty="0" smtClean="0">
              <a:latin typeface="+mn-ea"/>
            </a:endParaRPr>
          </a:p>
          <a:p>
            <a:pPr marL="457200" lvl="1" indent="0" eaLnBrk="1" hangingPunct="1">
              <a:buFontTx/>
              <a:buNone/>
              <a:defRPr/>
            </a:pPr>
            <a:endParaRPr lang="en-US" altLang="zh-CN" dirty="0">
              <a:latin typeface="+mn-ea"/>
            </a:endParaRPr>
          </a:p>
          <a:p>
            <a:pPr eaLnBrk="1" hangingPunct="1">
              <a:defRPr/>
            </a:pPr>
            <a:endParaRPr lang="en-US" altLang="zh-CN" dirty="0">
              <a:latin typeface="Arial" panose="020B0604020202090204" pitchFamily="34" charset="0"/>
            </a:endParaRPr>
          </a:p>
          <a:p>
            <a:pPr marL="74295" lvl="1" indent="0" eaLnBrk="1" hangingPunct="1">
              <a:lnSpc>
                <a:spcPct val="150000"/>
              </a:lnSpc>
              <a:spcBef>
                <a:spcPts val="0"/>
              </a:spcBef>
              <a:buFontTx/>
              <a:buNone/>
              <a:defRPr/>
            </a:pPr>
            <a:endParaRPr lang="en-US" altLang="zh-CN" b="1" dirty="0">
              <a:latin typeface="+mn-ea"/>
              <a:ea typeface="+mn-ea"/>
            </a:endParaRPr>
          </a:p>
        </p:txBody>
      </p:sp>
      <p:sp>
        <p:nvSpPr>
          <p:cNvPr id="8" name="Rectangle 2"/>
          <p:cNvSpPr>
            <a:spLocks noGrp="1" noChangeArrowheads="1"/>
          </p:cNvSpPr>
          <p:nvPr>
            <p:ph type="title"/>
          </p:nvPr>
        </p:nvSpPr>
        <p:spPr/>
        <p:txBody>
          <a:bodyPr/>
          <a:lstStyle/>
          <a:p>
            <a:pPr eaLnBrk="1" hangingPunct="1">
              <a:defRPr/>
            </a:pPr>
            <a:r>
              <a:rPr lang="en-US" altLang="zh-CN" dirty="0" smtClean="0">
                <a:latin typeface="+mn-ea"/>
              </a:rPr>
              <a:t>1.1.3 </a:t>
            </a:r>
            <a:r>
              <a:rPr lang="zh-CN" altLang="en-US" dirty="0" smtClean="0">
                <a:latin typeface="+mn-ea"/>
              </a:rPr>
              <a:t>算法与计算机程序的关系</a:t>
            </a:r>
            <a:endParaRPr lang="zh-CN" altLang="en-US" dirty="0" smtClean="0">
              <a:latin typeface="+mn-ea"/>
            </a:endParaRPr>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14340" name="Rectangle 3"/>
          <p:cNvSpPr>
            <a:spLocks noGrp="1" noChangeArrowheads="1"/>
          </p:cNvSpPr>
          <p:nvPr>
            <p:ph type="body" idx="1"/>
          </p:nvPr>
        </p:nvSpPr>
        <p:spPr>
          <a:xfrm>
            <a:off x="857250" y="1295400"/>
            <a:ext cx="8035925" cy="2062163"/>
          </a:xfrm>
        </p:spPr>
        <p:txBody>
          <a:bodyPr/>
          <a:lstStyle/>
          <a:p>
            <a:pPr marL="457200" lvl="1" indent="0" eaLnBrk="1" hangingPunct="1">
              <a:buFontTx/>
              <a:buNone/>
              <a:defRPr/>
            </a:pPr>
            <a:r>
              <a:rPr lang="en-US" altLang="zh-CN" dirty="0">
                <a:latin typeface="+mn-ea"/>
                <a:ea typeface="+mn-ea"/>
              </a:rPr>
              <a:t>&lt;&lt;</a:t>
            </a:r>
            <a:r>
              <a:rPr lang="zh-CN" altLang="en-US" dirty="0">
                <a:latin typeface="+mn-ea"/>
                <a:ea typeface="+mn-ea"/>
              </a:rPr>
              <a:t>算法导论</a:t>
            </a:r>
            <a:r>
              <a:rPr lang="en-US" altLang="zh-CN" dirty="0" smtClean="0">
                <a:latin typeface="+mn-ea"/>
                <a:ea typeface="+mn-ea"/>
              </a:rPr>
              <a:t>&gt;&gt;</a:t>
            </a:r>
            <a:r>
              <a:rPr lang="zh-CN" altLang="en-US" dirty="0" smtClean="0">
                <a:latin typeface="+mn-ea"/>
                <a:ea typeface="+mn-ea"/>
              </a:rPr>
              <a:t>第一部分第一</a:t>
            </a:r>
            <a:r>
              <a:rPr lang="zh-CN" altLang="en-US" dirty="0">
                <a:latin typeface="+mn-ea"/>
                <a:ea typeface="+mn-ea"/>
              </a:rPr>
              <a:t>节</a:t>
            </a:r>
            <a:r>
              <a:rPr lang="en-US" altLang="zh-CN" dirty="0" smtClean="0">
                <a:latin typeface="+mn-ea"/>
                <a:ea typeface="+mn-ea"/>
              </a:rPr>
              <a:t>:</a:t>
            </a:r>
            <a:endParaRPr lang="en-US" altLang="zh-CN" dirty="0" smtClean="0">
              <a:latin typeface="+mn-ea"/>
              <a:ea typeface="+mn-ea"/>
            </a:endParaRPr>
          </a:p>
          <a:p>
            <a:pPr marL="457200" lvl="1" indent="0" eaLnBrk="1" hangingPunct="1">
              <a:buFontTx/>
              <a:buNone/>
              <a:defRPr/>
            </a:pPr>
            <a:r>
              <a:rPr lang="en-US" altLang="zh-CN" dirty="0" smtClean="0">
                <a:latin typeface="+mn-ea"/>
                <a:ea typeface="+mn-ea"/>
              </a:rPr>
              <a:t>	</a:t>
            </a:r>
            <a:r>
              <a:rPr lang="zh-CN" altLang="en-US" dirty="0" smtClean="0">
                <a:latin typeface="+mn-ea"/>
                <a:ea typeface="+mn-ea"/>
              </a:rPr>
              <a:t>所谓</a:t>
            </a:r>
            <a:r>
              <a:rPr lang="zh-CN" altLang="en-US" b="1" dirty="0">
                <a:latin typeface="+mn-ea"/>
                <a:ea typeface="+mn-ea"/>
              </a:rPr>
              <a:t>算法</a:t>
            </a:r>
            <a:r>
              <a:rPr lang="en-US" altLang="zh-CN" dirty="0">
                <a:latin typeface="+mn-ea"/>
                <a:ea typeface="+mn-ea"/>
              </a:rPr>
              <a:t>(algorithm)</a:t>
            </a:r>
            <a:r>
              <a:rPr lang="zh-CN" altLang="en-US" dirty="0">
                <a:latin typeface="+mn-ea"/>
                <a:ea typeface="+mn-ea"/>
              </a:rPr>
              <a:t>就是定义</a:t>
            </a:r>
            <a:r>
              <a:rPr lang="zh-CN" altLang="en-US" dirty="0">
                <a:solidFill>
                  <a:srgbClr val="FF0000"/>
                </a:solidFill>
                <a:latin typeface="+mn-ea"/>
                <a:ea typeface="+mn-ea"/>
              </a:rPr>
              <a:t>良好的</a:t>
            </a:r>
            <a:r>
              <a:rPr lang="zh-CN" altLang="en-US" b="1" dirty="0">
                <a:solidFill>
                  <a:srgbClr val="FF0000"/>
                </a:solidFill>
                <a:latin typeface="+mn-ea"/>
                <a:ea typeface="+mn-ea"/>
              </a:rPr>
              <a:t>计算</a:t>
            </a:r>
            <a:r>
              <a:rPr lang="zh-CN" altLang="en-US" b="1" dirty="0" smtClean="0">
                <a:solidFill>
                  <a:srgbClr val="FF0000"/>
                </a:solidFill>
                <a:latin typeface="+mn-ea"/>
                <a:ea typeface="+mn-ea"/>
              </a:rPr>
              <a:t>过程</a:t>
            </a:r>
            <a:r>
              <a:rPr lang="zh-CN" altLang="en-US" dirty="0" smtClean="0">
                <a:latin typeface="+mn-ea"/>
                <a:ea typeface="+mn-ea"/>
              </a:rPr>
              <a:t>。它</a:t>
            </a:r>
            <a:r>
              <a:rPr lang="zh-CN" altLang="en-US" dirty="0">
                <a:latin typeface="+mn-ea"/>
                <a:ea typeface="+mn-ea"/>
              </a:rPr>
              <a:t>取一个或者一组值作为输入</a:t>
            </a:r>
            <a:r>
              <a:rPr lang="en-US" altLang="zh-CN" dirty="0">
                <a:latin typeface="+mn-ea"/>
                <a:ea typeface="+mn-ea"/>
              </a:rPr>
              <a:t>, </a:t>
            </a:r>
            <a:r>
              <a:rPr lang="zh-CN" altLang="en-US" dirty="0">
                <a:latin typeface="+mn-ea"/>
                <a:ea typeface="+mn-ea"/>
              </a:rPr>
              <a:t>并产生一个或一组值作为输出</a:t>
            </a:r>
            <a:r>
              <a:rPr lang="zh-CN" altLang="en-US" dirty="0" smtClean="0">
                <a:latin typeface="+mn-ea"/>
                <a:ea typeface="+mn-ea"/>
              </a:rPr>
              <a:t>。</a:t>
            </a:r>
            <a:endParaRPr lang="en-US" altLang="zh-CN" dirty="0" smtClean="0">
              <a:latin typeface="+mn-ea"/>
              <a:ea typeface="+mn-ea"/>
            </a:endParaRPr>
          </a:p>
          <a:p>
            <a:pPr marL="457200" lvl="1" indent="0" eaLnBrk="1" hangingPunct="1">
              <a:buFontTx/>
              <a:buNone/>
              <a:defRPr/>
            </a:pPr>
            <a:r>
              <a:rPr lang="en-US" altLang="zh-CN" dirty="0">
                <a:latin typeface="+mn-ea"/>
                <a:ea typeface="+mn-ea"/>
              </a:rPr>
              <a:t>	</a:t>
            </a:r>
            <a:r>
              <a:rPr lang="zh-CN" altLang="en-US" dirty="0" smtClean="0">
                <a:latin typeface="+mn-ea"/>
                <a:ea typeface="+mn-ea"/>
              </a:rPr>
              <a:t>亦即</a:t>
            </a:r>
            <a:r>
              <a:rPr lang="en-US" altLang="zh-CN" dirty="0">
                <a:latin typeface="+mn-ea"/>
                <a:ea typeface="+mn-ea"/>
              </a:rPr>
              <a:t>, </a:t>
            </a:r>
            <a:r>
              <a:rPr lang="zh-CN" altLang="en-US" b="1" dirty="0">
                <a:latin typeface="+mn-ea"/>
                <a:ea typeface="+mn-ea"/>
              </a:rPr>
              <a:t>算法就是一系列的计算步骤</a:t>
            </a:r>
            <a:r>
              <a:rPr lang="en-US" altLang="zh-CN" dirty="0">
                <a:latin typeface="+mn-ea"/>
                <a:ea typeface="+mn-ea"/>
              </a:rPr>
              <a:t>, </a:t>
            </a:r>
            <a:r>
              <a:rPr lang="zh-CN" altLang="en-US" dirty="0">
                <a:latin typeface="+mn-ea"/>
                <a:ea typeface="+mn-ea"/>
              </a:rPr>
              <a:t>用来将输入数据转换成输出</a:t>
            </a:r>
            <a:r>
              <a:rPr lang="zh-CN" altLang="en-US" dirty="0" smtClean="0">
                <a:latin typeface="+mn-ea"/>
                <a:ea typeface="+mn-ea"/>
              </a:rPr>
              <a:t>结果。</a:t>
            </a:r>
            <a:endParaRPr lang="en-US" altLang="zh-CN" dirty="0" smtClean="0">
              <a:latin typeface="+mn-ea"/>
              <a:ea typeface="+mn-ea"/>
            </a:endParaRPr>
          </a:p>
          <a:p>
            <a:pPr marL="457200" lvl="1" indent="0" eaLnBrk="1" hangingPunct="1">
              <a:buFontTx/>
              <a:buNone/>
              <a:defRPr/>
            </a:pPr>
            <a:endParaRPr lang="en-US" altLang="zh-CN" dirty="0">
              <a:latin typeface="+mn-ea"/>
              <a:ea typeface="+mn-ea"/>
            </a:endParaRPr>
          </a:p>
        </p:txBody>
      </p:sp>
      <p:sp>
        <p:nvSpPr>
          <p:cNvPr id="8" name="Rectangle 2"/>
          <p:cNvSpPr>
            <a:spLocks noGrp="1" noChangeArrowheads="1"/>
          </p:cNvSpPr>
          <p:nvPr>
            <p:ph type="title"/>
          </p:nvPr>
        </p:nvSpPr>
        <p:spPr/>
        <p:txBody>
          <a:bodyPr/>
          <a:lstStyle/>
          <a:p>
            <a:pPr eaLnBrk="1" hangingPunct="1">
              <a:defRPr/>
            </a:pPr>
            <a:r>
              <a:rPr lang="en-US" altLang="zh-CN" dirty="0" smtClean="0">
                <a:latin typeface="+mn-ea"/>
              </a:rPr>
              <a:t>1.1.4 </a:t>
            </a:r>
            <a:r>
              <a:rPr lang="zh-CN" altLang="en-US" dirty="0" smtClean="0">
                <a:latin typeface="+mn-ea"/>
              </a:rPr>
              <a:t>算法</a:t>
            </a:r>
            <a:r>
              <a:rPr lang="zh-CN" altLang="en-US" dirty="0">
                <a:latin typeface="+mn-ea"/>
              </a:rPr>
              <a:t>与过程的</a:t>
            </a:r>
            <a:r>
              <a:rPr lang="zh-CN" altLang="en-US" dirty="0" smtClean="0">
                <a:latin typeface="+mn-ea"/>
              </a:rPr>
              <a:t>关系</a:t>
            </a:r>
            <a:endParaRPr lang="en-US" altLang="zh-CN" dirty="0" smtClean="0"/>
          </a:p>
        </p:txBody>
      </p:sp>
      <p:sp>
        <p:nvSpPr>
          <p:cNvPr id="20485" name="矩形 1"/>
          <p:cNvSpPr>
            <a:spLocks noChangeArrowheads="1"/>
          </p:cNvSpPr>
          <p:nvPr/>
        </p:nvSpPr>
        <p:spPr bwMode="auto">
          <a:xfrm>
            <a:off x="1835150" y="4005263"/>
            <a:ext cx="1296988" cy="768350"/>
          </a:xfrm>
          <a:prstGeom prst="rect">
            <a:avLst/>
          </a:prstGeom>
          <a:noFill/>
          <a:ln w="19050" algn="ctr">
            <a:solidFill>
              <a:schemeClr val="tx1"/>
            </a:solidFill>
            <a:round/>
          </a:ln>
          <a:extLst>
            <a:ext uri="{909E8E84-426E-40DD-AFC4-6F175D3DCCD1}">
              <a14:hiddenFill xmlns:a14="http://schemas.microsoft.com/office/drawing/2010/main">
                <a:solidFill>
                  <a:srgbClr val="FFFFFF"/>
                </a:solidFill>
              </a14:hiddenFill>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eaLnBrk="1" hangingPunct="1">
              <a:spcBef>
                <a:spcPct val="0"/>
              </a:spcBef>
              <a:buFontTx/>
              <a:buNone/>
            </a:pPr>
            <a:endParaRPr lang="zh-CN" altLang="en-US" sz="1800">
              <a:solidFill>
                <a:schemeClr val="tx1"/>
              </a:solidFill>
              <a:latin typeface="Arial" panose="020B0604020202090204" pitchFamily="34" charset="0"/>
              <a:ea typeface="宋体" pitchFamily="2" charset="-122"/>
            </a:endParaRPr>
          </a:p>
        </p:txBody>
      </p:sp>
      <p:sp>
        <p:nvSpPr>
          <p:cNvPr id="3" name="文本框 2"/>
          <p:cNvSpPr txBox="1"/>
          <p:nvPr/>
        </p:nvSpPr>
        <p:spPr>
          <a:xfrm>
            <a:off x="2070100" y="4151313"/>
            <a:ext cx="827088" cy="476250"/>
          </a:xfrm>
          <a:prstGeom prst="rect">
            <a:avLst/>
          </a:prstGeom>
          <a:noFill/>
        </p:spPr>
        <p:txBody>
          <a:bodyPr wrap="none">
            <a:spAutoFit/>
          </a:bodyPr>
          <a:lstStyle/>
          <a:p>
            <a:pPr eaLnBrk="1" hangingPunct="1">
              <a:defRPr/>
            </a:pPr>
            <a:r>
              <a:rPr lang="zh-CN" altLang="en-US" sz="2500" kern="0" dirty="0">
                <a:solidFill>
                  <a:srgbClr val="333399"/>
                </a:solidFill>
                <a:latin typeface="华文楷体" panose="02010600040101010101" pitchFamily="2" charset="-122"/>
                <a:ea typeface="华文楷体" panose="02010600040101010101" pitchFamily="2" charset="-122"/>
              </a:rPr>
              <a:t>算法</a:t>
            </a:r>
            <a:endParaRPr lang="zh-CN" altLang="en-US" sz="2500" kern="0" dirty="0">
              <a:solidFill>
                <a:srgbClr val="333399"/>
              </a:solidFill>
              <a:latin typeface="华文楷体" panose="02010600040101010101" pitchFamily="2" charset="-122"/>
              <a:ea typeface="华文楷体" panose="02010600040101010101" pitchFamily="2" charset="-122"/>
            </a:endParaRPr>
          </a:p>
        </p:txBody>
      </p:sp>
      <p:sp>
        <p:nvSpPr>
          <p:cNvPr id="20487" name="矩形 6"/>
          <p:cNvSpPr>
            <a:spLocks noChangeArrowheads="1"/>
          </p:cNvSpPr>
          <p:nvPr/>
        </p:nvSpPr>
        <p:spPr bwMode="auto">
          <a:xfrm>
            <a:off x="6029325" y="4005263"/>
            <a:ext cx="1296988" cy="768350"/>
          </a:xfrm>
          <a:prstGeom prst="rect">
            <a:avLst/>
          </a:prstGeom>
          <a:noFill/>
          <a:ln w="19050" algn="ctr">
            <a:solidFill>
              <a:schemeClr val="tx1"/>
            </a:solidFill>
            <a:round/>
          </a:ln>
          <a:extLst>
            <a:ext uri="{909E8E84-426E-40DD-AFC4-6F175D3DCCD1}">
              <a14:hiddenFill xmlns:a14="http://schemas.microsoft.com/office/drawing/2010/main">
                <a:solidFill>
                  <a:srgbClr val="FFFFFF"/>
                </a:solidFill>
              </a14:hiddenFill>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eaLnBrk="1" hangingPunct="1">
              <a:spcBef>
                <a:spcPct val="0"/>
              </a:spcBef>
              <a:buFontTx/>
              <a:buNone/>
            </a:pPr>
            <a:endParaRPr lang="zh-CN" altLang="en-US" sz="1800">
              <a:solidFill>
                <a:schemeClr val="tx1"/>
              </a:solidFill>
              <a:latin typeface="Arial" panose="020B0604020202090204" pitchFamily="34" charset="0"/>
              <a:ea typeface="宋体" pitchFamily="2" charset="-122"/>
            </a:endParaRPr>
          </a:p>
        </p:txBody>
      </p:sp>
      <p:sp>
        <p:nvSpPr>
          <p:cNvPr id="9" name="文本框 8"/>
          <p:cNvSpPr txBox="1"/>
          <p:nvPr/>
        </p:nvSpPr>
        <p:spPr>
          <a:xfrm>
            <a:off x="6265863" y="4151313"/>
            <a:ext cx="825500" cy="476250"/>
          </a:xfrm>
          <a:prstGeom prst="rect">
            <a:avLst/>
          </a:prstGeom>
          <a:noFill/>
        </p:spPr>
        <p:txBody>
          <a:bodyPr wrap="none">
            <a:spAutoFit/>
          </a:bodyPr>
          <a:lstStyle/>
          <a:p>
            <a:pPr eaLnBrk="1" hangingPunct="1">
              <a:defRPr/>
            </a:pPr>
            <a:r>
              <a:rPr lang="zh-CN" altLang="en-US" sz="2500" kern="0" dirty="0">
                <a:solidFill>
                  <a:srgbClr val="333399"/>
                </a:solidFill>
                <a:latin typeface="华文楷体" panose="02010600040101010101" pitchFamily="2" charset="-122"/>
                <a:ea typeface="华文楷体" panose="02010600040101010101" pitchFamily="2" charset="-122"/>
              </a:rPr>
              <a:t>过程</a:t>
            </a:r>
            <a:endParaRPr lang="zh-CN" altLang="en-US" sz="2500" kern="0" dirty="0">
              <a:solidFill>
                <a:srgbClr val="333399"/>
              </a:solidFill>
              <a:latin typeface="华文楷体" panose="02010600040101010101" pitchFamily="2" charset="-122"/>
              <a:ea typeface="华文楷体" panose="02010600040101010101" pitchFamily="2" charset="-122"/>
            </a:endParaRPr>
          </a:p>
        </p:txBody>
      </p:sp>
      <p:cxnSp>
        <p:nvCxnSpPr>
          <p:cNvPr id="20489" name="直接箭头连接符 4"/>
          <p:cNvCxnSpPr>
            <a:cxnSpLocks noChangeShapeType="1"/>
          </p:cNvCxnSpPr>
          <p:nvPr/>
        </p:nvCxnSpPr>
        <p:spPr bwMode="auto">
          <a:xfrm>
            <a:off x="3132138" y="4151313"/>
            <a:ext cx="2897187" cy="0"/>
          </a:xfrm>
          <a:prstGeom prst="straightConnector1">
            <a:avLst/>
          </a:prstGeom>
          <a:noFill/>
          <a:ln w="19050" algn="ctr">
            <a:solidFill>
              <a:schemeClr val="tx1"/>
            </a:solidFill>
            <a:round/>
            <a:tailEnd type="stealth" w="lg" len="lg"/>
          </a:ln>
          <a:extLst>
            <a:ext uri="{909E8E84-426E-40DD-AFC4-6F175D3DCCD1}">
              <a14:hiddenFill xmlns:a14="http://schemas.microsoft.com/office/drawing/2010/main">
                <a:noFill/>
              </a14:hiddenFill>
            </a:ext>
          </a:extLst>
        </p:spPr>
      </p:cxnSp>
      <p:sp>
        <p:nvSpPr>
          <p:cNvPr id="6" name="文本框 5"/>
          <p:cNvSpPr txBox="1"/>
          <p:nvPr/>
        </p:nvSpPr>
        <p:spPr>
          <a:xfrm>
            <a:off x="3924300" y="3702050"/>
            <a:ext cx="1152525" cy="477838"/>
          </a:xfrm>
          <a:prstGeom prst="rect">
            <a:avLst/>
          </a:prstGeom>
          <a:noFill/>
        </p:spPr>
        <p:txBody>
          <a:bodyPr>
            <a:spAutoFit/>
          </a:bodyPr>
          <a:lstStyle/>
          <a:p>
            <a:pPr eaLnBrk="1" hangingPunct="1">
              <a:defRPr/>
            </a:pPr>
            <a:r>
              <a:rPr lang="zh-CN" altLang="en-US" sz="2500" kern="0" dirty="0">
                <a:solidFill>
                  <a:srgbClr val="333399"/>
                </a:solidFill>
                <a:latin typeface="华文楷体" panose="02010600040101010101" pitchFamily="2" charset="-122"/>
                <a:ea typeface="华文楷体" panose="02010600040101010101" pitchFamily="2" charset="-122"/>
              </a:rPr>
              <a:t>一定是</a:t>
            </a:r>
            <a:endParaRPr lang="zh-CN" altLang="en-US" sz="2500" kern="0" dirty="0">
              <a:solidFill>
                <a:srgbClr val="333399"/>
              </a:solidFill>
              <a:latin typeface="华文楷体" panose="02010600040101010101" pitchFamily="2" charset="-122"/>
              <a:ea typeface="华文楷体" panose="02010600040101010101" pitchFamily="2" charset="-122"/>
            </a:endParaRPr>
          </a:p>
        </p:txBody>
      </p:sp>
      <p:cxnSp>
        <p:nvCxnSpPr>
          <p:cNvPr id="20491" name="直接箭头连接符 11"/>
          <p:cNvCxnSpPr>
            <a:cxnSpLocks noChangeShapeType="1"/>
          </p:cNvCxnSpPr>
          <p:nvPr/>
        </p:nvCxnSpPr>
        <p:spPr bwMode="auto">
          <a:xfrm>
            <a:off x="3132138" y="4616450"/>
            <a:ext cx="2897187" cy="0"/>
          </a:xfrm>
          <a:prstGeom prst="straightConnector1">
            <a:avLst/>
          </a:prstGeom>
          <a:noFill/>
          <a:ln w="19050" algn="ctr">
            <a:solidFill>
              <a:schemeClr val="tx1"/>
            </a:solidFill>
            <a:round/>
            <a:headEnd type="stealth" w="lg" len="lg"/>
            <a:tailEnd type="none" w="lg" len="lg"/>
          </a:ln>
          <a:extLst>
            <a:ext uri="{909E8E84-426E-40DD-AFC4-6F175D3DCCD1}">
              <a14:hiddenFill xmlns:a14="http://schemas.microsoft.com/office/drawing/2010/main">
                <a:noFill/>
              </a14:hiddenFill>
            </a:ext>
          </a:extLst>
        </p:spPr>
      </p:cxnSp>
      <p:sp>
        <p:nvSpPr>
          <p:cNvPr id="13" name="文本框 12"/>
          <p:cNvSpPr txBox="1"/>
          <p:nvPr/>
        </p:nvSpPr>
        <p:spPr>
          <a:xfrm>
            <a:off x="3924300" y="4537075"/>
            <a:ext cx="1574800" cy="476250"/>
          </a:xfrm>
          <a:prstGeom prst="rect">
            <a:avLst/>
          </a:prstGeom>
          <a:noFill/>
        </p:spPr>
        <p:txBody>
          <a:bodyPr>
            <a:spAutoFit/>
          </a:bodyPr>
          <a:lstStyle/>
          <a:p>
            <a:pPr eaLnBrk="1" hangingPunct="1">
              <a:defRPr/>
            </a:pPr>
            <a:r>
              <a:rPr lang="zh-CN" altLang="en-US" sz="2500" kern="0" dirty="0">
                <a:solidFill>
                  <a:srgbClr val="333399"/>
                </a:solidFill>
                <a:latin typeface="华文楷体" panose="02010600040101010101" pitchFamily="2" charset="-122"/>
                <a:ea typeface="华文楷体" panose="02010600040101010101" pitchFamily="2" charset="-122"/>
              </a:rPr>
              <a:t>不一定是</a:t>
            </a:r>
            <a:endParaRPr lang="zh-CN" altLang="en-US" sz="2500" kern="0" dirty="0">
              <a:solidFill>
                <a:srgbClr val="333399"/>
              </a:solidFill>
              <a:latin typeface="华文楷体" panose="02010600040101010101" pitchFamily="2" charset="-122"/>
              <a:ea typeface="华文楷体" panose="02010600040101010101" pitchFamily="2" charset="-122"/>
            </a:endParaRPr>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14340" name="Rectangle 3"/>
          <p:cNvSpPr>
            <a:spLocks noGrp="1" noChangeArrowheads="1"/>
          </p:cNvSpPr>
          <p:nvPr>
            <p:ph type="body" idx="1"/>
          </p:nvPr>
        </p:nvSpPr>
        <p:spPr>
          <a:xfrm>
            <a:off x="857250" y="1295400"/>
            <a:ext cx="8035925" cy="4510088"/>
          </a:xfrm>
        </p:spPr>
        <p:txBody>
          <a:bodyPr/>
          <a:lstStyle/>
          <a:p>
            <a:pPr marL="360045" lvl="1" eaLnBrk="1" hangingPunct="1">
              <a:lnSpc>
                <a:spcPct val="150000"/>
              </a:lnSpc>
              <a:spcBef>
                <a:spcPts val="0"/>
              </a:spcBef>
              <a:defRPr/>
            </a:pPr>
            <a:r>
              <a:rPr lang="zh-CN" altLang="en-US" dirty="0" smtClean="0">
                <a:latin typeface="+mn-ea"/>
                <a:ea typeface="+mn-ea"/>
              </a:rPr>
              <a:t>寻求解决一类问题的</a:t>
            </a:r>
            <a:r>
              <a:rPr lang="zh-CN" altLang="en-US" b="1" dirty="0">
                <a:latin typeface="+mn-ea"/>
                <a:ea typeface="+mn-ea"/>
              </a:rPr>
              <a:t>方法</a:t>
            </a:r>
            <a:r>
              <a:rPr lang="zh-CN" altLang="en-US" dirty="0" smtClean="0">
                <a:latin typeface="+mn-ea"/>
                <a:ea typeface="+mn-ea"/>
              </a:rPr>
              <a:t>，使它</a:t>
            </a:r>
            <a:r>
              <a:rPr lang="zh-CN" altLang="en-US" dirty="0">
                <a:latin typeface="+mn-ea"/>
                <a:ea typeface="+mn-ea"/>
              </a:rPr>
              <a:t>可以通过计算机来</a:t>
            </a:r>
            <a:r>
              <a:rPr lang="zh-CN" altLang="en-US" dirty="0" smtClean="0">
                <a:latin typeface="+mn-ea"/>
                <a:ea typeface="+mn-ea"/>
              </a:rPr>
              <a:t>完成。</a:t>
            </a:r>
            <a:endParaRPr lang="en-US" altLang="zh-CN" dirty="0" smtClean="0">
              <a:latin typeface="+mn-ea"/>
              <a:ea typeface="+mn-ea"/>
            </a:endParaRPr>
          </a:p>
          <a:p>
            <a:pPr marL="360045" lvl="1" eaLnBrk="1" hangingPunct="1">
              <a:lnSpc>
                <a:spcPct val="150000"/>
              </a:lnSpc>
              <a:spcBef>
                <a:spcPts val="0"/>
              </a:spcBef>
              <a:defRPr/>
            </a:pPr>
            <a:r>
              <a:rPr lang="zh-CN" altLang="en-US" dirty="0" smtClean="0">
                <a:latin typeface="+mn-ea"/>
                <a:ea typeface="+mn-ea"/>
              </a:rPr>
              <a:t>把</a:t>
            </a:r>
            <a:r>
              <a:rPr lang="zh-CN" altLang="en-US" dirty="0">
                <a:latin typeface="+mn-ea"/>
                <a:ea typeface="+mn-ea"/>
              </a:rPr>
              <a:t>过程分解成若干个明确的</a:t>
            </a:r>
            <a:r>
              <a:rPr lang="zh-CN" altLang="en-US" b="1" dirty="0" smtClean="0">
                <a:latin typeface="+mn-ea"/>
                <a:ea typeface="+mn-ea"/>
              </a:rPr>
              <a:t>步骤</a:t>
            </a:r>
            <a:r>
              <a:rPr lang="zh-CN" altLang="en-US" dirty="0">
                <a:latin typeface="+mn-ea"/>
                <a:ea typeface="+mn-ea"/>
              </a:rPr>
              <a:t>，</a:t>
            </a:r>
            <a:r>
              <a:rPr lang="zh-CN" altLang="en-US" dirty="0" smtClean="0">
                <a:latin typeface="+mn-ea"/>
                <a:ea typeface="+mn-ea"/>
              </a:rPr>
              <a:t>然后</a:t>
            </a:r>
            <a:r>
              <a:rPr lang="zh-CN" altLang="en-US" dirty="0">
                <a:latin typeface="+mn-ea"/>
                <a:ea typeface="+mn-ea"/>
              </a:rPr>
              <a:t>用计算机能够接受的“语言”准确地描述</a:t>
            </a:r>
            <a:r>
              <a:rPr lang="zh-CN" altLang="en-US" dirty="0" smtClean="0">
                <a:latin typeface="+mn-ea"/>
                <a:ea typeface="+mn-ea"/>
              </a:rPr>
              <a:t>出来，从而使计算机能够执行。</a:t>
            </a:r>
            <a:endParaRPr lang="en-US" altLang="zh-CN" dirty="0">
              <a:latin typeface="+mn-ea"/>
              <a:ea typeface="+mn-ea"/>
            </a:endParaRPr>
          </a:p>
          <a:p>
            <a:pPr marL="457200" lvl="1" indent="0" eaLnBrk="1" hangingPunct="1">
              <a:buFontTx/>
              <a:buNone/>
              <a:defRPr/>
            </a:pPr>
            <a:endParaRPr lang="en-US" altLang="zh-CN" dirty="0" smtClean="0">
              <a:latin typeface="+mn-ea"/>
              <a:ea typeface="+mn-ea"/>
            </a:endParaRPr>
          </a:p>
          <a:p>
            <a:pPr marL="457200" lvl="1" indent="0" eaLnBrk="1" hangingPunct="1">
              <a:buFontTx/>
              <a:buNone/>
              <a:defRPr/>
            </a:pPr>
            <a:r>
              <a:rPr lang="zh-CN" altLang="en-US" b="1" dirty="0" smtClean="0">
                <a:latin typeface="+mn-ea"/>
                <a:ea typeface="+mn-ea"/>
              </a:rPr>
              <a:t>即：提出</a:t>
            </a:r>
            <a:r>
              <a:rPr lang="zh-CN" altLang="en-US" b="1" dirty="0">
                <a:latin typeface="+mn-ea"/>
                <a:ea typeface="+mn-ea"/>
              </a:rPr>
              <a:t>解决问题的方法和步骤</a:t>
            </a:r>
            <a:endParaRPr lang="en-US" altLang="zh-CN" b="1" dirty="0">
              <a:latin typeface="+mn-ea"/>
              <a:ea typeface="+mn-ea"/>
            </a:endParaRPr>
          </a:p>
        </p:txBody>
      </p:sp>
      <p:sp>
        <p:nvSpPr>
          <p:cNvPr id="8" name="Rectangle 2"/>
          <p:cNvSpPr>
            <a:spLocks noGrp="1" noChangeArrowheads="1"/>
          </p:cNvSpPr>
          <p:nvPr>
            <p:ph type="title"/>
          </p:nvPr>
        </p:nvSpPr>
        <p:spPr/>
        <p:txBody>
          <a:bodyPr/>
          <a:lstStyle/>
          <a:p>
            <a:pPr eaLnBrk="1" hangingPunct="1">
              <a:defRPr/>
            </a:pPr>
            <a:r>
              <a:rPr lang="en-US" altLang="zh-CN" dirty="0" smtClean="0">
                <a:latin typeface="+mn-ea"/>
              </a:rPr>
              <a:t>1.1.5 </a:t>
            </a:r>
            <a:r>
              <a:rPr lang="zh-CN" altLang="en-US" dirty="0" smtClean="0">
                <a:latin typeface="+mn-ea"/>
              </a:rPr>
              <a:t>为什么要进行算法设计</a:t>
            </a:r>
            <a:endParaRPr lang="zh-CN" altLang="en-US" dirty="0" smtClean="0">
              <a:latin typeface="+mn-ea"/>
            </a:endParaRPr>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内容占位符 2"/>
          <p:cNvSpPr>
            <a:spLocks noGrp="1"/>
          </p:cNvSpPr>
          <p:nvPr>
            <p:ph idx="1"/>
          </p:nvPr>
        </p:nvSpPr>
        <p:spPr>
          <a:xfrm>
            <a:off x="879475" y="1268413"/>
            <a:ext cx="7508875" cy="3168650"/>
          </a:xfrm>
        </p:spPr>
        <p:txBody>
          <a:bodyPr/>
          <a:lstStyle/>
          <a:p>
            <a:pPr indent="-341630">
              <a:lnSpc>
                <a:spcPct val="150000"/>
              </a:lnSpc>
            </a:pPr>
            <a:r>
              <a:rPr lang="zh-CN" altLang="en-US" sz="2200" b="1" smtClean="0"/>
              <a:t>程序 </a:t>
            </a:r>
            <a:r>
              <a:rPr lang="en-US" altLang="zh-CN" sz="2200" b="1" smtClean="0"/>
              <a:t>= </a:t>
            </a:r>
            <a:r>
              <a:rPr lang="zh-CN" altLang="en-US" sz="2200" b="1" smtClean="0"/>
              <a:t>数据结构 </a:t>
            </a:r>
            <a:r>
              <a:rPr lang="en-US" altLang="zh-CN" sz="2200" b="1" smtClean="0"/>
              <a:t>+ </a:t>
            </a:r>
            <a:r>
              <a:rPr lang="zh-CN" altLang="en-US" sz="2200" b="1" smtClean="0"/>
              <a:t>算法</a:t>
            </a:r>
            <a:r>
              <a:rPr lang="zh-CN" altLang="en-US" sz="2200" smtClean="0"/>
              <a:t>。</a:t>
            </a:r>
            <a:endParaRPr lang="en-US" altLang="zh-CN" sz="2200" smtClean="0"/>
          </a:p>
          <a:p>
            <a:pPr indent="-341630">
              <a:lnSpc>
                <a:spcPct val="150000"/>
              </a:lnSpc>
            </a:pPr>
            <a:r>
              <a:rPr lang="zh-CN" altLang="en-US" sz="2200" smtClean="0"/>
              <a:t>算法和数据结构是相辅相成的关系。</a:t>
            </a:r>
            <a:endParaRPr lang="en-US" altLang="zh-CN" sz="2200" smtClean="0"/>
          </a:p>
          <a:p>
            <a:pPr indent="-341630">
              <a:lnSpc>
                <a:spcPct val="150000"/>
              </a:lnSpc>
            </a:pPr>
            <a:r>
              <a:rPr lang="zh-CN" altLang="en-US" sz="2200" b="1" smtClean="0"/>
              <a:t>数据结构</a:t>
            </a:r>
            <a:r>
              <a:rPr lang="zh-CN" altLang="en-US" sz="2200" smtClean="0"/>
              <a:t>是相互之间存在某种关系的数据元素的集合；</a:t>
            </a:r>
            <a:r>
              <a:rPr lang="zh-CN" altLang="en-US" sz="2200" b="1" smtClean="0"/>
              <a:t>算法</a:t>
            </a:r>
            <a:r>
              <a:rPr lang="zh-CN" altLang="en-US" sz="2200" smtClean="0"/>
              <a:t>是解决特定问题的有限求解步骤。</a:t>
            </a:r>
            <a:endParaRPr lang="en-US" altLang="zh-CN" sz="2200" smtClean="0"/>
          </a:p>
          <a:p>
            <a:pPr indent="-341630">
              <a:lnSpc>
                <a:spcPct val="150000"/>
              </a:lnSpc>
            </a:pPr>
            <a:r>
              <a:rPr lang="zh-CN" altLang="en-US" sz="2200" smtClean="0"/>
              <a:t>数据结构是算法实现的基础，设计一种算法时会构建适合于这种算法的数据结构；同时算法总是要依赖于某种数据结构实现。</a:t>
            </a:r>
            <a:endParaRPr lang="zh-CN" altLang="en-US" sz="2200" smtClean="0"/>
          </a:p>
        </p:txBody>
      </p:sp>
      <p:sp>
        <p:nvSpPr>
          <p:cNvPr id="24579"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90204" pitchFamily="34" charset="0"/>
                <a:ea typeface="宋体" pitchFamily="2" charset="-122"/>
              </a:defRPr>
            </a:lvl1pPr>
            <a:lvl2pPr marL="742950" indent="-285750">
              <a:defRPr>
                <a:solidFill>
                  <a:schemeClr val="tx1"/>
                </a:solidFill>
                <a:latin typeface="Arial" panose="020B0604020202090204" pitchFamily="34" charset="0"/>
                <a:ea typeface="宋体" pitchFamily="2" charset="-122"/>
              </a:defRPr>
            </a:lvl2pPr>
            <a:lvl3pPr marL="1143000" indent="-228600">
              <a:defRPr>
                <a:solidFill>
                  <a:schemeClr val="tx1"/>
                </a:solidFill>
                <a:latin typeface="Arial" panose="020B0604020202090204" pitchFamily="34" charset="0"/>
                <a:ea typeface="宋体" pitchFamily="2" charset="-122"/>
              </a:defRPr>
            </a:lvl3pPr>
            <a:lvl4pPr marL="1600200" indent="-228600">
              <a:defRPr>
                <a:solidFill>
                  <a:schemeClr val="tx1"/>
                </a:solidFill>
                <a:latin typeface="Arial" panose="020B0604020202090204" pitchFamily="34" charset="0"/>
                <a:ea typeface="宋体" pitchFamily="2" charset="-122"/>
              </a:defRPr>
            </a:lvl4pPr>
            <a:lvl5pPr marL="2057400" indent="-22860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r>
              <a:rPr lang="en-US" altLang="zh-CN" smtClean="0"/>
              <a:t>Algorithms Design Techniques and Analysis</a:t>
            </a:r>
            <a:endParaRPr lang="en-US" altLang="zh-CN" smtClean="0"/>
          </a:p>
        </p:txBody>
      </p:sp>
      <p:sp>
        <p:nvSpPr>
          <p:cNvPr id="6" name="Rectangle 2"/>
          <p:cNvSpPr>
            <a:spLocks noGrp="1" noChangeArrowheads="1"/>
          </p:cNvSpPr>
          <p:nvPr>
            <p:ph type="title"/>
          </p:nvPr>
        </p:nvSpPr>
        <p:spPr/>
        <p:txBody>
          <a:bodyPr/>
          <a:lstStyle/>
          <a:p>
            <a:pPr eaLnBrk="1" hangingPunct="1">
              <a:defRPr/>
            </a:pPr>
            <a:r>
              <a:rPr lang="en-US" altLang="zh-CN" dirty="0" smtClean="0">
                <a:latin typeface="+mn-ea"/>
              </a:rPr>
              <a:t>1.1.6 </a:t>
            </a:r>
            <a:r>
              <a:rPr lang="zh-CN" altLang="en-US" dirty="0" smtClean="0">
                <a:latin typeface="+mn-ea"/>
              </a:rPr>
              <a:t>算法与数据结构的关系</a:t>
            </a:r>
            <a:endParaRPr lang="zh-CN" altLang="en-US" dirty="0" smtClean="0">
              <a:latin typeface="+mn-ea"/>
            </a:endParaRPr>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11267" name="Rectangle 2"/>
          <p:cNvSpPr>
            <a:spLocks noGrp="1" noChangeArrowheads="1"/>
          </p:cNvSpPr>
          <p:nvPr>
            <p:ph type="title"/>
          </p:nvPr>
        </p:nvSpPr>
        <p:spPr/>
        <p:txBody>
          <a:bodyPr/>
          <a:lstStyle/>
          <a:p>
            <a:pPr eaLnBrk="1" hangingPunct="1"/>
            <a:r>
              <a:rPr lang="zh-CN" altLang="en-US" b="0" smtClean="0"/>
              <a:t>主要内容</a:t>
            </a:r>
            <a:endParaRPr lang="en-US" altLang="zh-CN" b="0" smtClean="0"/>
          </a:p>
        </p:txBody>
      </p:sp>
      <p:sp>
        <p:nvSpPr>
          <p:cNvPr id="8196" name="Rectangle 3"/>
          <p:cNvSpPr>
            <a:spLocks noGrp="1" noChangeArrowheads="1"/>
          </p:cNvSpPr>
          <p:nvPr>
            <p:ph type="body" idx="1"/>
          </p:nvPr>
        </p:nvSpPr>
        <p:spPr>
          <a:xfrm>
            <a:off x="962026" y="1883206"/>
            <a:ext cx="6210299" cy="2520117"/>
          </a:xfrm>
        </p:spPr>
        <p:txBody>
          <a:bodyPr/>
          <a:lstStyle/>
          <a:p>
            <a:pPr marL="0" lvl="1" indent="-419100" eaLnBrk="1" hangingPunct="1">
              <a:buFontTx/>
              <a:buNone/>
              <a:defRPr/>
            </a:pPr>
            <a:r>
              <a:rPr lang="en-US" altLang="zh-CN" sz="2400" dirty="0" smtClean="0">
                <a:latin typeface="+mn-ea"/>
                <a:ea typeface="+mn-ea"/>
              </a:rPr>
              <a:t>1.1</a:t>
            </a:r>
            <a:r>
              <a:rPr lang="zh-CN" altLang="en-US" sz="2400" dirty="0" smtClean="0">
                <a:latin typeface="+mn-ea"/>
                <a:ea typeface="+mn-ea"/>
              </a:rPr>
              <a:t>算法的基本概念</a:t>
            </a:r>
            <a:endParaRPr lang="en-US" altLang="zh-CN" sz="2400" dirty="0" smtClean="0">
              <a:latin typeface="+mn-ea"/>
              <a:ea typeface="+mn-ea"/>
            </a:endParaRPr>
          </a:p>
          <a:p>
            <a:pPr marL="0" lvl="1" indent="-419100" eaLnBrk="1" hangingPunct="1">
              <a:buNone/>
              <a:defRPr/>
            </a:pPr>
            <a:r>
              <a:rPr lang="en-US" altLang="zh-CN" sz="2800" b="1" u="sng" dirty="0">
                <a:latin typeface="+mn-ea"/>
                <a:ea typeface="+mn-ea"/>
              </a:rPr>
              <a:t>1.2</a:t>
            </a:r>
            <a:r>
              <a:rPr lang="zh-CN" altLang="en-US" sz="2800" b="1" u="sng" dirty="0">
                <a:latin typeface="+mn-ea"/>
                <a:ea typeface="+mn-ea"/>
              </a:rPr>
              <a:t>算法分析基础</a:t>
            </a:r>
            <a:endParaRPr lang="en-US" altLang="zh-CN" sz="2800" b="1" u="sng" dirty="0">
              <a:latin typeface="+mn-ea"/>
              <a:ea typeface="+mn-ea"/>
            </a:endParaRPr>
          </a:p>
          <a:p>
            <a:pPr marL="0" lvl="1" indent="-419100" eaLnBrk="1" hangingPunct="1">
              <a:buFontTx/>
              <a:buNone/>
              <a:defRPr/>
            </a:pPr>
            <a:r>
              <a:rPr lang="en-US" altLang="zh-CN" sz="2400" dirty="0">
                <a:latin typeface="+mn-ea"/>
                <a:ea typeface="+mn-ea"/>
              </a:rPr>
              <a:t>1.3</a:t>
            </a:r>
            <a:r>
              <a:rPr lang="zh-CN" altLang="en-US" sz="2400" dirty="0">
                <a:latin typeface="+mn-ea"/>
                <a:ea typeface="+mn-ea"/>
              </a:rPr>
              <a:t>算法分析常用的数学</a:t>
            </a:r>
            <a:r>
              <a:rPr lang="zh-CN" altLang="en-US" sz="2400" dirty="0" smtClean="0">
                <a:latin typeface="+mn-ea"/>
                <a:ea typeface="+mn-ea"/>
              </a:rPr>
              <a:t>知识</a:t>
            </a:r>
            <a:endParaRPr lang="en-US" altLang="zh-CN" sz="2400" dirty="0" smtClean="0">
              <a:latin typeface="+mn-ea"/>
              <a:ea typeface="+mn-ea"/>
            </a:endParaRPr>
          </a:p>
          <a:p>
            <a:pPr marL="0" lvl="1" indent="-419100" eaLnBrk="1" hangingPunct="1">
              <a:buFontTx/>
              <a:buNone/>
              <a:defRPr/>
            </a:pPr>
            <a:r>
              <a:rPr lang="en-US" altLang="zh-CN" sz="2400" dirty="0">
                <a:latin typeface="+mn-ea"/>
                <a:ea typeface="+mn-ea"/>
              </a:rPr>
              <a:t>1.4</a:t>
            </a:r>
            <a:r>
              <a:rPr lang="zh-CN" altLang="en-US" sz="2400" dirty="0">
                <a:latin typeface="+mn-ea"/>
                <a:ea typeface="+mn-ea"/>
              </a:rPr>
              <a:t>数据结构的表示、操作算法及分析</a:t>
            </a:r>
            <a:endParaRPr lang="zh-CN" altLang="en-US" sz="2400" dirty="0" smtClean="0">
              <a:latin typeface="+mn-ea"/>
              <a:ea typeface="+mn-ea"/>
            </a:endParaRPr>
          </a:p>
        </p:txBody>
      </p:sp>
      <p:pic>
        <p:nvPicPr>
          <p:cNvPr id="11269" name="Picture 4" descr="j0195384"/>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5940425" y="260350"/>
            <a:ext cx="1231900" cy="1257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11267" name="Rectangle 2"/>
          <p:cNvSpPr>
            <a:spLocks noGrp="1" noChangeArrowheads="1"/>
          </p:cNvSpPr>
          <p:nvPr>
            <p:ph type="title"/>
          </p:nvPr>
        </p:nvSpPr>
        <p:spPr/>
        <p:txBody>
          <a:bodyPr/>
          <a:lstStyle/>
          <a:p>
            <a:pPr eaLnBrk="1" hangingPunct="1"/>
            <a:r>
              <a:rPr lang="zh-CN" altLang="en-US" b="0" dirty="0" smtClean="0"/>
              <a:t>主要内容</a:t>
            </a:r>
            <a:endParaRPr lang="en-US" altLang="zh-CN" b="0" dirty="0" smtClean="0"/>
          </a:p>
        </p:txBody>
      </p:sp>
      <p:sp>
        <p:nvSpPr>
          <p:cNvPr id="8196" name="Rectangle 3"/>
          <p:cNvSpPr>
            <a:spLocks noGrp="1" noChangeArrowheads="1"/>
          </p:cNvSpPr>
          <p:nvPr>
            <p:ph type="body" idx="1"/>
          </p:nvPr>
        </p:nvSpPr>
        <p:spPr>
          <a:xfrm>
            <a:off x="900113" y="1279525"/>
            <a:ext cx="7786687" cy="4525963"/>
          </a:xfrm>
        </p:spPr>
        <p:txBody>
          <a:bodyPr/>
          <a:lstStyle/>
          <a:p>
            <a:pPr marL="0" lvl="1" indent="-419100" eaLnBrk="1" hangingPunct="1">
              <a:buFontTx/>
              <a:buNone/>
              <a:defRPr/>
            </a:pPr>
            <a:r>
              <a:rPr lang="en-US" altLang="zh-CN" sz="2400" dirty="0">
                <a:latin typeface="+mn-ea"/>
                <a:ea typeface="+mn-ea"/>
              </a:rPr>
              <a:t>1.2</a:t>
            </a:r>
            <a:r>
              <a:rPr lang="zh-CN" altLang="en-US" sz="2400" dirty="0">
                <a:latin typeface="+mn-ea"/>
                <a:ea typeface="+mn-ea"/>
              </a:rPr>
              <a:t>算法分析基础</a:t>
            </a:r>
            <a:endParaRPr lang="zh-CN" altLang="en-US" sz="2400" dirty="0">
              <a:latin typeface="+mn-ea"/>
              <a:ea typeface="+mn-ea"/>
            </a:endParaRPr>
          </a:p>
          <a:p>
            <a:pPr marL="0" lvl="1" indent="419100" eaLnBrk="1" hangingPunct="1">
              <a:buFontTx/>
              <a:buNone/>
              <a:defRPr/>
            </a:pPr>
            <a:r>
              <a:rPr lang="en-US" altLang="zh-CN" sz="2400" dirty="0" smtClean="0">
                <a:latin typeface="+mn-ea"/>
                <a:ea typeface="+mn-ea"/>
              </a:rPr>
              <a:t>1.2.1 </a:t>
            </a:r>
            <a:r>
              <a:rPr lang="zh-CN" altLang="en-US" sz="2400" dirty="0">
                <a:latin typeface="+mn-ea"/>
                <a:ea typeface="+mn-ea"/>
              </a:rPr>
              <a:t>算法分析的目的</a:t>
            </a:r>
            <a:endParaRPr lang="zh-CN" altLang="en-US" sz="2400" dirty="0">
              <a:latin typeface="+mn-ea"/>
              <a:ea typeface="+mn-ea"/>
            </a:endParaRPr>
          </a:p>
          <a:p>
            <a:pPr marL="0" lvl="1" indent="419100" eaLnBrk="1" hangingPunct="1">
              <a:buFontTx/>
              <a:buNone/>
              <a:defRPr/>
            </a:pPr>
            <a:r>
              <a:rPr lang="en-US" altLang="zh-CN" sz="2400" dirty="0">
                <a:latin typeface="+mn-ea"/>
                <a:ea typeface="+mn-ea"/>
              </a:rPr>
              <a:t>1.2.2 </a:t>
            </a:r>
            <a:r>
              <a:rPr lang="zh-CN" altLang="en-US" sz="2400" dirty="0">
                <a:latin typeface="+mn-ea"/>
                <a:ea typeface="+mn-ea"/>
              </a:rPr>
              <a:t>算法分析的基本方法</a:t>
            </a:r>
            <a:endParaRPr lang="zh-CN" altLang="en-US" sz="2400" dirty="0">
              <a:latin typeface="+mn-ea"/>
              <a:ea typeface="+mn-ea"/>
            </a:endParaRPr>
          </a:p>
          <a:p>
            <a:pPr marL="0" lvl="1" indent="419100" eaLnBrk="1" hangingPunct="1">
              <a:buFontTx/>
              <a:buNone/>
              <a:defRPr/>
            </a:pPr>
            <a:r>
              <a:rPr lang="en-US" altLang="zh-CN" sz="2400" dirty="0">
                <a:latin typeface="+mn-ea"/>
                <a:ea typeface="+mn-ea"/>
              </a:rPr>
              <a:t>1.2.3 </a:t>
            </a:r>
            <a:r>
              <a:rPr lang="zh-CN" altLang="en-US" sz="2400" dirty="0">
                <a:latin typeface="+mn-ea"/>
                <a:ea typeface="+mn-ea"/>
              </a:rPr>
              <a:t>时间复杂度</a:t>
            </a:r>
            <a:endParaRPr lang="zh-CN" altLang="en-US" sz="2400" dirty="0">
              <a:latin typeface="+mn-ea"/>
              <a:ea typeface="+mn-ea"/>
            </a:endParaRPr>
          </a:p>
          <a:p>
            <a:pPr marL="0" lvl="1" indent="419100" eaLnBrk="1" hangingPunct="1">
              <a:buFontTx/>
              <a:buNone/>
              <a:defRPr/>
            </a:pPr>
            <a:r>
              <a:rPr lang="en-US" altLang="zh-CN" sz="2400" dirty="0">
                <a:latin typeface="+mn-ea"/>
                <a:ea typeface="+mn-ea"/>
              </a:rPr>
              <a:t>1.2.4 </a:t>
            </a:r>
            <a:r>
              <a:rPr lang="zh-CN" altLang="en-US" sz="2400" dirty="0">
                <a:latin typeface="+mn-ea"/>
                <a:ea typeface="+mn-ea"/>
              </a:rPr>
              <a:t>空间复杂度</a:t>
            </a:r>
            <a:endParaRPr lang="zh-CN" altLang="en-US" sz="2400" dirty="0">
              <a:latin typeface="+mn-ea"/>
              <a:ea typeface="+mn-ea"/>
            </a:endParaRPr>
          </a:p>
          <a:p>
            <a:pPr marL="0" lvl="1" indent="419100" eaLnBrk="1" hangingPunct="1">
              <a:buFontTx/>
              <a:buNone/>
              <a:defRPr/>
            </a:pPr>
            <a:r>
              <a:rPr lang="en-US" altLang="zh-CN" sz="2400" dirty="0" smtClean="0">
                <a:latin typeface="+mn-ea"/>
                <a:ea typeface="+mn-ea"/>
              </a:rPr>
              <a:t>1.2.5 </a:t>
            </a:r>
            <a:r>
              <a:rPr lang="zh-CN" altLang="en-US" sz="2400" dirty="0">
                <a:latin typeface="+mn-ea"/>
                <a:ea typeface="+mn-ea"/>
              </a:rPr>
              <a:t>什么是最优算法</a:t>
            </a:r>
            <a:endParaRPr lang="zh-CN" altLang="en-US" sz="2400" dirty="0">
              <a:latin typeface="+mn-ea"/>
              <a:ea typeface="+mn-ea"/>
            </a:endParaRPr>
          </a:p>
          <a:p>
            <a:pPr marL="0" lvl="1" indent="419100" eaLnBrk="1" hangingPunct="1">
              <a:buFontTx/>
              <a:buNone/>
              <a:defRPr/>
            </a:pPr>
            <a:r>
              <a:rPr lang="en-US" altLang="zh-CN" sz="2400" dirty="0" smtClean="0">
                <a:latin typeface="+mn-ea"/>
                <a:ea typeface="+mn-ea"/>
              </a:rPr>
              <a:t>1.2.6 </a:t>
            </a:r>
            <a:r>
              <a:rPr lang="zh-CN" altLang="en-US" sz="2400" dirty="0">
                <a:latin typeface="+mn-ea"/>
                <a:ea typeface="+mn-ea"/>
              </a:rPr>
              <a:t>算法正确性证明方法</a:t>
            </a:r>
            <a:endParaRPr lang="zh-CN" altLang="en-US" sz="2400" dirty="0" smtClean="0">
              <a:latin typeface="+mn-ea"/>
              <a:ea typeface="+mn-ea"/>
            </a:endParaRPr>
          </a:p>
        </p:txBody>
      </p:sp>
      <p:pic>
        <p:nvPicPr>
          <p:cNvPr id="11269" name="Picture 4" descr="j0195384"/>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5940425" y="260350"/>
            <a:ext cx="1231900" cy="1257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smtClean="0">
                <a:latin typeface="+mn-ea"/>
              </a:rPr>
              <a:t>1.2.1 </a:t>
            </a:r>
            <a:r>
              <a:rPr lang="zh-CN" altLang="en-US" dirty="0">
                <a:latin typeface="+mn-ea"/>
              </a:rPr>
              <a:t>算法分析的</a:t>
            </a:r>
            <a:r>
              <a:rPr lang="zh-CN" altLang="en-US" dirty="0" smtClean="0">
                <a:latin typeface="+mn-ea"/>
              </a:rPr>
              <a:t>目的</a:t>
            </a:r>
            <a:endParaRPr lang="zh-CN" altLang="en-US" dirty="0"/>
          </a:p>
        </p:txBody>
      </p:sp>
      <p:sp>
        <p:nvSpPr>
          <p:cNvPr id="3" name="内容占位符 2"/>
          <p:cNvSpPr>
            <a:spLocks noGrp="1"/>
          </p:cNvSpPr>
          <p:nvPr>
            <p:ph idx="1"/>
          </p:nvPr>
        </p:nvSpPr>
        <p:spPr/>
        <p:txBody>
          <a:bodyPr/>
          <a:lstStyle/>
          <a:p>
            <a:pPr latinLnBrk="1">
              <a:lnSpc>
                <a:spcPct val="150000"/>
              </a:lnSpc>
            </a:pPr>
            <a:r>
              <a:rPr lang="zh-CN" altLang="en-US" b="1" dirty="0"/>
              <a:t>算法分析</a:t>
            </a:r>
            <a:r>
              <a:rPr lang="zh-CN" altLang="en-US" dirty="0"/>
              <a:t>是对一个算法需要多少计算时间和存储空间作定量的分析</a:t>
            </a:r>
            <a:r>
              <a:rPr lang="zh-CN" altLang="en-US" dirty="0" smtClean="0"/>
              <a:t>。</a:t>
            </a:r>
            <a:r>
              <a:rPr lang="zh-CN" altLang="en-US" dirty="0"/>
              <a:t>一般计算出相应的数量级，常用时间复杂度和空间复杂度</a:t>
            </a:r>
            <a:r>
              <a:rPr lang="zh-CN" altLang="en-US" dirty="0" smtClean="0"/>
              <a:t>表示。</a:t>
            </a:r>
            <a:endParaRPr lang="en-US" altLang="zh-CN" dirty="0" smtClean="0"/>
          </a:p>
          <a:p>
            <a:pPr latinLnBrk="1">
              <a:lnSpc>
                <a:spcPct val="150000"/>
              </a:lnSpc>
            </a:pPr>
            <a:r>
              <a:rPr lang="zh-CN" altLang="en-US" b="1" dirty="0" smtClean="0"/>
              <a:t>目的</a:t>
            </a:r>
            <a:r>
              <a:rPr lang="zh-CN" altLang="en-US" dirty="0"/>
              <a:t>是评价算法的</a:t>
            </a:r>
            <a:r>
              <a:rPr lang="zh-CN" altLang="en-US" dirty="0" smtClean="0"/>
              <a:t>效率以求改进。要</a:t>
            </a:r>
            <a:r>
              <a:rPr lang="zh-CN" altLang="en-US" dirty="0"/>
              <a:t>降低算法的时间复杂度和空间复杂度，提高算法的执行</a:t>
            </a:r>
            <a:r>
              <a:rPr lang="zh-CN" altLang="en-US" dirty="0" smtClean="0"/>
              <a:t>效率。</a:t>
            </a:r>
            <a:endParaRPr lang="zh-CN" altLang="en-US" dirty="0"/>
          </a:p>
          <a:p>
            <a:pPr marL="0" indent="0">
              <a:buNone/>
            </a:pPr>
            <a:endParaRPr lang="zh-CN" altLang="en-US" dirty="0"/>
          </a:p>
        </p:txBody>
      </p:sp>
      <p:sp>
        <p:nvSpPr>
          <p:cNvPr id="4" name="页脚占位符 3"/>
          <p:cNvSpPr>
            <a:spLocks noGrp="1"/>
          </p:cNvSpPr>
          <p:nvPr>
            <p:ph type="ftr" sz="quarter" idx="10"/>
          </p:nvPr>
        </p:nvSpPr>
        <p:spPr/>
        <p:txBody>
          <a:bodyPr/>
          <a:lstStyle/>
          <a:p>
            <a:pPr>
              <a:defRPr/>
            </a:pPr>
            <a:r>
              <a:rPr lang="en-US" altLang="zh-CN" smtClean="0"/>
              <a:t>Algorithms Design Techniques and Analysis</a:t>
            </a:r>
            <a:endParaRPr lang="en-US" altLang="zh-CN"/>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latin typeface="+mn-ea"/>
              </a:rPr>
              <a:t>1.2.2 </a:t>
            </a:r>
            <a:r>
              <a:rPr lang="zh-CN" altLang="en-US" dirty="0">
                <a:latin typeface="+mn-ea"/>
              </a:rPr>
              <a:t>算法分析的基本</a:t>
            </a:r>
            <a:r>
              <a:rPr lang="zh-CN" altLang="en-US" dirty="0" smtClean="0">
                <a:latin typeface="+mn-ea"/>
              </a:rPr>
              <a:t>方法</a:t>
            </a:r>
            <a:endParaRPr lang="zh-CN" altLang="en-US" dirty="0"/>
          </a:p>
        </p:txBody>
      </p:sp>
      <p:sp>
        <p:nvSpPr>
          <p:cNvPr id="3" name="内容占位符 2"/>
          <p:cNvSpPr>
            <a:spLocks noGrp="1"/>
          </p:cNvSpPr>
          <p:nvPr>
            <p:ph idx="1"/>
          </p:nvPr>
        </p:nvSpPr>
        <p:spPr/>
        <p:txBody>
          <a:bodyPr/>
          <a:lstStyle/>
          <a:p>
            <a:pPr marL="0" indent="0" eaLnBrk="1" hangingPunct="1">
              <a:defRPr/>
            </a:pPr>
            <a:r>
              <a:rPr lang="zh-CN" altLang="en-US" dirty="0">
                <a:solidFill>
                  <a:srgbClr val="FF0000"/>
                </a:solidFill>
              </a:rPr>
              <a:t>事前分析</a:t>
            </a:r>
            <a:r>
              <a:rPr lang="zh-CN" altLang="en-US" dirty="0"/>
              <a:t>：就算法本身，通过对其执行性能的理论分析，得出关于算法特性</a:t>
            </a:r>
            <a:r>
              <a:rPr lang="en-US" altLang="zh-CN" dirty="0"/>
              <a:t>——</a:t>
            </a:r>
            <a:r>
              <a:rPr lang="zh-CN" altLang="en-US" dirty="0"/>
              <a:t>时间和空间的一个特征函数（</a:t>
            </a:r>
            <a:r>
              <a:rPr lang="el-GR" altLang="zh-CN" dirty="0"/>
              <a:t>Ο</a:t>
            </a:r>
            <a:r>
              <a:rPr lang="zh-CN" altLang="el-GR" dirty="0"/>
              <a:t>、</a:t>
            </a:r>
            <a:r>
              <a:rPr lang="el-GR" altLang="zh-CN" dirty="0"/>
              <a:t>Ω</a:t>
            </a:r>
            <a:r>
              <a:rPr lang="zh-CN" altLang="el-GR" dirty="0"/>
              <a:t>）</a:t>
            </a:r>
            <a:r>
              <a:rPr lang="en-US" altLang="zh-CN" dirty="0"/>
              <a:t>——</a:t>
            </a:r>
            <a:r>
              <a:rPr lang="zh-CN" altLang="en-US" dirty="0"/>
              <a:t>与计算机软硬件没有直接关系。</a:t>
            </a:r>
            <a:endParaRPr lang="en-US" altLang="zh-CN" dirty="0"/>
          </a:p>
          <a:p>
            <a:pPr marL="0" indent="0" eaLnBrk="1" hangingPunct="1">
              <a:defRPr/>
            </a:pPr>
            <a:endParaRPr lang="zh-CN" altLang="en-US" dirty="0"/>
          </a:p>
          <a:p>
            <a:pPr marL="0" indent="0" eaLnBrk="1" hangingPunct="1">
              <a:defRPr/>
            </a:pPr>
            <a:r>
              <a:rPr lang="zh-CN" altLang="en-US" dirty="0">
                <a:solidFill>
                  <a:srgbClr val="FF0000"/>
                </a:solidFill>
              </a:rPr>
              <a:t>事后测试</a:t>
            </a:r>
            <a:r>
              <a:rPr lang="zh-CN" altLang="en-US" dirty="0"/>
              <a:t>：将算法编制成程序后放到计算机上运行，收集其执行时间和空间占用等统计资料，进行分析判断</a:t>
            </a:r>
            <a:r>
              <a:rPr lang="en-US" altLang="zh-CN" dirty="0"/>
              <a:t>——</a:t>
            </a:r>
            <a:r>
              <a:rPr lang="zh-CN" altLang="en-US" dirty="0"/>
              <a:t>直接与物理实现有关。</a:t>
            </a:r>
            <a:endParaRPr lang="zh-CN" altLang="en-US" dirty="0"/>
          </a:p>
          <a:p>
            <a:pPr>
              <a:spcBef>
                <a:spcPct val="50000"/>
              </a:spcBef>
              <a:defRPr/>
            </a:pPr>
            <a:endParaRPr lang="zh-CN" altLang="en-US" dirty="0"/>
          </a:p>
          <a:p>
            <a:endParaRPr lang="zh-CN" altLang="en-US" dirty="0"/>
          </a:p>
        </p:txBody>
      </p:sp>
      <p:sp>
        <p:nvSpPr>
          <p:cNvPr id="4" name="页脚占位符 3"/>
          <p:cNvSpPr>
            <a:spLocks noGrp="1"/>
          </p:cNvSpPr>
          <p:nvPr>
            <p:ph type="ftr" sz="quarter" idx="10"/>
          </p:nvPr>
        </p:nvSpPr>
        <p:spPr/>
        <p:txBody>
          <a:bodyPr/>
          <a:lstStyle/>
          <a:p>
            <a:pPr>
              <a:defRPr/>
            </a:pPr>
            <a:r>
              <a:rPr lang="en-US" altLang="zh-CN" smtClean="0"/>
              <a:t>Algorithms Design Techniques and Analysis</a:t>
            </a:r>
            <a:endParaRPr lang="en-US" altLang="zh-CN"/>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48131" name="Rectangle 2"/>
          <p:cNvSpPr>
            <a:spLocks noGrp="1" noChangeArrowheads="1"/>
          </p:cNvSpPr>
          <p:nvPr>
            <p:ph type="title"/>
          </p:nvPr>
        </p:nvSpPr>
        <p:spPr/>
        <p:txBody>
          <a:bodyPr/>
          <a:lstStyle/>
          <a:p>
            <a:pPr eaLnBrk="1" hangingPunct="1"/>
            <a:r>
              <a:rPr lang="en-US" altLang="zh-CN" dirty="0">
                <a:latin typeface="+mn-ea"/>
              </a:rPr>
              <a:t>1.2.3 </a:t>
            </a:r>
            <a:r>
              <a:rPr lang="zh-CN" altLang="en-US" dirty="0">
                <a:latin typeface="+mn-ea"/>
              </a:rPr>
              <a:t>时间复杂度</a:t>
            </a:r>
            <a:endParaRPr lang="en-US" altLang="zh-CN" dirty="0" smtClean="0"/>
          </a:p>
        </p:txBody>
      </p:sp>
      <p:sp>
        <p:nvSpPr>
          <p:cNvPr id="48132" name="Rectangle 3"/>
          <p:cNvSpPr>
            <a:spLocks noGrp="1" noChangeArrowheads="1"/>
          </p:cNvSpPr>
          <p:nvPr>
            <p:ph type="body" idx="1"/>
          </p:nvPr>
        </p:nvSpPr>
        <p:spPr/>
        <p:txBody>
          <a:bodyPr/>
          <a:lstStyle/>
          <a:p>
            <a:pPr eaLnBrk="1" hangingPunct="1">
              <a:defRPr/>
            </a:pPr>
            <a:r>
              <a:rPr lang="zh-CN" altLang="en-US" dirty="0" smtClean="0"/>
              <a:t>实际上，</a:t>
            </a:r>
            <a:r>
              <a:rPr lang="zh-CN" dirty="0" smtClean="0"/>
              <a:t>我们</a:t>
            </a:r>
            <a:r>
              <a:rPr lang="zh-CN" dirty="0" smtClean="0">
                <a:solidFill>
                  <a:srgbClr val="FF0000"/>
                </a:solidFill>
              </a:rPr>
              <a:t>不需要精确</a:t>
            </a:r>
            <a:r>
              <a:rPr lang="zh-CN" dirty="0" smtClean="0"/>
              <a:t>的时间评估算法的效率，我们感兴趣的是</a:t>
            </a:r>
            <a:r>
              <a:rPr lang="zh-CN" altLang="en-US" dirty="0" smtClean="0"/>
              <a:t>输入数据量很大情况下</a:t>
            </a:r>
            <a:r>
              <a:rPr lang="zh-CN" dirty="0" smtClean="0"/>
              <a:t>的运行时间，</a:t>
            </a:r>
            <a:r>
              <a:rPr lang="zh-CN" altLang="en-US" dirty="0" smtClean="0"/>
              <a:t>因此，通常</a:t>
            </a:r>
            <a:r>
              <a:rPr lang="zh-CN" dirty="0" smtClean="0"/>
              <a:t>我们使用</a:t>
            </a:r>
            <a:r>
              <a:rPr lang="zh-CN" altLang="en-US" dirty="0" smtClean="0"/>
              <a:t>运行时间的</a:t>
            </a:r>
            <a:r>
              <a:rPr lang="zh-CN" dirty="0" smtClean="0"/>
              <a:t>增长</a:t>
            </a:r>
            <a:r>
              <a:rPr lang="zh-CN" altLang="en-US" dirty="0" smtClean="0"/>
              <a:t>速率和</a:t>
            </a:r>
            <a:r>
              <a:rPr lang="zh-CN" dirty="0" smtClean="0"/>
              <a:t>或增长</a:t>
            </a:r>
            <a:r>
              <a:rPr lang="zh-CN" altLang="en-US" dirty="0" smtClean="0"/>
              <a:t>趋势来评估效率</a:t>
            </a:r>
            <a:r>
              <a:rPr lang="zh-CN" dirty="0" smtClean="0"/>
              <a:t>。</a:t>
            </a:r>
            <a:r>
              <a:rPr lang="en-US" altLang="zh-CN" dirty="0" smtClean="0"/>
              <a:t> </a:t>
            </a:r>
            <a:endParaRPr lang="en-US" altLang="zh-CN" dirty="0" smtClean="0"/>
          </a:p>
          <a:p>
            <a:pPr eaLnBrk="1" hangingPunct="1">
              <a:defRPr/>
            </a:pPr>
            <a:endParaRPr lang="en-US" altLang="zh-CN" dirty="0" smtClean="0"/>
          </a:p>
          <a:p>
            <a:pPr eaLnBrk="1" hangingPunct="1">
              <a:defRPr/>
            </a:pPr>
            <a:endParaRPr lang="en-US" altLang="zh-CN" sz="500" dirty="0" smtClean="0"/>
          </a:p>
          <a:p>
            <a:pPr lvl="1" eaLnBrk="1" hangingPunct="1">
              <a:defRPr/>
            </a:pPr>
            <a:r>
              <a:rPr lang="zh-CN" altLang="en-US" sz="2000" dirty="0" smtClean="0">
                <a:latin typeface="+mn-lt"/>
                <a:ea typeface="+mn-ea"/>
              </a:rPr>
              <a:t>例</a:t>
            </a:r>
            <a:r>
              <a:rPr lang="en-US" altLang="zh-CN" sz="2000" dirty="0" smtClean="0">
                <a:latin typeface="+mn-lt"/>
                <a:ea typeface="+mn-ea"/>
              </a:rPr>
              <a:t>: f(n)=n</a:t>
            </a:r>
            <a:r>
              <a:rPr lang="en-US" altLang="zh-CN" sz="2000" baseline="30000" dirty="0" smtClean="0">
                <a:latin typeface="+mn-lt"/>
                <a:ea typeface="+mn-ea"/>
              </a:rPr>
              <a:t>2</a:t>
            </a:r>
            <a:r>
              <a:rPr lang="en-US" altLang="zh-CN" sz="2000" dirty="0" smtClean="0">
                <a:latin typeface="+mn-lt"/>
                <a:ea typeface="+mn-ea"/>
              </a:rPr>
              <a:t>logn+10n</a:t>
            </a:r>
            <a:r>
              <a:rPr lang="en-US" altLang="zh-CN" sz="2000" baseline="30000" dirty="0" smtClean="0">
                <a:latin typeface="+mn-lt"/>
                <a:ea typeface="+mn-ea"/>
              </a:rPr>
              <a:t>2</a:t>
            </a:r>
            <a:r>
              <a:rPr lang="en-US" altLang="zh-CN" sz="2000" dirty="0" smtClean="0">
                <a:latin typeface="+mn-lt"/>
                <a:ea typeface="+mn-ea"/>
              </a:rPr>
              <a:t>+n, </a:t>
            </a:r>
            <a:r>
              <a:rPr lang="zh-CN" altLang="en-US" sz="2000" dirty="0" smtClean="0">
                <a:latin typeface="+mn-lt"/>
                <a:ea typeface="+mn-ea"/>
              </a:rPr>
              <a:t>运行时间</a:t>
            </a:r>
            <a:r>
              <a:rPr lang="en-US" altLang="zh-CN" sz="2000" dirty="0" smtClean="0">
                <a:latin typeface="+mn-lt"/>
                <a:ea typeface="+mn-ea"/>
              </a:rPr>
              <a:t>f(n)</a:t>
            </a:r>
            <a:r>
              <a:rPr lang="zh-CN" altLang="en-US" sz="2000" dirty="0" smtClean="0">
                <a:latin typeface="+mn-lt"/>
                <a:ea typeface="+mn-ea"/>
              </a:rPr>
              <a:t>是一个基于</a:t>
            </a:r>
            <a:r>
              <a:rPr lang="en-US" altLang="zh-CN" sz="2000" dirty="0" smtClean="0">
                <a:latin typeface="+mn-lt"/>
                <a:ea typeface="+mn-ea"/>
              </a:rPr>
              <a:t>n</a:t>
            </a:r>
            <a:r>
              <a:rPr lang="en-US" altLang="zh-CN" sz="2000" baseline="30000" dirty="0" smtClean="0">
                <a:latin typeface="+mn-lt"/>
                <a:ea typeface="+mn-ea"/>
              </a:rPr>
              <a:t>2</a:t>
            </a:r>
            <a:r>
              <a:rPr lang="en-US" altLang="zh-CN" sz="2000" dirty="0" smtClean="0">
                <a:latin typeface="+mn-lt"/>
                <a:ea typeface="+mn-ea"/>
              </a:rPr>
              <a:t>logn</a:t>
            </a:r>
            <a:r>
              <a:rPr lang="zh-CN" altLang="en-US" sz="2000" dirty="0" smtClean="0">
                <a:latin typeface="+mn-lt"/>
                <a:ea typeface="+mn-ea"/>
              </a:rPr>
              <a:t>增长的趋势</a:t>
            </a:r>
            <a:r>
              <a:rPr lang="en-US" altLang="zh-CN" sz="2000" dirty="0" smtClean="0">
                <a:latin typeface="+mn-lt"/>
                <a:ea typeface="+mn-ea"/>
              </a:rPr>
              <a:t>.</a:t>
            </a:r>
            <a:endParaRPr lang="en-US" altLang="zh-CN" sz="2000" dirty="0" smtClean="0">
              <a:latin typeface="+mn-lt"/>
              <a:ea typeface="+mn-ea"/>
            </a:endParaRPr>
          </a:p>
          <a:p>
            <a:pPr lvl="1" eaLnBrk="1" hangingPunct="1">
              <a:defRPr/>
            </a:pPr>
            <a:endParaRPr lang="en-US" altLang="zh-CN" sz="500" dirty="0" smtClean="0">
              <a:latin typeface="Arial" panose="020B0604020202090204" pitchFamily="34" charset="0"/>
            </a:endParaRPr>
          </a:p>
          <a:p>
            <a:pPr eaLnBrk="1" hangingPunct="1">
              <a:defRPr/>
            </a:pPr>
            <a:r>
              <a:rPr lang="zh-CN" altLang="en-US" sz="2400" dirty="0" smtClean="0"/>
              <a:t>当</a:t>
            </a:r>
            <a:r>
              <a:rPr lang="zh-CN" sz="2400" dirty="0" smtClean="0"/>
              <a:t>我们</a:t>
            </a:r>
            <a:r>
              <a:rPr lang="zh-CN" altLang="en-US" sz="2400" dirty="0" smtClean="0"/>
              <a:t>设置了</a:t>
            </a:r>
            <a:r>
              <a:rPr lang="zh-CN" sz="2400" dirty="0" smtClean="0"/>
              <a:t>一个</a:t>
            </a:r>
            <a:r>
              <a:rPr lang="zh-CN" altLang="en-US" sz="2400" dirty="0" smtClean="0">
                <a:solidFill>
                  <a:srgbClr val="FF0000"/>
                </a:solidFill>
              </a:rPr>
              <a:t>包含</a:t>
            </a:r>
            <a:r>
              <a:rPr lang="zh-CN" sz="2400" dirty="0" smtClean="0">
                <a:solidFill>
                  <a:srgbClr val="FF0000"/>
                </a:solidFill>
              </a:rPr>
              <a:t>低阶项和</a:t>
            </a:r>
            <a:r>
              <a:rPr lang="zh-CN" altLang="en-US" sz="2400" dirty="0" smtClean="0">
                <a:solidFill>
                  <a:srgbClr val="FF0000"/>
                </a:solidFill>
              </a:rPr>
              <a:t>常量</a:t>
            </a:r>
            <a:r>
              <a:rPr lang="zh-CN" sz="2400" dirty="0" smtClean="0">
                <a:solidFill>
                  <a:srgbClr val="FF0000"/>
                </a:solidFill>
              </a:rPr>
              <a:t>的函数</a:t>
            </a:r>
            <a:r>
              <a:rPr lang="zh-CN" sz="2400" dirty="0" smtClean="0"/>
              <a:t>，</a:t>
            </a:r>
            <a:r>
              <a:rPr lang="zh-CN" altLang="en-US" sz="2400" dirty="0" smtClean="0"/>
              <a:t>用</a:t>
            </a:r>
            <a:r>
              <a:rPr lang="zh-CN" sz="2400" dirty="0" smtClean="0"/>
              <a:t>它</a:t>
            </a:r>
            <a:r>
              <a:rPr lang="zh-CN" altLang="en-US" sz="2400" dirty="0" smtClean="0"/>
              <a:t>来</a:t>
            </a:r>
            <a:r>
              <a:rPr lang="zh-CN" sz="2400" dirty="0" smtClean="0"/>
              <a:t>表示一个算法的运行时间，</a:t>
            </a:r>
            <a:r>
              <a:rPr lang="zh-CN" altLang="en-US" sz="2400" dirty="0" smtClean="0"/>
              <a:t>此时可以说</a:t>
            </a:r>
            <a:r>
              <a:rPr lang="zh-CN" sz="2400" dirty="0" smtClean="0"/>
              <a:t>，我们</a:t>
            </a:r>
            <a:r>
              <a:rPr lang="zh-CN" altLang="en-US" sz="2400" dirty="0" smtClean="0"/>
              <a:t>正在</a:t>
            </a:r>
            <a:r>
              <a:rPr lang="zh-CN" sz="2400" dirty="0" smtClean="0"/>
              <a:t>测量算法</a:t>
            </a:r>
            <a:r>
              <a:rPr lang="zh-CN" altLang="en-US" sz="2400" dirty="0" smtClean="0"/>
              <a:t>的</a:t>
            </a:r>
            <a:r>
              <a:rPr lang="zh-CN" sz="2400" dirty="0" smtClean="0"/>
              <a:t>渐近运行时间</a:t>
            </a:r>
            <a:r>
              <a:rPr lang="zh-CN" altLang="en-US" sz="2400" dirty="0" smtClean="0"/>
              <a:t>，也就是</a:t>
            </a:r>
            <a:r>
              <a:rPr lang="zh-CN" altLang="en-US" sz="2400" dirty="0" smtClean="0">
                <a:solidFill>
                  <a:srgbClr val="FF0000"/>
                </a:solidFill>
              </a:rPr>
              <a:t>渐进时间复杂度</a:t>
            </a:r>
            <a:r>
              <a:rPr lang="zh-CN" sz="2400" dirty="0" smtClean="0"/>
              <a:t>。</a:t>
            </a:r>
            <a:endParaRPr lang="en-US" altLang="zh-CN" sz="2400" dirty="0" smtClean="0"/>
          </a:p>
          <a:p>
            <a:pPr eaLnBrk="1" hangingPunct="1">
              <a:defRPr/>
            </a:pPr>
            <a:endParaRPr lang="en-US" altLang="zh-CN" sz="2200" dirty="0" smtClean="0"/>
          </a:p>
          <a:p>
            <a:pPr eaLnBrk="1" hangingPunct="1">
              <a:defRPr/>
            </a:pPr>
            <a:endParaRPr lang="en-US" altLang="zh-CN" sz="2200" dirty="0" smtClean="0"/>
          </a:p>
        </p:txBody>
      </p:sp>
      <p:pic>
        <p:nvPicPr>
          <p:cNvPr id="48133" name="Picture 4" descr="example"/>
          <p:cNvPicPr>
            <a:picLocks noChangeAspect="1" noChangeArrowheads="1" noCrop="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1331913" y="3357563"/>
            <a:ext cx="3429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49155" name="Rectangle 2"/>
          <p:cNvSpPr>
            <a:spLocks noGrp="1" noChangeArrowheads="1"/>
          </p:cNvSpPr>
          <p:nvPr>
            <p:ph type="title"/>
          </p:nvPr>
        </p:nvSpPr>
        <p:spPr/>
        <p:txBody>
          <a:bodyPr/>
          <a:lstStyle/>
          <a:p>
            <a:pPr eaLnBrk="1" hangingPunct="1"/>
            <a:r>
              <a:rPr lang="en-US" altLang="zh-CN" dirty="0">
                <a:latin typeface="+mn-ea"/>
              </a:rPr>
              <a:t>1.2.3 </a:t>
            </a:r>
            <a:r>
              <a:rPr lang="zh-CN" altLang="en-US" dirty="0">
                <a:latin typeface="+mn-ea"/>
              </a:rPr>
              <a:t>时间复杂</a:t>
            </a:r>
            <a:r>
              <a:rPr lang="zh-CN" altLang="en-US" dirty="0" smtClean="0">
                <a:latin typeface="+mn-ea"/>
              </a:rPr>
              <a:t>度</a:t>
            </a:r>
            <a:r>
              <a:rPr lang="en-US" altLang="zh-CN" dirty="0" smtClean="0">
                <a:latin typeface="+mn-ea"/>
              </a:rPr>
              <a:t>——</a:t>
            </a:r>
            <a:r>
              <a:rPr lang="zh-CN" altLang="en-US" dirty="0" smtClean="0"/>
              <a:t>基本操作</a:t>
            </a:r>
            <a:endParaRPr lang="en-US" altLang="zh-CN" dirty="0" smtClean="0"/>
          </a:p>
        </p:txBody>
      </p:sp>
      <p:sp>
        <p:nvSpPr>
          <p:cNvPr id="67587" name="Rectangle 3"/>
          <p:cNvSpPr>
            <a:spLocks noGrp="1" noChangeArrowheads="1"/>
          </p:cNvSpPr>
          <p:nvPr>
            <p:ph type="body" idx="1"/>
          </p:nvPr>
        </p:nvSpPr>
        <p:spPr/>
        <p:txBody>
          <a:bodyPr/>
          <a:lstStyle/>
          <a:p>
            <a:pPr eaLnBrk="1" hangingPunct="1">
              <a:defRPr/>
            </a:pPr>
            <a:r>
              <a:rPr lang="zh-CN" altLang="en-US" dirty="0" smtClean="0"/>
              <a:t>例子</a:t>
            </a:r>
            <a:r>
              <a:rPr lang="en-US" altLang="zh-CN" dirty="0" smtClean="0"/>
              <a:t>: </a:t>
            </a:r>
            <a:endParaRPr lang="en-US" altLang="zh-CN" dirty="0"/>
          </a:p>
          <a:p>
            <a:pPr marL="0" indent="0" eaLnBrk="1" hangingPunct="1">
              <a:buNone/>
              <a:defRPr/>
            </a:pPr>
            <a:r>
              <a:rPr lang="zh-CN" altLang="en-US" dirty="0" smtClean="0"/>
              <a:t>   </a:t>
            </a:r>
            <a:r>
              <a:rPr lang="en-US" altLang="zh-CN" dirty="0" smtClean="0"/>
              <a:t>	</a:t>
            </a:r>
            <a:r>
              <a:rPr lang="zh-CN" altLang="en-US" dirty="0" smtClean="0"/>
              <a:t>算术运算</a:t>
            </a:r>
            <a:r>
              <a:rPr lang="en-US" altLang="zh-CN" dirty="0"/>
              <a:t>: +, -, *, </a:t>
            </a:r>
            <a:r>
              <a:rPr lang="en-US" altLang="zh-CN" dirty="0" smtClean="0"/>
              <a:t>/</a:t>
            </a:r>
            <a:endParaRPr lang="en-US" altLang="zh-CN" dirty="0" smtClean="0"/>
          </a:p>
          <a:p>
            <a:pPr marL="0" indent="0" eaLnBrk="1" hangingPunct="1">
              <a:buNone/>
              <a:defRPr/>
            </a:pPr>
            <a:r>
              <a:rPr lang="en-US" altLang="zh-CN" dirty="0"/>
              <a:t>	</a:t>
            </a:r>
            <a:r>
              <a:rPr lang="zh-CN" altLang="en-US" dirty="0" smtClean="0"/>
              <a:t>比较</a:t>
            </a:r>
            <a:r>
              <a:rPr lang="zh-CN" altLang="en-US" dirty="0"/>
              <a:t>和逻辑运算：</a:t>
            </a:r>
            <a:r>
              <a:rPr lang="en-US" altLang="zh-CN" dirty="0"/>
              <a:t>=</a:t>
            </a:r>
            <a:r>
              <a:rPr lang="zh-CN" altLang="en-US" dirty="0"/>
              <a:t>，</a:t>
            </a:r>
            <a:r>
              <a:rPr lang="en-US" altLang="zh-CN" dirty="0"/>
              <a:t>&amp;</a:t>
            </a:r>
            <a:r>
              <a:rPr lang="zh-CN" altLang="en-US" dirty="0"/>
              <a:t>，</a:t>
            </a:r>
            <a:r>
              <a:rPr lang="en-US" altLang="zh-CN" dirty="0"/>
              <a:t>|</a:t>
            </a:r>
            <a:r>
              <a:rPr lang="zh-CN" altLang="en-US" dirty="0"/>
              <a:t>，</a:t>
            </a:r>
            <a:r>
              <a:rPr lang="en-US" altLang="zh-CN" dirty="0"/>
              <a:t>~</a:t>
            </a:r>
            <a:endParaRPr lang="en-US" altLang="zh-CN" dirty="0"/>
          </a:p>
          <a:p>
            <a:pPr marL="0" indent="0" eaLnBrk="1" hangingPunct="1">
              <a:buNone/>
              <a:defRPr/>
            </a:pPr>
            <a:r>
              <a:rPr lang="en-US" altLang="zh-CN" dirty="0" smtClean="0"/>
              <a:t>	</a:t>
            </a:r>
            <a:r>
              <a:rPr lang="zh-CN" altLang="en-US" dirty="0" smtClean="0"/>
              <a:t>分配</a:t>
            </a:r>
            <a:r>
              <a:rPr lang="zh-CN" altLang="en-US" dirty="0"/>
              <a:t>空间：</a:t>
            </a:r>
            <a:r>
              <a:rPr lang="en-US" altLang="zh-CN" dirty="0" smtClean="0"/>
              <a:t>new</a:t>
            </a:r>
            <a:endParaRPr lang="en-US" altLang="zh-CN" dirty="0" smtClean="0"/>
          </a:p>
          <a:p>
            <a:pPr marL="0" indent="0" eaLnBrk="1" hangingPunct="1">
              <a:buNone/>
              <a:defRPr/>
            </a:pPr>
            <a:endParaRPr lang="en-US" altLang="zh-CN" dirty="0" smtClean="0"/>
          </a:p>
          <a:p>
            <a:pPr eaLnBrk="1" hangingPunct="1">
              <a:defRPr/>
            </a:pPr>
            <a:r>
              <a:rPr lang="zh-CN" altLang="en-US" sz="2500" dirty="0" smtClean="0">
                <a:latin typeface="+mn-lt"/>
                <a:ea typeface="+mn-ea"/>
                <a:cs typeface="+mn-cs"/>
              </a:rPr>
              <a:t>基本操作由计算机在一</a:t>
            </a:r>
            <a:r>
              <a:rPr lang="zh-CN" altLang="en-US" sz="2500" dirty="0" smtClean="0">
                <a:solidFill>
                  <a:srgbClr val="FF0000"/>
                </a:solidFill>
                <a:latin typeface="+mn-lt"/>
                <a:ea typeface="+mn-ea"/>
                <a:cs typeface="+mn-cs"/>
              </a:rPr>
              <a:t>固定的执行时间</a:t>
            </a:r>
            <a:r>
              <a:rPr lang="zh-CN" altLang="en-US" sz="2500" dirty="0" smtClean="0">
                <a:latin typeface="+mn-lt"/>
                <a:ea typeface="+mn-ea"/>
                <a:cs typeface="+mn-cs"/>
              </a:rPr>
              <a:t>（不操过某一上界）内完成，基本操作与输入数据的长度或者使用何种算法无关。</a:t>
            </a:r>
            <a:endParaRPr lang="en-US" altLang="zh-CN" sz="2500" dirty="0" smtClean="0">
              <a:latin typeface="+mn-lt"/>
              <a:ea typeface="+mn-ea"/>
              <a:cs typeface="+mn-cs"/>
            </a:endParaRPr>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50179" name="Rectangle 2"/>
          <p:cNvSpPr>
            <a:spLocks noGrp="1" noChangeArrowheads="1"/>
          </p:cNvSpPr>
          <p:nvPr>
            <p:ph type="title"/>
          </p:nvPr>
        </p:nvSpPr>
        <p:spPr/>
        <p:txBody>
          <a:bodyPr/>
          <a:lstStyle/>
          <a:p>
            <a:pPr eaLnBrk="1" hangingPunct="1"/>
            <a:r>
              <a:rPr lang="en-US" altLang="zh-CN" dirty="0">
                <a:latin typeface="+mn-ea"/>
              </a:rPr>
              <a:t>1.2.3 </a:t>
            </a:r>
            <a:r>
              <a:rPr lang="zh-CN" altLang="en-US" dirty="0">
                <a:latin typeface="+mn-ea"/>
              </a:rPr>
              <a:t>时间复杂度</a:t>
            </a:r>
            <a:r>
              <a:rPr lang="en-US" altLang="zh-CN" dirty="0">
                <a:latin typeface="+mn-ea"/>
              </a:rPr>
              <a:t>——</a:t>
            </a:r>
            <a:r>
              <a:rPr lang="zh-CN" altLang="en-US" dirty="0" smtClean="0"/>
              <a:t>频度</a:t>
            </a:r>
            <a:endParaRPr lang="en-US" altLang="zh-CN" dirty="0" smtClean="0"/>
          </a:p>
        </p:txBody>
      </p:sp>
      <p:sp>
        <p:nvSpPr>
          <p:cNvPr id="50180" name="Rectangle 3"/>
          <p:cNvSpPr>
            <a:spLocks noGrp="1" noChangeArrowheads="1"/>
          </p:cNvSpPr>
          <p:nvPr>
            <p:ph type="body" idx="1"/>
          </p:nvPr>
        </p:nvSpPr>
        <p:spPr/>
        <p:txBody>
          <a:bodyPr/>
          <a:lstStyle/>
          <a:p>
            <a:pPr eaLnBrk="1" hangingPunct="1">
              <a:lnSpc>
                <a:spcPct val="90000"/>
              </a:lnSpc>
            </a:pPr>
            <a:r>
              <a:rPr lang="zh-CN" altLang="en-US" dirty="0"/>
              <a:t>频度</a:t>
            </a:r>
            <a:r>
              <a:rPr lang="zh-CN" altLang="en-US" dirty="0" smtClean="0"/>
              <a:t>定义</a:t>
            </a:r>
            <a:r>
              <a:rPr lang="zh-CN" altLang="en-US" dirty="0"/>
              <a:t>：</a:t>
            </a:r>
            <a:r>
              <a:rPr lang="zh-CN" altLang="en-US" dirty="0" smtClean="0"/>
              <a:t>算法中语句或运算的执行次数。</a:t>
            </a:r>
            <a:endParaRPr lang="en-US" altLang="zh-CN" dirty="0" smtClean="0"/>
          </a:p>
          <a:p>
            <a:pPr eaLnBrk="1" hangingPunct="1">
              <a:lnSpc>
                <a:spcPct val="90000"/>
              </a:lnSpc>
            </a:pPr>
            <a:r>
              <a:rPr lang="zh-CN" altLang="en-US" dirty="0" smtClean="0"/>
              <a:t>例子：</a:t>
            </a:r>
            <a:endParaRPr lang="zh-CN" altLang="en-US" dirty="0" smtClean="0"/>
          </a:p>
          <a:p>
            <a:pPr eaLnBrk="1" hangingPunct="1">
              <a:lnSpc>
                <a:spcPct val="90000"/>
              </a:lnSpc>
              <a:buFont typeface="Wingdings" panose="05000000000000000000" pitchFamily="2" charset="2"/>
              <a:buNone/>
            </a:pPr>
            <a:r>
              <a:rPr lang="zh-CN" altLang="en-US" dirty="0" smtClean="0"/>
              <a:t>   </a:t>
            </a:r>
            <a:r>
              <a:rPr lang="en-US" altLang="zh-CN" dirty="0" smtClean="0"/>
              <a:t>x=</a:t>
            </a:r>
            <a:r>
              <a:rPr lang="en-US" altLang="zh-CN" dirty="0" err="1" smtClean="0"/>
              <a:t>x+y</a:t>
            </a:r>
            <a:r>
              <a:rPr lang="en-US" altLang="zh-CN" dirty="0" smtClean="0"/>
              <a:t>          for (</a:t>
            </a:r>
            <a:r>
              <a:rPr lang="en-US" altLang="zh-CN" dirty="0" err="1" smtClean="0"/>
              <a:t>i</a:t>
            </a:r>
            <a:r>
              <a:rPr lang="en-US" altLang="zh-CN" dirty="0" smtClean="0"/>
              <a:t> =</a:t>
            </a:r>
            <a:r>
              <a:rPr lang="en-US" altLang="zh-CN" dirty="0" err="1" smtClean="0"/>
              <a:t>1;i</a:t>
            </a:r>
            <a:r>
              <a:rPr lang="en-US" altLang="zh-CN" dirty="0" smtClean="0"/>
              <a:t>&lt;=</a:t>
            </a:r>
            <a:r>
              <a:rPr lang="en-US" altLang="zh-CN" dirty="0" err="1" smtClean="0"/>
              <a:t>n;i</a:t>
            </a:r>
            <a:r>
              <a:rPr lang="en-US" altLang="zh-CN" dirty="0" smtClean="0"/>
              <a:t>++)          for (</a:t>
            </a:r>
            <a:r>
              <a:rPr lang="en-US" altLang="zh-CN" dirty="0" err="1" smtClean="0"/>
              <a:t>i</a:t>
            </a:r>
            <a:r>
              <a:rPr lang="en-US" altLang="zh-CN" dirty="0" smtClean="0"/>
              <a:t> =</a:t>
            </a:r>
            <a:r>
              <a:rPr lang="en-US" altLang="zh-CN" dirty="0" err="1" smtClean="0"/>
              <a:t>1;i</a:t>
            </a:r>
            <a:r>
              <a:rPr lang="en-US" altLang="zh-CN" dirty="0" smtClean="0"/>
              <a:t>&lt;=</a:t>
            </a:r>
            <a:r>
              <a:rPr lang="en-US" altLang="zh-CN" dirty="0" err="1" smtClean="0"/>
              <a:t>n;i</a:t>
            </a:r>
            <a:r>
              <a:rPr lang="en-US" altLang="zh-CN" dirty="0" smtClean="0"/>
              <a:t>++) </a:t>
            </a:r>
            <a:endParaRPr lang="en-US" altLang="zh-CN" dirty="0" smtClean="0"/>
          </a:p>
          <a:p>
            <a:pPr eaLnBrk="1" hangingPunct="1">
              <a:lnSpc>
                <a:spcPct val="90000"/>
              </a:lnSpc>
              <a:buFont typeface="Wingdings" panose="05000000000000000000" pitchFamily="2" charset="2"/>
              <a:buNone/>
            </a:pPr>
            <a:r>
              <a:rPr lang="en-US" altLang="zh-CN" dirty="0" smtClean="0"/>
              <a:t>                              x=</a:t>
            </a:r>
            <a:r>
              <a:rPr lang="en-US" altLang="zh-CN" dirty="0" err="1" smtClean="0"/>
              <a:t>x+y</a:t>
            </a:r>
            <a:r>
              <a:rPr lang="en-US" altLang="zh-CN" dirty="0" smtClean="0"/>
              <a:t>;                       for (j =</a:t>
            </a:r>
            <a:r>
              <a:rPr lang="en-US" altLang="zh-CN" dirty="0" err="1" smtClean="0"/>
              <a:t>1;j</a:t>
            </a:r>
            <a:r>
              <a:rPr lang="en-US" altLang="zh-CN" dirty="0" smtClean="0"/>
              <a:t>&lt;=</a:t>
            </a:r>
            <a:r>
              <a:rPr lang="en-US" altLang="zh-CN" dirty="0" err="1" smtClean="0"/>
              <a:t>n;j</a:t>
            </a:r>
            <a:r>
              <a:rPr lang="en-US" altLang="zh-CN" dirty="0" smtClean="0"/>
              <a:t>++) </a:t>
            </a:r>
            <a:endParaRPr lang="en-US" altLang="zh-CN" dirty="0" smtClean="0"/>
          </a:p>
          <a:p>
            <a:pPr eaLnBrk="1" hangingPunct="1">
              <a:lnSpc>
                <a:spcPct val="90000"/>
              </a:lnSpc>
              <a:buFont typeface="Wingdings" panose="05000000000000000000" pitchFamily="2" charset="2"/>
              <a:buNone/>
            </a:pPr>
            <a:r>
              <a:rPr lang="en-US" altLang="zh-CN" dirty="0" smtClean="0"/>
              <a:t>                                                                                 x=</a:t>
            </a:r>
            <a:r>
              <a:rPr lang="en-US" altLang="zh-CN" dirty="0" err="1" smtClean="0"/>
              <a:t>x+y</a:t>
            </a:r>
            <a:r>
              <a:rPr lang="en-US" altLang="zh-CN" dirty="0" smtClean="0"/>
              <a:t>;</a:t>
            </a:r>
            <a:endParaRPr lang="en-US" altLang="zh-CN" dirty="0" smtClean="0"/>
          </a:p>
          <a:p>
            <a:pPr eaLnBrk="1" hangingPunct="1">
              <a:lnSpc>
                <a:spcPct val="90000"/>
              </a:lnSpc>
              <a:buFont typeface="Wingdings" panose="05000000000000000000" pitchFamily="2" charset="2"/>
              <a:buNone/>
            </a:pPr>
            <a:r>
              <a:rPr lang="en-US" altLang="zh-CN" dirty="0" smtClean="0"/>
              <a:t>         (a)                       (b)                                   (c)</a:t>
            </a:r>
            <a:endParaRPr lang="en-US" altLang="zh-CN" dirty="0" smtClean="0"/>
          </a:p>
          <a:p>
            <a:pPr eaLnBrk="1" hangingPunct="1">
              <a:lnSpc>
                <a:spcPct val="90000"/>
              </a:lnSpc>
            </a:pPr>
            <a:r>
              <a:rPr lang="zh-CN" altLang="en-US" dirty="0" smtClean="0"/>
              <a:t>分析：</a:t>
            </a:r>
            <a:endParaRPr lang="zh-CN" altLang="en-US" dirty="0" smtClean="0"/>
          </a:p>
          <a:p>
            <a:pPr eaLnBrk="1" hangingPunct="1">
              <a:lnSpc>
                <a:spcPct val="90000"/>
              </a:lnSpc>
              <a:buFont typeface="Wingdings" panose="05000000000000000000" pitchFamily="2" charset="2"/>
              <a:buNone/>
            </a:pPr>
            <a:r>
              <a:rPr lang="zh-CN" altLang="en-US" dirty="0" smtClean="0"/>
              <a:t>     </a:t>
            </a:r>
            <a:r>
              <a:rPr lang="en-US" altLang="zh-CN" dirty="0" smtClean="0"/>
              <a:t>(a)</a:t>
            </a:r>
            <a:r>
              <a:rPr lang="zh-CN" altLang="en-US" dirty="0" smtClean="0"/>
              <a:t>： </a:t>
            </a:r>
            <a:r>
              <a:rPr lang="en-US" altLang="zh-CN" dirty="0" smtClean="0"/>
              <a:t>x=</a:t>
            </a:r>
            <a:r>
              <a:rPr lang="en-US" altLang="zh-CN" dirty="0" err="1" smtClean="0"/>
              <a:t>x+y</a:t>
            </a:r>
            <a:r>
              <a:rPr lang="zh-CN" altLang="en-US" dirty="0" smtClean="0"/>
              <a:t>执行了</a:t>
            </a:r>
            <a:r>
              <a:rPr lang="en-US" altLang="zh-CN" dirty="0" smtClean="0"/>
              <a:t>1</a:t>
            </a:r>
            <a:r>
              <a:rPr lang="zh-CN" altLang="en-US" dirty="0" smtClean="0"/>
              <a:t>次</a:t>
            </a:r>
            <a:endParaRPr lang="zh-CN" altLang="en-US" dirty="0" smtClean="0"/>
          </a:p>
          <a:p>
            <a:pPr eaLnBrk="1" hangingPunct="1">
              <a:lnSpc>
                <a:spcPct val="90000"/>
              </a:lnSpc>
              <a:buFont typeface="Wingdings" panose="05000000000000000000" pitchFamily="2" charset="2"/>
              <a:buNone/>
            </a:pPr>
            <a:r>
              <a:rPr lang="zh-CN" altLang="en-US" dirty="0" smtClean="0"/>
              <a:t>     </a:t>
            </a:r>
            <a:r>
              <a:rPr lang="en-US" altLang="zh-CN" dirty="0" smtClean="0"/>
              <a:t>(b)</a:t>
            </a:r>
            <a:r>
              <a:rPr lang="zh-CN" altLang="en-US" dirty="0" smtClean="0"/>
              <a:t>： </a:t>
            </a:r>
            <a:r>
              <a:rPr lang="en-US" altLang="zh-CN" dirty="0" smtClean="0"/>
              <a:t>x=</a:t>
            </a:r>
            <a:r>
              <a:rPr lang="en-US" altLang="zh-CN" dirty="0" err="1" smtClean="0"/>
              <a:t>x+y</a:t>
            </a:r>
            <a:r>
              <a:rPr lang="zh-CN" altLang="en-US" dirty="0" smtClean="0"/>
              <a:t>执行了</a:t>
            </a:r>
            <a:r>
              <a:rPr lang="en-US" altLang="zh-CN" dirty="0" smtClean="0"/>
              <a:t>n</a:t>
            </a:r>
            <a:r>
              <a:rPr lang="zh-CN" altLang="en-US" dirty="0" smtClean="0"/>
              <a:t>次</a:t>
            </a:r>
            <a:endParaRPr lang="zh-CN" altLang="en-US" dirty="0" smtClean="0"/>
          </a:p>
          <a:p>
            <a:pPr eaLnBrk="1" hangingPunct="1">
              <a:lnSpc>
                <a:spcPct val="90000"/>
              </a:lnSpc>
              <a:buFont typeface="Wingdings" panose="05000000000000000000" pitchFamily="2" charset="2"/>
              <a:buNone/>
            </a:pPr>
            <a:r>
              <a:rPr lang="zh-CN" altLang="en-US" dirty="0" smtClean="0"/>
              <a:t>     </a:t>
            </a:r>
            <a:r>
              <a:rPr lang="en-US" altLang="zh-CN" dirty="0" smtClean="0"/>
              <a:t>(c)</a:t>
            </a:r>
            <a:r>
              <a:rPr lang="zh-CN" altLang="en-US" dirty="0" smtClean="0"/>
              <a:t>： </a:t>
            </a:r>
            <a:r>
              <a:rPr lang="en-US" altLang="zh-CN" dirty="0" smtClean="0"/>
              <a:t>x=</a:t>
            </a:r>
            <a:r>
              <a:rPr lang="en-US" altLang="zh-CN" dirty="0" err="1" smtClean="0"/>
              <a:t>x+y</a:t>
            </a:r>
            <a:r>
              <a:rPr lang="zh-CN" altLang="en-US" dirty="0" smtClean="0"/>
              <a:t>执行了</a:t>
            </a:r>
            <a:r>
              <a:rPr lang="en-US" altLang="zh-CN" sz="2800" dirty="0" err="1" smtClean="0"/>
              <a:t>n</a:t>
            </a:r>
            <a:r>
              <a:rPr lang="en-US" altLang="zh-CN" sz="2800" baseline="30000" dirty="0" err="1" smtClean="0"/>
              <a:t>2</a:t>
            </a:r>
            <a:r>
              <a:rPr lang="zh-CN" altLang="en-US" dirty="0" smtClean="0"/>
              <a:t>次   </a:t>
            </a:r>
            <a:endParaRPr lang="zh-CN" altLang="en-US" dirty="0" smtClean="0"/>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51203" name="Rectangle 2"/>
          <p:cNvSpPr>
            <a:spLocks noGrp="1" noChangeArrowheads="1"/>
          </p:cNvSpPr>
          <p:nvPr>
            <p:ph type="title"/>
          </p:nvPr>
        </p:nvSpPr>
        <p:spPr/>
        <p:txBody>
          <a:bodyPr/>
          <a:lstStyle/>
          <a:p>
            <a:pPr eaLnBrk="1" hangingPunct="1"/>
            <a:r>
              <a:rPr lang="en-US" altLang="zh-CN" dirty="0">
                <a:latin typeface="+mn-ea"/>
              </a:rPr>
              <a:t>1.2.3 </a:t>
            </a:r>
            <a:r>
              <a:rPr lang="zh-CN" altLang="en-US" dirty="0">
                <a:latin typeface="+mn-ea"/>
              </a:rPr>
              <a:t>时间复杂度</a:t>
            </a:r>
            <a:r>
              <a:rPr lang="en-US" altLang="zh-CN" dirty="0" smtClean="0">
                <a:latin typeface="+mn-ea"/>
              </a:rPr>
              <a:t>——</a:t>
            </a:r>
            <a:r>
              <a:rPr lang="zh-CN" altLang="en-US" dirty="0" smtClean="0"/>
              <a:t>构成</a:t>
            </a:r>
            <a:endParaRPr lang="en-US" altLang="zh-CN" dirty="0" smtClean="0"/>
          </a:p>
        </p:txBody>
      </p:sp>
      <p:sp>
        <p:nvSpPr>
          <p:cNvPr id="51204" name="Rectangle 3"/>
          <p:cNvSpPr>
            <a:spLocks noGrp="1" noChangeArrowheads="1"/>
          </p:cNvSpPr>
          <p:nvPr>
            <p:ph type="body" idx="1"/>
          </p:nvPr>
        </p:nvSpPr>
        <p:spPr/>
        <p:txBody>
          <a:bodyPr/>
          <a:lstStyle/>
          <a:p>
            <a:pPr eaLnBrk="1" hangingPunct="1"/>
            <a:r>
              <a:rPr lang="zh-CN" altLang="en-US" dirty="0" smtClean="0"/>
              <a:t>一个程序所占时间 </a:t>
            </a:r>
            <a:r>
              <a:rPr lang="en-US" altLang="zh-CN" dirty="0" smtClean="0"/>
              <a:t>T(P)=</a:t>
            </a:r>
            <a:r>
              <a:rPr lang="zh-CN" altLang="en-US" dirty="0" smtClean="0">
                <a:solidFill>
                  <a:srgbClr val="FF0000"/>
                </a:solidFill>
              </a:rPr>
              <a:t>编译时间</a:t>
            </a:r>
            <a:r>
              <a:rPr lang="en-US" altLang="zh-CN" dirty="0" smtClean="0">
                <a:solidFill>
                  <a:srgbClr val="FF0000"/>
                </a:solidFill>
              </a:rPr>
              <a:t>+</a:t>
            </a:r>
            <a:r>
              <a:rPr lang="zh-CN" altLang="en-US" dirty="0" smtClean="0">
                <a:solidFill>
                  <a:srgbClr val="FF0000"/>
                </a:solidFill>
              </a:rPr>
              <a:t>运行时间</a:t>
            </a:r>
            <a:r>
              <a:rPr lang="zh-CN" altLang="en-US" dirty="0" smtClean="0"/>
              <a:t>；</a:t>
            </a:r>
            <a:endParaRPr lang="zh-CN" altLang="en-US" dirty="0" smtClean="0"/>
          </a:p>
          <a:p>
            <a:pPr eaLnBrk="1" hangingPunct="1"/>
            <a:r>
              <a:rPr lang="zh-CN" altLang="en-US" dirty="0" smtClean="0"/>
              <a:t> 编译时间与实例特征无关，而且，一般情况下，一个编译过的程序可以运行若干次，所以，人们主要关注的是</a:t>
            </a:r>
            <a:r>
              <a:rPr lang="zh-CN" altLang="en-US" dirty="0" smtClean="0">
                <a:solidFill>
                  <a:srgbClr val="FF0000"/>
                </a:solidFill>
              </a:rPr>
              <a:t>运行时间</a:t>
            </a:r>
            <a:r>
              <a:rPr lang="zh-CN" altLang="en-US" dirty="0" smtClean="0"/>
              <a:t>；记作</a:t>
            </a:r>
            <a:r>
              <a:rPr lang="en-US" altLang="zh-CN" b="1" dirty="0" err="1" smtClean="0">
                <a:solidFill>
                  <a:srgbClr val="002060"/>
                </a:solidFill>
                <a:latin typeface="楷体_GB2312" pitchFamily="49" charset="-122"/>
                <a:ea typeface="楷体_GB2312" pitchFamily="49" charset="-122"/>
              </a:rPr>
              <a:t>t</a:t>
            </a:r>
            <a:r>
              <a:rPr lang="en-US" altLang="zh-CN" b="1" baseline="-25000" dirty="0" err="1" smtClean="0">
                <a:solidFill>
                  <a:srgbClr val="002060"/>
                </a:solidFill>
                <a:latin typeface="楷体_GB2312" pitchFamily="49" charset="-122"/>
                <a:ea typeface="楷体_GB2312" pitchFamily="49" charset="-122"/>
              </a:rPr>
              <a:t>p</a:t>
            </a:r>
            <a:r>
              <a:rPr lang="en-US" altLang="zh-CN" dirty="0" smtClean="0"/>
              <a:t>(</a:t>
            </a:r>
            <a:r>
              <a:rPr lang="zh-CN" altLang="en-US" dirty="0" smtClean="0"/>
              <a:t>实例特征）</a:t>
            </a:r>
            <a:endParaRPr lang="en-US" altLang="zh-CN" dirty="0" smtClean="0"/>
          </a:p>
          <a:p>
            <a:pPr eaLnBrk="1" hangingPunct="1"/>
            <a:endParaRPr lang="zh-CN" altLang="en-US" dirty="0" smtClean="0"/>
          </a:p>
          <a:p>
            <a:pPr eaLnBrk="1" hangingPunct="1"/>
            <a:r>
              <a:rPr lang="zh-CN" altLang="en-US" dirty="0" smtClean="0"/>
              <a:t> 如果了解所用编译器的特征，就可以确定代码 </a:t>
            </a:r>
            <a:r>
              <a:rPr lang="en-US" altLang="zh-CN" dirty="0" smtClean="0"/>
              <a:t>P </a:t>
            </a:r>
            <a:r>
              <a:rPr lang="zh-CN" altLang="en-US" dirty="0" smtClean="0"/>
              <a:t>进行加、减、乘、除、比较、读、写等基本操作所需的时间，从而得到计算 </a:t>
            </a:r>
            <a:r>
              <a:rPr lang="en-US" altLang="zh-CN" b="1" dirty="0" err="1" smtClean="0">
                <a:solidFill>
                  <a:srgbClr val="002060"/>
                </a:solidFill>
                <a:latin typeface="楷体_GB2312" pitchFamily="49" charset="-122"/>
                <a:ea typeface="楷体_GB2312" pitchFamily="49" charset="-122"/>
              </a:rPr>
              <a:t>t</a:t>
            </a:r>
            <a:r>
              <a:rPr lang="en-US" altLang="zh-CN" b="1" baseline="-25000" dirty="0" err="1" smtClean="0">
                <a:solidFill>
                  <a:srgbClr val="002060"/>
                </a:solidFill>
                <a:latin typeface="楷体_GB2312" pitchFamily="49" charset="-122"/>
                <a:ea typeface="楷体_GB2312" pitchFamily="49" charset="-122"/>
              </a:rPr>
              <a:t>p</a:t>
            </a:r>
            <a:r>
              <a:rPr lang="en-US" altLang="zh-CN" dirty="0" smtClean="0">
                <a:solidFill>
                  <a:srgbClr val="002060"/>
                </a:solidFill>
              </a:rPr>
              <a:t> </a:t>
            </a:r>
            <a:r>
              <a:rPr lang="zh-CN" altLang="en-US" dirty="0" smtClean="0"/>
              <a:t>的公式。令 </a:t>
            </a:r>
            <a:r>
              <a:rPr lang="en-US" altLang="zh-CN" dirty="0" smtClean="0"/>
              <a:t>n </a:t>
            </a:r>
            <a:r>
              <a:rPr lang="zh-CN" altLang="en-US" dirty="0" smtClean="0"/>
              <a:t>代表实例特征（</a:t>
            </a:r>
            <a:r>
              <a:rPr lang="zh-CN" altLang="en-US" dirty="0" smtClean="0">
                <a:solidFill>
                  <a:srgbClr val="FF0000"/>
                </a:solidFill>
              </a:rPr>
              <a:t>这里主要是问题的规模</a:t>
            </a:r>
            <a:r>
              <a:rPr lang="zh-CN" altLang="en-US" dirty="0" smtClean="0"/>
              <a:t>），则有如下的计算公式：</a:t>
            </a:r>
            <a:endParaRPr lang="zh-CN" altLang="en-US" dirty="0" smtClean="0"/>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52227" name="Rectangle 2"/>
          <p:cNvSpPr>
            <a:spLocks noGrp="1" noChangeArrowheads="1"/>
          </p:cNvSpPr>
          <p:nvPr>
            <p:ph type="title"/>
          </p:nvPr>
        </p:nvSpPr>
        <p:spPr/>
        <p:txBody>
          <a:bodyPr/>
          <a:lstStyle/>
          <a:p>
            <a:pPr eaLnBrk="1" hangingPunct="1"/>
            <a:r>
              <a:rPr lang="en-US" altLang="zh-CN" dirty="0">
                <a:latin typeface="+mn-ea"/>
              </a:rPr>
              <a:t>1.2.3 </a:t>
            </a:r>
            <a:r>
              <a:rPr lang="zh-CN" altLang="en-US" dirty="0">
                <a:latin typeface="+mn-ea"/>
              </a:rPr>
              <a:t>时间复杂度</a:t>
            </a:r>
            <a:r>
              <a:rPr lang="en-US" altLang="zh-CN" dirty="0">
                <a:latin typeface="+mn-ea"/>
              </a:rPr>
              <a:t>——</a:t>
            </a:r>
            <a:r>
              <a:rPr lang="zh-CN" altLang="en-US" dirty="0"/>
              <a:t>构成</a:t>
            </a:r>
            <a:endParaRPr lang="en-US" altLang="zh-CN" dirty="0" smtClean="0"/>
          </a:p>
        </p:txBody>
      </p:sp>
      <p:sp>
        <p:nvSpPr>
          <p:cNvPr id="52228" name="Rectangle 3"/>
          <p:cNvSpPr>
            <a:spLocks noGrp="1" noChangeArrowheads="1"/>
          </p:cNvSpPr>
          <p:nvPr>
            <p:ph type="body" idx="1"/>
          </p:nvPr>
        </p:nvSpPr>
        <p:spPr/>
        <p:txBody>
          <a:bodyPr/>
          <a:lstStyle/>
          <a:p>
            <a:pPr eaLnBrk="1" hangingPunct="1"/>
            <a:r>
              <a:rPr lang="en-US" altLang="zh-CN" b="1" dirty="0" err="1" smtClean="0">
                <a:solidFill>
                  <a:srgbClr val="002060"/>
                </a:solidFill>
                <a:latin typeface="楷体_GB2312" pitchFamily="49" charset="-122"/>
                <a:ea typeface="楷体_GB2312" pitchFamily="49" charset="-122"/>
              </a:rPr>
              <a:t>t</a:t>
            </a:r>
            <a:r>
              <a:rPr lang="en-US" altLang="zh-CN" b="1" baseline="-25000" dirty="0" err="1" smtClean="0">
                <a:solidFill>
                  <a:srgbClr val="002060"/>
                </a:solidFill>
                <a:latin typeface="楷体_GB2312" pitchFamily="49" charset="-122"/>
                <a:ea typeface="楷体_GB2312" pitchFamily="49" charset="-122"/>
              </a:rPr>
              <a:t>p</a:t>
            </a:r>
            <a:r>
              <a:rPr lang="en-US" altLang="zh-CN" dirty="0" smtClean="0"/>
              <a:t>(n)=</a:t>
            </a:r>
            <a:r>
              <a:rPr lang="en-US" altLang="zh-CN" dirty="0" err="1" smtClean="0"/>
              <a:t>caADD</a:t>
            </a:r>
            <a:r>
              <a:rPr lang="en-US" altLang="zh-CN" dirty="0" smtClean="0"/>
              <a:t>(n)+</a:t>
            </a:r>
            <a:r>
              <a:rPr lang="en-US" altLang="zh-CN" dirty="0" err="1" smtClean="0"/>
              <a:t>csSUB</a:t>
            </a:r>
            <a:r>
              <a:rPr lang="en-US" altLang="zh-CN" dirty="0" smtClean="0"/>
              <a:t>(n)+</a:t>
            </a:r>
            <a:r>
              <a:rPr lang="en-US" altLang="zh-CN" dirty="0" err="1" smtClean="0"/>
              <a:t>cmMUL</a:t>
            </a:r>
            <a:r>
              <a:rPr lang="en-US" altLang="zh-CN" dirty="0" smtClean="0"/>
              <a:t>(n)+</a:t>
            </a:r>
            <a:r>
              <a:rPr lang="en-US" altLang="zh-CN" dirty="0" err="1" smtClean="0"/>
              <a:t>cdDIV</a:t>
            </a:r>
            <a:r>
              <a:rPr lang="en-US" altLang="zh-CN" dirty="0" smtClean="0"/>
              <a:t>(n)+</a:t>
            </a:r>
            <a:r>
              <a:rPr lang="en-US" altLang="zh-CN" dirty="0" err="1" smtClean="0"/>
              <a:t>ccCMP</a:t>
            </a:r>
            <a:r>
              <a:rPr lang="en-US" altLang="zh-CN" dirty="0" smtClean="0"/>
              <a:t>(n)+…</a:t>
            </a:r>
            <a:endParaRPr lang="en-US" altLang="zh-CN" dirty="0" smtClean="0"/>
          </a:p>
          <a:p>
            <a:pPr eaLnBrk="1" hangingPunct="1"/>
            <a:r>
              <a:rPr lang="zh-CN" altLang="en-US" dirty="0" smtClean="0"/>
              <a:t>其中，</a:t>
            </a:r>
            <a:r>
              <a:rPr lang="en-US" altLang="zh-CN" dirty="0" smtClean="0"/>
              <a:t>ca</a:t>
            </a:r>
            <a:r>
              <a:rPr lang="zh-CN" altLang="en-US" dirty="0" smtClean="0"/>
              <a:t>，</a:t>
            </a:r>
            <a:r>
              <a:rPr lang="en-US" altLang="zh-CN" dirty="0" err="1" smtClean="0"/>
              <a:t>cs</a:t>
            </a:r>
            <a:r>
              <a:rPr lang="zh-CN" altLang="en-US" dirty="0" smtClean="0"/>
              <a:t>，</a:t>
            </a:r>
            <a:r>
              <a:rPr lang="en-US" altLang="zh-CN" dirty="0" smtClean="0"/>
              <a:t>cm</a:t>
            </a:r>
            <a:r>
              <a:rPr lang="zh-CN" altLang="en-US" dirty="0" smtClean="0"/>
              <a:t>，</a:t>
            </a:r>
            <a:r>
              <a:rPr lang="en-US" altLang="zh-CN" dirty="0" smtClean="0"/>
              <a:t>cd</a:t>
            </a:r>
            <a:r>
              <a:rPr lang="zh-CN" altLang="en-US" dirty="0" smtClean="0"/>
              <a:t>，</a:t>
            </a:r>
            <a:r>
              <a:rPr lang="en-US" altLang="zh-CN" dirty="0" smtClean="0"/>
              <a:t>cc </a:t>
            </a:r>
            <a:r>
              <a:rPr lang="zh-CN" altLang="en-US" dirty="0" smtClean="0"/>
              <a:t>分别表示一次加、减、乘、除及比较操作所需的时间，函数 </a:t>
            </a:r>
            <a:r>
              <a:rPr lang="en-US" altLang="zh-CN" dirty="0" smtClean="0"/>
              <a:t>ADD, SUB, </a:t>
            </a:r>
            <a:r>
              <a:rPr lang="en-US" altLang="zh-CN" dirty="0" err="1" smtClean="0"/>
              <a:t>MUL</a:t>
            </a:r>
            <a:r>
              <a:rPr lang="en-US" altLang="zh-CN" dirty="0" smtClean="0"/>
              <a:t>, DIV, </a:t>
            </a:r>
            <a:r>
              <a:rPr lang="en-US" altLang="zh-CN" dirty="0" err="1" smtClean="0"/>
              <a:t>CMP</a:t>
            </a:r>
            <a:r>
              <a:rPr lang="en-US" altLang="zh-CN" dirty="0" smtClean="0"/>
              <a:t> </a:t>
            </a:r>
            <a:r>
              <a:rPr lang="zh-CN" altLang="en-US" dirty="0" smtClean="0"/>
              <a:t>分别表示代码 </a:t>
            </a:r>
            <a:r>
              <a:rPr lang="en-US" altLang="zh-CN" dirty="0" smtClean="0"/>
              <a:t>P </a:t>
            </a:r>
            <a:r>
              <a:rPr lang="zh-CN" altLang="en-US" dirty="0" smtClean="0"/>
              <a:t>中所使用的加、减、乘、除及比较操作的次数；</a:t>
            </a:r>
            <a:endParaRPr lang="zh-CN" altLang="en-US" dirty="0" smtClean="0"/>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53251" name="Rectangle 2"/>
          <p:cNvSpPr>
            <a:spLocks noGrp="1" noChangeArrowheads="1"/>
          </p:cNvSpPr>
          <p:nvPr>
            <p:ph type="title"/>
          </p:nvPr>
        </p:nvSpPr>
        <p:spPr/>
        <p:txBody>
          <a:bodyPr/>
          <a:lstStyle/>
          <a:p>
            <a:pPr eaLnBrk="1" hangingPunct="1"/>
            <a:r>
              <a:rPr lang="en-US" altLang="zh-CN" dirty="0">
                <a:latin typeface="+mn-ea"/>
              </a:rPr>
              <a:t>1.2.3 </a:t>
            </a:r>
            <a:r>
              <a:rPr lang="zh-CN" altLang="en-US" dirty="0">
                <a:latin typeface="+mn-ea"/>
              </a:rPr>
              <a:t>时间复杂度</a:t>
            </a:r>
            <a:r>
              <a:rPr lang="en-US" altLang="zh-CN" dirty="0">
                <a:latin typeface="+mn-ea"/>
              </a:rPr>
              <a:t>——</a:t>
            </a:r>
            <a:r>
              <a:rPr lang="zh-CN" altLang="en-US" dirty="0"/>
              <a:t>构成</a:t>
            </a:r>
            <a:endParaRPr lang="en-US" altLang="zh-CN" dirty="0" smtClean="0"/>
          </a:p>
        </p:txBody>
      </p:sp>
      <p:sp>
        <p:nvSpPr>
          <p:cNvPr id="53252" name="Rectangle 3"/>
          <p:cNvSpPr>
            <a:spLocks noGrp="1" noChangeArrowheads="1"/>
          </p:cNvSpPr>
          <p:nvPr>
            <p:ph type="body" idx="1"/>
          </p:nvPr>
        </p:nvSpPr>
        <p:spPr/>
        <p:txBody>
          <a:bodyPr/>
          <a:lstStyle/>
          <a:p>
            <a:r>
              <a:rPr lang="zh-CN" altLang="en-US" dirty="0" smtClean="0"/>
              <a:t>估算运行时间的方法：</a:t>
            </a:r>
            <a:endParaRPr lang="zh-CN" altLang="en-US" dirty="0" smtClean="0"/>
          </a:p>
          <a:p>
            <a:pPr>
              <a:buFontTx/>
              <a:buNone/>
            </a:pPr>
            <a:r>
              <a:rPr lang="zh-CN" altLang="en-US" dirty="0" smtClean="0"/>
              <a:t>   </a:t>
            </a:r>
            <a:r>
              <a:rPr lang="en-US" altLang="zh-CN" dirty="0" smtClean="0"/>
              <a:t>A. </a:t>
            </a:r>
            <a:r>
              <a:rPr lang="zh-CN" altLang="en-US" dirty="0" smtClean="0"/>
              <a:t>找一个或多个</a:t>
            </a:r>
            <a:r>
              <a:rPr lang="zh-CN" altLang="en-US" dirty="0" smtClean="0">
                <a:solidFill>
                  <a:srgbClr val="FF0000"/>
                </a:solidFill>
              </a:rPr>
              <a:t>关键操作</a:t>
            </a:r>
            <a:r>
              <a:rPr lang="zh-CN" altLang="en-US" dirty="0" smtClean="0"/>
              <a:t>，确定这些关键操作所需要的执行时间；</a:t>
            </a:r>
            <a:endParaRPr lang="zh-CN" altLang="en-US" dirty="0" smtClean="0"/>
          </a:p>
          <a:p>
            <a:pPr>
              <a:buFontTx/>
              <a:buNone/>
            </a:pPr>
            <a:r>
              <a:rPr lang="en-US" altLang="zh-CN" dirty="0" smtClean="0"/>
              <a:t>   B. </a:t>
            </a:r>
            <a:r>
              <a:rPr lang="zh-CN" altLang="en-US" dirty="0" smtClean="0"/>
              <a:t>确定程序总的</a:t>
            </a:r>
            <a:r>
              <a:rPr lang="zh-CN" altLang="en-US" dirty="0" smtClean="0">
                <a:solidFill>
                  <a:srgbClr val="FF0000"/>
                </a:solidFill>
              </a:rPr>
              <a:t>执行步数</a:t>
            </a:r>
            <a:r>
              <a:rPr lang="zh-CN" altLang="en-US" dirty="0" smtClean="0"/>
              <a:t>。</a:t>
            </a:r>
            <a:endParaRPr lang="en-US" altLang="zh-CN" dirty="0"/>
          </a:p>
          <a:p>
            <a:pPr>
              <a:buFontTx/>
              <a:buNone/>
            </a:pPr>
            <a:endParaRPr lang="en-US" altLang="zh-CN" dirty="0" smtClean="0"/>
          </a:p>
          <a:p>
            <a:r>
              <a:rPr lang="zh-CN" altLang="en-US" dirty="0" smtClean="0">
                <a:solidFill>
                  <a:srgbClr val="FF0000"/>
                </a:solidFill>
              </a:rPr>
              <a:t>关键操作</a:t>
            </a:r>
            <a:r>
              <a:rPr lang="zh-CN" altLang="en-US" dirty="0" smtClean="0"/>
              <a:t>对时间复杂性影响最大。</a:t>
            </a:r>
            <a:endParaRPr lang="zh-CN" altLang="en-US" dirty="0" smtClean="0"/>
          </a:p>
        </p:txBody>
      </p: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54275" name="Rectangle 2"/>
          <p:cNvSpPr>
            <a:spLocks noGrp="1" noChangeArrowheads="1"/>
          </p:cNvSpPr>
          <p:nvPr>
            <p:ph type="title"/>
          </p:nvPr>
        </p:nvSpPr>
        <p:spPr/>
        <p:txBody>
          <a:bodyPr/>
          <a:lstStyle/>
          <a:p>
            <a:pPr eaLnBrk="1" hangingPunct="1"/>
            <a:r>
              <a:rPr lang="en-US" altLang="zh-CN" dirty="0">
                <a:latin typeface="+mn-ea"/>
              </a:rPr>
              <a:t>1.2.3 </a:t>
            </a:r>
            <a:r>
              <a:rPr lang="zh-CN" altLang="en-US" dirty="0">
                <a:latin typeface="+mn-ea"/>
              </a:rPr>
              <a:t>时间复杂度</a:t>
            </a:r>
            <a:r>
              <a:rPr lang="en-US" altLang="zh-CN" dirty="0" smtClean="0">
                <a:latin typeface="+mn-ea"/>
              </a:rPr>
              <a:t>——</a:t>
            </a:r>
            <a:r>
              <a:rPr lang="zh-CN" altLang="en-US" dirty="0" smtClean="0"/>
              <a:t>例</a:t>
            </a:r>
            <a:r>
              <a:rPr lang="en-US" altLang="zh-CN" dirty="0" smtClean="0"/>
              <a:t>1</a:t>
            </a:r>
            <a:r>
              <a:rPr lang="zh-CN" altLang="en-US" dirty="0" smtClean="0"/>
              <a:t>：寻找最大元素</a:t>
            </a:r>
            <a:endParaRPr lang="en-US" altLang="zh-CN" dirty="0" smtClean="0"/>
          </a:p>
        </p:txBody>
      </p:sp>
      <p:sp>
        <p:nvSpPr>
          <p:cNvPr id="54276" name="Rectangle 3"/>
          <p:cNvSpPr>
            <a:spLocks noGrp="1" noChangeArrowheads="1"/>
          </p:cNvSpPr>
          <p:nvPr>
            <p:ph type="body" idx="1"/>
          </p:nvPr>
        </p:nvSpPr>
        <p:spPr>
          <a:xfrm>
            <a:off x="968252" y="1276874"/>
            <a:ext cx="4701697" cy="4525962"/>
          </a:xfrm>
        </p:spPr>
        <p:txBody>
          <a:bodyPr/>
          <a:lstStyle/>
          <a:p>
            <a:pPr eaLnBrk="1" hangingPunct="1"/>
            <a:r>
              <a:rPr lang="en-US" altLang="zh-CN" dirty="0" err="1" smtClean="0"/>
              <a:t>int</a:t>
            </a:r>
            <a:r>
              <a:rPr lang="en-US" altLang="zh-CN" dirty="0" smtClean="0"/>
              <a:t> Max(</a:t>
            </a:r>
            <a:r>
              <a:rPr lang="en-US" altLang="zh-CN" dirty="0" err="1" smtClean="0"/>
              <a:t>int</a:t>
            </a:r>
            <a:r>
              <a:rPr lang="en-US" altLang="zh-CN" dirty="0" smtClean="0"/>
              <a:t> *</a:t>
            </a:r>
            <a:r>
              <a:rPr lang="en-US" altLang="zh-CN" dirty="0" err="1" smtClean="0"/>
              <a:t>a,int</a:t>
            </a:r>
            <a:r>
              <a:rPr lang="en-US" altLang="zh-CN" dirty="0" smtClean="0"/>
              <a:t> n)</a:t>
            </a:r>
            <a:endParaRPr lang="en-US" altLang="zh-CN" dirty="0" smtClean="0"/>
          </a:p>
          <a:p>
            <a:pPr>
              <a:spcBef>
                <a:spcPts val="600"/>
              </a:spcBef>
              <a:buFontTx/>
              <a:buNone/>
            </a:pPr>
            <a:r>
              <a:rPr lang="en-US" altLang="zh-CN" dirty="0" smtClean="0"/>
              <a:t>    { //</a:t>
            </a:r>
            <a:r>
              <a:rPr lang="zh-CN" altLang="en-US" dirty="0" smtClean="0"/>
              <a:t>寻找 </a:t>
            </a:r>
            <a:r>
              <a:rPr lang="en-US" altLang="zh-CN" dirty="0" smtClean="0"/>
              <a:t>a[</a:t>
            </a:r>
            <a:r>
              <a:rPr lang="en-US" altLang="zh-CN" dirty="0" err="1" smtClean="0"/>
              <a:t>0:n-1</a:t>
            </a:r>
            <a:r>
              <a:rPr lang="en-US" altLang="zh-CN" dirty="0" smtClean="0"/>
              <a:t>]</a:t>
            </a:r>
            <a:r>
              <a:rPr lang="zh-CN" altLang="en-US" dirty="0" smtClean="0"/>
              <a:t>中的最大元素</a:t>
            </a:r>
            <a:endParaRPr lang="zh-CN" altLang="en-US" dirty="0" smtClean="0"/>
          </a:p>
          <a:p>
            <a:pPr>
              <a:spcBef>
                <a:spcPts val="600"/>
              </a:spcBef>
              <a:buFontTx/>
              <a:buNone/>
            </a:pPr>
            <a:r>
              <a:rPr lang="zh-CN" altLang="en-US" dirty="0" smtClean="0"/>
              <a:t>       </a:t>
            </a:r>
            <a:r>
              <a:rPr lang="en-US" altLang="zh-CN" dirty="0" err="1" smtClean="0"/>
              <a:t>int</a:t>
            </a:r>
            <a:r>
              <a:rPr lang="en-US" altLang="zh-CN" dirty="0" smtClean="0"/>
              <a:t> </a:t>
            </a:r>
            <a:r>
              <a:rPr lang="en-US" altLang="zh-CN" dirty="0" err="1" smtClean="0"/>
              <a:t>pos</a:t>
            </a:r>
            <a:r>
              <a:rPr lang="en-US" altLang="zh-CN" dirty="0" smtClean="0"/>
              <a:t>=0;</a:t>
            </a:r>
            <a:endParaRPr lang="en-US" altLang="zh-CN" dirty="0" smtClean="0"/>
          </a:p>
          <a:p>
            <a:pPr>
              <a:spcBef>
                <a:spcPts val="600"/>
              </a:spcBef>
              <a:buFontTx/>
              <a:buNone/>
            </a:pPr>
            <a:r>
              <a:rPr lang="en-US" altLang="zh-CN" dirty="0" smtClean="0"/>
              <a:t>       for(</a:t>
            </a:r>
            <a:r>
              <a:rPr lang="en-US" altLang="zh-CN" dirty="0" err="1" smtClean="0"/>
              <a:t>i</a:t>
            </a:r>
            <a:r>
              <a:rPr lang="en-US" altLang="zh-CN" dirty="0" smtClean="0"/>
              <a:t>=1; </a:t>
            </a:r>
            <a:r>
              <a:rPr lang="en-US" altLang="zh-CN" dirty="0" err="1" smtClean="0"/>
              <a:t>i</a:t>
            </a:r>
            <a:r>
              <a:rPr lang="en-US" altLang="zh-CN" dirty="0" smtClean="0"/>
              <a:t>&lt;n; </a:t>
            </a:r>
            <a:r>
              <a:rPr lang="en-US" altLang="zh-CN" dirty="0" err="1" smtClean="0"/>
              <a:t>i</a:t>
            </a:r>
            <a:r>
              <a:rPr lang="en-US" altLang="zh-CN" dirty="0" smtClean="0"/>
              <a:t>++)</a:t>
            </a:r>
            <a:endParaRPr lang="en-US" altLang="zh-CN" dirty="0" smtClean="0"/>
          </a:p>
          <a:p>
            <a:pPr>
              <a:spcBef>
                <a:spcPts val="600"/>
              </a:spcBef>
              <a:buFontTx/>
              <a:buNone/>
            </a:pPr>
            <a:r>
              <a:rPr lang="en-US" altLang="zh-CN" dirty="0" smtClean="0"/>
              <a:t>         </a:t>
            </a:r>
            <a:r>
              <a:rPr lang="en-US" altLang="zh-CN" b="1" dirty="0" smtClean="0">
                <a:solidFill>
                  <a:srgbClr val="FF0000"/>
                </a:solidFill>
                <a:latin typeface="Times New Roman Bold" panose="02020503050405090304" charset="0"/>
                <a:cs typeface="Times New Roman Bold" panose="02020503050405090304" charset="0"/>
              </a:rPr>
              <a:t>if(a[</a:t>
            </a:r>
            <a:r>
              <a:rPr lang="en-US" altLang="zh-CN" b="1" dirty="0" err="1" smtClean="0">
                <a:solidFill>
                  <a:srgbClr val="FF0000"/>
                </a:solidFill>
                <a:latin typeface="Times New Roman Bold" panose="02020503050405090304" charset="0"/>
                <a:cs typeface="Times New Roman Bold" panose="02020503050405090304" charset="0"/>
              </a:rPr>
              <a:t>pos</a:t>
            </a:r>
            <a:r>
              <a:rPr lang="en-US" altLang="zh-CN" b="1" dirty="0" smtClean="0">
                <a:solidFill>
                  <a:srgbClr val="FF0000"/>
                </a:solidFill>
                <a:latin typeface="Times New Roman Bold" panose="02020503050405090304" charset="0"/>
                <a:cs typeface="Times New Roman Bold" panose="02020503050405090304" charset="0"/>
              </a:rPr>
              <a:t>]&lt;a[</a:t>
            </a:r>
            <a:r>
              <a:rPr lang="en-US" altLang="zh-CN" b="1" dirty="0" err="1" smtClean="0">
                <a:solidFill>
                  <a:srgbClr val="FF0000"/>
                </a:solidFill>
                <a:latin typeface="Times New Roman Bold" panose="02020503050405090304" charset="0"/>
                <a:cs typeface="Times New Roman Bold" panose="02020503050405090304" charset="0"/>
              </a:rPr>
              <a:t>i</a:t>
            </a:r>
            <a:r>
              <a:rPr lang="en-US" altLang="zh-CN" b="1" dirty="0" smtClean="0">
                <a:solidFill>
                  <a:srgbClr val="FF0000"/>
                </a:solidFill>
                <a:latin typeface="Times New Roman Bold" panose="02020503050405090304" charset="0"/>
                <a:cs typeface="Times New Roman Bold" panose="02020503050405090304" charset="0"/>
              </a:rPr>
              <a:t>])</a:t>
            </a:r>
            <a:endParaRPr lang="en-US" altLang="zh-CN" b="1" dirty="0" smtClean="0">
              <a:solidFill>
                <a:srgbClr val="FF0000"/>
              </a:solidFill>
              <a:latin typeface="Times New Roman Bold" panose="02020503050405090304" charset="0"/>
              <a:cs typeface="Times New Roman Bold" panose="02020503050405090304" charset="0"/>
            </a:endParaRPr>
          </a:p>
          <a:p>
            <a:pPr>
              <a:spcBef>
                <a:spcPts val="600"/>
              </a:spcBef>
              <a:buFontTx/>
              <a:buNone/>
            </a:pPr>
            <a:r>
              <a:rPr lang="en-US" altLang="zh-CN" b="1" dirty="0" smtClean="0">
                <a:solidFill>
                  <a:srgbClr val="FF0000"/>
                </a:solidFill>
                <a:latin typeface="Times New Roman Bold" panose="02020503050405090304" charset="0"/>
                <a:cs typeface="Times New Roman Bold" panose="02020503050405090304" charset="0"/>
              </a:rPr>
              <a:t>               </a:t>
            </a:r>
            <a:r>
              <a:rPr lang="en-US" altLang="zh-CN" b="1" dirty="0" err="1" smtClean="0">
                <a:solidFill>
                  <a:srgbClr val="FF0000"/>
                </a:solidFill>
                <a:latin typeface="Times New Roman Bold" panose="02020503050405090304" charset="0"/>
                <a:cs typeface="Times New Roman Bold" panose="02020503050405090304" charset="0"/>
              </a:rPr>
              <a:t>pos</a:t>
            </a:r>
            <a:r>
              <a:rPr lang="en-US" altLang="zh-CN" b="1" dirty="0" smtClean="0">
                <a:solidFill>
                  <a:srgbClr val="FF0000"/>
                </a:solidFill>
                <a:latin typeface="Times New Roman Bold" panose="02020503050405090304" charset="0"/>
                <a:cs typeface="Times New Roman Bold" panose="02020503050405090304" charset="0"/>
              </a:rPr>
              <a:t>=</a:t>
            </a:r>
            <a:r>
              <a:rPr lang="en-US" altLang="zh-CN" b="1" dirty="0" err="1" smtClean="0">
                <a:solidFill>
                  <a:srgbClr val="FF0000"/>
                </a:solidFill>
                <a:latin typeface="Times New Roman Bold" panose="02020503050405090304" charset="0"/>
                <a:cs typeface="Times New Roman Bold" panose="02020503050405090304" charset="0"/>
              </a:rPr>
              <a:t>i</a:t>
            </a:r>
            <a:r>
              <a:rPr lang="en-US" altLang="zh-CN" b="1" dirty="0" smtClean="0">
                <a:solidFill>
                  <a:srgbClr val="FF0000"/>
                </a:solidFill>
                <a:latin typeface="Times New Roman Bold" panose="02020503050405090304" charset="0"/>
                <a:cs typeface="Times New Roman Bold" panose="02020503050405090304" charset="0"/>
              </a:rPr>
              <a:t>;</a:t>
            </a:r>
            <a:endParaRPr lang="en-US" altLang="zh-CN" b="1" dirty="0" smtClean="0">
              <a:solidFill>
                <a:srgbClr val="FF0000"/>
              </a:solidFill>
              <a:latin typeface="Times New Roman Bold" panose="02020503050405090304" charset="0"/>
              <a:cs typeface="Times New Roman Bold" panose="02020503050405090304" charset="0"/>
            </a:endParaRPr>
          </a:p>
          <a:p>
            <a:pPr>
              <a:spcBef>
                <a:spcPts val="600"/>
              </a:spcBef>
              <a:buFontTx/>
              <a:buNone/>
            </a:pPr>
            <a:r>
              <a:rPr lang="en-US" altLang="zh-CN" dirty="0" smtClean="0"/>
              <a:t>       return </a:t>
            </a:r>
            <a:r>
              <a:rPr lang="en-US" altLang="zh-CN" dirty="0" err="1" smtClean="0"/>
              <a:t>pos</a:t>
            </a:r>
            <a:r>
              <a:rPr lang="en-US" altLang="zh-CN" dirty="0" smtClean="0"/>
              <a:t>;</a:t>
            </a:r>
            <a:endParaRPr lang="en-US" altLang="zh-CN" dirty="0" smtClean="0"/>
          </a:p>
          <a:p>
            <a:pPr>
              <a:spcBef>
                <a:spcPts val="600"/>
              </a:spcBef>
              <a:buFontTx/>
              <a:buNone/>
            </a:pPr>
            <a:r>
              <a:rPr lang="en-US" altLang="zh-CN" dirty="0" smtClean="0"/>
              <a:t>    }  </a:t>
            </a:r>
            <a:endParaRPr lang="en-US" altLang="zh-CN" dirty="0" smtClean="0"/>
          </a:p>
          <a:p>
            <a:pPr>
              <a:spcBef>
                <a:spcPts val="600"/>
              </a:spcBef>
              <a:buFontTx/>
              <a:buNone/>
            </a:pPr>
            <a:endParaRPr lang="en-US" altLang="zh-CN" dirty="0" smtClean="0"/>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55299" name="Rectangle 2"/>
          <p:cNvSpPr>
            <a:spLocks noGrp="1" noChangeArrowheads="1"/>
          </p:cNvSpPr>
          <p:nvPr>
            <p:ph type="title"/>
          </p:nvPr>
        </p:nvSpPr>
        <p:spPr/>
        <p:txBody>
          <a:bodyPr/>
          <a:lstStyle/>
          <a:p>
            <a:pPr eaLnBrk="1" hangingPunct="1"/>
            <a:r>
              <a:rPr lang="en-US" altLang="zh-CN" dirty="0">
                <a:latin typeface="+mn-ea"/>
              </a:rPr>
              <a:t>1.2.3 </a:t>
            </a:r>
            <a:r>
              <a:rPr lang="zh-CN" altLang="en-US" dirty="0">
                <a:latin typeface="+mn-ea"/>
              </a:rPr>
              <a:t>时间复杂度</a:t>
            </a:r>
            <a:r>
              <a:rPr lang="en-US" altLang="zh-CN" dirty="0">
                <a:latin typeface="+mn-ea"/>
              </a:rPr>
              <a:t>——</a:t>
            </a:r>
            <a:r>
              <a:rPr lang="zh-CN" altLang="en-US" dirty="0"/>
              <a:t>例</a:t>
            </a:r>
            <a:r>
              <a:rPr lang="en-US" altLang="zh-CN" dirty="0"/>
              <a:t>1</a:t>
            </a:r>
            <a:r>
              <a:rPr lang="zh-CN" altLang="en-US" dirty="0"/>
              <a:t>：寻找最大元素</a:t>
            </a:r>
            <a:endParaRPr lang="en-US" altLang="zh-CN" dirty="0" smtClean="0"/>
          </a:p>
        </p:txBody>
      </p:sp>
      <p:sp>
        <p:nvSpPr>
          <p:cNvPr id="55300" name="Rectangle 3"/>
          <p:cNvSpPr>
            <a:spLocks noGrp="1" noChangeArrowheads="1"/>
          </p:cNvSpPr>
          <p:nvPr>
            <p:ph type="body" idx="1"/>
          </p:nvPr>
        </p:nvSpPr>
        <p:spPr>
          <a:xfrm>
            <a:off x="920750" y="1480482"/>
            <a:ext cx="7786687" cy="4525962"/>
          </a:xfrm>
        </p:spPr>
        <p:txBody>
          <a:bodyPr/>
          <a:lstStyle/>
          <a:p>
            <a:pPr>
              <a:lnSpc>
                <a:spcPct val="90000"/>
              </a:lnSpc>
              <a:spcBef>
                <a:spcPct val="0"/>
              </a:spcBef>
            </a:pPr>
            <a:r>
              <a:rPr lang="zh-CN" altLang="en-US" dirty="0"/>
              <a:t>这里</a:t>
            </a:r>
            <a:r>
              <a:rPr lang="zh-CN" altLang="en-US" dirty="0">
                <a:solidFill>
                  <a:srgbClr val="FF0000"/>
                </a:solidFill>
              </a:rPr>
              <a:t>关键操作是比较</a:t>
            </a:r>
            <a:r>
              <a:rPr lang="zh-CN" altLang="en-US" dirty="0"/>
              <a:t>。</a:t>
            </a:r>
            <a:r>
              <a:rPr lang="en-US" altLang="zh-CN" dirty="0"/>
              <a:t>for </a:t>
            </a:r>
            <a:r>
              <a:rPr lang="zh-CN" altLang="en-US" dirty="0"/>
              <a:t>循环中共进行了</a:t>
            </a:r>
            <a:r>
              <a:rPr lang="en-US" altLang="zh-CN" dirty="0"/>
              <a:t>n-1 </a:t>
            </a:r>
            <a:r>
              <a:rPr lang="zh-CN" altLang="en-US" dirty="0"/>
              <a:t>次比较。 </a:t>
            </a:r>
            <a:r>
              <a:rPr lang="en-US" altLang="zh-CN" dirty="0"/>
              <a:t>for </a:t>
            </a:r>
            <a:r>
              <a:rPr lang="zh-CN" altLang="en-US" dirty="0"/>
              <a:t>循环每次执行之前都要比较一下 </a:t>
            </a:r>
            <a:r>
              <a:rPr lang="en-US" altLang="zh-CN" dirty="0" err="1"/>
              <a:t>i</a:t>
            </a:r>
            <a:r>
              <a:rPr lang="en-US" altLang="zh-CN" dirty="0"/>
              <a:t> </a:t>
            </a:r>
            <a:r>
              <a:rPr lang="zh-CN" altLang="en-US" dirty="0"/>
              <a:t>和 </a:t>
            </a:r>
            <a:r>
              <a:rPr lang="en-US" altLang="zh-CN" dirty="0"/>
              <a:t>n </a:t>
            </a:r>
            <a:r>
              <a:rPr lang="zh-CN" altLang="en-US" dirty="0"/>
              <a:t>此外，</a:t>
            </a:r>
            <a:r>
              <a:rPr lang="en-US" altLang="zh-CN" dirty="0"/>
              <a:t>Max </a:t>
            </a:r>
            <a:r>
              <a:rPr lang="zh-CN" altLang="en-US" dirty="0"/>
              <a:t>还进行了其它的操作，如初始化 </a:t>
            </a:r>
            <a:r>
              <a:rPr lang="en-US" altLang="zh-CN" dirty="0" err="1"/>
              <a:t>pos</a:t>
            </a:r>
            <a:r>
              <a:rPr lang="en-US" altLang="zh-CN" dirty="0"/>
              <a:t>、</a:t>
            </a:r>
            <a:r>
              <a:rPr lang="zh-CN" altLang="en-US" dirty="0"/>
              <a:t>循环控制变量 </a:t>
            </a:r>
            <a:r>
              <a:rPr lang="en-US" altLang="zh-CN" dirty="0" err="1"/>
              <a:t>i</a:t>
            </a:r>
            <a:r>
              <a:rPr lang="en-US" altLang="zh-CN" dirty="0"/>
              <a:t> </a:t>
            </a:r>
            <a:r>
              <a:rPr lang="zh-CN" altLang="en-US" dirty="0"/>
              <a:t>的增量。这些一般都不包含在估算中，若纳入计数，则操作计数将增加一个常量。</a:t>
            </a:r>
            <a:endParaRPr lang="en-US" altLang="zh-CN" dirty="0"/>
          </a:p>
        </p:txBody>
      </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56323" name="Rectangle 2"/>
          <p:cNvSpPr>
            <a:spLocks noGrp="1" noChangeArrowheads="1"/>
          </p:cNvSpPr>
          <p:nvPr>
            <p:ph type="title"/>
          </p:nvPr>
        </p:nvSpPr>
        <p:spPr/>
        <p:txBody>
          <a:bodyPr/>
          <a:lstStyle/>
          <a:p>
            <a:pPr eaLnBrk="1" hangingPunct="1"/>
            <a:r>
              <a:rPr lang="en-US" altLang="zh-CN" dirty="0">
                <a:latin typeface="+mn-ea"/>
              </a:rPr>
              <a:t>1.2.3 </a:t>
            </a:r>
            <a:r>
              <a:rPr lang="zh-CN" altLang="en-US" dirty="0">
                <a:latin typeface="+mn-ea"/>
              </a:rPr>
              <a:t>时间复杂度</a:t>
            </a:r>
            <a:r>
              <a:rPr lang="en-US" altLang="zh-CN" dirty="0" smtClean="0">
                <a:latin typeface="+mn-ea"/>
              </a:rPr>
              <a:t>——</a:t>
            </a:r>
            <a:br>
              <a:rPr lang="en-US" altLang="zh-CN" dirty="0" smtClean="0">
                <a:latin typeface="+mn-ea"/>
              </a:rPr>
            </a:br>
            <a:r>
              <a:rPr lang="en-US" altLang="zh-CN" dirty="0" smtClean="0">
                <a:latin typeface="+mn-ea"/>
              </a:rPr>
              <a:t>	</a:t>
            </a:r>
            <a:r>
              <a:rPr lang="zh-CN" altLang="en-US" dirty="0" smtClean="0"/>
              <a:t>例</a:t>
            </a:r>
            <a:r>
              <a:rPr lang="en-US" altLang="zh-CN" dirty="0" smtClean="0"/>
              <a:t>2</a:t>
            </a:r>
            <a:r>
              <a:rPr lang="zh-CN" altLang="en-US" dirty="0" smtClean="0"/>
              <a:t>：计算 </a:t>
            </a:r>
            <a:r>
              <a:rPr lang="en-US" altLang="zh-CN" b="0" dirty="0">
                <a:latin typeface="Arial" panose="020B0604020202090204" pitchFamily="34" charset="0"/>
                <a:cs typeface="Arial" panose="020B0604020202090204" pitchFamily="34" charset="0"/>
              </a:rPr>
              <a:t>a[</a:t>
            </a:r>
            <a:r>
              <a:rPr lang="en-US" altLang="zh-CN" b="0" dirty="0" err="1">
                <a:latin typeface="Arial" panose="020B0604020202090204" pitchFamily="34" charset="0"/>
                <a:cs typeface="Arial" panose="020B0604020202090204" pitchFamily="34" charset="0"/>
              </a:rPr>
              <a:t>0:n-1</a:t>
            </a:r>
            <a:r>
              <a:rPr lang="en-US" altLang="zh-CN" b="0" dirty="0">
                <a:latin typeface="Arial" panose="020B0604020202090204" pitchFamily="34" charset="0"/>
                <a:cs typeface="Arial" panose="020B0604020202090204" pitchFamily="34" charset="0"/>
              </a:rPr>
              <a:t>]</a:t>
            </a:r>
            <a:r>
              <a:rPr lang="zh-CN" altLang="en-US" dirty="0" smtClean="0"/>
              <a:t>中元素的排名 </a:t>
            </a:r>
            <a:endParaRPr lang="en-US" altLang="zh-CN" dirty="0" smtClean="0"/>
          </a:p>
        </p:txBody>
      </p:sp>
      <p:sp>
        <p:nvSpPr>
          <p:cNvPr id="56324" name="Rectangle 3"/>
          <p:cNvSpPr>
            <a:spLocks noGrp="1" noChangeArrowheads="1"/>
          </p:cNvSpPr>
          <p:nvPr>
            <p:ph type="body" idx="1"/>
          </p:nvPr>
        </p:nvSpPr>
        <p:spPr/>
        <p:txBody>
          <a:bodyPr/>
          <a:lstStyle/>
          <a:p>
            <a:pPr>
              <a:lnSpc>
                <a:spcPct val="90000"/>
              </a:lnSpc>
              <a:spcBef>
                <a:spcPts val="600"/>
              </a:spcBef>
              <a:buFontTx/>
              <a:buNone/>
            </a:pPr>
            <a:r>
              <a:rPr lang="en-US" altLang="zh-CN" dirty="0" smtClean="0"/>
              <a:t>template&lt;class T&gt;                 </a:t>
            </a:r>
            <a:endParaRPr lang="en-US" altLang="zh-CN" dirty="0" smtClean="0"/>
          </a:p>
          <a:p>
            <a:pPr>
              <a:lnSpc>
                <a:spcPct val="90000"/>
              </a:lnSpc>
              <a:spcBef>
                <a:spcPts val="600"/>
              </a:spcBef>
              <a:buFontTx/>
              <a:buNone/>
            </a:pPr>
            <a:r>
              <a:rPr lang="en-US" altLang="zh-CN" dirty="0" smtClean="0"/>
              <a:t>void Rank(T a[],</a:t>
            </a:r>
            <a:r>
              <a:rPr lang="en-US" altLang="zh-CN" dirty="0" err="1" smtClean="0"/>
              <a:t>int</a:t>
            </a:r>
            <a:r>
              <a:rPr lang="en-US" altLang="zh-CN" dirty="0" smtClean="0"/>
              <a:t> </a:t>
            </a:r>
            <a:r>
              <a:rPr lang="en-US" altLang="zh-CN" dirty="0" err="1" smtClean="0"/>
              <a:t>n,int</a:t>
            </a:r>
            <a:r>
              <a:rPr lang="en-US" altLang="zh-CN" dirty="0" smtClean="0"/>
              <a:t> r[]){</a:t>
            </a:r>
            <a:endParaRPr lang="en-US" altLang="zh-CN" dirty="0" smtClean="0"/>
          </a:p>
          <a:p>
            <a:pPr>
              <a:lnSpc>
                <a:spcPct val="90000"/>
              </a:lnSpc>
              <a:spcBef>
                <a:spcPts val="600"/>
              </a:spcBef>
              <a:buFontTx/>
              <a:buNone/>
            </a:pPr>
            <a:r>
              <a:rPr lang="en-US" altLang="zh-CN" dirty="0" smtClean="0"/>
              <a:t>	//</a:t>
            </a:r>
            <a:r>
              <a:rPr lang="zh-CN" altLang="en-US" dirty="0" smtClean="0"/>
              <a:t>计算 </a:t>
            </a:r>
            <a:r>
              <a:rPr lang="en-US" altLang="zh-CN" dirty="0" smtClean="0"/>
              <a:t>a[</a:t>
            </a:r>
            <a:r>
              <a:rPr lang="en-US" altLang="zh-CN" dirty="0" err="1" smtClean="0"/>
              <a:t>0:n-1</a:t>
            </a:r>
            <a:r>
              <a:rPr lang="en-US" altLang="zh-CN" dirty="0" smtClean="0"/>
              <a:t>] </a:t>
            </a:r>
            <a:r>
              <a:rPr lang="zh-CN" altLang="en-US" dirty="0" smtClean="0"/>
              <a:t>中元素的排名     </a:t>
            </a:r>
            <a:endParaRPr lang="en-US" altLang="zh-CN" dirty="0" smtClean="0"/>
          </a:p>
          <a:p>
            <a:pPr>
              <a:lnSpc>
                <a:spcPct val="90000"/>
              </a:lnSpc>
              <a:spcBef>
                <a:spcPts val="600"/>
              </a:spcBef>
              <a:buFontTx/>
              <a:buNone/>
            </a:pPr>
            <a:r>
              <a:rPr lang="en-US" altLang="zh-CN" dirty="0"/>
              <a:t>	</a:t>
            </a:r>
            <a:r>
              <a:rPr lang="en-US" altLang="zh-CN" dirty="0" smtClean="0"/>
              <a:t>for(</a:t>
            </a:r>
            <a:r>
              <a:rPr lang="en-US" altLang="zh-CN" dirty="0" err="1" smtClean="0"/>
              <a:t>int</a:t>
            </a:r>
            <a:r>
              <a:rPr lang="en-US" altLang="zh-CN" dirty="0" smtClean="0"/>
              <a:t> </a:t>
            </a:r>
            <a:r>
              <a:rPr lang="en-US" altLang="zh-CN" dirty="0" err="1" smtClean="0"/>
              <a:t>i</a:t>
            </a:r>
            <a:r>
              <a:rPr lang="en-US" altLang="zh-CN" dirty="0" smtClean="0"/>
              <a:t>=1; </a:t>
            </a:r>
            <a:r>
              <a:rPr lang="en-US" altLang="zh-CN" dirty="0" err="1" smtClean="0"/>
              <a:t>i</a:t>
            </a:r>
            <a:r>
              <a:rPr lang="en-US" altLang="zh-CN" dirty="0" smtClean="0"/>
              <a:t>&lt;n; </a:t>
            </a:r>
            <a:r>
              <a:rPr lang="en-US" altLang="zh-CN" dirty="0" err="1" smtClean="0"/>
              <a:t>i</a:t>
            </a:r>
            <a:r>
              <a:rPr lang="en-US" altLang="zh-CN" dirty="0" smtClean="0"/>
              <a:t>++)            </a:t>
            </a:r>
            <a:endParaRPr lang="en-US" altLang="zh-CN" dirty="0" smtClean="0"/>
          </a:p>
          <a:p>
            <a:pPr>
              <a:lnSpc>
                <a:spcPct val="90000"/>
              </a:lnSpc>
              <a:spcBef>
                <a:spcPts val="600"/>
              </a:spcBef>
              <a:buFontTx/>
              <a:buNone/>
            </a:pPr>
            <a:r>
              <a:rPr lang="en-US" altLang="zh-CN" dirty="0"/>
              <a:t>	</a:t>
            </a:r>
            <a:r>
              <a:rPr lang="en-US" altLang="zh-CN" dirty="0" smtClean="0"/>
              <a:t>	r[</a:t>
            </a:r>
            <a:r>
              <a:rPr lang="en-US" altLang="zh-CN" dirty="0" err="1" smtClean="0"/>
              <a:t>i</a:t>
            </a:r>
            <a:r>
              <a:rPr lang="en-US" altLang="zh-CN" dirty="0" smtClean="0"/>
              <a:t>]=0;    //</a:t>
            </a:r>
            <a:r>
              <a:rPr lang="zh-CN" altLang="en-US" dirty="0" smtClean="0"/>
              <a:t>初始化                 </a:t>
            </a:r>
            <a:endParaRPr lang="zh-CN" altLang="en-US" dirty="0" smtClean="0"/>
          </a:p>
          <a:p>
            <a:pPr>
              <a:lnSpc>
                <a:spcPct val="90000"/>
              </a:lnSpc>
              <a:spcBef>
                <a:spcPts val="600"/>
              </a:spcBef>
              <a:buFontTx/>
              <a:buNone/>
            </a:pPr>
            <a:r>
              <a:rPr lang="zh-CN" altLang="en-US" dirty="0" smtClean="0"/>
              <a:t>   </a:t>
            </a:r>
            <a:r>
              <a:rPr lang="en-US" altLang="zh-CN" dirty="0" smtClean="0"/>
              <a:t>	// </a:t>
            </a:r>
            <a:r>
              <a:rPr lang="zh-CN" altLang="en-US" dirty="0" smtClean="0"/>
              <a:t>逐对比较所有的元素                  </a:t>
            </a:r>
            <a:endParaRPr lang="zh-CN" altLang="en-US" dirty="0" smtClean="0"/>
          </a:p>
          <a:p>
            <a:pPr>
              <a:lnSpc>
                <a:spcPct val="90000"/>
              </a:lnSpc>
              <a:spcBef>
                <a:spcPts val="600"/>
              </a:spcBef>
              <a:buFontTx/>
              <a:buNone/>
            </a:pPr>
            <a:r>
              <a:rPr lang="zh-CN" altLang="en-US" dirty="0" smtClean="0"/>
              <a:t>  </a:t>
            </a:r>
            <a:r>
              <a:rPr lang="en-US" altLang="zh-CN" dirty="0" smtClean="0"/>
              <a:t>	for(</a:t>
            </a:r>
            <a:r>
              <a:rPr lang="en-US" altLang="zh-CN" dirty="0" err="1" smtClean="0"/>
              <a:t>int</a:t>
            </a:r>
            <a:r>
              <a:rPr lang="en-US" altLang="zh-CN" dirty="0" smtClean="0"/>
              <a:t> </a:t>
            </a:r>
            <a:r>
              <a:rPr lang="en-US" altLang="zh-CN" dirty="0" err="1" smtClean="0"/>
              <a:t>i</a:t>
            </a:r>
            <a:r>
              <a:rPr lang="en-US" altLang="zh-CN" dirty="0" smtClean="0"/>
              <a:t>=</a:t>
            </a:r>
            <a:r>
              <a:rPr lang="en-US" altLang="zh-CN" dirty="0" err="1" smtClean="0"/>
              <a:t>1;i</a:t>
            </a:r>
            <a:r>
              <a:rPr lang="en-US" altLang="zh-CN" dirty="0" smtClean="0"/>
              <a:t>&lt;</a:t>
            </a:r>
            <a:r>
              <a:rPr lang="en-US" altLang="zh-CN" dirty="0" err="1" smtClean="0"/>
              <a:t>n;i</a:t>
            </a:r>
            <a:r>
              <a:rPr lang="en-US" altLang="zh-CN" dirty="0" smtClean="0"/>
              <a:t>++)                  </a:t>
            </a:r>
            <a:endParaRPr lang="en-US" altLang="zh-CN" dirty="0" smtClean="0"/>
          </a:p>
          <a:p>
            <a:pPr>
              <a:lnSpc>
                <a:spcPct val="90000"/>
              </a:lnSpc>
              <a:spcBef>
                <a:spcPts val="600"/>
              </a:spcBef>
              <a:buFontTx/>
              <a:buNone/>
            </a:pPr>
            <a:r>
              <a:rPr lang="en-US" altLang="zh-CN" dirty="0" smtClean="0"/>
              <a:t>      	for (j=</a:t>
            </a:r>
            <a:r>
              <a:rPr lang="en-US" altLang="zh-CN" dirty="0" err="1" smtClean="0"/>
              <a:t>0;j</a:t>
            </a:r>
            <a:r>
              <a:rPr lang="en-US" altLang="zh-CN" dirty="0" smtClean="0"/>
              <a:t>&lt;</a:t>
            </a:r>
            <a:r>
              <a:rPr lang="en-US" altLang="zh-CN" dirty="0" err="1" smtClean="0"/>
              <a:t>i;j</a:t>
            </a:r>
            <a:r>
              <a:rPr lang="en-US" altLang="zh-CN" dirty="0" smtClean="0"/>
              <a:t>++)            </a:t>
            </a:r>
            <a:endParaRPr lang="en-US" altLang="zh-CN" dirty="0" smtClean="0"/>
          </a:p>
          <a:p>
            <a:pPr>
              <a:lnSpc>
                <a:spcPct val="90000"/>
              </a:lnSpc>
              <a:spcBef>
                <a:spcPts val="600"/>
              </a:spcBef>
              <a:buFontTx/>
              <a:buNone/>
            </a:pPr>
            <a:r>
              <a:rPr lang="en-US" altLang="zh-CN" dirty="0" smtClean="0"/>
              <a:t>        		</a:t>
            </a:r>
            <a:r>
              <a:rPr lang="en-US" altLang="zh-CN" b="1" dirty="0" smtClean="0">
                <a:solidFill>
                  <a:srgbClr val="FF0000"/>
                </a:solidFill>
              </a:rPr>
              <a:t>if (a[j]&lt;a[</a:t>
            </a:r>
            <a:r>
              <a:rPr lang="en-US" altLang="zh-CN" b="1" dirty="0" err="1" smtClean="0">
                <a:solidFill>
                  <a:srgbClr val="FF0000"/>
                </a:solidFill>
              </a:rPr>
              <a:t>i</a:t>
            </a:r>
            <a:r>
              <a:rPr lang="en-US" altLang="zh-CN" b="1" dirty="0" smtClean="0">
                <a:solidFill>
                  <a:srgbClr val="FF0000"/>
                </a:solidFill>
              </a:rPr>
              <a:t>]) r[</a:t>
            </a:r>
            <a:r>
              <a:rPr lang="en-US" altLang="zh-CN" b="1" dirty="0" err="1" smtClean="0">
                <a:solidFill>
                  <a:srgbClr val="FF0000"/>
                </a:solidFill>
              </a:rPr>
              <a:t>i</a:t>
            </a:r>
            <a:r>
              <a:rPr lang="en-US" altLang="zh-CN" b="1" dirty="0" smtClean="0">
                <a:solidFill>
                  <a:srgbClr val="FF0000"/>
                </a:solidFill>
              </a:rPr>
              <a:t>]++;       </a:t>
            </a:r>
            <a:endParaRPr lang="en-US" altLang="zh-CN" b="1" dirty="0" smtClean="0">
              <a:solidFill>
                <a:srgbClr val="FF0000"/>
              </a:solidFill>
            </a:endParaRPr>
          </a:p>
          <a:p>
            <a:pPr>
              <a:lnSpc>
                <a:spcPct val="90000"/>
              </a:lnSpc>
              <a:spcBef>
                <a:spcPts val="600"/>
              </a:spcBef>
              <a:buFontTx/>
              <a:buNone/>
            </a:pPr>
            <a:r>
              <a:rPr lang="en-US" altLang="zh-CN" b="1" dirty="0" smtClean="0">
                <a:solidFill>
                  <a:srgbClr val="FF0000"/>
                </a:solidFill>
              </a:rPr>
              <a:t>        		else   r[j]++</a:t>
            </a:r>
            <a:r>
              <a:rPr lang="zh-CN" altLang="en-US" b="1" dirty="0" smtClean="0">
                <a:solidFill>
                  <a:srgbClr val="FF0000"/>
                </a:solidFill>
              </a:rPr>
              <a:t>；      </a:t>
            </a:r>
            <a:r>
              <a:rPr lang="zh-CN" altLang="en-US" dirty="0" smtClean="0"/>
              <a:t>        </a:t>
            </a:r>
            <a:endParaRPr lang="zh-CN" altLang="en-US" dirty="0" smtClean="0"/>
          </a:p>
          <a:p>
            <a:pPr>
              <a:lnSpc>
                <a:spcPct val="90000"/>
              </a:lnSpc>
              <a:spcBef>
                <a:spcPts val="600"/>
              </a:spcBef>
              <a:buFontTx/>
              <a:buNone/>
            </a:pPr>
            <a:r>
              <a:rPr lang="zh-CN" altLang="en-US" dirty="0" smtClean="0"/>
              <a:t> </a:t>
            </a:r>
            <a:r>
              <a:rPr lang="en-US" altLang="zh-CN" dirty="0" smtClean="0"/>
              <a:t>}                                    </a:t>
            </a:r>
            <a:endParaRPr lang="en-US" altLang="zh-CN" dirty="0" smtClean="0"/>
          </a:p>
          <a:p>
            <a:pPr>
              <a:lnSpc>
                <a:spcPct val="90000"/>
              </a:lnSpc>
              <a:spcBef>
                <a:spcPts val="600"/>
              </a:spcBef>
              <a:buFontTx/>
              <a:buNone/>
            </a:pPr>
            <a:r>
              <a:rPr lang="en-US" altLang="zh-CN" dirty="0" smtClean="0"/>
              <a:t> </a:t>
            </a:r>
            <a:endParaRPr lang="en-US" altLang="zh-CN" dirty="0" smtClean="0"/>
          </a:p>
        </p:txBody>
      </p:sp>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57347" name="Rectangle 2"/>
          <p:cNvSpPr>
            <a:spLocks noGrp="1" noChangeArrowheads="1"/>
          </p:cNvSpPr>
          <p:nvPr>
            <p:ph type="title"/>
          </p:nvPr>
        </p:nvSpPr>
        <p:spPr/>
        <p:txBody>
          <a:bodyPr/>
          <a:lstStyle/>
          <a:p>
            <a:pPr eaLnBrk="1" hangingPunct="1"/>
            <a:r>
              <a:rPr lang="en-US" altLang="zh-CN" dirty="0">
                <a:latin typeface="+mn-ea"/>
              </a:rPr>
              <a:t>1.2.3 </a:t>
            </a:r>
            <a:r>
              <a:rPr lang="zh-CN" altLang="en-US" dirty="0">
                <a:latin typeface="+mn-ea"/>
              </a:rPr>
              <a:t>时间复杂度</a:t>
            </a:r>
            <a:r>
              <a:rPr lang="en-US" altLang="zh-CN" dirty="0">
                <a:latin typeface="+mn-ea"/>
              </a:rPr>
              <a:t>——</a:t>
            </a:r>
            <a:br>
              <a:rPr lang="en-US" altLang="zh-CN" dirty="0">
                <a:latin typeface="+mn-ea"/>
              </a:rPr>
            </a:br>
            <a:r>
              <a:rPr lang="en-US" altLang="zh-CN" dirty="0" smtClean="0">
                <a:latin typeface="+mn-ea"/>
              </a:rPr>
              <a:t>	</a:t>
            </a:r>
            <a:r>
              <a:rPr lang="zh-CN" altLang="en-US" dirty="0" smtClean="0"/>
              <a:t>例</a:t>
            </a:r>
            <a:r>
              <a:rPr lang="en-US" altLang="zh-CN" dirty="0"/>
              <a:t>2</a:t>
            </a:r>
            <a:r>
              <a:rPr lang="zh-CN" altLang="en-US" dirty="0"/>
              <a:t>：计算 </a:t>
            </a:r>
            <a:r>
              <a:rPr lang="en-US" altLang="zh-CN" b="0" dirty="0">
                <a:latin typeface="Arial" panose="020B0604020202090204" pitchFamily="34" charset="0"/>
                <a:cs typeface="Arial" panose="020B0604020202090204" pitchFamily="34" charset="0"/>
              </a:rPr>
              <a:t>a[</a:t>
            </a:r>
            <a:r>
              <a:rPr lang="en-US" altLang="zh-CN" b="0" dirty="0" err="1">
                <a:latin typeface="Arial" panose="020B0604020202090204" pitchFamily="34" charset="0"/>
                <a:cs typeface="Arial" panose="020B0604020202090204" pitchFamily="34" charset="0"/>
              </a:rPr>
              <a:t>0:n-1</a:t>
            </a:r>
            <a:r>
              <a:rPr lang="en-US" altLang="zh-CN" b="0" dirty="0">
                <a:latin typeface="Arial" panose="020B0604020202090204" pitchFamily="34" charset="0"/>
                <a:cs typeface="Arial" panose="020B0604020202090204" pitchFamily="34" charset="0"/>
              </a:rPr>
              <a:t>] </a:t>
            </a:r>
            <a:r>
              <a:rPr lang="zh-CN" altLang="en-US" dirty="0"/>
              <a:t>中元素的排名 </a:t>
            </a:r>
            <a:endParaRPr lang="en-US" altLang="zh-CN" dirty="0" smtClean="0"/>
          </a:p>
        </p:txBody>
      </p:sp>
      <p:sp>
        <p:nvSpPr>
          <p:cNvPr id="57348" name="Rectangle 3"/>
          <p:cNvSpPr>
            <a:spLocks noGrp="1" noChangeArrowheads="1"/>
          </p:cNvSpPr>
          <p:nvPr>
            <p:ph type="body" idx="1"/>
          </p:nvPr>
        </p:nvSpPr>
        <p:spPr>
          <a:xfrm>
            <a:off x="879475" y="1533340"/>
            <a:ext cx="7786687" cy="2256022"/>
          </a:xfrm>
        </p:spPr>
        <p:txBody>
          <a:bodyPr/>
          <a:lstStyle/>
          <a:p>
            <a:pPr>
              <a:lnSpc>
                <a:spcPct val="90000"/>
              </a:lnSpc>
              <a:spcBef>
                <a:spcPct val="0"/>
              </a:spcBef>
            </a:pPr>
            <a:r>
              <a:rPr lang="zh-CN" altLang="en-US" dirty="0"/>
              <a:t>例中，对每个 </a:t>
            </a:r>
            <a:r>
              <a:rPr lang="en-US" altLang="zh-CN" dirty="0" err="1"/>
              <a:t>i</a:t>
            </a:r>
            <a:r>
              <a:rPr lang="en-US" altLang="zh-CN" dirty="0"/>
              <a:t> </a:t>
            </a:r>
            <a:r>
              <a:rPr lang="zh-CN" altLang="en-US" dirty="0"/>
              <a:t>的取值，执行比较的次数是 </a:t>
            </a:r>
            <a:r>
              <a:rPr lang="en-US" altLang="zh-CN" dirty="0" err="1"/>
              <a:t>i</a:t>
            </a:r>
            <a:r>
              <a:rPr lang="en-US" altLang="zh-CN" dirty="0"/>
              <a:t> , </a:t>
            </a:r>
            <a:r>
              <a:rPr lang="zh-CN" altLang="en-US" dirty="0"/>
              <a:t>总的比较次数为 1+2+…+(</a:t>
            </a:r>
            <a:r>
              <a:rPr lang="en-US" altLang="zh-CN" dirty="0"/>
              <a:t>n-1)=(n-1)n/2</a:t>
            </a:r>
            <a:r>
              <a:rPr lang="zh-CN" altLang="en-US" dirty="0"/>
              <a:t>。在此，</a:t>
            </a:r>
            <a:r>
              <a:rPr lang="en-US" altLang="zh-CN" dirty="0"/>
              <a:t>for</a:t>
            </a:r>
            <a:r>
              <a:rPr lang="zh-CN" altLang="en-US" dirty="0"/>
              <a:t>循环的额外开销、初始化数组 </a:t>
            </a:r>
            <a:r>
              <a:rPr lang="en-US" altLang="zh-CN" dirty="0"/>
              <a:t>r </a:t>
            </a:r>
            <a:r>
              <a:rPr lang="zh-CN" altLang="en-US" dirty="0"/>
              <a:t>的开销、以及每次比较 </a:t>
            </a:r>
            <a:r>
              <a:rPr lang="en-US" altLang="zh-CN" dirty="0"/>
              <a:t>a </a:t>
            </a:r>
            <a:r>
              <a:rPr lang="zh-CN" altLang="en-US" dirty="0"/>
              <a:t>中的两个数时对 </a:t>
            </a:r>
            <a:r>
              <a:rPr lang="en-US" altLang="zh-CN" dirty="0"/>
              <a:t>r </a:t>
            </a:r>
            <a:r>
              <a:rPr lang="zh-CN" altLang="en-US" dirty="0"/>
              <a:t>进行的增值开销都未列入其中。</a:t>
            </a:r>
            <a:r>
              <a:rPr lang="en-US" altLang="zh-CN" dirty="0"/>
              <a:t> </a:t>
            </a:r>
            <a:endParaRPr lang="en-US" altLang="zh-CN" dirty="0"/>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58371" name="Rectangle 2"/>
          <p:cNvSpPr>
            <a:spLocks noGrp="1" noChangeArrowheads="1"/>
          </p:cNvSpPr>
          <p:nvPr>
            <p:ph type="title"/>
          </p:nvPr>
        </p:nvSpPr>
        <p:spPr/>
        <p:txBody>
          <a:bodyPr/>
          <a:lstStyle/>
          <a:p>
            <a:pPr eaLnBrk="1" hangingPunct="1"/>
            <a:r>
              <a:rPr lang="en-US" altLang="zh-CN" dirty="0">
                <a:latin typeface="+mn-ea"/>
              </a:rPr>
              <a:t>1.2.3 </a:t>
            </a:r>
            <a:r>
              <a:rPr lang="zh-CN" altLang="en-US" dirty="0">
                <a:latin typeface="+mn-ea"/>
              </a:rPr>
              <a:t>时间复杂度</a:t>
            </a:r>
            <a:r>
              <a:rPr lang="en-US" altLang="zh-CN" dirty="0" smtClean="0">
                <a:latin typeface="+mn-ea"/>
              </a:rPr>
              <a:t>——</a:t>
            </a:r>
            <a:br>
              <a:rPr lang="en-US" altLang="zh-CN" dirty="0" smtClean="0">
                <a:latin typeface="+mn-ea"/>
              </a:rPr>
            </a:br>
            <a:r>
              <a:rPr lang="en-US" altLang="zh-CN" dirty="0" smtClean="0">
                <a:latin typeface="+mn-ea"/>
              </a:rPr>
              <a:t>	</a:t>
            </a:r>
            <a:r>
              <a:rPr lang="zh-CN" altLang="en-US" dirty="0" smtClean="0"/>
              <a:t>例</a:t>
            </a:r>
            <a:r>
              <a:rPr lang="en-US" altLang="zh-CN" b="0" dirty="0" smtClean="0">
                <a:latin typeface="Arial" panose="020B0604020202090204" pitchFamily="34" charset="0"/>
                <a:cs typeface="Arial" panose="020B0604020202090204" pitchFamily="34" charset="0"/>
              </a:rPr>
              <a:t>3</a:t>
            </a:r>
            <a:r>
              <a:rPr lang="zh-CN" altLang="en-US" dirty="0" smtClean="0"/>
              <a:t>：对数组 </a:t>
            </a:r>
            <a:r>
              <a:rPr lang="en-US" altLang="zh-CN" b="0" dirty="0">
                <a:latin typeface="Arial" panose="020B0604020202090204" pitchFamily="34" charset="0"/>
                <a:cs typeface="Arial" panose="020B0604020202090204" pitchFamily="34" charset="0"/>
              </a:rPr>
              <a:t>a[</a:t>
            </a:r>
            <a:r>
              <a:rPr lang="en-US" altLang="zh-CN" b="0" dirty="0" err="1">
                <a:latin typeface="Arial" panose="020B0604020202090204" pitchFamily="34" charset="0"/>
                <a:cs typeface="Arial" panose="020B0604020202090204" pitchFamily="34" charset="0"/>
              </a:rPr>
              <a:t>0:n-1</a:t>
            </a:r>
            <a:r>
              <a:rPr lang="en-US" altLang="zh-CN" b="0" dirty="0">
                <a:latin typeface="Arial" panose="020B0604020202090204" pitchFamily="34" charset="0"/>
                <a:cs typeface="Arial" panose="020B0604020202090204" pitchFamily="34" charset="0"/>
              </a:rPr>
              <a:t>]</a:t>
            </a:r>
            <a:r>
              <a:rPr lang="en-US" altLang="zh-CN" dirty="0" smtClean="0"/>
              <a:t> </a:t>
            </a:r>
            <a:r>
              <a:rPr lang="zh-CN" altLang="en-US" dirty="0" smtClean="0"/>
              <a:t>进行选择排序</a:t>
            </a:r>
            <a:endParaRPr lang="en-US" altLang="zh-CN" dirty="0" smtClean="0"/>
          </a:p>
        </p:txBody>
      </p:sp>
      <p:sp>
        <p:nvSpPr>
          <p:cNvPr id="58372" name="Rectangle 3"/>
          <p:cNvSpPr>
            <a:spLocks noGrp="1" noChangeArrowheads="1"/>
          </p:cNvSpPr>
          <p:nvPr>
            <p:ph type="body" idx="1"/>
          </p:nvPr>
        </p:nvSpPr>
        <p:spPr>
          <a:xfrm>
            <a:off x="962026" y="1196975"/>
            <a:ext cx="7786687" cy="4525962"/>
          </a:xfrm>
        </p:spPr>
        <p:txBody>
          <a:bodyPr/>
          <a:lstStyle/>
          <a:p>
            <a:pPr>
              <a:lnSpc>
                <a:spcPct val="90000"/>
              </a:lnSpc>
              <a:spcBef>
                <a:spcPts val="0"/>
              </a:spcBef>
              <a:buNone/>
            </a:pPr>
            <a:r>
              <a:rPr lang="en-US" altLang="zh-CN" dirty="0"/>
              <a:t>template&lt;class T&gt;</a:t>
            </a:r>
            <a:endParaRPr lang="en-US" altLang="zh-CN" dirty="0"/>
          </a:p>
          <a:p>
            <a:pPr>
              <a:lnSpc>
                <a:spcPct val="90000"/>
              </a:lnSpc>
              <a:spcBef>
                <a:spcPts val="0"/>
              </a:spcBef>
              <a:buNone/>
            </a:pPr>
            <a:r>
              <a:rPr lang="en-US" altLang="zh-CN" dirty="0"/>
              <a:t>void </a:t>
            </a:r>
            <a:r>
              <a:rPr lang="en-US" altLang="zh-CN" dirty="0" err="1"/>
              <a:t>SelectionSort</a:t>
            </a:r>
            <a:r>
              <a:rPr lang="en-US" altLang="zh-CN" dirty="0"/>
              <a:t>(T a[],</a:t>
            </a:r>
            <a:r>
              <a:rPr lang="en-US" altLang="zh-CN" dirty="0" err="1"/>
              <a:t>int</a:t>
            </a:r>
            <a:r>
              <a:rPr lang="en-US" altLang="zh-CN" dirty="0"/>
              <a:t> n){</a:t>
            </a:r>
            <a:endParaRPr lang="en-US" altLang="zh-CN" dirty="0"/>
          </a:p>
          <a:p>
            <a:pPr>
              <a:lnSpc>
                <a:spcPct val="90000"/>
              </a:lnSpc>
              <a:spcBef>
                <a:spcPts val="0"/>
              </a:spcBef>
              <a:buNone/>
            </a:pPr>
            <a:r>
              <a:rPr lang="en-US" altLang="zh-CN" dirty="0"/>
              <a:t>	// </a:t>
            </a:r>
            <a:r>
              <a:rPr lang="zh-CN" altLang="en-US" dirty="0"/>
              <a:t>对数组 </a:t>
            </a:r>
            <a:r>
              <a:rPr lang="en-US" altLang="zh-CN" dirty="0"/>
              <a:t>a[</a:t>
            </a:r>
            <a:r>
              <a:rPr lang="en-US" altLang="zh-CN" dirty="0" err="1"/>
              <a:t>0:n-1</a:t>
            </a:r>
            <a:r>
              <a:rPr lang="en-US" altLang="zh-CN" dirty="0"/>
              <a:t>] </a:t>
            </a:r>
            <a:r>
              <a:rPr lang="zh-CN" altLang="en-US" dirty="0"/>
              <a:t>中元素排序</a:t>
            </a:r>
            <a:endParaRPr lang="zh-CN" altLang="en-US" dirty="0"/>
          </a:p>
          <a:p>
            <a:pPr>
              <a:lnSpc>
                <a:spcPct val="90000"/>
              </a:lnSpc>
              <a:spcBef>
                <a:spcPts val="0"/>
              </a:spcBef>
              <a:buNone/>
            </a:pPr>
            <a:r>
              <a:rPr lang="zh-CN" altLang="en-US" dirty="0"/>
              <a:t>   </a:t>
            </a:r>
            <a:r>
              <a:rPr lang="en-US" altLang="zh-CN" dirty="0"/>
              <a:t>	for(</a:t>
            </a:r>
            <a:r>
              <a:rPr lang="en-US" altLang="zh-CN" dirty="0" err="1"/>
              <a:t>int</a:t>
            </a:r>
            <a:r>
              <a:rPr lang="en-US" altLang="zh-CN" dirty="0"/>
              <a:t> size=</a:t>
            </a:r>
            <a:r>
              <a:rPr lang="en-US" altLang="zh-CN" dirty="0" err="1"/>
              <a:t>n;size</a:t>
            </a:r>
            <a:r>
              <a:rPr lang="en-US" altLang="zh-CN" dirty="0"/>
              <a:t>&gt;</a:t>
            </a:r>
            <a:r>
              <a:rPr lang="en-US" altLang="zh-CN" dirty="0" err="1"/>
              <a:t>1;size</a:t>
            </a:r>
            <a:r>
              <a:rPr lang="en-US" altLang="zh-CN" dirty="0"/>
              <a:t>--){ </a:t>
            </a:r>
            <a:endParaRPr lang="en-US" altLang="zh-CN" dirty="0"/>
          </a:p>
          <a:p>
            <a:pPr>
              <a:lnSpc>
                <a:spcPct val="90000"/>
              </a:lnSpc>
              <a:spcBef>
                <a:spcPts val="0"/>
              </a:spcBef>
              <a:buNone/>
            </a:pPr>
            <a:r>
              <a:rPr lang="en-US" altLang="zh-CN" dirty="0"/>
              <a:t>		j=Max(a, size</a:t>
            </a:r>
            <a:r>
              <a:rPr lang="en-US" altLang="zh-CN" dirty="0" smtClean="0"/>
              <a:t>);</a:t>
            </a:r>
            <a:endParaRPr lang="en-US" altLang="zh-CN" dirty="0" smtClean="0"/>
          </a:p>
          <a:p>
            <a:pPr>
              <a:lnSpc>
                <a:spcPct val="90000"/>
              </a:lnSpc>
              <a:spcBef>
                <a:spcPts val="0"/>
              </a:spcBef>
              <a:buNone/>
            </a:pPr>
            <a:r>
              <a:rPr lang="en-US" altLang="zh-CN" dirty="0"/>
              <a:t>	</a:t>
            </a:r>
            <a:r>
              <a:rPr lang="en-US" altLang="zh-CN" dirty="0" smtClean="0"/>
              <a:t>	Swap(a[j</a:t>
            </a:r>
            <a:r>
              <a:rPr lang="en-US" altLang="zh-CN" dirty="0"/>
              <a:t>],a[size-1]);</a:t>
            </a:r>
            <a:endParaRPr lang="en-US" altLang="zh-CN" dirty="0"/>
          </a:p>
          <a:p>
            <a:pPr>
              <a:lnSpc>
                <a:spcPct val="90000"/>
              </a:lnSpc>
              <a:spcBef>
                <a:spcPts val="0"/>
              </a:spcBef>
              <a:buNone/>
            </a:pPr>
            <a:r>
              <a:rPr lang="en-US" altLang="zh-CN" dirty="0"/>
              <a:t>	}</a:t>
            </a:r>
            <a:endParaRPr lang="en-US" altLang="zh-CN" dirty="0"/>
          </a:p>
          <a:p>
            <a:pPr>
              <a:lnSpc>
                <a:spcPct val="90000"/>
              </a:lnSpc>
              <a:spcBef>
                <a:spcPts val="0"/>
              </a:spcBef>
              <a:buNone/>
            </a:pPr>
            <a:r>
              <a:rPr lang="en-US" altLang="zh-CN" dirty="0"/>
              <a:t> }</a:t>
            </a:r>
            <a:endParaRPr lang="en-US" altLang="zh-CN" dirty="0"/>
          </a:p>
          <a:p>
            <a:pPr>
              <a:lnSpc>
                <a:spcPct val="90000"/>
              </a:lnSpc>
              <a:spcBef>
                <a:spcPts val="0"/>
              </a:spcBef>
              <a:buNone/>
            </a:pPr>
            <a:r>
              <a:rPr lang="en-US" altLang="zh-CN" dirty="0"/>
              <a:t>// </a:t>
            </a:r>
            <a:r>
              <a:rPr lang="zh-CN" altLang="en-US" dirty="0"/>
              <a:t>其中函数 </a:t>
            </a:r>
            <a:r>
              <a:rPr lang="en-US" altLang="zh-CN" dirty="0"/>
              <a:t>Max </a:t>
            </a:r>
            <a:r>
              <a:rPr lang="zh-CN" altLang="en-US" dirty="0"/>
              <a:t>寻找最大元素定义如例</a:t>
            </a:r>
            <a:r>
              <a:rPr lang="en-US" altLang="zh-CN" dirty="0"/>
              <a:t>1</a:t>
            </a:r>
            <a:endParaRPr lang="en-US" altLang="zh-CN" dirty="0"/>
          </a:p>
          <a:p>
            <a:pPr>
              <a:lnSpc>
                <a:spcPct val="90000"/>
              </a:lnSpc>
              <a:spcBef>
                <a:spcPts val="0"/>
              </a:spcBef>
              <a:buNone/>
            </a:pPr>
            <a:r>
              <a:rPr lang="en-US" altLang="zh-CN" dirty="0"/>
              <a:t>//</a:t>
            </a:r>
            <a:r>
              <a:rPr lang="zh-CN" altLang="en-US" dirty="0"/>
              <a:t>函数</a:t>
            </a:r>
            <a:r>
              <a:rPr lang="en-US" altLang="zh-CN" dirty="0"/>
              <a:t>Swap </a:t>
            </a:r>
            <a:r>
              <a:rPr lang="zh-CN" altLang="en-US" dirty="0"/>
              <a:t>由下述给出</a:t>
            </a:r>
            <a:endParaRPr lang="zh-CN" altLang="en-US" dirty="0"/>
          </a:p>
          <a:p>
            <a:pPr>
              <a:lnSpc>
                <a:spcPct val="90000"/>
              </a:lnSpc>
              <a:spcBef>
                <a:spcPts val="0"/>
              </a:spcBef>
              <a:buNone/>
            </a:pPr>
            <a:r>
              <a:rPr lang="en-US" altLang="zh-CN" dirty="0"/>
              <a:t>template&lt;class T&gt;</a:t>
            </a:r>
            <a:endParaRPr lang="en-US" altLang="zh-CN" dirty="0"/>
          </a:p>
          <a:p>
            <a:pPr>
              <a:lnSpc>
                <a:spcPct val="90000"/>
              </a:lnSpc>
              <a:spcBef>
                <a:spcPts val="0"/>
              </a:spcBef>
              <a:buNone/>
            </a:pPr>
            <a:r>
              <a:rPr lang="en-US" altLang="zh-CN" dirty="0"/>
              <a:t>inline void Swap(T &amp;a, T &amp;b){</a:t>
            </a:r>
            <a:endParaRPr lang="en-US" altLang="zh-CN" dirty="0"/>
          </a:p>
          <a:p>
            <a:pPr>
              <a:lnSpc>
                <a:spcPct val="90000"/>
              </a:lnSpc>
              <a:spcBef>
                <a:spcPts val="0"/>
              </a:spcBef>
              <a:buNone/>
            </a:pPr>
            <a:r>
              <a:rPr lang="en-US" altLang="zh-CN" dirty="0"/>
              <a:t>	T temp=a; a=b; b=temp; </a:t>
            </a:r>
            <a:endParaRPr lang="en-US" altLang="zh-CN" dirty="0"/>
          </a:p>
          <a:p>
            <a:pPr>
              <a:lnSpc>
                <a:spcPct val="90000"/>
              </a:lnSpc>
              <a:spcBef>
                <a:spcPts val="0"/>
              </a:spcBef>
              <a:buNone/>
            </a:pPr>
            <a:r>
              <a:rPr lang="en-US" altLang="zh-CN" dirty="0"/>
              <a:t>}</a:t>
            </a:r>
            <a:endParaRPr lang="en-US" altLang="zh-CN" dirty="0"/>
          </a:p>
        </p:txBody>
      </p:sp>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59395" name="Rectangle 2"/>
          <p:cNvSpPr>
            <a:spLocks noGrp="1" noChangeArrowheads="1"/>
          </p:cNvSpPr>
          <p:nvPr>
            <p:ph type="title"/>
          </p:nvPr>
        </p:nvSpPr>
        <p:spPr/>
        <p:txBody>
          <a:bodyPr/>
          <a:lstStyle/>
          <a:p>
            <a:pPr eaLnBrk="1" hangingPunct="1"/>
            <a:r>
              <a:rPr lang="en-US" altLang="zh-CN" dirty="0">
                <a:latin typeface="+mn-ea"/>
              </a:rPr>
              <a:t>1.2.3 </a:t>
            </a:r>
            <a:r>
              <a:rPr lang="zh-CN" altLang="en-US" dirty="0">
                <a:latin typeface="+mn-ea"/>
              </a:rPr>
              <a:t>时间复杂度</a:t>
            </a:r>
            <a:r>
              <a:rPr lang="en-US" altLang="zh-CN" dirty="0">
                <a:latin typeface="+mn-ea"/>
              </a:rPr>
              <a:t>——</a:t>
            </a:r>
            <a:br>
              <a:rPr lang="en-US" altLang="zh-CN" dirty="0" smtClean="0"/>
            </a:br>
            <a:r>
              <a:rPr lang="en-US" altLang="zh-CN" dirty="0" smtClean="0"/>
              <a:t>	</a:t>
            </a:r>
            <a:r>
              <a:rPr lang="zh-CN" altLang="en-US" dirty="0" smtClean="0"/>
              <a:t>例</a:t>
            </a:r>
            <a:r>
              <a:rPr lang="en-US" altLang="zh-CN" b="0" dirty="0">
                <a:latin typeface="Arial" panose="020B0604020202090204" pitchFamily="34" charset="0"/>
                <a:cs typeface="Arial" panose="020B0604020202090204" pitchFamily="34" charset="0"/>
              </a:rPr>
              <a:t>3</a:t>
            </a:r>
            <a:r>
              <a:rPr lang="zh-CN" altLang="en-US" dirty="0"/>
              <a:t>：对数组 </a:t>
            </a:r>
            <a:r>
              <a:rPr lang="en-US" altLang="zh-CN" b="0" dirty="0">
                <a:latin typeface="Arial" panose="020B0604020202090204" pitchFamily="34" charset="0"/>
                <a:cs typeface="Arial" panose="020B0604020202090204" pitchFamily="34" charset="0"/>
              </a:rPr>
              <a:t>a[</a:t>
            </a:r>
            <a:r>
              <a:rPr lang="en-US" altLang="zh-CN" b="0" dirty="0" err="1">
                <a:latin typeface="Arial" panose="020B0604020202090204" pitchFamily="34" charset="0"/>
                <a:cs typeface="Arial" panose="020B0604020202090204" pitchFamily="34" charset="0"/>
              </a:rPr>
              <a:t>0:n-1</a:t>
            </a:r>
            <a:r>
              <a:rPr lang="en-US" altLang="zh-CN" b="0" dirty="0">
                <a:latin typeface="Arial" panose="020B0604020202090204" pitchFamily="34" charset="0"/>
                <a:cs typeface="Arial" panose="020B0604020202090204" pitchFamily="34" charset="0"/>
              </a:rPr>
              <a:t>]</a:t>
            </a:r>
            <a:r>
              <a:rPr lang="en-US" altLang="zh-CN" dirty="0"/>
              <a:t> </a:t>
            </a:r>
            <a:r>
              <a:rPr lang="zh-CN" altLang="en-US" dirty="0"/>
              <a:t>进行选择排序</a:t>
            </a:r>
            <a:endParaRPr lang="en-US" altLang="zh-CN" dirty="0" smtClean="0"/>
          </a:p>
        </p:txBody>
      </p:sp>
      <p:sp>
        <p:nvSpPr>
          <p:cNvPr id="59396" name="Rectangle 3"/>
          <p:cNvSpPr>
            <a:spLocks noGrp="1" noChangeArrowheads="1"/>
          </p:cNvSpPr>
          <p:nvPr>
            <p:ph type="body" idx="1"/>
          </p:nvPr>
        </p:nvSpPr>
        <p:spPr>
          <a:xfrm>
            <a:off x="920750" y="1392701"/>
            <a:ext cx="7786687" cy="4525962"/>
          </a:xfrm>
        </p:spPr>
        <p:txBody>
          <a:bodyPr/>
          <a:lstStyle/>
          <a:p>
            <a:pPr latinLnBrk="0">
              <a:lnSpc>
                <a:spcPct val="150000"/>
              </a:lnSpc>
              <a:spcBef>
                <a:spcPct val="0"/>
              </a:spcBef>
            </a:pPr>
            <a:r>
              <a:rPr lang="zh-CN" altLang="en-US" dirty="0" smtClean="0"/>
              <a:t>例中给出的排序中，首先找出最大元素，把它移动到</a:t>
            </a:r>
            <a:r>
              <a:rPr lang="en-US" altLang="zh-CN" dirty="0" smtClean="0"/>
              <a:t>a[n-1],</a:t>
            </a:r>
            <a:r>
              <a:rPr lang="zh-CN" altLang="en-US" dirty="0" smtClean="0"/>
              <a:t>然后在余下的 </a:t>
            </a:r>
            <a:r>
              <a:rPr lang="en-US" altLang="zh-CN" dirty="0" smtClean="0"/>
              <a:t>n-1 </a:t>
            </a:r>
            <a:r>
              <a:rPr lang="zh-CN" altLang="en-US" dirty="0" smtClean="0"/>
              <a:t>个中再寻找最大的元素，并把它移动到</a:t>
            </a:r>
            <a:r>
              <a:rPr lang="en-US" altLang="zh-CN" dirty="0" smtClean="0"/>
              <a:t>a[n-2],</a:t>
            </a:r>
            <a:r>
              <a:rPr lang="zh-CN" altLang="en-US" dirty="0" smtClean="0"/>
              <a:t>如此进行下去。从例</a:t>
            </a:r>
            <a:r>
              <a:rPr lang="en-US" altLang="zh-CN" dirty="0" smtClean="0"/>
              <a:t>1</a:t>
            </a:r>
            <a:r>
              <a:rPr lang="zh-CN" altLang="en-US" dirty="0" smtClean="0"/>
              <a:t>中已经知道，每次调用 </a:t>
            </a:r>
            <a:r>
              <a:rPr lang="en-US" altLang="zh-CN" dirty="0" smtClean="0"/>
              <a:t>Max(</a:t>
            </a:r>
            <a:r>
              <a:rPr lang="en-US" altLang="zh-CN" dirty="0" err="1" smtClean="0"/>
              <a:t>a,size</a:t>
            </a:r>
            <a:r>
              <a:rPr lang="en-US" altLang="zh-CN" dirty="0" smtClean="0"/>
              <a:t>)</a:t>
            </a:r>
            <a:r>
              <a:rPr lang="zh-CN" altLang="en-US" dirty="0" smtClean="0"/>
              <a:t>需要进行</a:t>
            </a:r>
            <a:r>
              <a:rPr lang="en-US" altLang="zh-CN" dirty="0" smtClean="0"/>
              <a:t>size-1 </a:t>
            </a:r>
            <a:r>
              <a:rPr lang="zh-CN" altLang="en-US" dirty="0" smtClean="0"/>
              <a:t>次比较，所以总的比较次数为1+2+…+</a:t>
            </a:r>
            <a:r>
              <a:rPr lang="en-US" altLang="zh-CN" dirty="0" smtClean="0"/>
              <a:t>n-1=(n-1)n/2. </a:t>
            </a:r>
            <a:r>
              <a:rPr lang="zh-CN" altLang="en-US" dirty="0" smtClean="0"/>
              <a:t>每调用一次函数 </a:t>
            </a:r>
            <a:r>
              <a:rPr lang="en-US" altLang="zh-CN" dirty="0" smtClean="0"/>
              <a:t>Swap</a:t>
            </a:r>
            <a:r>
              <a:rPr lang="zh-CN" altLang="en-US" dirty="0" smtClean="0"/>
              <a:t>需要执行三次元素移动，所以总的移动次数为 3(</a:t>
            </a:r>
            <a:r>
              <a:rPr lang="en-US" altLang="zh-CN" dirty="0" smtClean="0"/>
              <a:t>n-1). </a:t>
            </a:r>
            <a:r>
              <a:rPr lang="zh-CN" altLang="en-US" dirty="0" smtClean="0"/>
              <a:t>当然，在本程序中，还会有其他开销，在此未予考虑。</a:t>
            </a:r>
            <a:r>
              <a:rPr lang="en-US" altLang="zh-CN" dirty="0" smtClean="0"/>
              <a:t> </a:t>
            </a:r>
            <a:r>
              <a:rPr lang="zh-CN" altLang="en-US" dirty="0" smtClean="0"/>
              <a:t>总的比较次数为 </a:t>
            </a:r>
            <a:r>
              <a:rPr lang="en-US" altLang="zh-CN" dirty="0" smtClean="0"/>
              <a:t>(n-1)n/2+</a:t>
            </a:r>
            <a:r>
              <a:rPr lang="zh-CN" altLang="en-US" dirty="0" smtClean="0"/>
              <a:t> 3(</a:t>
            </a:r>
            <a:r>
              <a:rPr lang="en-US" altLang="zh-CN" dirty="0" smtClean="0"/>
              <a:t>n-1)</a:t>
            </a:r>
            <a:r>
              <a:rPr lang="zh-CN" altLang="en-US" dirty="0" smtClean="0"/>
              <a:t>。</a:t>
            </a:r>
            <a:endParaRPr lang="en-US" altLang="zh-CN" dirty="0" smtClean="0"/>
          </a:p>
        </p:txBody>
      </p:sp>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60419" name="Rectangle 2"/>
          <p:cNvSpPr>
            <a:spLocks noGrp="1" noChangeArrowheads="1"/>
          </p:cNvSpPr>
          <p:nvPr>
            <p:ph type="title"/>
          </p:nvPr>
        </p:nvSpPr>
        <p:spPr/>
        <p:txBody>
          <a:bodyPr/>
          <a:lstStyle/>
          <a:p>
            <a:pPr eaLnBrk="1" hangingPunct="1"/>
            <a:r>
              <a:rPr lang="en-US" altLang="zh-CN" dirty="0">
                <a:latin typeface="+mn-ea"/>
              </a:rPr>
              <a:t>1.2.3 </a:t>
            </a:r>
            <a:r>
              <a:rPr lang="zh-CN" altLang="en-US" dirty="0">
                <a:latin typeface="+mn-ea"/>
              </a:rPr>
              <a:t>时间复杂度</a:t>
            </a:r>
            <a:r>
              <a:rPr lang="en-US" altLang="zh-CN" dirty="0">
                <a:latin typeface="+mn-ea"/>
              </a:rPr>
              <a:t>——</a:t>
            </a:r>
            <a:br>
              <a:rPr lang="en-US" altLang="zh-CN" dirty="0" smtClean="0"/>
            </a:br>
            <a:r>
              <a:rPr lang="en-US" altLang="zh-CN" dirty="0" smtClean="0"/>
              <a:t>	</a:t>
            </a:r>
            <a:r>
              <a:rPr lang="zh-CN" altLang="en-US" dirty="0" smtClean="0"/>
              <a:t>最好、最坏、平均情况分析</a:t>
            </a:r>
            <a:endParaRPr lang="en-US" altLang="zh-CN" dirty="0" smtClean="0"/>
          </a:p>
        </p:txBody>
      </p:sp>
      <p:sp>
        <p:nvSpPr>
          <p:cNvPr id="60420" name="Rectangle 3"/>
          <p:cNvSpPr>
            <a:spLocks noGrp="1" noChangeArrowheads="1"/>
          </p:cNvSpPr>
          <p:nvPr>
            <p:ph type="body" idx="1"/>
          </p:nvPr>
        </p:nvSpPr>
        <p:spPr>
          <a:xfrm>
            <a:off x="920750" y="1401578"/>
            <a:ext cx="7786687" cy="4525962"/>
          </a:xfrm>
        </p:spPr>
        <p:txBody>
          <a:bodyPr/>
          <a:lstStyle/>
          <a:p>
            <a:pPr eaLnBrk="1" hangingPunct="1"/>
            <a:r>
              <a:rPr lang="zh-CN" altLang="en-US" dirty="0" smtClean="0">
                <a:sym typeface="Symbol" panose="05050102010706020507" pitchFamily="18" charset="2"/>
              </a:rPr>
              <a:t>实际算法分析过程中，人们往往还会关心</a:t>
            </a:r>
            <a:r>
              <a:rPr lang="zh-CN" altLang="en-US" dirty="0" smtClean="0">
                <a:solidFill>
                  <a:srgbClr val="FF0000"/>
                </a:solidFill>
                <a:sym typeface="Symbol" panose="05050102010706020507" pitchFamily="18" charset="2"/>
              </a:rPr>
              <a:t>最好的、最坏的和平均的操作步数</a:t>
            </a:r>
            <a:r>
              <a:rPr lang="zh-CN" altLang="en-US" dirty="0" smtClean="0">
                <a:sym typeface="Symbol" panose="05050102010706020507" pitchFamily="18" charset="2"/>
              </a:rPr>
              <a:t>是多少。在上面的计算中我们都考虑的是最坏的情况。</a:t>
            </a:r>
            <a:endParaRPr lang="en-US" altLang="zh-CN" dirty="0" smtClean="0">
              <a:sym typeface="Symbol" panose="05050102010706020507" pitchFamily="18" charset="2"/>
            </a:endParaRPr>
          </a:p>
          <a:p>
            <a:pPr eaLnBrk="1" hangingPunct="1"/>
            <a:endParaRPr lang="en-US" altLang="zh-CN" dirty="0" smtClean="0">
              <a:sym typeface="Symbol" panose="05050102010706020507" pitchFamily="18" charset="2"/>
            </a:endParaRPr>
          </a:p>
        </p:txBody>
      </p:sp>
    </p:spTree>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1034" name="Rectangle 2"/>
          <p:cNvSpPr>
            <a:spLocks noGrp="1" noChangeArrowheads="1"/>
          </p:cNvSpPr>
          <p:nvPr>
            <p:ph type="title"/>
          </p:nvPr>
        </p:nvSpPr>
        <p:spPr/>
        <p:txBody>
          <a:bodyPr/>
          <a:lstStyle/>
          <a:p>
            <a:pPr eaLnBrk="1" hangingPunct="1"/>
            <a:r>
              <a:rPr lang="en-US" altLang="zh-CN" dirty="0">
                <a:latin typeface="+mn-ea"/>
              </a:rPr>
              <a:t>1.2.3 </a:t>
            </a:r>
            <a:r>
              <a:rPr lang="zh-CN" altLang="en-US" dirty="0">
                <a:latin typeface="+mn-ea"/>
              </a:rPr>
              <a:t>时间复杂度</a:t>
            </a:r>
            <a:r>
              <a:rPr lang="en-US" altLang="zh-CN" dirty="0">
                <a:latin typeface="+mn-ea"/>
              </a:rPr>
              <a:t>——</a:t>
            </a:r>
            <a:br>
              <a:rPr lang="en-US" altLang="zh-CN" dirty="0"/>
            </a:br>
            <a:r>
              <a:rPr lang="en-US" altLang="zh-CN" dirty="0" smtClean="0"/>
              <a:t>	</a:t>
            </a:r>
            <a:r>
              <a:rPr lang="zh-CN" altLang="en-US" dirty="0" smtClean="0"/>
              <a:t>最好</a:t>
            </a:r>
            <a:r>
              <a:rPr lang="zh-CN" altLang="en-US" dirty="0"/>
              <a:t>、最坏、平均情况分析</a:t>
            </a:r>
            <a:endParaRPr lang="en-US" altLang="zh-CN" dirty="0" smtClean="0"/>
          </a:p>
        </p:txBody>
      </p:sp>
      <mc:AlternateContent xmlns:mc="http://schemas.openxmlformats.org/markup-compatibility/2006">
        <mc:Choice xmlns:a14="http://schemas.microsoft.com/office/drawing/2010/main" Requires="a14">
          <p:sp>
            <p:nvSpPr>
              <p:cNvPr id="205827" name="Rectangle 3"/>
              <p:cNvSpPr>
                <a:spLocks noGrp="1" noChangeArrowheads="1"/>
              </p:cNvSpPr>
              <p:nvPr>
                <p:ph type="body" idx="1"/>
              </p:nvPr>
            </p:nvSpPr>
            <p:spPr/>
            <p:txBody>
              <a:bodyPr/>
              <a:lstStyle/>
              <a:p>
                <a:pPr eaLnBrk="1" hangingPunct="1">
                  <a:defRPr/>
                </a:pPr>
                <a:r>
                  <a:rPr lang="zh-CN" altLang="en-US" sz="2400" dirty="0" smtClean="0">
                    <a:sym typeface="Symbol" panose="05050102010706020507" pitchFamily="18" charset="2"/>
                  </a:rPr>
                  <a:t>最坏情况下的时间复杂性：</a:t>
                </a:r>
                <a:endParaRPr lang="en-US" altLang="zh-CN" sz="2400" dirty="0" smtClean="0">
                  <a:sym typeface="Symbol" panose="05050102010706020507" pitchFamily="18" charset="2"/>
                </a:endParaRPr>
              </a:p>
              <a:p>
                <a:pPr eaLnBrk="1" hangingPunct="1">
                  <a:defRPr/>
                </a:pPr>
                <a:endParaRPr lang="en-US" altLang="zh-CN" sz="2000" dirty="0" smtClean="0">
                  <a:sym typeface="Symbol" panose="05050102010706020507" pitchFamily="18" charset="2"/>
                </a:endParaRPr>
              </a:p>
              <a:p>
                <a:pPr eaLnBrk="1" hangingPunct="1">
                  <a:defRPr/>
                </a:pPr>
                <a:r>
                  <a:rPr lang="zh-CN" altLang="en-US" sz="2400" dirty="0" smtClean="0">
                    <a:sym typeface="Symbol" panose="05050102010706020507" pitchFamily="18" charset="2"/>
                  </a:rPr>
                  <a:t>最好情况下的时间复杂性</a:t>
                </a:r>
                <a:r>
                  <a:rPr lang="en-US" altLang="zh-CN" sz="2400" dirty="0" smtClean="0">
                    <a:sym typeface="Symbol" panose="05050102010706020507" pitchFamily="18" charset="2"/>
                  </a:rPr>
                  <a:t>:</a:t>
                </a:r>
                <a:endParaRPr lang="zh-CN" altLang="en-US" sz="2400" dirty="0" smtClean="0">
                  <a:sym typeface="Symbol" panose="05050102010706020507" pitchFamily="18" charset="2"/>
                </a:endParaRPr>
              </a:p>
              <a:p>
                <a:pPr eaLnBrk="1" hangingPunct="1">
                  <a:defRPr/>
                </a:pPr>
                <a:endParaRPr lang="en-US" altLang="zh-CN" sz="2000" dirty="0" smtClean="0">
                  <a:sym typeface="Symbol" panose="05050102010706020507" pitchFamily="18" charset="2"/>
                </a:endParaRPr>
              </a:p>
              <a:p>
                <a:pPr eaLnBrk="1" hangingPunct="1">
                  <a:defRPr/>
                </a:pPr>
                <a:r>
                  <a:rPr lang="zh-CN" altLang="en-US" sz="2400" dirty="0" smtClean="0">
                    <a:sym typeface="Symbol" panose="05050102010706020507" pitchFamily="18" charset="2"/>
                  </a:rPr>
                  <a:t>平均情况下的时间复杂性：</a:t>
                </a:r>
                <a:endParaRPr lang="zh-CN" altLang="en-US" sz="2400" dirty="0" smtClean="0">
                  <a:sym typeface="Symbol" panose="05050102010706020507" pitchFamily="18" charset="2"/>
                </a:endParaRPr>
              </a:p>
              <a:p>
                <a:pPr>
                  <a:defRPr/>
                </a:pPr>
                <a:r>
                  <a:rPr lang="zh-CN" altLang="en-US" sz="2400" dirty="0" smtClean="0">
                    <a:solidFill>
                      <a:srgbClr val="0070C0"/>
                    </a:solidFill>
                    <a:latin typeface="+mn-ea"/>
                  </a:rPr>
                  <a:t> </a:t>
                </a:r>
                <a:endParaRPr lang="en-US" altLang="zh-CN" sz="2400" dirty="0" smtClean="0">
                  <a:solidFill>
                    <a:srgbClr val="0070C0"/>
                  </a:solidFill>
                  <a:latin typeface="+mn-ea"/>
                </a:endParaRPr>
              </a:p>
              <a:p>
                <a:pPr>
                  <a:defRPr/>
                </a:pPr>
                <a:endParaRPr lang="en-US" altLang="zh-CN" sz="2000" dirty="0" smtClean="0">
                  <a:solidFill>
                    <a:srgbClr val="0070C0"/>
                  </a:solidFill>
                  <a:latin typeface="+mn-ea"/>
                </a:endParaRPr>
              </a:p>
              <a:p>
                <a:pPr>
                  <a:defRPr/>
                </a:pPr>
                <a:r>
                  <a:rPr lang="zh-CN" altLang="en-US" sz="2400" dirty="0" smtClean="0">
                    <a:solidFill>
                      <a:srgbClr val="0070C0"/>
                    </a:solidFill>
                    <a:latin typeface="+mn-ea"/>
                  </a:rPr>
                  <a:t>其中</a:t>
                </a:r>
                <a:r>
                  <a:rPr lang="en-US" altLang="zh-CN" sz="2400" dirty="0" smtClean="0">
                    <a:solidFill>
                      <a:srgbClr val="0070C0"/>
                    </a:solidFill>
                    <a:latin typeface="+mn-ea"/>
                  </a:rPr>
                  <a:t>D</a:t>
                </a:r>
                <a:r>
                  <a:rPr lang="en-US" altLang="zh-CN" sz="2400" baseline="-25000" dirty="0" smtClean="0">
                    <a:solidFill>
                      <a:srgbClr val="0070C0"/>
                    </a:solidFill>
                    <a:latin typeface="+mn-ea"/>
                  </a:rPr>
                  <a:t>N</a:t>
                </a:r>
                <a:r>
                  <a:rPr lang="zh-CN" altLang="en-US" sz="2400" dirty="0" smtClean="0">
                    <a:solidFill>
                      <a:srgbClr val="0070C0"/>
                    </a:solidFill>
                    <a:latin typeface="+mn-ea"/>
                  </a:rPr>
                  <a:t>是规模为</a:t>
                </a:r>
                <a:r>
                  <a:rPr lang="en-US" altLang="zh-CN" sz="2400" dirty="0" smtClean="0">
                    <a:solidFill>
                      <a:srgbClr val="0070C0"/>
                    </a:solidFill>
                    <a:latin typeface="+mn-ea"/>
                  </a:rPr>
                  <a:t>N</a:t>
                </a:r>
                <a:r>
                  <a:rPr lang="zh-CN" altLang="en-US" sz="2400" dirty="0" smtClean="0">
                    <a:solidFill>
                      <a:srgbClr val="0070C0"/>
                    </a:solidFill>
                    <a:latin typeface="+mn-ea"/>
                  </a:rPr>
                  <a:t>的合法输入的集合；</a:t>
                </a:r>
                <a:r>
                  <a:rPr lang="en-US" altLang="zh-CN" sz="2400" dirty="0" smtClean="0">
                    <a:solidFill>
                      <a:srgbClr val="0070C0"/>
                    </a:solidFill>
                    <a:latin typeface="+mn-ea"/>
                  </a:rPr>
                  <a:t>I</a:t>
                </a:r>
                <a:r>
                  <a:rPr lang="en-US" altLang="zh-CN" sz="2400" baseline="30000" dirty="0" smtClean="0">
                    <a:solidFill>
                      <a:srgbClr val="0070C0"/>
                    </a:solidFill>
                    <a:latin typeface="+mn-ea"/>
                  </a:rPr>
                  <a:t>*</a:t>
                </a:r>
                <a:r>
                  <a:rPr lang="zh-CN" altLang="en-US" sz="2400" dirty="0" smtClean="0">
                    <a:solidFill>
                      <a:srgbClr val="0070C0"/>
                    </a:solidFill>
                    <a:latin typeface="+mn-ea"/>
                  </a:rPr>
                  <a:t>是</a:t>
                </a:r>
                <a:r>
                  <a:rPr lang="en-US" altLang="zh-CN" sz="2400" dirty="0" smtClean="0">
                    <a:solidFill>
                      <a:srgbClr val="0070C0"/>
                    </a:solidFill>
                    <a:latin typeface="+mn-ea"/>
                  </a:rPr>
                  <a:t>D</a:t>
                </a:r>
                <a:r>
                  <a:rPr lang="en-US" altLang="zh-CN" sz="2400" baseline="-25000" dirty="0" smtClean="0">
                    <a:solidFill>
                      <a:srgbClr val="0070C0"/>
                    </a:solidFill>
                    <a:latin typeface="+mn-ea"/>
                  </a:rPr>
                  <a:t>N</a:t>
                </a:r>
                <a:r>
                  <a:rPr lang="zh-CN" altLang="en-US" sz="2400" dirty="0" smtClean="0">
                    <a:solidFill>
                      <a:srgbClr val="0070C0"/>
                    </a:solidFill>
                    <a:latin typeface="+mn-ea"/>
                  </a:rPr>
                  <a:t>中使</a:t>
                </a:r>
                <a:r>
                  <a:rPr lang="en-US" altLang="zh-CN" sz="2400" dirty="0" smtClean="0">
                    <a:solidFill>
                      <a:srgbClr val="0070C0"/>
                    </a:solidFill>
                    <a:latin typeface="+mn-ea"/>
                  </a:rPr>
                  <a:t>T(N, I</a:t>
                </a:r>
                <a:r>
                  <a:rPr lang="en-US" altLang="zh-CN" sz="2400" baseline="30000" dirty="0" smtClean="0">
                    <a:solidFill>
                      <a:srgbClr val="0070C0"/>
                    </a:solidFill>
                    <a:latin typeface="+mn-ea"/>
                  </a:rPr>
                  <a:t>*</a:t>
                </a:r>
                <a:r>
                  <a:rPr lang="en-US" altLang="zh-CN" sz="2400" dirty="0" smtClean="0">
                    <a:solidFill>
                      <a:srgbClr val="0070C0"/>
                    </a:solidFill>
                    <a:latin typeface="+mn-ea"/>
                  </a:rPr>
                  <a:t>)</a:t>
                </a:r>
                <a:r>
                  <a:rPr lang="zh-CN" altLang="en-US" sz="2400" dirty="0" smtClean="0">
                    <a:solidFill>
                      <a:srgbClr val="0070C0"/>
                    </a:solidFill>
                    <a:latin typeface="+mn-ea"/>
                  </a:rPr>
                  <a:t>达到</a:t>
                </a:r>
                <a:r>
                  <a:rPr lang="en-US" altLang="zh-CN" sz="2400" dirty="0" err="1" smtClean="0">
                    <a:solidFill>
                      <a:srgbClr val="0070C0"/>
                    </a:solidFill>
                    <a:latin typeface="+mn-ea"/>
                  </a:rPr>
                  <a:t>T</a:t>
                </a:r>
                <a:r>
                  <a:rPr lang="en-US" altLang="zh-CN" sz="2400" baseline="-25000" dirty="0" err="1" smtClean="0">
                    <a:solidFill>
                      <a:srgbClr val="0070C0"/>
                    </a:solidFill>
                    <a:latin typeface="+mn-ea"/>
                  </a:rPr>
                  <a:t>max</a:t>
                </a:r>
                <a:r>
                  <a:rPr lang="en-US" altLang="zh-CN" sz="2400" dirty="0" smtClean="0">
                    <a:solidFill>
                      <a:srgbClr val="0070C0"/>
                    </a:solidFill>
                    <a:latin typeface="+mn-ea"/>
                  </a:rPr>
                  <a:t>(N)</a:t>
                </a:r>
                <a:r>
                  <a:rPr lang="zh-CN" altLang="en-US" sz="2400" dirty="0" smtClean="0">
                    <a:solidFill>
                      <a:srgbClr val="0070C0"/>
                    </a:solidFill>
                    <a:latin typeface="+mn-ea"/>
                  </a:rPr>
                  <a:t>的合法输入；  是中使</a:t>
                </a:r>
                <a:r>
                  <a:rPr lang="en-US" altLang="zh-CN" sz="2400" dirty="0" smtClean="0">
                    <a:solidFill>
                      <a:srgbClr val="0070C0"/>
                    </a:solidFill>
                    <a:latin typeface="+mn-ea"/>
                  </a:rPr>
                  <a:t>T(D,</a:t>
                </a:r>
                <a14:m>
                  <m:oMath xmlns:m="http://schemas.openxmlformats.org/officeDocument/2006/math">
                    <m:acc>
                      <m:accPr>
                        <m:chr m:val="̃"/>
                        <m:ctrlPr>
                          <a:rPr lang="en-US" altLang="zh-CN" sz="2400" i="1" dirty="0" smtClean="0">
                            <a:solidFill>
                              <a:srgbClr val="0070C0"/>
                            </a:solidFill>
                            <a:latin typeface="DejaVu Math TeX Gyre" panose="02000503000000000000" charset="0"/>
                            <a:cs typeface="DejaVu Math TeX Gyre" panose="02000503000000000000" charset="0"/>
                          </a:rPr>
                        </m:ctrlPr>
                      </m:accPr>
                      <m:e>
                        <m:r>
                          <a:rPr lang="en-US" altLang="zh-CN" sz="2400" i="1" dirty="0" smtClean="0">
                            <a:solidFill>
                              <a:srgbClr val="0070C0"/>
                            </a:solidFill>
                            <a:latin typeface="DejaVu Math TeX Gyre" panose="02000503000000000000" charset="0"/>
                            <a:cs typeface="DejaVu Math TeX Gyre" panose="02000503000000000000" charset="0"/>
                          </a:rPr>
                          <m:t>𝐼</m:t>
                        </m:r>
                      </m:e>
                    </m:acc>
                    <m:r>
                      <a:rPr lang="en-US" altLang="zh-CN" sz="2400" i="1" dirty="0" smtClean="0">
                        <a:solidFill>
                          <a:srgbClr val="0070C0"/>
                        </a:solidFill>
                        <a:latin typeface="DejaVu Math TeX Gyre" panose="02000503000000000000" charset="0"/>
                        <a:cs typeface="DejaVu Math TeX Gyre" panose="02000503000000000000" charset="0"/>
                      </a:rPr>
                      <m:t>)</m:t>
                    </m:r>
                  </m:oMath>
                </a14:m>
                <a:r>
                  <a:rPr lang="zh-CN" altLang="en-US" sz="2400" dirty="0" smtClean="0">
                    <a:solidFill>
                      <a:srgbClr val="0070C0"/>
                    </a:solidFill>
                    <a:latin typeface="+mn-ea"/>
                  </a:rPr>
                  <a:t>达到</a:t>
                </a:r>
                <a:r>
                  <a:rPr lang="en-US" altLang="zh-CN" sz="2400" dirty="0" err="1" smtClean="0">
                    <a:solidFill>
                      <a:srgbClr val="0070C0"/>
                    </a:solidFill>
                    <a:latin typeface="+mn-ea"/>
                  </a:rPr>
                  <a:t>T</a:t>
                </a:r>
                <a:r>
                  <a:rPr lang="en-US" altLang="zh-CN" sz="2400" baseline="-25000" dirty="0" err="1" smtClean="0">
                    <a:solidFill>
                      <a:srgbClr val="0070C0"/>
                    </a:solidFill>
                    <a:latin typeface="+mn-ea"/>
                  </a:rPr>
                  <a:t>min</a:t>
                </a:r>
                <a:r>
                  <a:rPr lang="en-US" altLang="zh-CN" sz="2400" dirty="0" smtClean="0">
                    <a:solidFill>
                      <a:srgbClr val="0070C0"/>
                    </a:solidFill>
                    <a:latin typeface="+mn-ea"/>
                  </a:rPr>
                  <a:t>(N)</a:t>
                </a:r>
                <a:r>
                  <a:rPr lang="zh-CN" altLang="en-US" sz="2400" dirty="0" smtClean="0">
                    <a:solidFill>
                      <a:srgbClr val="0070C0"/>
                    </a:solidFill>
                    <a:latin typeface="+mn-ea"/>
                  </a:rPr>
                  <a:t>的合法输入；而</a:t>
                </a:r>
                <a:r>
                  <a:rPr lang="en-US" altLang="zh-CN" sz="2400" dirty="0" smtClean="0">
                    <a:solidFill>
                      <a:srgbClr val="0070C0"/>
                    </a:solidFill>
                    <a:latin typeface="+mn-ea"/>
                  </a:rPr>
                  <a:t>P(I)</a:t>
                </a:r>
                <a:r>
                  <a:rPr lang="zh-CN" altLang="en-US" sz="2400" dirty="0" smtClean="0">
                    <a:solidFill>
                      <a:srgbClr val="0070C0"/>
                    </a:solidFill>
                    <a:latin typeface="+mn-ea"/>
                  </a:rPr>
                  <a:t>是在算法的应用中出现输入</a:t>
                </a:r>
                <a:r>
                  <a:rPr lang="en-US" altLang="zh-CN" sz="2400" dirty="0" smtClean="0">
                    <a:solidFill>
                      <a:srgbClr val="0070C0"/>
                    </a:solidFill>
                    <a:latin typeface="+mn-ea"/>
                  </a:rPr>
                  <a:t>I</a:t>
                </a:r>
                <a:r>
                  <a:rPr lang="zh-CN" altLang="en-US" sz="2400" dirty="0" smtClean="0">
                    <a:solidFill>
                      <a:srgbClr val="0070C0"/>
                    </a:solidFill>
                    <a:latin typeface="+mn-ea"/>
                  </a:rPr>
                  <a:t>的概率。</a:t>
                </a:r>
                <a:endParaRPr lang="en-US" altLang="zh-CN" sz="2400" dirty="0" smtClean="0">
                  <a:solidFill>
                    <a:srgbClr val="0070C0"/>
                  </a:solidFill>
                  <a:latin typeface="+mn-ea"/>
                  <a:sym typeface="Symbol" panose="05050102010706020507" pitchFamily="18" charset="2"/>
                </a:endParaRPr>
              </a:p>
            </p:txBody>
          </p:sp>
        </mc:Choice>
        <mc:Fallback>
          <p:sp>
            <p:nvSpPr>
              <p:cNvPr id="205827" name="Rectangle 3"/>
              <p:cNvSpPr>
                <a:spLocks noRot="1" noChangeAspect="1" noMove="1" noResize="1" noEditPoints="1" noAdjustHandles="1" noChangeArrowheads="1" noChangeShapeType="1" noTextEdit="1"/>
              </p:cNvSpPr>
              <p:nvPr>
                <p:ph type="body" idx="1"/>
              </p:nvPr>
            </p:nvSpPr>
            <p:spPr>
              <a:blipFill rotWithShape="1">
                <a:blip r:embed="rId1"/>
                <a:stretch>
                  <a:fillRect l="-4" t="-7"/>
                </a:stretch>
              </a:blipFill>
            </p:spPr>
            <p:txBody>
              <a:bodyPr/>
              <a:lstStyle/>
              <a:p>
                <a:r>
                  <a:rPr lang="zh-CN" altLang="en-US">
                    <a:noFill/>
                  </a:rPr>
                  <a:t> </a:t>
                </a:r>
              </a:p>
            </p:txBody>
          </p:sp>
        </mc:Fallback>
      </mc:AlternateContent>
      <p:graphicFrame>
        <p:nvGraphicFramePr>
          <p:cNvPr id="1026" name="Object 12"/>
          <p:cNvGraphicFramePr>
            <a:graphicFrameLocks noChangeAspect="1"/>
          </p:cNvGraphicFramePr>
          <p:nvPr/>
        </p:nvGraphicFramePr>
        <p:xfrm>
          <a:off x="5572125" y="4500563"/>
          <a:ext cx="271463" cy="381000"/>
        </p:xfrm>
        <a:graphic>
          <a:graphicData uri="http://schemas.openxmlformats.org/presentationml/2006/ole">
            <mc:AlternateContent xmlns:mc="http://schemas.openxmlformats.org/markup-compatibility/2006">
              <mc:Choice xmlns:v="urn:schemas-microsoft-com:vml" Requires="v">
                <p:oleObj spid="_x0000_s51235" name="" r:id="rId2" imgW="139700" imgH="203200" progId="Equation.3">
                  <p:embed/>
                </p:oleObj>
              </mc:Choice>
              <mc:Fallback>
                <p:oleObj name="" r:id="rId2" imgW="139700" imgH="203200" progId="Equation.3">
                  <p:embed/>
                  <p:pic>
                    <p:nvPicPr>
                      <p:cNvPr id="0" name="Object 1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72125" y="4500563"/>
                        <a:ext cx="271463" cy="381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8" name="Object 2"/>
          <p:cNvGraphicFramePr>
            <a:graphicFrameLocks noChangeAspect="1"/>
          </p:cNvGraphicFramePr>
          <p:nvPr/>
        </p:nvGraphicFramePr>
        <p:xfrm>
          <a:off x="1347788" y="1690688"/>
          <a:ext cx="2057400" cy="438150"/>
        </p:xfrm>
        <a:graphic>
          <a:graphicData uri="http://schemas.openxmlformats.org/presentationml/2006/ole">
            <mc:AlternateContent xmlns:mc="http://schemas.openxmlformats.org/markup-compatibility/2006">
              <mc:Choice xmlns:v="urn:schemas-microsoft-com:vml" Requires="v">
                <p:oleObj spid="_x0000_s51237" name="" r:id="rId4" imgW="1384300" imgH="292100" progId="Equation.3">
                  <p:embed/>
                </p:oleObj>
              </mc:Choice>
              <mc:Fallback>
                <p:oleObj name="" r:id="rId4" imgW="1384300" imgH="292100" progId="Equation.3">
                  <p:embed/>
                  <p:pic>
                    <p:nvPicPr>
                      <p:cNvPr id="0" name="Object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47788" y="1690688"/>
                        <a:ext cx="2057400" cy="4381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9" name="Object 5"/>
          <p:cNvGraphicFramePr>
            <a:graphicFrameLocks noChangeAspect="1"/>
          </p:cNvGraphicFramePr>
          <p:nvPr/>
        </p:nvGraphicFramePr>
        <p:xfrm>
          <a:off x="3429000" y="1643063"/>
          <a:ext cx="1066800" cy="379412"/>
        </p:xfrm>
        <a:graphic>
          <a:graphicData uri="http://schemas.openxmlformats.org/presentationml/2006/ole">
            <mc:AlternateContent xmlns:mc="http://schemas.openxmlformats.org/markup-compatibility/2006">
              <mc:Choice xmlns:v="urn:schemas-microsoft-com:vml" Requires="v">
                <p:oleObj spid="_x0000_s51238" name="" r:id="rId6" imgW="698500" imgH="228600" progId="Equation.3">
                  <p:embed/>
                </p:oleObj>
              </mc:Choice>
              <mc:Fallback>
                <p:oleObj name="" r:id="rId6" imgW="698500" imgH="228600" progId="Equation.3">
                  <p:embed/>
                  <p:pic>
                    <p:nvPicPr>
                      <p:cNvPr id="0" name="Object 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429000" y="1643063"/>
                        <a:ext cx="1066800" cy="3794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30" name="Object 6"/>
          <p:cNvGraphicFramePr>
            <a:graphicFrameLocks noChangeAspect="1"/>
          </p:cNvGraphicFramePr>
          <p:nvPr/>
        </p:nvGraphicFramePr>
        <p:xfrm>
          <a:off x="1376363" y="2509838"/>
          <a:ext cx="1981200" cy="434975"/>
        </p:xfrm>
        <a:graphic>
          <a:graphicData uri="http://schemas.openxmlformats.org/presentationml/2006/ole">
            <mc:AlternateContent xmlns:mc="http://schemas.openxmlformats.org/markup-compatibility/2006">
              <mc:Choice xmlns:v="urn:schemas-microsoft-com:vml" Requires="v">
                <p:oleObj spid="_x0000_s51239" name="" r:id="rId8" imgW="1346200" imgH="292100" progId="Equation.3">
                  <p:embed/>
                </p:oleObj>
              </mc:Choice>
              <mc:Fallback>
                <p:oleObj name="" r:id="rId8" imgW="1346200" imgH="292100" progId="Equation.3">
                  <p:embed/>
                  <p:pic>
                    <p:nvPicPr>
                      <p:cNvPr id="0" name="Object 6"/>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376363" y="2509838"/>
                        <a:ext cx="1981200" cy="4349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31" name="Object 9"/>
          <p:cNvGraphicFramePr>
            <a:graphicFrameLocks noChangeAspect="1"/>
          </p:cNvGraphicFramePr>
          <p:nvPr/>
        </p:nvGraphicFramePr>
        <p:xfrm>
          <a:off x="3357563" y="2500313"/>
          <a:ext cx="1066800" cy="390525"/>
        </p:xfrm>
        <a:graphic>
          <a:graphicData uri="http://schemas.openxmlformats.org/presentationml/2006/ole">
            <mc:AlternateContent xmlns:mc="http://schemas.openxmlformats.org/markup-compatibility/2006">
              <mc:Choice xmlns:v="urn:schemas-microsoft-com:vml" Requires="v">
                <p:oleObj spid="_x0000_s51240" name="" r:id="rId10" imgW="647700" imgH="241300" progId="Equation.3">
                  <p:embed/>
                </p:oleObj>
              </mc:Choice>
              <mc:Fallback>
                <p:oleObj name="" r:id="rId10" imgW="647700" imgH="241300" progId="Equation.3">
                  <p:embed/>
                  <p:pic>
                    <p:nvPicPr>
                      <p:cNvPr id="0" name="Object 9"/>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3357563" y="2500313"/>
                        <a:ext cx="1066800" cy="3905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32" name="Object 10"/>
          <p:cNvGraphicFramePr>
            <a:graphicFrameLocks noChangeAspect="1"/>
          </p:cNvGraphicFramePr>
          <p:nvPr/>
        </p:nvGraphicFramePr>
        <p:xfrm>
          <a:off x="1423988" y="3376613"/>
          <a:ext cx="2286000" cy="541337"/>
        </p:xfrm>
        <a:graphic>
          <a:graphicData uri="http://schemas.openxmlformats.org/presentationml/2006/ole">
            <mc:AlternateContent xmlns:mc="http://schemas.openxmlformats.org/markup-compatibility/2006">
              <mc:Choice xmlns:v="urn:schemas-microsoft-com:vml" Requires="v">
                <p:oleObj spid="_x0000_s51241" name="" r:id="rId12" imgW="1574800" imgH="368300" progId="Equation.3">
                  <p:embed/>
                </p:oleObj>
              </mc:Choice>
              <mc:Fallback>
                <p:oleObj name="" r:id="rId12" imgW="1574800" imgH="368300" progId="Equation.3">
                  <p:embed/>
                  <p:pic>
                    <p:nvPicPr>
                      <p:cNvPr id="0" name="Object 10"/>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423988" y="3376613"/>
                        <a:ext cx="2286000" cy="5413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61443" name="Rectangle 2"/>
          <p:cNvSpPr>
            <a:spLocks noGrp="1" noChangeArrowheads="1"/>
          </p:cNvSpPr>
          <p:nvPr>
            <p:ph type="title"/>
          </p:nvPr>
        </p:nvSpPr>
        <p:spPr/>
        <p:txBody>
          <a:bodyPr/>
          <a:lstStyle/>
          <a:p>
            <a:pPr eaLnBrk="1" hangingPunct="1"/>
            <a:r>
              <a:rPr lang="en-US" altLang="zh-CN" dirty="0">
                <a:latin typeface="+mn-ea"/>
              </a:rPr>
              <a:t>1.2.3 </a:t>
            </a:r>
            <a:r>
              <a:rPr lang="zh-CN" altLang="en-US" dirty="0">
                <a:latin typeface="+mn-ea"/>
              </a:rPr>
              <a:t>时间复杂度</a:t>
            </a:r>
            <a:r>
              <a:rPr lang="en-US" altLang="zh-CN" dirty="0" smtClean="0">
                <a:latin typeface="+mn-ea"/>
              </a:rPr>
              <a:t>——</a:t>
            </a:r>
            <a:br>
              <a:rPr lang="en-US" altLang="zh-CN" dirty="0" smtClean="0"/>
            </a:br>
            <a:r>
              <a:rPr lang="en-US" altLang="zh-CN" dirty="0" smtClean="0"/>
              <a:t>	</a:t>
            </a:r>
            <a:r>
              <a:rPr lang="zh-CN" altLang="en-US" dirty="0" smtClean="0"/>
              <a:t>例</a:t>
            </a:r>
            <a:r>
              <a:rPr lang="en-US" altLang="zh-CN" dirty="0" smtClean="0"/>
              <a:t>4</a:t>
            </a:r>
            <a:r>
              <a:rPr lang="zh-CN" altLang="en-US" dirty="0" smtClean="0"/>
              <a:t>：顺序查找算法</a:t>
            </a:r>
            <a:endParaRPr lang="en-US" altLang="zh-CN" dirty="0" smtClean="0"/>
          </a:p>
        </p:txBody>
      </p:sp>
      <p:sp>
        <p:nvSpPr>
          <p:cNvPr id="61444" name="Rectangle 3"/>
          <p:cNvSpPr>
            <a:spLocks noGrp="1" noChangeArrowheads="1"/>
          </p:cNvSpPr>
          <p:nvPr>
            <p:ph type="body" idx="1"/>
          </p:nvPr>
        </p:nvSpPr>
        <p:spPr/>
        <p:txBody>
          <a:bodyPr/>
          <a:lstStyle/>
          <a:p>
            <a:pPr>
              <a:lnSpc>
                <a:spcPct val="130000"/>
              </a:lnSpc>
              <a:spcBef>
                <a:spcPct val="0"/>
              </a:spcBef>
              <a:buFontTx/>
              <a:buNone/>
            </a:pPr>
            <a:r>
              <a:rPr lang="en-US" altLang="zh-CN" dirty="0" smtClean="0">
                <a:sym typeface="Symbol" panose="05050102010706020507" pitchFamily="18" charset="2"/>
              </a:rPr>
              <a:t>template&lt;class Type&gt;</a:t>
            </a:r>
            <a:endParaRPr lang="en-US" altLang="zh-CN" dirty="0" smtClean="0">
              <a:sym typeface="Symbol" panose="05050102010706020507" pitchFamily="18" charset="2"/>
            </a:endParaRPr>
          </a:p>
          <a:p>
            <a:pPr>
              <a:lnSpc>
                <a:spcPct val="130000"/>
              </a:lnSpc>
              <a:spcBef>
                <a:spcPct val="0"/>
              </a:spcBef>
              <a:buFontTx/>
              <a:buNone/>
            </a:pPr>
            <a:r>
              <a:rPr lang="en-US" altLang="zh-CN" dirty="0" err="1" smtClean="0">
                <a:sym typeface="Symbol" panose="05050102010706020507" pitchFamily="18" charset="2"/>
              </a:rPr>
              <a:t>int</a:t>
            </a:r>
            <a:r>
              <a:rPr lang="en-US" altLang="zh-CN" dirty="0" smtClean="0">
                <a:sym typeface="Symbol" panose="05050102010706020507" pitchFamily="18" charset="2"/>
              </a:rPr>
              <a:t> </a:t>
            </a:r>
            <a:r>
              <a:rPr lang="en-US" altLang="zh-CN" dirty="0" err="1" smtClean="0">
                <a:sym typeface="Symbol" panose="05050102010706020507" pitchFamily="18" charset="2"/>
              </a:rPr>
              <a:t>seqSearch</a:t>
            </a:r>
            <a:r>
              <a:rPr lang="en-US" altLang="zh-CN" dirty="0" smtClean="0">
                <a:sym typeface="Symbol" panose="05050102010706020507" pitchFamily="18" charset="2"/>
              </a:rPr>
              <a:t>(Type *a, </a:t>
            </a:r>
            <a:r>
              <a:rPr lang="en-US" altLang="zh-CN" dirty="0" err="1" smtClean="0">
                <a:sym typeface="Symbol" panose="05050102010706020507" pitchFamily="18" charset="2"/>
              </a:rPr>
              <a:t>int</a:t>
            </a:r>
            <a:r>
              <a:rPr lang="en-US" altLang="zh-CN" dirty="0" smtClean="0">
                <a:sym typeface="Symbol" panose="05050102010706020507" pitchFamily="18" charset="2"/>
              </a:rPr>
              <a:t> n, Type k){</a:t>
            </a:r>
            <a:endParaRPr lang="en-US" altLang="zh-CN" dirty="0" smtClean="0">
              <a:sym typeface="Symbol" panose="05050102010706020507" pitchFamily="18" charset="2"/>
            </a:endParaRPr>
          </a:p>
          <a:p>
            <a:pPr>
              <a:lnSpc>
                <a:spcPct val="130000"/>
              </a:lnSpc>
              <a:spcBef>
                <a:spcPct val="0"/>
              </a:spcBef>
              <a:buFontTx/>
              <a:buNone/>
            </a:pPr>
            <a:r>
              <a:rPr lang="en-US" altLang="zh-CN" dirty="0" smtClean="0">
                <a:sym typeface="Symbol" panose="05050102010706020507" pitchFamily="18" charset="2"/>
              </a:rPr>
              <a:t>        for(</a:t>
            </a:r>
            <a:r>
              <a:rPr lang="en-US" altLang="zh-CN" dirty="0" err="1" smtClean="0">
                <a:sym typeface="Symbol" panose="05050102010706020507" pitchFamily="18" charset="2"/>
              </a:rPr>
              <a:t>int</a:t>
            </a:r>
            <a:r>
              <a:rPr lang="en-US" altLang="zh-CN" dirty="0" smtClean="0">
                <a:sym typeface="Symbol" panose="05050102010706020507" pitchFamily="18" charset="2"/>
              </a:rPr>
              <a:t> </a:t>
            </a:r>
            <a:r>
              <a:rPr lang="en-US" altLang="zh-CN" dirty="0" err="1" smtClean="0">
                <a:sym typeface="Symbol" panose="05050102010706020507" pitchFamily="18" charset="2"/>
              </a:rPr>
              <a:t>i</a:t>
            </a:r>
            <a:r>
              <a:rPr lang="en-US" altLang="zh-CN" dirty="0" smtClean="0">
                <a:sym typeface="Symbol" panose="05050102010706020507" pitchFamily="18" charset="2"/>
              </a:rPr>
              <a:t>=</a:t>
            </a:r>
            <a:r>
              <a:rPr lang="en-US" altLang="zh-CN" dirty="0" err="1" smtClean="0">
                <a:sym typeface="Symbol" panose="05050102010706020507" pitchFamily="18" charset="2"/>
              </a:rPr>
              <a:t>0;i</a:t>
            </a:r>
            <a:r>
              <a:rPr lang="en-US" altLang="zh-CN" dirty="0" smtClean="0">
                <a:sym typeface="Symbol" panose="05050102010706020507" pitchFamily="18" charset="2"/>
              </a:rPr>
              <a:t>&lt;</a:t>
            </a:r>
            <a:r>
              <a:rPr lang="en-US" altLang="zh-CN" dirty="0" err="1" smtClean="0">
                <a:sym typeface="Symbol" panose="05050102010706020507" pitchFamily="18" charset="2"/>
              </a:rPr>
              <a:t>n;i</a:t>
            </a:r>
            <a:r>
              <a:rPr lang="en-US" altLang="zh-CN" dirty="0" smtClean="0">
                <a:sym typeface="Symbol" panose="05050102010706020507" pitchFamily="18" charset="2"/>
              </a:rPr>
              <a:t>++)</a:t>
            </a:r>
            <a:endParaRPr lang="en-US" altLang="zh-CN" dirty="0" smtClean="0">
              <a:sym typeface="Symbol" panose="05050102010706020507" pitchFamily="18" charset="2"/>
            </a:endParaRPr>
          </a:p>
          <a:p>
            <a:pPr>
              <a:lnSpc>
                <a:spcPct val="130000"/>
              </a:lnSpc>
              <a:spcBef>
                <a:spcPct val="0"/>
              </a:spcBef>
              <a:buFontTx/>
              <a:buNone/>
            </a:pPr>
            <a:r>
              <a:rPr lang="en-US" altLang="zh-CN" dirty="0" smtClean="0">
                <a:sym typeface="Symbol" panose="05050102010706020507" pitchFamily="18" charset="2"/>
              </a:rPr>
              <a:t>        </a:t>
            </a:r>
            <a:r>
              <a:rPr lang="en-US" altLang="zh-CN" dirty="0">
                <a:sym typeface="Symbol" panose="05050102010706020507" pitchFamily="18" charset="2"/>
              </a:rPr>
              <a:t> </a:t>
            </a:r>
            <a:r>
              <a:rPr lang="en-US" altLang="zh-CN" dirty="0" smtClean="0">
                <a:sym typeface="Symbol" panose="05050102010706020507" pitchFamily="18" charset="2"/>
              </a:rPr>
              <a:t>      if (a[</a:t>
            </a:r>
            <a:r>
              <a:rPr lang="en-US" altLang="zh-CN" dirty="0" err="1" smtClean="0">
                <a:sym typeface="Symbol" panose="05050102010706020507" pitchFamily="18" charset="2"/>
              </a:rPr>
              <a:t>i</a:t>
            </a:r>
            <a:r>
              <a:rPr lang="en-US" altLang="zh-CN" dirty="0" smtClean="0">
                <a:sym typeface="Symbol" panose="05050102010706020507" pitchFamily="18" charset="2"/>
              </a:rPr>
              <a:t>]==k) return </a:t>
            </a:r>
            <a:r>
              <a:rPr lang="en-US" altLang="zh-CN" dirty="0" err="1" smtClean="0">
                <a:sym typeface="Symbol" panose="05050102010706020507" pitchFamily="18" charset="2"/>
              </a:rPr>
              <a:t>i</a:t>
            </a:r>
            <a:r>
              <a:rPr lang="en-US" altLang="zh-CN" dirty="0" smtClean="0">
                <a:sym typeface="Symbol" panose="05050102010706020507" pitchFamily="18" charset="2"/>
              </a:rPr>
              <a:t>;</a:t>
            </a:r>
            <a:endParaRPr lang="en-US" altLang="zh-CN" dirty="0" smtClean="0">
              <a:sym typeface="Symbol" panose="05050102010706020507" pitchFamily="18" charset="2"/>
            </a:endParaRPr>
          </a:p>
          <a:p>
            <a:pPr>
              <a:lnSpc>
                <a:spcPct val="130000"/>
              </a:lnSpc>
              <a:spcBef>
                <a:spcPct val="0"/>
              </a:spcBef>
              <a:buFontTx/>
              <a:buNone/>
            </a:pPr>
            <a:r>
              <a:rPr lang="en-US" altLang="zh-CN" dirty="0" smtClean="0">
                <a:sym typeface="Symbol" panose="05050102010706020507" pitchFamily="18" charset="2"/>
              </a:rPr>
              <a:t>        return -1;</a:t>
            </a:r>
            <a:endParaRPr lang="en-US" altLang="zh-CN" dirty="0" smtClean="0">
              <a:sym typeface="Symbol" panose="05050102010706020507" pitchFamily="18" charset="2"/>
            </a:endParaRPr>
          </a:p>
          <a:p>
            <a:pPr>
              <a:lnSpc>
                <a:spcPct val="130000"/>
              </a:lnSpc>
              <a:spcBef>
                <a:spcPct val="0"/>
              </a:spcBef>
              <a:buFontTx/>
              <a:buNone/>
            </a:pPr>
            <a:r>
              <a:rPr lang="en-US" altLang="zh-CN" dirty="0" smtClean="0">
                <a:sym typeface="Symbol" panose="05050102010706020507" pitchFamily="18" charset="2"/>
              </a:rPr>
              <a:t>}</a:t>
            </a:r>
            <a:endParaRPr lang="en-US" altLang="zh-CN" dirty="0" smtClean="0">
              <a:sym typeface="Symbol" panose="05050102010706020507" pitchFamily="18" charset="2"/>
            </a:endParaRPr>
          </a:p>
        </p:txBody>
      </p:sp>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3"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2054" name="Rectangle 2"/>
          <p:cNvSpPr>
            <a:spLocks noGrp="1" noChangeArrowheads="1"/>
          </p:cNvSpPr>
          <p:nvPr>
            <p:ph type="title"/>
          </p:nvPr>
        </p:nvSpPr>
        <p:spPr/>
        <p:txBody>
          <a:bodyPr/>
          <a:lstStyle/>
          <a:p>
            <a:pPr eaLnBrk="1" hangingPunct="1"/>
            <a:r>
              <a:rPr lang="en-US" altLang="zh-CN" dirty="0">
                <a:latin typeface="+mn-ea"/>
              </a:rPr>
              <a:t>1.2.3 </a:t>
            </a:r>
            <a:r>
              <a:rPr lang="zh-CN" altLang="en-US" dirty="0">
                <a:latin typeface="+mn-ea"/>
              </a:rPr>
              <a:t>时间复杂度</a:t>
            </a:r>
            <a:r>
              <a:rPr lang="en-US" altLang="zh-CN" dirty="0" smtClean="0">
                <a:latin typeface="+mn-ea"/>
              </a:rPr>
              <a:t>——</a:t>
            </a:r>
            <a:br>
              <a:rPr lang="en-US" altLang="zh-CN" dirty="0" smtClean="0"/>
            </a:br>
            <a:r>
              <a:rPr lang="en-US" altLang="zh-CN" dirty="0" smtClean="0"/>
              <a:t>	</a:t>
            </a:r>
            <a:r>
              <a:rPr lang="zh-CN" altLang="en-US" dirty="0" smtClean="0"/>
              <a:t>例</a:t>
            </a:r>
            <a:r>
              <a:rPr lang="en-US" altLang="zh-CN" dirty="0" smtClean="0"/>
              <a:t>4</a:t>
            </a:r>
            <a:r>
              <a:rPr lang="zh-CN" altLang="en-US" dirty="0" smtClean="0"/>
              <a:t>：顺序查找算法</a:t>
            </a:r>
            <a:endParaRPr lang="en-US" altLang="zh-CN" dirty="0" smtClean="0"/>
          </a:p>
        </p:txBody>
      </p:sp>
      <p:sp>
        <p:nvSpPr>
          <p:cNvPr id="2055" name="Rectangle 3"/>
          <p:cNvSpPr>
            <a:spLocks noGrp="1" noChangeArrowheads="1"/>
          </p:cNvSpPr>
          <p:nvPr>
            <p:ph type="body" idx="1"/>
          </p:nvPr>
        </p:nvSpPr>
        <p:spPr/>
        <p:txBody>
          <a:bodyPr/>
          <a:lstStyle/>
          <a:p>
            <a:pPr>
              <a:spcBef>
                <a:spcPct val="0"/>
              </a:spcBef>
            </a:pPr>
            <a:r>
              <a:rPr lang="zh-CN" altLang="en-US" sz="2400" smtClean="0"/>
              <a:t>（</a:t>
            </a:r>
            <a:r>
              <a:rPr lang="en-US" altLang="zh-CN" sz="2400" smtClean="0"/>
              <a:t>1</a:t>
            </a:r>
            <a:r>
              <a:rPr lang="zh-CN" altLang="en-US" sz="2400" smtClean="0"/>
              <a:t>）</a:t>
            </a:r>
            <a:r>
              <a:rPr lang="en-US" altLang="zh-CN" sz="2400" i="1" smtClean="0"/>
              <a:t>T</a:t>
            </a:r>
            <a:r>
              <a:rPr lang="en-US" altLang="zh-CN" sz="2400" baseline="-25000" smtClean="0"/>
              <a:t>max</a:t>
            </a:r>
            <a:r>
              <a:rPr lang="en-US" altLang="zh-CN" sz="2400" smtClean="0"/>
              <a:t>(</a:t>
            </a:r>
            <a:r>
              <a:rPr lang="en-US" altLang="zh-CN" sz="2400" i="1" smtClean="0"/>
              <a:t>n</a:t>
            </a:r>
            <a:r>
              <a:rPr lang="en-US" altLang="zh-CN" sz="2400" smtClean="0"/>
              <a:t>) = max{ </a:t>
            </a:r>
            <a:r>
              <a:rPr lang="en-US" altLang="zh-CN" sz="2400" i="1" smtClean="0"/>
              <a:t>T</a:t>
            </a:r>
            <a:r>
              <a:rPr lang="en-US" altLang="zh-CN" sz="2400" smtClean="0"/>
              <a:t>(I) | size(I)=</a:t>
            </a:r>
            <a:r>
              <a:rPr lang="en-US" altLang="zh-CN" sz="2400" i="1" smtClean="0"/>
              <a:t>n </a:t>
            </a:r>
            <a:r>
              <a:rPr lang="en-US" altLang="zh-CN" sz="2400" smtClean="0"/>
              <a:t>}=</a:t>
            </a:r>
            <a:r>
              <a:rPr lang="en-US" altLang="zh-CN" sz="2400" i="1" smtClean="0"/>
              <a:t>O</a:t>
            </a:r>
            <a:r>
              <a:rPr lang="en-US" altLang="zh-CN" sz="2400" smtClean="0"/>
              <a:t>(</a:t>
            </a:r>
            <a:r>
              <a:rPr lang="en-US" altLang="zh-CN" sz="2400" i="1" smtClean="0"/>
              <a:t>n</a:t>
            </a:r>
            <a:r>
              <a:rPr lang="en-US" altLang="zh-CN" sz="2400" smtClean="0"/>
              <a:t>)</a:t>
            </a:r>
            <a:endParaRPr lang="en-US" altLang="zh-CN" sz="2400" smtClean="0"/>
          </a:p>
          <a:p>
            <a:pPr>
              <a:spcBef>
                <a:spcPct val="0"/>
              </a:spcBef>
            </a:pPr>
            <a:r>
              <a:rPr lang="zh-CN" altLang="en-US" sz="2400" smtClean="0"/>
              <a:t>（</a:t>
            </a:r>
            <a:r>
              <a:rPr lang="en-US" altLang="zh-CN" sz="2400" smtClean="0"/>
              <a:t>2</a:t>
            </a:r>
            <a:r>
              <a:rPr lang="zh-CN" altLang="en-US" sz="2400" smtClean="0"/>
              <a:t>）</a:t>
            </a:r>
            <a:r>
              <a:rPr lang="en-US" altLang="zh-CN" sz="2400" i="1" smtClean="0"/>
              <a:t>T</a:t>
            </a:r>
            <a:r>
              <a:rPr lang="en-US" altLang="zh-CN" sz="2400" baseline="-25000" smtClean="0"/>
              <a:t>min</a:t>
            </a:r>
            <a:r>
              <a:rPr lang="en-US" altLang="zh-CN" sz="2400" smtClean="0"/>
              <a:t>(</a:t>
            </a:r>
            <a:r>
              <a:rPr lang="en-US" altLang="zh-CN" sz="2400" i="1" smtClean="0"/>
              <a:t>n</a:t>
            </a:r>
            <a:r>
              <a:rPr lang="en-US" altLang="zh-CN" sz="2400" smtClean="0"/>
              <a:t>) = min{ </a:t>
            </a:r>
            <a:r>
              <a:rPr lang="en-US" altLang="zh-CN" sz="2400" i="1" smtClean="0"/>
              <a:t>T</a:t>
            </a:r>
            <a:r>
              <a:rPr lang="en-US" altLang="zh-CN" sz="2400" smtClean="0"/>
              <a:t>(I) | size(I)=</a:t>
            </a:r>
            <a:r>
              <a:rPr lang="en-US" altLang="zh-CN" sz="2400" i="1" smtClean="0"/>
              <a:t>n </a:t>
            </a:r>
            <a:r>
              <a:rPr lang="en-US" altLang="zh-CN" sz="2400" smtClean="0"/>
              <a:t>}=</a:t>
            </a:r>
            <a:r>
              <a:rPr lang="en-US" altLang="zh-CN" sz="2400" i="1" smtClean="0"/>
              <a:t>O</a:t>
            </a:r>
            <a:r>
              <a:rPr lang="en-US" altLang="zh-CN" sz="2400" smtClean="0"/>
              <a:t>(1)</a:t>
            </a:r>
            <a:endParaRPr lang="en-US" altLang="zh-CN" sz="2400" smtClean="0"/>
          </a:p>
          <a:p>
            <a:pPr>
              <a:spcBef>
                <a:spcPct val="0"/>
              </a:spcBef>
            </a:pPr>
            <a:r>
              <a:rPr lang="zh-CN" altLang="en-US" sz="2400" smtClean="0"/>
              <a:t>（</a:t>
            </a:r>
            <a:r>
              <a:rPr lang="en-US" altLang="zh-CN" sz="2400" smtClean="0"/>
              <a:t>3</a:t>
            </a:r>
            <a:r>
              <a:rPr lang="zh-CN" altLang="en-US" sz="2400" smtClean="0"/>
              <a:t>）在平均情况下，假设：</a:t>
            </a:r>
            <a:endParaRPr lang="zh-CN" altLang="en-US" sz="2400" smtClean="0"/>
          </a:p>
          <a:p>
            <a:pPr>
              <a:spcBef>
                <a:spcPct val="0"/>
              </a:spcBef>
            </a:pPr>
            <a:r>
              <a:rPr lang="zh-CN" altLang="en-US" sz="2400" smtClean="0"/>
              <a:t>   </a:t>
            </a:r>
            <a:r>
              <a:rPr lang="en-US" altLang="zh-CN" sz="2400" smtClean="0"/>
              <a:t>(a) </a:t>
            </a:r>
            <a:r>
              <a:rPr lang="zh-CN" altLang="en-US" sz="2400" smtClean="0"/>
              <a:t>搜索成功的概率为</a:t>
            </a:r>
            <a:r>
              <a:rPr lang="en-US" altLang="zh-CN" sz="2400" i="1" smtClean="0"/>
              <a:t>p </a:t>
            </a:r>
            <a:r>
              <a:rPr lang="en-US" altLang="zh-CN" sz="2400" smtClean="0"/>
              <a:t>( 0 </a:t>
            </a:r>
            <a:r>
              <a:rPr lang="en-US" altLang="zh-CN" sz="2400" smtClean="0">
                <a:sym typeface="Symbol" panose="05050102010706020507" pitchFamily="18" charset="2"/>
              </a:rPr>
              <a:t></a:t>
            </a:r>
            <a:r>
              <a:rPr lang="en-US" altLang="zh-CN" sz="2400" smtClean="0"/>
              <a:t> </a:t>
            </a:r>
            <a:r>
              <a:rPr lang="en-US" altLang="zh-CN" sz="2400" i="1" smtClean="0"/>
              <a:t>p</a:t>
            </a:r>
            <a:r>
              <a:rPr lang="en-US" altLang="zh-CN" sz="2400" smtClean="0"/>
              <a:t> </a:t>
            </a:r>
            <a:r>
              <a:rPr lang="en-US" altLang="zh-CN" sz="2400" smtClean="0">
                <a:sym typeface="Symbol" panose="05050102010706020507" pitchFamily="18" charset="2"/>
              </a:rPr>
              <a:t></a:t>
            </a:r>
            <a:r>
              <a:rPr lang="en-US" altLang="zh-CN" sz="2400" smtClean="0"/>
              <a:t> 1 )</a:t>
            </a:r>
            <a:r>
              <a:rPr lang="zh-CN" altLang="en-US" sz="2400" smtClean="0"/>
              <a:t>；</a:t>
            </a:r>
            <a:endParaRPr lang="zh-CN" altLang="en-US" sz="2400" smtClean="0"/>
          </a:p>
          <a:p>
            <a:pPr>
              <a:spcBef>
                <a:spcPct val="0"/>
              </a:spcBef>
            </a:pPr>
            <a:r>
              <a:rPr lang="zh-CN" altLang="en-US" sz="2400" smtClean="0"/>
              <a:t>   </a:t>
            </a:r>
            <a:r>
              <a:rPr lang="en-US" altLang="zh-CN" sz="2400" smtClean="0"/>
              <a:t>(b) </a:t>
            </a:r>
            <a:r>
              <a:rPr lang="zh-CN" altLang="en-US" sz="2400" smtClean="0"/>
              <a:t>在数组的每个位置</a:t>
            </a:r>
            <a:r>
              <a:rPr lang="en-US" altLang="zh-CN" sz="2400" i="1" smtClean="0"/>
              <a:t>i </a:t>
            </a:r>
            <a:r>
              <a:rPr lang="en-US" altLang="zh-CN" sz="2400" smtClean="0"/>
              <a:t>( 0 </a:t>
            </a:r>
            <a:r>
              <a:rPr lang="en-US" altLang="zh-CN" sz="2400" smtClean="0">
                <a:sym typeface="Symbol" panose="05050102010706020507" pitchFamily="18" charset="2"/>
              </a:rPr>
              <a:t> </a:t>
            </a:r>
            <a:r>
              <a:rPr lang="en-US" altLang="zh-CN" sz="2400" i="1" smtClean="0"/>
              <a:t>i </a:t>
            </a:r>
            <a:r>
              <a:rPr lang="en-US" altLang="zh-CN" sz="2400" smtClean="0"/>
              <a:t>&lt; </a:t>
            </a:r>
            <a:r>
              <a:rPr lang="en-US" altLang="zh-CN" sz="2400" i="1" smtClean="0"/>
              <a:t>n </a:t>
            </a:r>
            <a:r>
              <a:rPr lang="en-US" altLang="zh-CN" sz="2400" smtClean="0"/>
              <a:t>)</a:t>
            </a:r>
            <a:r>
              <a:rPr lang="zh-CN" altLang="en-US" sz="2400" smtClean="0"/>
              <a:t>搜索成功的概率相同，均为 </a:t>
            </a:r>
            <a:r>
              <a:rPr lang="en-US" altLang="zh-CN" sz="2400" i="1" smtClean="0"/>
              <a:t>p</a:t>
            </a:r>
            <a:r>
              <a:rPr lang="en-US" altLang="zh-CN" sz="2400" smtClean="0"/>
              <a:t>/</a:t>
            </a:r>
            <a:r>
              <a:rPr lang="en-US" altLang="zh-CN" sz="2400" i="1" smtClean="0"/>
              <a:t>n</a:t>
            </a:r>
            <a:r>
              <a:rPr lang="zh-CN" altLang="en-US" sz="2400" smtClean="0"/>
              <a:t>。</a:t>
            </a:r>
            <a:endParaRPr lang="en-US" altLang="zh-CN" sz="2400" smtClean="0"/>
          </a:p>
          <a:p>
            <a:pPr>
              <a:spcBef>
                <a:spcPct val="0"/>
              </a:spcBef>
            </a:pPr>
            <a:endParaRPr lang="en-US" altLang="zh-CN" sz="2400" smtClean="0"/>
          </a:p>
          <a:p>
            <a:pPr>
              <a:spcBef>
                <a:spcPct val="0"/>
              </a:spcBef>
            </a:pPr>
            <a:endParaRPr lang="en-US" altLang="zh-CN" sz="2400" smtClean="0"/>
          </a:p>
          <a:p>
            <a:pPr>
              <a:spcBef>
                <a:spcPct val="0"/>
              </a:spcBef>
            </a:pPr>
            <a:endParaRPr lang="en-US" altLang="zh-CN" sz="2400" smtClean="0"/>
          </a:p>
          <a:p>
            <a:pPr>
              <a:spcBef>
                <a:spcPct val="0"/>
              </a:spcBef>
            </a:pPr>
            <a:endParaRPr lang="en-US" altLang="zh-CN" sz="2400" smtClean="0"/>
          </a:p>
          <a:p>
            <a:pPr>
              <a:spcBef>
                <a:spcPct val="0"/>
              </a:spcBef>
            </a:pPr>
            <a:endParaRPr lang="en-US" altLang="zh-CN" sz="2400" smtClean="0"/>
          </a:p>
          <a:p>
            <a:pPr>
              <a:spcBef>
                <a:spcPct val="0"/>
              </a:spcBef>
            </a:pPr>
            <a:r>
              <a:rPr lang="zh-CN" altLang="en-US" sz="2400" smtClean="0"/>
              <a:t>当</a:t>
            </a:r>
            <a:r>
              <a:rPr lang="en-US" altLang="zh-CN" sz="2400" i="1" smtClean="0"/>
              <a:t>p =1</a:t>
            </a:r>
            <a:r>
              <a:rPr lang="zh-CN" altLang="en-US" sz="2400" i="1" smtClean="0"/>
              <a:t>，</a:t>
            </a:r>
            <a:r>
              <a:rPr lang="zh-CN" altLang="en-US" sz="2400" smtClean="0"/>
              <a:t>则</a:t>
            </a:r>
            <a:r>
              <a:rPr lang="en-US" altLang="zh-CN" sz="2400" i="1" smtClean="0"/>
              <a:t>T</a:t>
            </a:r>
            <a:r>
              <a:rPr lang="en-US" altLang="zh-CN" sz="2400" i="1" baseline="-25000" smtClean="0"/>
              <a:t>avg</a:t>
            </a:r>
            <a:r>
              <a:rPr lang="en-US" altLang="zh-CN" sz="2400" smtClean="0"/>
              <a:t>(</a:t>
            </a:r>
            <a:r>
              <a:rPr lang="en-US" altLang="zh-CN" sz="2400" i="1" smtClean="0"/>
              <a:t>n</a:t>
            </a:r>
            <a:r>
              <a:rPr lang="en-US" altLang="zh-CN" sz="2400" smtClean="0"/>
              <a:t>) =(n+1)/2</a:t>
            </a:r>
            <a:r>
              <a:rPr lang="zh-CN" altLang="en-US" sz="2400" smtClean="0"/>
              <a:t>；当</a:t>
            </a:r>
            <a:r>
              <a:rPr lang="en-US" altLang="zh-CN" sz="2400" i="1" smtClean="0"/>
              <a:t>p =0</a:t>
            </a:r>
            <a:r>
              <a:rPr lang="zh-CN" altLang="en-US" sz="2400" i="1" smtClean="0"/>
              <a:t>，</a:t>
            </a:r>
            <a:r>
              <a:rPr lang="zh-CN" altLang="en-US" sz="2400" smtClean="0"/>
              <a:t>则</a:t>
            </a:r>
            <a:r>
              <a:rPr lang="en-US" altLang="zh-CN" sz="2400" i="1" smtClean="0"/>
              <a:t>T</a:t>
            </a:r>
            <a:r>
              <a:rPr lang="en-US" altLang="zh-CN" sz="2400" i="1" baseline="-25000" smtClean="0"/>
              <a:t>avg</a:t>
            </a:r>
            <a:r>
              <a:rPr lang="en-US" altLang="zh-CN" sz="2400" smtClean="0"/>
              <a:t>(</a:t>
            </a:r>
            <a:r>
              <a:rPr lang="en-US" altLang="zh-CN" sz="2400" i="1" smtClean="0"/>
              <a:t>n</a:t>
            </a:r>
            <a:r>
              <a:rPr lang="en-US" altLang="zh-CN" sz="2400" smtClean="0"/>
              <a:t>) =n</a:t>
            </a:r>
            <a:r>
              <a:rPr lang="zh-CN" altLang="en-US" sz="2400" smtClean="0"/>
              <a:t>；</a:t>
            </a:r>
            <a:endParaRPr lang="zh-CN" altLang="en-US" sz="2400" smtClean="0"/>
          </a:p>
        </p:txBody>
      </p:sp>
      <p:graphicFrame>
        <p:nvGraphicFramePr>
          <p:cNvPr id="2050" name="Object 2"/>
          <p:cNvGraphicFramePr>
            <a:graphicFrameLocks noChangeAspect="1"/>
          </p:cNvGraphicFramePr>
          <p:nvPr/>
        </p:nvGraphicFramePr>
        <p:xfrm>
          <a:off x="857250" y="3643313"/>
          <a:ext cx="3168650" cy="757237"/>
        </p:xfrm>
        <a:graphic>
          <a:graphicData uri="http://schemas.openxmlformats.org/presentationml/2006/ole">
            <mc:AlternateContent xmlns:mc="http://schemas.openxmlformats.org/markup-compatibility/2006">
              <mc:Choice xmlns:v="urn:schemas-microsoft-com:vml" Requires="v">
                <p:oleObj spid="_x0000_s2503" name="公式" r:id="rId1" imgW="1473200" imgH="355600" progId="Equation.3">
                  <p:embed/>
                </p:oleObj>
              </mc:Choice>
              <mc:Fallback>
                <p:oleObj name="公式" r:id="rId1" imgW="1473200" imgH="355600" progId="Equation.3">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7250" y="3643313"/>
                        <a:ext cx="3168650" cy="7572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051" name="Object 3"/>
          <p:cNvGraphicFramePr>
            <a:graphicFrameLocks noChangeAspect="1"/>
          </p:cNvGraphicFramePr>
          <p:nvPr/>
        </p:nvGraphicFramePr>
        <p:xfrm>
          <a:off x="1812925" y="4500563"/>
          <a:ext cx="5688013" cy="865187"/>
        </p:xfrm>
        <a:graphic>
          <a:graphicData uri="http://schemas.openxmlformats.org/presentationml/2006/ole">
            <mc:AlternateContent xmlns:mc="http://schemas.openxmlformats.org/markup-compatibility/2006">
              <mc:Choice xmlns:v="urn:schemas-microsoft-com:vml" Requires="v">
                <p:oleObj spid="_x0000_s2504" name="公式" r:id="rId3" imgW="2819400" imgH="431800" progId="Equation.3">
                  <p:embed/>
                </p:oleObj>
              </mc:Choice>
              <mc:Fallback>
                <p:oleObj name="公式" r:id="rId3" imgW="2819400" imgH="431800" progId="Equation.3">
                  <p:embed/>
                  <p:pic>
                    <p:nvPicPr>
                      <p:cNvPr id="0" name="Object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12925" y="4500563"/>
                        <a:ext cx="5688013" cy="8651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052" name="Object 4"/>
          <p:cNvGraphicFramePr>
            <a:graphicFrameLocks noChangeAspect="1"/>
          </p:cNvGraphicFramePr>
          <p:nvPr/>
        </p:nvGraphicFramePr>
        <p:xfrm>
          <a:off x="4032250" y="3471863"/>
          <a:ext cx="5040313" cy="885825"/>
        </p:xfrm>
        <a:graphic>
          <a:graphicData uri="http://schemas.openxmlformats.org/presentationml/2006/ole">
            <mc:AlternateContent xmlns:mc="http://schemas.openxmlformats.org/markup-compatibility/2006">
              <mc:Choice xmlns:v="urn:schemas-microsoft-com:vml" Requires="v">
                <p:oleObj spid="_x0000_s2505" name="公式" r:id="rId5" imgW="2438400" imgH="431800" progId="Equation.3">
                  <p:embed/>
                </p:oleObj>
              </mc:Choice>
              <mc:Fallback>
                <p:oleObj name="公式" r:id="rId5" imgW="2438400" imgH="431800" progId="Equation.3">
                  <p:embed/>
                  <p:pic>
                    <p:nvPicPr>
                      <p:cNvPr id="0" name="Object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032250" y="3471863"/>
                        <a:ext cx="5040313" cy="8858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62467" name="Rectangle 2"/>
          <p:cNvSpPr>
            <a:spLocks noGrp="1" noChangeArrowheads="1"/>
          </p:cNvSpPr>
          <p:nvPr>
            <p:ph type="title"/>
          </p:nvPr>
        </p:nvSpPr>
        <p:spPr/>
        <p:txBody>
          <a:bodyPr/>
          <a:lstStyle/>
          <a:p>
            <a:pPr eaLnBrk="1" hangingPunct="1"/>
            <a:r>
              <a:rPr lang="en-US" altLang="zh-CN" dirty="0">
                <a:latin typeface="+mn-ea"/>
              </a:rPr>
              <a:t>1.2.3 </a:t>
            </a:r>
            <a:r>
              <a:rPr lang="zh-CN" altLang="en-US" dirty="0">
                <a:latin typeface="+mn-ea"/>
              </a:rPr>
              <a:t>时间复杂</a:t>
            </a:r>
            <a:r>
              <a:rPr lang="zh-CN" altLang="en-US" dirty="0" smtClean="0">
                <a:latin typeface="+mn-ea"/>
              </a:rPr>
              <a:t>度</a:t>
            </a:r>
            <a:r>
              <a:rPr lang="en-US" altLang="zh-CN" dirty="0">
                <a:latin typeface="+mn-ea"/>
              </a:rPr>
              <a:t>——</a:t>
            </a:r>
            <a:r>
              <a:rPr lang="zh-CN" altLang="en-US" dirty="0" smtClean="0"/>
              <a:t>渐进表示</a:t>
            </a:r>
            <a:endParaRPr lang="en-US" altLang="zh-CN" dirty="0" smtClean="0"/>
          </a:p>
        </p:txBody>
      </p:sp>
      <p:sp>
        <p:nvSpPr>
          <p:cNvPr id="62468" name="Rectangle 3"/>
          <p:cNvSpPr>
            <a:spLocks noGrp="1" noChangeArrowheads="1"/>
          </p:cNvSpPr>
          <p:nvPr>
            <p:ph type="body" idx="1"/>
          </p:nvPr>
        </p:nvSpPr>
        <p:spPr/>
        <p:txBody>
          <a:bodyPr/>
          <a:lstStyle/>
          <a:p>
            <a:pPr eaLnBrk="1" hangingPunct="1">
              <a:lnSpc>
                <a:spcPct val="90000"/>
              </a:lnSpc>
              <a:buFont typeface="Wingdings" panose="05000000000000000000" pitchFamily="2" charset="2"/>
              <a:buNone/>
            </a:pPr>
            <a:r>
              <a:rPr lang="zh-CN" altLang="en-US" dirty="0" smtClean="0"/>
              <a:t>记：算法的计算时间为</a:t>
            </a:r>
            <a:r>
              <a:rPr lang="en-US" altLang="zh-CN" dirty="0" smtClean="0"/>
              <a:t>f(n)</a:t>
            </a:r>
            <a:endParaRPr lang="en-US" altLang="zh-CN" dirty="0" smtClean="0"/>
          </a:p>
          <a:p>
            <a:pPr eaLnBrk="1" hangingPunct="1">
              <a:lnSpc>
                <a:spcPct val="90000"/>
              </a:lnSpc>
              <a:buFont typeface="Wingdings" panose="05000000000000000000" pitchFamily="2" charset="2"/>
              <a:buNone/>
            </a:pPr>
            <a:r>
              <a:rPr lang="en-US" altLang="zh-CN" dirty="0" smtClean="0"/>
              <a:t>        </a:t>
            </a:r>
            <a:r>
              <a:rPr lang="zh-CN" altLang="en-US" dirty="0" smtClean="0"/>
              <a:t>数量级限界函数为</a:t>
            </a:r>
            <a:r>
              <a:rPr lang="en-US" altLang="zh-CN" dirty="0" smtClean="0"/>
              <a:t>g(n)</a:t>
            </a:r>
            <a:endParaRPr lang="en-US" altLang="zh-CN" dirty="0" smtClean="0"/>
          </a:p>
          <a:p>
            <a:pPr eaLnBrk="1" hangingPunct="1">
              <a:lnSpc>
                <a:spcPct val="90000"/>
              </a:lnSpc>
              <a:buFont typeface="Wingdings" panose="05000000000000000000" pitchFamily="2" charset="2"/>
              <a:buNone/>
            </a:pPr>
            <a:r>
              <a:rPr lang="zh-CN" altLang="en-US" dirty="0" smtClean="0"/>
              <a:t>其中，</a:t>
            </a:r>
            <a:endParaRPr lang="zh-CN" altLang="en-US" dirty="0" smtClean="0"/>
          </a:p>
          <a:p>
            <a:pPr eaLnBrk="1" hangingPunct="1">
              <a:lnSpc>
                <a:spcPct val="90000"/>
              </a:lnSpc>
            </a:pPr>
            <a:r>
              <a:rPr lang="zh-CN" altLang="en-US" dirty="0" smtClean="0"/>
              <a:t> </a:t>
            </a:r>
            <a:r>
              <a:rPr lang="en-US" altLang="zh-CN" dirty="0" smtClean="0"/>
              <a:t>n</a:t>
            </a:r>
            <a:r>
              <a:rPr lang="zh-CN" altLang="en-US" dirty="0" smtClean="0"/>
              <a:t>是输入或输出规模的某种测度，即</a:t>
            </a:r>
            <a:r>
              <a:rPr lang="zh-CN" altLang="en-US" dirty="0" smtClean="0">
                <a:solidFill>
                  <a:srgbClr val="FF0000"/>
                </a:solidFill>
              </a:rPr>
              <a:t>问题的规模</a:t>
            </a:r>
            <a:r>
              <a:rPr lang="zh-CN" altLang="en-US" dirty="0" smtClean="0"/>
              <a:t>。</a:t>
            </a:r>
            <a:endParaRPr lang="zh-CN" altLang="en-US" dirty="0" smtClean="0"/>
          </a:p>
          <a:p>
            <a:pPr eaLnBrk="1" hangingPunct="1">
              <a:lnSpc>
                <a:spcPct val="90000"/>
              </a:lnSpc>
            </a:pPr>
            <a:r>
              <a:rPr lang="zh-CN" altLang="en-US" dirty="0" smtClean="0"/>
              <a:t> </a:t>
            </a:r>
            <a:r>
              <a:rPr lang="en-US" altLang="zh-CN" dirty="0" smtClean="0"/>
              <a:t>f(n)</a:t>
            </a:r>
            <a:r>
              <a:rPr lang="zh-CN" altLang="en-US" dirty="0" smtClean="0"/>
              <a:t>表示算法的“实际”</a:t>
            </a:r>
            <a:r>
              <a:rPr lang="zh-CN" altLang="en-US" dirty="0" smtClean="0">
                <a:solidFill>
                  <a:srgbClr val="FF0000"/>
                </a:solidFill>
              </a:rPr>
              <a:t>执行时间</a:t>
            </a:r>
            <a:r>
              <a:rPr lang="zh-CN" altLang="en-US" dirty="0" smtClean="0"/>
              <a:t>。</a:t>
            </a:r>
            <a:endParaRPr lang="zh-CN" altLang="en-US" dirty="0" smtClean="0"/>
          </a:p>
          <a:p>
            <a:pPr eaLnBrk="1" hangingPunct="1">
              <a:lnSpc>
                <a:spcPct val="90000"/>
              </a:lnSpc>
            </a:pPr>
            <a:r>
              <a:rPr lang="zh-CN" altLang="en-US" dirty="0" smtClean="0"/>
              <a:t> </a:t>
            </a:r>
            <a:r>
              <a:rPr lang="en-US" altLang="zh-CN" dirty="0" smtClean="0"/>
              <a:t>g(n)</a:t>
            </a:r>
            <a:r>
              <a:rPr lang="zh-CN" altLang="en-US" dirty="0" smtClean="0"/>
              <a:t>是形式简单的函数，如</a:t>
            </a:r>
            <a:r>
              <a:rPr lang="en-US" altLang="zh-CN" sz="2800" dirty="0" smtClean="0"/>
              <a:t>n</a:t>
            </a:r>
            <a:r>
              <a:rPr lang="en-US" altLang="zh-CN" sz="2800" baseline="30000" dirty="0" smtClean="0"/>
              <a:t>m</a:t>
            </a:r>
            <a:r>
              <a:rPr lang="zh-CN" altLang="en-US" dirty="0" smtClean="0"/>
              <a:t>，</a:t>
            </a:r>
            <a:r>
              <a:rPr lang="en-US" altLang="zh-CN" dirty="0" err="1" smtClean="0"/>
              <a:t>logn</a:t>
            </a:r>
            <a:r>
              <a:rPr lang="zh-CN" altLang="en-US" dirty="0" smtClean="0"/>
              <a:t>，</a:t>
            </a:r>
            <a:r>
              <a:rPr lang="en-US" altLang="zh-CN" dirty="0" err="1" smtClean="0"/>
              <a:t>2n</a:t>
            </a:r>
            <a:r>
              <a:rPr lang="zh-CN" altLang="en-US" dirty="0" smtClean="0"/>
              <a:t>，</a:t>
            </a:r>
            <a:r>
              <a:rPr lang="en-US" altLang="zh-CN" dirty="0" smtClean="0"/>
              <a:t>n!</a:t>
            </a:r>
            <a:r>
              <a:rPr lang="zh-CN" altLang="en-US" dirty="0" smtClean="0"/>
              <a:t>等。是事前分析中通过对计算时间或频率计数统计分析所得的与机器及语言无关的函数。</a:t>
            </a:r>
            <a:endParaRPr lang="zh-CN" altLang="en-US" dirty="0" smtClean="0"/>
          </a:p>
        </p:txBody>
      </p:sp>
    </p:spTree>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63491" name="Rectangle 2"/>
          <p:cNvSpPr>
            <a:spLocks noGrp="1" noChangeArrowheads="1"/>
          </p:cNvSpPr>
          <p:nvPr>
            <p:ph type="title"/>
          </p:nvPr>
        </p:nvSpPr>
        <p:spPr/>
        <p:txBody>
          <a:bodyPr/>
          <a:lstStyle/>
          <a:p>
            <a:pPr eaLnBrk="1" hangingPunct="1"/>
            <a:r>
              <a:rPr lang="zh-CN" altLang="en-US" dirty="0"/>
              <a:t>渐进</a:t>
            </a:r>
            <a:r>
              <a:rPr lang="zh-CN" altLang="en-US" dirty="0" smtClean="0"/>
              <a:t>表示</a:t>
            </a:r>
            <a:r>
              <a:rPr lang="en-US" altLang="zh-CN" dirty="0">
                <a:latin typeface="+mn-ea"/>
              </a:rPr>
              <a:t>——</a:t>
            </a:r>
            <a:r>
              <a:rPr lang="zh-CN" altLang="en-US" dirty="0" smtClean="0"/>
              <a:t>大</a:t>
            </a:r>
            <a:r>
              <a:rPr lang="en-US" altLang="zh-CN" dirty="0" smtClean="0"/>
              <a:t> O-</a:t>
            </a:r>
            <a:r>
              <a:rPr lang="zh-CN" altLang="en-US" dirty="0" smtClean="0"/>
              <a:t>记号（渐近上界记号）</a:t>
            </a:r>
            <a:endParaRPr lang="en-US" altLang="zh-CN" dirty="0" smtClean="0"/>
          </a:p>
        </p:txBody>
      </p:sp>
      <p:sp>
        <p:nvSpPr>
          <p:cNvPr id="68611" name="Rectangle 3"/>
          <p:cNvSpPr>
            <a:spLocks noGrp="1" noChangeArrowheads="1"/>
          </p:cNvSpPr>
          <p:nvPr>
            <p:ph type="body" idx="1"/>
          </p:nvPr>
        </p:nvSpPr>
        <p:spPr/>
        <p:txBody>
          <a:bodyPr/>
          <a:lstStyle/>
          <a:p>
            <a:pPr eaLnBrk="1" hangingPunct="1">
              <a:defRPr/>
            </a:pPr>
            <a:r>
              <a:rPr lang="zh-CN" altLang="en-US" dirty="0" smtClean="0"/>
              <a:t>定义</a:t>
            </a:r>
            <a:r>
              <a:rPr lang="en-US" altLang="zh-CN" dirty="0" smtClean="0"/>
              <a:t>1.2 </a:t>
            </a:r>
            <a:endParaRPr lang="en-US" altLang="zh-CN" dirty="0" smtClean="0"/>
          </a:p>
          <a:p>
            <a:pPr lvl="1" eaLnBrk="1" hangingPunct="1">
              <a:defRPr/>
            </a:pPr>
            <a:r>
              <a:rPr lang="zh-CN" altLang="en-US" dirty="0" smtClean="0">
                <a:latin typeface="+mn-lt"/>
                <a:ea typeface="+mn-ea"/>
                <a:cs typeface="+mn-cs"/>
              </a:rPr>
              <a:t>设</a:t>
            </a:r>
            <a:r>
              <a:rPr lang="en-US" altLang="zh-CN" dirty="0" smtClean="0">
                <a:latin typeface="+mn-lt"/>
                <a:ea typeface="+mn-ea"/>
                <a:cs typeface="+mn-cs"/>
              </a:rPr>
              <a:t>f(n)</a:t>
            </a:r>
            <a:r>
              <a:rPr lang="zh-CN" altLang="en-US" dirty="0" smtClean="0">
                <a:latin typeface="+mn-lt"/>
                <a:ea typeface="+mn-ea"/>
                <a:cs typeface="+mn-cs"/>
              </a:rPr>
              <a:t>和</a:t>
            </a:r>
            <a:r>
              <a:rPr lang="en-US" altLang="zh-CN" dirty="0" smtClean="0">
                <a:latin typeface="+mn-lt"/>
                <a:ea typeface="+mn-ea"/>
                <a:cs typeface="+mn-cs"/>
                <a:sym typeface="Symbol" panose="05050102010706020507" pitchFamily="18" charset="2"/>
              </a:rPr>
              <a:t>g(n)</a:t>
            </a:r>
            <a:r>
              <a:rPr lang="zh-CN" altLang="en-US" dirty="0" smtClean="0">
                <a:latin typeface="+mn-lt"/>
                <a:ea typeface="+mn-ea"/>
                <a:cs typeface="+mn-cs"/>
              </a:rPr>
              <a:t>是定义在正数集上的正函数。</a:t>
            </a:r>
            <a:r>
              <a:rPr lang="en-US" altLang="zh-CN" dirty="0" smtClean="0">
                <a:latin typeface="+mn-lt"/>
                <a:ea typeface="+mn-ea"/>
                <a:cs typeface="+mn-cs"/>
              </a:rPr>
              <a:t> </a:t>
            </a:r>
            <a:endParaRPr lang="en-US" altLang="zh-CN" dirty="0" smtClean="0">
              <a:latin typeface="+mn-lt"/>
              <a:ea typeface="+mn-ea"/>
              <a:cs typeface="+mn-cs"/>
            </a:endParaRPr>
          </a:p>
          <a:p>
            <a:pPr lvl="1" eaLnBrk="1" hangingPunct="1">
              <a:defRPr/>
            </a:pPr>
            <a:r>
              <a:rPr lang="zh-CN" altLang="en-US" dirty="0" smtClean="0">
                <a:latin typeface="+mn-lt"/>
                <a:ea typeface="+mn-ea"/>
                <a:cs typeface="+mn-cs"/>
              </a:rPr>
              <a:t>如果存在正的常数</a:t>
            </a:r>
            <a:r>
              <a:rPr lang="en-US" altLang="zh-CN" dirty="0" smtClean="0">
                <a:latin typeface="+mn-lt"/>
                <a:ea typeface="+mn-ea"/>
                <a:cs typeface="+mn-cs"/>
              </a:rPr>
              <a:t>c</a:t>
            </a:r>
            <a:r>
              <a:rPr lang="zh-CN" altLang="en-US" dirty="0" smtClean="0">
                <a:latin typeface="+mn-lt"/>
                <a:ea typeface="+mn-ea"/>
                <a:cs typeface="+mn-cs"/>
              </a:rPr>
              <a:t>和自然数</a:t>
            </a:r>
            <a:r>
              <a:rPr lang="en-US" altLang="zh-CN" dirty="0" smtClean="0">
                <a:latin typeface="+mn-lt"/>
                <a:ea typeface="+mn-ea"/>
                <a:cs typeface="+mn-cs"/>
              </a:rPr>
              <a:t>n0</a:t>
            </a:r>
            <a:r>
              <a:rPr lang="zh-CN" altLang="en-US" dirty="0" smtClean="0">
                <a:latin typeface="+mn-lt"/>
                <a:ea typeface="+mn-ea"/>
                <a:cs typeface="+mn-cs"/>
              </a:rPr>
              <a:t>，</a:t>
            </a:r>
            <a:r>
              <a:rPr lang="zh-CN" altLang="en-US" dirty="0" smtClean="0">
                <a:solidFill>
                  <a:srgbClr val="FF0000"/>
                </a:solidFill>
                <a:latin typeface="+mn-lt"/>
                <a:ea typeface="+mn-ea"/>
                <a:cs typeface="+mn-cs"/>
              </a:rPr>
              <a:t>使得当</a:t>
            </a:r>
            <a:r>
              <a:rPr lang="en-US" altLang="zh-CN" dirty="0" smtClean="0">
                <a:solidFill>
                  <a:srgbClr val="FF0000"/>
                </a:solidFill>
                <a:latin typeface="+mn-lt"/>
                <a:ea typeface="+mn-ea"/>
                <a:cs typeface="+mn-cs"/>
                <a:sym typeface="Symbol" panose="05050102010706020507" pitchFamily="18" charset="2"/>
              </a:rPr>
              <a:t>nn0</a:t>
            </a:r>
            <a:r>
              <a:rPr lang="zh-CN" altLang="en-US" dirty="0" smtClean="0">
                <a:solidFill>
                  <a:srgbClr val="FF0000"/>
                </a:solidFill>
                <a:latin typeface="+mn-lt"/>
                <a:ea typeface="+mn-ea"/>
                <a:cs typeface="+mn-cs"/>
              </a:rPr>
              <a:t>时有</a:t>
            </a:r>
            <a:r>
              <a:rPr lang="en-US" altLang="zh-CN" dirty="0" smtClean="0">
                <a:solidFill>
                  <a:srgbClr val="FF0000"/>
                </a:solidFill>
                <a:latin typeface="+mn-lt"/>
                <a:ea typeface="+mn-ea"/>
                <a:cs typeface="+mn-cs"/>
                <a:sym typeface="Symbol" panose="05050102010706020507" pitchFamily="18" charset="2"/>
              </a:rPr>
              <a:t>f (n) c g (n)</a:t>
            </a:r>
            <a:r>
              <a:rPr lang="zh-CN" altLang="en-US" dirty="0" smtClean="0">
                <a:latin typeface="+mn-lt"/>
                <a:ea typeface="+mn-ea"/>
                <a:cs typeface="+mn-cs"/>
              </a:rPr>
              <a:t>，则称函数</a:t>
            </a:r>
            <a:r>
              <a:rPr lang="en-US" altLang="zh-CN" dirty="0" smtClean="0">
                <a:latin typeface="+mn-lt"/>
                <a:ea typeface="+mn-ea"/>
                <a:cs typeface="+mn-cs"/>
              </a:rPr>
              <a:t>f(n)</a:t>
            </a:r>
            <a:r>
              <a:rPr lang="zh-CN" altLang="en-US" dirty="0" smtClean="0">
                <a:latin typeface="+mn-lt"/>
                <a:ea typeface="+mn-ea"/>
                <a:cs typeface="+mn-cs"/>
              </a:rPr>
              <a:t>当</a:t>
            </a:r>
            <a:r>
              <a:rPr lang="en-US" altLang="zh-CN" dirty="0" smtClean="0">
                <a:latin typeface="+mn-lt"/>
                <a:ea typeface="+mn-ea"/>
                <a:cs typeface="+mn-cs"/>
              </a:rPr>
              <a:t>n</a:t>
            </a:r>
            <a:r>
              <a:rPr lang="zh-CN" altLang="en-US" dirty="0" smtClean="0">
                <a:latin typeface="+mn-lt"/>
                <a:ea typeface="+mn-ea"/>
                <a:cs typeface="+mn-cs"/>
              </a:rPr>
              <a:t>充分大时上有界，且</a:t>
            </a:r>
            <a:r>
              <a:rPr lang="en-US" altLang="zh-CN" dirty="0" smtClean="0">
                <a:latin typeface="+mn-lt"/>
                <a:ea typeface="+mn-ea"/>
                <a:cs typeface="+mn-cs"/>
              </a:rPr>
              <a:t>g(n)</a:t>
            </a:r>
            <a:r>
              <a:rPr lang="zh-CN" altLang="en-US" dirty="0" smtClean="0">
                <a:latin typeface="+mn-lt"/>
                <a:ea typeface="+mn-ea"/>
                <a:cs typeface="+mn-cs"/>
              </a:rPr>
              <a:t>是它的一个上界，记为</a:t>
            </a:r>
            <a:r>
              <a:rPr lang="en-US" altLang="zh-CN" dirty="0" smtClean="0">
                <a:latin typeface="+mn-lt"/>
                <a:ea typeface="+mn-ea"/>
                <a:cs typeface="+mn-cs"/>
              </a:rPr>
              <a:t>f(n)=O(g(n))</a:t>
            </a:r>
            <a:r>
              <a:rPr lang="zh-CN" altLang="en-US" dirty="0" smtClean="0">
                <a:latin typeface="+mn-lt"/>
                <a:ea typeface="+mn-ea"/>
                <a:cs typeface="+mn-cs"/>
              </a:rPr>
              <a:t>。即</a:t>
            </a:r>
            <a:r>
              <a:rPr lang="en-US" altLang="zh-CN" dirty="0" smtClean="0">
                <a:solidFill>
                  <a:srgbClr val="FF0000"/>
                </a:solidFill>
                <a:latin typeface="+mn-lt"/>
                <a:ea typeface="+mn-ea"/>
                <a:cs typeface="+mn-cs"/>
              </a:rPr>
              <a:t>f(n)</a:t>
            </a:r>
            <a:r>
              <a:rPr lang="zh-CN" altLang="en-US" dirty="0" smtClean="0">
                <a:solidFill>
                  <a:srgbClr val="FF0000"/>
                </a:solidFill>
                <a:latin typeface="+mn-lt"/>
                <a:ea typeface="+mn-ea"/>
                <a:cs typeface="+mn-cs"/>
              </a:rPr>
              <a:t>的阶不高于</a:t>
            </a:r>
            <a:r>
              <a:rPr lang="en-US" altLang="zh-CN" dirty="0" smtClean="0">
                <a:solidFill>
                  <a:srgbClr val="FF0000"/>
                </a:solidFill>
                <a:latin typeface="+mn-lt"/>
                <a:ea typeface="+mn-ea"/>
                <a:cs typeface="+mn-cs"/>
              </a:rPr>
              <a:t>g(n)</a:t>
            </a:r>
            <a:r>
              <a:rPr lang="zh-CN" altLang="en-US" dirty="0" smtClean="0">
                <a:solidFill>
                  <a:srgbClr val="FF0000"/>
                </a:solidFill>
                <a:latin typeface="+mn-lt"/>
                <a:ea typeface="+mn-ea"/>
                <a:cs typeface="+mn-cs"/>
              </a:rPr>
              <a:t>的阶</a:t>
            </a:r>
            <a:r>
              <a:rPr lang="zh-CN" altLang="en-US" dirty="0" smtClean="0">
                <a:latin typeface="+mn-lt"/>
                <a:ea typeface="+mn-ea"/>
                <a:cs typeface="+mn-cs"/>
              </a:rPr>
              <a:t>。</a:t>
            </a:r>
            <a:endParaRPr lang="en-US" altLang="zh-CN" dirty="0" smtClean="0">
              <a:latin typeface="+mn-lt"/>
              <a:ea typeface="+mn-ea"/>
              <a:cs typeface="+mn-cs"/>
            </a:endParaRPr>
          </a:p>
          <a:p>
            <a:pPr lvl="1" eaLnBrk="1" hangingPunct="1">
              <a:buFontTx/>
              <a:buNone/>
              <a:defRPr/>
            </a:pPr>
            <a:r>
              <a:rPr lang="zh-CN" altLang="en-US" dirty="0" smtClean="0">
                <a:latin typeface="+mn-lt"/>
                <a:ea typeface="+mn-ea"/>
                <a:cs typeface="+mn-cs"/>
              </a:rPr>
              <a:t>也就是说</a:t>
            </a:r>
            <a:r>
              <a:rPr lang="en-US" altLang="zh-CN" dirty="0" smtClean="0">
                <a:latin typeface="+mn-lt"/>
                <a:ea typeface="+mn-ea"/>
                <a:cs typeface="+mn-cs"/>
                <a:sym typeface="Symbol" panose="05050102010706020507" pitchFamily="18" charset="2"/>
              </a:rPr>
              <a:t>,</a:t>
            </a:r>
            <a:r>
              <a:rPr lang="zh-CN" altLang="en-US" dirty="0" smtClean="0">
                <a:latin typeface="+mn-lt"/>
                <a:ea typeface="+mn-ea"/>
                <a:cs typeface="+mn-cs"/>
                <a:sym typeface="Symbol" panose="05050102010706020507" pitchFamily="18" charset="2"/>
              </a:rPr>
              <a:t>当</a:t>
            </a:r>
            <a:r>
              <a:rPr lang="en-US" altLang="zh-CN" dirty="0" smtClean="0">
                <a:latin typeface="+mn-lt"/>
                <a:ea typeface="+mn-ea"/>
                <a:cs typeface="+mn-cs"/>
                <a:sym typeface="Symbol" panose="05050102010706020507" pitchFamily="18" charset="2"/>
              </a:rPr>
              <a:t> </a:t>
            </a:r>
            <a:r>
              <a:rPr lang="en-US" altLang="zh-CN" i="1" dirty="0" err="1" smtClean="0">
                <a:solidFill>
                  <a:srgbClr val="FF0000"/>
                </a:solidFill>
                <a:latin typeface="+mn-lt"/>
                <a:sym typeface="Symbol" panose="05050102010706020507" pitchFamily="18" charset="2"/>
              </a:rPr>
              <a:t>lim</a:t>
            </a:r>
            <a:r>
              <a:rPr lang="en-US" altLang="zh-CN" i="1" dirty="0" smtClean="0">
                <a:solidFill>
                  <a:srgbClr val="FF0000"/>
                </a:solidFill>
                <a:latin typeface="+mn-lt"/>
                <a:sym typeface="Symbol" panose="05050102010706020507" pitchFamily="18" charset="2"/>
              </a:rPr>
              <a:t> </a:t>
            </a:r>
            <a:r>
              <a:rPr lang="en-US" altLang="zh-CN" i="1" baseline="-25000" dirty="0" smtClean="0">
                <a:solidFill>
                  <a:srgbClr val="FF0000"/>
                </a:solidFill>
                <a:latin typeface="+mn-lt"/>
                <a:sym typeface="Symbol" panose="05050102010706020507" pitchFamily="18" charset="2"/>
              </a:rPr>
              <a:t>n </a:t>
            </a:r>
            <a:r>
              <a:rPr lang="en-US" altLang="zh-CN" i="1" dirty="0" smtClean="0">
                <a:solidFill>
                  <a:srgbClr val="FF0000"/>
                </a:solidFill>
                <a:latin typeface="+mn-lt"/>
                <a:sym typeface="Symbol" panose="05050102010706020507" pitchFamily="18" charset="2"/>
              </a:rPr>
              <a:t>f (n) /g (n)</a:t>
            </a:r>
            <a:r>
              <a:rPr lang="zh-CN" altLang="en-US" dirty="0" smtClean="0">
                <a:solidFill>
                  <a:srgbClr val="FF0000"/>
                </a:solidFill>
                <a:latin typeface="+mn-lt"/>
                <a:ea typeface="+mn-ea"/>
                <a:cs typeface="+mn-cs"/>
                <a:sym typeface="Symbol" panose="05050102010706020507" pitchFamily="18" charset="2"/>
              </a:rPr>
              <a:t>存在</a:t>
            </a:r>
            <a:r>
              <a:rPr lang="en-US" altLang="zh-CN" dirty="0" smtClean="0">
                <a:latin typeface="+mn-lt"/>
                <a:ea typeface="+mn-ea"/>
                <a:cs typeface="+mn-cs"/>
                <a:sym typeface="Symbol" panose="05050102010706020507" pitchFamily="18" charset="2"/>
              </a:rPr>
              <a:t>, </a:t>
            </a:r>
            <a:r>
              <a:rPr lang="zh-CN" altLang="en-US" dirty="0" smtClean="0">
                <a:latin typeface="+mn-lt"/>
                <a:ea typeface="+mn-ea"/>
                <a:cs typeface="+mn-cs"/>
                <a:sym typeface="Symbol" panose="05050102010706020507" pitchFamily="18" charset="2"/>
              </a:rPr>
              <a:t>且</a:t>
            </a:r>
            <a:r>
              <a:rPr lang="en-US" altLang="zh-CN" dirty="0" smtClean="0">
                <a:latin typeface="+mn-lt"/>
                <a:ea typeface="+mn-ea"/>
                <a:cs typeface="+mn-cs"/>
                <a:sym typeface="Symbol" panose="05050102010706020507" pitchFamily="18" charset="2"/>
              </a:rPr>
              <a:t> </a:t>
            </a:r>
            <a:endParaRPr lang="en-US" altLang="zh-CN" dirty="0" smtClean="0">
              <a:latin typeface="+mn-lt"/>
              <a:ea typeface="+mn-ea"/>
              <a:cs typeface="+mn-cs"/>
              <a:sym typeface="Symbol" panose="05050102010706020507" pitchFamily="18" charset="2"/>
            </a:endParaRPr>
          </a:p>
          <a:p>
            <a:pPr eaLnBrk="1" hangingPunct="1">
              <a:buFontTx/>
              <a:buNone/>
              <a:defRPr/>
            </a:pPr>
            <a:r>
              <a:rPr lang="en-US" altLang="zh-CN" sz="2200" dirty="0" smtClean="0">
                <a:sym typeface="Symbol" panose="05050102010706020507" pitchFamily="18" charset="2"/>
              </a:rPr>
              <a:t>                   </a:t>
            </a:r>
            <a:r>
              <a:rPr lang="en-US" altLang="zh-CN" sz="2200" i="1" dirty="0" err="1" smtClean="0">
                <a:sym typeface="Symbol" panose="05050102010706020507" pitchFamily="18" charset="2"/>
              </a:rPr>
              <a:t>lim</a:t>
            </a:r>
            <a:r>
              <a:rPr lang="en-US" altLang="zh-CN" sz="2200" i="1" dirty="0" smtClean="0">
                <a:sym typeface="Symbol" panose="05050102010706020507" pitchFamily="18" charset="2"/>
              </a:rPr>
              <a:t> </a:t>
            </a:r>
            <a:r>
              <a:rPr lang="en-US" altLang="zh-CN" sz="2200" i="1" baseline="-25000" dirty="0" smtClean="0">
                <a:sym typeface="Symbol" panose="05050102010706020507" pitchFamily="18" charset="2"/>
              </a:rPr>
              <a:t>n </a:t>
            </a:r>
            <a:r>
              <a:rPr lang="en-US" altLang="zh-CN" sz="2200" i="1" dirty="0" smtClean="0">
                <a:sym typeface="Symbol" panose="05050102010706020507" pitchFamily="18" charset="2"/>
              </a:rPr>
              <a:t>f (n) /g (n) </a:t>
            </a:r>
            <a:r>
              <a:rPr lang="en-US" altLang="zh-CN" sz="2200" dirty="0" smtClean="0">
                <a:sym typeface="Symbol" panose="05050102010706020507" pitchFamily="18" charset="2"/>
              </a:rPr>
              <a:t>   </a:t>
            </a:r>
            <a:r>
              <a:rPr lang="zh-CN" altLang="en-US" sz="2200" dirty="0" smtClean="0">
                <a:sym typeface="Symbol" panose="05050102010706020507" pitchFamily="18" charset="2"/>
              </a:rPr>
              <a:t>则表示</a:t>
            </a:r>
            <a:r>
              <a:rPr lang="en-US" altLang="zh-CN" sz="2200" dirty="0" smtClean="0">
                <a:sym typeface="Symbol" panose="05050102010706020507" pitchFamily="18" charset="2"/>
              </a:rPr>
              <a:t> </a:t>
            </a:r>
            <a:r>
              <a:rPr lang="en-US" altLang="zh-CN" sz="2200" i="1" dirty="0" smtClean="0">
                <a:sym typeface="Symbol" panose="05050102010706020507" pitchFamily="18" charset="2"/>
              </a:rPr>
              <a:t>f (n)=O(g(n))</a:t>
            </a:r>
            <a:endParaRPr lang="en-US" altLang="zh-CN" sz="2200" i="1" dirty="0" smtClean="0">
              <a:sym typeface="Symbol" panose="05050102010706020507" pitchFamily="18" charset="2"/>
            </a:endParaRPr>
          </a:p>
          <a:p>
            <a:pPr eaLnBrk="1" hangingPunct="1">
              <a:buFontTx/>
              <a:buNone/>
              <a:defRPr/>
            </a:pPr>
            <a:endParaRPr lang="en-US" altLang="zh-CN" sz="2200" dirty="0" smtClean="0"/>
          </a:p>
          <a:p>
            <a:pPr eaLnBrk="1" hangingPunct="1">
              <a:defRPr/>
            </a:pPr>
            <a:r>
              <a:rPr lang="zh-CN" altLang="en-US" sz="2200" dirty="0" smtClean="0"/>
              <a:t>根据定义可知：函数</a:t>
            </a:r>
            <a:r>
              <a:rPr lang="en-US" altLang="zh-CN" sz="2200" dirty="0" smtClean="0"/>
              <a:t>f(n) </a:t>
            </a:r>
            <a:r>
              <a:rPr lang="zh-CN" altLang="en-US" sz="2200" dirty="0" smtClean="0"/>
              <a:t>至多是函数</a:t>
            </a:r>
            <a:r>
              <a:rPr lang="en-US" altLang="zh-CN" sz="2200" dirty="0" smtClean="0"/>
              <a:t>g(n) </a:t>
            </a:r>
            <a:r>
              <a:rPr lang="zh-CN" altLang="en-US" sz="2200" dirty="0" smtClean="0"/>
              <a:t>的</a:t>
            </a:r>
            <a:r>
              <a:rPr lang="en-US" altLang="zh-CN" sz="2200" dirty="0" smtClean="0"/>
              <a:t>c </a:t>
            </a:r>
            <a:r>
              <a:rPr lang="zh-CN" altLang="en-US" sz="2200" dirty="0" smtClean="0"/>
              <a:t>倍，除非 </a:t>
            </a:r>
            <a:r>
              <a:rPr lang="en-US" altLang="zh-CN" sz="2200" dirty="0" smtClean="0"/>
              <a:t>n&lt;n</a:t>
            </a:r>
            <a:r>
              <a:rPr lang="zh-CN" altLang="en-US" sz="2200" dirty="0" smtClean="0"/>
              <a:t>0</a:t>
            </a:r>
            <a:r>
              <a:rPr lang="en-US" altLang="zh-CN" sz="2200" dirty="0" smtClean="0"/>
              <a:t> 。</a:t>
            </a:r>
            <a:r>
              <a:rPr lang="zh-CN" altLang="en-US" sz="2200" dirty="0" smtClean="0"/>
              <a:t>即是说，当</a:t>
            </a:r>
            <a:r>
              <a:rPr lang="en-US" altLang="zh-CN" sz="2200" dirty="0" smtClean="0"/>
              <a:t>n </a:t>
            </a:r>
            <a:r>
              <a:rPr lang="zh-CN" altLang="en-US" sz="2200" dirty="0" smtClean="0"/>
              <a:t>充分大时，</a:t>
            </a:r>
            <a:r>
              <a:rPr lang="en-US" altLang="zh-CN" sz="2200" dirty="0" smtClean="0"/>
              <a:t>g(n)  </a:t>
            </a:r>
            <a:r>
              <a:rPr lang="zh-CN" altLang="en-US" sz="2200" dirty="0" smtClean="0"/>
              <a:t>是</a:t>
            </a:r>
            <a:r>
              <a:rPr lang="en-US" altLang="zh-CN" sz="2200" dirty="0" smtClean="0"/>
              <a:t>f(n)</a:t>
            </a:r>
            <a:r>
              <a:rPr lang="zh-CN" altLang="en-US" sz="2200" dirty="0" smtClean="0"/>
              <a:t>的一个上界函数，在相差一个非零常数倍的情况下。</a:t>
            </a:r>
            <a:endParaRPr lang="en-US" altLang="zh-CN" sz="2200" dirty="0" smtClean="0">
              <a:sym typeface="Symbol" panose="05050102010706020507" pitchFamily="18" charset="2"/>
            </a:endParaRPr>
          </a:p>
          <a:p>
            <a:pPr eaLnBrk="1" hangingPunct="1">
              <a:buFontTx/>
              <a:buNone/>
              <a:defRPr/>
            </a:pPr>
            <a:endParaRPr lang="en-US" altLang="zh-CN" sz="2200" i="1" dirty="0" smtClean="0">
              <a:sym typeface="Symbol" panose="05050102010706020507" pitchFamily="18" charset="2"/>
            </a:endParaRPr>
          </a:p>
        </p:txBody>
      </p:sp>
      <p:pic>
        <p:nvPicPr>
          <p:cNvPr id="63493" name="Picture 4" descr="def"/>
          <p:cNvPicPr>
            <a:picLocks noChangeAspect="1" noChangeArrowheads="1" noCrop="1"/>
          </p:cNvPicPr>
          <p:nvPr/>
        </p:nvPicPr>
        <p:blipFill>
          <a:blip r:embed="rId1">
            <a:extLst>
              <a:ext uri="{28A0092B-C50C-407E-A947-70E740481C1C}">
                <a14:useLocalDpi xmlns:a14="http://schemas.microsoft.com/office/drawing/2010/main" val="0"/>
              </a:ext>
            </a:extLst>
          </a:blip>
          <a:srcRect/>
          <a:stretch>
            <a:fillRect/>
          </a:stretch>
        </p:blipFill>
        <p:spPr bwMode="auto">
          <a:xfrm>
            <a:off x="852488" y="1300163"/>
            <a:ext cx="504825" cy="349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64515" name="Rectangle 2"/>
          <p:cNvSpPr>
            <a:spLocks noGrp="1" noChangeArrowheads="1"/>
          </p:cNvSpPr>
          <p:nvPr>
            <p:ph type="title"/>
          </p:nvPr>
        </p:nvSpPr>
        <p:spPr/>
        <p:txBody>
          <a:bodyPr/>
          <a:lstStyle/>
          <a:p>
            <a:pPr eaLnBrk="1" hangingPunct="1"/>
            <a:r>
              <a:rPr lang="zh-CN" altLang="en-US" dirty="0"/>
              <a:t>渐进表示</a:t>
            </a:r>
            <a:r>
              <a:rPr lang="en-US" altLang="zh-CN" dirty="0">
                <a:latin typeface="+mn-ea"/>
              </a:rPr>
              <a:t>——</a:t>
            </a:r>
            <a:r>
              <a:rPr lang="zh-CN" altLang="en-US" dirty="0" smtClean="0"/>
              <a:t>大</a:t>
            </a:r>
            <a:r>
              <a:rPr lang="en-US" altLang="zh-CN" dirty="0" smtClean="0"/>
              <a:t> O-</a:t>
            </a:r>
            <a:r>
              <a:rPr lang="zh-CN" altLang="en-US" dirty="0" smtClean="0"/>
              <a:t>记号（渐近上界记号）</a:t>
            </a:r>
            <a:endParaRPr lang="en-US" altLang="zh-CN" dirty="0" smtClean="0"/>
          </a:p>
        </p:txBody>
      </p:sp>
      <p:sp>
        <p:nvSpPr>
          <p:cNvPr id="64516" name="Rectangle 3"/>
          <p:cNvSpPr>
            <a:spLocks noGrp="1" noChangeArrowheads="1"/>
          </p:cNvSpPr>
          <p:nvPr>
            <p:ph type="body" idx="1"/>
          </p:nvPr>
        </p:nvSpPr>
        <p:spPr/>
        <p:txBody>
          <a:bodyPr/>
          <a:lstStyle/>
          <a:p>
            <a:pPr eaLnBrk="1" hangingPunct="1"/>
            <a:r>
              <a:rPr lang="zh-CN" altLang="en-US" smtClean="0">
                <a:sym typeface="Symbol" panose="05050102010706020507" pitchFamily="18" charset="2"/>
              </a:rPr>
              <a:t>例：</a:t>
            </a:r>
            <a:endParaRPr lang="en-US" altLang="zh-CN" smtClean="0">
              <a:sym typeface="Symbol" panose="05050102010706020507" pitchFamily="18" charset="2"/>
            </a:endParaRPr>
          </a:p>
          <a:p>
            <a:pPr lvl="1" eaLnBrk="1" hangingPunct="1">
              <a:spcBef>
                <a:spcPct val="0"/>
              </a:spcBef>
              <a:buFontTx/>
              <a:buNone/>
            </a:pPr>
            <a:r>
              <a:rPr lang="en-US" altLang="zh-CN" sz="2000" smtClean="0">
                <a:latin typeface="Arial" panose="020B0604020202090204" pitchFamily="34" charset="0"/>
              </a:rPr>
              <a:t>f (n) = 10n</a:t>
            </a:r>
            <a:r>
              <a:rPr lang="en-US" altLang="zh-CN" sz="2000" baseline="30000" smtClean="0">
                <a:latin typeface="Arial" panose="020B0604020202090204" pitchFamily="34" charset="0"/>
              </a:rPr>
              <a:t>2</a:t>
            </a:r>
            <a:r>
              <a:rPr lang="en-US" altLang="zh-CN" sz="2000" smtClean="0">
                <a:latin typeface="Arial" panose="020B0604020202090204" pitchFamily="34" charset="0"/>
              </a:rPr>
              <a:t>+20n. Then, </a:t>
            </a:r>
            <a:endParaRPr lang="en-US" altLang="zh-CN" sz="2000" smtClean="0">
              <a:latin typeface="Arial" panose="020B0604020202090204" pitchFamily="34" charset="0"/>
            </a:endParaRPr>
          </a:p>
          <a:p>
            <a:pPr lvl="1" eaLnBrk="1" hangingPunct="1">
              <a:spcBef>
                <a:spcPct val="0"/>
              </a:spcBef>
              <a:buFontTx/>
              <a:buNone/>
            </a:pPr>
            <a:r>
              <a:rPr lang="en-US" altLang="zh-CN" sz="2000" smtClean="0">
                <a:latin typeface="Arial" panose="020B0604020202090204" pitchFamily="34" charset="0"/>
              </a:rPr>
              <a:t>f (n) = O(n</a:t>
            </a:r>
            <a:r>
              <a:rPr lang="en-US" altLang="zh-CN" sz="2000" baseline="30000" smtClean="0">
                <a:latin typeface="Arial" panose="020B0604020202090204" pitchFamily="34" charset="0"/>
              </a:rPr>
              <a:t>2</a:t>
            </a:r>
            <a:r>
              <a:rPr lang="en-US" altLang="zh-CN" sz="2000" smtClean="0">
                <a:latin typeface="Arial" panose="020B0604020202090204" pitchFamily="34" charset="0"/>
              </a:rPr>
              <a:t>) </a:t>
            </a:r>
            <a:r>
              <a:rPr lang="zh-CN" altLang="en-US" sz="2000" smtClean="0">
                <a:latin typeface="Arial" panose="020B0604020202090204" pitchFamily="34" charset="0"/>
              </a:rPr>
              <a:t>由于当</a:t>
            </a:r>
            <a:r>
              <a:rPr lang="en-US" altLang="zh-CN" sz="2000" smtClean="0">
                <a:latin typeface="Arial" panose="020B0604020202090204" pitchFamily="34" charset="0"/>
              </a:rPr>
              <a:t>n </a:t>
            </a:r>
            <a:r>
              <a:rPr lang="en-US" altLang="zh-CN" sz="2000" smtClean="0">
                <a:latin typeface="Arial" panose="020B0604020202090204" pitchFamily="34" charset="0"/>
                <a:sym typeface="Symbol" panose="05050102010706020507" pitchFamily="18" charset="2"/>
              </a:rPr>
              <a:t></a:t>
            </a:r>
            <a:r>
              <a:rPr lang="en-US" altLang="zh-CN" sz="2000" smtClean="0">
                <a:latin typeface="Arial" panose="020B0604020202090204" pitchFamily="34" charset="0"/>
              </a:rPr>
              <a:t> 1, f(n)</a:t>
            </a:r>
            <a:r>
              <a:rPr lang="en-US" altLang="zh-CN" sz="2000" smtClean="0">
                <a:latin typeface="Arial" panose="020B0604020202090204" pitchFamily="34" charset="0"/>
                <a:sym typeface="Symbol" panose="05050102010706020507" pitchFamily="18" charset="2"/>
              </a:rPr>
              <a:t></a:t>
            </a:r>
            <a:r>
              <a:rPr lang="en-US" altLang="zh-CN" sz="2000" smtClean="0">
                <a:latin typeface="Arial" panose="020B0604020202090204" pitchFamily="34" charset="0"/>
              </a:rPr>
              <a:t>30n</a:t>
            </a:r>
            <a:r>
              <a:rPr lang="en-US" altLang="zh-CN" sz="2000" baseline="30000" smtClean="0">
                <a:latin typeface="Arial" panose="020B0604020202090204" pitchFamily="34" charset="0"/>
              </a:rPr>
              <a:t>2</a:t>
            </a:r>
            <a:r>
              <a:rPr lang="en-US" altLang="zh-CN" sz="2000" smtClean="0">
                <a:latin typeface="Arial" panose="020B0604020202090204" pitchFamily="34" charset="0"/>
              </a:rPr>
              <a:t>. </a:t>
            </a:r>
            <a:endParaRPr lang="en-US" altLang="zh-CN" sz="2000" smtClean="0">
              <a:latin typeface="Arial" panose="020B0604020202090204" pitchFamily="34" charset="0"/>
            </a:endParaRPr>
          </a:p>
          <a:p>
            <a:pPr lvl="1" eaLnBrk="1" hangingPunct="1">
              <a:spcBef>
                <a:spcPct val="0"/>
              </a:spcBef>
              <a:buFontTx/>
              <a:buNone/>
            </a:pPr>
            <a:r>
              <a:rPr lang="en-US" altLang="zh-CN" sz="2000" smtClean="0">
                <a:latin typeface="Arial" panose="020B0604020202090204" pitchFamily="34" charset="0"/>
                <a:sym typeface="Symbol" panose="05050102010706020507" pitchFamily="18" charset="2"/>
              </a:rPr>
              <a:t>Consequently, lim</a:t>
            </a:r>
            <a:r>
              <a:rPr lang="en-US" altLang="zh-CN" sz="2000" baseline="-25000" smtClean="0">
                <a:latin typeface="Arial" panose="020B0604020202090204" pitchFamily="34" charset="0"/>
                <a:sym typeface="Symbol" panose="05050102010706020507" pitchFamily="18" charset="2"/>
              </a:rPr>
              <a:t>n </a:t>
            </a:r>
            <a:r>
              <a:rPr lang="en-US" altLang="zh-CN" sz="2000" smtClean="0">
                <a:latin typeface="Arial" panose="020B0604020202090204" pitchFamily="34" charset="0"/>
                <a:sym typeface="Symbol" panose="05050102010706020507" pitchFamily="18" charset="2"/>
              </a:rPr>
              <a:t>f(n)/</a:t>
            </a:r>
            <a:r>
              <a:rPr lang="en-US" altLang="zh-CN" sz="2000" smtClean="0">
                <a:latin typeface="Arial" panose="020B0604020202090204" pitchFamily="34" charset="0"/>
              </a:rPr>
              <a:t>n</a:t>
            </a:r>
            <a:r>
              <a:rPr lang="en-US" altLang="zh-CN" sz="2000" baseline="30000" smtClean="0">
                <a:latin typeface="Arial" panose="020B0604020202090204" pitchFamily="34" charset="0"/>
              </a:rPr>
              <a:t>2</a:t>
            </a:r>
            <a:r>
              <a:rPr lang="en-US" altLang="zh-CN" sz="2000" smtClean="0">
                <a:latin typeface="Arial" panose="020B0604020202090204" pitchFamily="34" charset="0"/>
                <a:sym typeface="Symbol" panose="05050102010706020507" pitchFamily="18" charset="2"/>
              </a:rPr>
              <a:t>= 10 .</a:t>
            </a:r>
            <a:endParaRPr lang="en-US" altLang="zh-CN" sz="2000" smtClean="0">
              <a:latin typeface="Arial" panose="020B0604020202090204" pitchFamily="34" charset="0"/>
              <a:sym typeface="Symbol" panose="05050102010706020507" pitchFamily="18" charset="2"/>
            </a:endParaRPr>
          </a:p>
          <a:p>
            <a:pPr lvl="1" eaLnBrk="1" hangingPunct="1">
              <a:spcBef>
                <a:spcPct val="0"/>
              </a:spcBef>
              <a:buFontTx/>
              <a:buNone/>
            </a:pPr>
            <a:endParaRPr lang="en-US" altLang="zh-CN" sz="2000" smtClean="0">
              <a:latin typeface="Arial" panose="020B0604020202090204" pitchFamily="34" charset="0"/>
              <a:sym typeface="Symbol" panose="05050102010706020507" pitchFamily="18" charset="2"/>
            </a:endParaRPr>
          </a:p>
          <a:p>
            <a:pPr>
              <a:spcBef>
                <a:spcPct val="50000"/>
              </a:spcBef>
            </a:pPr>
            <a:r>
              <a:rPr lang="en-US" altLang="zh-CN" sz="2400" smtClean="0"/>
              <a:t>C</a:t>
            </a:r>
            <a:r>
              <a:rPr lang="en-US" altLang="zh-CN" sz="2400" baseline="-25000" smtClean="0"/>
              <a:t>0</a:t>
            </a:r>
            <a:r>
              <a:rPr lang="en-US" altLang="zh-CN" sz="2400" smtClean="0"/>
              <a:t>=O(1): f(n) </a:t>
            </a:r>
            <a:r>
              <a:rPr lang="zh-CN" altLang="en-US" sz="2400" smtClean="0"/>
              <a:t>等于非零常数的情形。</a:t>
            </a:r>
            <a:endParaRPr lang="zh-CN" altLang="en-US" sz="2400" smtClean="0"/>
          </a:p>
          <a:p>
            <a:pPr>
              <a:spcBef>
                <a:spcPct val="50000"/>
              </a:spcBef>
            </a:pPr>
            <a:r>
              <a:rPr lang="zh-CN" altLang="en-US" sz="2400" smtClean="0"/>
              <a:t>3</a:t>
            </a:r>
            <a:r>
              <a:rPr lang="en-US" altLang="zh-CN" sz="2400" smtClean="0"/>
              <a:t>n+2=O(n): </a:t>
            </a:r>
            <a:r>
              <a:rPr lang="zh-CN" altLang="en-US" sz="2400" smtClean="0"/>
              <a:t>可取</a:t>
            </a:r>
            <a:r>
              <a:rPr lang="en-US" altLang="zh-CN" sz="2400" smtClean="0"/>
              <a:t>c＝4，n</a:t>
            </a:r>
            <a:r>
              <a:rPr lang="en-US" altLang="zh-CN" sz="2400" baseline="-25000" smtClean="0"/>
              <a:t>0</a:t>
            </a:r>
            <a:r>
              <a:rPr lang="en-US" altLang="zh-CN" sz="2400" smtClean="0"/>
              <a:t>＝2。</a:t>
            </a:r>
            <a:endParaRPr lang="en-US" altLang="zh-CN" sz="2400" smtClean="0"/>
          </a:p>
          <a:p>
            <a:pPr>
              <a:spcBef>
                <a:spcPct val="50000"/>
              </a:spcBef>
            </a:pPr>
            <a:r>
              <a:rPr lang="en-US" altLang="zh-CN" sz="2400" smtClean="0"/>
              <a:t>100n+6=O(n): </a:t>
            </a:r>
            <a:r>
              <a:rPr lang="zh-CN" altLang="en-US" sz="2400" smtClean="0"/>
              <a:t>可取</a:t>
            </a:r>
            <a:r>
              <a:rPr lang="en-US" altLang="zh-CN" sz="2400" smtClean="0"/>
              <a:t>c=101，n</a:t>
            </a:r>
            <a:r>
              <a:rPr lang="en-US" altLang="zh-CN" sz="2400" baseline="-25000" smtClean="0"/>
              <a:t>0</a:t>
            </a:r>
            <a:r>
              <a:rPr lang="en-US" altLang="zh-CN" sz="2400" smtClean="0"/>
              <a:t>＝6。</a:t>
            </a:r>
            <a:endParaRPr lang="en-US" altLang="zh-CN" sz="2400" smtClean="0"/>
          </a:p>
          <a:p>
            <a:pPr>
              <a:spcBef>
                <a:spcPct val="50000"/>
              </a:spcBef>
            </a:pPr>
            <a:r>
              <a:rPr lang="en-US" altLang="zh-CN" sz="2400" smtClean="0"/>
              <a:t>10n</a:t>
            </a:r>
            <a:r>
              <a:rPr lang="en-US" altLang="zh-CN" sz="2400" baseline="30000" smtClean="0"/>
              <a:t>2</a:t>
            </a:r>
            <a:r>
              <a:rPr lang="en-US" altLang="zh-CN" sz="2400" smtClean="0"/>
              <a:t>+4n+3=O(n</a:t>
            </a:r>
            <a:r>
              <a:rPr lang="en-US" altLang="zh-CN" sz="2400" baseline="30000" smtClean="0"/>
              <a:t>2</a:t>
            </a:r>
            <a:r>
              <a:rPr lang="en-US" altLang="zh-CN" sz="2400" smtClean="0"/>
              <a:t>): </a:t>
            </a:r>
            <a:r>
              <a:rPr lang="zh-CN" altLang="en-US" sz="2400" smtClean="0"/>
              <a:t>可取 </a:t>
            </a:r>
            <a:r>
              <a:rPr lang="en-US" altLang="zh-CN" sz="2400" smtClean="0"/>
              <a:t>c=11, n</a:t>
            </a:r>
            <a:r>
              <a:rPr lang="en-US" altLang="zh-CN" sz="2400" baseline="-25000" smtClean="0"/>
              <a:t>0</a:t>
            </a:r>
            <a:r>
              <a:rPr lang="en-US" altLang="zh-CN" sz="2400" smtClean="0"/>
              <a:t>＝6</a:t>
            </a:r>
            <a:endParaRPr lang="en-US" altLang="zh-CN" sz="2400" smtClean="0"/>
          </a:p>
          <a:p>
            <a:pPr>
              <a:spcBef>
                <a:spcPct val="50000"/>
              </a:spcBef>
            </a:pPr>
            <a:r>
              <a:rPr lang="zh-CN" altLang="en-US" sz="2400" smtClean="0"/>
              <a:t>6×2</a:t>
            </a:r>
            <a:r>
              <a:rPr lang="en-US" altLang="zh-CN" sz="2400" baseline="30000" smtClean="0"/>
              <a:t>n</a:t>
            </a:r>
            <a:r>
              <a:rPr lang="en-US" altLang="zh-CN" sz="2400" smtClean="0"/>
              <a:t>+n</a:t>
            </a:r>
            <a:r>
              <a:rPr lang="en-US" altLang="zh-CN" sz="2400" baseline="30000" smtClean="0"/>
              <a:t>2</a:t>
            </a:r>
            <a:r>
              <a:rPr lang="en-US" altLang="zh-CN" sz="2400" smtClean="0"/>
              <a:t>=O(2</a:t>
            </a:r>
            <a:r>
              <a:rPr lang="en-US" altLang="zh-CN" sz="2400" baseline="30000" smtClean="0"/>
              <a:t>n</a:t>
            </a:r>
            <a:r>
              <a:rPr lang="en-US" altLang="zh-CN" sz="2400" smtClean="0"/>
              <a:t>): </a:t>
            </a:r>
            <a:r>
              <a:rPr lang="zh-CN" altLang="en-US" sz="2400" smtClean="0"/>
              <a:t>可取</a:t>
            </a:r>
            <a:r>
              <a:rPr lang="en-US" altLang="zh-CN" sz="2400" smtClean="0"/>
              <a:t>c =7，n</a:t>
            </a:r>
            <a:r>
              <a:rPr lang="en-US" altLang="zh-CN" sz="2400" baseline="-25000" smtClean="0"/>
              <a:t>0</a:t>
            </a:r>
            <a:r>
              <a:rPr lang="en-US" altLang="zh-CN" sz="2400" smtClean="0"/>
              <a:t>=4.</a:t>
            </a:r>
            <a:endParaRPr lang="en-US" altLang="zh-CN" sz="2400" smtClean="0"/>
          </a:p>
          <a:p>
            <a:pPr lvl="1" eaLnBrk="1" hangingPunct="1">
              <a:spcBef>
                <a:spcPct val="0"/>
              </a:spcBef>
              <a:buFontTx/>
              <a:buNone/>
            </a:pPr>
            <a:endParaRPr lang="en-US" altLang="zh-CN" sz="2000" smtClean="0">
              <a:latin typeface="Arial" panose="020B0604020202090204" pitchFamily="34" charset="0"/>
              <a:sym typeface="Symbol" panose="05050102010706020507" pitchFamily="18" charset="2"/>
            </a:endParaRPr>
          </a:p>
          <a:p>
            <a:pPr eaLnBrk="1" hangingPunct="1"/>
            <a:endParaRPr lang="en-US" altLang="zh-CN" sz="2200" smtClean="0">
              <a:sym typeface="Symbol" panose="05050102010706020507" pitchFamily="18" charset="2"/>
            </a:endParaRPr>
          </a:p>
        </p:txBody>
      </p: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9"/>
          <p:cNvSpPr/>
          <p:nvPr/>
        </p:nvSpPr>
        <p:spPr bwMode="auto">
          <a:xfrm>
            <a:off x="1000125" y="1714500"/>
            <a:ext cx="7572375" cy="4000500"/>
          </a:xfrm>
          <a:prstGeom prst="rect">
            <a:avLst/>
          </a:prstGeom>
          <a:solidFill>
            <a:schemeClr val="accent5">
              <a:lumMod val="50000"/>
            </a:schemeClr>
          </a:solidFill>
          <a:ln w="7938" cap="flat" cmpd="sng" algn="ctr">
            <a:solidFill>
              <a:schemeClr val="tx1"/>
            </a:solidFill>
            <a:prstDash val="solid"/>
            <a:round/>
            <a:headEnd type="none" w="med" len="med"/>
            <a:tailEnd type="none" w="med" len="med"/>
          </a:ln>
          <a:effectLst/>
        </p:spPr>
        <p:txBody>
          <a:bodyPr/>
          <a:lstStyle/>
          <a:p>
            <a:pPr>
              <a:defRPr/>
            </a:pPr>
            <a:endParaRPr lang="zh-CN" altLang="en-US">
              <a:latin typeface="Arial" panose="020B0604020202090204" pitchFamily="34" charset="0"/>
            </a:endParaRPr>
          </a:p>
        </p:txBody>
      </p:sp>
      <p:sp>
        <p:nvSpPr>
          <p:cNvPr id="3080"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3081" name="Rectangle 2"/>
          <p:cNvSpPr>
            <a:spLocks noGrp="1" noChangeArrowheads="1"/>
          </p:cNvSpPr>
          <p:nvPr>
            <p:ph type="title"/>
          </p:nvPr>
        </p:nvSpPr>
        <p:spPr/>
        <p:txBody>
          <a:bodyPr/>
          <a:lstStyle/>
          <a:p>
            <a:pPr eaLnBrk="1" hangingPunct="1"/>
            <a:r>
              <a:rPr lang="zh-CN" altLang="en-US" dirty="0"/>
              <a:t>渐进表示</a:t>
            </a:r>
            <a:r>
              <a:rPr lang="en-US" altLang="zh-CN" dirty="0">
                <a:latin typeface="+mn-ea"/>
              </a:rPr>
              <a:t>——</a:t>
            </a:r>
            <a:r>
              <a:rPr lang="zh-CN" altLang="en-US" dirty="0" smtClean="0"/>
              <a:t>大</a:t>
            </a:r>
            <a:r>
              <a:rPr lang="en-US" altLang="zh-CN" dirty="0" smtClean="0"/>
              <a:t> O-</a:t>
            </a:r>
            <a:r>
              <a:rPr lang="zh-CN" altLang="en-US" dirty="0" smtClean="0"/>
              <a:t>记号（渐近上界记号）</a:t>
            </a:r>
            <a:endParaRPr lang="en-US" altLang="zh-CN" dirty="0" smtClean="0"/>
          </a:p>
        </p:txBody>
      </p:sp>
      <p:sp>
        <p:nvSpPr>
          <p:cNvPr id="63492" name="Rectangle 3"/>
          <p:cNvSpPr>
            <a:spLocks noGrp="1" noChangeArrowheads="1"/>
          </p:cNvSpPr>
          <p:nvPr>
            <p:ph type="body" idx="1"/>
          </p:nvPr>
        </p:nvSpPr>
        <p:spPr>
          <a:xfrm>
            <a:off x="857250" y="1214438"/>
            <a:ext cx="7786688" cy="4525962"/>
          </a:xfrm>
        </p:spPr>
        <p:txBody>
          <a:bodyPr/>
          <a:lstStyle/>
          <a:p>
            <a:pPr eaLnBrk="1" hangingPunct="1">
              <a:defRPr/>
            </a:pPr>
            <a:r>
              <a:rPr lang="zh-CN" altLang="en-US" dirty="0" smtClean="0">
                <a:sym typeface="Symbol" panose="05050102010706020507" pitchFamily="18" charset="2"/>
              </a:rPr>
              <a:t>例：</a:t>
            </a:r>
            <a:endParaRPr lang="en-US" altLang="zh-CN" dirty="0" smtClean="0">
              <a:sym typeface="Symbol" panose="05050102010706020507" pitchFamily="18" charset="2"/>
            </a:endParaRPr>
          </a:p>
          <a:p>
            <a:pPr>
              <a:lnSpc>
                <a:spcPct val="130000"/>
              </a:lnSpc>
              <a:spcBef>
                <a:spcPct val="25000"/>
              </a:spcBef>
              <a:defRPr/>
            </a:pPr>
            <a:r>
              <a:rPr lang="zh-CN" altLang="en-US" dirty="0" smtClean="0">
                <a:solidFill>
                  <a:schemeClr val="accent3"/>
                </a:solidFill>
              </a:rPr>
              <a:t>因为                     所以  3</a:t>
            </a:r>
            <a:r>
              <a:rPr lang="en-US" altLang="zh-CN" dirty="0" smtClean="0">
                <a:solidFill>
                  <a:schemeClr val="accent3"/>
                </a:solidFill>
              </a:rPr>
              <a:t>n+2=O(n);</a:t>
            </a:r>
            <a:endParaRPr lang="en-US" altLang="zh-CN" dirty="0" smtClean="0">
              <a:solidFill>
                <a:schemeClr val="accent3"/>
              </a:solidFill>
            </a:endParaRPr>
          </a:p>
          <a:p>
            <a:pPr>
              <a:lnSpc>
                <a:spcPct val="130000"/>
              </a:lnSpc>
              <a:spcBef>
                <a:spcPct val="25000"/>
              </a:spcBef>
              <a:defRPr/>
            </a:pPr>
            <a:r>
              <a:rPr lang="zh-CN" altLang="en-US" dirty="0" smtClean="0">
                <a:solidFill>
                  <a:schemeClr val="accent3"/>
                </a:solidFill>
              </a:rPr>
              <a:t>因为                            所以  10</a:t>
            </a:r>
            <a:r>
              <a:rPr lang="en-US" altLang="zh-CN" dirty="0" smtClean="0">
                <a:solidFill>
                  <a:schemeClr val="accent3"/>
                </a:solidFill>
              </a:rPr>
              <a:t>n</a:t>
            </a:r>
            <a:r>
              <a:rPr lang="en-US" altLang="zh-CN" baseline="30000" dirty="0" smtClean="0">
                <a:solidFill>
                  <a:schemeClr val="accent3"/>
                </a:solidFill>
              </a:rPr>
              <a:t>2</a:t>
            </a:r>
            <a:r>
              <a:rPr lang="en-US" altLang="zh-CN" dirty="0" smtClean="0">
                <a:solidFill>
                  <a:schemeClr val="accent3"/>
                </a:solidFill>
              </a:rPr>
              <a:t>+4n+2=O(n</a:t>
            </a:r>
            <a:r>
              <a:rPr lang="en-US" altLang="zh-CN" baseline="30000" dirty="0" smtClean="0">
                <a:solidFill>
                  <a:schemeClr val="accent3"/>
                </a:solidFill>
              </a:rPr>
              <a:t>2</a:t>
            </a:r>
            <a:r>
              <a:rPr lang="en-US" altLang="zh-CN" dirty="0" smtClean="0">
                <a:solidFill>
                  <a:schemeClr val="accent3"/>
                </a:solidFill>
              </a:rPr>
              <a:t>);</a:t>
            </a:r>
            <a:endParaRPr lang="en-US" altLang="zh-CN" dirty="0" smtClean="0">
              <a:solidFill>
                <a:schemeClr val="accent3"/>
              </a:solidFill>
            </a:endParaRPr>
          </a:p>
          <a:p>
            <a:pPr>
              <a:lnSpc>
                <a:spcPct val="130000"/>
              </a:lnSpc>
              <a:spcBef>
                <a:spcPct val="25000"/>
              </a:spcBef>
              <a:defRPr/>
            </a:pPr>
            <a:r>
              <a:rPr lang="zh-CN" altLang="en-US" dirty="0" smtClean="0">
                <a:solidFill>
                  <a:schemeClr val="accent3"/>
                </a:solidFill>
              </a:rPr>
              <a:t>因为                           所以  6</a:t>
            </a:r>
            <a:r>
              <a:rPr lang="zh-CN" altLang="en-US" dirty="0" smtClean="0">
                <a:solidFill>
                  <a:schemeClr val="accent3"/>
                </a:solidFill>
                <a:sym typeface="Symbol" panose="05050102010706020507" pitchFamily="18" charset="2"/>
              </a:rPr>
              <a:t>2</a:t>
            </a:r>
            <a:r>
              <a:rPr lang="en-US" altLang="zh-CN" baseline="30000" dirty="0" smtClean="0">
                <a:solidFill>
                  <a:schemeClr val="accent3"/>
                </a:solidFill>
                <a:sym typeface="Symbol" panose="05050102010706020507" pitchFamily="18" charset="2"/>
              </a:rPr>
              <a:t>n</a:t>
            </a:r>
            <a:r>
              <a:rPr lang="en-US" altLang="zh-CN" dirty="0" smtClean="0">
                <a:solidFill>
                  <a:schemeClr val="accent3"/>
                </a:solidFill>
              </a:rPr>
              <a:t>+n</a:t>
            </a:r>
            <a:r>
              <a:rPr lang="en-US" altLang="zh-CN" baseline="30000" dirty="0" smtClean="0">
                <a:solidFill>
                  <a:schemeClr val="accent3"/>
                </a:solidFill>
              </a:rPr>
              <a:t>2</a:t>
            </a:r>
            <a:r>
              <a:rPr lang="en-US" altLang="zh-CN" dirty="0" smtClean="0">
                <a:solidFill>
                  <a:schemeClr val="accent3"/>
                </a:solidFill>
              </a:rPr>
              <a:t>=O(2</a:t>
            </a:r>
            <a:r>
              <a:rPr lang="en-US" altLang="zh-CN" baseline="30000" dirty="0" smtClean="0">
                <a:solidFill>
                  <a:schemeClr val="accent3"/>
                </a:solidFill>
              </a:rPr>
              <a:t>n</a:t>
            </a:r>
            <a:r>
              <a:rPr lang="en-US" altLang="zh-CN" dirty="0" smtClean="0">
                <a:solidFill>
                  <a:schemeClr val="accent3"/>
                </a:solidFill>
              </a:rPr>
              <a:t>);</a:t>
            </a:r>
            <a:endParaRPr lang="en-US" altLang="zh-CN" dirty="0" smtClean="0">
              <a:solidFill>
                <a:schemeClr val="accent3"/>
              </a:solidFill>
            </a:endParaRPr>
          </a:p>
          <a:p>
            <a:pPr>
              <a:lnSpc>
                <a:spcPct val="130000"/>
              </a:lnSpc>
              <a:spcBef>
                <a:spcPct val="25000"/>
              </a:spcBef>
              <a:defRPr/>
            </a:pPr>
            <a:r>
              <a:rPr lang="zh-CN" altLang="en-US" dirty="0" smtClean="0">
                <a:solidFill>
                  <a:schemeClr val="accent3"/>
                </a:solidFill>
              </a:rPr>
              <a:t>因为                          所以  </a:t>
            </a:r>
            <a:r>
              <a:rPr lang="en-US" altLang="zh-CN" dirty="0" smtClean="0">
                <a:solidFill>
                  <a:schemeClr val="accent3"/>
                </a:solidFill>
              </a:rPr>
              <a:t>n</a:t>
            </a:r>
            <a:r>
              <a:rPr lang="en-US" altLang="zh-CN" baseline="30000" dirty="0" smtClean="0">
                <a:solidFill>
                  <a:schemeClr val="accent3"/>
                </a:solidFill>
              </a:rPr>
              <a:t>16</a:t>
            </a:r>
            <a:r>
              <a:rPr lang="en-US" altLang="zh-CN" dirty="0" smtClean="0">
                <a:solidFill>
                  <a:schemeClr val="accent3"/>
                </a:solidFill>
              </a:rPr>
              <a:t>+3</a:t>
            </a:r>
            <a:r>
              <a:rPr lang="zh-CN" altLang="en-US" dirty="0" smtClean="0">
                <a:solidFill>
                  <a:schemeClr val="accent3"/>
                </a:solidFill>
                <a:sym typeface="Symbol" panose="05050102010706020507" pitchFamily="18" charset="2"/>
              </a:rPr>
              <a:t></a:t>
            </a:r>
            <a:r>
              <a:rPr lang="en-US" altLang="zh-CN" dirty="0" smtClean="0">
                <a:solidFill>
                  <a:schemeClr val="accent3"/>
                </a:solidFill>
              </a:rPr>
              <a:t>n</a:t>
            </a:r>
            <a:r>
              <a:rPr lang="en-US" altLang="zh-CN" baseline="30000" dirty="0" smtClean="0">
                <a:solidFill>
                  <a:schemeClr val="accent3"/>
                </a:solidFill>
              </a:rPr>
              <a:t>2</a:t>
            </a:r>
            <a:r>
              <a:rPr lang="en-US" altLang="zh-CN" dirty="0" smtClean="0">
                <a:solidFill>
                  <a:schemeClr val="accent3"/>
                </a:solidFill>
              </a:rPr>
              <a:t>=O(2</a:t>
            </a:r>
            <a:r>
              <a:rPr lang="en-US" altLang="zh-CN" baseline="30000" dirty="0" smtClean="0">
                <a:solidFill>
                  <a:schemeClr val="accent3"/>
                </a:solidFill>
              </a:rPr>
              <a:t>n</a:t>
            </a:r>
            <a:r>
              <a:rPr lang="en-US" altLang="zh-CN" dirty="0" smtClean="0">
                <a:solidFill>
                  <a:schemeClr val="accent3"/>
                </a:solidFill>
              </a:rPr>
              <a:t>);</a:t>
            </a:r>
            <a:endParaRPr lang="en-US" altLang="zh-CN" dirty="0" smtClean="0">
              <a:solidFill>
                <a:schemeClr val="accent3"/>
              </a:solidFill>
            </a:endParaRPr>
          </a:p>
          <a:p>
            <a:pPr lvl="1" eaLnBrk="1" hangingPunct="1">
              <a:spcBef>
                <a:spcPct val="0"/>
              </a:spcBef>
              <a:buFontTx/>
              <a:buNone/>
              <a:defRPr/>
            </a:pPr>
            <a:endParaRPr lang="en-US" altLang="zh-CN" sz="2000" dirty="0" smtClean="0">
              <a:sym typeface="Symbol" panose="05050102010706020507" pitchFamily="18" charset="2"/>
            </a:endParaRPr>
          </a:p>
          <a:p>
            <a:pPr eaLnBrk="1" hangingPunct="1">
              <a:defRPr/>
            </a:pPr>
            <a:endParaRPr lang="en-US" altLang="zh-CN" sz="2200" dirty="0" smtClean="0">
              <a:sym typeface="Symbol" panose="05050102010706020507" pitchFamily="18" charset="2"/>
            </a:endParaRPr>
          </a:p>
        </p:txBody>
      </p:sp>
      <p:graphicFrame>
        <p:nvGraphicFramePr>
          <p:cNvPr id="3074" name="Object 3"/>
          <p:cNvGraphicFramePr>
            <a:graphicFrameLocks noChangeAspect="1"/>
          </p:cNvGraphicFramePr>
          <p:nvPr/>
        </p:nvGraphicFramePr>
        <p:xfrm>
          <a:off x="2071688" y="2357438"/>
          <a:ext cx="1951037" cy="561975"/>
        </p:xfrm>
        <a:graphic>
          <a:graphicData uri="http://schemas.openxmlformats.org/presentationml/2006/ole">
            <mc:AlternateContent xmlns:mc="http://schemas.openxmlformats.org/markup-compatibility/2006">
              <mc:Choice xmlns:v="urn:schemas-microsoft-com:vml" Requires="v">
                <p:oleObj spid="_x0000_s3829" name="Equation" r:id="rId1" imgW="1485900" imgH="419100" progId="Equation.3">
                  <p:embed/>
                </p:oleObj>
              </mc:Choice>
              <mc:Fallback>
                <p:oleObj name="Equation" r:id="rId1" imgW="1485900" imgH="419100" progId="Equation.3">
                  <p:embed/>
                  <p:pic>
                    <p:nvPicPr>
                      <p:cNvPr id="0" name="Object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71688" y="2357438"/>
                        <a:ext cx="1951037" cy="5619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3075" name="Object 4"/>
          <p:cNvGraphicFramePr>
            <a:graphicFrameLocks noChangeAspect="1"/>
          </p:cNvGraphicFramePr>
          <p:nvPr/>
        </p:nvGraphicFramePr>
        <p:xfrm>
          <a:off x="2071688" y="2928938"/>
          <a:ext cx="1652587" cy="561975"/>
        </p:xfrm>
        <a:graphic>
          <a:graphicData uri="http://schemas.openxmlformats.org/presentationml/2006/ole">
            <mc:AlternateContent xmlns:mc="http://schemas.openxmlformats.org/markup-compatibility/2006">
              <mc:Choice xmlns:v="urn:schemas-microsoft-com:vml" Requires="v">
                <p:oleObj spid="_x0000_s3830" name="Equation" r:id="rId3" imgW="1257300" imgH="419100" progId="Equation.3">
                  <p:embed/>
                </p:oleObj>
              </mc:Choice>
              <mc:Fallback>
                <p:oleObj name="Equation" r:id="rId3" imgW="1257300" imgH="419100" progId="Equation.3">
                  <p:embed/>
                  <p:pic>
                    <p:nvPicPr>
                      <p:cNvPr id="0"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71688" y="2928938"/>
                        <a:ext cx="1652587" cy="5619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3076" name="Object 5"/>
          <p:cNvGraphicFramePr>
            <a:graphicFrameLocks noChangeAspect="1"/>
          </p:cNvGraphicFramePr>
          <p:nvPr/>
        </p:nvGraphicFramePr>
        <p:xfrm>
          <a:off x="2071688" y="3500438"/>
          <a:ext cx="1685925" cy="561975"/>
        </p:xfrm>
        <a:graphic>
          <a:graphicData uri="http://schemas.openxmlformats.org/presentationml/2006/ole">
            <mc:AlternateContent xmlns:mc="http://schemas.openxmlformats.org/markup-compatibility/2006">
              <mc:Choice xmlns:v="urn:schemas-microsoft-com:vml" Requires="v">
                <p:oleObj spid="_x0000_s3831" name="公式" r:id="rId5" imgW="1285875" imgH="419100" progId="Equation.3">
                  <p:embed/>
                </p:oleObj>
              </mc:Choice>
              <mc:Fallback>
                <p:oleObj name="公式" r:id="rId5" imgW="1285875" imgH="419100" progId="Equation.3">
                  <p:embed/>
                  <p:pic>
                    <p:nvPicPr>
                      <p:cNvPr id="0" name="Object 5"/>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071688" y="3500438"/>
                        <a:ext cx="1685925" cy="5619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3077" name="Object 6"/>
          <p:cNvGraphicFramePr>
            <a:graphicFrameLocks noChangeAspect="1"/>
          </p:cNvGraphicFramePr>
          <p:nvPr/>
        </p:nvGraphicFramePr>
        <p:xfrm>
          <a:off x="1143000" y="4522788"/>
          <a:ext cx="7315200" cy="954087"/>
        </p:xfrm>
        <a:graphic>
          <a:graphicData uri="http://schemas.openxmlformats.org/presentationml/2006/ole">
            <mc:AlternateContent xmlns:mc="http://schemas.openxmlformats.org/markup-compatibility/2006">
              <mc:Choice xmlns:v="urn:schemas-microsoft-com:vml" Requires="v">
                <p:oleObj spid="_x0000_s3832" name="Equation" r:id="rId7" imgW="3686175" imgH="476250" progId="Equation.3">
                  <p:embed/>
                </p:oleObj>
              </mc:Choice>
              <mc:Fallback>
                <p:oleObj name="Equation" r:id="rId7" imgW="3686175" imgH="476250" progId="Equation.3">
                  <p:embed/>
                  <p:pic>
                    <p:nvPicPr>
                      <p:cNvPr id="0" name="Object 6"/>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143000" y="4522788"/>
                        <a:ext cx="7315200" cy="9540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8100000" algn="ctr" rotWithShape="0">
                                <a:schemeClr val="bg1"/>
                              </a:outerShdw>
                            </a:effectLst>
                          </a14:hiddenEffects>
                        </a:ext>
                      </a:extLst>
                    </p:spPr>
                  </p:pic>
                </p:oleObj>
              </mc:Fallback>
            </mc:AlternateContent>
          </a:graphicData>
        </a:graphic>
      </p:graphicFrame>
      <p:graphicFrame>
        <p:nvGraphicFramePr>
          <p:cNvPr id="3078" name="Object 2"/>
          <p:cNvGraphicFramePr>
            <a:graphicFrameLocks noChangeAspect="1"/>
          </p:cNvGraphicFramePr>
          <p:nvPr/>
        </p:nvGraphicFramePr>
        <p:xfrm>
          <a:off x="2063750" y="1828800"/>
          <a:ext cx="1322388" cy="528638"/>
        </p:xfrm>
        <a:graphic>
          <a:graphicData uri="http://schemas.openxmlformats.org/presentationml/2006/ole">
            <mc:AlternateContent xmlns:mc="http://schemas.openxmlformats.org/markup-compatibility/2006">
              <mc:Choice xmlns:v="urn:schemas-microsoft-com:vml" Requires="v">
                <p:oleObj spid="_x0000_s3833" name="Equation" r:id="rId9" imgW="1009650" imgH="400050" progId="Equation.3">
                  <p:embed/>
                </p:oleObj>
              </mc:Choice>
              <mc:Fallback>
                <p:oleObj name="Equation" r:id="rId9" imgW="1009650" imgH="400050" progId="Equation.3">
                  <p:embed/>
                  <p:pic>
                    <p:nvPicPr>
                      <p:cNvPr id="0" name="Object 2"/>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2063750" y="1828800"/>
                        <a:ext cx="1322388" cy="5286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65539" name="Rectangle 2"/>
          <p:cNvSpPr>
            <a:spLocks noGrp="1" noChangeArrowheads="1"/>
          </p:cNvSpPr>
          <p:nvPr>
            <p:ph type="title"/>
          </p:nvPr>
        </p:nvSpPr>
        <p:spPr/>
        <p:txBody>
          <a:bodyPr/>
          <a:lstStyle/>
          <a:p>
            <a:pPr eaLnBrk="1" hangingPunct="1"/>
            <a:r>
              <a:rPr lang="zh-CN" altLang="en-US" dirty="0"/>
              <a:t>渐进表示</a:t>
            </a:r>
            <a:r>
              <a:rPr lang="en-US" altLang="zh-CN" dirty="0">
                <a:latin typeface="+mn-ea"/>
              </a:rPr>
              <a:t>——</a:t>
            </a:r>
            <a:r>
              <a:rPr lang="zh-CN" altLang="en-US" dirty="0" smtClean="0"/>
              <a:t>大</a:t>
            </a:r>
            <a:r>
              <a:rPr lang="en-US" altLang="zh-CN" dirty="0" smtClean="0"/>
              <a:t> O-</a:t>
            </a:r>
            <a:r>
              <a:rPr lang="zh-CN" altLang="en-US" dirty="0" smtClean="0"/>
              <a:t>记号（渐近上界记号）</a:t>
            </a:r>
            <a:endParaRPr lang="en-US" altLang="zh-CN" dirty="0" smtClean="0"/>
          </a:p>
        </p:txBody>
      </p:sp>
      <p:sp>
        <p:nvSpPr>
          <p:cNvPr id="65540" name="Rectangle 3"/>
          <p:cNvSpPr>
            <a:spLocks noGrp="1" noChangeArrowheads="1"/>
          </p:cNvSpPr>
          <p:nvPr>
            <p:ph type="body" idx="1"/>
          </p:nvPr>
        </p:nvSpPr>
        <p:spPr/>
        <p:txBody>
          <a:bodyPr/>
          <a:lstStyle/>
          <a:p>
            <a:pPr>
              <a:spcBef>
                <a:spcPct val="0"/>
              </a:spcBef>
            </a:pPr>
            <a:r>
              <a:rPr lang="zh-CN" altLang="en-US" sz="2200" smtClean="0"/>
              <a:t>注意事项</a:t>
            </a:r>
            <a:endParaRPr lang="zh-CN" altLang="en-US" sz="2200" smtClean="0"/>
          </a:p>
          <a:p>
            <a:pPr>
              <a:spcBef>
                <a:spcPct val="0"/>
              </a:spcBef>
            </a:pPr>
            <a:r>
              <a:rPr lang="zh-CN" altLang="en-US" sz="2200" smtClean="0"/>
              <a:t>1. 用来作比较的函数</a:t>
            </a:r>
            <a:r>
              <a:rPr lang="en-US" altLang="zh-CN" sz="2200" smtClean="0"/>
              <a:t>g(n)</a:t>
            </a:r>
            <a:r>
              <a:rPr lang="zh-CN" altLang="en-US" sz="2200" smtClean="0"/>
              <a:t>应该尽量接近所考虑的函数</a:t>
            </a:r>
            <a:r>
              <a:rPr lang="en-US" altLang="zh-CN" sz="2200" smtClean="0"/>
              <a:t>f(n).</a:t>
            </a:r>
            <a:endParaRPr lang="en-US" altLang="zh-CN" sz="2200" smtClean="0"/>
          </a:p>
          <a:p>
            <a:pPr>
              <a:spcBef>
                <a:spcPct val="0"/>
              </a:spcBef>
              <a:buFontTx/>
              <a:buNone/>
            </a:pPr>
            <a:r>
              <a:rPr lang="en-US" altLang="zh-CN" sz="2200" smtClean="0"/>
              <a:t>      3n+2=O(n</a:t>
            </a:r>
            <a:r>
              <a:rPr lang="en-US" altLang="zh-CN" sz="2200" baseline="30000" smtClean="0"/>
              <a:t>2</a:t>
            </a:r>
            <a:r>
              <a:rPr lang="en-US" altLang="zh-CN" sz="2200" smtClean="0"/>
              <a:t>) </a:t>
            </a:r>
            <a:r>
              <a:rPr lang="zh-CN" altLang="en-US" sz="2200" smtClean="0"/>
              <a:t>松散的界限；3</a:t>
            </a:r>
            <a:r>
              <a:rPr lang="en-US" altLang="zh-CN" sz="2200" smtClean="0"/>
              <a:t>n+2=O(n) </a:t>
            </a:r>
            <a:r>
              <a:rPr lang="zh-CN" altLang="en-US" sz="2200" smtClean="0">
                <a:solidFill>
                  <a:srgbClr val="FF0000"/>
                </a:solidFill>
              </a:rPr>
              <a:t>较好的界限</a:t>
            </a:r>
            <a:r>
              <a:rPr lang="zh-CN" altLang="en-US" sz="2200" smtClean="0"/>
              <a:t>。</a:t>
            </a:r>
            <a:endParaRPr lang="en-US" altLang="zh-CN" sz="2200" smtClean="0"/>
          </a:p>
          <a:p>
            <a:pPr>
              <a:spcBef>
                <a:spcPct val="0"/>
              </a:spcBef>
              <a:buFontTx/>
              <a:buNone/>
            </a:pPr>
            <a:endParaRPr lang="zh-CN" altLang="en-US" sz="2200" smtClean="0"/>
          </a:p>
          <a:p>
            <a:pPr>
              <a:spcBef>
                <a:spcPct val="0"/>
              </a:spcBef>
            </a:pPr>
            <a:r>
              <a:rPr lang="en-US" altLang="zh-CN" sz="2200" smtClean="0"/>
              <a:t>2</a:t>
            </a:r>
            <a:r>
              <a:rPr lang="zh-CN" altLang="en-US" sz="2200" smtClean="0"/>
              <a:t>. </a:t>
            </a:r>
            <a:r>
              <a:rPr lang="en-US" altLang="zh-CN" sz="2200" smtClean="0"/>
              <a:t>f(n)=O(g(n))</a:t>
            </a:r>
            <a:r>
              <a:rPr lang="zh-CN" altLang="en-US" sz="2200" smtClean="0"/>
              <a:t>不能写成</a:t>
            </a:r>
            <a:r>
              <a:rPr lang="en-US" altLang="zh-CN" sz="2200" smtClean="0"/>
              <a:t>g(n)=O(f(n))，</a:t>
            </a:r>
            <a:r>
              <a:rPr lang="zh-CN" altLang="en-US" sz="2200" smtClean="0"/>
              <a:t>因为两者</a:t>
            </a:r>
            <a:r>
              <a:rPr lang="zh-CN" altLang="en-US" sz="2200" smtClean="0">
                <a:solidFill>
                  <a:srgbClr val="FF0000"/>
                </a:solidFill>
              </a:rPr>
              <a:t>并不等价</a:t>
            </a:r>
            <a:r>
              <a:rPr lang="zh-CN" altLang="en-US" sz="2200" smtClean="0"/>
              <a:t>。实际上，这里的等号并不是通常相等的含义。按照定义，用集合符号更准确些</a:t>
            </a:r>
            <a:r>
              <a:rPr lang="en-US" altLang="zh-CN" sz="2200" smtClean="0"/>
              <a:t>.</a:t>
            </a:r>
            <a:endParaRPr lang="en-US" altLang="zh-CN" sz="2200" smtClean="0"/>
          </a:p>
          <a:p>
            <a:pPr>
              <a:spcBef>
                <a:spcPct val="0"/>
              </a:spcBef>
            </a:pPr>
            <a:endParaRPr lang="zh-CN" altLang="en-US" sz="2200" smtClean="0"/>
          </a:p>
          <a:p>
            <a:pPr>
              <a:spcBef>
                <a:spcPct val="0"/>
              </a:spcBef>
            </a:pPr>
            <a:r>
              <a:rPr lang="en-US" altLang="zh-CN" sz="2200" smtClean="0"/>
              <a:t>3. O(g(n))={f(n)|f(n)</a:t>
            </a:r>
            <a:r>
              <a:rPr lang="zh-CN" altLang="en-US" sz="2200" smtClean="0"/>
              <a:t>满足：存在正的常数</a:t>
            </a:r>
            <a:r>
              <a:rPr lang="en-US" altLang="zh-CN" sz="2200" smtClean="0"/>
              <a:t>c </a:t>
            </a:r>
            <a:r>
              <a:rPr lang="zh-CN" altLang="en-US" sz="2200" smtClean="0"/>
              <a:t>和</a:t>
            </a:r>
            <a:r>
              <a:rPr lang="en-US" altLang="zh-CN" sz="2200" smtClean="0"/>
              <a:t>n</a:t>
            </a:r>
            <a:r>
              <a:rPr lang="en-US" altLang="zh-CN" sz="2200" baseline="-25000" smtClean="0"/>
              <a:t>0</a:t>
            </a:r>
            <a:r>
              <a:rPr lang="en-US" altLang="zh-CN" sz="2200" smtClean="0"/>
              <a:t>，</a:t>
            </a:r>
            <a:r>
              <a:rPr lang="zh-CN" altLang="en-US" sz="2200" smtClean="0"/>
              <a:t>使得当</a:t>
            </a:r>
            <a:r>
              <a:rPr lang="en-US" altLang="zh-CN" sz="2200" smtClean="0"/>
              <a:t>n&gt;=n</a:t>
            </a:r>
            <a:r>
              <a:rPr lang="en-US" altLang="zh-CN" sz="2200" baseline="-25000" smtClean="0"/>
              <a:t>0</a:t>
            </a:r>
            <a:r>
              <a:rPr lang="en-US" altLang="zh-CN" sz="2200" smtClean="0"/>
              <a:t> </a:t>
            </a:r>
            <a:r>
              <a:rPr lang="zh-CN" altLang="en-US" sz="2200" smtClean="0"/>
              <a:t>时，</a:t>
            </a:r>
            <a:r>
              <a:rPr lang="en-US" altLang="zh-CN" sz="2200" smtClean="0"/>
              <a:t>f(n)&lt;=cg(n)}。</a:t>
            </a:r>
            <a:r>
              <a:rPr lang="zh-CN" altLang="en-US" sz="2200" smtClean="0"/>
              <a:t>所以，人们常常把</a:t>
            </a:r>
            <a:r>
              <a:rPr lang="en-US" altLang="zh-CN" sz="2200" smtClean="0"/>
              <a:t>f(n)=O(g(n))</a:t>
            </a:r>
            <a:r>
              <a:rPr lang="zh-CN" altLang="en-US" sz="2200" smtClean="0"/>
              <a:t>读作：“</a:t>
            </a:r>
            <a:r>
              <a:rPr lang="en-US" altLang="zh-CN" sz="2200" smtClean="0">
                <a:solidFill>
                  <a:srgbClr val="FF0000"/>
                </a:solidFill>
              </a:rPr>
              <a:t>f(n)</a:t>
            </a:r>
            <a:r>
              <a:rPr lang="zh-CN" altLang="en-US" sz="2200" smtClean="0">
                <a:solidFill>
                  <a:srgbClr val="FF0000"/>
                </a:solidFill>
              </a:rPr>
              <a:t>是</a:t>
            </a:r>
            <a:r>
              <a:rPr lang="en-US" altLang="zh-CN" sz="2200" smtClean="0">
                <a:solidFill>
                  <a:srgbClr val="FF0000"/>
                </a:solidFill>
              </a:rPr>
              <a:t>g(n)</a:t>
            </a:r>
            <a:r>
              <a:rPr lang="zh-CN" altLang="en-US" sz="2200" smtClean="0">
                <a:solidFill>
                  <a:srgbClr val="FF0000"/>
                </a:solidFill>
              </a:rPr>
              <a:t>的一个大</a:t>
            </a:r>
            <a:r>
              <a:rPr lang="en-US" altLang="zh-CN" sz="2200" smtClean="0">
                <a:solidFill>
                  <a:srgbClr val="FF0000"/>
                </a:solidFill>
              </a:rPr>
              <a:t>O </a:t>
            </a:r>
            <a:r>
              <a:rPr lang="zh-CN" altLang="en-US" sz="2200" smtClean="0">
                <a:solidFill>
                  <a:srgbClr val="FF0000"/>
                </a:solidFill>
              </a:rPr>
              <a:t>成员</a:t>
            </a:r>
            <a:r>
              <a:rPr lang="zh-CN" altLang="en-US" sz="2200" smtClean="0"/>
              <a:t>”。</a:t>
            </a:r>
            <a:endParaRPr lang="en-US" altLang="zh-CN" sz="2200" smtClean="0"/>
          </a:p>
          <a:p>
            <a:pPr lvl="1" eaLnBrk="1" hangingPunct="1">
              <a:spcBef>
                <a:spcPct val="0"/>
              </a:spcBef>
              <a:buFontTx/>
              <a:buNone/>
            </a:pPr>
            <a:endParaRPr lang="en-US" altLang="zh-CN" sz="2000" smtClean="0">
              <a:latin typeface="Arial" panose="020B0604020202090204" pitchFamily="34" charset="0"/>
              <a:sym typeface="Symbol" panose="05050102010706020507" pitchFamily="18" charset="2"/>
            </a:endParaRPr>
          </a:p>
          <a:p>
            <a:pPr eaLnBrk="1" hangingPunct="1"/>
            <a:endParaRPr lang="en-US" altLang="zh-CN" sz="2200" smtClean="0">
              <a:sym typeface="Symbol" panose="05050102010706020507" pitchFamily="18" charset="2"/>
            </a:endParaRPr>
          </a:p>
        </p:txBody>
      </p:sp>
    </p:spTree>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68611" name="Rectangle 2"/>
          <p:cNvSpPr>
            <a:spLocks noGrp="1" noChangeArrowheads="1"/>
          </p:cNvSpPr>
          <p:nvPr>
            <p:ph type="title"/>
          </p:nvPr>
        </p:nvSpPr>
        <p:spPr/>
        <p:txBody>
          <a:bodyPr/>
          <a:lstStyle/>
          <a:p>
            <a:pPr eaLnBrk="1" hangingPunct="1"/>
            <a:r>
              <a:rPr lang="zh-CN" altLang="en-US" dirty="0"/>
              <a:t>渐进表示</a:t>
            </a:r>
            <a:r>
              <a:rPr lang="en-US" altLang="zh-CN" dirty="0">
                <a:latin typeface="+mn-ea"/>
              </a:rPr>
              <a:t>—— </a:t>
            </a:r>
            <a:r>
              <a:rPr lang="en-US" altLang="zh-CN" dirty="0" smtClean="0">
                <a:sym typeface="Symbol" panose="05050102010706020507" pitchFamily="18" charset="2"/>
              </a:rPr>
              <a:t></a:t>
            </a:r>
            <a:r>
              <a:rPr lang="en-US" altLang="zh-CN" dirty="0" smtClean="0"/>
              <a:t>-</a:t>
            </a:r>
            <a:r>
              <a:rPr lang="zh-CN" altLang="en-US" dirty="0" smtClean="0"/>
              <a:t>记号（</a:t>
            </a:r>
            <a:r>
              <a:rPr lang="zh-CN" altLang="en-US" dirty="0" smtClean="0">
                <a:sym typeface="Symbol" panose="05050102010706020507" pitchFamily="18" charset="2"/>
              </a:rPr>
              <a:t>渐近下界记号</a:t>
            </a:r>
            <a:r>
              <a:rPr lang="zh-CN" altLang="en-US" dirty="0" smtClean="0"/>
              <a:t>）</a:t>
            </a:r>
            <a:endParaRPr lang="en-US" altLang="zh-CN" dirty="0" smtClean="0"/>
          </a:p>
        </p:txBody>
      </p:sp>
      <p:sp>
        <p:nvSpPr>
          <p:cNvPr id="2" name="Rectangle 3"/>
          <p:cNvSpPr>
            <a:spLocks noGrp="1" noChangeArrowheads="1"/>
          </p:cNvSpPr>
          <p:nvPr>
            <p:ph type="body" idx="1"/>
          </p:nvPr>
        </p:nvSpPr>
        <p:spPr>
          <a:xfrm>
            <a:off x="900113" y="1268413"/>
            <a:ext cx="8243887" cy="4525962"/>
          </a:xfrm>
        </p:spPr>
        <p:txBody>
          <a:bodyPr/>
          <a:lstStyle/>
          <a:p>
            <a:pPr eaLnBrk="1" hangingPunct="1">
              <a:lnSpc>
                <a:spcPct val="90000"/>
              </a:lnSpc>
              <a:defRPr/>
            </a:pPr>
            <a:r>
              <a:rPr lang="zh-CN" altLang="en-US" dirty="0" smtClean="0"/>
              <a:t>定义</a:t>
            </a:r>
            <a:r>
              <a:rPr lang="en-US" altLang="zh-CN" dirty="0" smtClean="0"/>
              <a:t> 1.3</a:t>
            </a:r>
            <a:endParaRPr lang="en-US" altLang="zh-CN" dirty="0" smtClean="0"/>
          </a:p>
          <a:p>
            <a:pPr lvl="1" eaLnBrk="1" hangingPunct="1">
              <a:lnSpc>
                <a:spcPct val="90000"/>
              </a:lnSpc>
              <a:defRPr/>
            </a:pPr>
            <a:r>
              <a:rPr lang="zh-CN" altLang="en-US" dirty="0" smtClean="0">
                <a:latin typeface="+mn-lt"/>
                <a:ea typeface="+mn-ea"/>
                <a:cs typeface="+mn-cs"/>
              </a:rPr>
              <a:t>如果存在正的常数</a:t>
            </a:r>
            <a:r>
              <a:rPr lang="en-US" altLang="zh-CN" dirty="0" smtClean="0">
                <a:latin typeface="+mn-lt"/>
                <a:ea typeface="+mn-ea"/>
                <a:cs typeface="+mn-cs"/>
              </a:rPr>
              <a:t>c</a:t>
            </a:r>
            <a:r>
              <a:rPr lang="zh-CN" altLang="en-US" dirty="0" smtClean="0">
                <a:latin typeface="+mn-lt"/>
                <a:ea typeface="+mn-ea"/>
                <a:cs typeface="+mn-cs"/>
              </a:rPr>
              <a:t>和自然数</a:t>
            </a:r>
            <a:r>
              <a:rPr lang="en-US" altLang="zh-CN" dirty="0" smtClean="0">
                <a:latin typeface="+mn-lt"/>
                <a:ea typeface="+mn-ea"/>
                <a:cs typeface="+mn-cs"/>
              </a:rPr>
              <a:t>n0 </a:t>
            </a:r>
            <a:r>
              <a:rPr lang="zh-CN" altLang="en-US" dirty="0" smtClean="0">
                <a:latin typeface="+mn-lt"/>
                <a:ea typeface="+mn-ea"/>
                <a:cs typeface="+mn-cs"/>
              </a:rPr>
              <a:t>，使得当</a:t>
            </a:r>
            <a:r>
              <a:rPr lang="en-US" altLang="zh-CN" dirty="0" smtClean="0">
                <a:latin typeface="+mn-lt"/>
                <a:ea typeface="+mn-ea"/>
                <a:cs typeface="+mn-cs"/>
                <a:sym typeface="Symbol" panose="05050102010706020507" pitchFamily="18" charset="2"/>
              </a:rPr>
              <a:t>nn0</a:t>
            </a:r>
            <a:r>
              <a:rPr lang="zh-CN" altLang="en-US" dirty="0" smtClean="0">
                <a:latin typeface="+mn-lt"/>
                <a:ea typeface="+mn-ea"/>
                <a:cs typeface="+mn-cs"/>
              </a:rPr>
              <a:t>时有</a:t>
            </a:r>
            <a:r>
              <a:rPr lang="en-US" altLang="zh-CN" dirty="0" smtClean="0">
                <a:latin typeface="+mn-lt"/>
                <a:ea typeface="+mn-ea"/>
                <a:cs typeface="+mn-cs"/>
                <a:sym typeface="Symbol" panose="05050102010706020507" pitchFamily="18" charset="2"/>
              </a:rPr>
              <a:t>f(n)cg(n)</a:t>
            </a:r>
            <a:r>
              <a:rPr lang="zh-CN" altLang="en-US" dirty="0" smtClean="0">
                <a:latin typeface="+mn-lt"/>
                <a:ea typeface="+mn-ea"/>
                <a:cs typeface="+mn-cs"/>
              </a:rPr>
              <a:t>，则称函数</a:t>
            </a:r>
            <a:r>
              <a:rPr lang="en-US" altLang="zh-CN" dirty="0" smtClean="0">
                <a:latin typeface="+mn-lt"/>
                <a:ea typeface="+mn-ea"/>
                <a:cs typeface="+mn-cs"/>
              </a:rPr>
              <a:t>f(n)</a:t>
            </a:r>
            <a:r>
              <a:rPr lang="zh-CN" altLang="en-US" dirty="0" smtClean="0">
                <a:latin typeface="+mn-lt"/>
                <a:ea typeface="+mn-ea"/>
                <a:cs typeface="+mn-cs"/>
              </a:rPr>
              <a:t>当</a:t>
            </a:r>
            <a:r>
              <a:rPr lang="en-US" altLang="zh-CN" dirty="0" smtClean="0">
                <a:latin typeface="+mn-lt"/>
                <a:ea typeface="+mn-ea"/>
                <a:cs typeface="+mn-cs"/>
              </a:rPr>
              <a:t>n</a:t>
            </a:r>
            <a:r>
              <a:rPr lang="zh-CN" altLang="en-US" dirty="0" smtClean="0">
                <a:latin typeface="+mn-lt"/>
                <a:ea typeface="+mn-ea"/>
                <a:cs typeface="+mn-cs"/>
              </a:rPr>
              <a:t>充分大时下有界，且</a:t>
            </a:r>
            <a:r>
              <a:rPr lang="en-US" altLang="zh-CN" dirty="0" smtClean="0">
                <a:latin typeface="+mn-lt"/>
                <a:ea typeface="+mn-ea"/>
                <a:cs typeface="+mn-cs"/>
              </a:rPr>
              <a:t>g(n)</a:t>
            </a:r>
            <a:r>
              <a:rPr lang="zh-CN" altLang="en-US" dirty="0" smtClean="0">
                <a:latin typeface="+mn-lt"/>
                <a:ea typeface="+mn-ea"/>
                <a:cs typeface="+mn-cs"/>
              </a:rPr>
              <a:t>是它的一个下界，记为</a:t>
            </a:r>
            <a:r>
              <a:rPr lang="en-US" altLang="zh-CN" dirty="0" smtClean="0">
                <a:latin typeface="+mn-lt"/>
                <a:ea typeface="+mn-ea"/>
                <a:cs typeface="+mn-cs"/>
              </a:rPr>
              <a:t>f(n)=</a:t>
            </a:r>
            <a:r>
              <a:rPr lang="el-GR" altLang="zh-CN" dirty="0" smtClean="0">
                <a:latin typeface="+mn-lt"/>
                <a:ea typeface="+mn-ea"/>
                <a:cs typeface="+mn-cs"/>
              </a:rPr>
              <a:t>Ω(</a:t>
            </a:r>
            <a:r>
              <a:rPr lang="en-US" altLang="zh-CN" dirty="0" smtClean="0">
                <a:latin typeface="+mn-lt"/>
                <a:ea typeface="+mn-ea"/>
                <a:cs typeface="+mn-cs"/>
              </a:rPr>
              <a:t>g(n))</a:t>
            </a:r>
            <a:r>
              <a:rPr lang="zh-CN" altLang="en-US" dirty="0" smtClean="0">
                <a:latin typeface="+mn-lt"/>
                <a:ea typeface="+mn-ea"/>
                <a:cs typeface="+mn-cs"/>
              </a:rPr>
              <a:t>。即</a:t>
            </a:r>
            <a:r>
              <a:rPr lang="en-US" altLang="zh-CN" dirty="0" smtClean="0">
                <a:solidFill>
                  <a:srgbClr val="FF0000"/>
                </a:solidFill>
                <a:latin typeface="+mn-lt"/>
                <a:ea typeface="+mn-ea"/>
                <a:cs typeface="+mn-cs"/>
              </a:rPr>
              <a:t>f(n)</a:t>
            </a:r>
            <a:r>
              <a:rPr lang="zh-CN" altLang="en-US" dirty="0" smtClean="0">
                <a:solidFill>
                  <a:srgbClr val="FF0000"/>
                </a:solidFill>
                <a:latin typeface="+mn-lt"/>
                <a:ea typeface="+mn-ea"/>
                <a:cs typeface="+mn-cs"/>
              </a:rPr>
              <a:t>的阶不低于</a:t>
            </a:r>
            <a:r>
              <a:rPr lang="en-US" altLang="zh-CN" dirty="0" smtClean="0">
                <a:solidFill>
                  <a:srgbClr val="FF0000"/>
                </a:solidFill>
                <a:latin typeface="+mn-lt"/>
                <a:ea typeface="+mn-ea"/>
                <a:cs typeface="+mn-cs"/>
              </a:rPr>
              <a:t>g(n)</a:t>
            </a:r>
            <a:r>
              <a:rPr lang="zh-CN" altLang="en-US" dirty="0" smtClean="0">
                <a:solidFill>
                  <a:srgbClr val="FF0000"/>
                </a:solidFill>
                <a:latin typeface="+mn-lt"/>
                <a:ea typeface="+mn-ea"/>
                <a:cs typeface="+mn-cs"/>
              </a:rPr>
              <a:t>的阶</a:t>
            </a:r>
            <a:endParaRPr lang="en-US" altLang="zh-CN" dirty="0" smtClean="0">
              <a:solidFill>
                <a:srgbClr val="FF0000"/>
              </a:solidFill>
              <a:latin typeface="+mn-lt"/>
              <a:ea typeface="+mn-ea"/>
              <a:cs typeface="+mn-cs"/>
            </a:endParaRPr>
          </a:p>
          <a:p>
            <a:pPr lvl="1" eaLnBrk="1" hangingPunct="1">
              <a:lnSpc>
                <a:spcPct val="90000"/>
              </a:lnSpc>
              <a:buFontTx/>
              <a:buNone/>
              <a:defRPr/>
            </a:pPr>
            <a:r>
              <a:rPr lang="zh-CN" altLang="en-US" dirty="0" smtClean="0">
                <a:latin typeface="+mn-lt"/>
                <a:ea typeface="+mn-ea"/>
                <a:cs typeface="+mn-cs"/>
              </a:rPr>
              <a:t>也就是说</a:t>
            </a:r>
            <a:r>
              <a:rPr lang="en-US" altLang="zh-CN" dirty="0" smtClean="0">
                <a:latin typeface="+mn-lt"/>
                <a:ea typeface="+mn-ea"/>
                <a:cs typeface="+mn-cs"/>
                <a:sym typeface="Symbol" panose="05050102010706020507" pitchFamily="18" charset="2"/>
              </a:rPr>
              <a:t>, </a:t>
            </a:r>
            <a:r>
              <a:rPr lang="zh-CN" altLang="en-US" dirty="0" smtClean="0">
                <a:latin typeface="+mn-lt"/>
                <a:ea typeface="+mn-ea"/>
                <a:cs typeface="+mn-cs"/>
                <a:sym typeface="Symbol" panose="05050102010706020507" pitchFamily="18" charset="2"/>
              </a:rPr>
              <a:t>当</a:t>
            </a:r>
            <a:r>
              <a:rPr lang="en-US" altLang="zh-CN" i="1" dirty="0" err="1" smtClean="0">
                <a:latin typeface="+mn-lt"/>
                <a:sym typeface="Symbol" panose="05050102010706020507" pitchFamily="18" charset="2"/>
              </a:rPr>
              <a:t>lim</a:t>
            </a:r>
            <a:r>
              <a:rPr lang="en-US" altLang="zh-CN" i="1" dirty="0" smtClean="0">
                <a:latin typeface="+mn-lt"/>
                <a:sym typeface="Symbol" panose="05050102010706020507" pitchFamily="18" charset="2"/>
              </a:rPr>
              <a:t> </a:t>
            </a:r>
            <a:r>
              <a:rPr lang="en-US" altLang="zh-CN" i="1" baseline="-25000" dirty="0" smtClean="0">
                <a:latin typeface="+mn-lt"/>
                <a:sym typeface="Symbol" panose="05050102010706020507" pitchFamily="18" charset="2"/>
              </a:rPr>
              <a:t>n </a:t>
            </a:r>
            <a:r>
              <a:rPr lang="en-US" altLang="zh-CN" i="1" dirty="0" smtClean="0">
                <a:latin typeface="+mn-lt"/>
                <a:sym typeface="Symbol" panose="05050102010706020507" pitchFamily="18" charset="2"/>
              </a:rPr>
              <a:t>f (n) /g (n)</a:t>
            </a:r>
            <a:r>
              <a:rPr lang="zh-CN" altLang="en-US" dirty="0" smtClean="0">
                <a:latin typeface="+mn-lt"/>
                <a:ea typeface="+mn-ea"/>
                <a:cs typeface="+mn-cs"/>
                <a:sym typeface="Symbol" panose="05050102010706020507" pitchFamily="18" charset="2"/>
              </a:rPr>
              <a:t>存在</a:t>
            </a:r>
            <a:r>
              <a:rPr lang="en-US" altLang="zh-CN" dirty="0" smtClean="0">
                <a:latin typeface="+mn-lt"/>
                <a:ea typeface="+mn-ea"/>
                <a:cs typeface="+mn-cs"/>
                <a:sym typeface="Symbol" panose="05050102010706020507" pitchFamily="18" charset="2"/>
              </a:rPr>
              <a:t>, </a:t>
            </a:r>
            <a:r>
              <a:rPr lang="zh-CN" altLang="en-US" dirty="0" smtClean="0">
                <a:latin typeface="+mn-lt"/>
                <a:ea typeface="+mn-ea"/>
                <a:cs typeface="+mn-cs"/>
                <a:sym typeface="Symbol" panose="05050102010706020507" pitchFamily="18" charset="2"/>
              </a:rPr>
              <a:t>且</a:t>
            </a:r>
            <a:endParaRPr lang="en-US" altLang="zh-CN" dirty="0" smtClean="0">
              <a:latin typeface="+mn-lt"/>
              <a:ea typeface="+mn-ea"/>
              <a:cs typeface="+mn-cs"/>
              <a:sym typeface="Symbol" panose="05050102010706020507" pitchFamily="18" charset="2"/>
            </a:endParaRPr>
          </a:p>
          <a:p>
            <a:pPr eaLnBrk="1" hangingPunct="1">
              <a:lnSpc>
                <a:spcPct val="90000"/>
              </a:lnSpc>
              <a:buFontTx/>
              <a:buNone/>
              <a:defRPr/>
            </a:pPr>
            <a:r>
              <a:rPr lang="en-US" altLang="zh-CN" sz="2200" dirty="0" smtClean="0">
                <a:sym typeface="Symbol" panose="05050102010706020507" pitchFamily="18" charset="2"/>
              </a:rPr>
              <a:t>                    </a:t>
            </a:r>
            <a:r>
              <a:rPr lang="en-US" altLang="zh-CN" sz="2200" i="1" dirty="0" err="1" smtClean="0">
                <a:sym typeface="Symbol" panose="05050102010706020507" pitchFamily="18" charset="2"/>
              </a:rPr>
              <a:t>lim</a:t>
            </a:r>
            <a:r>
              <a:rPr lang="en-US" altLang="zh-CN" sz="2200" i="1" dirty="0" smtClean="0">
                <a:sym typeface="Symbol" panose="05050102010706020507" pitchFamily="18" charset="2"/>
              </a:rPr>
              <a:t> </a:t>
            </a:r>
            <a:r>
              <a:rPr lang="en-US" altLang="zh-CN" sz="2200" i="1" baseline="-25000" dirty="0" smtClean="0">
                <a:sym typeface="Symbol" panose="05050102010706020507" pitchFamily="18" charset="2"/>
              </a:rPr>
              <a:t>n </a:t>
            </a:r>
            <a:r>
              <a:rPr lang="en-US" altLang="zh-CN" sz="2200" i="1" dirty="0" smtClean="0">
                <a:sym typeface="Symbol" panose="05050102010706020507" pitchFamily="18" charset="2"/>
              </a:rPr>
              <a:t>f (n) /g (n) </a:t>
            </a:r>
            <a:r>
              <a:rPr lang="en-US" altLang="zh-CN" sz="2200" dirty="0" smtClean="0">
                <a:sym typeface="Symbol" panose="05050102010706020507" pitchFamily="18" charset="2"/>
              </a:rPr>
              <a:t>0  </a:t>
            </a:r>
            <a:r>
              <a:rPr lang="zh-CN" altLang="en-US" sz="2200" dirty="0" smtClean="0">
                <a:sym typeface="Symbol" panose="05050102010706020507" pitchFamily="18" charset="2"/>
              </a:rPr>
              <a:t>则表示  </a:t>
            </a:r>
            <a:r>
              <a:rPr lang="en-US" altLang="zh-CN" sz="2200" dirty="0" smtClean="0">
                <a:sym typeface="Symbol" panose="05050102010706020507" pitchFamily="18" charset="2"/>
              </a:rPr>
              <a:t> f(n)= (g(n))</a:t>
            </a:r>
            <a:endParaRPr lang="en-US" altLang="zh-CN" sz="2200" dirty="0" smtClean="0">
              <a:sym typeface="Symbol" panose="05050102010706020507" pitchFamily="18" charset="2"/>
            </a:endParaRPr>
          </a:p>
          <a:p>
            <a:pPr eaLnBrk="1" hangingPunct="1">
              <a:lnSpc>
                <a:spcPct val="90000"/>
              </a:lnSpc>
              <a:defRPr/>
            </a:pPr>
            <a:r>
              <a:rPr lang="zh-CN" altLang="en-US" sz="2200" dirty="0" smtClean="0"/>
              <a:t>根据定义可知：函数</a:t>
            </a:r>
            <a:r>
              <a:rPr lang="en-US" altLang="zh-CN" sz="2200" dirty="0" smtClean="0"/>
              <a:t>f </a:t>
            </a:r>
            <a:r>
              <a:rPr lang="zh-CN" altLang="en-US" sz="2200" dirty="0" smtClean="0"/>
              <a:t>至少是函数</a:t>
            </a:r>
            <a:r>
              <a:rPr lang="en-US" altLang="zh-CN" sz="2200" dirty="0" smtClean="0"/>
              <a:t>g </a:t>
            </a:r>
            <a:r>
              <a:rPr lang="zh-CN" altLang="en-US" sz="2200" dirty="0" smtClean="0"/>
              <a:t>的</a:t>
            </a:r>
            <a:r>
              <a:rPr lang="en-US" altLang="zh-CN" sz="2200" dirty="0" smtClean="0"/>
              <a:t>c </a:t>
            </a:r>
            <a:r>
              <a:rPr lang="zh-CN" altLang="en-US" sz="2200" dirty="0" smtClean="0"/>
              <a:t>倍，除非</a:t>
            </a:r>
            <a:r>
              <a:rPr lang="en-US" altLang="zh-CN" sz="2200" dirty="0" smtClean="0"/>
              <a:t>n &lt; n0 。</a:t>
            </a:r>
            <a:r>
              <a:rPr lang="zh-CN" altLang="en-US" sz="2200" dirty="0" smtClean="0"/>
              <a:t>即是说，当</a:t>
            </a:r>
            <a:r>
              <a:rPr lang="en-US" altLang="zh-CN" sz="2200" dirty="0" smtClean="0"/>
              <a:t>n </a:t>
            </a:r>
            <a:r>
              <a:rPr lang="zh-CN" altLang="en-US" sz="2200" dirty="0" smtClean="0"/>
              <a:t>充分大时，</a:t>
            </a:r>
            <a:r>
              <a:rPr lang="en-US" altLang="zh-CN" sz="2200" dirty="0" smtClean="0"/>
              <a:t>g </a:t>
            </a:r>
            <a:r>
              <a:rPr lang="zh-CN" altLang="en-US" sz="2200" dirty="0" smtClean="0"/>
              <a:t>是</a:t>
            </a:r>
            <a:r>
              <a:rPr lang="en-US" altLang="zh-CN" sz="2200" dirty="0" smtClean="0"/>
              <a:t>f</a:t>
            </a:r>
            <a:r>
              <a:rPr lang="zh-CN" altLang="en-US" sz="2200" dirty="0" smtClean="0"/>
              <a:t>的一个下界函数，在相差一个非零常数倍的情况下。</a:t>
            </a:r>
            <a:endParaRPr lang="en-US" altLang="zh-CN" sz="2200" dirty="0" smtClean="0">
              <a:sym typeface="Symbol" panose="05050102010706020507" pitchFamily="18" charset="2"/>
            </a:endParaRPr>
          </a:p>
          <a:p>
            <a:pPr eaLnBrk="1" hangingPunct="1">
              <a:lnSpc>
                <a:spcPct val="90000"/>
              </a:lnSpc>
              <a:defRPr/>
            </a:pPr>
            <a:r>
              <a:rPr lang="zh-CN" altLang="en-US" dirty="0" smtClean="0">
                <a:sym typeface="Symbol" panose="05050102010706020507" pitchFamily="18" charset="2"/>
              </a:rPr>
              <a:t>例：</a:t>
            </a:r>
            <a:endParaRPr lang="en-US" altLang="zh-CN" dirty="0" smtClean="0">
              <a:sym typeface="Symbol" panose="05050102010706020507" pitchFamily="18" charset="2"/>
            </a:endParaRPr>
          </a:p>
          <a:p>
            <a:pPr lvl="1" eaLnBrk="1" hangingPunct="1">
              <a:lnSpc>
                <a:spcPct val="90000"/>
              </a:lnSpc>
              <a:spcBef>
                <a:spcPct val="0"/>
              </a:spcBef>
              <a:buFontTx/>
              <a:buNone/>
              <a:defRPr/>
            </a:pPr>
            <a:r>
              <a:rPr lang="en-US" altLang="zh-CN" sz="2000" dirty="0" smtClean="0">
                <a:latin typeface="+mn-lt"/>
                <a:ea typeface="+mn-ea"/>
                <a:cs typeface="+mn-cs"/>
              </a:rPr>
              <a:t>Let f (n) = 10</a:t>
            </a:r>
            <a:r>
              <a:rPr lang="en-US" altLang="zh-CN" sz="2000" dirty="0" smtClean="0">
                <a:latin typeface="+mn-lt"/>
              </a:rPr>
              <a:t>n</a:t>
            </a:r>
            <a:r>
              <a:rPr lang="en-US" altLang="zh-CN" sz="2000" baseline="30000" dirty="0" smtClean="0">
                <a:latin typeface="+mn-lt"/>
              </a:rPr>
              <a:t>2</a:t>
            </a:r>
            <a:r>
              <a:rPr lang="en-US" altLang="zh-CN" sz="2000" dirty="0" smtClean="0">
                <a:latin typeface="+mn-lt"/>
                <a:ea typeface="+mn-ea"/>
                <a:cs typeface="+mn-cs"/>
              </a:rPr>
              <a:t>+20n. Then, </a:t>
            </a:r>
            <a:endParaRPr lang="en-US" altLang="zh-CN" sz="2000" dirty="0" smtClean="0">
              <a:latin typeface="+mn-lt"/>
              <a:ea typeface="+mn-ea"/>
              <a:cs typeface="+mn-cs"/>
            </a:endParaRPr>
          </a:p>
          <a:p>
            <a:pPr lvl="1" eaLnBrk="1" hangingPunct="1">
              <a:lnSpc>
                <a:spcPct val="90000"/>
              </a:lnSpc>
              <a:buFontTx/>
              <a:buNone/>
              <a:defRPr/>
            </a:pPr>
            <a:r>
              <a:rPr lang="en-US" altLang="zh-CN" sz="2000" dirty="0" smtClean="0">
                <a:latin typeface="+mn-lt"/>
                <a:ea typeface="+mn-ea"/>
                <a:cs typeface="+mn-cs"/>
              </a:rPr>
              <a:t>f (n) = </a:t>
            </a:r>
            <a:r>
              <a:rPr lang="en-US" altLang="zh-CN" sz="2000" dirty="0" smtClean="0">
                <a:latin typeface="+mn-lt"/>
                <a:ea typeface="+mn-ea"/>
                <a:cs typeface="+mn-cs"/>
                <a:sym typeface="Symbol" panose="05050102010706020507" pitchFamily="18" charset="2"/>
              </a:rPr>
              <a:t>(</a:t>
            </a:r>
            <a:r>
              <a:rPr lang="en-US" altLang="zh-CN" sz="2000" dirty="0" smtClean="0">
                <a:latin typeface="+mn-lt"/>
              </a:rPr>
              <a:t>n</a:t>
            </a:r>
            <a:r>
              <a:rPr lang="en-US" altLang="zh-CN" sz="2000" baseline="30000" dirty="0" smtClean="0">
                <a:latin typeface="+mn-lt"/>
              </a:rPr>
              <a:t>2</a:t>
            </a:r>
            <a:r>
              <a:rPr lang="en-US" altLang="zh-CN" sz="2000" dirty="0" smtClean="0">
                <a:latin typeface="+mn-lt"/>
                <a:ea typeface="+mn-ea"/>
                <a:cs typeface="+mn-cs"/>
                <a:sym typeface="Symbol" panose="05050102010706020507" pitchFamily="18" charset="2"/>
              </a:rPr>
              <a:t>) </a:t>
            </a:r>
            <a:r>
              <a:rPr lang="zh-CN" altLang="en-US" sz="2000" dirty="0" smtClean="0">
                <a:latin typeface="+mn-lt"/>
                <a:ea typeface="+mn-ea"/>
                <a:cs typeface="+mn-cs"/>
                <a:sym typeface="Symbol" panose="05050102010706020507" pitchFamily="18" charset="2"/>
              </a:rPr>
              <a:t>由于当</a:t>
            </a:r>
            <a:r>
              <a:rPr lang="en-US" altLang="zh-CN" sz="2000" dirty="0" smtClean="0">
                <a:latin typeface="+mn-lt"/>
                <a:ea typeface="+mn-ea"/>
                <a:cs typeface="+mn-cs"/>
              </a:rPr>
              <a:t>n </a:t>
            </a:r>
            <a:r>
              <a:rPr lang="en-US" altLang="zh-CN" sz="2000" dirty="0" smtClean="0">
                <a:latin typeface="+mn-lt"/>
                <a:ea typeface="+mn-ea"/>
                <a:cs typeface="+mn-cs"/>
                <a:sym typeface="Symbol" panose="05050102010706020507" pitchFamily="18" charset="2"/>
              </a:rPr>
              <a:t></a:t>
            </a:r>
            <a:r>
              <a:rPr lang="en-US" altLang="zh-CN" sz="2000" dirty="0" smtClean="0">
                <a:latin typeface="+mn-lt"/>
                <a:ea typeface="+mn-ea"/>
                <a:cs typeface="+mn-cs"/>
              </a:rPr>
              <a:t> 1, f (n) </a:t>
            </a:r>
            <a:r>
              <a:rPr lang="en-US" altLang="zh-CN" sz="2000" dirty="0" smtClean="0">
                <a:latin typeface="+mn-lt"/>
                <a:ea typeface="+mn-ea"/>
                <a:cs typeface="+mn-cs"/>
                <a:sym typeface="Symbol" panose="05050102010706020507" pitchFamily="18" charset="2"/>
              </a:rPr>
              <a:t></a:t>
            </a:r>
            <a:r>
              <a:rPr lang="en-US" altLang="zh-CN" sz="2000" dirty="0" smtClean="0">
                <a:latin typeface="+mn-lt"/>
              </a:rPr>
              <a:t>n</a:t>
            </a:r>
            <a:r>
              <a:rPr lang="en-US" altLang="zh-CN" sz="2000" baseline="30000" dirty="0" smtClean="0">
                <a:latin typeface="+mn-lt"/>
              </a:rPr>
              <a:t>2</a:t>
            </a:r>
            <a:r>
              <a:rPr lang="en-US" altLang="zh-CN" sz="2000" dirty="0" smtClean="0">
                <a:latin typeface="+mn-lt"/>
                <a:ea typeface="+mn-ea"/>
                <a:cs typeface="+mn-cs"/>
              </a:rPr>
              <a:t>. </a:t>
            </a:r>
            <a:endParaRPr lang="en-US" altLang="zh-CN" sz="2000" dirty="0" smtClean="0">
              <a:latin typeface="+mn-lt"/>
              <a:ea typeface="+mn-ea"/>
              <a:cs typeface="+mn-cs"/>
            </a:endParaRPr>
          </a:p>
          <a:p>
            <a:pPr lvl="1" eaLnBrk="1" hangingPunct="1">
              <a:lnSpc>
                <a:spcPct val="90000"/>
              </a:lnSpc>
              <a:spcBef>
                <a:spcPct val="0"/>
              </a:spcBef>
              <a:buFontTx/>
              <a:buNone/>
              <a:defRPr/>
            </a:pPr>
            <a:r>
              <a:rPr lang="en-US" altLang="zh-CN" sz="2000" dirty="0" smtClean="0">
                <a:latin typeface="+mn-lt"/>
                <a:ea typeface="+mn-ea"/>
                <a:cs typeface="+mn-cs"/>
                <a:sym typeface="Symbol" panose="05050102010706020507" pitchFamily="18" charset="2"/>
              </a:rPr>
              <a:t>Consequently, </a:t>
            </a:r>
            <a:r>
              <a:rPr lang="en-US" altLang="zh-CN" sz="2000" dirty="0" smtClean="0">
                <a:latin typeface="+mn-lt"/>
                <a:sym typeface="Symbol" panose="05050102010706020507" pitchFamily="18" charset="2"/>
              </a:rPr>
              <a:t>lim</a:t>
            </a:r>
            <a:r>
              <a:rPr lang="en-US" altLang="zh-CN" sz="2000" baseline="-25000" dirty="0" smtClean="0">
                <a:latin typeface="+mn-lt"/>
                <a:sym typeface="Symbol" panose="05050102010706020507" pitchFamily="18" charset="2"/>
              </a:rPr>
              <a:t>n </a:t>
            </a:r>
            <a:r>
              <a:rPr lang="en-US" altLang="zh-CN" sz="2000" dirty="0" smtClean="0">
                <a:latin typeface="+mn-lt"/>
                <a:ea typeface="+mn-ea"/>
                <a:cs typeface="+mn-cs"/>
                <a:sym typeface="Symbol" panose="05050102010706020507" pitchFamily="18" charset="2"/>
              </a:rPr>
              <a:t>f(n)/</a:t>
            </a:r>
            <a:r>
              <a:rPr lang="en-US" altLang="zh-CN" sz="2000" dirty="0" smtClean="0">
                <a:latin typeface="+mn-lt"/>
              </a:rPr>
              <a:t>n</a:t>
            </a:r>
            <a:r>
              <a:rPr lang="en-US" altLang="zh-CN" sz="2000" baseline="30000" dirty="0" smtClean="0">
                <a:latin typeface="+mn-lt"/>
              </a:rPr>
              <a:t>2</a:t>
            </a:r>
            <a:r>
              <a:rPr lang="en-US" altLang="zh-CN" sz="2000" dirty="0" smtClean="0">
                <a:latin typeface="+mn-lt"/>
                <a:ea typeface="+mn-ea"/>
                <a:cs typeface="+mn-cs"/>
                <a:sym typeface="Symbol" panose="05050102010706020507" pitchFamily="18" charset="2"/>
              </a:rPr>
              <a:t>= 10 0.</a:t>
            </a:r>
            <a:endParaRPr lang="en-US" altLang="zh-CN" sz="2000" dirty="0" smtClean="0">
              <a:latin typeface="+mn-lt"/>
              <a:ea typeface="+mn-ea"/>
              <a:cs typeface="+mn-cs"/>
              <a:sym typeface="Symbol" panose="05050102010706020507" pitchFamily="18" charset="2"/>
            </a:endParaRPr>
          </a:p>
        </p:txBody>
      </p:sp>
      <p:pic>
        <p:nvPicPr>
          <p:cNvPr id="68613" name="Picture 4" descr="def"/>
          <p:cNvPicPr>
            <a:picLocks noChangeAspect="1" noChangeArrowheads="1" noCrop="1"/>
          </p:cNvPicPr>
          <p:nvPr/>
        </p:nvPicPr>
        <p:blipFill>
          <a:blip r:embed="rId1">
            <a:extLst>
              <a:ext uri="{28A0092B-C50C-407E-A947-70E740481C1C}">
                <a14:useLocalDpi xmlns:a14="http://schemas.microsoft.com/office/drawing/2010/main" val="0"/>
              </a:ext>
            </a:extLst>
          </a:blip>
          <a:srcRect/>
          <a:stretch>
            <a:fillRect/>
          </a:stretch>
        </p:blipFill>
        <p:spPr bwMode="auto">
          <a:xfrm>
            <a:off x="852488" y="1300163"/>
            <a:ext cx="504825" cy="349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614" name="Picture 5" descr="example"/>
          <p:cNvPicPr>
            <a:picLocks noChangeAspect="1" noChangeArrowheads="1" noCrop="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00113" y="4365625"/>
            <a:ext cx="3429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69635" name="Rectangle 2"/>
          <p:cNvSpPr>
            <a:spLocks noGrp="1" noChangeArrowheads="1"/>
          </p:cNvSpPr>
          <p:nvPr>
            <p:ph type="title"/>
          </p:nvPr>
        </p:nvSpPr>
        <p:spPr/>
        <p:txBody>
          <a:bodyPr/>
          <a:lstStyle/>
          <a:p>
            <a:pPr eaLnBrk="1" hangingPunct="1"/>
            <a:r>
              <a:rPr lang="zh-CN" altLang="en-US" dirty="0"/>
              <a:t>渐进表示</a:t>
            </a:r>
            <a:r>
              <a:rPr lang="en-US" altLang="zh-CN" dirty="0">
                <a:latin typeface="+mn-ea"/>
              </a:rPr>
              <a:t>—— </a:t>
            </a:r>
            <a:r>
              <a:rPr lang="en-US" altLang="zh-CN" dirty="0" smtClean="0">
                <a:sym typeface="Symbol" panose="05050102010706020507" pitchFamily="18" charset="2"/>
              </a:rPr>
              <a:t>-</a:t>
            </a:r>
            <a:r>
              <a:rPr lang="zh-CN" altLang="en-US" dirty="0" smtClean="0"/>
              <a:t>记号（紧渐近界记号）</a:t>
            </a:r>
            <a:endParaRPr lang="en-US" altLang="zh-CN" dirty="0" smtClean="0"/>
          </a:p>
        </p:txBody>
      </p:sp>
      <p:sp>
        <p:nvSpPr>
          <p:cNvPr id="2" name="Rectangle 3"/>
          <p:cNvSpPr>
            <a:spLocks noGrp="1" noChangeArrowheads="1"/>
          </p:cNvSpPr>
          <p:nvPr>
            <p:ph type="body" idx="1"/>
          </p:nvPr>
        </p:nvSpPr>
        <p:spPr>
          <a:xfrm>
            <a:off x="755650" y="1196975"/>
            <a:ext cx="8267065" cy="4287520"/>
          </a:xfrm>
        </p:spPr>
        <p:txBody>
          <a:bodyPr/>
          <a:lstStyle/>
          <a:p>
            <a:pPr eaLnBrk="1" hangingPunct="1">
              <a:defRPr/>
            </a:pPr>
            <a:r>
              <a:rPr lang="zh-CN" altLang="en-US" dirty="0" smtClean="0"/>
              <a:t>定义</a:t>
            </a:r>
            <a:r>
              <a:rPr lang="en-US" altLang="zh-CN" dirty="0" smtClean="0"/>
              <a:t> 1.4</a:t>
            </a:r>
            <a:endParaRPr lang="en-US" altLang="zh-CN" dirty="0" smtClean="0"/>
          </a:p>
          <a:p>
            <a:pPr lvl="1" eaLnBrk="1" hangingPunct="1">
              <a:defRPr/>
            </a:pPr>
            <a:r>
              <a:rPr lang="zh-CN" altLang="en-US" dirty="0" smtClean="0">
                <a:latin typeface="+mn-lt"/>
                <a:ea typeface="+mn-ea"/>
                <a:cs typeface="+mn-cs"/>
              </a:rPr>
              <a:t>如果存在</a:t>
            </a:r>
            <a:r>
              <a:rPr lang="en-US" altLang="zh-CN" dirty="0" smtClean="0">
                <a:latin typeface="+mn-lt"/>
                <a:ea typeface="+mn-ea"/>
                <a:cs typeface="+mn-cs"/>
              </a:rPr>
              <a:t>2</a:t>
            </a:r>
            <a:r>
              <a:rPr lang="zh-CN" altLang="en-US" dirty="0" smtClean="0">
                <a:latin typeface="+mn-lt"/>
                <a:ea typeface="+mn-ea"/>
                <a:cs typeface="+mn-cs"/>
              </a:rPr>
              <a:t>个正的常数</a:t>
            </a:r>
            <a:r>
              <a:rPr lang="en-US" altLang="zh-CN" dirty="0" smtClean="0">
                <a:latin typeface="+mn-lt"/>
                <a:ea typeface="+mn-ea"/>
                <a:cs typeface="+mn-cs"/>
              </a:rPr>
              <a:t>c1, c2</a:t>
            </a:r>
            <a:r>
              <a:rPr lang="zh-CN" altLang="en-US" dirty="0" smtClean="0">
                <a:latin typeface="+mn-lt"/>
                <a:ea typeface="+mn-ea"/>
                <a:cs typeface="+mn-cs"/>
              </a:rPr>
              <a:t>和自然数</a:t>
            </a:r>
            <a:r>
              <a:rPr lang="en-US" altLang="zh-CN" dirty="0" smtClean="0">
                <a:latin typeface="+mn-lt"/>
                <a:ea typeface="+mn-ea"/>
                <a:cs typeface="+mn-cs"/>
              </a:rPr>
              <a:t>n0 </a:t>
            </a:r>
            <a:r>
              <a:rPr lang="zh-CN" altLang="en-US" dirty="0" smtClean="0">
                <a:latin typeface="+mn-lt"/>
                <a:ea typeface="+mn-ea"/>
                <a:cs typeface="+mn-cs"/>
              </a:rPr>
              <a:t>，使得当</a:t>
            </a:r>
            <a:r>
              <a:rPr lang="en-US" altLang="zh-CN" dirty="0" smtClean="0">
                <a:latin typeface="+mn-lt"/>
                <a:ea typeface="+mn-ea"/>
                <a:cs typeface="+mn-cs"/>
                <a:sym typeface="Symbol" panose="05050102010706020507" pitchFamily="18" charset="2"/>
              </a:rPr>
              <a:t>nn0</a:t>
            </a:r>
            <a:r>
              <a:rPr lang="zh-CN" altLang="en-US" dirty="0" smtClean="0">
                <a:latin typeface="+mn-lt"/>
                <a:ea typeface="+mn-ea"/>
                <a:cs typeface="+mn-cs"/>
              </a:rPr>
              <a:t>时有</a:t>
            </a:r>
            <a:r>
              <a:rPr lang="en-US" altLang="zh-CN" dirty="0" smtClean="0">
                <a:latin typeface="+mn-lt"/>
                <a:ea typeface="+mn-ea"/>
                <a:cs typeface="+mn-cs"/>
                <a:sym typeface="Symbol" panose="05050102010706020507" pitchFamily="18" charset="2"/>
              </a:rPr>
              <a:t>c1g(n)f(n)c2g(n)</a:t>
            </a:r>
            <a:r>
              <a:rPr lang="zh-CN" altLang="en-US" dirty="0" smtClean="0">
                <a:latin typeface="+mn-lt"/>
                <a:ea typeface="+mn-ea"/>
                <a:cs typeface="+mn-cs"/>
              </a:rPr>
              <a:t>，</a:t>
            </a:r>
            <a:endParaRPr lang="en-US" altLang="zh-CN" dirty="0" smtClean="0">
              <a:latin typeface="+mn-lt"/>
              <a:ea typeface="+mn-ea"/>
              <a:cs typeface="+mn-cs"/>
            </a:endParaRPr>
          </a:p>
          <a:p>
            <a:pPr lvl="1" eaLnBrk="1" hangingPunct="1">
              <a:buFontTx/>
              <a:buNone/>
              <a:defRPr/>
            </a:pPr>
            <a:r>
              <a:rPr lang="zh-CN" altLang="en-US" dirty="0" smtClean="0">
                <a:latin typeface="+mn-lt"/>
                <a:ea typeface="+mn-ea"/>
                <a:cs typeface="+mn-cs"/>
              </a:rPr>
              <a:t>也就是说</a:t>
            </a:r>
            <a:r>
              <a:rPr lang="en-US" altLang="zh-CN" dirty="0" smtClean="0">
                <a:latin typeface="+mn-lt"/>
                <a:ea typeface="+mn-ea"/>
                <a:cs typeface="+mn-cs"/>
                <a:sym typeface="Symbol" panose="05050102010706020507" pitchFamily="18" charset="2"/>
              </a:rPr>
              <a:t>,  </a:t>
            </a:r>
            <a:r>
              <a:rPr lang="zh-CN" altLang="en-US" dirty="0" smtClean="0">
                <a:latin typeface="+mn-lt"/>
                <a:ea typeface="+mn-ea"/>
                <a:cs typeface="+mn-cs"/>
                <a:sym typeface="Symbol" panose="05050102010706020507" pitchFamily="18" charset="2"/>
              </a:rPr>
              <a:t>当</a:t>
            </a:r>
            <a:r>
              <a:rPr lang="en-US" altLang="zh-CN" sz="2000" i="1" dirty="0" err="1" smtClean="0">
                <a:latin typeface="+mn-lt"/>
                <a:sym typeface="Symbol" panose="05050102010706020507" pitchFamily="18" charset="2"/>
              </a:rPr>
              <a:t>lim</a:t>
            </a:r>
            <a:r>
              <a:rPr lang="en-US" altLang="zh-CN" sz="2000" i="1" dirty="0" smtClean="0">
                <a:latin typeface="+mn-lt"/>
                <a:sym typeface="Symbol" panose="05050102010706020507" pitchFamily="18" charset="2"/>
              </a:rPr>
              <a:t> </a:t>
            </a:r>
            <a:r>
              <a:rPr lang="en-US" altLang="zh-CN" sz="2000" i="1" baseline="-25000" dirty="0" smtClean="0">
                <a:latin typeface="+mn-lt"/>
                <a:sym typeface="Symbol" panose="05050102010706020507" pitchFamily="18" charset="2"/>
              </a:rPr>
              <a:t>n </a:t>
            </a:r>
            <a:r>
              <a:rPr lang="en-US" altLang="zh-CN" sz="2000" i="1" dirty="0" smtClean="0">
                <a:latin typeface="+mn-lt"/>
                <a:sym typeface="Symbol" panose="05050102010706020507" pitchFamily="18" charset="2"/>
              </a:rPr>
              <a:t>f (n) /g (n)</a:t>
            </a:r>
            <a:r>
              <a:rPr lang="zh-CN" altLang="en-US" dirty="0" smtClean="0">
                <a:latin typeface="+mn-lt"/>
                <a:ea typeface="+mn-ea"/>
                <a:cs typeface="+mn-cs"/>
                <a:sym typeface="Symbol" panose="05050102010706020507" pitchFamily="18" charset="2"/>
              </a:rPr>
              <a:t>存在</a:t>
            </a:r>
            <a:r>
              <a:rPr lang="en-US" altLang="zh-CN" dirty="0" smtClean="0">
                <a:latin typeface="+mn-lt"/>
                <a:ea typeface="+mn-ea"/>
                <a:cs typeface="+mn-cs"/>
                <a:sym typeface="Symbol" panose="05050102010706020507" pitchFamily="18" charset="2"/>
              </a:rPr>
              <a:t>, </a:t>
            </a:r>
            <a:r>
              <a:rPr lang="zh-CN" altLang="en-US" dirty="0" smtClean="0">
                <a:latin typeface="+mn-lt"/>
                <a:ea typeface="+mn-ea"/>
                <a:cs typeface="+mn-cs"/>
                <a:sym typeface="Symbol" panose="05050102010706020507" pitchFamily="18" charset="2"/>
              </a:rPr>
              <a:t>并且</a:t>
            </a:r>
            <a:r>
              <a:rPr lang="en-US" altLang="zh-CN" sz="2000" i="1" dirty="0" err="1" smtClean="0">
                <a:latin typeface="+mn-lt"/>
                <a:sym typeface="Symbol" panose="05050102010706020507" pitchFamily="18" charset="2"/>
              </a:rPr>
              <a:t>lim</a:t>
            </a:r>
            <a:r>
              <a:rPr lang="en-US" altLang="zh-CN" sz="2000" i="1" dirty="0" smtClean="0">
                <a:latin typeface="+mn-lt"/>
                <a:sym typeface="Symbol" panose="05050102010706020507" pitchFamily="18" charset="2"/>
              </a:rPr>
              <a:t> </a:t>
            </a:r>
            <a:r>
              <a:rPr lang="en-US" altLang="zh-CN" sz="2000" i="1" baseline="-25000" dirty="0" smtClean="0">
                <a:latin typeface="+mn-lt"/>
                <a:sym typeface="Symbol" panose="05050102010706020507" pitchFamily="18" charset="2"/>
              </a:rPr>
              <a:t>n </a:t>
            </a:r>
            <a:r>
              <a:rPr lang="en-US" altLang="zh-CN" sz="2000" i="1" dirty="0" smtClean="0">
                <a:latin typeface="+mn-lt"/>
                <a:sym typeface="Symbol" panose="05050102010706020507" pitchFamily="18" charset="2"/>
              </a:rPr>
              <a:t>f (n) /g (n) =</a:t>
            </a:r>
            <a:r>
              <a:rPr lang="en-US" altLang="zh-CN" dirty="0" smtClean="0">
                <a:latin typeface="+mn-lt"/>
                <a:ea typeface="+mn-ea"/>
                <a:cs typeface="+mn-cs"/>
                <a:sym typeface="Symbol" panose="05050102010706020507" pitchFamily="18" charset="2"/>
              </a:rPr>
              <a:t>c </a:t>
            </a:r>
            <a:r>
              <a:rPr lang="zh-CN" altLang="en-US" dirty="0" smtClean="0">
                <a:latin typeface="+mn-lt"/>
                <a:ea typeface="+mn-ea"/>
                <a:cs typeface="+mn-cs"/>
                <a:sym typeface="Symbol" panose="05050102010706020507" pitchFamily="18" charset="2"/>
              </a:rPr>
              <a:t>，</a:t>
            </a:r>
            <a:endParaRPr lang="en-US" altLang="zh-CN" dirty="0" smtClean="0">
              <a:latin typeface="+mn-lt"/>
              <a:ea typeface="+mn-ea"/>
              <a:cs typeface="+mn-cs"/>
              <a:sym typeface="Symbol" panose="05050102010706020507" pitchFamily="18" charset="2"/>
            </a:endParaRPr>
          </a:p>
          <a:p>
            <a:pPr lvl="1" eaLnBrk="1" hangingPunct="1">
              <a:buFontTx/>
              <a:buNone/>
              <a:defRPr/>
            </a:pPr>
            <a:r>
              <a:rPr lang="zh-CN" altLang="en-US" dirty="0" smtClean="0">
                <a:latin typeface="+mn-lt"/>
                <a:ea typeface="+mn-ea"/>
                <a:cs typeface="+mn-cs"/>
                <a:sym typeface="Symbol" panose="05050102010706020507" pitchFamily="18" charset="2"/>
              </a:rPr>
              <a:t>则</a:t>
            </a:r>
            <a:r>
              <a:rPr lang="en-US" altLang="zh-CN" dirty="0" smtClean="0">
                <a:latin typeface="+mn-lt"/>
                <a:ea typeface="+mn-ea"/>
                <a:cs typeface="+mn-cs"/>
                <a:sym typeface="Symbol" panose="05050102010706020507" pitchFamily="18" charset="2"/>
              </a:rPr>
              <a:t> f(n)= (g(n)), c </a:t>
            </a:r>
            <a:r>
              <a:rPr lang="zh-CN" altLang="en-US" dirty="0" smtClean="0">
                <a:latin typeface="+mn-lt"/>
                <a:ea typeface="+mn-ea"/>
                <a:cs typeface="+mn-cs"/>
                <a:sym typeface="Symbol" panose="05050102010706020507" pitchFamily="18" charset="2"/>
              </a:rPr>
              <a:t>是大于</a:t>
            </a:r>
            <a:r>
              <a:rPr lang="en-US" altLang="zh-CN" dirty="0" smtClean="0">
                <a:latin typeface="+mn-lt"/>
                <a:ea typeface="+mn-ea"/>
                <a:cs typeface="+mn-cs"/>
                <a:sym typeface="Symbol" panose="05050102010706020507" pitchFamily="18" charset="2"/>
              </a:rPr>
              <a:t> 0</a:t>
            </a:r>
            <a:r>
              <a:rPr lang="zh-CN" altLang="en-US" dirty="0" smtClean="0">
                <a:latin typeface="+mn-lt"/>
                <a:ea typeface="+mn-ea"/>
                <a:cs typeface="+mn-cs"/>
                <a:sym typeface="Symbol" panose="05050102010706020507" pitchFamily="18" charset="2"/>
              </a:rPr>
              <a:t>的常量</a:t>
            </a:r>
            <a:r>
              <a:rPr lang="en-US" altLang="zh-CN" dirty="0" smtClean="0">
                <a:latin typeface="+mn-lt"/>
                <a:ea typeface="+mn-ea"/>
                <a:cs typeface="+mn-cs"/>
                <a:sym typeface="Symbol" panose="05050102010706020507" pitchFamily="18" charset="2"/>
              </a:rPr>
              <a:t>.</a:t>
            </a:r>
            <a:endParaRPr lang="en-US" altLang="zh-CN" dirty="0" smtClean="0">
              <a:latin typeface="+mn-lt"/>
              <a:ea typeface="+mn-ea"/>
              <a:cs typeface="+mn-cs"/>
              <a:sym typeface="Symbol" panose="05050102010706020507" pitchFamily="18" charset="2"/>
            </a:endParaRPr>
          </a:p>
          <a:p>
            <a:pPr lvl="1" eaLnBrk="1" hangingPunct="1">
              <a:buFontTx/>
              <a:buNone/>
              <a:defRPr/>
            </a:pPr>
            <a:r>
              <a:rPr lang="zh-CN" altLang="en-US" dirty="0" smtClean="0">
                <a:latin typeface="+mn-lt"/>
                <a:ea typeface="+mn-ea"/>
                <a:cs typeface="+mn-cs"/>
                <a:sym typeface="Symbol" panose="05050102010706020507" pitchFamily="18" charset="2"/>
              </a:rPr>
              <a:t>可以推断</a:t>
            </a:r>
            <a:r>
              <a:rPr lang="en-US" altLang="zh-CN" dirty="0" smtClean="0">
                <a:latin typeface="+mn-lt"/>
                <a:ea typeface="+mn-ea"/>
                <a:cs typeface="+mn-cs"/>
                <a:sym typeface="Symbol" panose="05050102010706020507" pitchFamily="18" charset="2"/>
              </a:rPr>
              <a:t>, </a:t>
            </a:r>
            <a:r>
              <a:rPr lang="zh-CN" altLang="en-US" dirty="0" smtClean="0">
                <a:latin typeface="+mn-lt"/>
                <a:ea typeface="+mn-ea"/>
                <a:cs typeface="+mn-cs"/>
                <a:sym typeface="Symbol" panose="05050102010706020507" pitchFamily="18" charset="2"/>
              </a:rPr>
              <a:t>当且仅当</a:t>
            </a:r>
            <a:r>
              <a:rPr lang="en-US" altLang="zh-CN" dirty="0" smtClean="0">
                <a:latin typeface="+mn-lt"/>
                <a:ea typeface="+mn-ea"/>
                <a:cs typeface="+mn-cs"/>
                <a:sym typeface="Symbol" panose="05050102010706020507" pitchFamily="18" charset="2"/>
              </a:rPr>
              <a:t>f(N)=O(g(N))</a:t>
            </a:r>
            <a:r>
              <a:rPr lang="zh-CN" altLang="en-US" dirty="0" smtClean="0">
                <a:latin typeface="+mn-lt"/>
                <a:ea typeface="+mn-ea"/>
                <a:cs typeface="+mn-cs"/>
                <a:sym typeface="Symbol" panose="05050102010706020507" pitchFamily="18" charset="2"/>
              </a:rPr>
              <a:t>且</a:t>
            </a:r>
            <a:r>
              <a:rPr lang="en-US" altLang="zh-CN" dirty="0" smtClean="0">
                <a:latin typeface="+mn-lt"/>
                <a:ea typeface="+mn-ea"/>
                <a:cs typeface="+mn-cs"/>
                <a:sym typeface="Symbol" panose="05050102010706020507" pitchFamily="18" charset="2"/>
              </a:rPr>
              <a:t>f(N)= Ω(g(N))。</a:t>
            </a:r>
            <a:r>
              <a:rPr lang="zh-CN" altLang="en-US" dirty="0" smtClean="0">
                <a:latin typeface="+mn-lt"/>
                <a:ea typeface="+mn-ea"/>
                <a:cs typeface="+mn-cs"/>
                <a:sym typeface="Symbol" panose="05050102010706020507" pitchFamily="18" charset="2"/>
              </a:rPr>
              <a:t>此时称</a:t>
            </a:r>
            <a:r>
              <a:rPr lang="en-US" altLang="zh-CN" dirty="0" smtClean="0">
                <a:solidFill>
                  <a:srgbClr val="FF0000"/>
                </a:solidFill>
                <a:latin typeface="+mn-lt"/>
                <a:ea typeface="+mn-ea"/>
                <a:cs typeface="+mn-cs"/>
                <a:sym typeface="Symbol" panose="05050102010706020507" pitchFamily="18" charset="2"/>
              </a:rPr>
              <a:t>f(N)</a:t>
            </a:r>
            <a:r>
              <a:rPr lang="zh-CN" altLang="en-US" dirty="0" smtClean="0">
                <a:solidFill>
                  <a:srgbClr val="FF0000"/>
                </a:solidFill>
                <a:latin typeface="+mn-lt"/>
                <a:ea typeface="+mn-ea"/>
                <a:cs typeface="+mn-cs"/>
                <a:sym typeface="Symbol" panose="05050102010706020507" pitchFamily="18" charset="2"/>
              </a:rPr>
              <a:t>与</a:t>
            </a:r>
            <a:r>
              <a:rPr lang="en-US" altLang="zh-CN" dirty="0" smtClean="0">
                <a:solidFill>
                  <a:srgbClr val="FF0000"/>
                </a:solidFill>
                <a:latin typeface="+mn-lt"/>
                <a:ea typeface="+mn-ea"/>
                <a:cs typeface="+mn-cs"/>
                <a:sym typeface="Symbol" panose="05050102010706020507" pitchFamily="18" charset="2"/>
              </a:rPr>
              <a:t>g(N)</a:t>
            </a:r>
            <a:r>
              <a:rPr lang="zh-CN" altLang="en-US" dirty="0" smtClean="0">
                <a:solidFill>
                  <a:srgbClr val="FF0000"/>
                </a:solidFill>
                <a:latin typeface="+mn-lt"/>
                <a:ea typeface="+mn-ea"/>
                <a:cs typeface="+mn-cs"/>
                <a:sym typeface="Symbol" panose="05050102010706020507" pitchFamily="18" charset="2"/>
              </a:rPr>
              <a:t>同阶</a:t>
            </a:r>
            <a:r>
              <a:rPr lang="zh-CN" altLang="en-US" dirty="0" smtClean="0">
                <a:latin typeface="+mn-lt"/>
                <a:ea typeface="+mn-ea"/>
                <a:cs typeface="+mn-cs"/>
                <a:sym typeface="Symbol" panose="05050102010706020507" pitchFamily="18" charset="2"/>
              </a:rPr>
              <a:t>。</a:t>
            </a:r>
            <a:endParaRPr lang="en-US" altLang="zh-CN" dirty="0" smtClean="0">
              <a:latin typeface="+mn-lt"/>
              <a:ea typeface="+mn-ea"/>
              <a:cs typeface="+mn-cs"/>
              <a:sym typeface="Symbol" panose="05050102010706020507" pitchFamily="18" charset="2"/>
            </a:endParaRPr>
          </a:p>
          <a:p>
            <a:pPr lvl="1" eaLnBrk="1" hangingPunct="1">
              <a:buFontTx/>
              <a:buNone/>
              <a:defRPr/>
            </a:pPr>
            <a:endParaRPr lang="en-US" altLang="zh-CN" dirty="0" smtClean="0">
              <a:latin typeface="+mn-lt"/>
              <a:ea typeface="+mn-ea"/>
              <a:cs typeface="+mn-cs"/>
              <a:sym typeface="Symbol" panose="05050102010706020507" pitchFamily="18" charset="2"/>
            </a:endParaRPr>
          </a:p>
          <a:p>
            <a:pPr>
              <a:spcBef>
                <a:spcPct val="10000"/>
              </a:spcBef>
              <a:defRPr/>
            </a:pPr>
            <a:r>
              <a:rPr lang="zh-CN" altLang="en-US" sz="2200" dirty="0" smtClean="0"/>
              <a:t>根据定义可知：函数</a:t>
            </a:r>
            <a:r>
              <a:rPr lang="en-US" altLang="zh-CN" sz="2200" dirty="0" smtClean="0"/>
              <a:t>f </a:t>
            </a:r>
            <a:r>
              <a:rPr lang="zh-CN" altLang="en-US" sz="2200" dirty="0" smtClean="0"/>
              <a:t>介于函数</a:t>
            </a:r>
            <a:r>
              <a:rPr lang="en-US" altLang="zh-CN" sz="2200" dirty="0" smtClean="0"/>
              <a:t>g </a:t>
            </a:r>
            <a:r>
              <a:rPr lang="zh-CN" altLang="en-US" sz="2200" dirty="0" smtClean="0"/>
              <a:t>的</a:t>
            </a:r>
            <a:r>
              <a:rPr lang="en-US" altLang="zh-CN" sz="2200" dirty="0" smtClean="0"/>
              <a:t>c1 </a:t>
            </a:r>
            <a:r>
              <a:rPr lang="zh-CN" altLang="en-US" sz="2200" dirty="0" smtClean="0"/>
              <a:t>和 </a:t>
            </a:r>
            <a:r>
              <a:rPr lang="en-US" altLang="zh-CN" sz="2200" dirty="0" smtClean="0"/>
              <a:t>c2 </a:t>
            </a:r>
            <a:r>
              <a:rPr lang="zh-CN" altLang="en-US" sz="2200" dirty="0" smtClean="0"/>
              <a:t>倍之间,即当</a:t>
            </a:r>
            <a:r>
              <a:rPr lang="en-US" altLang="zh-CN" sz="2200" dirty="0" smtClean="0"/>
              <a:t>n</a:t>
            </a:r>
            <a:r>
              <a:rPr lang="zh-CN" altLang="en-US" sz="2200" dirty="0" smtClean="0"/>
              <a:t>充分大时, </a:t>
            </a:r>
            <a:r>
              <a:rPr lang="en-US" altLang="zh-CN" sz="2200" dirty="0" smtClean="0"/>
              <a:t>g </a:t>
            </a:r>
            <a:r>
              <a:rPr lang="zh-CN" altLang="en-US" sz="2200" dirty="0" smtClean="0"/>
              <a:t>既是</a:t>
            </a:r>
            <a:r>
              <a:rPr lang="en-US" altLang="zh-CN" sz="2200" dirty="0" smtClean="0"/>
              <a:t>f </a:t>
            </a:r>
            <a:r>
              <a:rPr lang="zh-CN" altLang="en-US" sz="2200" dirty="0" smtClean="0"/>
              <a:t>的下界,又是</a:t>
            </a:r>
            <a:r>
              <a:rPr lang="en-US" altLang="zh-CN" sz="2200" dirty="0" smtClean="0"/>
              <a:t>f </a:t>
            </a:r>
            <a:r>
              <a:rPr lang="zh-CN" altLang="en-US" sz="2200" dirty="0" smtClean="0"/>
              <a:t>的上界.</a:t>
            </a:r>
            <a:endParaRPr lang="en-US" altLang="zh-CN" sz="2200" dirty="0" smtClean="0"/>
          </a:p>
        </p:txBody>
      </p:sp>
      <p:pic>
        <p:nvPicPr>
          <p:cNvPr id="69637" name="Picture 4" descr="def"/>
          <p:cNvPicPr>
            <a:picLocks noChangeAspect="1" noChangeArrowheads="1" noCrop="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781050" y="1260475"/>
            <a:ext cx="406400" cy="280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70659" name="Rectangle 2"/>
          <p:cNvSpPr>
            <a:spLocks noGrp="1" noChangeArrowheads="1"/>
          </p:cNvSpPr>
          <p:nvPr>
            <p:ph type="title"/>
          </p:nvPr>
        </p:nvSpPr>
        <p:spPr/>
        <p:txBody>
          <a:bodyPr/>
          <a:lstStyle/>
          <a:p>
            <a:pPr eaLnBrk="1" hangingPunct="1"/>
            <a:r>
              <a:rPr lang="zh-CN" altLang="en-US" dirty="0"/>
              <a:t>渐进表示</a:t>
            </a:r>
            <a:r>
              <a:rPr lang="en-US" altLang="zh-CN" dirty="0">
                <a:latin typeface="+mn-ea"/>
              </a:rPr>
              <a:t>—— </a:t>
            </a:r>
            <a:r>
              <a:rPr lang="en-US" altLang="zh-CN" dirty="0" smtClean="0">
                <a:sym typeface="Symbol" panose="05050102010706020507" pitchFamily="18" charset="2"/>
              </a:rPr>
              <a:t>-</a:t>
            </a:r>
            <a:r>
              <a:rPr lang="zh-CN" altLang="en-US" dirty="0" smtClean="0"/>
              <a:t>记号（紧渐近界记号）</a:t>
            </a:r>
            <a:endParaRPr lang="en-US" altLang="zh-CN" dirty="0" smtClean="0"/>
          </a:p>
        </p:txBody>
      </p:sp>
      <p:sp>
        <p:nvSpPr>
          <p:cNvPr id="2" name="Rectangle 3"/>
          <p:cNvSpPr>
            <a:spLocks noGrp="1" noChangeArrowheads="1"/>
          </p:cNvSpPr>
          <p:nvPr>
            <p:ph type="body" idx="1"/>
          </p:nvPr>
        </p:nvSpPr>
        <p:spPr>
          <a:xfrm>
            <a:off x="755650" y="1196975"/>
            <a:ext cx="8532813" cy="5183188"/>
          </a:xfrm>
        </p:spPr>
        <p:txBody>
          <a:bodyPr/>
          <a:lstStyle/>
          <a:p>
            <a:pPr eaLnBrk="1" hangingPunct="1">
              <a:defRPr/>
            </a:pPr>
            <a:r>
              <a:rPr lang="zh-CN" altLang="en-US" dirty="0" smtClean="0">
                <a:sym typeface="Symbol" panose="05050102010706020507" pitchFamily="18" charset="2"/>
              </a:rPr>
              <a:t>例：</a:t>
            </a:r>
            <a:endParaRPr lang="en-US" altLang="zh-CN" dirty="0" smtClean="0">
              <a:sym typeface="Symbol" panose="05050102010706020507" pitchFamily="18" charset="2"/>
            </a:endParaRPr>
          </a:p>
          <a:p>
            <a:pPr lvl="1" eaLnBrk="1" hangingPunct="1">
              <a:buFontTx/>
              <a:buNone/>
              <a:defRPr/>
            </a:pPr>
            <a:r>
              <a:rPr lang="en-US" altLang="zh-CN" dirty="0" smtClean="0"/>
              <a:t>Let f (n) = 10</a:t>
            </a:r>
            <a:r>
              <a:rPr lang="en-US" altLang="zh-CN" sz="2400" dirty="0" smtClean="0"/>
              <a:t>n</a:t>
            </a:r>
            <a:r>
              <a:rPr lang="en-US" altLang="zh-CN" sz="2400" baseline="30000" dirty="0" smtClean="0"/>
              <a:t>2</a:t>
            </a:r>
            <a:r>
              <a:rPr lang="en-US" altLang="zh-CN" dirty="0" smtClean="0"/>
              <a:t>+20n. Then,</a:t>
            </a:r>
            <a:endParaRPr lang="en-US" altLang="zh-CN" dirty="0" smtClean="0"/>
          </a:p>
          <a:p>
            <a:pPr lvl="1" eaLnBrk="1" hangingPunct="1">
              <a:buFontTx/>
              <a:buNone/>
              <a:defRPr/>
            </a:pPr>
            <a:r>
              <a:rPr lang="en-US" altLang="zh-CN" dirty="0" smtClean="0"/>
              <a:t>f (n) = </a:t>
            </a:r>
            <a:r>
              <a:rPr lang="en-US" altLang="zh-CN" dirty="0" smtClean="0">
                <a:sym typeface="Symbol" panose="05050102010706020507" pitchFamily="18" charset="2"/>
              </a:rPr>
              <a:t>(</a:t>
            </a:r>
            <a:r>
              <a:rPr lang="en-US" altLang="zh-CN" sz="2400" dirty="0" smtClean="0"/>
              <a:t>n</a:t>
            </a:r>
            <a:r>
              <a:rPr lang="en-US" altLang="zh-CN" sz="2400" baseline="30000" dirty="0" smtClean="0"/>
              <a:t>2</a:t>
            </a:r>
            <a:r>
              <a:rPr lang="en-US" altLang="zh-CN" dirty="0" smtClean="0">
                <a:sym typeface="Symbol" panose="05050102010706020507" pitchFamily="18" charset="2"/>
              </a:rPr>
              <a:t>) </a:t>
            </a:r>
            <a:r>
              <a:rPr lang="zh-CN" altLang="en-US" dirty="0" smtClean="0">
                <a:latin typeface="+mn-ea"/>
                <a:ea typeface="+mn-ea"/>
                <a:sym typeface="Symbol" panose="05050102010706020507" pitchFamily="18" charset="2"/>
              </a:rPr>
              <a:t>由于当</a:t>
            </a:r>
            <a:r>
              <a:rPr lang="en-US" altLang="zh-CN" dirty="0" smtClean="0"/>
              <a:t>n </a:t>
            </a:r>
            <a:r>
              <a:rPr lang="en-US" altLang="zh-CN" dirty="0" smtClean="0">
                <a:sym typeface="Symbol" panose="05050102010706020507" pitchFamily="18" charset="2"/>
              </a:rPr>
              <a:t></a:t>
            </a:r>
            <a:r>
              <a:rPr lang="en-US" altLang="zh-CN" dirty="0" smtClean="0"/>
              <a:t> 1, </a:t>
            </a:r>
            <a:r>
              <a:rPr lang="en-US" altLang="zh-CN" sz="2400" dirty="0" smtClean="0"/>
              <a:t>n</a:t>
            </a:r>
            <a:r>
              <a:rPr lang="en-US" altLang="zh-CN" sz="2400" baseline="30000" dirty="0" smtClean="0"/>
              <a:t>2</a:t>
            </a:r>
            <a:r>
              <a:rPr lang="en-US" altLang="zh-CN" dirty="0" smtClean="0"/>
              <a:t> </a:t>
            </a:r>
            <a:r>
              <a:rPr lang="en-US" altLang="zh-CN" dirty="0" smtClean="0">
                <a:sym typeface="Symbol" panose="05050102010706020507" pitchFamily="18" charset="2"/>
              </a:rPr>
              <a:t></a:t>
            </a:r>
            <a:r>
              <a:rPr lang="en-US" altLang="zh-CN" dirty="0" smtClean="0"/>
              <a:t>f (n)</a:t>
            </a:r>
            <a:r>
              <a:rPr lang="en-US" altLang="zh-CN" dirty="0" smtClean="0">
                <a:sym typeface="Symbol" panose="05050102010706020507" pitchFamily="18" charset="2"/>
              </a:rPr>
              <a:t>30</a:t>
            </a:r>
            <a:r>
              <a:rPr lang="en-US" altLang="zh-CN" sz="2400" dirty="0" smtClean="0"/>
              <a:t>n</a:t>
            </a:r>
            <a:r>
              <a:rPr lang="en-US" altLang="zh-CN" sz="2400" baseline="30000" dirty="0" smtClean="0"/>
              <a:t>2</a:t>
            </a:r>
            <a:r>
              <a:rPr lang="en-US" altLang="zh-CN" dirty="0" smtClean="0"/>
              <a:t>. </a:t>
            </a:r>
            <a:endParaRPr lang="en-US" altLang="zh-CN" dirty="0" smtClean="0"/>
          </a:p>
          <a:p>
            <a:pPr lvl="1" eaLnBrk="1" hangingPunct="1">
              <a:buFontTx/>
              <a:buNone/>
              <a:defRPr/>
            </a:pPr>
            <a:r>
              <a:rPr lang="en-US" altLang="zh-CN" dirty="0" smtClean="0"/>
              <a:t>Consequently, </a:t>
            </a:r>
            <a:r>
              <a:rPr lang="en-US" altLang="zh-CN" sz="2400" dirty="0" smtClean="0">
                <a:sym typeface="Symbol" panose="05050102010706020507" pitchFamily="18" charset="2"/>
              </a:rPr>
              <a:t>lim</a:t>
            </a:r>
            <a:r>
              <a:rPr lang="en-US" altLang="zh-CN" sz="2400" baseline="-25000" dirty="0" smtClean="0">
                <a:sym typeface="Symbol" panose="05050102010706020507" pitchFamily="18" charset="2"/>
              </a:rPr>
              <a:t>n </a:t>
            </a:r>
            <a:r>
              <a:rPr lang="en-US" altLang="zh-CN" dirty="0" smtClean="0">
                <a:sym typeface="Symbol" panose="05050102010706020507" pitchFamily="18" charset="2"/>
              </a:rPr>
              <a:t>f(n)/</a:t>
            </a:r>
            <a:r>
              <a:rPr lang="en-US" altLang="zh-CN" sz="2400" dirty="0" smtClean="0"/>
              <a:t>n</a:t>
            </a:r>
            <a:r>
              <a:rPr lang="en-US" altLang="zh-CN" sz="2400" baseline="30000" dirty="0" smtClean="0"/>
              <a:t>2</a:t>
            </a:r>
            <a:r>
              <a:rPr lang="en-US" altLang="zh-CN" dirty="0" smtClean="0">
                <a:sym typeface="Symbol" panose="05050102010706020507" pitchFamily="18" charset="2"/>
              </a:rPr>
              <a:t>= 10. </a:t>
            </a:r>
            <a:endParaRPr lang="en-US" altLang="zh-CN" dirty="0" smtClean="0">
              <a:sym typeface="Symbol" panose="05050102010706020507" pitchFamily="18" charset="2"/>
            </a:endParaRPr>
          </a:p>
          <a:p>
            <a:pPr lvl="1" eaLnBrk="1" hangingPunct="1">
              <a:buFontTx/>
              <a:buNone/>
              <a:defRPr/>
            </a:pPr>
            <a:endParaRPr lang="en-US" altLang="zh-CN" dirty="0" smtClean="0">
              <a:latin typeface="+mn-lt"/>
              <a:ea typeface="+mn-ea"/>
              <a:cs typeface="+mn-cs"/>
              <a:sym typeface="Symbol" panose="05050102010706020507" pitchFamily="18" charset="2"/>
            </a:endParaRPr>
          </a:p>
          <a:p>
            <a:pPr>
              <a:spcBef>
                <a:spcPct val="10000"/>
              </a:spcBef>
              <a:defRPr/>
            </a:pPr>
            <a:r>
              <a:rPr lang="zh-CN" altLang="en-US" dirty="0" smtClean="0">
                <a:solidFill>
                  <a:schemeClr val="accent6">
                    <a:lumMod val="75000"/>
                  </a:schemeClr>
                </a:solidFill>
                <a:ea typeface="SymbolMT" charset="-122"/>
              </a:rPr>
              <a:t>3</a:t>
            </a:r>
            <a:r>
              <a:rPr lang="en-US" altLang="zh-CN" dirty="0" smtClean="0">
                <a:solidFill>
                  <a:schemeClr val="accent6">
                    <a:lumMod val="75000"/>
                  </a:schemeClr>
                </a:solidFill>
                <a:ea typeface="SymbolMT" charset="-122"/>
              </a:rPr>
              <a:t>n+2=Θ(n), </a:t>
            </a:r>
            <a:endParaRPr lang="en-US" altLang="zh-CN" dirty="0" smtClean="0">
              <a:solidFill>
                <a:schemeClr val="accent6">
                  <a:lumMod val="75000"/>
                </a:schemeClr>
              </a:solidFill>
              <a:ea typeface="SymbolMT" charset="-122"/>
            </a:endParaRPr>
          </a:p>
          <a:p>
            <a:pPr>
              <a:spcBef>
                <a:spcPct val="10000"/>
              </a:spcBef>
              <a:defRPr/>
            </a:pPr>
            <a:r>
              <a:rPr lang="en-US" altLang="zh-CN" dirty="0" smtClean="0">
                <a:solidFill>
                  <a:schemeClr val="accent6">
                    <a:lumMod val="75000"/>
                  </a:schemeClr>
                </a:solidFill>
                <a:ea typeface="SymbolMT" charset="-122"/>
              </a:rPr>
              <a:t>10n</a:t>
            </a:r>
            <a:r>
              <a:rPr lang="en-US" altLang="zh-CN" baseline="30000" dirty="0" smtClean="0">
                <a:solidFill>
                  <a:schemeClr val="accent6">
                    <a:lumMod val="75000"/>
                  </a:schemeClr>
                </a:solidFill>
                <a:ea typeface="SymbolMT" charset="-122"/>
              </a:rPr>
              <a:t>2</a:t>
            </a:r>
            <a:r>
              <a:rPr lang="en-US" altLang="zh-CN" dirty="0" smtClean="0">
                <a:solidFill>
                  <a:schemeClr val="accent6">
                    <a:lumMod val="75000"/>
                  </a:schemeClr>
                </a:solidFill>
                <a:ea typeface="SymbolMT" charset="-122"/>
              </a:rPr>
              <a:t>+4n+2=Θ(n</a:t>
            </a:r>
            <a:r>
              <a:rPr lang="en-US" altLang="zh-CN" baseline="30000" dirty="0" smtClean="0">
                <a:solidFill>
                  <a:schemeClr val="accent6">
                    <a:lumMod val="75000"/>
                  </a:schemeClr>
                </a:solidFill>
                <a:ea typeface="SymbolMT" charset="-122"/>
              </a:rPr>
              <a:t>2</a:t>
            </a:r>
            <a:r>
              <a:rPr lang="en-US" altLang="zh-CN" dirty="0" smtClean="0">
                <a:solidFill>
                  <a:schemeClr val="accent6">
                    <a:lumMod val="75000"/>
                  </a:schemeClr>
                </a:solidFill>
                <a:ea typeface="SymbolMT" charset="-122"/>
              </a:rPr>
              <a:t>) 。</a:t>
            </a:r>
            <a:endParaRPr lang="en-US" altLang="zh-CN" dirty="0" smtClean="0">
              <a:solidFill>
                <a:schemeClr val="accent6">
                  <a:lumMod val="75000"/>
                </a:schemeClr>
              </a:solidFill>
              <a:ea typeface="SymbolMT" charset="-122"/>
            </a:endParaRPr>
          </a:p>
          <a:p>
            <a:pPr>
              <a:spcBef>
                <a:spcPct val="10000"/>
              </a:spcBef>
              <a:defRPr/>
            </a:pPr>
            <a:r>
              <a:rPr lang="en-US" altLang="zh-CN" dirty="0" smtClean="0">
                <a:solidFill>
                  <a:schemeClr val="accent6">
                    <a:lumMod val="75000"/>
                  </a:schemeClr>
                </a:solidFill>
              </a:rPr>
              <a:t> </a:t>
            </a:r>
            <a:r>
              <a:rPr lang="en-US" altLang="zh-CN" dirty="0" smtClean="0">
                <a:solidFill>
                  <a:schemeClr val="accent6">
                    <a:lumMod val="75000"/>
                  </a:schemeClr>
                </a:solidFill>
                <a:ea typeface="SymbolMT" charset="-122"/>
              </a:rPr>
              <a:t>5×2</a:t>
            </a:r>
            <a:r>
              <a:rPr lang="en-US" altLang="zh-CN" baseline="30000" dirty="0" smtClean="0">
                <a:solidFill>
                  <a:schemeClr val="accent6">
                    <a:lumMod val="75000"/>
                  </a:schemeClr>
                </a:solidFill>
                <a:ea typeface="SymbolMT" charset="-122"/>
              </a:rPr>
              <a:t>n</a:t>
            </a:r>
            <a:r>
              <a:rPr lang="en-US" altLang="zh-CN" dirty="0" smtClean="0">
                <a:solidFill>
                  <a:schemeClr val="accent6">
                    <a:lumMod val="75000"/>
                  </a:schemeClr>
                </a:solidFill>
                <a:ea typeface="SymbolMT" charset="-122"/>
              </a:rPr>
              <a:t>+</a:t>
            </a:r>
            <a:r>
              <a:rPr lang="en-US" altLang="zh-CN" i="1" dirty="0" smtClean="0">
                <a:solidFill>
                  <a:schemeClr val="accent6">
                    <a:lumMod val="75000"/>
                  </a:schemeClr>
                </a:solidFill>
              </a:rPr>
              <a:t> </a:t>
            </a:r>
            <a:r>
              <a:rPr lang="en-US" altLang="zh-CN" dirty="0" smtClean="0">
                <a:solidFill>
                  <a:schemeClr val="accent6">
                    <a:lumMod val="75000"/>
                  </a:schemeClr>
                </a:solidFill>
                <a:ea typeface="SymbolMT" charset="-122"/>
              </a:rPr>
              <a:t>n</a:t>
            </a:r>
            <a:r>
              <a:rPr lang="en-US" altLang="zh-CN" i="1" baseline="30000" dirty="0" smtClean="0">
                <a:solidFill>
                  <a:schemeClr val="accent6">
                    <a:lumMod val="75000"/>
                  </a:schemeClr>
                </a:solidFill>
              </a:rPr>
              <a:t>2</a:t>
            </a:r>
            <a:r>
              <a:rPr lang="en-US" altLang="zh-CN" i="1" dirty="0" smtClean="0">
                <a:solidFill>
                  <a:schemeClr val="accent6">
                    <a:lumMod val="75000"/>
                  </a:schemeClr>
                </a:solidFill>
              </a:rPr>
              <a:t>=</a:t>
            </a:r>
            <a:r>
              <a:rPr lang="en-US" altLang="zh-CN" dirty="0" smtClean="0">
                <a:solidFill>
                  <a:schemeClr val="accent6">
                    <a:lumMod val="75000"/>
                  </a:schemeClr>
                </a:solidFill>
                <a:ea typeface="SymbolMT" charset="-122"/>
              </a:rPr>
              <a:t>Θ(2</a:t>
            </a:r>
            <a:r>
              <a:rPr lang="en-US" altLang="zh-CN" baseline="30000" dirty="0" smtClean="0">
                <a:solidFill>
                  <a:schemeClr val="accent6">
                    <a:lumMod val="75000"/>
                  </a:schemeClr>
                </a:solidFill>
                <a:ea typeface="SymbolMT" charset="-122"/>
              </a:rPr>
              <a:t>n</a:t>
            </a:r>
            <a:r>
              <a:rPr lang="en-US" altLang="zh-CN" dirty="0" smtClean="0">
                <a:solidFill>
                  <a:schemeClr val="accent6">
                    <a:lumMod val="75000"/>
                  </a:schemeClr>
                </a:solidFill>
                <a:ea typeface="SymbolMT" charset="-122"/>
              </a:rPr>
              <a:t>)</a:t>
            </a:r>
            <a:endParaRPr lang="en-US" altLang="zh-CN" dirty="0" smtClean="0">
              <a:solidFill>
                <a:schemeClr val="accent6">
                  <a:lumMod val="75000"/>
                </a:schemeClr>
              </a:solidFill>
              <a:ea typeface="SymbolMT" charset="-122"/>
            </a:endParaRPr>
          </a:p>
          <a:p>
            <a:pPr lvl="1" eaLnBrk="1" hangingPunct="1">
              <a:buFontTx/>
              <a:buNone/>
              <a:defRPr/>
            </a:pPr>
            <a:endParaRPr lang="en-US" altLang="zh-CN" dirty="0" smtClean="0">
              <a:latin typeface="+mn-lt"/>
              <a:ea typeface="+mn-ea"/>
              <a:cs typeface="+mn-cs"/>
              <a:sym typeface="Symbol" panose="05050102010706020507" pitchFamily="18" charset="2"/>
            </a:endParaRPr>
          </a:p>
        </p:txBody>
      </p:sp>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pic>
        <p:nvPicPr>
          <p:cNvPr id="71683" name="Picture 2" descr="c:\users\ADMINI~1\appdata\roaming\360se6\USERDA~1\Temp\251952~1.JPG"/>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58750" y="1785938"/>
            <a:ext cx="8913813" cy="3143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72707" name="Rectangle 2"/>
          <p:cNvSpPr>
            <a:spLocks noGrp="1" noChangeArrowheads="1"/>
          </p:cNvSpPr>
          <p:nvPr>
            <p:ph type="title"/>
          </p:nvPr>
        </p:nvSpPr>
        <p:spPr/>
        <p:txBody>
          <a:bodyPr/>
          <a:lstStyle/>
          <a:p>
            <a:pPr eaLnBrk="1" hangingPunct="1"/>
            <a:r>
              <a:rPr lang="zh-CN" altLang="en-US" dirty="0"/>
              <a:t>渐进表示</a:t>
            </a:r>
            <a:r>
              <a:rPr lang="en-US" altLang="zh-CN" dirty="0">
                <a:latin typeface="+mn-ea"/>
              </a:rPr>
              <a:t>—— </a:t>
            </a:r>
            <a:r>
              <a:rPr lang="en-US" altLang="zh-CN" dirty="0" smtClean="0">
                <a:sym typeface="Symbol" panose="05050102010706020507" pitchFamily="18" charset="2"/>
              </a:rPr>
              <a:t>-</a:t>
            </a:r>
            <a:r>
              <a:rPr lang="zh-CN" altLang="en-US" dirty="0" smtClean="0"/>
              <a:t>记号（例：折半查找）</a:t>
            </a:r>
            <a:endParaRPr lang="en-US" altLang="zh-CN" dirty="0" smtClean="0"/>
          </a:p>
        </p:txBody>
      </p:sp>
      <p:sp>
        <p:nvSpPr>
          <p:cNvPr id="2" name="Rectangle 3"/>
          <p:cNvSpPr>
            <a:spLocks noGrp="1" noChangeArrowheads="1"/>
          </p:cNvSpPr>
          <p:nvPr>
            <p:ph type="body" idx="1"/>
          </p:nvPr>
        </p:nvSpPr>
        <p:spPr>
          <a:xfrm>
            <a:off x="755650" y="1196975"/>
            <a:ext cx="8532813" cy="5183188"/>
          </a:xfrm>
        </p:spPr>
        <p:txBody>
          <a:bodyPr/>
          <a:lstStyle/>
          <a:p>
            <a:pPr>
              <a:lnSpc>
                <a:spcPct val="90000"/>
              </a:lnSpc>
              <a:spcBef>
                <a:spcPct val="10000"/>
              </a:spcBef>
              <a:defRPr/>
            </a:pPr>
            <a:r>
              <a:rPr lang="en-US" altLang="zh-CN" sz="2200" dirty="0" smtClean="0"/>
              <a:t>Template &lt;class T&gt;</a:t>
            </a:r>
            <a:endParaRPr lang="en-US" altLang="zh-CN" sz="2200" dirty="0" smtClean="0"/>
          </a:p>
          <a:p>
            <a:pPr>
              <a:lnSpc>
                <a:spcPct val="90000"/>
              </a:lnSpc>
              <a:spcBef>
                <a:spcPct val="10000"/>
              </a:spcBef>
              <a:defRPr/>
            </a:pPr>
            <a:r>
              <a:rPr lang="en-US" altLang="zh-CN" sz="2200" dirty="0" err="1" smtClean="0"/>
              <a:t>Int</a:t>
            </a:r>
            <a:r>
              <a:rPr lang="en-US" altLang="zh-CN" sz="2200" dirty="0" smtClean="0"/>
              <a:t> </a:t>
            </a:r>
            <a:r>
              <a:rPr lang="en-US" altLang="zh-CN" sz="2200" dirty="0" err="1" smtClean="0"/>
              <a:t>BinarySearch</a:t>
            </a:r>
            <a:r>
              <a:rPr lang="en-US" altLang="zh-CN" sz="2200" dirty="0" smtClean="0"/>
              <a:t>(T a[ ], const T </a:t>
            </a:r>
            <a:r>
              <a:rPr lang="en-US" altLang="zh-CN" sz="2200" dirty="0" smtClean="0">
                <a:sym typeface="Symbol" panose="05050102010706020507" pitchFamily="18" charset="2"/>
              </a:rPr>
              <a:t> x, </a:t>
            </a:r>
            <a:r>
              <a:rPr lang="en-US" altLang="zh-CN" sz="2200" dirty="0" err="1" smtClean="0">
                <a:sym typeface="Symbol" panose="05050102010706020507" pitchFamily="18" charset="2"/>
              </a:rPr>
              <a:t>int</a:t>
            </a:r>
            <a:r>
              <a:rPr lang="en-US" altLang="zh-CN" sz="2200" dirty="0" smtClean="0">
                <a:sym typeface="Symbol" panose="05050102010706020507" pitchFamily="18" charset="2"/>
              </a:rPr>
              <a:t> n)</a:t>
            </a:r>
            <a:endParaRPr lang="en-US" altLang="zh-CN" sz="2200" dirty="0" smtClean="0">
              <a:sym typeface="Symbol" panose="05050102010706020507" pitchFamily="18" charset="2"/>
            </a:endParaRPr>
          </a:p>
          <a:p>
            <a:pPr>
              <a:lnSpc>
                <a:spcPct val="90000"/>
              </a:lnSpc>
              <a:spcBef>
                <a:spcPct val="10000"/>
              </a:spcBef>
              <a:defRPr/>
            </a:pPr>
            <a:r>
              <a:rPr lang="en-US" altLang="zh-CN" sz="2200" dirty="0" smtClean="0">
                <a:sym typeface="Symbol" panose="05050102010706020507" pitchFamily="18" charset="2"/>
              </a:rPr>
              <a:t>{// </a:t>
            </a:r>
            <a:r>
              <a:rPr lang="zh-CN" altLang="en-US" sz="2200" dirty="0" smtClean="0">
                <a:sym typeface="Symbol" panose="05050102010706020507" pitchFamily="18" charset="2"/>
              </a:rPr>
              <a:t>在</a:t>
            </a:r>
            <a:r>
              <a:rPr lang="en-US" altLang="zh-CN" sz="2200" dirty="0" smtClean="0">
                <a:sym typeface="Symbol" panose="05050102010706020507" pitchFamily="18" charset="2"/>
              </a:rPr>
              <a:t>a[0]&lt;=a[1]&lt;=…&lt;=a[n-1] </a:t>
            </a:r>
            <a:r>
              <a:rPr lang="zh-CN" altLang="en-US" sz="2200" dirty="0" smtClean="0">
                <a:sym typeface="Symbol" panose="05050102010706020507" pitchFamily="18" charset="2"/>
              </a:rPr>
              <a:t>中搜索 </a:t>
            </a:r>
            <a:r>
              <a:rPr lang="en-US" altLang="zh-CN" sz="2200" dirty="0" smtClean="0">
                <a:sym typeface="Symbol" panose="05050102010706020507" pitchFamily="18" charset="2"/>
              </a:rPr>
              <a:t>x</a:t>
            </a:r>
            <a:endParaRPr lang="en-US" altLang="zh-CN" sz="2200" dirty="0" smtClean="0">
              <a:sym typeface="Symbol" panose="05050102010706020507" pitchFamily="18" charset="2"/>
            </a:endParaRPr>
          </a:p>
          <a:p>
            <a:pPr>
              <a:lnSpc>
                <a:spcPct val="90000"/>
              </a:lnSpc>
              <a:spcBef>
                <a:spcPct val="10000"/>
              </a:spcBef>
              <a:defRPr/>
            </a:pPr>
            <a:r>
              <a:rPr lang="en-US" altLang="zh-CN" sz="2200" dirty="0" smtClean="0">
                <a:sym typeface="Symbol" panose="05050102010706020507" pitchFamily="18" charset="2"/>
              </a:rPr>
              <a:t>  //  </a:t>
            </a:r>
            <a:r>
              <a:rPr lang="zh-CN" altLang="en-US" sz="2200" dirty="0" smtClean="0">
                <a:sym typeface="Symbol" panose="05050102010706020507" pitchFamily="18" charset="2"/>
              </a:rPr>
              <a:t>如果找到，则返回所在位置，否则返回 -1</a:t>
            </a:r>
            <a:endParaRPr lang="zh-CN" altLang="en-US" sz="2200" dirty="0" smtClean="0">
              <a:sym typeface="Symbol" panose="05050102010706020507" pitchFamily="18" charset="2"/>
            </a:endParaRPr>
          </a:p>
          <a:p>
            <a:pPr>
              <a:lnSpc>
                <a:spcPct val="90000"/>
              </a:lnSpc>
              <a:spcBef>
                <a:spcPct val="10000"/>
              </a:spcBef>
              <a:defRPr/>
            </a:pPr>
            <a:r>
              <a:rPr lang="zh-CN" altLang="en-US" sz="2200" dirty="0" smtClean="0">
                <a:sym typeface="Symbol" panose="05050102010706020507" pitchFamily="18" charset="2"/>
              </a:rPr>
              <a:t>  </a:t>
            </a:r>
            <a:r>
              <a:rPr lang="en-US" altLang="zh-CN" sz="2200" dirty="0" err="1" smtClean="0">
                <a:sym typeface="Symbol" panose="05050102010706020507" pitchFamily="18" charset="2"/>
              </a:rPr>
              <a:t>int</a:t>
            </a:r>
            <a:r>
              <a:rPr lang="en-US" altLang="zh-CN" sz="2200" dirty="0" smtClean="0">
                <a:sym typeface="Symbol" panose="05050102010706020507" pitchFamily="18" charset="2"/>
              </a:rPr>
              <a:t> left=0; </a:t>
            </a:r>
            <a:r>
              <a:rPr lang="en-US" altLang="zh-CN" sz="2200" dirty="0" err="1" smtClean="0">
                <a:sym typeface="Symbol" panose="05050102010706020507" pitchFamily="18" charset="2"/>
              </a:rPr>
              <a:t>int</a:t>
            </a:r>
            <a:r>
              <a:rPr lang="en-US" altLang="zh-CN" sz="2200" dirty="0" smtClean="0">
                <a:sym typeface="Symbol" panose="05050102010706020507" pitchFamily="18" charset="2"/>
              </a:rPr>
              <a:t> right=n-1;</a:t>
            </a:r>
            <a:endParaRPr lang="en-US" altLang="zh-CN" sz="2200" dirty="0" smtClean="0">
              <a:sym typeface="Symbol" panose="05050102010706020507" pitchFamily="18" charset="2"/>
            </a:endParaRPr>
          </a:p>
          <a:p>
            <a:pPr>
              <a:lnSpc>
                <a:spcPct val="90000"/>
              </a:lnSpc>
              <a:spcBef>
                <a:spcPct val="10000"/>
              </a:spcBef>
              <a:defRPr/>
            </a:pPr>
            <a:r>
              <a:rPr lang="en-US" altLang="zh-CN" sz="2200" dirty="0" smtClean="0">
                <a:sym typeface="Symbol" panose="05050102010706020507" pitchFamily="18" charset="2"/>
              </a:rPr>
              <a:t>   while(left&lt;=right)  {</a:t>
            </a:r>
            <a:endParaRPr lang="en-US" altLang="zh-CN" sz="2200" dirty="0" smtClean="0">
              <a:sym typeface="Symbol" panose="05050102010706020507" pitchFamily="18" charset="2"/>
            </a:endParaRPr>
          </a:p>
          <a:p>
            <a:pPr>
              <a:lnSpc>
                <a:spcPct val="90000"/>
              </a:lnSpc>
              <a:spcBef>
                <a:spcPct val="10000"/>
              </a:spcBef>
              <a:defRPr/>
            </a:pPr>
            <a:r>
              <a:rPr lang="en-US" altLang="zh-CN" sz="2200" dirty="0" smtClean="0">
                <a:sym typeface="Symbol" panose="05050102010706020507" pitchFamily="18" charset="2"/>
              </a:rPr>
              <a:t>      </a:t>
            </a:r>
            <a:r>
              <a:rPr lang="en-US" altLang="zh-CN" sz="2200" dirty="0" err="1" smtClean="0">
                <a:sym typeface="Symbol" panose="05050102010706020507" pitchFamily="18" charset="2"/>
              </a:rPr>
              <a:t>int</a:t>
            </a:r>
            <a:r>
              <a:rPr lang="en-US" altLang="zh-CN" sz="2200" dirty="0" smtClean="0">
                <a:sym typeface="Symbol" panose="05050102010706020507" pitchFamily="18" charset="2"/>
              </a:rPr>
              <a:t> middle=(</a:t>
            </a:r>
            <a:r>
              <a:rPr lang="en-US" altLang="zh-CN" sz="2200" dirty="0" err="1" smtClean="0">
                <a:sym typeface="Symbol" panose="05050102010706020507" pitchFamily="18" charset="2"/>
              </a:rPr>
              <a:t>left+right</a:t>
            </a:r>
            <a:r>
              <a:rPr lang="en-US" altLang="zh-CN" sz="2200" dirty="0" smtClean="0">
                <a:sym typeface="Symbol" panose="05050102010706020507" pitchFamily="18" charset="2"/>
              </a:rPr>
              <a:t>)/2;</a:t>
            </a:r>
            <a:endParaRPr lang="en-US" altLang="zh-CN" sz="2200" dirty="0" smtClean="0">
              <a:sym typeface="Symbol" panose="05050102010706020507" pitchFamily="18" charset="2"/>
            </a:endParaRPr>
          </a:p>
          <a:p>
            <a:pPr>
              <a:lnSpc>
                <a:spcPct val="90000"/>
              </a:lnSpc>
              <a:spcBef>
                <a:spcPct val="10000"/>
              </a:spcBef>
              <a:defRPr/>
            </a:pPr>
            <a:r>
              <a:rPr lang="en-US" altLang="zh-CN" sz="2200" dirty="0" smtClean="0">
                <a:sym typeface="Symbol" panose="05050102010706020507" pitchFamily="18" charset="2"/>
              </a:rPr>
              <a:t>      if (x==a[middle]) return middle;</a:t>
            </a:r>
            <a:endParaRPr lang="en-US" altLang="zh-CN" sz="2200" dirty="0" smtClean="0">
              <a:sym typeface="Symbol" panose="05050102010706020507" pitchFamily="18" charset="2"/>
            </a:endParaRPr>
          </a:p>
          <a:p>
            <a:pPr>
              <a:lnSpc>
                <a:spcPct val="90000"/>
              </a:lnSpc>
              <a:spcBef>
                <a:spcPct val="10000"/>
              </a:spcBef>
              <a:defRPr/>
            </a:pPr>
            <a:r>
              <a:rPr lang="en-US" altLang="zh-CN" sz="2200" dirty="0" smtClean="0">
                <a:sym typeface="Symbol" panose="05050102010706020507" pitchFamily="18" charset="2"/>
              </a:rPr>
              <a:t>      if (x&gt;a[middle]) left=middle+1;</a:t>
            </a:r>
            <a:endParaRPr lang="en-US" altLang="zh-CN" sz="2200" dirty="0" smtClean="0">
              <a:sym typeface="Symbol" panose="05050102010706020507" pitchFamily="18" charset="2"/>
            </a:endParaRPr>
          </a:p>
          <a:p>
            <a:pPr>
              <a:lnSpc>
                <a:spcPct val="90000"/>
              </a:lnSpc>
              <a:spcBef>
                <a:spcPct val="10000"/>
              </a:spcBef>
              <a:defRPr/>
            </a:pPr>
            <a:r>
              <a:rPr lang="en-US" altLang="zh-CN" sz="2200" dirty="0" smtClean="0">
                <a:sym typeface="Symbol" panose="05050102010706020507" pitchFamily="18" charset="2"/>
              </a:rPr>
              <a:t>      else   right=middle-1;</a:t>
            </a:r>
            <a:endParaRPr lang="en-US" altLang="zh-CN" sz="2200" dirty="0" smtClean="0">
              <a:sym typeface="Symbol" panose="05050102010706020507" pitchFamily="18" charset="2"/>
            </a:endParaRPr>
          </a:p>
          <a:p>
            <a:pPr>
              <a:lnSpc>
                <a:spcPct val="90000"/>
              </a:lnSpc>
              <a:spcBef>
                <a:spcPct val="10000"/>
              </a:spcBef>
              <a:defRPr/>
            </a:pPr>
            <a:r>
              <a:rPr lang="en-US" altLang="zh-CN" sz="2200" dirty="0" smtClean="0">
                <a:sym typeface="Symbol" panose="05050102010706020507" pitchFamily="18" charset="2"/>
              </a:rPr>
              <a:t>   }</a:t>
            </a:r>
            <a:endParaRPr lang="en-US" altLang="zh-CN" sz="2200" dirty="0" smtClean="0">
              <a:sym typeface="Symbol" panose="05050102010706020507" pitchFamily="18" charset="2"/>
            </a:endParaRPr>
          </a:p>
          <a:p>
            <a:pPr>
              <a:lnSpc>
                <a:spcPct val="90000"/>
              </a:lnSpc>
              <a:spcBef>
                <a:spcPct val="10000"/>
              </a:spcBef>
              <a:defRPr/>
            </a:pPr>
            <a:r>
              <a:rPr lang="en-US" altLang="zh-CN" sz="2200" dirty="0" smtClean="0">
                <a:sym typeface="Symbol" panose="05050102010706020507" pitchFamily="18" charset="2"/>
              </a:rPr>
              <a:t>Return -1 ;  // </a:t>
            </a:r>
            <a:r>
              <a:rPr lang="zh-CN" altLang="en-US" sz="2200" dirty="0" smtClean="0">
                <a:sym typeface="Symbol" panose="05050102010706020507" pitchFamily="18" charset="2"/>
              </a:rPr>
              <a:t>未找到 </a:t>
            </a:r>
            <a:r>
              <a:rPr lang="en-US" altLang="zh-CN" sz="2200" dirty="0" smtClean="0">
                <a:sym typeface="Symbol" panose="05050102010706020507" pitchFamily="18" charset="2"/>
              </a:rPr>
              <a:t>x</a:t>
            </a:r>
            <a:endParaRPr lang="en-US" altLang="zh-CN" sz="2200" dirty="0" smtClean="0">
              <a:sym typeface="Symbol" panose="05050102010706020507" pitchFamily="18" charset="2"/>
            </a:endParaRPr>
          </a:p>
          <a:p>
            <a:pPr>
              <a:lnSpc>
                <a:spcPct val="90000"/>
              </a:lnSpc>
              <a:spcBef>
                <a:spcPct val="10000"/>
              </a:spcBef>
              <a:defRPr/>
            </a:pPr>
            <a:r>
              <a:rPr lang="en-US" altLang="zh-CN" sz="2200" dirty="0" smtClean="0">
                <a:sym typeface="Symbol" panose="05050102010706020507" pitchFamily="18" charset="2"/>
              </a:rPr>
              <a:t>}  </a:t>
            </a:r>
            <a:endParaRPr lang="en-US" altLang="zh-CN" sz="2200" dirty="0" smtClean="0"/>
          </a:p>
          <a:p>
            <a:pPr lvl="1" eaLnBrk="1" hangingPunct="1">
              <a:buFontTx/>
              <a:buNone/>
              <a:defRPr/>
            </a:pPr>
            <a:endParaRPr lang="en-US" altLang="zh-CN" dirty="0" smtClean="0">
              <a:latin typeface="+mn-lt"/>
              <a:ea typeface="+mn-ea"/>
              <a:cs typeface="+mn-cs"/>
              <a:sym typeface="Symbol" panose="05050102010706020507" pitchFamily="18" charset="2"/>
            </a:endParaRPr>
          </a:p>
        </p:txBody>
      </p:sp>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73731" name="Rectangle 2"/>
          <p:cNvSpPr>
            <a:spLocks noGrp="1" noChangeArrowheads="1"/>
          </p:cNvSpPr>
          <p:nvPr>
            <p:ph type="title"/>
          </p:nvPr>
        </p:nvSpPr>
        <p:spPr/>
        <p:txBody>
          <a:bodyPr/>
          <a:lstStyle/>
          <a:p>
            <a:pPr eaLnBrk="1" hangingPunct="1"/>
            <a:r>
              <a:rPr lang="zh-CN" altLang="en-US" dirty="0"/>
              <a:t>渐进表示</a:t>
            </a:r>
            <a:r>
              <a:rPr lang="en-US" altLang="zh-CN" dirty="0">
                <a:latin typeface="+mn-ea"/>
              </a:rPr>
              <a:t>—— </a:t>
            </a:r>
            <a:r>
              <a:rPr lang="en-US" altLang="zh-CN" dirty="0" smtClean="0">
                <a:sym typeface="Symbol" panose="05050102010706020507" pitchFamily="18" charset="2"/>
              </a:rPr>
              <a:t>-</a:t>
            </a:r>
            <a:r>
              <a:rPr lang="zh-CN" altLang="en-US" dirty="0" smtClean="0"/>
              <a:t>记号（例：折半查找）</a:t>
            </a:r>
            <a:endParaRPr lang="en-US" altLang="zh-CN" dirty="0" smtClean="0"/>
          </a:p>
        </p:txBody>
      </p:sp>
      <p:sp>
        <p:nvSpPr>
          <p:cNvPr id="70659" name="Rectangle 3"/>
          <p:cNvSpPr>
            <a:spLocks noGrp="1" noChangeArrowheads="1"/>
          </p:cNvSpPr>
          <p:nvPr>
            <p:ph type="body" idx="1"/>
          </p:nvPr>
        </p:nvSpPr>
        <p:spPr>
          <a:xfrm>
            <a:off x="755650" y="1196975"/>
            <a:ext cx="8031163" cy="5183188"/>
          </a:xfrm>
        </p:spPr>
        <p:txBody>
          <a:bodyPr/>
          <a:lstStyle/>
          <a:p>
            <a:pPr>
              <a:spcBef>
                <a:spcPct val="50000"/>
              </a:spcBef>
              <a:defRPr/>
            </a:pPr>
            <a:r>
              <a:rPr lang="en-US" altLang="zh-CN" sz="2400" dirty="0" smtClean="0"/>
              <a:t>while </a:t>
            </a:r>
            <a:r>
              <a:rPr lang="zh-CN" altLang="en-US" sz="2400" dirty="0" smtClean="0"/>
              <a:t>的每次循环(最后一次除外)都将以减半的比例缩小搜索范围,所以, 该循环在最坏的情况下需要执行</a:t>
            </a:r>
            <a:r>
              <a:rPr lang="en-US" altLang="zh-CN" sz="2400" dirty="0" smtClean="0"/>
              <a:t>Θ</a:t>
            </a:r>
            <a:r>
              <a:rPr lang="zh-CN" altLang="en-US" sz="2400" dirty="0" smtClean="0"/>
              <a:t>(</a:t>
            </a:r>
            <a:r>
              <a:rPr lang="en-US" altLang="zh-CN" sz="2400" dirty="0" smtClean="0"/>
              <a:t>log n ) </a:t>
            </a:r>
            <a:r>
              <a:rPr lang="zh-CN" altLang="en-US" sz="2400" dirty="0" smtClean="0"/>
              <a:t>次。由于每次循环需耗时</a:t>
            </a:r>
            <a:r>
              <a:rPr lang="en-US" altLang="zh-CN" sz="2400" dirty="0" smtClean="0"/>
              <a:t>Θ(1),</a:t>
            </a:r>
            <a:r>
              <a:rPr lang="zh-CN" altLang="en-US" sz="2400" dirty="0" smtClean="0"/>
              <a:t>因此在最坏情况下,总的时间复杂性为 </a:t>
            </a:r>
            <a:r>
              <a:rPr lang="en-US" altLang="zh-CN" sz="2400" dirty="0" smtClean="0"/>
              <a:t>Θ(log n).</a:t>
            </a:r>
            <a:endParaRPr lang="en-US" altLang="zh-CN" sz="2400" dirty="0" smtClean="0"/>
          </a:p>
          <a:p>
            <a:pPr lvl="1" eaLnBrk="1" hangingPunct="1">
              <a:buFontTx/>
              <a:buNone/>
              <a:defRPr/>
            </a:pPr>
            <a:endParaRPr lang="en-US" altLang="zh-CN" dirty="0" smtClean="0">
              <a:latin typeface="+mn-lt"/>
              <a:ea typeface="+mn-ea"/>
              <a:cs typeface="+mn-cs"/>
              <a:sym typeface="Symbol" panose="05050102010706020507" pitchFamily="18" charset="2"/>
            </a:endParaRPr>
          </a:p>
        </p:txBody>
      </p:sp>
    </p:spTree>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74755" name="Rectangle 2"/>
          <p:cNvSpPr>
            <a:spLocks noGrp="1" noChangeArrowheads="1"/>
          </p:cNvSpPr>
          <p:nvPr>
            <p:ph type="title"/>
          </p:nvPr>
        </p:nvSpPr>
        <p:spPr/>
        <p:txBody>
          <a:bodyPr/>
          <a:lstStyle/>
          <a:p>
            <a:pPr eaLnBrk="1" hangingPunct="1"/>
            <a:r>
              <a:rPr lang="zh-CN" altLang="en-US" dirty="0"/>
              <a:t>渐进表示</a:t>
            </a:r>
            <a:r>
              <a:rPr lang="en-US" altLang="zh-CN" dirty="0">
                <a:latin typeface="+mn-ea"/>
              </a:rPr>
              <a:t>——</a:t>
            </a:r>
            <a:r>
              <a:rPr lang="zh-CN" altLang="en-US" dirty="0" smtClean="0"/>
              <a:t>小</a:t>
            </a:r>
            <a:r>
              <a:rPr lang="en-US" altLang="zh-CN" i="1" dirty="0" smtClean="0"/>
              <a:t>o-</a:t>
            </a:r>
            <a:r>
              <a:rPr lang="zh-CN" altLang="en-US" dirty="0" smtClean="0"/>
              <a:t>记号（非紧上界记号）</a:t>
            </a:r>
            <a:endParaRPr lang="en-US" altLang="zh-CN" dirty="0" smtClean="0"/>
          </a:p>
        </p:txBody>
      </p:sp>
      <p:sp>
        <p:nvSpPr>
          <p:cNvPr id="205827" name="Rectangle 3"/>
          <p:cNvSpPr>
            <a:spLocks noGrp="1" noChangeArrowheads="1"/>
          </p:cNvSpPr>
          <p:nvPr>
            <p:ph type="body" idx="1"/>
          </p:nvPr>
        </p:nvSpPr>
        <p:spPr/>
        <p:txBody>
          <a:bodyPr/>
          <a:lstStyle/>
          <a:p>
            <a:pPr eaLnBrk="1" hangingPunct="1">
              <a:defRPr/>
            </a:pPr>
            <a:r>
              <a:rPr lang="zh-CN" altLang="en-US" dirty="0" smtClean="0"/>
              <a:t>定义</a:t>
            </a:r>
            <a:r>
              <a:rPr lang="en-US" altLang="zh-CN" dirty="0" smtClean="0"/>
              <a:t> 1.5</a:t>
            </a:r>
            <a:endParaRPr lang="en-US" altLang="zh-CN" dirty="0" smtClean="0"/>
          </a:p>
          <a:p>
            <a:pPr>
              <a:defRPr/>
            </a:pPr>
            <a:r>
              <a:rPr lang="zh-CN" altLang="en-US" sz="2200" dirty="0" smtClean="0">
                <a:sym typeface="Symbol" panose="05050102010706020507" pitchFamily="18" charset="2"/>
              </a:rPr>
              <a:t>对于任意给定的</a:t>
            </a:r>
            <a:r>
              <a:rPr lang="en-US" altLang="zh-CN" sz="2200" dirty="0" smtClean="0">
                <a:sym typeface="Symbol" panose="05050102010706020507" pitchFamily="18" charset="2"/>
              </a:rPr>
              <a:t>c＞0，</a:t>
            </a:r>
            <a:r>
              <a:rPr lang="zh-CN" altLang="en-US" sz="2200" dirty="0" smtClean="0">
                <a:sym typeface="Symbol" panose="05050102010706020507" pitchFamily="18" charset="2"/>
              </a:rPr>
              <a:t>都存在正整数</a:t>
            </a:r>
            <a:r>
              <a:rPr lang="en-US" altLang="zh-CN" sz="2200" dirty="0" smtClean="0">
                <a:sym typeface="Symbol" panose="05050102010706020507" pitchFamily="18" charset="2"/>
              </a:rPr>
              <a:t>n0 ，</a:t>
            </a:r>
            <a:r>
              <a:rPr lang="zh-CN" altLang="en-US" sz="2200" dirty="0" smtClean="0">
                <a:sym typeface="Symbol" panose="05050102010706020507" pitchFamily="18" charset="2"/>
              </a:rPr>
              <a:t>使得当</a:t>
            </a:r>
            <a:r>
              <a:rPr lang="en-US" altLang="zh-CN" sz="2200" dirty="0" smtClean="0">
                <a:sym typeface="Symbol" panose="05050102010706020507" pitchFamily="18" charset="2"/>
              </a:rPr>
              <a:t>nn0</a:t>
            </a:r>
            <a:r>
              <a:rPr lang="zh-CN" altLang="en-US" sz="2200" dirty="0" smtClean="0">
                <a:sym typeface="Symbol" panose="05050102010706020507" pitchFamily="18" charset="2"/>
              </a:rPr>
              <a:t>时有</a:t>
            </a:r>
            <a:r>
              <a:rPr lang="en-US" altLang="zh-CN" sz="2200" dirty="0" smtClean="0">
                <a:sym typeface="Symbol" panose="05050102010706020507" pitchFamily="18" charset="2"/>
              </a:rPr>
              <a:t>f(n)&lt;cg(n)</a:t>
            </a:r>
            <a:r>
              <a:rPr lang="zh-CN" altLang="en-US" sz="2200" dirty="0" smtClean="0">
                <a:sym typeface="Symbol" panose="05050102010706020507" pitchFamily="18" charset="2"/>
              </a:rPr>
              <a:t>，则称函数</a:t>
            </a:r>
            <a:r>
              <a:rPr lang="en-US" altLang="zh-CN" sz="2200" dirty="0" smtClean="0">
                <a:sym typeface="Symbol" panose="05050102010706020507" pitchFamily="18" charset="2"/>
              </a:rPr>
              <a:t>f(n)</a:t>
            </a:r>
            <a:r>
              <a:rPr lang="zh-CN" altLang="en-US" sz="2200" dirty="0" smtClean="0">
                <a:sym typeface="Symbol" panose="05050102010706020507" pitchFamily="18" charset="2"/>
              </a:rPr>
              <a:t>当</a:t>
            </a:r>
            <a:r>
              <a:rPr lang="en-US" altLang="zh-CN" sz="2200" dirty="0" smtClean="0">
                <a:sym typeface="Symbol" panose="05050102010706020507" pitchFamily="18" charset="2"/>
              </a:rPr>
              <a:t>n</a:t>
            </a:r>
            <a:r>
              <a:rPr lang="zh-CN" altLang="en-US" sz="2200" dirty="0" smtClean="0">
                <a:sym typeface="Symbol" panose="05050102010706020507" pitchFamily="18" charset="2"/>
              </a:rPr>
              <a:t>充分大时的</a:t>
            </a:r>
            <a:r>
              <a:rPr lang="zh-CN" altLang="en-US" sz="2200" dirty="0" smtClean="0">
                <a:solidFill>
                  <a:srgbClr val="FF0000"/>
                </a:solidFill>
                <a:sym typeface="Symbol" panose="05050102010706020507" pitchFamily="18" charset="2"/>
              </a:rPr>
              <a:t>阶比</a:t>
            </a:r>
            <a:r>
              <a:rPr lang="en-US" altLang="zh-CN" sz="2200" dirty="0" smtClean="0">
                <a:solidFill>
                  <a:srgbClr val="FF0000"/>
                </a:solidFill>
                <a:sym typeface="Symbol" panose="05050102010706020507" pitchFamily="18" charset="2"/>
              </a:rPr>
              <a:t>g(n)</a:t>
            </a:r>
            <a:r>
              <a:rPr lang="zh-CN" altLang="en-US" sz="2200" dirty="0" smtClean="0">
                <a:solidFill>
                  <a:srgbClr val="FF0000"/>
                </a:solidFill>
                <a:sym typeface="Symbol" panose="05050102010706020507" pitchFamily="18" charset="2"/>
              </a:rPr>
              <a:t>低</a:t>
            </a:r>
            <a:r>
              <a:rPr lang="zh-CN" altLang="en-US" sz="2200" dirty="0" smtClean="0">
                <a:sym typeface="Symbol" panose="05050102010706020507" pitchFamily="18" charset="2"/>
              </a:rPr>
              <a:t>，记为</a:t>
            </a:r>
            <a:r>
              <a:rPr lang="en-US" altLang="zh-CN" sz="2200" dirty="0" smtClean="0">
                <a:sym typeface="Symbol" panose="05050102010706020507" pitchFamily="18" charset="2"/>
              </a:rPr>
              <a:t>f(n)=o(g(n)</a:t>
            </a:r>
            <a:r>
              <a:rPr lang="zh-CN" altLang="en-US" sz="2200" dirty="0" smtClean="0">
                <a:sym typeface="Symbol" panose="05050102010706020507" pitchFamily="18" charset="2"/>
              </a:rPr>
              <a:t>。</a:t>
            </a:r>
            <a:endParaRPr lang="zh-CN" altLang="en-US" sz="2200" dirty="0" smtClean="0">
              <a:sym typeface="Symbol" panose="05050102010706020507" pitchFamily="18" charset="2"/>
            </a:endParaRPr>
          </a:p>
          <a:p>
            <a:pPr lvl="1" eaLnBrk="1" hangingPunct="1">
              <a:defRPr/>
            </a:pPr>
            <a:r>
              <a:rPr lang="zh-CN" altLang="en-US" dirty="0" smtClean="0">
                <a:latin typeface="+mn-lt"/>
                <a:ea typeface="+mn-ea"/>
                <a:cs typeface="+mn-cs"/>
                <a:sym typeface="Symbol" panose="05050102010706020507" pitchFamily="18" charset="2"/>
              </a:rPr>
              <a:t>也就是说，当</a:t>
            </a:r>
            <a:r>
              <a:rPr lang="en-US" altLang="zh-CN" dirty="0" smtClean="0">
                <a:latin typeface="+mn-lt"/>
                <a:ea typeface="+mn-ea"/>
                <a:cs typeface="+mn-cs"/>
                <a:sym typeface="Symbol" panose="05050102010706020507" pitchFamily="18" charset="2"/>
              </a:rPr>
              <a:t> </a:t>
            </a:r>
            <a:r>
              <a:rPr lang="en-US" altLang="zh-CN" sz="2000" i="1" dirty="0" err="1" smtClean="0">
                <a:latin typeface="+mn-lt"/>
                <a:sym typeface="Symbol" panose="05050102010706020507" pitchFamily="18" charset="2"/>
              </a:rPr>
              <a:t>lim</a:t>
            </a:r>
            <a:r>
              <a:rPr lang="en-US" altLang="zh-CN" sz="2000" i="1" dirty="0" smtClean="0">
                <a:latin typeface="+mn-lt"/>
                <a:sym typeface="Symbol" panose="05050102010706020507" pitchFamily="18" charset="2"/>
              </a:rPr>
              <a:t> </a:t>
            </a:r>
            <a:r>
              <a:rPr lang="en-US" altLang="zh-CN" sz="2000" i="1" baseline="-25000" dirty="0" smtClean="0">
                <a:latin typeface="+mn-lt"/>
                <a:sym typeface="Symbol" panose="05050102010706020507" pitchFamily="18" charset="2"/>
              </a:rPr>
              <a:t>n </a:t>
            </a:r>
            <a:r>
              <a:rPr lang="en-US" altLang="zh-CN" sz="2000" i="1" dirty="0" smtClean="0">
                <a:latin typeface="+mn-lt"/>
                <a:sym typeface="Symbol" panose="05050102010706020507" pitchFamily="18" charset="2"/>
              </a:rPr>
              <a:t>f (n) /g (n)</a:t>
            </a:r>
            <a:r>
              <a:rPr lang="zh-CN" altLang="en-US" dirty="0" smtClean="0">
                <a:latin typeface="+mn-lt"/>
                <a:ea typeface="+mn-ea"/>
                <a:cs typeface="+mn-cs"/>
                <a:sym typeface="Symbol" panose="05050102010706020507" pitchFamily="18" charset="2"/>
              </a:rPr>
              <a:t>存在</a:t>
            </a:r>
            <a:r>
              <a:rPr lang="en-US" altLang="zh-CN" dirty="0" smtClean="0">
                <a:latin typeface="+mn-lt"/>
                <a:ea typeface="+mn-ea"/>
                <a:cs typeface="+mn-cs"/>
                <a:sym typeface="Symbol" panose="05050102010706020507" pitchFamily="18" charset="2"/>
              </a:rPr>
              <a:t> </a:t>
            </a:r>
            <a:r>
              <a:rPr lang="zh-CN" altLang="en-US" dirty="0" smtClean="0">
                <a:latin typeface="+mn-lt"/>
                <a:ea typeface="+mn-ea"/>
                <a:cs typeface="+mn-cs"/>
                <a:sym typeface="Symbol" panose="05050102010706020507" pitchFamily="18" charset="2"/>
              </a:rPr>
              <a:t>，并且</a:t>
            </a:r>
            <a:endParaRPr lang="en-US" altLang="zh-CN" dirty="0" smtClean="0">
              <a:latin typeface="+mn-lt"/>
              <a:ea typeface="+mn-ea"/>
              <a:cs typeface="+mn-cs"/>
              <a:sym typeface="Symbol" panose="05050102010706020507" pitchFamily="18" charset="2"/>
            </a:endParaRPr>
          </a:p>
          <a:p>
            <a:pPr eaLnBrk="1" hangingPunct="1">
              <a:buFontTx/>
              <a:buNone/>
              <a:defRPr/>
            </a:pPr>
            <a:r>
              <a:rPr lang="en-US" altLang="zh-CN" sz="2200" dirty="0" smtClean="0">
                <a:sym typeface="Symbol" panose="05050102010706020507" pitchFamily="18" charset="2"/>
              </a:rPr>
              <a:t>                   </a:t>
            </a:r>
            <a:r>
              <a:rPr lang="en-US" altLang="zh-CN" sz="2200" i="1" dirty="0" err="1" smtClean="0">
                <a:sym typeface="Symbol" panose="05050102010706020507" pitchFamily="18" charset="2"/>
              </a:rPr>
              <a:t>lim</a:t>
            </a:r>
            <a:r>
              <a:rPr lang="en-US" altLang="zh-CN" sz="2200" i="1" dirty="0" smtClean="0">
                <a:sym typeface="Symbol" panose="05050102010706020507" pitchFamily="18" charset="2"/>
              </a:rPr>
              <a:t> </a:t>
            </a:r>
            <a:r>
              <a:rPr lang="en-US" altLang="zh-CN" sz="2200" i="1" baseline="-25000" dirty="0" smtClean="0">
                <a:sym typeface="Symbol" panose="05050102010706020507" pitchFamily="18" charset="2"/>
              </a:rPr>
              <a:t>n </a:t>
            </a:r>
            <a:r>
              <a:rPr lang="en-US" altLang="zh-CN" sz="2200" i="1" dirty="0" smtClean="0">
                <a:sym typeface="Symbol" panose="05050102010706020507" pitchFamily="18" charset="2"/>
              </a:rPr>
              <a:t>f (n) /g (n) </a:t>
            </a:r>
            <a:r>
              <a:rPr lang="en-US" altLang="zh-CN" sz="2200" dirty="0" smtClean="0">
                <a:sym typeface="Symbol" panose="05050102010706020507" pitchFamily="18" charset="2"/>
              </a:rPr>
              <a:t>=0 </a:t>
            </a:r>
            <a:r>
              <a:rPr lang="zh-CN" altLang="en-US" sz="2200" dirty="0" smtClean="0">
                <a:sym typeface="Symbol" panose="05050102010706020507" pitchFamily="18" charset="2"/>
              </a:rPr>
              <a:t>则</a:t>
            </a:r>
            <a:r>
              <a:rPr lang="en-US" altLang="zh-CN" sz="2200" dirty="0" smtClean="0">
                <a:sym typeface="Symbol" panose="05050102010706020507" pitchFamily="18" charset="2"/>
              </a:rPr>
              <a:t>f(n)=o(g(n)).</a:t>
            </a:r>
            <a:endParaRPr lang="en-US" altLang="zh-CN" sz="2200" dirty="0" smtClean="0">
              <a:sym typeface="Symbol" panose="05050102010706020507" pitchFamily="18" charset="2"/>
            </a:endParaRPr>
          </a:p>
          <a:p>
            <a:pPr eaLnBrk="1" hangingPunct="1">
              <a:buFontTx/>
              <a:buNone/>
              <a:defRPr/>
            </a:pPr>
            <a:endParaRPr lang="en-US" altLang="zh-CN" sz="1800" dirty="0" smtClean="0">
              <a:sym typeface="Symbol" panose="05050102010706020507" pitchFamily="18" charset="2"/>
            </a:endParaRPr>
          </a:p>
          <a:p>
            <a:pPr eaLnBrk="1" hangingPunct="1">
              <a:defRPr/>
            </a:pPr>
            <a:r>
              <a:rPr lang="zh-CN" altLang="en-US" sz="2200" dirty="0" smtClean="0">
                <a:sym typeface="Symbol" panose="05050102010706020507" pitchFamily="18" charset="2"/>
              </a:rPr>
              <a:t>可以推断：</a:t>
            </a:r>
            <a:r>
              <a:rPr lang="en-US" altLang="zh-CN" sz="2200" dirty="0" smtClean="0">
                <a:sym typeface="Symbol" panose="05050102010706020507" pitchFamily="18" charset="2"/>
              </a:rPr>
              <a:t>f(n)=o(g(n)) </a:t>
            </a:r>
            <a:r>
              <a:rPr lang="zh-CN" altLang="en-US" sz="2200" dirty="0" smtClean="0">
                <a:sym typeface="Symbol" panose="05050102010706020507" pitchFamily="18" charset="2"/>
              </a:rPr>
              <a:t>成立前提：必须</a:t>
            </a:r>
            <a:r>
              <a:rPr lang="en-US" altLang="zh-CN" sz="2200" dirty="0" smtClean="0">
                <a:sym typeface="Symbol" panose="05050102010706020507" pitchFamily="18" charset="2"/>
              </a:rPr>
              <a:t> </a:t>
            </a:r>
            <a:r>
              <a:rPr lang="zh-CN" altLang="en-US" sz="2200" dirty="0" smtClean="0">
                <a:sym typeface="Symbol" panose="05050102010706020507" pitchFamily="18" charset="2"/>
              </a:rPr>
              <a:t>满足</a:t>
            </a:r>
            <a:r>
              <a:rPr lang="en-US" altLang="zh-CN" sz="2200" dirty="0" smtClean="0">
                <a:sym typeface="Symbol" panose="05050102010706020507" pitchFamily="18" charset="2"/>
              </a:rPr>
              <a:t>f(n)=O(g(n)) </a:t>
            </a:r>
            <a:r>
              <a:rPr lang="zh-CN" altLang="en-US" sz="2200" dirty="0" smtClean="0">
                <a:sym typeface="Symbol" panose="05050102010706020507" pitchFamily="18" charset="2"/>
              </a:rPr>
              <a:t>，同时</a:t>
            </a:r>
            <a:r>
              <a:rPr lang="en-US" altLang="zh-CN" sz="2200" dirty="0" smtClean="0">
                <a:sym typeface="Symbol" panose="05050102010706020507" pitchFamily="18" charset="2"/>
              </a:rPr>
              <a:t> </a:t>
            </a:r>
            <a:r>
              <a:rPr lang="zh-CN" altLang="en-US" sz="2200" dirty="0" smtClean="0">
                <a:sym typeface="Symbol" panose="05050102010706020507" pitchFamily="18" charset="2"/>
              </a:rPr>
              <a:t>满足</a:t>
            </a:r>
            <a:r>
              <a:rPr lang="en-US" altLang="zh-CN" sz="2200" dirty="0" smtClean="0">
                <a:sym typeface="Symbol" panose="05050102010706020507" pitchFamily="18" charset="2"/>
              </a:rPr>
              <a:t>g(n)O(f(n)). </a:t>
            </a:r>
            <a:endParaRPr lang="en-US" altLang="zh-CN" sz="2200" dirty="0" smtClean="0">
              <a:sym typeface="Symbol" panose="05050102010706020507" pitchFamily="18" charset="2"/>
            </a:endParaRPr>
          </a:p>
        </p:txBody>
      </p:sp>
      <p:pic>
        <p:nvPicPr>
          <p:cNvPr id="74757" name="Picture 4" descr="def"/>
          <p:cNvPicPr>
            <a:picLocks noChangeAspect="1" noChangeArrowheads="1" noCrop="1"/>
          </p:cNvPicPr>
          <p:nvPr/>
        </p:nvPicPr>
        <p:blipFill>
          <a:blip r:embed="rId1">
            <a:extLst>
              <a:ext uri="{28A0092B-C50C-407E-A947-70E740481C1C}">
                <a14:useLocalDpi xmlns:a14="http://schemas.microsoft.com/office/drawing/2010/main" val="0"/>
              </a:ext>
            </a:extLst>
          </a:blip>
          <a:srcRect/>
          <a:stretch>
            <a:fillRect/>
          </a:stretch>
        </p:blipFill>
        <p:spPr bwMode="auto">
          <a:xfrm>
            <a:off x="852488" y="1300163"/>
            <a:ext cx="504825" cy="349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75779" name="Rectangle 2"/>
          <p:cNvSpPr>
            <a:spLocks noGrp="1" noChangeArrowheads="1"/>
          </p:cNvSpPr>
          <p:nvPr>
            <p:ph type="title"/>
          </p:nvPr>
        </p:nvSpPr>
        <p:spPr/>
        <p:txBody>
          <a:bodyPr/>
          <a:lstStyle/>
          <a:p>
            <a:pPr eaLnBrk="1" hangingPunct="1"/>
            <a:r>
              <a:rPr lang="zh-CN" altLang="en-US" dirty="0"/>
              <a:t>渐进表示</a:t>
            </a:r>
            <a:r>
              <a:rPr lang="en-US" altLang="zh-CN" dirty="0">
                <a:latin typeface="+mn-ea"/>
              </a:rPr>
              <a:t>——</a:t>
            </a:r>
            <a:r>
              <a:rPr lang="zh-CN" altLang="en-US" dirty="0" smtClean="0">
                <a:sym typeface="Symbol" panose="05050102010706020507" pitchFamily="18" charset="2"/>
              </a:rPr>
              <a:t>小</a:t>
            </a:r>
            <a:r>
              <a:rPr lang="zh-CN" altLang="en-US" i="1" dirty="0" smtClean="0">
                <a:sym typeface="Symbol" panose="05050102010706020507" pitchFamily="18" charset="2"/>
              </a:rPr>
              <a:t></a:t>
            </a:r>
            <a:r>
              <a:rPr lang="zh-CN" altLang="en-US" dirty="0" smtClean="0"/>
              <a:t> </a:t>
            </a:r>
            <a:r>
              <a:rPr lang="en-US" altLang="zh-CN" i="1" dirty="0" smtClean="0"/>
              <a:t>-</a:t>
            </a:r>
            <a:r>
              <a:rPr lang="zh-CN" altLang="en-US" dirty="0" smtClean="0"/>
              <a:t>记号（非紧下界记号）</a:t>
            </a:r>
            <a:endParaRPr lang="en-US" altLang="zh-CN" dirty="0" smtClean="0"/>
          </a:p>
        </p:txBody>
      </p:sp>
      <p:sp>
        <p:nvSpPr>
          <p:cNvPr id="205827" name="Rectangle 3"/>
          <p:cNvSpPr>
            <a:spLocks noGrp="1" noChangeArrowheads="1"/>
          </p:cNvSpPr>
          <p:nvPr>
            <p:ph type="body" idx="1"/>
          </p:nvPr>
        </p:nvSpPr>
        <p:spPr/>
        <p:txBody>
          <a:bodyPr/>
          <a:lstStyle/>
          <a:p>
            <a:pPr eaLnBrk="1" hangingPunct="1">
              <a:defRPr/>
            </a:pPr>
            <a:r>
              <a:rPr lang="zh-CN" altLang="en-US" dirty="0" smtClean="0"/>
              <a:t>定义</a:t>
            </a:r>
            <a:r>
              <a:rPr lang="en-US" altLang="zh-CN" dirty="0" smtClean="0"/>
              <a:t> 1.5</a:t>
            </a:r>
            <a:endParaRPr lang="en-US" altLang="zh-CN" dirty="0" smtClean="0"/>
          </a:p>
          <a:p>
            <a:pPr>
              <a:defRPr/>
            </a:pPr>
            <a:r>
              <a:rPr lang="zh-CN" altLang="en-US" sz="2200" dirty="0" smtClean="0">
                <a:sym typeface="Symbol" panose="05050102010706020507" pitchFamily="18" charset="2"/>
              </a:rPr>
              <a:t>对于任意给定的</a:t>
            </a:r>
            <a:r>
              <a:rPr lang="en-US" altLang="zh-CN" sz="2200" dirty="0" smtClean="0">
                <a:sym typeface="Symbol" panose="05050102010706020507" pitchFamily="18" charset="2"/>
              </a:rPr>
              <a:t>c＞0，</a:t>
            </a:r>
            <a:r>
              <a:rPr lang="zh-CN" altLang="en-US" sz="2200" dirty="0" smtClean="0">
                <a:sym typeface="Symbol" panose="05050102010706020507" pitchFamily="18" charset="2"/>
              </a:rPr>
              <a:t>都存在正整数</a:t>
            </a:r>
            <a:r>
              <a:rPr lang="en-US" altLang="zh-CN" sz="2200" dirty="0" smtClean="0">
                <a:sym typeface="Symbol" panose="05050102010706020507" pitchFamily="18" charset="2"/>
              </a:rPr>
              <a:t>n0 ，</a:t>
            </a:r>
            <a:r>
              <a:rPr lang="zh-CN" altLang="en-US" sz="2200" dirty="0" smtClean="0">
                <a:sym typeface="Symbol" panose="05050102010706020507" pitchFamily="18" charset="2"/>
              </a:rPr>
              <a:t>使得当</a:t>
            </a:r>
            <a:r>
              <a:rPr lang="en-US" altLang="zh-CN" sz="2200" dirty="0" smtClean="0">
                <a:sym typeface="Symbol" panose="05050102010706020507" pitchFamily="18" charset="2"/>
              </a:rPr>
              <a:t>nn0</a:t>
            </a:r>
            <a:r>
              <a:rPr lang="zh-CN" altLang="en-US" sz="2200" dirty="0" smtClean="0">
                <a:sym typeface="Symbol" panose="05050102010706020507" pitchFamily="18" charset="2"/>
              </a:rPr>
              <a:t>时有</a:t>
            </a:r>
            <a:r>
              <a:rPr lang="en-US" altLang="zh-CN" sz="2200" dirty="0" smtClean="0">
                <a:sym typeface="Symbol" panose="05050102010706020507" pitchFamily="18" charset="2"/>
              </a:rPr>
              <a:t>f(n)&gt;cg(n)</a:t>
            </a:r>
            <a:r>
              <a:rPr lang="zh-CN" altLang="en-US" sz="2200" dirty="0" smtClean="0">
                <a:sym typeface="Symbol" panose="05050102010706020507" pitchFamily="18" charset="2"/>
              </a:rPr>
              <a:t>，则称函数</a:t>
            </a:r>
            <a:r>
              <a:rPr lang="en-US" altLang="zh-CN" sz="2200" dirty="0" smtClean="0">
                <a:sym typeface="Symbol" panose="05050102010706020507" pitchFamily="18" charset="2"/>
              </a:rPr>
              <a:t>f(n)</a:t>
            </a:r>
            <a:r>
              <a:rPr lang="zh-CN" altLang="en-US" sz="2200" dirty="0" smtClean="0">
                <a:sym typeface="Symbol" panose="05050102010706020507" pitchFamily="18" charset="2"/>
              </a:rPr>
              <a:t>当</a:t>
            </a:r>
            <a:r>
              <a:rPr lang="en-US" altLang="zh-CN" sz="2200" dirty="0" smtClean="0">
                <a:sym typeface="Symbol" panose="05050102010706020507" pitchFamily="18" charset="2"/>
              </a:rPr>
              <a:t>n</a:t>
            </a:r>
            <a:r>
              <a:rPr lang="zh-CN" altLang="en-US" sz="2200" dirty="0" smtClean="0">
                <a:sym typeface="Symbol" panose="05050102010706020507" pitchFamily="18" charset="2"/>
              </a:rPr>
              <a:t>充分大时的</a:t>
            </a:r>
            <a:r>
              <a:rPr lang="zh-CN" altLang="en-US" sz="2200" dirty="0" smtClean="0">
                <a:solidFill>
                  <a:srgbClr val="FF0000"/>
                </a:solidFill>
                <a:sym typeface="Symbol" panose="05050102010706020507" pitchFamily="18" charset="2"/>
              </a:rPr>
              <a:t>阶比</a:t>
            </a:r>
            <a:r>
              <a:rPr lang="en-US" altLang="zh-CN" sz="2200" dirty="0" smtClean="0">
                <a:solidFill>
                  <a:srgbClr val="FF0000"/>
                </a:solidFill>
                <a:sym typeface="Symbol" panose="05050102010706020507" pitchFamily="18" charset="2"/>
              </a:rPr>
              <a:t>g(n)</a:t>
            </a:r>
            <a:r>
              <a:rPr lang="zh-CN" altLang="en-US" sz="2200" dirty="0" smtClean="0">
                <a:solidFill>
                  <a:srgbClr val="FF0000"/>
                </a:solidFill>
                <a:sym typeface="Symbol" panose="05050102010706020507" pitchFamily="18" charset="2"/>
              </a:rPr>
              <a:t>高</a:t>
            </a:r>
            <a:r>
              <a:rPr lang="zh-CN" altLang="en-US" sz="2200" dirty="0" smtClean="0">
                <a:sym typeface="Symbol" panose="05050102010706020507" pitchFamily="18" charset="2"/>
              </a:rPr>
              <a:t>，记为</a:t>
            </a:r>
            <a:r>
              <a:rPr lang="en-US" altLang="zh-CN" sz="2200" dirty="0" smtClean="0">
                <a:sym typeface="Symbol" panose="05050102010706020507" pitchFamily="18" charset="2"/>
              </a:rPr>
              <a:t>f(n)=</a:t>
            </a:r>
            <a:r>
              <a:rPr lang="zh-CN" altLang="en-US" sz="2400" i="1" dirty="0" smtClean="0">
                <a:sym typeface="Symbol" panose="05050102010706020507" pitchFamily="18" charset="2"/>
              </a:rPr>
              <a:t> </a:t>
            </a:r>
            <a:r>
              <a:rPr lang="en-US" altLang="zh-CN" sz="2200" dirty="0" smtClean="0">
                <a:sym typeface="Symbol" panose="05050102010706020507" pitchFamily="18" charset="2"/>
              </a:rPr>
              <a:t>(g(n)</a:t>
            </a:r>
            <a:r>
              <a:rPr lang="zh-CN" altLang="en-US" sz="2200" dirty="0" smtClean="0">
                <a:sym typeface="Symbol" panose="05050102010706020507" pitchFamily="18" charset="2"/>
              </a:rPr>
              <a:t>。</a:t>
            </a:r>
            <a:endParaRPr lang="zh-CN" altLang="en-US" sz="2200" dirty="0" smtClean="0">
              <a:sym typeface="Symbol" panose="05050102010706020507" pitchFamily="18" charset="2"/>
            </a:endParaRPr>
          </a:p>
          <a:p>
            <a:pPr lvl="1" eaLnBrk="1" hangingPunct="1">
              <a:defRPr/>
            </a:pPr>
            <a:r>
              <a:rPr lang="zh-CN" altLang="en-US" dirty="0" smtClean="0">
                <a:latin typeface="+mn-lt"/>
                <a:ea typeface="+mn-ea"/>
                <a:cs typeface="+mn-cs"/>
                <a:sym typeface="Symbol" panose="05050102010706020507" pitchFamily="18" charset="2"/>
              </a:rPr>
              <a:t>也就是说，当</a:t>
            </a:r>
            <a:r>
              <a:rPr lang="en-US" altLang="zh-CN" dirty="0" smtClean="0">
                <a:latin typeface="+mn-lt"/>
                <a:ea typeface="+mn-ea"/>
                <a:cs typeface="+mn-cs"/>
                <a:sym typeface="Symbol" panose="05050102010706020507" pitchFamily="18" charset="2"/>
              </a:rPr>
              <a:t> </a:t>
            </a:r>
            <a:r>
              <a:rPr lang="en-US" altLang="zh-CN" sz="2000" i="1" dirty="0" err="1" smtClean="0">
                <a:latin typeface="+mn-lt"/>
                <a:sym typeface="Symbol" panose="05050102010706020507" pitchFamily="18" charset="2"/>
              </a:rPr>
              <a:t>lim</a:t>
            </a:r>
            <a:r>
              <a:rPr lang="en-US" altLang="zh-CN" sz="2000" i="1" dirty="0" smtClean="0">
                <a:latin typeface="+mn-lt"/>
                <a:sym typeface="Symbol" panose="05050102010706020507" pitchFamily="18" charset="2"/>
              </a:rPr>
              <a:t> </a:t>
            </a:r>
            <a:r>
              <a:rPr lang="en-US" altLang="zh-CN" sz="2000" i="1" baseline="-25000" dirty="0" smtClean="0">
                <a:latin typeface="+mn-lt"/>
                <a:sym typeface="Symbol" panose="05050102010706020507" pitchFamily="18" charset="2"/>
              </a:rPr>
              <a:t>n </a:t>
            </a:r>
            <a:r>
              <a:rPr lang="en-US" altLang="zh-CN" sz="2000" i="1" dirty="0" smtClean="0">
                <a:latin typeface="+mn-lt"/>
                <a:sym typeface="Symbol" panose="05050102010706020507" pitchFamily="18" charset="2"/>
              </a:rPr>
              <a:t>f (n) /g (n)</a:t>
            </a:r>
            <a:r>
              <a:rPr lang="zh-CN" altLang="en-US" dirty="0" smtClean="0">
                <a:latin typeface="+mn-lt"/>
                <a:ea typeface="+mn-ea"/>
                <a:cs typeface="+mn-cs"/>
                <a:sym typeface="Symbol" panose="05050102010706020507" pitchFamily="18" charset="2"/>
              </a:rPr>
              <a:t>存在</a:t>
            </a:r>
            <a:r>
              <a:rPr lang="en-US" altLang="zh-CN" dirty="0" smtClean="0">
                <a:latin typeface="+mn-lt"/>
                <a:ea typeface="+mn-ea"/>
                <a:cs typeface="+mn-cs"/>
                <a:sym typeface="Symbol" panose="05050102010706020507" pitchFamily="18" charset="2"/>
              </a:rPr>
              <a:t> </a:t>
            </a:r>
            <a:r>
              <a:rPr lang="zh-CN" altLang="en-US" dirty="0" smtClean="0">
                <a:latin typeface="+mn-lt"/>
                <a:ea typeface="+mn-ea"/>
                <a:cs typeface="+mn-cs"/>
                <a:sym typeface="Symbol" panose="05050102010706020507" pitchFamily="18" charset="2"/>
              </a:rPr>
              <a:t>，并且</a:t>
            </a:r>
            <a:endParaRPr lang="en-US" altLang="zh-CN" dirty="0" smtClean="0">
              <a:latin typeface="+mn-lt"/>
              <a:ea typeface="+mn-ea"/>
              <a:cs typeface="+mn-cs"/>
              <a:sym typeface="Symbol" panose="05050102010706020507" pitchFamily="18" charset="2"/>
            </a:endParaRPr>
          </a:p>
          <a:p>
            <a:pPr eaLnBrk="1" hangingPunct="1">
              <a:buFontTx/>
              <a:buNone/>
              <a:defRPr/>
            </a:pPr>
            <a:r>
              <a:rPr lang="en-US" altLang="zh-CN" sz="2200" dirty="0" smtClean="0">
                <a:sym typeface="Symbol" panose="05050102010706020507" pitchFamily="18" charset="2"/>
              </a:rPr>
              <a:t>                     </a:t>
            </a:r>
            <a:r>
              <a:rPr lang="en-US" altLang="zh-CN" sz="2200" i="1" dirty="0" err="1" smtClean="0">
                <a:sym typeface="Symbol" panose="05050102010706020507" pitchFamily="18" charset="2"/>
              </a:rPr>
              <a:t>lim</a:t>
            </a:r>
            <a:r>
              <a:rPr lang="en-US" altLang="zh-CN" sz="2200" i="1" dirty="0" smtClean="0">
                <a:sym typeface="Symbol" panose="05050102010706020507" pitchFamily="18" charset="2"/>
              </a:rPr>
              <a:t> </a:t>
            </a:r>
            <a:r>
              <a:rPr lang="en-US" altLang="zh-CN" sz="2200" i="1" baseline="-25000" dirty="0" smtClean="0">
                <a:sym typeface="Symbol" panose="05050102010706020507" pitchFamily="18" charset="2"/>
              </a:rPr>
              <a:t>n </a:t>
            </a:r>
            <a:r>
              <a:rPr lang="en-US" altLang="zh-CN" sz="2200" i="1" dirty="0" smtClean="0">
                <a:sym typeface="Symbol" panose="05050102010706020507" pitchFamily="18" charset="2"/>
              </a:rPr>
              <a:t>f (n) /g (n) </a:t>
            </a:r>
            <a:r>
              <a:rPr lang="en-US" altLang="zh-CN" sz="2200" dirty="0" smtClean="0">
                <a:sym typeface="Symbol" panose="05050102010706020507" pitchFamily="18" charset="2"/>
              </a:rPr>
              <a:t></a:t>
            </a:r>
            <a:r>
              <a:rPr lang="zh-CN" altLang="en-US" sz="2200" dirty="0" smtClean="0">
                <a:sym typeface="Symbol" panose="05050102010706020507" pitchFamily="18" charset="2"/>
              </a:rPr>
              <a:t>则</a:t>
            </a:r>
            <a:r>
              <a:rPr lang="en-US" altLang="zh-CN" sz="2200" dirty="0" smtClean="0">
                <a:sym typeface="Symbol" panose="05050102010706020507" pitchFamily="18" charset="2"/>
              </a:rPr>
              <a:t>f(n)=</a:t>
            </a:r>
            <a:r>
              <a:rPr lang="zh-CN" altLang="en-US" sz="2200" i="1" dirty="0" smtClean="0">
                <a:sym typeface="Symbol" panose="05050102010706020507" pitchFamily="18" charset="2"/>
              </a:rPr>
              <a:t> </a:t>
            </a:r>
            <a:r>
              <a:rPr lang="zh-CN" altLang="en-US" sz="2200" dirty="0" smtClean="0"/>
              <a:t> </a:t>
            </a:r>
            <a:r>
              <a:rPr lang="en-US" altLang="zh-CN" sz="2200" dirty="0" smtClean="0">
                <a:sym typeface="Symbol" panose="05050102010706020507" pitchFamily="18" charset="2"/>
              </a:rPr>
              <a:t>(g(n))</a:t>
            </a:r>
            <a:endParaRPr lang="en-US" altLang="zh-CN" sz="2200" dirty="0" smtClean="0">
              <a:sym typeface="Symbol" panose="05050102010706020507" pitchFamily="18" charset="2"/>
            </a:endParaRPr>
          </a:p>
          <a:p>
            <a:pPr eaLnBrk="1" hangingPunct="1">
              <a:buFontTx/>
              <a:buNone/>
              <a:defRPr/>
            </a:pPr>
            <a:endParaRPr lang="en-US" altLang="zh-CN" sz="1800" dirty="0" smtClean="0">
              <a:sym typeface="Symbol" panose="05050102010706020507" pitchFamily="18" charset="2"/>
            </a:endParaRPr>
          </a:p>
        </p:txBody>
      </p:sp>
      <p:pic>
        <p:nvPicPr>
          <p:cNvPr id="75781" name="Picture 4" descr="def"/>
          <p:cNvPicPr>
            <a:picLocks noChangeAspect="1" noChangeArrowheads="1" noCrop="1"/>
          </p:cNvPicPr>
          <p:nvPr/>
        </p:nvPicPr>
        <p:blipFill>
          <a:blip r:embed="rId1">
            <a:extLst>
              <a:ext uri="{28A0092B-C50C-407E-A947-70E740481C1C}">
                <a14:useLocalDpi xmlns:a14="http://schemas.microsoft.com/office/drawing/2010/main" val="0"/>
              </a:ext>
            </a:extLst>
          </a:blip>
          <a:srcRect/>
          <a:stretch>
            <a:fillRect/>
          </a:stretch>
        </p:blipFill>
        <p:spPr bwMode="auto">
          <a:xfrm>
            <a:off x="852488" y="1300163"/>
            <a:ext cx="504825" cy="349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76803" name="Rectangle 2"/>
          <p:cNvSpPr>
            <a:spLocks noGrp="1" noChangeArrowheads="1"/>
          </p:cNvSpPr>
          <p:nvPr>
            <p:ph type="title"/>
          </p:nvPr>
        </p:nvSpPr>
        <p:spPr/>
        <p:txBody>
          <a:bodyPr/>
          <a:lstStyle/>
          <a:p>
            <a:pPr eaLnBrk="1" hangingPunct="1"/>
            <a:r>
              <a:rPr lang="zh-CN" altLang="en-US" dirty="0" smtClean="0"/>
              <a:t>渐近记号在等式和不等式中的意义</a:t>
            </a:r>
            <a:endParaRPr lang="en-US" altLang="zh-CN" dirty="0" smtClean="0"/>
          </a:p>
        </p:txBody>
      </p:sp>
      <p:sp>
        <p:nvSpPr>
          <p:cNvPr id="76804" name="Rectangle 3"/>
          <p:cNvSpPr>
            <a:spLocks noGrp="1" noChangeArrowheads="1"/>
          </p:cNvSpPr>
          <p:nvPr>
            <p:ph type="body" idx="1"/>
          </p:nvPr>
        </p:nvSpPr>
        <p:spPr/>
        <p:txBody>
          <a:bodyPr/>
          <a:lstStyle/>
          <a:p>
            <a:pPr>
              <a:spcBef>
                <a:spcPct val="0"/>
              </a:spcBef>
            </a:pPr>
            <a:r>
              <a:rPr lang="en-US" altLang="zh-CN" sz="2400" i="1" smtClean="0"/>
              <a:t>f</a:t>
            </a:r>
            <a:r>
              <a:rPr lang="en-US" altLang="zh-CN" sz="2400" smtClean="0"/>
              <a:t>(</a:t>
            </a:r>
            <a:r>
              <a:rPr lang="en-US" altLang="zh-CN" sz="2400" i="1" smtClean="0"/>
              <a:t>n</a:t>
            </a:r>
            <a:r>
              <a:rPr lang="en-US" altLang="zh-CN" sz="2400" smtClean="0"/>
              <a:t>)= </a:t>
            </a:r>
            <a:r>
              <a:rPr lang="en-US" altLang="zh-CN" sz="2400" smtClean="0">
                <a:sym typeface="Symbol" panose="05050102010706020507" pitchFamily="18" charset="2"/>
              </a:rPr>
              <a:t></a:t>
            </a:r>
            <a:r>
              <a:rPr lang="en-US" altLang="zh-CN" sz="2400" smtClean="0"/>
              <a:t>(</a:t>
            </a:r>
            <a:r>
              <a:rPr lang="en-US" altLang="zh-CN" sz="2400" i="1" smtClean="0"/>
              <a:t>g</a:t>
            </a:r>
            <a:r>
              <a:rPr lang="en-US" altLang="zh-CN" sz="2400" smtClean="0"/>
              <a:t>(</a:t>
            </a:r>
            <a:r>
              <a:rPr lang="en-US" altLang="zh-CN" sz="2400" i="1" smtClean="0"/>
              <a:t>n</a:t>
            </a:r>
            <a:r>
              <a:rPr lang="en-US" altLang="zh-CN" sz="2400" smtClean="0"/>
              <a:t>))</a:t>
            </a:r>
            <a:r>
              <a:rPr lang="zh-CN" altLang="en-US" sz="2400" smtClean="0"/>
              <a:t>的确切意义是：</a:t>
            </a:r>
            <a:r>
              <a:rPr lang="en-US" altLang="zh-CN" sz="2400" i="1" smtClean="0"/>
              <a:t>f</a:t>
            </a:r>
            <a:r>
              <a:rPr lang="en-US" altLang="zh-CN" sz="2400" smtClean="0"/>
              <a:t>(</a:t>
            </a:r>
            <a:r>
              <a:rPr lang="en-US" altLang="zh-CN" sz="2400" i="1" smtClean="0"/>
              <a:t>n</a:t>
            </a:r>
            <a:r>
              <a:rPr lang="en-US" altLang="zh-CN" sz="2400" smtClean="0"/>
              <a:t>) </a:t>
            </a:r>
            <a:r>
              <a:rPr lang="en-US" altLang="zh-CN" sz="2400" smtClean="0">
                <a:sym typeface="Symbol" panose="05050102010706020507" pitchFamily="18" charset="2"/>
              </a:rPr>
              <a:t></a:t>
            </a:r>
            <a:r>
              <a:rPr lang="en-US" altLang="zh-CN" sz="2400" smtClean="0"/>
              <a:t> </a:t>
            </a:r>
            <a:r>
              <a:rPr lang="en-US" altLang="zh-CN" sz="2400" smtClean="0">
                <a:sym typeface="Symbol" panose="05050102010706020507" pitchFamily="18" charset="2"/>
              </a:rPr>
              <a:t></a:t>
            </a:r>
            <a:r>
              <a:rPr lang="en-US" altLang="zh-CN" sz="2400" smtClean="0"/>
              <a:t>(</a:t>
            </a:r>
            <a:r>
              <a:rPr lang="en-US" altLang="zh-CN" sz="2400" i="1" smtClean="0"/>
              <a:t>g</a:t>
            </a:r>
            <a:r>
              <a:rPr lang="en-US" altLang="zh-CN" sz="2400" smtClean="0"/>
              <a:t>(</a:t>
            </a:r>
            <a:r>
              <a:rPr lang="en-US" altLang="zh-CN" sz="2400" i="1" smtClean="0"/>
              <a:t>n</a:t>
            </a:r>
            <a:r>
              <a:rPr lang="en-US" altLang="zh-CN" sz="2400" smtClean="0"/>
              <a:t>))</a:t>
            </a:r>
            <a:r>
              <a:rPr lang="zh-CN" altLang="en-US" sz="2400" smtClean="0"/>
              <a:t>。</a:t>
            </a:r>
            <a:endParaRPr lang="en-US" altLang="zh-CN" sz="2400" smtClean="0"/>
          </a:p>
          <a:p>
            <a:pPr>
              <a:spcBef>
                <a:spcPct val="0"/>
              </a:spcBef>
            </a:pPr>
            <a:endParaRPr lang="zh-CN" altLang="en-US" sz="2400" smtClean="0"/>
          </a:p>
          <a:p>
            <a:pPr>
              <a:spcBef>
                <a:spcPct val="0"/>
              </a:spcBef>
            </a:pPr>
            <a:r>
              <a:rPr lang="zh-CN" altLang="en-US" sz="2400" smtClean="0"/>
              <a:t>一般情况下，等式和不等式中的渐近记号</a:t>
            </a:r>
            <a:r>
              <a:rPr lang="zh-CN" altLang="en-US" sz="2400" smtClean="0">
                <a:sym typeface="Symbol" panose="05050102010706020507" pitchFamily="18" charset="2"/>
              </a:rPr>
              <a:t></a:t>
            </a:r>
            <a:r>
              <a:rPr lang="en-US" altLang="zh-CN" sz="2400" smtClean="0"/>
              <a:t>(</a:t>
            </a:r>
            <a:r>
              <a:rPr lang="en-US" altLang="zh-CN" sz="2400" i="1" smtClean="0"/>
              <a:t>g</a:t>
            </a:r>
            <a:r>
              <a:rPr lang="en-US" altLang="zh-CN" sz="2400" smtClean="0"/>
              <a:t>(</a:t>
            </a:r>
            <a:r>
              <a:rPr lang="en-US" altLang="zh-CN" sz="2400" i="1" smtClean="0"/>
              <a:t>n</a:t>
            </a:r>
            <a:r>
              <a:rPr lang="en-US" altLang="zh-CN" sz="2400" smtClean="0"/>
              <a:t>))</a:t>
            </a:r>
            <a:r>
              <a:rPr lang="zh-CN" altLang="en-US" sz="2400" smtClean="0"/>
              <a:t>表示</a:t>
            </a:r>
            <a:r>
              <a:rPr lang="zh-CN" altLang="en-US" sz="2400" smtClean="0">
                <a:sym typeface="Symbol" panose="05050102010706020507" pitchFamily="18" charset="2"/>
              </a:rPr>
              <a:t></a:t>
            </a:r>
            <a:r>
              <a:rPr lang="en-US" altLang="zh-CN" sz="2400" smtClean="0"/>
              <a:t>(</a:t>
            </a:r>
            <a:r>
              <a:rPr lang="en-US" altLang="zh-CN" sz="2400" i="1" smtClean="0"/>
              <a:t>g</a:t>
            </a:r>
            <a:r>
              <a:rPr lang="en-US" altLang="zh-CN" sz="2400" smtClean="0"/>
              <a:t>(</a:t>
            </a:r>
            <a:r>
              <a:rPr lang="en-US" altLang="zh-CN" sz="2400" i="1" smtClean="0"/>
              <a:t>n</a:t>
            </a:r>
            <a:r>
              <a:rPr lang="en-US" altLang="zh-CN" sz="2400" smtClean="0"/>
              <a:t>))</a:t>
            </a:r>
            <a:r>
              <a:rPr lang="zh-CN" altLang="en-US" sz="2400" smtClean="0"/>
              <a:t>中的某个函数。</a:t>
            </a:r>
            <a:endParaRPr lang="zh-CN" altLang="en-US" sz="2400" smtClean="0"/>
          </a:p>
          <a:p>
            <a:pPr>
              <a:spcBef>
                <a:spcPct val="0"/>
              </a:spcBef>
              <a:buFontTx/>
              <a:buNone/>
            </a:pPr>
            <a:r>
              <a:rPr lang="zh-CN" altLang="en-US" sz="2400" smtClean="0"/>
              <a:t>     例如：</a:t>
            </a:r>
            <a:endParaRPr lang="en-US" altLang="zh-CN" sz="2400" smtClean="0"/>
          </a:p>
          <a:p>
            <a:pPr>
              <a:spcBef>
                <a:spcPct val="0"/>
              </a:spcBef>
              <a:buFontTx/>
              <a:buNone/>
            </a:pPr>
            <a:r>
              <a:rPr lang="en-US" altLang="zh-CN" sz="2400" smtClean="0"/>
              <a:t>     2</a:t>
            </a:r>
            <a:r>
              <a:rPr lang="en-US" altLang="zh-CN" sz="2400" i="1" smtClean="0"/>
              <a:t>n</a:t>
            </a:r>
            <a:r>
              <a:rPr lang="en-US" altLang="zh-CN" sz="2400" baseline="30000" smtClean="0"/>
              <a:t>2 </a:t>
            </a:r>
            <a:r>
              <a:rPr lang="en-US" altLang="zh-CN" sz="2400" smtClean="0"/>
              <a:t>+ 3</a:t>
            </a:r>
            <a:r>
              <a:rPr lang="en-US" altLang="zh-CN" sz="2400" i="1" smtClean="0"/>
              <a:t>n </a:t>
            </a:r>
            <a:r>
              <a:rPr lang="en-US" altLang="zh-CN" sz="2400" smtClean="0"/>
              <a:t>+ 1 = 2</a:t>
            </a:r>
            <a:r>
              <a:rPr lang="en-US" altLang="zh-CN" sz="2400" i="1" smtClean="0"/>
              <a:t>n</a:t>
            </a:r>
            <a:r>
              <a:rPr lang="en-US" altLang="zh-CN" sz="2400" baseline="30000" smtClean="0"/>
              <a:t>2 </a:t>
            </a:r>
            <a:r>
              <a:rPr lang="en-US" altLang="zh-CN" sz="2400" smtClean="0"/>
              <a:t>+ </a:t>
            </a:r>
            <a:r>
              <a:rPr lang="en-US" altLang="zh-CN" sz="2400" smtClean="0">
                <a:sym typeface="Symbol" panose="05050102010706020507" pitchFamily="18" charset="2"/>
              </a:rPr>
              <a:t></a:t>
            </a:r>
            <a:r>
              <a:rPr lang="en-US" altLang="zh-CN" sz="2400" smtClean="0"/>
              <a:t>(</a:t>
            </a:r>
            <a:r>
              <a:rPr lang="en-US" altLang="zh-CN" sz="2400" i="1" smtClean="0"/>
              <a:t>n</a:t>
            </a:r>
            <a:r>
              <a:rPr lang="en-US" altLang="zh-CN" sz="2400" smtClean="0"/>
              <a:t>) </a:t>
            </a:r>
            <a:r>
              <a:rPr lang="zh-CN" altLang="en-US" sz="2400" smtClean="0"/>
              <a:t>表示</a:t>
            </a:r>
            <a:endParaRPr lang="zh-CN" altLang="en-US" sz="2400" smtClean="0"/>
          </a:p>
          <a:p>
            <a:pPr>
              <a:spcBef>
                <a:spcPct val="0"/>
              </a:spcBef>
              <a:buFontTx/>
              <a:buNone/>
            </a:pPr>
            <a:r>
              <a:rPr lang="zh-CN" altLang="en-US" sz="2400" smtClean="0"/>
              <a:t>     </a:t>
            </a:r>
            <a:r>
              <a:rPr lang="en-US" altLang="zh-CN" sz="2400" smtClean="0"/>
              <a:t>2</a:t>
            </a:r>
            <a:r>
              <a:rPr lang="en-US" altLang="zh-CN" sz="2400" i="1" smtClean="0"/>
              <a:t>n</a:t>
            </a:r>
            <a:r>
              <a:rPr lang="en-US" altLang="zh-CN" sz="2400" baseline="30000" smtClean="0"/>
              <a:t>2 </a:t>
            </a:r>
            <a:r>
              <a:rPr lang="en-US" altLang="zh-CN" sz="2400" smtClean="0"/>
              <a:t>+3</a:t>
            </a:r>
            <a:r>
              <a:rPr lang="en-US" altLang="zh-CN" sz="2400" i="1" smtClean="0"/>
              <a:t>n </a:t>
            </a:r>
            <a:r>
              <a:rPr lang="en-US" altLang="zh-CN" sz="2400" smtClean="0"/>
              <a:t>+1=2</a:t>
            </a:r>
            <a:r>
              <a:rPr lang="en-US" altLang="zh-CN" sz="2400" i="1" smtClean="0"/>
              <a:t>n</a:t>
            </a:r>
            <a:r>
              <a:rPr lang="en-US" altLang="zh-CN" sz="2400" baseline="30000" smtClean="0"/>
              <a:t>2 </a:t>
            </a:r>
            <a:r>
              <a:rPr lang="en-US" altLang="zh-CN" sz="2400" smtClean="0"/>
              <a:t>+ </a:t>
            </a:r>
            <a:r>
              <a:rPr lang="en-US" altLang="zh-CN" sz="2400" i="1" smtClean="0"/>
              <a:t>f</a:t>
            </a:r>
            <a:r>
              <a:rPr lang="en-US" altLang="zh-CN" sz="2400" smtClean="0"/>
              <a:t>(</a:t>
            </a:r>
            <a:r>
              <a:rPr lang="en-US" altLang="zh-CN" sz="2400" i="1" smtClean="0"/>
              <a:t>n</a:t>
            </a:r>
            <a:r>
              <a:rPr lang="en-US" altLang="zh-CN" sz="2400" smtClean="0"/>
              <a:t>)</a:t>
            </a:r>
            <a:r>
              <a:rPr lang="zh-CN" altLang="en-US" sz="2400" smtClean="0"/>
              <a:t>，其中</a:t>
            </a:r>
            <a:r>
              <a:rPr lang="en-US" altLang="zh-CN" sz="2400" i="1" smtClean="0"/>
              <a:t>f</a:t>
            </a:r>
            <a:r>
              <a:rPr lang="en-US" altLang="zh-CN" sz="2400" smtClean="0"/>
              <a:t>(</a:t>
            </a:r>
            <a:r>
              <a:rPr lang="en-US" altLang="zh-CN" sz="2400" i="1" smtClean="0"/>
              <a:t>n</a:t>
            </a:r>
            <a:r>
              <a:rPr lang="en-US" altLang="zh-CN" sz="2400" smtClean="0"/>
              <a:t>) </a:t>
            </a:r>
            <a:r>
              <a:rPr lang="zh-CN" altLang="en-US" sz="2400" smtClean="0"/>
              <a:t>是</a:t>
            </a:r>
            <a:r>
              <a:rPr lang="zh-CN" altLang="en-US" sz="2400" smtClean="0">
                <a:sym typeface="Symbol" panose="05050102010706020507" pitchFamily="18" charset="2"/>
              </a:rPr>
              <a:t></a:t>
            </a:r>
            <a:r>
              <a:rPr lang="en-US" altLang="zh-CN" sz="2400" smtClean="0"/>
              <a:t>(</a:t>
            </a:r>
            <a:r>
              <a:rPr lang="en-US" altLang="zh-CN" sz="2400" i="1" smtClean="0"/>
              <a:t>n</a:t>
            </a:r>
            <a:r>
              <a:rPr lang="en-US" altLang="zh-CN" sz="2400" smtClean="0"/>
              <a:t>)</a:t>
            </a:r>
            <a:r>
              <a:rPr lang="zh-CN" altLang="en-US" sz="2400" smtClean="0"/>
              <a:t>中某个函数。</a:t>
            </a:r>
            <a:endParaRPr lang="en-US" altLang="zh-CN" sz="2400" smtClean="0"/>
          </a:p>
          <a:p>
            <a:pPr>
              <a:spcBef>
                <a:spcPct val="0"/>
              </a:spcBef>
              <a:buFontTx/>
              <a:buNone/>
            </a:pPr>
            <a:endParaRPr lang="zh-CN" altLang="en-US" sz="2400" smtClean="0"/>
          </a:p>
          <a:p>
            <a:pPr>
              <a:spcBef>
                <a:spcPct val="0"/>
              </a:spcBef>
            </a:pPr>
            <a:r>
              <a:rPr lang="zh-CN" altLang="en-US" sz="2400" smtClean="0"/>
              <a:t>等式和不等式中渐近记号</a:t>
            </a:r>
            <a:r>
              <a:rPr lang="en-US" altLang="zh-CN" sz="2400" i="1" smtClean="0"/>
              <a:t>Oo</a:t>
            </a:r>
            <a:r>
              <a:rPr lang="en-US" altLang="zh-CN" sz="2400" smtClean="0"/>
              <a:t>, </a:t>
            </a:r>
            <a:r>
              <a:rPr lang="en-US" altLang="zh-CN" sz="2400" smtClean="0">
                <a:sym typeface="Symbol" panose="05050102010706020507" pitchFamily="18" charset="2"/>
              </a:rPr>
              <a:t></a:t>
            </a:r>
            <a:r>
              <a:rPr lang="zh-CN" altLang="en-US" sz="2400" smtClean="0">
                <a:sym typeface="Symbol" panose="05050102010706020507" pitchFamily="18" charset="2"/>
              </a:rPr>
              <a:t>和</a:t>
            </a:r>
            <a:r>
              <a:rPr lang="zh-CN" altLang="en-US" sz="2400" i="1" smtClean="0">
                <a:sym typeface="Symbol" panose="05050102010706020507" pitchFamily="18" charset="2"/>
              </a:rPr>
              <a:t></a:t>
            </a:r>
            <a:r>
              <a:rPr lang="zh-CN" altLang="en-US" sz="2400" smtClean="0">
                <a:sym typeface="Symbol" panose="05050102010706020507" pitchFamily="18" charset="2"/>
              </a:rPr>
              <a:t>的意义是类似的。</a:t>
            </a:r>
            <a:endParaRPr lang="zh-CN" altLang="en-US" sz="2400" smtClean="0">
              <a:sym typeface="Symbol" panose="05050102010706020507" pitchFamily="18" charset="2"/>
            </a:endParaRPr>
          </a:p>
          <a:p>
            <a:pPr eaLnBrk="1" hangingPunct="1">
              <a:buFontTx/>
              <a:buNone/>
            </a:pPr>
            <a:endParaRPr lang="en-US" altLang="zh-CN" sz="1800" smtClean="0">
              <a:sym typeface="Symbol" panose="05050102010706020507" pitchFamily="18" charset="2"/>
            </a:endParaRPr>
          </a:p>
        </p:txBody>
      </p:sp>
    </p:spTree>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77827" name="Rectangle 2"/>
          <p:cNvSpPr>
            <a:spLocks noGrp="1" noChangeArrowheads="1"/>
          </p:cNvSpPr>
          <p:nvPr>
            <p:ph type="title"/>
          </p:nvPr>
        </p:nvSpPr>
        <p:spPr/>
        <p:txBody>
          <a:bodyPr/>
          <a:lstStyle/>
          <a:p>
            <a:pPr eaLnBrk="1" hangingPunct="1"/>
            <a:r>
              <a:rPr lang="zh-CN" altLang="en-US" smtClean="0"/>
              <a:t>渐近记号的若干性质</a:t>
            </a:r>
            <a:endParaRPr lang="en-US" altLang="zh-CN" smtClean="0"/>
          </a:p>
        </p:txBody>
      </p:sp>
      <p:sp>
        <p:nvSpPr>
          <p:cNvPr id="77828" name="Rectangle 3"/>
          <p:cNvSpPr>
            <a:spLocks noGrp="1" noChangeArrowheads="1"/>
          </p:cNvSpPr>
          <p:nvPr>
            <p:ph type="body" idx="1"/>
          </p:nvPr>
        </p:nvSpPr>
        <p:spPr/>
        <p:txBody>
          <a:bodyPr/>
          <a:lstStyle/>
          <a:p>
            <a:pPr>
              <a:spcBef>
                <a:spcPts val="600"/>
              </a:spcBef>
            </a:pPr>
            <a:r>
              <a:rPr lang="zh-CN" altLang="en-US" sz="2800" b="1" smtClean="0">
                <a:solidFill>
                  <a:srgbClr val="0000FF"/>
                </a:solidFill>
              </a:rPr>
              <a:t>（</a:t>
            </a:r>
            <a:r>
              <a:rPr lang="en-US" altLang="zh-CN" sz="2800" b="1" smtClean="0">
                <a:solidFill>
                  <a:srgbClr val="0000FF"/>
                </a:solidFill>
              </a:rPr>
              <a:t>1</a:t>
            </a:r>
            <a:r>
              <a:rPr lang="zh-CN" altLang="en-US" sz="2800" b="1" smtClean="0">
                <a:solidFill>
                  <a:srgbClr val="0000FF"/>
                </a:solidFill>
              </a:rPr>
              <a:t>）传递性：</a:t>
            </a:r>
            <a:endParaRPr lang="zh-CN" altLang="en-US" sz="2800" b="1" smtClean="0">
              <a:solidFill>
                <a:srgbClr val="0000FF"/>
              </a:solidFill>
            </a:endParaRPr>
          </a:p>
          <a:p>
            <a:pPr>
              <a:spcBef>
                <a:spcPts val="600"/>
              </a:spcBef>
            </a:pPr>
            <a:r>
              <a:rPr lang="en-US" altLang="zh-CN" sz="2800" i="1" smtClean="0"/>
              <a:t>f</a:t>
            </a:r>
            <a:r>
              <a:rPr lang="en-US" altLang="zh-CN" sz="2800" smtClean="0"/>
              <a:t>(</a:t>
            </a:r>
            <a:r>
              <a:rPr lang="en-US" altLang="zh-CN" sz="2800" i="1" smtClean="0"/>
              <a:t>n</a:t>
            </a:r>
            <a:r>
              <a:rPr lang="en-US" altLang="zh-CN" sz="2800" smtClean="0"/>
              <a:t>)= </a:t>
            </a:r>
            <a:r>
              <a:rPr lang="en-US" altLang="zh-CN" sz="2800" smtClean="0">
                <a:sym typeface="Symbol" panose="05050102010706020507" pitchFamily="18" charset="2"/>
              </a:rPr>
              <a:t></a:t>
            </a:r>
            <a:r>
              <a:rPr lang="en-US" altLang="zh-CN" sz="2800" smtClean="0"/>
              <a:t>(</a:t>
            </a:r>
            <a:r>
              <a:rPr lang="en-US" altLang="zh-CN" sz="2800" i="1" smtClean="0"/>
              <a:t>g</a:t>
            </a:r>
            <a:r>
              <a:rPr lang="en-US" altLang="zh-CN" sz="2800" smtClean="0"/>
              <a:t>(</a:t>
            </a:r>
            <a:r>
              <a:rPr lang="en-US" altLang="zh-CN" sz="2800" i="1" smtClean="0"/>
              <a:t>n</a:t>
            </a:r>
            <a:r>
              <a:rPr lang="en-US" altLang="zh-CN" sz="2800" smtClean="0"/>
              <a:t>))</a:t>
            </a:r>
            <a:r>
              <a:rPr lang="zh-CN" altLang="en-US" sz="2800" smtClean="0"/>
              <a:t>，</a:t>
            </a:r>
            <a:r>
              <a:rPr lang="en-US" altLang="zh-CN" sz="2800" i="1" smtClean="0"/>
              <a:t>g</a:t>
            </a:r>
            <a:r>
              <a:rPr lang="en-US" altLang="zh-CN" sz="2800" smtClean="0"/>
              <a:t>(</a:t>
            </a:r>
            <a:r>
              <a:rPr lang="en-US" altLang="zh-CN" sz="2800" i="1" smtClean="0"/>
              <a:t>n</a:t>
            </a:r>
            <a:r>
              <a:rPr lang="en-US" altLang="zh-CN" sz="2800" smtClean="0"/>
              <a:t>)= </a:t>
            </a:r>
            <a:r>
              <a:rPr lang="en-US" altLang="zh-CN" sz="2800" smtClean="0">
                <a:sym typeface="Symbol" panose="05050102010706020507" pitchFamily="18" charset="2"/>
              </a:rPr>
              <a:t></a:t>
            </a:r>
            <a:r>
              <a:rPr lang="en-US" altLang="zh-CN" sz="2800" smtClean="0"/>
              <a:t>(</a:t>
            </a:r>
            <a:r>
              <a:rPr lang="en-US" altLang="zh-CN" sz="2800" i="1" smtClean="0"/>
              <a:t>h</a:t>
            </a:r>
            <a:r>
              <a:rPr lang="en-US" altLang="zh-CN" sz="2800" smtClean="0"/>
              <a:t>(</a:t>
            </a:r>
            <a:r>
              <a:rPr lang="en-US" altLang="zh-CN" sz="2800" i="1" smtClean="0"/>
              <a:t>n</a:t>
            </a:r>
            <a:r>
              <a:rPr lang="en-US" altLang="zh-CN" sz="2800" smtClean="0"/>
              <a:t>))  </a:t>
            </a:r>
            <a:r>
              <a:rPr lang="en-US" altLang="zh-CN" sz="2400" smtClean="0">
                <a:sym typeface="Symbol" panose="05050102010706020507" pitchFamily="18" charset="2"/>
              </a:rPr>
              <a:t></a:t>
            </a:r>
            <a:r>
              <a:rPr lang="en-US" altLang="zh-CN" sz="2400" smtClean="0"/>
              <a:t>  </a:t>
            </a:r>
            <a:r>
              <a:rPr lang="en-US" altLang="zh-CN" sz="2800" i="1" smtClean="0"/>
              <a:t>f</a:t>
            </a:r>
            <a:r>
              <a:rPr lang="en-US" altLang="zh-CN" sz="2800" smtClean="0"/>
              <a:t>(</a:t>
            </a:r>
            <a:r>
              <a:rPr lang="en-US" altLang="zh-CN" sz="2800" i="1" smtClean="0"/>
              <a:t>n</a:t>
            </a:r>
            <a:r>
              <a:rPr lang="en-US" altLang="zh-CN" sz="2800" smtClean="0"/>
              <a:t>)= </a:t>
            </a:r>
            <a:r>
              <a:rPr lang="en-US" altLang="zh-CN" sz="2800" smtClean="0">
                <a:sym typeface="Symbol" panose="05050102010706020507" pitchFamily="18" charset="2"/>
              </a:rPr>
              <a:t></a:t>
            </a:r>
            <a:r>
              <a:rPr lang="en-US" altLang="zh-CN" sz="2800" smtClean="0"/>
              <a:t>(</a:t>
            </a:r>
            <a:r>
              <a:rPr lang="en-US" altLang="zh-CN" sz="2800" i="1" smtClean="0"/>
              <a:t>h</a:t>
            </a:r>
            <a:r>
              <a:rPr lang="en-US" altLang="zh-CN" sz="2800" smtClean="0"/>
              <a:t>(</a:t>
            </a:r>
            <a:r>
              <a:rPr lang="en-US" altLang="zh-CN" sz="2800" i="1" smtClean="0"/>
              <a:t>n</a:t>
            </a:r>
            <a:r>
              <a:rPr lang="en-US" altLang="zh-CN" sz="2800" smtClean="0"/>
              <a:t>))</a:t>
            </a:r>
            <a:r>
              <a:rPr lang="zh-CN" altLang="en-US" sz="2800" smtClean="0"/>
              <a:t>；</a:t>
            </a:r>
            <a:endParaRPr lang="zh-CN" altLang="en-US" sz="2800" smtClean="0"/>
          </a:p>
          <a:p>
            <a:pPr>
              <a:spcBef>
                <a:spcPts val="600"/>
              </a:spcBef>
            </a:pPr>
            <a:r>
              <a:rPr lang="en-US" altLang="zh-CN" sz="2800" i="1" smtClean="0"/>
              <a:t>f</a:t>
            </a:r>
            <a:r>
              <a:rPr lang="en-US" altLang="zh-CN" sz="2800" smtClean="0"/>
              <a:t>(</a:t>
            </a:r>
            <a:r>
              <a:rPr lang="en-US" altLang="zh-CN" sz="2800" i="1" smtClean="0"/>
              <a:t>n</a:t>
            </a:r>
            <a:r>
              <a:rPr lang="en-US" altLang="zh-CN" sz="2800" smtClean="0"/>
              <a:t>)= </a:t>
            </a:r>
            <a:r>
              <a:rPr lang="en-US" altLang="zh-CN" sz="2800" i="1" smtClean="0">
                <a:sym typeface="Symbol" panose="05050102010706020507" pitchFamily="18" charset="2"/>
              </a:rPr>
              <a:t>O</a:t>
            </a:r>
            <a:r>
              <a:rPr lang="en-US" altLang="zh-CN" sz="2800" smtClean="0"/>
              <a:t>(</a:t>
            </a:r>
            <a:r>
              <a:rPr lang="en-US" altLang="zh-CN" sz="2800" i="1" smtClean="0"/>
              <a:t>g</a:t>
            </a:r>
            <a:r>
              <a:rPr lang="en-US" altLang="zh-CN" sz="2800" smtClean="0"/>
              <a:t>(</a:t>
            </a:r>
            <a:r>
              <a:rPr lang="en-US" altLang="zh-CN" sz="2800" i="1" smtClean="0"/>
              <a:t>n</a:t>
            </a:r>
            <a:r>
              <a:rPr lang="en-US" altLang="zh-CN" sz="2800" smtClean="0"/>
              <a:t>))</a:t>
            </a:r>
            <a:r>
              <a:rPr lang="zh-CN" altLang="en-US" sz="2800" smtClean="0"/>
              <a:t>，</a:t>
            </a:r>
            <a:r>
              <a:rPr lang="en-US" altLang="zh-CN" sz="2800" i="1" smtClean="0"/>
              <a:t>g</a:t>
            </a:r>
            <a:r>
              <a:rPr lang="en-US" altLang="zh-CN" sz="2800" smtClean="0"/>
              <a:t>(</a:t>
            </a:r>
            <a:r>
              <a:rPr lang="en-US" altLang="zh-CN" sz="2800" i="1" smtClean="0"/>
              <a:t>n</a:t>
            </a:r>
            <a:r>
              <a:rPr lang="en-US" altLang="zh-CN" sz="2800" smtClean="0"/>
              <a:t>)= </a:t>
            </a:r>
            <a:r>
              <a:rPr lang="en-US" altLang="zh-CN" sz="2800" i="1" smtClean="0">
                <a:sym typeface="Symbol" panose="05050102010706020507" pitchFamily="18" charset="2"/>
              </a:rPr>
              <a:t>O</a:t>
            </a:r>
            <a:r>
              <a:rPr lang="en-US" altLang="zh-CN" sz="2800" smtClean="0">
                <a:sym typeface="Symbol" panose="05050102010706020507" pitchFamily="18" charset="2"/>
              </a:rPr>
              <a:t> </a:t>
            </a:r>
            <a:r>
              <a:rPr lang="en-US" altLang="zh-CN" sz="2800" smtClean="0"/>
              <a:t>(</a:t>
            </a:r>
            <a:r>
              <a:rPr lang="en-US" altLang="zh-CN" sz="2800" i="1" smtClean="0"/>
              <a:t>h</a:t>
            </a:r>
            <a:r>
              <a:rPr lang="en-US" altLang="zh-CN" sz="2800" smtClean="0"/>
              <a:t>(</a:t>
            </a:r>
            <a:r>
              <a:rPr lang="en-US" altLang="zh-CN" sz="2800" i="1" smtClean="0"/>
              <a:t>n</a:t>
            </a:r>
            <a:r>
              <a:rPr lang="en-US" altLang="zh-CN" sz="2800" smtClean="0"/>
              <a:t>)) </a:t>
            </a:r>
            <a:r>
              <a:rPr lang="en-US" altLang="zh-CN" sz="2400" smtClean="0">
                <a:sym typeface="Symbol" panose="05050102010706020507" pitchFamily="18" charset="2"/>
              </a:rPr>
              <a:t></a:t>
            </a:r>
            <a:r>
              <a:rPr lang="en-US" altLang="zh-CN" sz="2400" smtClean="0"/>
              <a:t>  </a:t>
            </a:r>
            <a:r>
              <a:rPr lang="en-US" altLang="zh-CN" sz="2800" i="1" smtClean="0"/>
              <a:t>f</a:t>
            </a:r>
            <a:r>
              <a:rPr lang="en-US" altLang="zh-CN" sz="2800" smtClean="0"/>
              <a:t>(</a:t>
            </a:r>
            <a:r>
              <a:rPr lang="en-US" altLang="zh-CN" sz="2800" i="1" smtClean="0"/>
              <a:t>n</a:t>
            </a:r>
            <a:r>
              <a:rPr lang="en-US" altLang="zh-CN" sz="2800" smtClean="0"/>
              <a:t>)= </a:t>
            </a:r>
            <a:r>
              <a:rPr lang="en-US" altLang="zh-CN" sz="2800" i="1" smtClean="0">
                <a:sym typeface="Symbol" panose="05050102010706020507" pitchFamily="18" charset="2"/>
              </a:rPr>
              <a:t>O</a:t>
            </a:r>
            <a:r>
              <a:rPr lang="en-US" altLang="zh-CN" sz="2800" smtClean="0">
                <a:sym typeface="Symbol" panose="05050102010706020507" pitchFamily="18" charset="2"/>
              </a:rPr>
              <a:t> </a:t>
            </a:r>
            <a:r>
              <a:rPr lang="en-US" altLang="zh-CN" sz="2800" smtClean="0"/>
              <a:t>(</a:t>
            </a:r>
            <a:r>
              <a:rPr lang="en-US" altLang="zh-CN" sz="2800" i="1" smtClean="0"/>
              <a:t>h</a:t>
            </a:r>
            <a:r>
              <a:rPr lang="en-US" altLang="zh-CN" sz="2800" smtClean="0"/>
              <a:t>(</a:t>
            </a:r>
            <a:r>
              <a:rPr lang="en-US" altLang="zh-CN" sz="2800" i="1" smtClean="0"/>
              <a:t>n</a:t>
            </a:r>
            <a:r>
              <a:rPr lang="en-US" altLang="zh-CN" sz="2800" smtClean="0"/>
              <a:t>))</a:t>
            </a:r>
            <a:r>
              <a:rPr lang="zh-CN" altLang="en-US" sz="2800" smtClean="0"/>
              <a:t>；</a:t>
            </a:r>
            <a:endParaRPr lang="zh-CN" altLang="en-US" sz="2800" smtClean="0"/>
          </a:p>
          <a:p>
            <a:pPr>
              <a:spcBef>
                <a:spcPts val="600"/>
              </a:spcBef>
            </a:pPr>
            <a:r>
              <a:rPr lang="en-US" altLang="zh-CN" sz="2800" i="1" smtClean="0"/>
              <a:t>f</a:t>
            </a:r>
            <a:r>
              <a:rPr lang="en-US" altLang="zh-CN" sz="2800" smtClean="0"/>
              <a:t>(</a:t>
            </a:r>
            <a:r>
              <a:rPr lang="en-US" altLang="zh-CN" sz="2800" i="1" smtClean="0"/>
              <a:t>n</a:t>
            </a:r>
            <a:r>
              <a:rPr lang="en-US" altLang="zh-CN" sz="2800" smtClean="0"/>
              <a:t>)= </a:t>
            </a:r>
            <a:r>
              <a:rPr lang="en-US" altLang="zh-CN" sz="2800" smtClean="0">
                <a:sym typeface="Symbol" panose="05050102010706020507" pitchFamily="18" charset="2"/>
              </a:rPr>
              <a:t></a:t>
            </a:r>
            <a:r>
              <a:rPr lang="en-US" altLang="zh-CN" sz="2800" smtClean="0"/>
              <a:t>(</a:t>
            </a:r>
            <a:r>
              <a:rPr lang="en-US" altLang="zh-CN" sz="2800" i="1" smtClean="0"/>
              <a:t>g</a:t>
            </a:r>
            <a:r>
              <a:rPr lang="en-US" altLang="zh-CN" sz="2800" smtClean="0"/>
              <a:t>(</a:t>
            </a:r>
            <a:r>
              <a:rPr lang="en-US" altLang="zh-CN" sz="2800" i="1" smtClean="0"/>
              <a:t>n</a:t>
            </a:r>
            <a:r>
              <a:rPr lang="en-US" altLang="zh-CN" sz="2800" smtClean="0"/>
              <a:t>))</a:t>
            </a:r>
            <a:r>
              <a:rPr lang="zh-CN" altLang="en-US" sz="2800" smtClean="0"/>
              <a:t>，</a:t>
            </a:r>
            <a:r>
              <a:rPr lang="en-US" altLang="zh-CN" sz="2800" i="1" smtClean="0"/>
              <a:t>g</a:t>
            </a:r>
            <a:r>
              <a:rPr lang="en-US" altLang="zh-CN" sz="2800" smtClean="0"/>
              <a:t>(</a:t>
            </a:r>
            <a:r>
              <a:rPr lang="en-US" altLang="zh-CN" sz="2800" i="1" smtClean="0"/>
              <a:t>n</a:t>
            </a:r>
            <a:r>
              <a:rPr lang="en-US" altLang="zh-CN" sz="2800" smtClean="0"/>
              <a:t>)= </a:t>
            </a:r>
            <a:r>
              <a:rPr lang="en-US" altLang="zh-CN" sz="2800" smtClean="0">
                <a:sym typeface="Symbol" panose="05050102010706020507" pitchFamily="18" charset="2"/>
              </a:rPr>
              <a:t> </a:t>
            </a:r>
            <a:r>
              <a:rPr lang="en-US" altLang="zh-CN" sz="2800" smtClean="0"/>
              <a:t>(</a:t>
            </a:r>
            <a:r>
              <a:rPr lang="en-US" altLang="zh-CN" sz="2800" i="1" smtClean="0"/>
              <a:t>h</a:t>
            </a:r>
            <a:r>
              <a:rPr lang="en-US" altLang="zh-CN" sz="2800" smtClean="0"/>
              <a:t>(</a:t>
            </a:r>
            <a:r>
              <a:rPr lang="en-US" altLang="zh-CN" sz="2800" i="1" smtClean="0"/>
              <a:t>n</a:t>
            </a:r>
            <a:r>
              <a:rPr lang="en-US" altLang="zh-CN" sz="2800" smtClean="0"/>
              <a:t>)) </a:t>
            </a:r>
            <a:r>
              <a:rPr lang="en-US" altLang="zh-CN" sz="2400" smtClean="0">
                <a:sym typeface="Symbol" panose="05050102010706020507" pitchFamily="18" charset="2"/>
              </a:rPr>
              <a:t></a:t>
            </a:r>
            <a:r>
              <a:rPr lang="en-US" altLang="zh-CN" sz="2400" smtClean="0"/>
              <a:t>  </a:t>
            </a:r>
            <a:r>
              <a:rPr lang="en-US" altLang="zh-CN" sz="2800" i="1" smtClean="0"/>
              <a:t>f</a:t>
            </a:r>
            <a:r>
              <a:rPr lang="en-US" altLang="zh-CN" sz="2800" smtClean="0"/>
              <a:t>(</a:t>
            </a:r>
            <a:r>
              <a:rPr lang="en-US" altLang="zh-CN" sz="2800" i="1" smtClean="0"/>
              <a:t>n</a:t>
            </a:r>
            <a:r>
              <a:rPr lang="en-US" altLang="zh-CN" sz="2800" smtClean="0"/>
              <a:t>)= </a:t>
            </a:r>
            <a:r>
              <a:rPr lang="en-US" altLang="zh-CN" sz="2800" smtClean="0">
                <a:sym typeface="Symbol" panose="05050102010706020507" pitchFamily="18" charset="2"/>
              </a:rPr>
              <a:t></a:t>
            </a:r>
            <a:r>
              <a:rPr lang="en-US" altLang="zh-CN" sz="2800" smtClean="0"/>
              <a:t>(</a:t>
            </a:r>
            <a:r>
              <a:rPr lang="en-US" altLang="zh-CN" sz="2800" i="1" smtClean="0"/>
              <a:t>h</a:t>
            </a:r>
            <a:r>
              <a:rPr lang="en-US" altLang="zh-CN" sz="2800" smtClean="0"/>
              <a:t>(</a:t>
            </a:r>
            <a:r>
              <a:rPr lang="en-US" altLang="zh-CN" sz="2800" i="1" smtClean="0"/>
              <a:t>n</a:t>
            </a:r>
            <a:r>
              <a:rPr lang="en-US" altLang="zh-CN" sz="2800" smtClean="0"/>
              <a:t>))</a:t>
            </a:r>
            <a:r>
              <a:rPr lang="zh-CN" altLang="en-US" sz="2800" smtClean="0"/>
              <a:t>；</a:t>
            </a:r>
            <a:endParaRPr lang="zh-CN" altLang="en-US" sz="2800" smtClean="0"/>
          </a:p>
          <a:p>
            <a:pPr>
              <a:spcBef>
                <a:spcPts val="600"/>
              </a:spcBef>
            </a:pPr>
            <a:r>
              <a:rPr lang="en-US" altLang="zh-CN" sz="2800" i="1" smtClean="0"/>
              <a:t>f</a:t>
            </a:r>
            <a:r>
              <a:rPr lang="en-US" altLang="zh-CN" sz="2800" smtClean="0"/>
              <a:t>(</a:t>
            </a:r>
            <a:r>
              <a:rPr lang="en-US" altLang="zh-CN" sz="2800" i="1" smtClean="0"/>
              <a:t>n</a:t>
            </a:r>
            <a:r>
              <a:rPr lang="en-US" altLang="zh-CN" sz="2800" smtClean="0"/>
              <a:t>)= </a:t>
            </a:r>
            <a:r>
              <a:rPr lang="en-US" altLang="zh-CN" sz="2800" i="1" smtClean="0"/>
              <a:t>o</a:t>
            </a:r>
            <a:r>
              <a:rPr lang="en-US" altLang="zh-CN" sz="2800" smtClean="0"/>
              <a:t>(</a:t>
            </a:r>
            <a:r>
              <a:rPr lang="en-US" altLang="zh-CN" sz="2800" i="1" smtClean="0"/>
              <a:t>g</a:t>
            </a:r>
            <a:r>
              <a:rPr lang="en-US" altLang="zh-CN" sz="2800" smtClean="0"/>
              <a:t>(</a:t>
            </a:r>
            <a:r>
              <a:rPr lang="en-US" altLang="zh-CN" sz="2800" i="1" smtClean="0"/>
              <a:t>n</a:t>
            </a:r>
            <a:r>
              <a:rPr lang="en-US" altLang="zh-CN" sz="2800" smtClean="0"/>
              <a:t>))</a:t>
            </a:r>
            <a:r>
              <a:rPr lang="zh-CN" altLang="en-US" sz="2800" smtClean="0"/>
              <a:t>， </a:t>
            </a:r>
            <a:r>
              <a:rPr lang="en-US" altLang="zh-CN" sz="2800" i="1" smtClean="0"/>
              <a:t>g</a:t>
            </a:r>
            <a:r>
              <a:rPr lang="en-US" altLang="zh-CN" sz="2800" smtClean="0"/>
              <a:t>(</a:t>
            </a:r>
            <a:r>
              <a:rPr lang="en-US" altLang="zh-CN" sz="2800" i="1" smtClean="0"/>
              <a:t>n</a:t>
            </a:r>
            <a:r>
              <a:rPr lang="en-US" altLang="zh-CN" sz="2800" smtClean="0"/>
              <a:t>)= </a:t>
            </a:r>
            <a:r>
              <a:rPr lang="en-US" altLang="zh-CN" sz="2800" i="1" smtClean="0"/>
              <a:t>o</a:t>
            </a:r>
            <a:r>
              <a:rPr lang="en-US" altLang="zh-CN" sz="2800" smtClean="0"/>
              <a:t>(</a:t>
            </a:r>
            <a:r>
              <a:rPr lang="en-US" altLang="zh-CN" sz="2800" i="1" smtClean="0"/>
              <a:t>h</a:t>
            </a:r>
            <a:r>
              <a:rPr lang="en-US" altLang="zh-CN" sz="2800" smtClean="0"/>
              <a:t>(</a:t>
            </a:r>
            <a:r>
              <a:rPr lang="en-US" altLang="zh-CN" sz="2800" i="1" smtClean="0"/>
              <a:t>n</a:t>
            </a:r>
            <a:r>
              <a:rPr lang="en-US" altLang="zh-CN" sz="2800" smtClean="0"/>
              <a:t>))   </a:t>
            </a:r>
            <a:r>
              <a:rPr lang="en-US" altLang="zh-CN" sz="2400" smtClean="0">
                <a:sym typeface="Symbol" panose="05050102010706020507" pitchFamily="18" charset="2"/>
              </a:rPr>
              <a:t></a:t>
            </a:r>
            <a:r>
              <a:rPr lang="en-US" altLang="zh-CN" sz="2400" smtClean="0"/>
              <a:t>  </a:t>
            </a:r>
            <a:r>
              <a:rPr lang="en-US" altLang="zh-CN" sz="2800" i="1" smtClean="0"/>
              <a:t>f</a:t>
            </a:r>
            <a:r>
              <a:rPr lang="en-US" altLang="zh-CN" sz="2800" smtClean="0"/>
              <a:t>(</a:t>
            </a:r>
            <a:r>
              <a:rPr lang="en-US" altLang="zh-CN" sz="2800" i="1" smtClean="0"/>
              <a:t>n</a:t>
            </a:r>
            <a:r>
              <a:rPr lang="en-US" altLang="zh-CN" sz="2800" smtClean="0"/>
              <a:t>)= </a:t>
            </a:r>
            <a:r>
              <a:rPr lang="en-US" altLang="zh-CN" sz="2800" i="1" smtClean="0"/>
              <a:t>o</a:t>
            </a:r>
            <a:r>
              <a:rPr lang="en-US" altLang="zh-CN" sz="2800" smtClean="0"/>
              <a:t>(</a:t>
            </a:r>
            <a:r>
              <a:rPr lang="en-US" altLang="zh-CN" sz="2800" i="1" smtClean="0"/>
              <a:t>h</a:t>
            </a:r>
            <a:r>
              <a:rPr lang="en-US" altLang="zh-CN" sz="2800" smtClean="0"/>
              <a:t>(</a:t>
            </a:r>
            <a:r>
              <a:rPr lang="en-US" altLang="zh-CN" sz="2800" i="1" smtClean="0"/>
              <a:t>n</a:t>
            </a:r>
            <a:r>
              <a:rPr lang="en-US" altLang="zh-CN" sz="2800" smtClean="0"/>
              <a:t>))</a:t>
            </a:r>
            <a:r>
              <a:rPr lang="zh-CN" altLang="en-US" sz="2800" smtClean="0"/>
              <a:t>；</a:t>
            </a:r>
            <a:endParaRPr lang="zh-CN" altLang="en-US" sz="2800" smtClean="0"/>
          </a:p>
          <a:p>
            <a:pPr>
              <a:spcBef>
                <a:spcPts val="600"/>
              </a:spcBef>
            </a:pPr>
            <a:r>
              <a:rPr lang="en-US" altLang="zh-CN" sz="2800" i="1" smtClean="0"/>
              <a:t>f</a:t>
            </a:r>
            <a:r>
              <a:rPr lang="en-US" altLang="zh-CN" sz="2800" smtClean="0"/>
              <a:t>(</a:t>
            </a:r>
            <a:r>
              <a:rPr lang="en-US" altLang="zh-CN" sz="2800" i="1" smtClean="0"/>
              <a:t>n</a:t>
            </a:r>
            <a:r>
              <a:rPr lang="en-US" altLang="zh-CN" sz="2800" smtClean="0"/>
              <a:t>)= </a:t>
            </a:r>
            <a:r>
              <a:rPr lang="en-US" altLang="zh-CN" sz="2800" i="1" smtClean="0">
                <a:sym typeface="Symbol" panose="05050102010706020507" pitchFamily="18" charset="2"/>
              </a:rPr>
              <a:t></a:t>
            </a:r>
            <a:r>
              <a:rPr lang="en-US" altLang="zh-CN" sz="2800" smtClean="0"/>
              <a:t>(</a:t>
            </a:r>
            <a:r>
              <a:rPr lang="en-US" altLang="zh-CN" sz="2800" i="1" smtClean="0"/>
              <a:t>g</a:t>
            </a:r>
            <a:r>
              <a:rPr lang="en-US" altLang="zh-CN" sz="2800" smtClean="0"/>
              <a:t>(</a:t>
            </a:r>
            <a:r>
              <a:rPr lang="en-US" altLang="zh-CN" sz="2800" i="1" smtClean="0"/>
              <a:t>n</a:t>
            </a:r>
            <a:r>
              <a:rPr lang="en-US" altLang="zh-CN" sz="2800" smtClean="0"/>
              <a:t>))</a:t>
            </a:r>
            <a:r>
              <a:rPr lang="zh-CN" altLang="en-US" sz="2800" smtClean="0"/>
              <a:t>，</a:t>
            </a:r>
            <a:r>
              <a:rPr lang="en-US" altLang="zh-CN" sz="2800" i="1" smtClean="0"/>
              <a:t>g</a:t>
            </a:r>
            <a:r>
              <a:rPr lang="en-US" altLang="zh-CN" sz="2800" smtClean="0"/>
              <a:t>(</a:t>
            </a:r>
            <a:r>
              <a:rPr lang="en-US" altLang="zh-CN" sz="2800" i="1" smtClean="0"/>
              <a:t>n</a:t>
            </a:r>
            <a:r>
              <a:rPr lang="en-US" altLang="zh-CN" sz="2800" smtClean="0"/>
              <a:t>)= </a:t>
            </a:r>
            <a:r>
              <a:rPr lang="en-US" altLang="zh-CN" sz="2800" i="1" smtClean="0">
                <a:sym typeface="Symbol" panose="05050102010706020507" pitchFamily="18" charset="2"/>
              </a:rPr>
              <a:t></a:t>
            </a:r>
            <a:r>
              <a:rPr lang="en-US" altLang="zh-CN" sz="2800" smtClean="0">
                <a:sym typeface="Symbol" panose="05050102010706020507" pitchFamily="18" charset="2"/>
              </a:rPr>
              <a:t> </a:t>
            </a:r>
            <a:r>
              <a:rPr lang="en-US" altLang="zh-CN" sz="2800" smtClean="0"/>
              <a:t>(</a:t>
            </a:r>
            <a:r>
              <a:rPr lang="en-US" altLang="zh-CN" sz="2800" i="1" smtClean="0"/>
              <a:t>h</a:t>
            </a:r>
            <a:r>
              <a:rPr lang="en-US" altLang="zh-CN" sz="2800" smtClean="0"/>
              <a:t>(</a:t>
            </a:r>
            <a:r>
              <a:rPr lang="en-US" altLang="zh-CN" sz="2800" i="1" smtClean="0"/>
              <a:t>n</a:t>
            </a:r>
            <a:r>
              <a:rPr lang="en-US" altLang="zh-CN" sz="2800" smtClean="0"/>
              <a:t>)) </a:t>
            </a:r>
            <a:r>
              <a:rPr lang="en-US" altLang="zh-CN" sz="2400" smtClean="0">
                <a:sym typeface="Symbol" panose="05050102010706020507" pitchFamily="18" charset="2"/>
              </a:rPr>
              <a:t></a:t>
            </a:r>
            <a:r>
              <a:rPr lang="en-US" altLang="zh-CN" sz="2400" smtClean="0"/>
              <a:t>  </a:t>
            </a:r>
            <a:r>
              <a:rPr lang="en-US" altLang="zh-CN" sz="2800" i="1" smtClean="0"/>
              <a:t>f</a:t>
            </a:r>
            <a:r>
              <a:rPr lang="en-US" altLang="zh-CN" sz="2800" smtClean="0"/>
              <a:t>(</a:t>
            </a:r>
            <a:r>
              <a:rPr lang="en-US" altLang="zh-CN" sz="2800" i="1" smtClean="0"/>
              <a:t>n</a:t>
            </a:r>
            <a:r>
              <a:rPr lang="en-US" altLang="zh-CN" sz="2800" smtClean="0"/>
              <a:t>)= </a:t>
            </a:r>
            <a:r>
              <a:rPr lang="en-US" altLang="zh-CN" sz="2800" i="1" smtClean="0">
                <a:sym typeface="Symbol" panose="05050102010706020507" pitchFamily="18" charset="2"/>
              </a:rPr>
              <a:t></a:t>
            </a:r>
            <a:r>
              <a:rPr lang="en-US" altLang="zh-CN" sz="2800" smtClean="0">
                <a:sym typeface="Symbol" panose="05050102010706020507" pitchFamily="18" charset="2"/>
              </a:rPr>
              <a:t> </a:t>
            </a:r>
            <a:r>
              <a:rPr lang="en-US" altLang="zh-CN" sz="2800" smtClean="0"/>
              <a:t>(</a:t>
            </a:r>
            <a:r>
              <a:rPr lang="en-US" altLang="zh-CN" sz="2800" i="1" smtClean="0"/>
              <a:t>h</a:t>
            </a:r>
            <a:r>
              <a:rPr lang="en-US" altLang="zh-CN" sz="2800" smtClean="0"/>
              <a:t>(</a:t>
            </a:r>
            <a:r>
              <a:rPr lang="en-US" altLang="zh-CN" sz="2800" i="1" smtClean="0"/>
              <a:t>n</a:t>
            </a:r>
            <a:r>
              <a:rPr lang="en-US" altLang="zh-CN" sz="2800" smtClean="0"/>
              <a:t>))</a:t>
            </a:r>
            <a:r>
              <a:rPr lang="zh-CN" altLang="en-US" sz="2800" smtClean="0"/>
              <a:t>；</a:t>
            </a:r>
            <a:endParaRPr lang="zh-CN" altLang="en-US" sz="2800" smtClean="0"/>
          </a:p>
          <a:p>
            <a:pPr eaLnBrk="1" hangingPunct="1">
              <a:buFontTx/>
              <a:buNone/>
            </a:pPr>
            <a:endParaRPr lang="en-US" altLang="zh-CN" sz="1800" smtClean="0">
              <a:sym typeface="Symbol" panose="05050102010706020507" pitchFamily="18" charset="2"/>
            </a:endParaRPr>
          </a:p>
        </p:txBody>
      </p:sp>
    </p:spTree>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78851" name="Rectangle 2"/>
          <p:cNvSpPr>
            <a:spLocks noGrp="1" noChangeArrowheads="1"/>
          </p:cNvSpPr>
          <p:nvPr>
            <p:ph type="title"/>
          </p:nvPr>
        </p:nvSpPr>
        <p:spPr/>
        <p:txBody>
          <a:bodyPr/>
          <a:lstStyle/>
          <a:p>
            <a:pPr eaLnBrk="1" hangingPunct="1"/>
            <a:r>
              <a:rPr lang="zh-CN" altLang="en-US" smtClean="0"/>
              <a:t>渐近记号的若干性质</a:t>
            </a:r>
            <a:endParaRPr lang="en-US" altLang="zh-CN" smtClean="0"/>
          </a:p>
        </p:txBody>
      </p:sp>
      <p:sp>
        <p:nvSpPr>
          <p:cNvPr id="78852" name="Rectangle 3"/>
          <p:cNvSpPr>
            <a:spLocks noGrp="1" noChangeArrowheads="1"/>
          </p:cNvSpPr>
          <p:nvPr>
            <p:ph type="body" idx="1"/>
          </p:nvPr>
        </p:nvSpPr>
        <p:spPr/>
        <p:txBody>
          <a:bodyPr/>
          <a:lstStyle/>
          <a:p>
            <a:r>
              <a:rPr lang="zh-CN" altLang="en-US" sz="2800" b="1" smtClean="0">
                <a:solidFill>
                  <a:srgbClr val="0000FF"/>
                </a:solidFill>
              </a:rPr>
              <a:t>（</a:t>
            </a:r>
            <a:r>
              <a:rPr lang="en-US" altLang="zh-CN" sz="2800" b="1" smtClean="0">
                <a:solidFill>
                  <a:srgbClr val="0000FF"/>
                </a:solidFill>
              </a:rPr>
              <a:t>2</a:t>
            </a:r>
            <a:r>
              <a:rPr lang="zh-CN" altLang="en-US" sz="2800" b="1" smtClean="0">
                <a:solidFill>
                  <a:srgbClr val="0000FF"/>
                </a:solidFill>
              </a:rPr>
              <a:t>）反身性：</a:t>
            </a:r>
            <a:endParaRPr lang="zh-CN" altLang="en-US" sz="2800" b="1" smtClean="0">
              <a:solidFill>
                <a:srgbClr val="0000FF"/>
              </a:solidFill>
            </a:endParaRPr>
          </a:p>
          <a:p>
            <a:r>
              <a:rPr lang="en-US" altLang="zh-CN" sz="2800" i="1" smtClean="0"/>
              <a:t>f</a:t>
            </a:r>
            <a:r>
              <a:rPr lang="en-US" altLang="zh-CN" sz="2800" smtClean="0"/>
              <a:t>(</a:t>
            </a:r>
            <a:r>
              <a:rPr lang="en-US" altLang="zh-CN" sz="2800" i="1" smtClean="0"/>
              <a:t>n</a:t>
            </a:r>
            <a:r>
              <a:rPr lang="en-US" altLang="zh-CN" sz="2800" smtClean="0"/>
              <a:t>)= </a:t>
            </a:r>
            <a:r>
              <a:rPr lang="en-US" altLang="zh-CN" sz="2800" smtClean="0">
                <a:sym typeface="Symbol" panose="05050102010706020507" pitchFamily="18" charset="2"/>
              </a:rPr>
              <a:t></a:t>
            </a:r>
            <a:r>
              <a:rPr lang="en-US" altLang="zh-CN" sz="2800" smtClean="0"/>
              <a:t>(</a:t>
            </a:r>
            <a:r>
              <a:rPr lang="en-US" altLang="zh-CN" sz="2800" i="1" smtClean="0"/>
              <a:t>f</a:t>
            </a:r>
            <a:r>
              <a:rPr lang="en-US" altLang="zh-CN" sz="2800" smtClean="0"/>
              <a:t>(</a:t>
            </a:r>
            <a:r>
              <a:rPr lang="en-US" altLang="zh-CN" sz="2800" i="1" smtClean="0"/>
              <a:t>n</a:t>
            </a:r>
            <a:r>
              <a:rPr lang="en-US" altLang="zh-CN" sz="2800" smtClean="0"/>
              <a:t>))</a:t>
            </a:r>
            <a:r>
              <a:rPr lang="zh-CN" altLang="en-US" sz="2800" smtClean="0"/>
              <a:t>；</a:t>
            </a:r>
            <a:endParaRPr lang="zh-CN" altLang="en-US" sz="2800" smtClean="0"/>
          </a:p>
          <a:p>
            <a:r>
              <a:rPr lang="en-US" altLang="zh-CN" sz="2800" i="1" smtClean="0"/>
              <a:t>f</a:t>
            </a:r>
            <a:r>
              <a:rPr lang="en-US" altLang="zh-CN" sz="2800" smtClean="0"/>
              <a:t>(</a:t>
            </a:r>
            <a:r>
              <a:rPr lang="en-US" altLang="zh-CN" sz="2800" i="1" smtClean="0"/>
              <a:t>n</a:t>
            </a:r>
            <a:r>
              <a:rPr lang="en-US" altLang="zh-CN" sz="2800" smtClean="0"/>
              <a:t>)= </a:t>
            </a:r>
            <a:r>
              <a:rPr lang="en-US" altLang="zh-CN" sz="2800" i="1" smtClean="0">
                <a:sym typeface="Symbol" panose="05050102010706020507" pitchFamily="18" charset="2"/>
              </a:rPr>
              <a:t>O</a:t>
            </a:r>
            <a:r>
              <a:rPr lang="en-US" altLang="zh-CN" sz="2800" smtClean="0"/>
              <a:t>(</a:t>
            </a:r>
            <a:r>
              <a:rPr lang="en-US" altLang="zh-CN" sz="2800" i="1" smtClean="0"/>
              <a:t>f</a:t>
            </a:r>
            <a:r>
              <a:rPr lang="en-US" altLang="zh-CN" sz="2800" smtClean="0"/>
              <a:t>(</a:t>
            </a:r>
            <a:r>
              <a:rPr lang="en-US" altLang="zh-CN" sz="2800" i="1" smtClean="0"/>
              <a:t>n</a:t>
            </a:r>
            <a:r>
              <a:rPr lang="en-US" altLang="zh-CN" sz="2800" smtClean="0"/>
              <a:t>))</a:t>
            </a:r>
            <a:r>
              <a:rPr lang="zh-CN" altLang="en-US" sz="2800" smtClean="0"/>
              <a:t>；</a:t>
            </a:r>
            <a:endParaRPr lang="zh-CN" altLang="en-US" sz="2800" smtClean="0"/>
          </a:p>
          <a:p>
            <a:r>
              <a:rPr lang="en-US" altLang="zh-CN" sz="2800" i="1" smtClean="0"/>
              <a:t>f</a:t>
            </a:r>
            <a:r>
              <a:rPr lang="en-US" altLang="zh-CN" sz="2800" smtClean="0"/>
              <a:t>(</a:t>
            </a:r>
            <a:r>
              <a:rPr lang="en-US" altLang="zh-CN" sz="2800" i="1" smtClean="0"/>
              <a:t>n</a:t>
            </a:r>
            <a:r>
              <a:rPr lang="en-US" altLang="zh-CN" sz="2800" smtClean="0"/>
              <a:t>)= </a:t>
            </a:r>
            <a:r>
              <a:rPr lang="en-US" altLang="zh-CN" sz="2800" smtClean="0">
                <a:sym typeface="Symbol" panose="05050102010706020507" pitchFamily="18" charset="2"/>
              </a:rPr>
              <a:t></a:t>
            </a:r>
            <a:r>
              <a:rPr lang="en-US" altLang="zh-CN" sz="2800" smtClean="0"/>
              <a:t>(</a:t>
            </a:r>
            <a:r>
              <a:rPr lang="en-US" altLang="zh-CN" sz="2800" i="1" smtClean="0"/>
              <a:t>f</a:t>
            </a:r>
            <a:r>
              <a:rPr lang="en-US" altLang="zh-CN" sz="2800" smtClean="0"/>
              <a:t>(</a:t>
            </a:r>
            <a:r>
              <a:rPr lang="en-US" altLang="zh-CN" sz="2800" i="1" smtClean="0"/>
              <a:t>n</a:t>
            </a:r>
            <a:r>
              <a:rPr lang="en-US" altLang="zh-CN" sz="2800" smtClean="0"/>
              <a:t>)).</a:t>
            </a:r>
            <a:endParaRPr lang="en-US" altLang="zh-CN" sz="2800" smtClean="0"/>
          </a:p>
          <a:p>
            <a:r>
              <a:rPr lang="zh-CN" altLang="en-US" sz="2800" b="1" smtClean="0">
                <a:solidFill>
                  <a:srgbClr val="0000FF"/>
                </a:solidFill>
              </a:rPr>
              <a:t>（</a:t>
            </a:r>
            <a:r>
              <a:rPr lang="en-US" altLang="zh-CN" sz="2800" b="1" smtClean="0">
                <a:solidFill>
                  <a:srgbClr val="0000FF"/>
                </a:solidFill>
              </a:rPr>
              <a:t>3</a:t>
            </a:r>
            <a:r>
              <a:rPr lang="zh-CN" altLang="en-US" sz="2800" b="1" smtClean="0">
                <a:solidFill>
                  <a:srgbClr val="0000FF"/>
                </a:solidFill>
              </a:rPr>
              <a:t>）对称性：</a:t>
            </a:r>
            <a:endParaRPr lang="zh-CN" altLang="en-US" sz="2800" smtClean="0"/>
          </a:p>
          <a:p>
            <a:r>
              <a:rPr lang="en-US" altLang="zh-CN" sz="2800" i="1" smtClean="0"/>
              <a:t>f</a:t>
            </a:r>
            <a:r>
              <a:rPr lang="en-US" altLang="zh-CN" sz="2800" smtClean="0"/>
              <a:t>(</a:t>
            </a:r>
            <a:r>
              <a:rPr lang="en-US" altLang="zh-CN" sz="2800" i="1" smtClean="0"/>
              <a:t>n</a:t>
            </a:r>
            <a:r>
              <a:rPr lang="en-US" altLang="zh-CN" sz="2800" smtClean="0"/>
              <a:t>)= </a:t>
            </a:r>
            <a:r>
              <a:rPr lang="en-US" altLang="zh-CN" sz="2800" smtClean="0">
                <a:sym typeface="Symbol" panose="05050102010706020507" pitchFamily="18" charset="2"/>
              </a:rPr>
              <a:t></a:t>
            </a:r>
            <a:r>
              <a:rPr lang="en-US" altLang="zh-CN" sz="2800" smtClean="0"/>
              <a:t>(</a:t>
            </a:r>
            <a:r>
              <a:rPr lang="en-US" altLang="zh-CN" sz="2800" i="1" smtClean="0"/>
              <a:t>g</a:t>
            </a:r>
            <a:r>
              <a:rPr lang="en-US" altLang="zh-CN" sz="2800" smtClean="0"/>
              <a:t>(</a:t>
            </a:r>
            <a:r>
              <a:rPr lang="en-US" altLang="zh-CN" sz="2800" i="1" smtClean="0"/>
              <a:t>n</a:t>
            </a:r>
            <a:r>
              <a:rPr lang="en-US" altLang="zh-CN" sz="2800" smtClean="0"/>
              <a:t>)) </a:t>
            </a:r>
            <a:r>
              <a:rPr lang="en-US" altLang="zh-CN" sz="2400" smtClean="0">
                <a:sym typeface="Symbol" panose="05050102010706020507" pitchFamily="18" charset="2"/>
              </a:rPr>
              <a:t></a:t>
            </a:r>
            <a:r>
              <a:rPr lang="en-US" altLang="zh-CN" sz="2400" smtClean="0"/>
              <a:t> </a:t>
            </a:r>
            <a:r>
              <a:rPr lang="en-US" altLang="zh-CN" sz="2800" i="1" smtClean="0"/>
              <a:t>g</a:t>
            </a:r>
            <a:r>
              <a:rPr lang="en-US" altLang="zh-CN" sz="2800" smtClean="0"/>
              <a:t>(</a:t>
            </a:r>
            <a:r>
              <a:rPr lang="en-US" altLang="zh-CN" sz="2800" i="1" smtClean="0"/>
              <a:t>n</a:t>
            </a:r>
            <a:r>
              <a:rPr lang="en-US" altLang="zh-CN" sz="2800" smtClean="0"/>
              <a:t>)= </a:t>
            </a:r>
            <a:r>
              <a:rPr lang="en-US" altLang="zh-CN" sz="2800" smtClean="0">
                <a:sym typeface="Symbol" panose="05050102010706020507" pitchFamily="18" charset="2"/>
              </a:rPr>
              <a:t> </a:t>
            </a:r>
            <a:r>
              <a:rPr lang="en-US" altLang="zh-CN" sz="2800" smtClean="0"/>
              <a:t>(</a:t>
            </a:r>
            <a:r>
              <a:rPr lang="en-US" altLang="zh-CN" sz="2800" i="1" smtClean="0"/>
              <a:t>f</a:t>
            </a:r>
            <a:r>
              <a:rPr lang="en-US" altLang="zh-CN" sz="2800" smtClean="0"/>
              <a:t>(</a:t>
            </a:r>
            <a:r>
              <a:rPr lang="en-US" altLang="zh-CN" sz="2800" i="1" smtClean="0"/>
              <a:t>n</a:t>
            </a:r>
            <a:r>
              <a:rPr lang="en-US" altLang="zh-CN" sz="2800" smtClean="0"/>
              <a:t>)) </a:t>
            </a:r>
            <a:r>
              <a:rPr lang="en-US" altLang="zh-CN" sz="2400" smtClean="0">
                <a:sym typeface="Symbol" panose="05050102010706020507" pitchFamily="18" charset="2"/>
              </a:rPr>
              <a:t>.</a:t>
            </a:r>
            <a:endParaRPr lang="en-US" altLang="zh-CN" sz="2400" smtClean="0">
              <a:sym typeface="Symbol" panose="05050102010706020507" pitchFamily="18" charset="2"/>
            </a:endParaRPr>
          </a:p>
          <a:p>
            <a:r>
              <a:rPr lang="zh-CN" altLang="en-US" sz="2800" b="1" smtClean="0">
                <a:solidFill>
                  <a:srgbClr val="0000FF"/>
                </a:solidFill>
              </a:rPr>
              <a:t>（</a:t>
            </a:r>
            <a:r>
              <a:rPr lang="en-US" altLang="zh-CN" sz="2800" b="1" smtClean="0">
                <a:solidFill>
                  <a:srgbClr val="0000FF"/>
                </a:solidFill>
              </a:rPr>
              <a:t>4</a:t>
            </a:r>
            <a:r>
              <a:rPr lang="zh-CN" altLang="en-US" sz="2800" b="1" smtClean="0">
                <a:solidFill>
                  <a:srgbClr val="0000FF"/>
                </a:solidFill>
              </a:rPr>
              <a:t>）互对称性：</a:t>
            </a:r>
            <a:endParaRPr lang="zh-CN" altLang="en-US" sz="2800" smtClean="0"/>
          </a:p>
          <a:p>
            <a:r>
              <a:rPr lang="en-US" altLang="zh-CN" sz="2800" i="1" smtClean="0"/>
              <a:t>f</a:t>
            </a:r>
            <a:r>
              <a:rPr lang="en-US" altLang="zh-CN" sz="2800" smtClean="0"/>
              <a:t>(</a:t>
            </a:r>
            <a:r>
              <a:rPr lang="en-US" altLang="zh-CN" sz="2800" i="1" smtClean="0"/>
              <a:t>n</a:t>
            </a:r>
            <a:r>
              <a:rPr lang="en-US" altLang="zh-CN" sz="2800" smtClean="0"/>
              <a:t>)= </a:t>
            </a:r>
            <a:r>
              <a:rPr lang="en-US" altLang="zh-CN" sz="2800" i="1" smtClean="0"/>
              <a:t>O</a:t>
            </a:r>
            <a:r>
              <a:rPr lang="en-US" altLang="zh-CN" sz="2800" smtClean="0"/>
              <a:t>(</a:t>
            </a:r>
            <a:r>
              <a:rPr lang="en-US" altLang="zh-CN" sz="2800" i="1" smtClean="0"/>
              <a:t>g</a:t>
            </a:r>
            <a:r>
              <a:rPr lang="en-US" altLang="zh-CN" sz="2800" smtClean="0"/>
              <a:t>(</a:t>
            </a:r>
            <a:r>
              <a:rPr lang="en-US" altLang="zh-CN" sz="2800" i="1" smtClean="0"/>
              <a:t>n</a:t>
            </a:r>
            <a:r>
              <a:rPr lang="en-US" altLang="zh-CN" sz="2800" smtClean="0"/>
              <a:t>)) </a:t>
            </a:r>
            <a:r>
              <a:rPr lang="en-US" altLang="zh-CN" sz="2400" smtClean="0">
                <a:sym typeface="Symbol" panose="05050102010706020507" pitchFamily="18" charset="2"/>
              </a:rPr>
              <a:t></a:t>
            </a:r>
            <a:r>
              <a:rPr lang="en-US" altLang="zh-CN" sz="2400" smtClean="0"/>
              <a:t> </a:t>
            </a:r>
            <a:r>
              <a:rPr lang="en-US" altLang="zh-CN" sz="2800" i="1" smtClean="0"/>
              <a:t>g</a:t>
            </a:r>
            <a:r>
              <a:rPr lang="en-US" altLang="zh-CN" sz="2800" smtClean="0"/>
              <a:t>(</a:t>
            </a:r>
            <a:r>
              <a:rPr lang="en-US" altLang="zh-CN" sz="2800" i="1" smtClean="0"/>
              <a:t>n</a:t>
            </a:r>
            <a:r>
              <a:rPr lang="en-US" altLang="zh-CN" sz="2800" smtClean="0"/>
              <a:t>)= </a:t>
            </a:r>
            <a:r>
              <a:rPr lang="en-US" altLang="zh-CN" sz="2800" smtClean="0">
                <a:sym typeface="Symbol" panose="05050102010706020507" pitchFamily="18" charset="2"/>
              </a:rPr>
              <a:t> </a:t>
            </a:r>
            <a:r>
              <a:rPr lang="en-US" altLang="zh-CN" sz="2800" smtClean="0"/>
              <a:t>(</a:t>
            </a:r>
            <a:r>
              <a:rPr lang="en-US" altLang="zh-CN" sz="2800" i="1" smtClean="0"/>
              <a:t>f</a:t>
            </a:r>
            <a:r>
              <a:rPr lang="en-US" altLang="zh-CN" sz="2800" smtClean="0"/>
              <a:t>(</a:t>
            </a:r>
            <a:r>
              <a:rPr lang="en-US" altLang="zh-CN" sz="2800" i="1" smtClean="0"/>
              <a:t>n</a:t>
            </a:r>
            <a:r>
              <a:rPr lang="en-US" altLang="zh-CN" sz="2800" smtClean="0"/>
              <a:t>)) </a:t>
            </a:r>
            <a:r>
              <a:rPr lang="zh-CN" altLang="en-US" sz="2800" smtClean="0"/>
              <a:t>；</a:t>
            </a:r>
            <a:endParaRPr lang="zh-CN" altLang="en-US" sz="2800" smtClean="0"/>
          </a:p>
          <a:p>
            <a:r>
              <a:rPr lang="en-US" altLang="zh-CN" sz="2800" i="1" smtClean="0"/>
              <a:t>f</a:t>
            </a:r>
            <a:r>
              <a:rPr lang="en-US" altLang="zh-CN" sz="2800" smtClean="0"/>
              <a:t>(</a:t>
            </a:r>
            <a:r>
              <a:rPr lang="en-US" altLang="zh-CN" sz="2800" i="1" smtClean="0"/>
              <a:t>n</a:t>
            </a:r>
            <a:r>
              <a:rPr lang="en-US" altLang="zh-CN" sz="2800" smtClean="0"/>
              <a:t>)= </a:t>
            </a:r>
            <a:r>
              <a:rPr lang="en-US" altLang="zh-CN" sz="2800" i="1" smtClean="0"/>
              <a:t>o</a:t>
            </a:r>
            <a:r>
              <a:rPr lang="en-US" altLang="zh-CN" sz="2800" smtClean="0"/>
              <a:t>(</a:t>
            </a:r>
            <a:r>
              <a:rPr lang="en-US" altLang="zh-CN" sz="2800" i="1" smtClean="0"/>
              <a:t>g</a:t>
            </a:r>
            <a:r>
              <a:rPr lang="en-US" altLang="zh-CN" sz="2800" smtClean="0"/>
              <a:t>(</a:t>
            </a:r>
            <a:r>
              <a:rPr lang="en-US" altLang="zh-CN" sz="2800" i="1" smtClean="0"/>
              <a:t>n</a:t>
            </a:r>
            <a:r>
              <a:rPr lang="en-US" altLang="zh-CN" sz="2800" smtClean="0"/>
              <a:t>)) </a:t>
            </a:r>
            <a:r>
              <a:rPr lang="en-US" altLang="zh-CN" sz="2400" smtClean="0">
                <a:sym typeface="Symbol" panose="05050102010706020507" pitchFamily="18" charset="2"/>
              </a:rPr>
              <a:t></a:t>
            </a:r>
            <a:r>
              <a:rPr lang="en-US" altLang="zh-CN" sz="2400" smtClean="0"/>
              <a:t> </a:t>
            </a:r>
            <a:r>
              <a:rPr lang="en-US" altLang="zh-CN" sz="2800" i="1" smtClean="0"/>
              <a:t>g</a:t>
            </a:r>
            <a:r>
              <a:rPr lang="en-US" altLang="zh-CN" sz="2800" smtClean="0"/>
              <a:t>(</a:t>
            </a:r>
            <a:r>
              <a:rPr lang="en-US" altLang="zh-CN" sz="2800" i="1" smtClean="0"/>
              <a:t>n</a:t>
            </a:r>
            <a:r>
              <a:rPr lang="en-US" altLang="zh-CN" sz="2800" smtClean="0"/>
              <a:t>)= </a:t>
            </a:r>
            <a:r>
              <a:rPr lang="en-US" altLang="zh-CN" sz="2800" i="1" smtClean="0">
                <a:sym typeface="Symbol" panose="05050102010706020507" pitchFamily="18" charset="2"/>
              </a:rPr>
              <a:t></a:t>
            </a:r>
            <a:r>
              <a:rPr lang="en-US" altLang="zh-CN" sz="2800" smtClean="0">
                <a:sym typeface="Symbol" panose="05050102010706020507" pitchFamily="18" charset="2"/>
              </a:rPr>
              <a:t> </a:t>
            </a:r>
            <a:r>
              <a:rPr lang="en-US" altLang="zh-CN" sz="2800" smtClean="0"/>
              <a:t>(</a:t>
            </a:r>
            <a:r>
              <a:rPr lang="en-US" altLang="zh-CN" sz="2800" i="1" smtClean="0"/>
              <a:t>f</a:t>
            </a:r>
            <a:r>
              <a:rPr lang="en-US" altLang="zh-CN" sz="2800" smtClean="0"/>
              <a:t>(</a:t>
            </a:r>
            <a:r>
              <a:rPr lang="en-US" altLang="zh-CN" sz="2800" i="1" smtClean="0"/>
              <a:t>n</a:t>
            </a:r>
            <a:r>
              <a:rPr lang="en-US" altLang="zh-CN" sz="2800" smtClean="0"/>
              <a:t>)) </a:t>
            </a:r>
            <a:r>
              <a:rPr lang="zh-CN" altLang="en-US" sz="2800" smtClean="0"/>
              <a:t>；</a:t>
            </a:r>
            <a:endParaRPr lang="zh-CN" altLang="en-US" sz="2800" smtClean="0"/>
          </a:p>
          <a:p>
            <a:pPr eaLnBrk="1" hangingPunct="1">
              <a:buFontTx/>
              <a:buNone/>
            </a:pPr>
            <a:endParaRPr lang="en-US" altLang="zh-CN" sz="1800" smtClean="0">
              <a:sym typeface="Symbol" panose="05050102010706020507" pitchFamily="18" charset="2"/>
            </a:endParaRPr>
          </a:p>
        </p:txBody>
      </p:sp>
    </p:spTree>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79875" name="Rectangle 2"/>
          <p:cNvSpPr>
            <a:spLocks noGrp="1" noChangeArrowheads="1"/>
          </p:cNvSpPr>
          <p:nvPr>
            <p:ph type="title"/>
          </p:nvPr>
        </p:nvSpPr>
        <p:spPr/>
        <p:txBody>
          <a:bodyPr/>
          <a:lstStyle/>
          <a:p>
            <a:pPr eaLnBrk="1" hangingPunct="1"/>
            <a:r>
              <a:rPr lang="zh-CN" altLang="en-US" smtClean="0"/>
              <a:t>渐近记号的若干性质</a:t>
            </a:r>
            <a:endParaRPr lang="en-US" altLang="zh-CN" smtClean="0"/>
          </a:p>
        </p:txBody>
      </p:sp>
      <p:sp>
        <p:nvSpPr>
          <p:cNvPr id="79876" name="Rectangle 3"/>
          <p:cNvSpPr>
            <a:spLocks noGrp="1" noChangeArrowheads="1"/>
          </p:cNvSpPr>
          <p:nvPr>
            <p:ph type="body" idx="1"/>
          </p:nvPr>
        </p:nvSpPr>
        <p:spPr/>
        <p:txBody>
          <a:bodyPr/>
          <a:lstStyle/>
          <a:p>
            <a:r>
              <a:rPr lang="zh-CN" altLang="en-US" sz="2800" b="1" smtClean="0">
                <a:solidFill>
                  <a:srgbClr val="0000FF"/>
                </a:solidFill>
              </a:rPr>
              <a:t>（</a:t>
            </a:r>
            <a:r>
              <a:rPr lang="en-US" altLang="zh-CN" sz="2800" b="1" smtClean="0">
                <a:solidFill>
                  <a:srgbClr val="0000FF"/>
                </a:solidFill>
              </a:rPr>
              <a:t>5</a:t>
            </a:r>
            <a:r>
              <a:rPr lang="zh-CN" altLang="en-US" sz="2800" b="1" smtClean="0">
                <a:solidFill>
                  <a:srgbClr val="0000FF"/>
                </a:solidFill>
              </a:rPr>
              <a:t>）算术运算：</a:t>
            </a:r>
            <a:endParaRPr lang="zh-CN" altLang="en-US" sz="2800" b="1" smtClean="0">
              <a:solidFill>
                <a:srgbClr val="0000FF"/>
              </a:solidFill>
            </a:endParaRPr>
          </a:p>
          <a:p>
            <a:r>
              <a:rPr lang="en-US" altLang="zh-CN" sz="2800" i="1" smtClean="0"/>
              <a:t>O</a:t>
            </a:r>
            <a:r>
              <a:rPr lang="en-US" altLang="zh-CN" sz="2800" smtClean="0"/>
              <a:t>(</a:t>
            </a:r>
            <a:r>
              <a:rPr lang="en-US" altLang="zh-CN" sz="2800" i="1" smtClean="0"/>
              <a:t>f</a:t>
            </a:r>
            <a:r>
              <a:rPr lang="en-US" altLang="zh-CN" sz="2800" smtClean="0"/>
              <a:t>(</a:t>
            </a:r>
            <a:r>
              <a:rPr lang="en-US" altLang="zh-CN" sz="2800" i="1" smtClean="0"/>
              <a:t>n</a:t>
            </a:r>
            <a:r>
              <a:rPr lang="en-US" altLang="zh-CN" sz="2800" smtClean="0"/>
              <a:t>))+</a:t>
            </a:r>
            <a:r>
              <a:rPr lang="en-US" altLang="zh-CN" sz="2800" i="1" smtClean="0"/>
              <a:t>O</a:t>
            </a:r>
            <a:r>
              <a:rPr lang="en-US" altLang="zh-CN" sz="2800" smtClean="0"/>
              <a:t>(</a:t>
            </a:r>
            <a:r>
              <a:rPr lang="en-US" altLang="zh-CN" sz="2800" i="1" smtClean="0"/>
              <a:t>g</a:t>
            </a:r>
            <a:r>
              <a:rPr lang="en-US" altLang="zh-CN" sz="2800" smtClean="0"/>
              <a:t>(</a:t>
            </a:r>
            <a:r>
              <a:rPr lang="en-US" altLang="zh-CN" sz="2800" i="1" smtClean="0"/>
              <a:t>n</a:t>
            </a:r>
            <a:r>
              <a:rPr lang="en-US" altLang="zh-CN" sz="2800" smtClean="0"/>
              <a:t>)) </a:t>
            </a:r>
            <a:r>
              <a:rPr lang="en-US" altLang="zh-CN" sz="2800" smtClean="0">
                <a:sym typeface="Symbol" panose="05050102010706020507" pitchFamily="18" charset="2"/>
              </a:rPr>
              <a:t>=</a:t>
            </a:r>
            <a:r>
              <a:rPr lang="en-US" altLang="zh-CN" sz="2800" smtClean="0"/>
              <a:t> </a:t>
            </a:r>
            <a:r>
              <a:rPr lang="en-US" altLang="zh-CN" sz="2800" i="1" smtClean="0"/>
              <a:t>O</a:t>
            </a:r>
            <a:r>
              <a:rPr lang="en-US" altLang="zh-CN" sz="2800" smtClean="0"/>
              <a:t>(max{</a:t>
            </a:r>
            <a:r>
              <a:rPr lang="en-US" altLang="zh-CN" sz="2800" i="1" smtClean="0"/>
              <a:t>f</a:t>
            </a:r>
            <a:r>
              <a:rPr lang="en-US" altLang="zh-CN" sz="2800" smtClean="0"/>
              <a:t>(n),</a:t>
            </a:r>
            <a:r>
              <a:rPr lang="en-US" altLang="zh-CN" sz="2800" i="1" smtClean="0"/>
              <a:t>g</a:t>
            </a:r>
            <a:r>
              <a:rPr lang="en-US" altLang="zh-CN" sz="2800" smtClean="0"/>
              <a:t>(</a:t>
            </a:r>
            <a:r>
              <a:rPr lang="en-US" altLang="zh-CN" sz="2800" i="1" smtClean="0"/>
              <a:t>n</a:t>
            </a:r>
            <a:r>
              <a:rPr lang="en-US" altLang="zh-CN" sz="2800" smtClean="0"/>
              <a:t>)}) </a:t>
            </a:r>
            <a:r>
              <a:rPr lang="zh-CN" altLang="en-US" sz="2800" smtClean="0"/>
              <a:t>；</a:t>
            </a:r>
            <a:endParaRPr lang="zh-CN" altLang="en-US" sz="2800" smtClean="0"/>
          </a:p>
          <a:p>
            <a:r>
              <a:rPr lang="en-US" altLang="zh-CN" sz="2800" i="1" smtClean="0"/>
              <a:t>O</a:t>
            </a:r>
            <a:r>
              <a:rPr lang="en-US" altLang="zh-CN" sz="2800" smtClean="0"/>
              <a:t>(</a:t>
            </a:r>
            <a:r>
              <a:rPr lang="en-US" altLang="zh-CN" sz="2800" i="1" smtClean="0"/>
              <a:t>f</a:t>
            </a:r>
            <a:r>
              <a:rPr lang="en-US" altLang="zh-CN" sz="2800" smtClean="0"/>
              <a:t>(</a:t>
            </a:r>
            <a:r>
              <a:rPr lang="en-US" altLang="zh-CN" sz="2800" i="1" smtClean="0"/>
              <a:t>n</a:t>
            </a:r>
            <a:r>
              <a:rPr lang="en-US" altLang="zh-CN" sz="2800" smtClean="0"/>
              <a:t>))+</a:t>
            </a:r>
            <a:r>
              <a:rPr lang="en-US" altLang="zh-CN" sz="2800" i="1" smtClean="0"/>
              <a:t>O</a:t>
            </a:r>
            <a:r>
              <a:rPr lang="en-US" altLang="zh-CN" sz="2800" smtClean="0"/>
              <a:t>(</a:t>
            </a:r>
            <a:r>
              <a:rPr lang="en-US" altLang="zh-CN" sz="2800" i="1" smtClean="0"/>
              <a:t>g</a:t>
            </a:r>
            <a:r>
              <a:rPr lang="en-US" altLang="zh-CN" sz="2800" smtClean="0"/>
              <a:t>(</a:t>
            </a:r>
            <a:r>
              <a:rPr lang="en-US" altLang="zh-CN" sz="2800" i="1" smtClean="0"/>
              <a:t>n</a:t>
            </a:r>
            <a:r>
              <a:rPr lang="en-US" altLang="zh-CN" sz="2800" smtClean="0"/>
              <a:t>)) </a:t>
            </a:r>
            <a:r>
              <a:rPr lang="en-US" altLang="zh-CN" sz="2800" smtClean="0">
                <a:sym typeface="Symbol" panose="05050102010706020507" pitchFamily="18" charset="2"/>
              </a:rPr>
              <a:t>=</a:t>
            </a:r>
            <a:r>
              <a:rPr lang="en-US" altLang="zh-CN" sz="2800" smtClean="0"/>
              <a:t> </a:t>
            </a:r>
            <a:r>
              <a:rPr lang="en-US" altLang="zh-CN" sz="2800" i="1" smtClean="0"/>
              <a:t>O</a:t>
            </a:r>
            <a:r>
              <a:rPr lang="en-US" altLang="zh-CN" sz="2800" smtClean="0"/>
              <a:t>(</a:t>
            </a:r>
            <a:r>
              <a:rPr lang="en-US" altLang="zh-CN" sz="2800" i="1" smtClean="0"/>
              <a:t>f</a:t>
            </a:r>
            <a:r>
              <a:rPr lang="en-US" altLang="zh-CN" sz="2800" smtClean="0"/>
              <a:t>(n)+</a:t>
            </a:r>
            <a:r>
              <a:rPr lang="en-US" altLang="zh-CN" sz="2800" i="1" smtClean="0"/>
              <a:t>g</a:t>
            </a:r>
            <a:r>
              <a:rPr lang="en-US" altLang="zh-CN" sz="2800" smtClean="0"/>
              <a:t>(</a:t>
            </a:r>
            <a:r>
              <a:rPr lang="en-US" altLang="zh-CN" sz="2800" i="1" smtClean="0"/>
              <a:t>n</a:t>
            </a:r>
            <a:r>
              <a:rPr lang="en-US" altLang="zh-CN" sz="2800" smtClean="0"/>
              <a:t>)) </a:t>
            </a:r>
            <a:r>
              <a:rPr lang="zh-CN" altLang="en-US" sz="2800" smtClean="0"/>
              <a:t>；</a:t>
            </a:r>
            <a:endParaRPr lang="zh-CN" altLang="en-US" sz="2800" smtClean="0"/>
          </a:p>
          <a:p>
            <a:r>
              <a:rPr lang="en-US" altLang="zh-CN" sz="2800" i="1" smtClean="0"/>
              <a:t>O</a:t>
            </a:r>
            <a:r>
              <a:rPr lang="en-US" altLang="zh-CN" sz="2800" smtClean="0"/>
              <a:t>(</a:t>
            </a:r>
            <a:r>
              <a:rPr lang="en-US" altLang="zh-CN" sz="2800" i="1" smtClean="0"/>
              <a:t>f</a:t>
            </a:r>
            <a:r>
              <a:rPr lang="en-US" altLang="zh-CN" sz="2800" smtClean="0"/>
              <a:t>(</a:t>
            </a:r>
            <a:r>
              <a:rPr lang="en-US" altLang="zh-CN" sz="2800" i="1" smtClean="0"/>
              <a:t>n</a:t>
            </a:r>
            <a:r>
              <a:rPr lang="en-US" altLang="zh-CN" sz="2800" smtClean="0"/>
              <a:t>))*</a:t>
            </a:r>
            <a:r>
              <a:rPr lang="en-US" altLang="zh-CN" sz="2800" i="1" smtClean="0"/>
              <a:t>O</a:t>
            </a:r>
            <a:r>
              <a:rPr lang="en-US" altLang="zh-CN" sz="2800" smtClean="0"/>
              <a:t>(</a:t>
            </a:r>
            <a:r>
              <a:rPr lang="en-US" altLang="zh-CN" sz="2800" i="1" smtClean="0"/>
              <a:t>g</a:t>
            </a:r>
            <a:r>
              <a:rPr lang="en-US" altLang="zh-CN" sz="2800" smtClean="0"/>
              <a:t>(</a:t>
            </a:r>
            <a:r>
              <a:rPr lang="en-US" altLang="zh-CN" sz="2800" i="1" smtClean="0"/>
              <a:t>n</a:t>
            </a:r>
            <a:r>
              <a:rPr lang="en-US" altLang="zh-CN" sz="2800" smtClean="0"/>
              <a:t>)) </a:t>
            </a:r>
            <a:r>
              <a:rPr lang="en-US" altLang="zh-CN" sz="2800" smtClean="0">
                <a:sym typeface="Symbol" panose="05050102010706020507" pitchFamily="18" charset="2"/>
              </a:rPr>
              <a:t>=</a:t>
            </a:r>
            <a:r>
              <a:rPr lang="en-US" altLang="zh-CN" sz="2800" smtClean="0"/>
              <a:t> </a:t>
            </a:r>
            <a:r>
              <a:rPr lang="en-US" altLang="zh-CN" sz="2800" i="1" smtClean="0"/>
              <a:t>O</a:t>
            </a:r>
            <a:r>
              <a:rPr lang="en-US" altLang="zh-CN" sz="2800" smtClean="0"/>
              <a:t>(</a:t>
            </a:r>
            <a:r>
              <a:rPr lang="en-US" altLang="zh-CN" sz="2800" i="1" smtClean="0"/>
              <a:t>f</a:t>
            </a:r>
            <a:r>
              <a:rPr lang="en-US" altLang="zh-CN" sz="2800" smtClean="0"/>
              <a:t>(n)*</a:t>
            </a:r>
            <a:r>
              <a:rPr lang="en-US" altLang="zh-CN" sz="2800" i="1" smtClean="0"/>
              <a:t>g</a:t>
            </a:r>
            <a:r>
              <a:rPr lang="en-US" altLang="zh-CN" sz="2800" smtClean="0"/>
              <a:t>(</a:t>
            </a:r>
            <a:r>
              <a:rPr lang="en-US" altLang="zh-CN" sz="2800" i="1" smtClean="0"/>
              <a:t>n</a:t>
            </a:r>
            <a:r>
              <a:rPr lang="en-US" altLang="zh-CN" sz="2800" smtClean="0"/>
              <a:t>)) </a:t>
            </a:r>
            <a:r>
              <a:rPr lang="zh-CN" altLang="en-US" sz="2800" smtClean="0"/>
              <a:t>；</a:t>
            </a:r>
            <a:endParaRPr lang="zh-CN" altLang="en-US" sz="2800" smtClean="0"/>
          </a:p>
          <a:p>
            <a:r>
              <a:rPr lang="en-US" altLang="zh-CN" sz="2800" i="1" smtClean="0"/>
              <a:t>O</a:t>
            </a:r>
            <a:r>
              <a:rPr lang="en-US" altLang="zh-CN" sz="2800" smtClean="0"/>
              <a:t>(</a:t>
            </a:r>
            <a:r>
              <a:rPr lang="en-US" altLang="zh-CN" sz="2800" i="1" smtClean="0"/>
              <a:t>cf</a:t>
            </a:r>
            <a:r>
              <a:rPr lang="en-US" altLang="zh-CN" sz="2800" smtClean="0"/>
              <a:t>(</a:t>
            </a:r>
            <a:r>
              <a:rPr lang="en-US" altLang="zh-CN" sz="2800" i="1" smtClean="0"/>
              <a:t>n</a:t>
            </a:r>
            <a:r>
              <a:rPr lang="en-US" altLang="zh-CN" sz="2800" smtClean="0"/>
              <a:t>)) </a:t>
            </a:r>
            <a:r>
              <a:rPr lang="en-US" altLang="zh-CN" sz="2800" smtClean="0">
                <a:sym typeface="Symbol" panose="05050102010706020507" pitchFamily="18" charset="2"/>
              </a:rPr>
              <a:t>=</a:t>
            </a:r>
            <a:r>
              <a:rPr lang="en-US" altLang="zh-CN" sz="2800" smtClean="0"/>
              <a:t> </a:t>
            </a:r>
            <a:r>
              <a:rPr lang="en-US" altLang="zh-CN" sz="2800" i="1" smtClean="0"/>
              <a:t>O</a:t>
            </a:r>
            <a:r>
              <a:rPr lang="en-US" altLang="zh-CN" sz="2800" smtClean="0"/>
              <a:t>(</a:t>
            </a:r>
            <a:r>
              <a:rPr lang="en-US" altLang="zh-CN" sz="2800" i="1" smtClean="0"/>
              <a:t>f</a:t>
            </a:r>
            <a:r>
              <a:rPr lang="en-US" altLang="zh-CN" sz="2800" smtClean="0"/>
              <a:t>(n)) </a:t>
            </a:r>
            <a:r>
              <a:rPr lang="zh-CN" altLang="en-US" sz="2800" smtClean="0"/>
              <a:t>；</a:t>
            </a:r>
            <a:endParaRPr lang="zh-CN" altLang="en-US" sz="2800" smtClean="0"/>
          </a:p>
          <a:p>
            <a:r>
              <a:rPr lang="en-US" altLang="zh-CN" sz="2800" i="1" smtClean="0"/>
              <a:t>g</a:t>
            </a:r>
            <a:r>
              <a:rPr lang="en-US" altLang="zh-CN" sz="2800" smtClean="0"/>
              <a:t>(</a:t>
            </a:r>
            <a:r>
              <a:rPr lang="en-US" altLang="zh-CN" sz="2800" i="1" smtClean="0"/>
              <a:t>n</a:t>
            </a:r>
            <a:r>
              <a:rPr lang="en-US" altLang="zh-CN" sz="2800" smtClean="0"/>
              <a:t>)= </a:t>
            </a:r>
            <a:r>
              <a:rPr lang="en-US" altLang="zh-CN" sz="2800" i="1" smtClean="0"/>
              <a:t>O</a:t>
            </a:r>
            <a:r>
              <a:rPr lang="en-US" altLang="zh-CN" sz="2800" smtClean="0"/>
              <a:t>(</a:t>
            </a:r>
            <a:r>
              <a:rPr lang="en-US" altLang="zh-CN" sz="2800" i="1" smtClean="0"/>
              <a:t>f</a:t>
            </a:r>
            <a:r>
              <a:rPr lang="en-US" altLang="zh-CN" sz="2800" smtClean="0"/>
              <a:t>(</a:t>
            </a:r>
            <a:r>
              <a:rPr lang="en-US" altLang="zh-CN" sz="2800" i="1" smtClean="0"/>
              <a:t>n</a:t>
            </a:r>
            <a:r>
              <a:rPr lang="en-US" altLang="zh-CN" sz="2800" smtClean="0"/>
              <a:t>)) </a:t>
            </a:r>
            <a:r>
              <a:rPr lang="en-US" altLang="zh-CN" sz="2800" smtClean="0">
                <a:sym typeface="Symbol" panose="05050102010706020507" pitchFamily="18" charset="2"/>
              </a:rPr>
              <a:t> </a:t>
            </a:r>
            <a:r>
              <a:rPr lang="en-US" altLang="zh-CN" sz="2800" i="1" smtClean="0"/>
              <a:t>O</a:t>
            </a:r>
            <a:r>
              <a:rPr lang="en-US" altLang="zh-CN" sz="2800" smtClean="0"/>
              <a:t>(</a:t>
            </a:r>
            <a:r>
              <a:rPr lang="en-US" altLang="zh-CN" sz="2800" i="1" smtClean="0"/>
              <a:t>f</a:t>
            </a:r>
            <a:r>
              <a:rPr lang="en-US" altLang="zh-CN" sz="2800" smtClean="0"/>
              <a:t>(</a:t>
            </a:r>
            <a:r>
              <a:rPr lang="en-US" altLang="zh-CN" sz="2800" i="1" smtClean="0"/>
              <a:t>n</a:t>
            </a:r>
            <a:r>
              <a:rPr lang="en-US" altLang="zh-CN" sz="2800" smtClean="0"/>
              <a:t>))+</a:t>
            </a:r>
            <a:r>
              <a:rPr lang="en-US" altLang="zh-CN" sz="2800" i="1" smtClean="0"/>
              <a:t>O</a:t>
            </a:r>
            <a:r>
              <a:rPr lang="en-US" altLang="zh-CN" sz="2800" smtClean="0"/>
              <a:t>(</a:t>
            </a:r>
            <a:r>
              <a:rPr lang="en-US" altLang="zh-CN" sz="2800" i="1" smtClean="0"/>
              <a:t>g</a:t>
            </a:r>
            <a:r>
              <a:rPr lang="en-US" altLang="zh-CN" sz="2800" smtClean="0"/>
              <a:t>(</a:t>
            </a:r>
            <a:r>
              <a:rPr lang="en-US" altLang="zh-CN" sz="2800" i="1" smtClean="0"/>
              <a:t>n</a:t>
            </a:r>
            <a:r>
              <a:rPr lang="en-US" altLang="zh-CN" sz="2800" smtClean="0"/>
              <a:t>)) </a:t>
            </a:r>
            <a:r>
              <a:rPr lang="en-US" altLang="zh-CN" sz="2800" smtClean="0">
                <a:sym typeface="Symbol" panose="05050102010706020507" pitchFamily="18" charset="2"/>
              </a:rPr>
              <a:t>=</a:t>
            </a:r>
            <a:r>
              <a:rPr lang="en-US" altLang="zh-CN" sz="2800" smtClean="0"/>
              <a:t> </a:t>
            </a:r>
            <a:r>
              <a:rPr lang="en-US" altLang="zh-CN" sz="2800" i="1" smtClean="0"/>
              <a:t>O</a:t>
            </a:r>
            <a:r>
              <a:rPr lang="en-US" altLang="zh-CN" sz="2800" smtClean="0"/>
              <a:t>(</a:t>
            </a:r>
            <a:r>
              <a:rPr lang="en-US" altLang="zh-CN" sz="2800" i="1" smtClean="0"/>
              <a:t>f</a:t>
            </a:r>
            <a:r>
              <a:rPr lang="en-US" altLang="zh-CN" sz="2800" smtClean="0"/>
              <a:t>(n)) </a:t>
            </a:r>
            <a:r>
              <a:rPr lang="zh-CN" altLang="en-US" sz="2800" smtClean="0"/>
              <a:t>。</a:t>
            </a:r>
            <a:endParaRPr lang="zh-CN" altLang="en-US" sz="2800" smtClean="0"/>
          </a:p>
          <a:p>
            <a:pPr eaLnBrk="1" hangingPunct="1">
              <a:buFontTx/>
              <a:buNone/>
            </a:pPr>
            <a:endParaRPr lang="en-US" altLang="zh-CN" sz="1800" smtClean="0">
              <a:sym typeface="Symbol" panose="05050102010706020507" pitchFamily="18" charset="2"/>
            </a:endParaRPr>
          </a:p>
        </p:txBody>
      </p:sp>
    </p:spTree>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80899" name="Rectangle 2"/>
          <p:cNvSpPr>
            <a:spLocks noGrp="1" noChangeArrowheads="1"/>
          </p:cNvSpPr>
          <p:nvPr>
            <p:ph type="title"/>
          </p:nvPr>
        </p:nvSpPr>
        <p:spPr/>
        <p:txBody>
          <a:bodyPr/>
          <a:lstStyle/>
          <a:p>
            <a:pPr eaLnBrk="1" hangingPunct="1"/>
            <a:r>
              <a:rPr lang="zh-CN" altLang="en-US" smtClean="0"/>
              <a:t>常用阶的比较</a:t>
            </a:r>
            <a:endParaRPr lang="en-US" altLang="zh-CN" smtClean="0"/>
          </a:p>
        </p:txBody>
      </p:sp>
      <p:sp>
        <p:nvSpPr>
          <p:cNvPr id="80900" name="Rectangle 3"/>
          <p:cNvSpPr>
            <a:spLocks noGrp="1" noChangeArrowheads="1"/>
          </p:cNvSpPr>
          <p:nvPr>
            <p:ph type="body" idx="1"/>
          </p:nvPr>
        </p:nvSpPr>
        <p:spPr/>
        <p:txBody>
          <a:bodyPr/>
          <a:lstStyle/>
          <a:p>
            <a:pPr eaLnBrk="1" hangingPunct="1">
              <a:buFontTx/>
              <a:buNone/>
            </a:pPr>
            <a:r>
              <a:rPr lang="en-US" altLang="zh-CN" sz="1800" smtClean="0">
                <a:sym typeface="Symbol" panose="05050102010706020507" pitchFamily="18" charset="2"/>
              </a:rPr>
              <a:t> </a:t>
            </a:r>
            <a:endParaRPr lang="en-US" altLang="zh-CN" sz="1800" smtClean="0">
              <a:sym typeface="Symbol" panose="05050102010706020507" pitchFamily="18" charset="2"/>
            </a:endParaRPr>
          </a:p>
        </p:txBody>
      </p:sp>
      <p:pic>
        <p:nvPicPr>
          <p:cNvPr id="80901" name="Picture 4"/>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57188" y="1714500"/>
            <a:ext cx="8642350" cy="3571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81923" name="Rectangle 2"/>
          <p:cNvSpPr>
            <a:spLocks noGrp="1" noChangeArrowheads="1"/>
          </p:cNvSpPr>
          <p:nvPr>
            <p:ph type="title"/>
          </p:nvPr>
        </p:nvSpPr>
        <p:spPr/>
        <p:txBody>
          <a:bodyPr/>
          <a:lstStyle/>
          <a:p>
            <a:pPr eaLnBrk="1" hangingPunct="1"/>
            <a:r>
              <a:rPr lang="en-US" altLang="zh-CN" dirty="0" smtClean="0"/>
              <a:t>1.2.4 </a:t>
            </a:r>
            <a:r>
              <a:rPr lang="zh-CN" altLang="en-US" dirty="0" smtClean="0"/>
              <a:t>空间复杂度</a:t>
            </a:r>
            <a:endParaRPr lang="en-US" altLang="zh-CN" dirty="0" smtClean="0"/>
          </a:p>
        </p:txBody>
      </p:sp>
      <p:sp>
        <p:nvSpPr>
          <p:cNvPr id="81924" name="Rectangle 3"/>
          <p:cNvSpPr>
            <a:spLocks noGrp="1" noChangeArrowheads="1"/>
          </p:cNvSpPr>
          <p:nvPr>
            <p:ph type="body" idx="1"/>
          </p:nvPr>
        </p:nvSpPr>
        <p:spPr/>
        <p:txBody>
          <a:bodyPr/>
          <a:lstStyle/>
          <a:p>
            <a:pPr>
              <a:buFontTx/>
              <a:buNone/>
            </a:pPr>
            <a:r>
              <a:rPr lang="zh-CN" altLang="en-US" smtClean="0"/>
              <a:t>为什么要考虑空间复杂性：</a:t>
            </a:r>
            <a:endParaRPr lang="zh-CN" altLang="en-US" smtClean="0"/>
          </a:p>
          <a:p>
            <a:r>
              <a:rPr lang="zh-CN" altLang="en-US" smtClean="0"/>
              <a:t>在多用户系统中运行时，需指明分配给该程序的内存大小；</a:t>
            </a:r>
            <a:endParaRPr lang="zh-CN" altLang="en-US" smtClean="0"/>
          </a:p>
          <a:p>
            <a:r>
              <a:rPr lang="zh-CN" altLang="en-US" smtClean="0"/>
              <a:t>想预先知道计算机系统是否有足够的内存来运行该程序；</a:t>
            </a:r>
            <a:endParaRPr lang="zh-CN" altLang="en-US" smtClean="0"/>
          </a:p>
          <a:p>
            <a:r>
              <a:rPr lang="zh-CN" altLang="en-US" smtClean="0"/>
              <a:t>一个问题可能有若干个不同的内存需求解决方案</a:t>
            </a:r>
            <a:r>
              <a:rPr lang="en-US" altLang="zh-CN" smtClean="0"/>
              <a:t>,</a:t>
            </a:r>
            <a:r>
              <a:rPr lang="zh-CN" altLang="en-US" smtClean="0"/>
              <a:t>从中择取</a:t>
            </a:r>
            <a:r>
              <a:rPr lang="en-US" altLang="zh-CN" smtClean="0"/>
              <a:t>;</a:t>
            </a:r>
            <a:endParaRPr lang="en-US" altLang="zh-CN" smtClean="0"/>
          </a:p>
          <a:p>
            <a:r>
              <a:rPr lang="zh-CN" altLang="en-US" smtClean="0"/>
              <a:t>用空间复杂性来估计一个程序可能解决的问题的最大规模。      </a:t>
            </a:r>
            <a:endParaRPr lang="zh-CN" altLang="en-US" smtClean="0"/>
          </a:p>
          <a:p>
            <a:pPr eaLnBrk="1" hangingPunct="1"/>
            <a:endParaRPr lang="en-US" altLang="zh-CN" smtClean="0"/>
          </a:p>
        </p:txBody>
      </p:sp>
    </p:spTree>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82947" name="Rectangle 2"/>
          <p:cNvSpPr>
            <a:spLocks noGrp="1" noChangeArrowheads="1"/>
          </p:cNvSpPr>
          <p:nvPr>
            <p:ph type="title"/>
          </p:nvPr>
        </p:nvSpPr>
        <p:spPr/>
        <p:txBody>
          <a:bodyPr/>
          <a:lstStyle/>
          <a:p>
            <a:pPr eaLnBrk="1" hangingPunct="1"/>
            <a:r>
              <a:rPr lang="en-US" altLang="zh-CN" dirty="0" smtClean="0"/>
              <a:t>1.2.4 </a:t>
            </a:r>
            <a:r>
              <a:rPr lang="zh-CN" altLang="en-US" dirty="0" smtClean="0"/>
              <a:t>空间复杂度</a:t>
            </a:r>
            <a:endParaRPr lang="en-US" altLang="zh-CN" dirty="0" smtClean="0"/>
          </a:p>
        </p:txBody>
      </p:sp>
      <p:sp>
        <p:nvSpPr>
          <p:cNvPr id="82948" name="Rectangle 3"/>
          <p:cNvSpPr>
            <a:spLocks noGrp="1" noChangeArrowheads="1"/>
          </p:cNvSpPr>
          <p:nvPr>
            <p:ph type="body" idx="1"/>
          </p:nvPr>
        </p:nvSpPr>
        <p:spPr/>
        <p:txBody>
          <a:bodyPr/>
          <a:lstStyle/>
          <a:p>
            <a:pPr eaLnBrk="1" hangingPunct="1"/>
            <a:r>
              <a:rPr lang="zh-CN" altLang="en-US" smtClean="0"/>
              <a:t>定义：空间复杂度</a:t>
            </a:r>
            <a:r>
              <a:rPr lang="en-US" altLang="zh-CN" smtClean="0"/>
              <a:t>(Space Complexity)</a:t>
            </a:r>
            <a:r>
              <a:rPr lang="zh-CN" altLang="en-US" smtClean="0"/>
              <a:t>是对一个算法在运行过程中</a:t>
            </a:r>
            <a:r>
              <a:rPr lang="zh-CN" altLang="en-US" smtClean="0">
                <a:solidFill>
                  <a:srgbClr val="FF0000"/>
                </a:solidFill>
              </a:rPr>
              <a:t>临时占用存储空间</a:t>
            </a:r>
            <a:r>
              <a:rPr lang="zh-CN" altLang="en-US" smtClean="0"/>
              <a:t>大小的量度</a:t>
            </a:r>
            <a:r>
              <a:rPr lang="en-US" altLang="zh-CN" smtClean="0"/>
              <a:t>,</a:t>
            </a:r>
            <a:r>
              <a:rPr lang="zh-CN" altLang="en-US" smtClean="0"/>
              <a:t>记做</a:t>
            </a:r>
            <a:r>
              <a:rPr lang="en-US" altLang="zh-CN" smtClean="0"/>
              <a:t>S(n)=O(f(n))。</a:t>
            </a:r>
            <a:r>
              <a:rPr lang="zh-CN" altLang="en-US" sz="2400" smtClean="0"/>
              <a:t>其中</a:t>
            </a:r>
            <a:r>
              <a:rPr lang="en-US" altLang="zh-CN" sz="2400" smtClean="0"/>
              <a:t>n</a:t>
            </a:r>
            <a:r>
              <a:rPr lang="zh-CN" altLang="en-US" sz="2400" smtClean="0"/>
              <a:t>为问题的规模</a:t>
            </a:r>
            <a:r>
              <a:rPr lang="en-US" altLang="zh-CN" sz="2400" smtClean="0"/>
              <a:t>(</a:t>
            </a:r>
            <a:r>
              <a:rPr lang="zh-CN" altLang="en-US" sz="2400" smtClean="0"/>
              <a:t>或大小</a:t>
            </a:r>
            <a:r>
              <a:rPr lang="en-US" altLang="zh-CN" sz="2400" smtClean="0"/>
              <a:t>)</a:t>
            </a:r>
            <a:r>
              <a:rPr lang="zh-CN" altLang="en-US" sz="2400" smtClean="0"/>
              <a:t>。</a:t>
            </a:r>
            <a:endParaRPr lang="en-US" altLang="zh-CN" sz="2400" smtClean="0"/>
          </a:p>
          <a:p>
            <a:pPr eaLnBrk="1" hangingPunct="1"/>
            <a:endParaRPr lang="en-US" altLang="zh-CN" sz="2400" smtClean="0"/>
          </a:p>
          <a:p>
            <a:pPr eaLnBrk="1" hangingPunct="1"/>
            <a:r>
              <a:rPr lang="zh-CN" altLang="en-US" sz="2400" smtClean="0"/>
              <a:t>一个算法在计算机存储器上所占用的存储空间，包括存储</a:t>
            </a:r>
            <a:r>
              <a:rPr lang="zh-CN" altLang="en-US" sz="2400" smtClean="0">
                <a:solidFill>
                  <a:srgbClr val="FF0000"/>
                </a:solidFill>
              </a:rPr>
              <a:t>算法本身所占用的存储空间</a:t>
            </a:r>
            <a:r>
              <a:rPr lang="zh-CN" altLang="en-US" sz="2400" smtClean="0"/>
              <a:t>，</a:t>
            </a:r>
            <a:r>
              <a:rPr lang="zh-CN" altLang="en-US" sz="2400" smtClean="0">
                <a:solidFill>
                  <a:srgbClr val="FF0000"/>
                </a:solidFill>
              </a:rPr>
              <a:t>算法的输入输出数据所占用的存储空间</a:t>
            </a:r>
            <a:r>
              <a:rPr lang="zh-CN" altLang="en-US" sz="2400" smtClean="0"/>
              <a:t>和算法在运行过程中</a:t>
            </a:r>
            <a:r>
              <a:rPr lang="zh-CN" altLang="en-US" sz="2400" smtClean="0">
                <a:solidFill>
                  <a:srgbClr val="FF0000"/>
                </a:solidFill>
              </a:rPr>
              <a:t>临时占用的存储空间</a:t>
            </a:r>
            <a:r>
              <a:rPr lang="zh-CN" altLang="en-US" sz="2400" smtClean="0"/>
              <a:t>这三个方面。</a:t>
            </a:r>
            <a:endParaRPr lang="en-US" altLang="zh-CN" sz="2400" smtClean="0"/>
          </a:p>
          <a:p>
            <a:pPr eaLnBrk="1" hangingPunct="1"/>
            <a:endParaRPr lang="en-US" altLang="zh-CN" sz="2400" smtClean="0"/>
          </a:p>
          <a:p>
            <a:pPr eaLnBrk="1" hangingPunct="1"/>
            <a:endParaRPr lang="en-US" altLang="zh-CN" sz="2400" smtClean="0"/>
          </a:p>
          <a:p>
            <a:pPr eaLnBrk="1" hangingPunct="1"/>
            <a:endParaRPr lang="en-US" altLang="zh-CN" smtClean="0"/>
          </a:p>
          <a:p>
            <a:pPr eaLnBrk="1" hangingPunct="1"/>
            <a:endParaRPr lang="en-US" altLang="zh-CN" smtClean="0"/>
          </a:p>
        </p:txBody>
      </p:sp>
    </p:spTree>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83971" name="Rectangle 2"/>
          <p:cNvSpPr>
            <a:spLocks noGrp="1" noChangeArrowheads="1"/>
          </p:cNvSpPr>
          <p:nvPr>
            <p:ph type="title"/>
          </p:nvPr>
        </p:nvSpPr>
        <p:spPr/>
        <p:txBody>
          <a:bodyPr/>
          <a:lstStyle/>
          <a:p>
            <a:pPr eaLnBrk="1" hangingPunct="1"/>
            <a:r>
              <a:rPr lang="en-US" altLang="zh-CN" dirty="0"/>
              <a:t>1.2.4 </a:t>
            </a:r>
            <a:r>
              <a:rPr lang="zh-CN" altLang="en-US" dirty="0"/>
              <a:t>空间复杂</a:t>
            </a:r>
            <a:r>
              <a:rPr lang="zh-CN" altLang="en-US" dirty="0" smtClean="0"/>
              <a:t>度</a:t>
            </a:r>
            <a:r>
              <a:rPr lang="en-US" altLang="zh-CN" dirty="0">
                <a:latin typeface="+mn-ea"/>
              </a:rPr>
              <a:t>——</a:t>
            </a:r>
            <a:r>
              <a:rPr lang="zh-CN" altLang="en-US" dirty="0" smtClean="0"/>
              <a:t>程序所需要的空间</a:t>
            </a:r>
            <a:endParaRPr lang="en-US" altLang="zh-CN" dirty="0" smtClean="0"/>
          </a:p>
        </p:txBody>
      </p:sp>
      <p:sp>
        <p:nvSpPr>
          <p:cNvPr id="73731" name="Rectangle 3"/>
          <p:cNvSpPr>
            <a:spLocks noGrp="1" noChangeArrowheads="1"/>
          </p:cNvSpPr>
          <p:nvPr>
            <p:ph type="body" idx="1"/>
          </p:nvPr>
        </p:nvSpPr>
        <p:spPr>
          <a:xfrm>
            <a:off x="589395" y="1196975"/>
            <a:ext cx="8377052" cy="4525962"/>
          </a:xfrm>
        </p:spPr>
        <p:txBody>
          <a:bodyPr/>
          <a:lstStyle/>
          <a:p>
            <a:pPr lvl="1">
              <a:spcBef>
                <a:spcPts val="0"/>
              </a:spcBef>
              <a:defRPr/>
            </a:pPr>
            <a:r>
              <a:rPr lang="zh-CN" altLang="en-US" dirty="0" smtClean="0">
                <a:latin typeface="+mn-lt"/>
                <a:ea typeface="+mn-ea"/>
                <a:cs typeface="+mn-cs"/>
              </a:rPr>
              <a:t>在分析空间复杂性中，</a:t>
            </a:r>
            <a:r>
              <a:rPr lang="zh-CN" altLang="en-US" dirty="0" smtClean="0">
                <a:solidFill>
                  <a:srgbClr val="FF0000"/>
                </a:solidFill>
                <a:latin typeface="+mn-lt"/>
                <a:ea typeface="+mn-ea"/>
                <a:cs typeface="+mn-cs"/>
              </a:rPr>
              <a:t>实例特征</a:t>
            </a:r>
            <a:r>
              <a:rPr lang="zh-CN" altLang="en-US" dirty="0" smtClean="0">
                <a:latin typeface="+mn-lt"/>
                <a:ea typeface="+mn-ea"/>
                <a:cs typeface="+mn-cs"/>
              </a:rPr>
              <a:t>的概念特别重要。</a:t>
            </a:r>
            <a:endParaRPr lang="en-US" altLang="zh-CN" dirty="0" smtClean="0">
              <a:latin typeface="+mn-lt"/>
              <a:ea typeface="+mn-ea"/>
              <a:cs typeface="+mn-cs"/>
            </a:endParaRPr>
          </a:p>
          <a:p>
            <a:pPr lvl="1">
              <a:spcBef>
                <a:spcPts val="0"/>
              </a:spcBef>
              <a:defRPr/>
            </a:pPr>
            <a:r>
              <a:rPr lang="zh-CN" altLang="en-US" dirty="0" smtClean="0">
                <a:latin typeface="+mn-lt"/>
                <a:ea typeface="+mn-ea"/>
                <a:cs typeface="+mn-cs"/>
              </a:rPr>
              <a:t>所谓</a:t>
            </a:r>
            <a:r>
              <a:rPr lang="zh-CN" altLang="en-US" dirty="0" smtClean="0">
                <a:solidFill>
                  <a:srgbClr val="FF0000"/>
                </a:solidFill>
                <a:latin typeface="+mn-lt"/>
                <a:ea typeface="+mn-ea"/>
                <a:cs typeface="+mn-cs"/>
              </a:rPr>
              <a:t>实例特征</a:t>
            </a:r>
            <a:r>
              <a:rPr lang="zh-CN" altLang="en-US" dirty="0" smtClean="0">
                <a:latin typeface="+mn-lt"/>
                <a:ea typeface="+mn-ea"/>
                <a:cs typeface="+mn-cs"/>
              </a:rPr>
              <a:t>是指决定问题规模的那些因素。如，输入和输出的数量或相关数的大小，如对 </a:t>
            </a:r>
            <a:r>
              <a:rPr lang="en-US" altLang="zh-CN" dirty="0" smtClean="0">
                <a:latin typeface="+mn-lt"/>
                <a:ea typeface="+mn-ea"/>
                <a:cs typeface="+mn-cs"/>
              </a:rPr>
              <a:t>n </a:t>
            </a:r>
            <a:r>
              <a:rPr lang="zh-CN" altLang="en-US" dirty="0" smtClean="0">
                <a:latin typeface="+mn-lt"/>
                <a:ea typeface="+mn-ea"/>
                <a:cs typeface="+mn-cs"/>
              </a:rPr>
              <a:t>个元素进行排序、</a:t>
            </a:r>
            <a:r>
              <a:rPr lang="en-US" altLang="zh-CN" dirty="0" smtClean="0">
                <a:latin typeface="+mn-lt"/>
                <a:ea typeface="+mn-ea"/>
                <a:cs typeface="+mn-cs"/>
              </a:rPr>
              <a:t>n</a:t>
            </a:r>
            <a:r>
              <a:rPr lang="zh-CN" altLang="en-US" dirty="0" smtClean="0">
                <a:latin typeface="+mn-lt"/>
                <a:ea typeface="+mn-ea"/>
                <a:cs typeface="+mn-cs"/>
                <a:sym typeface="Symbol" panose="05050102010706020507" pitchFamily="18" charset="2"/>
              </a:rPr>
              <a:t></a:t>
            </a:r>
            <a:r>
              <a:rPr lang="en-US" altLang="zh-CN" dirty="0" smtClean="0">
                <a:latin typeface="+mn-lt"/>
                <a:ea typeface="+mn-ea"/>
                <a:cs typeface="+mn-cs"/>
                <a:sym typeface="Symbol" panose="05050102010706020507" pitchFamily="18" charset="2"/>
              </a:rPr>
              <a:t>n</a:t>
            </a:r>
            <a:r>
              <a:rPr lang="zh-CN" altLang="en-US" dirty="0" smtClean="0">
                <a:latin typeface="+mn-lt"/>
                <a:ea typeface="+mn-ea"/>
                <a:cs typeface="+mn-cs"/>
                <a:sym typeface="Symbol" panose="05050102010706020507" pitchFamily="18" charset="2"/>
              </a:rPr>
              <a:t>矩阵的加法等。都可以 </a:t>
            </a:r>
            <a:r>
              <a:rPr lang="en-US" altLang="zh-CN" dirty="0" smtClean="0">
                <a:latin typeface="+mn-lt"/>
                <a:ea typeface="+mn-ea"/>
                <a:cs typeface="+mn-cs"/>
                <a:sym typeface="Symbol" panose="05050102010706020507" pitchFamily="18" charset="2"/>
              </a:rPr>
              <a:t>n </a:t>
            </a:r>
            <a:r>
              <a:rPr lang="zh-CN" altLang="en-US" dirty="0" smtClean="0">
                <a:latin typeface="+mn-lt"/>
                <a:ea typeface="+mn-ea"/>
                <a:cs typeface="+mn-cs"/>
                <a:sym typeface="Symbol" panose="05050102010706020507" pitchFamily="18" charset="2"/>
              </a:rPr>
              <a:t>作为实例特征， 两个 </a:t>
            </a:r>
            <a:r>
              <a:rPr lang="en-US" altLang="zh-CN" dirty="0" smtClean="0">
                <a:latin typeface="+mn-lt"/>
                <a:ea typeface="+mn-ea"/>
                <a:cs typeface="+mn-cs"/>
                <a:sym typeface="Symbol" panose="05050102010706020507" pitchFamily="18" charset="2"/>
              </a:rPr>
              <a:t>m</a:t>
            </a:r>
            <a:r>
              <a:rPr lang="zh-CN" altLang="en-US" dirty="0" smtClean="0">
                <a:latin typeface="+mn-lt"/>
                <a:ea typeface="+mn-ea"/>
                <a:cs typeface="+mn-cs"/>
                <a:sym typeface="Symbol" panose="05050102010706020507" pitchFamily="18" charset="2"/>
              </a:rPr>
              <a:t></a:t>
            </a:r>
            <a:r>
              <a:rPr lang="en-US" altLang="zh-CN" dirty="0" smtClean="0">
                <a:latin typeface="+mn-lt"/>
                <a:ea typeface="+mn-ea"/>
                <a:cs typeface="+mn-cs"/>
                <a:sym typeface="Symbol" panose="05050102010706020507" pitchFamily="18" charset="2"/>
              </a:rPr>
              <a:t>n </a:t>
            </a:r>
            <a:r>
              <a:rPr lang="zh-CN" altLang="en-US" dirty="0" smtClean="0">
                <a:latin typeface="+mn-lt"/>
                <a:ea typeface="+mn-ea"/>
                <a:cs typeface="+mn-cs"/>
                <a:sym typeface="Symbol" panose="05050102010706020507" pitchFamily="18" charset="2"/>
              </a:rPr>
              <a:t>矩阵的加法应该以</a:t>
            </a:r>
            <a:r>
              <a:rPr lang="en-US" altLang="zh-CN" dirty="0" smtClean="0">
                <a:latin typeface="+mn-lt"/>
                <a:ea typeface="+mn-ea"/>
                <a:cs typeface="+mn-cs"/>
                <a:sym typeface="Symbol" panose="05050102010706020507" pitchFamily="18" charset="2"/>
              </a:rPr>
              <a:t>n </a:t>
            </a:r>
            <a:r>
              <a:rPr lang="zh-CN" altLang="en-US" dirty="0" smtClean="0">
                <a:latin typeface="+mn-lt"/>
                <a:ea typeface="+mn-ea"/>
                <a:cs typeface="+mn-cs"/>
                <a:sym typeface="Symbol" panose="05050102010706020507" pitchFamily="18" charset="2"/>
              </a:rPr>
              <a:t>和 </a:t>
            </a:r>
            <a:r>
              <a:rPr lang="en-US" altLang="zh-CN" dirty="0" smtClean="0">
                <a:latin typeface="+mn-lt"/>
                <a:ea typeface="+mn-ea"/>
                <a:cs typeface="+mn-cs"/>
                <a:sym typeface="Symbol" panose="05050102010706020507" pitchFamily="18" charset="2"/>
              </a:rPr>
              <a:t>m </a:t>
            </a:r>
            <a:r>
              <a:rPr lang="zh-CN" altLang="en-US" dirty="0" smtClean="0">
                <a:latin typeface="+mn-lt"/>
                <a:ea typeface="+mn-ea"/>
                <a:cs typeface="+mn-cs"/>
                <a:sym typeface="Symbol" panose="05050102010706020507" pitchFamily="18" charset="2"/>
              </a:rPr>
              <a:t>两个数作为实例特征。</a:t>
            </a:r>
            <a:endParaRPr lang="en-US" altLang="zh-CN" dirty="0" smtClean="0">
              <a:latin typeface="+mn-lt"/>
              <a:ea typeface="+mn-ea"/>
              <a:cs typeface="+mn-cs"/>
              <a:sym typeface="Symbol" panose="05050102010706020507" pitchFamily="18" charset="2"/>
            </a:endParaRPr>
          </a:p>
          <a:p>
            <a:pPr lvl="1">
              <a:spcBef>
                <a:spcPts val="0"/>
              </a:spcBef>
              <a:defRPr/>
            </a:pPr>
            <a:endParaRPr lang="zh-CN" altLang="en-US" dirty="0" smtClean="0">
              <a:latin typeface="+mn-lt"/>
              <a:ea typeface="+mn-ea"/>
              <a:cs typeface="+mn-cs"/>
              <a:sym typeface="Symbol" panose="05050102010706020507" pitchFamily="18" charset="2"/>
            </a:endParaRPr>
          </a:p>
          <a:p>
            <a:pPr lvl="1">
              <a:spcBef>
                <a:spcPts val="0"/>
              </a:spcBef>
              <a:defRPr/>
            </a:pPr>
            <a:r>
              <a:rPr lang="zh-CN" altLang="en-US" dirty="0" smtClean="0">
                <a:latin typeface="+mn-lt"/>
                <a:ea typeface="+mn-ea"/>
                <a:cs typeface="+mn-cs"/>
              </a:rPr>
              <a:t>一个程序所需要的空间可分为两部分：</a:t>
            </a:r>
            <a:endParaRPr lang="zh-CN" altLang="en-US" dirty="0" smtClean="0">
              <a:latin typeface="+mn-lt"/>
              <a:ea typeface="+mn-ea"/>
              <a:cs typeface="+mn-cs"/>
            </a:endParaRPr>
          </a:p>
          <a:p>
            <a:pPr lvl="2">
              <a:spcBef>
                <a:spcPts val="0"/>
              </a:spcBef>
              <a:buFont typeface="Wingdings" panose="05000000000000000000" pitchFamily="2" charset="2"/>
              <a:buChar char="Ø"/>
              <a:defRPr/>
            </a:pPr>
            <a:r>
              <a:rPr lang="zh-CN" altLang="en-US" dirty="0" smtClean="0">
                <a:solidFill>
                  <a:srgbClr val="FF0000"/>
                </a:solidFill>
                <a:latin typeface="+mn-lt"/>
                <a:ea typeface="+mn-ea"/>
                <a:cs typeface="+mn-cs"/>
              </a:rPr>
              <a:t>固定部分</a:t>
            </a:r>
            <a:r>
              <a:rPr lang="zh-CN" altLang="en-US" dirty="0" smtClean="0">
                <a:latin typeface="+mn-lt"/>
                <a:ea typeface="+mn-ea"/>
                <a:cs typeface="+mn-cs"/>
              </a:rPr>
              <a:t>，它独立于实例特征。主要包括指令空间、简单变量以及定义复合变量所占用的空间、常量所占用的空间。</a:t>
            </a:r>
            <a:endParaRPr lang="zh-CN" altLang="en-US" dirty="0" smtClean="0">
              <a:latin typeface="+mn-lt"/>
              <a:ea typeface="+mn-ea"/>
              <a:cs typeface="+mn-cs"/>
            </a:endParaRPr>
          </a:p>
          <a:p>
            <a:pPr lvl="2">
              <a:spcBef>
                <a:spcPts val="0"/>
              </a:spcBef>
              <a:buFont typeface="Wingdings" panose="05000000000000000000" pitchFamily="2" charset="2"/>
              <a:buChar char="Ø"/>
              <a:defRPr/>
            </a:pPr>
            <a:r>
              <a:rPr lang="zh-CN" altLang="en-US" dirty="0" smtClean="0">
                <a:solidFill>
                  <a:srgbClr val="FF0000"/>
                </a:solidFill>
                <a:latin typeface="+mn-lt"/>
                <a:ea typeface="+mn-ea"/>
                <a:cs typeface="+mn-cs"/>
              </a:rPr>
              <a:t>可变部分</a:t>
            </a:r>
            <a:r>
              <a:rPr lang="zh-CN" altLang="en-US" dirty="0" smtClean="0">
                <a:latin typeface="+mn-lt"/>
                <a:ea typeface="+mn-ea"/>
                <a:cs typeface="+mn-cs"/>
              </a:rPr>
              <a:t>，主要包括复合变量所需的空间（其大小依赖于所解决的具体问题）。动态分配的空间（依赖于实例特征）、递归栈所需的空间（依赖于实例特征）。</a:t>
            </a:r>
            <a:endParaRPr lang="zh-CN" altLang="en-US" dirty="0" smtClean="0">
              <a:latin typeface="+mn-lt"/>
              <a:ea typeface="+mn-ea"/>
              <a:cs typeface="+mn-cs"/>
            </a:endParaRPr>
          </a:p>
          <a:p>
            <a:pPr eaLnBrk="1" hangingPunct="1">
              <a:spcBef>
                <a:spcPts val="0"/>
              </a:spcBef>
              <a:defRPr/>
            </a:pPr>
            <a:endParaRPr lang="en-US" altLang="zh-CN" dirty="0" smtClean="0"/>
          </a:p>
          <a:p>
            <a:pPr eaLnBrk="1" hangingPunct="1">
              <a:spcBef>
                <a:spcPts val="0"/>
              </a:spcBef>
              <a:defRPr/>
            </a:pPr>
            <a:endParaRPr lang="en-US" altLang="zh-CN" dirty="0" smtClean="0"/>
          </a:p>
        </p:txBody>
      </p:sp>
    </p:spTree>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84995" name="Rectangle 2"/>
          <p:cNvSpPr>
            <a:spLocks noGrp="1" noChangeArrowheads="1"/>
          </p:cNvSpPr>
          <p:nvPr>
            <p:ph type="title"/>
          </p:nvPr>
        </p:nvSpPr>
        <p:spPr/>
        <p:txBody>
          <a:bodyPr/>
          <a:lstStyle/>
          <a:p>
            <a:pPr eaLnBrk="1" hangingPunct="1"/>
            <a:r>
              <a:rPr lang="en-US" altLang="zh-CN" dirty="0">
                <a:solidFill>
                  <a:srgbClr val="333399"/>
                </a:solidFill>
              </a:rPr>
              <a:t>1.2.4 </a:t>
            </a:r>
            <a:r>
              <a:rPr lang="zh-CN" altLang="en-US" dirty="0">
                <a:solidFill>
                  <a:srgbClr val="333399"/>
                </a:solidFill>
              </a:rPr>
              <a:t>空间复杂度</a:t>
            </a:r>
            <a:r>
              <a:rPr lang="en-US" altLang="zh-CN" dirty="0">
                <a:solidFill>
                  <a:srgbClr val="333399"/>
                </a:solidFill>
                <a:latin typeface="华文楷体" panose="02010600040101010101" pitchFamily="2" charset="-122"/>
              </a:rPr>
              <a:t>——</a:t>
            </a:r>
            <a:r>
              <a:rPr lang="zh-CN" altLang="en-US" dirty="0" smtClean="0"/>
              <a:t>程序所需要的空间</a:t>
            </a:r>
            <a:endParaRPr lang="en-US" altLang="zh-CN" dirty="0" smtClean="0"/>
          </a:p>
        </p:txBody>
      </p:sp>
      <p:sp>
        <p:nvSpPr>
          <p:cNvPr id="84996" name="Rectangle 3"/>
          <p:cNvSpPr>
            <a:spLocks noGrp="1" noChangeArrowheads="1"/>
          </p:cNvSpPr>
          <p:nvPr>
            <p:ph type="body" idx="1"/>
          </p:nvPr>
        </p:nvSpPr>
        <p:spPr/>
        <p:txBody>
          <a:bodyPr/>
          <a:lstStyle/>
          <a:p>
            <a:pPr>
              <a:spcBef>
                <a:spcPct val="50000"/>
              </a:spcBef>
            </a:pPr>
            <a:r>
              <a:rPr lang="zh-CN" altLang="en-US" sz="2200" dirty="0" smtClean="0"/>
              <a:t>令 </a:t>
            </a:r>
            <a:r>
              <a:rPr lang="en-US" altLang="zh-CN" sz="2200" dirty="0" smtClean="0"/>
              <a:t>S(P)</a:t>
            </a:r>
            <a:r>
              <a:rPr lang="zh-CN" altLang="en-US" sz="2200" dirty="0" smtClean="0"/>
              <a:t>表示程序 </a:t>
            </a:r>
            <a:r>
              <a:rPr lang="en-US" altLang="zh-CN" sz="2200" dirty="0" smtClean="0"/>
              <a:t>P </a:t>
            </a:r>
            <a:r>
              <a:rPr lang="zh-CN" altLang="en-US" sz="2200" dirty="0" smtClean="0"/>
              <a:t>所需的空间，则有</a:t>
            </a:r>
            <a:endParaRPr lang="zh-CN" altLang="en-US" sz="2200" dirty="0" smtClean="0"/>
          </a:p>
          <a:p>
            <a:pPr>
              <a:spcBef>
                <a:spcPct val="50000"/>
              </a:spcBef>
              <a:buFont typeface="Wingdings" panose="05000000000000000000" pitchFamily="2" charset="2"/>
              <a:buNone/>
            </a:pPr>
            <a:r>
              <a:rPr lang="en-US" altLang="zh-CN" sz="2200" dirty="0" smtClean="0"/>
              <a:t>            S(P）=c + </a:t>
            </a:r>
            <a:r>
              <a:rPr lang="en-US" altLang="zh-CN" sz="2200" dirty="0" err="1" smtClean="0"/>
              <a:t>Sp</a:t>
            </a:r>
            <a:r>
              <a:rPr lang="en-US" altLang="zh-CN" sz="2200" dirty="0" smtClean="0"/>
              <a:t>(</a:t>
            </a:r>
            <a:r>
              <a:rPr lang="zh-CN" altLang="en-US" sz="2200" dirty="0" smtClean="0"/>
              <a:t>实例特征)</a:t>
            </a:r>
            <a:endParaRPr lang="en-US" altLang="zh-CN" sz="2200" dirty="0" smtClean="0"/>
          </a:p>
          <a:p>
            <a:pPr>
              <a:spcBef>
                <a:spcPct val="50000"/>
              </a:spcBef>
            </a:pPr>
            <a:r>
              <a:rPr lang="zh-CN" altLang="en-US" sz="2200" dirty="0" smtClean="0"/>
              <a:t>其中：</a:t>
            </a:r>
            <a:endParaRPr lang="en-US" altLang="zh-CN" sz="2200" dirty="0"/>
          </a:p>
          <a:p>
            <a:pPr marL="857250" lvl="1" indent="-457200">
              <a:spcBef>
                <a:spcPct val="50000"/>
              </a:spcBef>
              <a:buFont typeface="+mj-lt"/>
              <a:buAutoNum type="alphaLcParenR"/>
            </a:pPr>
            <a:r>
              <a:rPr lang="en-US" altLang="zh-CN" dirty="0">
                <a:latin typeface="+mn-lt"/>
                <a:ea typeface="+mn-ea"/>
                <a:cs typeface="+mn-cs"/>
              </a:rPr>
              <a:t> </a:t>
            </a:r>
            <a:r>
              <a:rPr lang="en-US" altLang="zh-CN" dirty="0" smtClean="0">
                <a:solidFill>
                  <a:srgbClr val="FF0000"/>
                </a:solidFill>
                <a:latin typeface="+mn-lt"/>
                <a:ea typeface="+mn-ea"/>
                <a:cs typeface="+mn-cs"/>
              </a:rPr>
              <a:t>c </a:t>
            </a:r>
            <a:r>
              <a:rPr lang="zh-CN" altLang="en-US" dirty="0">
                <a:latin typeface="+mn-lt"/>
                <a:ea typeface="+mn-ea"/>
                <a:cs typeface="+mn-cs"/>
              </a:rPr>
              <a:t>表示固定部分所需要的空间，是一个常数；</a:t>
            </a:r>
            <a:endParaRPr lang="en-US" altLang="zh-CN" dirty="0">
              <a:latin typeface="+mn-lt"/>
              <a:ea typeface="+mn-ea"/>
              <a:cs typeface="+mn-cs"/>
            </a:endParaRPr>
          </a:p>
          <a:p>
            <a:pPr marL="857250" lvl="1" indent="-457200">
              <a:spcBef>
                <a:spcPct val="50000"/>
              </a:spcBef>
              <a:buFont typeface="+mj-lt"/>
              <a:buAutoNum type="alphaLcParenR"/>
            </a:pPr>
            <a:r>
              <a:rPr lang="en-US" altLang="zh-CN" dirty="0" smtClean="0">
                <a:latin typeface="+mn-lt"/>
                <a:ea typeface="+mn-ea"/>
                <a:cs typeface="+mn-cs"/>
              </a:rPr>
              <a:t> </a:t>
            </a:r>
            <a:r>
              <a:rPr lang="en-US" altLang="zh-CN" dirty="0" err="1" smtClean="0">
                <a:solidFill>
                  <a:srgbClr val="FF0000"/>
                </a:solidFill>
                <a:latin typeface="+mn-lt"/>
                <a:ea typeface="+mn-ea"/>
                <a:cs typeface="+mn-cs"/>
              </a:rPr>
              <a:t>Sp</a:t>
            </a:r>
            <a:r>
              <a:rPr lang="en-US" altLang="zh-CN" dirty="0" smtClean="0">
                <a:latin typeface="+mn-lt"/>
                <a:ea typeface="+mn-ea"/>
                <a:cs typeface="+mn-cs"/>
              </a:rPr>
              <a:t> </a:t>
            </a:r>
            <a:r>
              <a:rPr lang="zh-CN" altLang="en-US" dirty="0">
                <a:latin typeface="+mn-lt"/>
                <a:ea typeface="+mn-ea"/>
                <a:cs typeface="+mn-cs"/>
              </a:rPr>
              <a:t>表示可变部分所需的空间。在分析程序的空间复杂性时，一般着重于估算</a:t>
            </a:r>
            <a:r>
              <a:rPr lang="en-US" altLang="zh-CN" dirty="0" err="1">
                <a:latin typeface="+mn-lt"/>
                <a:ea typeface="+mn-ea"/>
                <a:cs typeface="+mn-cs"/>
              </a:rPr>
              <a:t>Sp</a:t>
            </a:r>
            <a:r>
              <a:rPr lang="en-US" altLang="zh-CN" dirty="0">
                <a:latin typeface="+mn-lt"/>
                <a:ea typeface="+mn-ea"/>
                <a:cs typeface="+mn-cs"/>
              </a:rPr>
              <a:t>(</a:t>
            </a:r>
            <a:r>
              <a:rPr lang="zh-CN" altLang="en-US" dirty="0">
                <a:latin typeface="+mn-lt"/>
                <a:ea typeface="+mn-ea"/>
                <a:cs typeface="+mn-cs"/>
              </a:rPr>
              <a:t>实例特征)。</a:t>
            </a:r>
            <a:endParaRPr lang="zh-CN" altLang="en-US" dirty="0">
              <a:latin typeface="+mn-lt"/>
              <a:ea typeface="+mn-ea"/>
              <a:cs typeface="+mn-cs"/>
            </a:endParaRPr>
          </a:p>
          <a:p>
            <a:pPr eaLnBrk="1" hangingPunct="1"/>
            <a:endParaRPr lang="en-US" altLang="zh-CN" dirty="0" smtClean="0"/>
          </a:p>
          <a:p>
            <a:pPr eaLnBrk="1" hangingPunct="1"/>
            <a:endParaRPr lang="en-US" altLang="zh-CN" dirty="0" smtClean="0"/>
          </a:p>
        </p:txBody>
      </p:sp>
    </p:spTree>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86019" name="Rectangle 2"/>
          <p:cNvSpPr>
            <a:spLocks noGrp="1" noChangeArrowheads="1"/>
          </p:cNvSpPr>
          <p:nvPr>
            <p:ph type="title"/>
          </p:nvPr>
        </p:nvSpPr>
        <p:spPr/>
        <p:txBody>
          <a:bodyPr/>
          <a:lstStyle/>
          <a:p>
            <a:pPr eaLnBrk="1" hangingPunct="1"/>
            <a:r>
              <a:rPr lang="en-US" altLang="zh-CN" dirty="0"/>
              <a:t>1.2.4 </a:t>
            </a:r>
            <a:r>
              <a:rPr lang="zh-CN" altLang="en-US" dirty="0"/>
              <a:t>空间复杂度</a:t>
            </a:r>
            <a:r>
              <a:rPr lang="en-US" altLang="zh-CN" dirty="0">
                <a:latin typeface="+mn-ea"/>
              </a:rPr>
              <a:t>——</a:t>
            </a:r>
            <a:r>
              <a:rPr lang="zh-CN" altLang="en-US" dirty="0" smtClean="0"/>
              <a:t>程序所需要的空间</a:t>
            </a:r>
            <a:endParaRPr lang="en-US" altLang="zh-CN" dirty="0" smtClean="0"/>
          </a:p>
        </p:txBody>
      </p:sp>
      <p:sp>
        <p:nvSpPr>
          <p:cNvPr id="73731" name="Rectangle 3"/>
          <p:cNvSpPr>
            <a:spLocks noGrp="1" noChangeArrowheads="1"/>
          </p:cNvSpPr>
          <p:nvPr>
            <p:ph type="body" idx="1"/>
          </p:nvPr>
        </p:nvSpPr>
        <p:spPr>
          <a:xfrm>
            <a:off x="394086" y="1196975"/>
            <a:ext cx="7786687" cy="4525962"/>
          </a:xfrm>
        </p:spPr>
        <p:txBody>
          <a:bodyPr/>
          <a:lstStyle/>
          <a:p>
            <a:pPr lvl="1">
              <a:spcBef>
                <a:spcPts val="600"/>
              </a:spcBef>
              <a:buSzPct val="160000"/>
              <a:buFontTx/>
              <a:buNone/>
              <a:defRPr/>
            </a:pPr>
            <a:r>
              <a:rPr lang="en-US" altLang="zh-CN" sz="2500" dirty="0" smtClean="0">
                <a:solidFill>
                  <a:srgbClr val="FF0000"/>
                </a:solidFill>
                <a:latin typeface="+mn-lt"/>
                <a:ea typeface="+mn-ea"/>
                <a:cs typeface="+mn-cs"/>
              </a:rPr>
              <a:t>1.</a:t>
            </a:r>
            <a:r>
              <a:rPr lang="zh-CN" altLang="en-US" sz="2500" dirty="0" smtClean="0">
                <a:solidFill>
                  <a:srgbClr val="FF0000"/>
                </a:solidFill>
                <a:latin typeface="+mn-lt"/>
                <a:ea typeface="+mn-ea"/>
                <a:cs typeface="+mn-cs"/>
              </a:rPr>
              <a:t>指令空间</a:t>
            </a:r>
            <a:r>
              <a:rPr lang="zh-CN" altLang="en-US" sz="2500" dirty="0" smtClean="0">
                <a:latin typeface="+mn-lt"/>
                <a:ea typeface="+mn-ea"/>
                <a:cs typeface="+mn-cs"/>
              </a:rPr>
              <a:t>---用来存储经过编译之后的程序空间。程序所需的指令空间的大小取决于如下因素：</a:t>
            </a:r>
            <a:endParaRPr lang="zh-CN" altLang="en-US" sz="2500" dirty="0" smtClean="0">
              <a:latin typeface="+mn-lt"/>
              <a:ea typeface="+mn-ea"/>
              <a:cs typeface="+mn-cs"/>
            </a:endParaRPr>
          </a:p>
          <a:p>
            <a:pPr lvl="2">
              <a:spcBef>
                <a:spcPts val="600"/>
              </a:spcBef>
              <a:defRPr/>
            </a:pPr>
            <a:r>
              <a:rPr lang="zh-CN" altLang="en-US" sz="2400" dirty="0" smtClean="0">
                <a:latin typeface="+mn-lt"/>
                <a:ea typeface="+mn-ea"/>
                <a:cs typeface="+mn-cs"/>
              </a:rPr>
              <a:t> 把程序编译成机器代码的编译器；</a:t>
            </a:r>
            <a:endParaRPr lang="zh-CN" altLang="en-US" sz="2400" dirty="0" smtClean="0">
              <a:latin typeface="+mn-lt"/>
              <a:ea typeface="+mn-ea"/>
              <a:cs typeface="+mn-cs"/>
            </a:endParaRPr>
          </a:p>
          <a:p>
            <a:pPr lvl="2">
              <a:spcBef>
                <a:spcPts val="600"/>
              </a:spcBef>
              <a:defRPr/>
            </a:pPr>
            <a:r>
              <a:rPr lang="zh-CN" altLang="en-US" sz="2400" dirty="0" smtClean="0">
                <a:latin typeface="+mn-lt"/>
                <a:ea typeface="+mn-ea"/>
                <a:cs typeface="+mn-cs"/>
              </a:rPr>
              <a:t> 编译时实际采用的编译器选项；</a:t>
            </a:r>
            <a:endParaRPr lang="zh-CN" altLang="en-US" sz="2400" dirty="0" smtClean="0">
              <a:latin typeface="+mn-lt"/>
              <a:ea typeface="+mn-ea"/>
              <a:cs typeface="+mn-cs"/>
            </a:endParaRPr>
          </a:p>
          <a:p>
            <a:pPr lvl="2">
              <a:spcBef>
                <a:spcPts val="600"/>
              </a:spcBef>
              <a:defRPr/>
            </a:pPr>
            <a:r>
              <a:rPr lang="zh-CN" altLang="en-US" sz="2400" dirty="0" smtClean="0">
                <a:latin typeface="+mn-lt"/>
                <a:ea typeface="+mn-ea"/>
                <a:cs typeface="+mn-cs"/>
              </a:rPr>
              <a:t> 目标计算机。</a:t>
            </a:r>
            <a:endParaRPr lang="zh-CN" altLang="en-US" sz="2400" dirty="0" smtClean="0">
              <a:latin typeface="+mn-lt"/>
              <a:ea typeface="+mn-ea"/>
              <a:cs typeface="+mn-cs"/>
            </a:endParaRPr>
          </a:p>
          <a:p>
            <a:pPr eaLnBrk="1" hangingPunct="1">
              <a:defRPr/>
            </a:pPr>
            <a:endParaRPr lang="en-US" altLang="zh-CN" dirty="0" smtClean="0"/>
          </a:p>
          <a:p>
            <a:pPr eaLnBrk="1" hangingPunct="1">
              <a:defRPr/>
            </a:pPr>
            <a:endParaRPr lang="en-US" altLang="zh-CN" dirty="0" smtClean="0"/>
          </a:p>
        </p:txBody>
      </p:sp>
    </p:spTree>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87043" name="Rectangle 2"/>
          <p:cNvSpPr>
            <a:spLocks noGrp="1" noChangeArrowheads="1"/>
          </p:cNvSpPr>
          <p:nvPr>
            <p:ph type="title"/>
          </p:nvPr>
        </p:nvSpPr>
        <p:spPr/>
        <p:txBody>
          <a:bodyPr/>
          <a:lstStyle/>
          <a:p>
            <a:pPr eaLnBrk="1" hangingPunct="1"/>
            <a:r>
              <a:rPr lang="en-US" altLang="zh-CN" dirty="0"/>
              <a:t>1.2.4 </a:t>
            </a:r>
            <a:r>
              <a:rPr lang="zh-CN" altLang="en-US" dirty="0"/>
              <a:t>空间复杂度</a:t>
            </a:r>
            <a:r>
              <a:rPr lang="en-US" altLang="zh-CN" dirty="0">
                <a:latin typeface="+mn-ea"/>
              </a:rPr>
              <a:t>——</a:t>
            </a:r>
            <a:r>
              <a:rPr lang="zh-CN" altLang="en-US" dirty="0" smtClean="0"/>
              <a:t>程序所需要的空间</a:t>
            </a:r>
            <a:endParaRPr lang="en-US" altLang="zh-CN" dirty="0" smtClean="0"/>
          </a:p>
        </p:txBody>
      </p:sp>
      <p:sp>
        <p:nvSpPr>
          <p:cNvPr id="73731" name="Rectangle 3"/>
          <p:cNvSpPr>
            <a:spLocks noGrp="1" noChangeArrowheads="1"/>
          </p:cNvSpPr>
          <p:nvPr>
            <p:ph type="body" idx="1"/>
          </p:nvPr>
        </p:nvSpPr>
        <p:spPr>
          <a:xfrm>
            <a:off x="536129" y="1286168"/>
            <a:ext cx="7786687" cy="4525962"/>
          </a:xfrm>
        </p:spPr>
        <p:txBody>
          <a:bodyPr/>
          <a:lstStyle/>
          <a:p>
            <a:pPr lvl="1">
              <a:spcBef>
                <a:spcPts val="600"/>
              </a:spcBef>
              <a:buSzPct val="160000"/>
              <a:buFontTx/>
              <a:buNone/>
              <a:defRPr/>
            </a:pPr>
            <a:r>
              <a:rPr lang="en-US" altLang="zh-CN" sz="2500" dirty="0" smtClean="0">
                <a:solidFill>
                  <a:srgbClr val="FF0000"/>
                </a:solidFill>
                <a:latin typeface="+mn-lt"/>
                <a:ea typeface="+mn-ea"/>
                <a:cs typeface="+mn-cs"/>
              </a:rPr>
              <a:t>2.</a:t>
            </a:r>
            <a:r>
              <a:rPr lang="zh-CN" altLang="en-US" sz="2500" dirty="0" smtClean="0">
                <a:solidFill>
                  <a:srgbClr val="FF0000"/>
                </a:solidFill>
                <a:latin typeface="+mn-lt"/>
                <a:ea typeface="+mn-ea"/>
                <a:cs typeface="+mn-cs"/>
              </a:rPr>
              <a:t>数据空间</a:t>
            </a:r>
            <a:r>
              <a:rPr lang="zh-CN" altLang="en-US" sz="2500" dirty="0" smtClean="0">
                <a:latin typeface="+mn-lt"/>
                <a:ea typeface="+mn-ea"/>
                <a:cs typeface="+mn-cs"/>
              </a:rPr>
              <a:t>---用来存储所有常量和变量的值。分成两部分：</a:t>
            </a:r>
            <a:endParaRPr lang="en-US" altLang="zh-CN" sz="2500" dirty="0" smtClean="0">
              <a:latin typeface="+mn-lt"/>
              <a:ea typeface="+mn-ea"/>
              <a:cs typeface="+mn-cs"/>
            </a:endParaRPr>
          </a:p>
          <a:p>
            <a:pPr lvl="1">
              <a:spcBef>
                <a:spcPts val="600"/>
              </a:spcBef>
              <a:buSzPct val="160000"/>
              <a:buFontTx/>
              <a:buNone/>
              <a:defRPr/>
            </a:pPr>
            <a:r>
              <a:rPr lang="zh-CN" altLang="en-US" sz="2500" dirty="0" smtClean="0">
                <a:latin typeface="+mn-lt"/>
                <a:ea typeface="+mn-ea"/>
                <a:cs typeface="+mn-cs"/>
              </a:rPr>
              <a:t>    </a:t>
            </a:r>
            <a:r>
              <a:rPr lang="en-US" altLang="zh-CN" sz="2500" dirty="0" smtClean="0">
                <a:latin typeface="+mn-lt"/>
                <a:ea typeface="+mn-ea"/>
                <a:cs typeface="+mn-cs"/>
              </a:rPr>
              <a:t>a.) </a:t>
            </a:r>
            <a:r>
              <a:rPr lang="zh-CN" altLang="en-US" sz="2500" dirty="0" smtClean="0">
                <a:latin typeface="+mn-lt"/>
                <a:ea typeface="+mn-ea"/>
                <a:cs typeface="+mn-cs"/>
              </a:rPr>
              <a:t>存储常量和简单变量；</a:t>
            </a:r>
            <a:endParaRPr lang="zh-CN" altLang="en-US" sz="2500" dirty="0" smtClean="0">
              <a:latin typeface="+mn-lt"/>
              <a:ea typeface="+mn-ea"/>
              <a:cs typeface="+mn-cs"/>
            </a:endParaRPr>
          </a:p>
          <a:p>
            <a:pPr>
              <a:spcBef>
                <a:spcPts val="600"/>
              </a:spcBef>
              <a:buFontTx/>
              <a:buNone/>
              <a:defRPr/>
            </a:pPr>
            <a:r>
              <a:rPr lang="zh-CN" altLang="en-US" dirty="0" smtClean="0"/>
              <a:t>          </a:t>
            </a:r>
            <a:r>
              <a:rPr lang="en-US" altLang="zh-CN" dirty="0" smtClean="0"/>
              <a:t>b.) </a:t>
            </a:r>
            <a:r>
              <a:rPr lang="zh-CN" altLang="en-US" dirty="0" smtClean="0"/>
              <a:t>存储复合变量。</a:t>
            </a:r>
            <a:endParaRPr lang="en-US" altLang="zh-CN" dirty="0" smtClean="0"/>
          </a:p>
          <a:p>
            <a:pPr lvl="1">
              <a:spcBef>
                <a:spcPct val="50000"/>
              </a:spcBef>
              <a:defRPr/>
            </a:pPr>
            <a:r>
              <a:rPr lang="zh-CN" altLang="en-US" dirty="0" smtClean="0">
                <a:latin typeface="+mn-ea"/>
                <a:ea typeface="+mn-ea"/>
              </a:rPr>
              <a:t>前者所需的空间取决于所使用的计算机和编译器，以及变量与常量的数目，这是由于我们往往是指计算所需内存的字节数，而每个字节所占的数位依赖于具体的机器环境。</a:t>
            </a:r>
            <a:endParaRPr lang="en-US" altLang="zh-CN" dirty="0" smtClean="0">
              <a:latin typeface="+mn-ea"/>
              <a:ea typeface="+mn-ea"/>
            </a:endParaRPr>
          </a:p>
          <a:p>
            <a:pPr lvl="1">
              <a:spcBef>
                <a:spcPct val="50000"/>
              </a:spcBef>
              <a:defRPr/>
            </a:pPr>
            <a:r>
              <a:rPr lang="zh-CN" altLang="en-US" dirty="0" smtClean="0">
                <a:latin typeface="+mn-ea"/>
                <a:ea typeface="+mn-ea"/>
              </a:rPr>
              <a:t>后者包括数据结构所需的空间及动态分配的空间。</a:t>
            </a:r>
            <a:endParaRPr lang="zh-CN" altLang="en-US" dirty="0" smtClean="0">
              <a:latin typeface="+mn-ea"/>
              <a:ea typeface="+mn-ea"/>
            </a:endParaRPr>
          </a:p>
          <a:p>
            <a:pPr>
              <a:spcBef>
                <a:spcPts val="600"/>
              </a:spcBef>
              <a:buFontTx/>
              <a:buNone/>
              <a:defRPr/>
            </a:pPr>
            <a:endParaRPr lang="zh-CN" altLang="en-US" dirty="0" smtClean="0"/>
          </a:p>
          <a:p>
            <a:pPr eaLnBrk="1" hangingPunct="1">
              <a:defRPr/>
            </a:pPr>
            <a:endParaRPr lang="en-US" altLang="zh-CN" dirty="0" smtClean="0"/>
          </a:p>
          <a:p>
            <a:pPr eaLnBrk="1" hangingPunct="1">
              <a:defRPr/>
            </a:pPr>
            <a:endParaRPr lang="en-US" altLang="zh-CN" dirty="0" smtClean="0"/>
          </a:p>
        </p:txBody>
      </p:sp>
    </p:spTree>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88067" name="Rectangle 2"/>
          <p:cNvSpPr>
            <a:spLocks noGrp="1" noChangeArrowheads="1"/>
          </p:cNvSpPr>
          <p:nvPr>
            <p:ph type="title"/>
          </p:nvPr>
        </p:nvSpPr>
        <p:spPr/>
        <p:txBody>
          <a:bodyPr/>
          <a:lstStyle/>
          <a:p>
            <a:pPr eaLnBrk="1" hangingPunct="1"/>
            <a:r>
              <a:rPr lang="en-US" altLang="zh-CN" dirty="0"/>
              <a:t>1.2.4 </a:t>
            </a:r>
            <a:r>
              <a:rPr lang="zh-CN" altLang="en-US" dirty="0"/>
              <a:t>空间复杂度</a:t>
            </a:r>
            <a:r>
              <a:rPr lang="en-US" altLang="zh-CN" dirty="0">
                <a:latin typeface="+mn-ea"/>
              </a:rPr>
              <a:t>——</a:t>
            </a:r>
            <a:r>
              <a:rPr lang="zh-CN" altLang="en-US" dirty="0" smtClean="0"/>
              <a:t>字节数</a:t>
            </a:r>
            <a:endParaRPr lang="en-US" altLang="zh-CN" dirty="0" smtClean="0"/>
          </a:p>
        </p:txBody>
      </p:sp>
      <p:sp>
        <p:nvSpPr>
          <p:cNvPr id="88068" name="Rectangle 3"/>
          <p:cNvSpPr>
            <a:spLocks noGrp="1" noChangeArrowheads="1"/>
          </p:cNvSpPr>
          <p:nvPr>
            <p:ph type="body" idx="1"/>
          </p:nvPr>
        </p:nvSpPr>
        <p:spPr/>
        <p:txBody>
          <a:bodyPr/>
          <a:lstStyle/>
          <a:p>
            <a:pPr>
              <a:spcBef>
                <a:spcPct val="50000"/>
              </a:spcBef>
              <a:buFontTx/>
              <a:buNone/>
            </a:pPr>
            <a:r>
              <a:rPr lang="zh-CN" altLang="en-US" sz="2200" smtClean="0"/>
              <a:t>类型                 占用字节数             适用范围</a:t>
            </a:r>
            <a:endParaRPr lang="zh-CN" altLang="en-US" sz="2200" smtClean="0"/>
          </a:p>
          <a:p>
            <a:pPr>
              <a:spcBef>
                <a:spcPct val="15000"/>
              </a:spcBef>
              <a:buFontTx/>
              <a:buNone/>
            </a:pPr>
            <a:r>
              <a:rPr lang="en-US" altLang="zh-CN" sz="2200" smtClean="0"/>
              <a:t>char                            1                 -128–127</a:t>
            </a:r>
            <a:endParaRPr lang="en-US" altLang="zh-CN" sz="2200" smtClean="0"/>
          </a:p>
          <a:p>
            <a:pPr>
              <a:spcBef>
                <a:spcPct val="15000"/>
              </a:spcBef>
              <a:buFontTx/>
              <a:buNone/>
            </a:pPr>
            <a:r>
              <a:rPr lang="en-US" altLang="zh-CN" sz="2200" smtClean="0"/>
              <a:t>unsigned char             1                  0 – 255</a:t>
            </a:r>
            <a:endParaRPr lang="en-US" altLang="zh-CN" sz="2200" smtClean="0"/>
          </a:p>
          <a:p>
            <a:pPr>
              <a:spcBef>
                <a:spcPct val="15000"/>
              </a:spcBef>
              <a:buFontTx/>
              <a:buNone/>
            </a:pPr>
            <a:r>
              <a:rPr lang="en-US" altLang="zh-CN" sz="2200" smtClean="0"/>
              <a:t>short                           2                -32768-32767</a:t>
            </a:r>
            <a:endParaRPr lang="en-US" altLang="zh-CN" sz="2200" smtClean="0"/>
          </a:p>
          <a:p>
            <a:pPr>
              <a:spcBef>
                <a:spcPct val="15000"/>
              </a:spcBef>
              <a:buFontTx/>
              <a:buNone/>
            </a:pPr>
            <a:r>
              <a:rPr lang="en-US" altLang="zh-CN" sz="2200" smtClean="0"/>
              <a:t>int                               2                -32768-32767</a:t>
            </a:r>
            <a:endParaRPr lang="en-US" altLang="zh-CN" sz="2200" smtClean="0"/>
          </a:p>
          <a:p>
            <a:pPr>
              <a:spcBef>
                <a:spcPct val="15000"/>
              </a:spcBef>
              <a:buFontTx/>
              <a:buNone/>
            </a:pPr>
            <a:r>
              <a:rPr lang="en-US" altLang="zh-CN" sz="2200" smtClean="0"/>
              <a:t>unsigned int               2                 0-65535</a:t>
            </a:r>
            <a:endParaRPr lang="en-US" altLang="zh-CN" sz="2200" smtClean="0"/>
          </a:p>
          <a:p>
            <a:pPr>
              <a:spcBef>
                <a:spcPct val="15000"/>
              </a:spcBef>
              <a:buFontTx/>
              <a:buNone/>
            </a:pPr>
            <a:r>
              <a:rPr lang="en-US" altLang="zh-CN" sz="2200" smtClean="0"/>
              <a:t> long                           4                 -231- 231-1</a:t>
            </a:r>
            <a:endParaRPr lang="en-US" altLang="zh-CN" sz="2200" smtClean="0"/>
          </a:p>
          <a:p>
            <a:pPr>
              <a:spcBef>
                <a:spcPct val="15000"/>
              </a:spcBef>
              <a:buFontTx/>
              <a:buNone/>
            </a:pPr>
            <a:r>
              <a:rPr lang="en-US" altLang="zh-CN" sz="2200" smtClean="0"/>
              <a:t>unsigned long             4                   0- 231-1</a:t>
            </a:r>
            <a:endParaRPr lang="en-US" altLang="zh-CN" sz="2200" smtClean="0"/>
          </a:p>
          <a:p>
            <a:pPr>
              <a:spcBef>
                <a:spcPct val="15000"/>
              </a:spcBef>
              <a:buFontTx/>
              <a:buNone/>
            </a:pPr>
            <a:r>
              <a:rPr lang="en-US" altLang="zh-CN" sz="2200" smtClean="0"/>
              <a:t>float                            4                  </a:t>
            </a:r>
            <a:r>
              <a:rPr lang="en-US" altLang="zh-CN" sz="2200" smtClean="0">
                <a:sym typeface="Symbol" panose="05050102010706020507" pitchFamily="18" charset="2"/>
              </a:rPr>
              <a:t>3.4E 38</a:t>
            </a:r>
            <a:endParaRPr lang="en-US" altLang="zh-CN" sz="2200" smtClean="0">
              <a:sym typeface="Symbol" panose="05050102010706020507" pitchFamily="18" charset="2"/>
            </a:endParaRPr>
          </a:p>
          <a:p>
            <a:pPr>
              <a:spcBef>
                <a:spcPct val="15000"/>
              </a:spcBef>
              <a:buFontTx/>
              <a:buNone/>
            </a:pPr>
            <a:r>
              <a:rPr lang="en-US" altLang="zh-CN" sz="2200" smtClean="0">
                <a:sym typeface="Symbol" panose="05050102010706020507" pitchFamily="18" charset="2"/>
              </a:rPr>
              <a:t>double                        8                  1.7E 308</a:t>
            </a:r>
            <a:endParaRPr lang="en-US" altLang="zh-CN" sz="2200" smtClean="0">
              <a:sym typeface="Symbol" panose="05050102010706020507" pitchFamily="18" charset="2"/>
            </a:endParaRPr>
          </a:p>
          <a:p>
            <a:pPr>
              <a:spcBef>
                <a:spcPct val="15000"/>
              </a:spcBef>
              <a:buFontTx/>
              <a:buNone/>
            </a:pPr>
            <a:r>
              <a:rPr lang="en-US" altLang="zh-CN" sz="2200" smtClean="0">
                <a:sym typeface="Symbol" panose="05050102010706020507" pitchFamily="18" charset="2"/>
              </a:rPr>
              <a:t> pointer                       2</a:t>
            </a:r>
            <a:endParaRPr lang="zh-CN" altLang="en-US" sz="2200" smtClean="0"/>
          </a:p>
          <a:p>
            <a:pPr eaLnBrk="1" hangingPunct="1"/>
            <a:endParaRPr lang="en-US" altLang="zh-CN" smtClean="0"/>
          </a:p>
          <a:p>
            <a:pPr eaLnBrk="1" hangingPunct="1"/>
            <a:endParaRPr lang="en-US" altLang="zh-CN" smtClean="0"/>
          </a:p>
        </p:txBody>
      </p:sp>
    </p:spTree>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89091" name="Rectangle 2"/>
          <p:cNvSpPr>
            <a:spLocks noGrp="1" noChangeArrowheads="1"/>
          </p:cNvSpPr>
          <p:nvPr>
            <p:ph type="title"/>
          </p:nvPr>
        </p:nvSpPr>
        <p:spPr/>
        <p:txBody>
          <a:bodyPr/>
          <a:lstStyle/>
          <a:p>
            <a:pPr eaLnBrk="1" hangingPunct="1"/>
            <a:r>
              <a:rPr lang="en-US" altLang="zh-CN" dirty="0"/>
              <a:t>1.2.4 </a:t>
            </a:r>
            <a:r>
              <a:rPr lang="zh-CN" altLang="en-US" dirty="0"/>
              <a:t>空间复杂度</a:t>
            </a:r>
            <a:r>
              <a:rPr lang="en-US" altLang="zh-CN" dirty="0">
                <a:latin typeface="+mn-ea"/>
              </a:rPr>
              <a:t>——</a:t>
            </a:r>
            <a:r>
              <a:rPr lang="zh-CN" altLang="en-US" dirty="0" smtClean="0"/>
              <a:t>程序所需要的空间</a:t>
            </a:r>
            <a:endParaRPr lang="en-US" altLang="zh-CN" dirty="0" smtClean="0"/>
          </a:p>
        </p:txBody>
      </p:sp>
      <p:sp>
        <p:nvSpPr>
          <p:cNvPr id="2" name="Rectangle 3"/>
          <p:cNvSpPr>
            <a:spLocks noGrp="1" noChangeArrowheads="1"/>
          </p:cNvSpPr>
          <p:nvPr>
            <p:ph type="body" idx="1"/>
          </p:nvPr>
        </p:nvSpPr>
        <p:spPr>
          <a:xfrm>
            <a:off x="920750" y="1348312"/>
            <a:ext cx="7786687" cy="4525962"/>
          </a:xfrm>
        </p:spPr>
        <p:txBody>
          <a:bodyPr/>
          <a:lstStyle/>
          <a:p>
            <a:pPr marL="0" indent="0">
              <a:spcBef>
                <a:spcPts val="0"/>
              </a:spcBef>
              <a:buSzPct val="160000"/>
              <a:buNone/>
              <a:defRPr/>
            </a:pPr>
            <a:r>
              <a:rPr lang="en-US" altLang="zh-CN" dirty="0" smtClean="0">
                <a:solidFill>
                  <a:srgbClr val="FF0000"/>
                </a:solidFill>
              </a:rPr>
              <a:t>3.</a:t>
            </a:r>
            <a:r>
              <a:rPr lang="zh-CN" altLang="en-US" dirty="0" smtClean="0">
                <a:solidFill>
                  <a:srgbClr val="FF0000"/>
                </a:solidFill>
              </a:rPr>
              <a:t>环境栈空间</a:t>
            </a:r>
            <a:r>
              <a:rPr lang="zh-CN" altLang="en-US" dirty="0" smtClean="0"/>
              <a:t>---保存函数调用返回时恢复运行所需要的       </a:t>
            </a:r>
            <a:endParaRPr lang="en-US" altLang="zh-CN" dirty="0" smtClean="0"/>
          </a:p>
          <a:p>
            <a:pPr marL="0" indent="0">
              <a:spcBef>
                <a:spcPts val="0"/>
              </a:spcBef>
              <a:buSzPct val="160000"/>
              <a:buNone/>
              <a:defRPr/>
            </a:pPr>
            <a:r>
              <a:rPr lang="zh-CN" altLang="en-US" dirty="0" smtClean="0"/>
              <a:t>   信息。当一个函数被调用时，下面数据将被保存在环  </a:t>
            </a:r>
            <a:endParaRPr lang="en-US" altLang="zh-CN" dirty="0" smtClean="0"/>
          </a:p>
          <a:p>
            <a:pPr marL="0" indent="0">
              <a:spcBef>
                <a:spcPts val="0"/>
              </a:spcBef>
              <a:buSzPct val="160000"/>
              <a:buNone/>
              <a:defRPr/>
            </a:pPr>
            <a:r>
              <a:rPr lang="en-US" altLang="zh-CN" dirty="0"/>
              <a:t> </a:t>
            </a:r>
            <a:r>
              <a:rPr lang="en-US" altLang="zh-CN" dirty="0" smtClean="0"/>
              <a:t>  </a:t>
            </a:r>
            <a:r>
              <a:rPr lang="zh-CN" altLang="en-US" dirty="0" smtClean="0"/>
              <a:t>境栈中：</a:t>
            </a:r>
            <a:endParaRPr lang="zh-CN" altLang="en-US" dirty="0" smtClean="0"/>
          </a:p>
          <a:p>
            <a:pPr lvl="1">
              <a:lnSpc>
                <a:spcPct val="80000"/>
              </a:lnSpc>
              <a:spcBef>
                <a:spcPts val="0"/>
              </a:spcBef>
              <a:defRPr/>
            </a:pPr>
            <a:r>
              <a:rPr lang="zh-CN" altLang="en-US" sz="2500" dirty="0" smtClean="0">
                <a:latin typeface="+mn-lt"/>
                <a:ea typeface="+mn-ea"/>
                <a:cs typeface="+mn-cs"/>
              </a:rPr>
              <a:t> 返回地址；</a:t>
            </a:r>
            <a:endParaRPr lang="zh-CN" altLang="en-US" sz="2500" dirty="0" smtClean="0">
              <a:latin typeface="+mn-lt"/>
              <a:ea typeface="+mn-ea"/>
              <a:cs typeface="+mn-cs"/>
            </a:endParaRPr>
          </a:p>
          <a:p>
            <a:pPr lvl="1">
              <a:lnSpc>
                <a:spcPct val="80000"/>
              </a:lnSpc>
              <a:spcBef>
                <a:spcPts val="0"/>
              </a:spcBef>
              <a:defRPr/>
            </a:pPr>
            <a:r>
              <a:rPr lang="zh-CN" altLang="en-US" sz="2500" dirty="0" smtClean="0">
                <a:latin typeface="+mn-lt"/>
                <a:ea typeface="+mn-ea"/>
                <a:cs typeface="+mn-cs"/>
              </a:rPr>
              <a:t>所有局部变量的值、递归函数的传值形式参数的值；</a:t>
            </a:r>
            <a:endParaRPr lang="zh-CN" altLang="en-US" sz="2500" dirty="0" smtClean="0">
              <a:latin typeface="+mn-lt"/>
              <a:ea typeface="+mn-ea"/>
              <a:cs typeface="+mn-cs"/>
            </a:endParaRPr>
          </a:p>
          <a:p>
            <a:pPr lvl="1">
              <a:lnSpc>
                <a:spcPct val="80000"/>
              </a:lnSpc>
              <a:spcBef>
                <a:spcPts val="0"/>
              </a:spcBef>
              <a:defRPr/>
            </a:pPr>
            <a:r>
              <a:rPr lang="zh-CN" altLang="en-US" sz="2500" dirty="0" smtClean="0">
                <a:latin typeface="+mn-lt"/>
                <a:ea typeface="+mn-ea"/>
                <a:cs typeface="+mn-cs"/>
              </a:rPr>
              <a:t>所有引用参数以及常量引用参数的定义。</a:t>
            </a:r>
            <a:endParaRPr lang="zh-CN" altLang="en-US" sz="2500" dirty="0" smtClean="0">
              <a:latin typeface="+mn-lt"/>
              <a:ea typeface="+mn-ea"/>
              <a:cs typeface="+mn-cs"/>
            </a:endParaRPr>
          </a:p>
          <a:p>
            <a:pPr eaLnBrk="1" hangingPunct="1">
              <a:defRPr/>
            </a:pPr>
            <a:endParaRPr lang="en-US" altLang="zh-CN" dirty="0" smtClean="0"/>
          </a:p>
          <a:p>
            <a:pPr eaLnBrk="1" hangingPunct="1">
              <a:defRPr/>
            </a:pPr>
            <a:endParaRPr lang="en-US" altLang="zh-CN" dirty="0" smtClean="0"/>
          </a:p>
        </p:txBody>
      </p:sp>
    </p:spTree>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90115" name="Rectangle 2"/>
          <p:cNvSpPr>
            <a:spLocks noGrp="1" noChangeArrowheads="1"/>
          </p:cNvSpPr>
          <p:nvPr>
            <p:ph type="title"/>
          </p:nvPr>
        </p:nvSpPr>
        <p:spPr/>
        <p:txBody>
          <a:bodyPr/>
          <a:lstStyle/>
          <a:p>
            <a:pPr eaLnBrk="1" hangingPunct="1"/>
            <a:r>
              <a:rPr lang="en-US" altLang="zh-CN" dirty="0" smtClean="0">
                <a:latin typeface="+mn-ea"/>
              </a:rPr>
              <a:t>1.2.4 </a:t>
            </a:r>
            <a:r>
              <a:rPr lang="zh-CN" altLang="en-US" dirty="0">
                <a:latin typeface="+mn-ea"/>
              </a:rPr>
              <a:t>空间</a:t>
            </a:r>
            <a:r>
              <a:rPr lang="zh-CN" altLang="en-US" dirty="0" smtClean="0">
                <a:latin typeface="+mn-ea"/>
              </a:rPr>
              <a:t>复杂</a:t>
            </a:r>
            <a:r>
              <a:rPr lang="zh-CN" altLang="en-US" dirty="0">
                <a:latin typeface="+mn-ea"/>
              </a:rPr>
              <a:t>度</a:t>
            </a:r>
            <a:r>
              <a:rPr lang="en-US" altLang="zh-CN" dirty="0" smtClean="0">
                <a:latin typeface="+mn-ea"/>
              </a:rPr>
              <a:t>——</a:t>
            </a:r>
            <a:r>
              <a:rPr lang="zh-CN" altLang="en-US" dirty="0" smtClean="0"/>
              <a:t>例</a:t>
            </a:r>
            <a:r>
              <a:rPr lang="en-US" altLang="zh-CN" dirty="0" smtClean="0"/>
              <a:t>1  </a:t>
            </a:r>
            <a:r>
              <a:rPr lang="zh-CN" altLang="en-US" dirty="0" smtClean="0"/>
              <a:t>利用应用参数</a:t>
            </a:r>
            <a:endParaRPr lang="en-US" altLang="zh-CN" dirty="0" smtClean="0"/>
          </a:p>
        </p:txBody>
      </p:sp>
      <p:sp>
        <p:nvSpPr>
          <p:cNvPr id="90116" name="Rectangle 3"/>
          <p:cNvSpPr>
            <a:spLocks noGrp="1" noChangeArrowheads="1"/>
          </p:cNvSpPr>
          <p:nvPr>
            <p:ph type="body" idx="1"/>
          </p:nvPr>
        </p:nvSpPr>
        <p:spPr/>
        <p:txBody>
          <a:bodyPr/>
          <a:lstStyle/>
          <a:p>
            <a:pPr>
              <a:lnSpc>
                <a:spcPct val="50000"/>
              </a:lnSpc>
              <a:spcBef>
                <a:spcPct val="50000"/>
              </a:spcBef>
            </a:pPr>
            <a:r>
              <a:rPr lang="en-US" altLang="zh-CN" dirty="0" smtClean="0"/>
              <a:t>Template &lt;class T&gt;</a:t>
            </a:r>
            <a:endParaRPr lang="en-US" altLang="zh-CN" dirty="0" smtClean="0"/>
          </a:p>
          <a:p>
            <a:pPr>
              <a:lnSpc>
                <a:spcPct val="50000"/>
              </a:lnSpc>
              <a:spcBef>
                <a:spcPct val="50000"/>
              </a:spcBef>
            </a:pPr>
            <a:r>
              <a:rPr lang="en-US" altLang="zh-CN" dirty="0" smtClean="0"/>
              <a:t>T </a:t>
            </a:r>
            <a:r>
              <a:rPr lang="en-US" altLang="zh-CN" dirty="0" err="1" smtClean="0"/>
              <a:t>abc</a:t>
            </a:r>
            <a:r>
              <a:rPr lang="en-US" altLang="zh-CN" dirty="0" smtClean="0"/>
              <a:t>( T &amp;a, T &amp;b, T &amp;c)</a:t>
            </a:r>
            <a:endParaRPr lang="en-US" altLang="zh-CN" dirty="0" smtClean="0"/>
          </a:p>
          <a:p>
            <a:pPr>
              <a:lnSpc>
                <a:spcPct val="50000"/>
              </a:lnSpc>
              <a:spcBef>
                <a:spcPct val="50000"/>
              </a:spcBef>
            </a:pPr>
            <a:r>
              <a:rPr lang="en-US" altLang="zh-CN" dirty="0" smtClean="0"/>
              <a:t>{</a:t>
            </a:r>
            <a:endParaRPr lang="en-US" altLang="zh-CN" dirty="0" smtClean="0"/>
          </a:p>
          <a:p>
            <a:pPr>
              <a:lnSpc>
                <a:spcPct val="50000"/>
              </a:lnSpc>
              <a:spcBef>
                <a:spcPct val="50000"/>
              </a:spcBef>
            </a:pPr>
            <a:r>
              <a:rPr lang="en-US" altLang="zh-CN" dirty="0" smtClean="0"/>
              <a:t>     Return </a:t>
            </a:r>
            <a:r>
              <a:rPr lang="en-US" altLang="zh-CN" dirty="0" err="1" smtClean="0"/>
              <a:t>a+b+c+b</a:t>
            </a:r>
            <a:r>
              <a:rPr lang="en-US" altLang="zh-CN" dirty="0" err="1" smtClean="0">
                <a:sym typeface="Symbol" panose="05050102010706020507" pitchFamily="18" charset="2"/>
              </a:rPr>
              <a:t></a:t>
            </a:r>
            <a:r>
              <a:rPr lang="en-US" altLang="zh-CN" dirty="0" err="1" smtClean="0"/>
              <a:t>c</a:t>
            </a:r>
            <a:r>
              <a:rPr lang="en-US" altLang="zh-CN" dirty="0" smtClean="0"/>
              <a:t>+(</a:t>
            </a:r>
            <a:r>
              <a:rPr lang="en-US" altLang="zh-CN" dirty="0" err="1" smtClean="0"/>
              <a:t>a+b+c</a:t>
            </a:r>
            <a:r>
              <a:rPr lang="en-US" altLang="zh-CN" dirty="0" smtClean="0"/>
              <a:t>)/(</a:t>
            </a:r>
            <a:r>
              <a:rPr lang="en-US" altLang="zh-CN" dirty="0" err="1" smtClean="0"/>
              <a:t>a+b</a:t>
            </a:r>
            <a:r>
              <a:rPr lang="en-US" altLang="zh-CN" dirty="0" smtClean="0"/>
              <a:t>)+4;</a:t>
            </a:r>
            <a:endParaRPr lang="en-US" altLang="zh-CN" dirty="0" smtClean="0"/>
          </a:p>
          <a:p>
            <a:pPr>
              <a:lnSpc>
                <a:spcPct val="50000"/>
              </a:lnSpc>
              <a:spcBef>
                <a:spcPct val="50000"/>
              </a:spcBef>
            </a:pPr>
            <a:r>
              <a:rPr lang="zh-CN" altLang="en-US" dirty="0" smtClean="0"/>
              <a:t>}</a:t>
            </a:r>
            <a:endParaRPr lang="zh-CN" altLang="en-US" dirty="0" smtClean="0"/>
          </a:p>
          <a:p>
            <a:pPr>
              <a:spcBef>
                <a:spcPct val="50000"/>
              </a:spcBef>
            </a:pPr>
            <a:r>
              <a:rPr lang="zh-CN" altLang="en-US" sz="2000" dirty="0" smtClean="0"/>
              <a:t>在例</a:t>
            </a:r>
            <a:r>
              <a:rPr lang="en-US" altLang="zh-CN" sz="2000" dirty="0" smtClean="0"/>
              <a:t>1</a:t>
            </a:r>
            <a:r>
              <a:rPr lang="zh-CN" altLang="en-US" sz="2000" dirty="0" smtClean="0"/>
              <a:t>中，采用 </a:t>
            </a:r>
            <a:r>
              <a:rPr lang="en-US" altLang="zh-CN" sz="2000" dirty="0" smtClean="0"/>
              <a:t>T </a:t>
            </a:r>
            <a:r>
              <a:rPr lang="zh-CN" altLang="en-US" sz="2000" dirty="0" smtClean="0"/>
              <a:t>作为实例特征。由于 </a:t>
            </a:r>
            <a:r>
              <a:rPr lang="en-US" altLang="zh-CN" sz="2000" dirty="0" err="1" smtClean="0"/>
              <a:t>a,b,c</a:t>
            </a:r>
            <a:r>
              <a:rPr lang="en-US" altLang="zh-CN" sz="2000" dirty="0" smtClean="0"/>
              <a:t> </a:t>
            </a:r>
            <a:r>
              <a:rPr lang="zh-CN" altLang="en-US" sz="2000" dirty="0" smtClean="0"/>
              <a:t>都是</a:t>
            </a:r>
            <a:r>
              <a:rPr lang="zh-CN" altLang="en-US" sz="2000" dirty="0" smtClean="0">
                <a:solidFill>
                  <a:srgbClr val="FF0000"/>
                </a:solidFill>
              </a:rPr>
              <a:t>引用参数</a:t>
            </a:r>
            <a:r>
              <a:rPr lang="zh-CN" altLang="en-US" sz="2000" dirty="0" smtClean="0"/>
              <a:t>，在函数中不需要为它们的值分配空间，但需保存指向这些参数的指针。若每个指针需要2 个字节，则共需要6个字节的指针空间，此时函数所需要的总空间是一个常量，而 </a:t>
            </a:r>
            <a:r>
              <a:rPr lang="en-US" altLang="zh-CN" sz="2000" dirty="0" err="1" smtClean="0"/>
              <a:t>Sabc</a:t>
            </a:r>
            <a:r>
              <a:rPr lang="en-US" altLang="zh-CN" sz="2000" dirty="0" smtClean="0"/>
              <a:t>(</a:t>
            </a:r>
            <a:r>
              <a:rPr lang="zh-CN" altLang="en-US" sz="2000" dirty="0" smtClean="0"/>
              <a:t>实例特征)=0。 </a:t>
            </a:r>
            <a:endParaRPr lang="en-US" altLang="zh-CN" sz="2000" dirty="0" smtClean="0"/>
          </a:p>
          <a:p>
            <a:pPr>
              <a:spcBef>
                <a:spcPct val="50000"/>
              </a:spcBef>
            </a:pPr>
            <a:r>
              <a:rPr lang="zh-CN" altLang="en-US" sz="2000" dirty="0" smtClean="0"/>
              <a:t>但若函数 </a:t>
            </a:r>
            <a:r>
              <a:rPr lang="en-US" altLang="zh-CN" sz="2000" dirty="0" err="1" smtClean="0"/>
              <a:t>abc</a:t>
            </a:r>
            <a:r>
              <a:rPr lang="en-US" altLang="zh-CN" sz="2000" dirty="0" smtClean="0"/>
              <a:t> </a:t>
            </a:r>
            <a:r>
              <a:rPr lang="zh-CN" altLang="en-US" sz="2000" dirty="0" smtClean="0"/>
              <a:t>的参数是</a:t>
            </a:r>
            <a:r>
              <a:rPr lang="zh-CN" altLang="en-US" sz="2000" dirty="0" smtClean="0">
                <a:solidFill>
                  <a:srgbClr val="FF0000"/>
                </a:solidFill>
              </a:rPr>
              <a:t>传值参数</a:t>
            </a:r>
            <a:r>
              <a:rPr lang="zh-CN" altLang="en-US" sz="2000" dirty="0" smtClean="0"/>
              <a:t>，则每个参数需要分配空间 </a:t>
            </a:r>
            <a:r>
              <a:rPr lang="en-US" altLang="zh-CN" sz="2000" dirty="0" err="1" smtClean="0"/>
              <a:t>sizeof</a:t>
            </a:r>
            <a:r>
              <a:rPr lang="en-US" altLang="zh-CN" sz="2000" dirty="0" smtClean="0"/>
              <a:t>(T) </a:t>
            </a:r>
            <a:r>
              <a:rPr lang="zh-CN" altLang="en-US" sz="2000" dirty="0" smtClean="0"/>
              <a:t>的空间，于是 </a:t>
            </a:r>
            <a:r>
              <a:rPr lang="en-US" altLang="zh-CN" sz="2000" dirty="0" err="1" smtClean="0"/>
              <a:t>a,b,c</a:t>
            </a:r>
            <a:r>
              <a:rPr lang="en-US" altLang="zh-CN" sz="2000" dirty="0" smtClean="0"/>
              <a:t> </a:t>
            </a:r>
            <a:r>
              <a:rPr lang="zh-CN" altLang="en-US" sz="2000" dirty="0" smtClean="0"/>
              <a:t>所需的空间为：3 </a:t>
            </a:r>
            <a:r>
              <a:rPr lang="zh-CN" altLang="en-US" sz="2000" dirty="0" smtClean="0">
                <a:sym typeface="Symbol" panose="05050102010706020507" pitchFamily="18" charset="2"/>
              </a:rPr>
              <a:t></a:t>
            </a:r>
            <a:r>
              <a:rPr lang="en-US" altLang="zh-CN" sz="2000" dirty="0" err="1" smtClean="0">
                <a:sym typeface="Symbol" panose="05050102010706020507" pitchFamily="18" charset="2"/>
              </a:rPr>
              <a:t>sizeof</a:t>
            </a:r>
            <a:r>
              <a:rPr lang="en-US" altLang="zh-CN" sz="2000" dirty="0" smtClean="0">
                <a:sym typeface="Symbol" panose="05050102010706020507" pitchFamily="18" charset="2"/>
              </a:rPr>
              <a:t>(T). </a:t>
            </a:r>
            <a:r>
              <a:rPr lang="zh-CN" altLang="en-US" sz="2000" dirty="0" smtClean="0">
                <a:sym typeface="Symbol" panose="05050102010706020507" pitchFamily="18" charset="2"/>
              </a:rPr>
              <a:t>函数 </a:t>
            </a:r>
            <a:r>
              <a:rPr lang="en-US" altLang="zh-CN" sz="2000" dirty="0" err="1" smtClean="0">
                <a:sym typeface="Symbol" panose="05050102010706020507" pitchFamily="18" charset="2"/>
              </a:rPr>
              <a:t>abc</a:t>
            </a:r>
            <a:r>
              <a:rPr lang="en-US" altLang="zh-CN" sz="2000" dirty="0" smtClean="0">
                <a:sym typeface="Symbol" panose="05050102010706020507" pitchFamily="18" charset="2"/>
              </a:rPr>
              <a:t> </a:t>
            </a:r>
            <a:r>
              <a:rPr lang="zh-CN" altLang="en-US" sz="2000" dirty="0" smtClean="0">
                <a:sym typeface="Symbol" panose="05050102010706020507" pitchFamily="18" charset="2"/>
              </a:rPr>
              <a:t>所需要的其他空间都与 </a:t>
            </a:r>
            <a:r>
              <a:rPr lang="en-US" altLang="zh-CN" sz="2000" dirty="0" smtClean="0">
                <a:sym typeface="Symbol" panose="05050102010706020507" pitchFamily="18" charset="2"/>
              </a:rPr>
              <a:t>T </a:t>
            </a:r>
            <a:r>
              <a:rPr lang="zh-CN" altLang="en-US" sz="2000" dirty="0" smtClean="0">
                <a:sym typeface="Symbol" panose="05050102010706020507" pitchFamily="18" charset="2"/>
              </a:rPr>
              <a:t>无关，故</a:t>
            </a:r>
            <a:r>
              <a:rPr lang="en-US" altLang="zh-CN" sz="2000" dirty="0" err="1" smtClean="0"/>
              <a:t>Sabc</a:t>
            </a:r>
            <a:r>
              <a:rPr lang="en-US" altLang="zh-CN" sz="2000" dirty="0" smtClean="0"/>
              <a:t>(</a:t>
            </a:r>
            <a:r>
              <a:rPr lang="zh-CN" altLang="en-US" sz="2000" dirty="0" smtClean="0"/>
              <a:t>实例特征)=</a:t>
            </a:r>
            <a:r>
              <a:rPr lang="zh-CN" altLang="en-US" sz="2000" dirty="0" smtClean="0">
                <a:sym typeface="Symbol" panose="05050102010706020507" pitchFamily="18" charset="2"/>
              </a:rPr>
              <a:t> </a:t>
            </a:r>
            <a:r>
              <a:rPr lang="zh-CN" altLang="en-US" sz="2000" dirty="0" smtClean="0"/>
              <a:t>3 </a:t>
            </a:r>
            <a:r>
              <a:rPr lang="zh-CN" altLang="en-US" sz="2000" dirty="0" smtClean="0">
                <a:sym typeface="Symbol" panose="05050102010706020507" pitchFamily="18" charset="2"/>
              </a:rPr>
              <a:t></a:t>
            </a:r>
            <a:r>
              <a:rPr lang="en-US" altLang="zh-CN" sz="2000" dirty="0" err="1" smtClean="0">
                <a:sym typeface="Symbol" panose="05050102010706020507" pitchFamily="18" charset="2"/>
              </a:rPr>
              <a:t>sizeof</a:t>
            </a:r>
            <a:r>
              <a:rPr lang="en-US" altLang="zh-CN" sz="2000" dirty="0" smtClean="0">
                <a:sym typeface="Symbol" panose="05050102010706020507" pitchFamily="18" charset="2"/>
              </a:rPr>
              <a:t>(T)。</a:t>
            </a:r>
            <a:r>
              <a:rPr lang="zh-CN" altLang="en-US" sz="2000" dirty="0" smtClean="0"/>
              <a:t>  </a:t>
            </a:r>
            <a:endParaRPr lang="en-US" altLang="zh-CN" sz="2000" dirty="0" smtClean="0"/>
          </a:p>
          <a:p>
            <a:pPr eaLnBrk="1" hangingPunct="1"/>
            <a:endParaRPr lang="en-US" altLang="zh-CN" dirty="0" smtClean="0"/>
          </a:p>
          <a:p>
            <a:pPr eaLnBrk="1" hangingPunct="1"/>
            <a:endParaRPr lang="en-US" altLang="zh-CN" dirty="0" smtClean="0"/>
          </a:p>
        </p:txBody>
      </p:sp>
    </p:spTree>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91139" name="Rectangle 2"/>
          <p:cNvSpPr>
            <a:spLocks noGrp="1" noChangeArrowheads="1"/>
          </p:cNvSpPr>
          <p:nvPr>
            <p:ph type="title"/>
          </p:nvPr>
        </p:nvSpPr>
        <p:spPr/>
        <p:txBody>
          <a:bodyPr/>
          <a:lstStyle/>
          <a:p>
            <a:pPr eaLnBrk="1" hangingPunct="1"/>
            <a:r>
              <a:rPr lang="en-US" altLang="zh-CN" dirty="0">
                <a:latin typeface="+mn-ea"/>
              </a:rPr>
              <a:t>1.2.4 </a:t>
            </a:r>
            <a:r>
              <a:rPr lang="zh-CN" altLang="en-US" dirty="0">
                <a:latin typeface="+mn-ea"/>
              </a:rPr>
              <a:t>空间复杂度</a:t>
            </a:r>
            <a:r>
              <a:rPr lang="en-US" altLang="zh-CN" dirty="0">
                <a:latin typeface="+mn-ea"/>
              </a:rPr>
              <a:t>——</a:t>
            </a:r>
            <a:r>
              <a:rPr lang="zh-CN" altLang="en-US" dirty="0" smtClean="0"/>
              <a:t>例</a:t>
            </a:r>
            <a:r>
              <a:rPr lang="en-US" altLang="zh-CN" dirty="0" smtClean="0"/>
              <a:t>2   </a:t>
            </a:r>
            <a:r>
              <a:rPr lang="zh-CN" altLang="en-US" dirty="0" smtClean="0"/>
              <a:t>顺序查找</a:t>
            </a:r>
            <a:endParaRPr lang="en-US" altLang="zh-CN" dirty="0" smtClean="0"/>
          </a:p>
        </p:txBody>
      </p:sp>
      <p:sp>
        <p:nvSpPr>
          <p:cNvPr id="91140" name="Rectangle 3"/>
          <p:cNvSpPr>
            <a:spLocks noGrp="1" noChangeArrowheads="1"/>
          </p:cNvSpPr>
          <p:nvPr>
            <p:ph type="body" idx="1"/>
          </p:nvPr>
        </p:nvSpPr>
        <p:spPr/>
        <p:txBody>
          <a:bodyPr/>
          <a:lstStyle/>
          <a:p>
            <a:pPr>
              <a:spcBef>
                <a:spcPct val="0"/>
              </a:spcBef>
              <a:buFontTx/>
              <a:buNone/>
            </a:pPr>
            <a:r>
              <a:rPr lang="zh-CN" altLang="en-US" dirty="0" smtClean="0">
                <a:sym typeface="Symbol" panose="05050102010706020507" pitchFamily="18" charset="2"/>
              </a:rPr>
              <a:t>在 </a:t>
            </a:r>
            <a:r>
              <a:rPr lang="en-US" altLang="zh-CN" dirty="0" smtClean="0">
                <a:sym typeface="Symbol" panose="05050102010706020507" pitchFamily="18" charset="2"/>
              </a:rPr>
              <a:t>a[</a:t>
            </a:r>
            <a:r>
              <a:rPr lang="en-US" altLang="zh-CN" dirty="0" err="1" smtClean="0">
                <a:sym typeface="Symbol" panose="05050102010706020507" pitchFamily="18" charset="2"/>
              </a:rPr>
              <a:t>0:n-1</a:t>
            </a:r>
            <a:r>
              <a:rPr lang="en-US" altLang="zh-CN" dirty="0" smtClean="0">
                <a:sym typeface="Symbol" panose="05050102010706020507" pitchFamily="18" charset="2"/>
              </a:rPr>
              <a:t>]</a:t>
            </a:r>
            <a:r>
              <a:rPr lang="zh-CN" altLang="en-US" dirty="0" smtClean="0">
                <a:sym typeface="Symbol" panose="05050102010706020507" pitchFamily="18" charset="2"/>
              </a:rPr>
              <a:t>中搜索</a:t>
            </a:r>
            <a:r>
              <a:rPr lang="en-US" altLang="zh-CN" dirty="0" smtClean="0">
                <a:sym typeface="Symbol" panose="05050102010706020507" pitchFamily="18" charset="2"/>
              </a:rPr>
              <a:t>x，</a:t>
            </a:r>
            <a:r>
              <a:rPr lang="zh-CN" altLang="en-US" dirty="0" smtClean="0">
                <a:sym typeface="Symbol" panose="05050102010706020507" pitchFamily="18" charset="2"/>
              </a:rPr>
              <a:t>若找到则返回所在的位置，否则返回-1</a:t>
            </a:r>
            <a:r>
              <a:rPr lang="en-US" altLang="zh-CN" dirty="0" smtClean="0">
                <a:sym typeface="Symbol" panose="05050102010706020507" pitchFamily="18" charset="2"/>
              </a:rPr>
              <a:t> </a:t>
            </a:r>
            <a:endParaRPr lang="en-US" altLang="zh-CN" dirty="0" smtClean="0">
              <a:sym typeface="Symbol" panose="05050102010706020507" pitchFamily="18" charset="2"/>
            </a:endParaRPr>
          </a:p>
          <a:p>
            <a:pPr>
              <a:spcBef>
                <a:spcPct val="0"/>
              </a:spcBef>
              <a:buFontTx/>
              <a:buNone/>
            </a:pPr>
            <a:endParaRPr lang="en-US" altLang="zh-CN" dirty="0" smtClean="0">
              <a:sym typeface="Symbol" panose="05050102010706020507" pitchFamily="18" charset="2"/>
            </a:endParaRPr>
          </a:p>
          <a:p>
            <a:pPr>
              <a:spcBef>
                <a:spcPct val="0"/>
              </a:spcBef>
              <a:buFontTx/>
              <a:buNone/>
            </a:pPr>
            <a:r>
              <a:rPr lang="en-US" altLang="zh-CN" dirty="0" smtClean="0">
                <a:sym typeface="Symbol" panose="05050102010706020507" pitchFamily="18" charset="2"/>
              </a:rPr>
              <a:t>template &lt;class T&gt;</a:t>
            </a:r>
            <a:endParaRPr lang="en-US" altLang="zh-CN" dirty="0" smtClean="0">
              <a:sym typeface="Symbol" panose="05050102010706020507" pitchFamily="18" charset="2"/>
            </a:endParaRPr>
          </a:p>
          <a:p>
            <a:pPr>
              <a:spcBef>
                <a:spcPct val="0"/>
              </a:spcBef>
              <a:buFontTx/>
              <a:buNone/>
            </a:pPr>
            <a:r>
              <a:rPr lang="zh-CN" altLang="en-US" dirty="0" smtClean="0">
                <a:sym typeface="Symbol" panose="05050102010706020507" pitchFamily="18" charset="2"/>
              </a:rPr>
              <a:t>  </a:t>
            </a:r>
            <a:r>
              <a:rPr lang="en-US" altLang="zh-CN" dirty="0" err="1" smtClean="0">
                <a:sym typeface="Symbol" panose="05050102010706020507" pitchFamily="18" charset="2"/>
              </a:rPr>
              <a:t>int</a:t>
            </a:r>
            <a:r>
              <a:rPr lang="en-US" altLang="zh-CN" dirty="0" smtClean="0">
                <a:sym typeface="Symbol" panose="05050102010706020507" pitchFamily="18" charset="2"/>
              </a:rPr>
              <a:t> </a:t>
            </a:r>
            <a:r>
              <a:rPr lang="en-US" altLang="zh-CN" dirty="0" err="1" smtClean="0">
                <a:sym typeface="Symbol" panose="05050102010706020507" pitchFamily="18" charset="2"/>
              </a:rPr>
              <a:t>SequentialSearch</a:t>
            </a:r>
            <a:r>
              <a:rPr lang="en-US" altLang="zh-CN" dirty="0" smtClean="0">
                <a:sym typeface="Symbol" panose="05050102010706020507" pitchFamily="18" charset="2"/>
              </a:rPr>
              <a:t>(T a[],</a:t>
            </a:r>
            <a:r>
              <a:rPr lang="en-US" altLang="zh-CN" dirty="0" err="1" smtClean="0">
                <a:sym typeface="Symbol" panose="05050102010706020507" pitchFamily="18" charset="2"/>
              </a:rPr>
              <a:t>const</a:t>
            </a:r>
            <a:r>
              <a:rPr lang="en-US" altLang="zh-CN" dirty="0" smtClean="0">
                <a:sym typeface="Symbol" panose="05050102010706020507" pitchFamily="18" charset="2"/>
              </a:rPr>
              <a:t> T &amp;x, </a:t>
            </a:r>
            <a:r>
              <a:rPr lang="en-US" altLang="zh-CN" dirty="0" err="1" smtClean="0">
                <a:sym typeface="Symbol" panose="05050102010706020507" pitchFamily="18" charset="2"/>
              </a:rPr>
              <a:t>int</a:t>
            </a:r>
            <a:r>
              <a:rPr lang="en-US" altLang="zh-CN" dirty="0" smtClean="0">
                <a:sym typeface="Symbol" panose="05050102010706020507" pitchFamily="18" charset="2"/>
              </a:rPr>
              <a:t> n)</a:t>
            </a:r>
            <a:endParaRPr lang="en-US" altLang="zh-CN" dirty="0" smtClean="0">
              <a:sym typeface="Symbol" panose="05050102010706020507" pitchFamily="18" charset="2"/>
            </a:endParaRPr>
          </a:p>
          <a:p>
            <a:pPr>
              <a:spcBef>
                <a:spcPct val="0"/>
              </a:spcBef>
              <a:buFontTx/>
              <a:buNone/>
            </a:pPr>
            <a:r>
              <a:rPr lang="en-US" altLang="zh-CN" dirty="0" smtClean="0">
                <a:sym typeface="Symbol" panose="05050102010706020507" pitchFamily="18" charset="2"/>
              </a:rPr>
              <a:t>{  </a:t>
            </a:r>
            <a:endParaRPr lang="zh-CN" altLang="en-US" dirty="0" smtClean="0">
              <a:sym typeface="Symbol" panose="05050102010706020507" pitchFamily="18" charset="2"/>
            </a:endParaRPr>
          </a:p>
          <a:p>
            <a:pPr>
              <a:spcBef>
                <a:spcPct val="0"/>
              </a:spcBef>
              <a:buFontTx/>
              <a:buNone/>
            </a:pPr>
            <a:r>
              <a:rPr lang="en-US" altLang="zh-CN" dirty="0" smtClean="0">
                <a:sym typeface="Symbol" panose="05050102010706020507" pitchFamily="18" charset="2"/>
              </a:rPr>
              <a:t>      </a:t>
            </a:r>
            <a:r>
              <a:rPr lang="en-US" altLang="zh-CN" dirty="0" err="1" smtClean="0">
                <a:sym typeface="Symbol" panose="05050102010706020507" pitchFamily="18" charset="2"/>
              </a:rPr>
              <a:t>int</a:t>
            </a:r>
            <a:r>
              <a:rPr lang="en-US" altLang="zh-CN" dirty="0" smtClean="0">
                <a:sym typeface="Symbol" panose="05050102010706020507" pitchFamily="18" charset="2"/>
              </a:rPr>
              <a:t> </a:t>
            </a:r>
            <a:r>
              <a:rPr lang="en-US" altLang="zh-CN" dirty="0" err="1" smtClean="0">
                <a:sym typeface="Symbol" panose="05050102010706020507" pitchFamily="18" charset="2"/>
              </a:rPr>
              <a:t>i</a:t>
            </a:r>
            <a:r>
              <a:rPr lang="en-US" altLang="zh-CN" dirty="0" smtClean="0">
                <a:sym typeface="Symbol" panose="05050102010706020507" pitchFamily="18" charset="2"/>
              </a:rPr>
              <a:t>;</a:t>
            </a:r>
            <a:endParaRPr lang="en-US" altLang="zh-CN" dirty="0" smtClean="0">
              <a:sym typeface="Symbol" panose="05050102010706020507" pitchFamily="18" charset="2"/>
            </a:endParaRPr>
          </a:p>
          <a:p>
            <a:pPr>
              <a:spcBef>
                <a:spcPct val="0"/>
              </a:spcBef>
              <a:buFontTx/>
              <a:buNone/>
            </a:pPr>
            <a:r>
              <a:rPr lang="en-US" altLang="zh-CN" dirty="0" smtClean="0">
                <a:sym typeface="Symbol" panose="05050102010706020507" pitchFamily="18" charset="2"/>
              </a:rPr>
              <a:t>      for(</a:t>
            </a:r>
            <a:r>
              <a:rPr lang="en-US" altLang="zh-CN" dirty="0" err="1" smtClean="0">
                <a:sym typeface="Symbol" panose="05050102010706020507" pitchFamily="18" charset="2"/>
              </a:rPr>
              <a:t>i</a:t>
            </a:r>
            <a:r>
              <a:rPr lang="en-US" altLang="zh-CN" dirty="0" smtClean="0">
                <a:sym typeface="Symbol" panose="05050102010706020507" pitchFamily="18" charset="2"/>
              </a:rPr>
              <a:t>=0; </a:t>
            </a:r>
            <a:r>
              <a:rPr lang="en-US" altLang="zh-CN" dirty="0" err="1" smtClean="0">
                <a:sym typeface="Symbol" panose="05050102010706020507" pitchFamily="18" charset="2"/>
              </a:rPr>
              <a:t>i</a:t>
            </a:r>
            <a:r>
              <a:rPr lang="en-US" altLang="zh-CN" dirty="0" smtClean="0">
                <a:sym typeface="Symbol" panose="05050102010706020507" pitchFamily="18" charset="2"/>
              </a:rPr>
              <a:t>&lt;n &amp;&amp; a[</a:t>
            </a:r>
            <a:r>
              <a:rPr lang="en-US" altLang="zh-CN" dirty="0" err="1" smtClean="0">
                <a:sym typeface="Symbol" panose="05050102010706020507" pitchFamily="18" charset="2"/>
              </a:rPr>
              <a:t>i</a:t>
            </a:r>
            <a:r>
              <a:rPr lang="en-US" altLang="zh-CN" dirty="0" smtClean="0">
                <a:sym typeface="Symbol" panose="05050102010706020507" pitchFamily="18" charset="2"/>
              </a:rPr>
              <a:t>]!=x; </a:t>
            </a:r>
            <a:r>
              <a:rPr lang="en-US" altLang="zh-CN" dirty="0" err="1" smtClean="0">
                <a:sym typeface="Symbol" panose="05050102010706020507" pitchFamily="18" charset="2"/>
              </a:rPr>
              <a:t>i</a:t>
            </a:r>
            <a:r>
              <a:rPr lang="en-US" altLang="zh-CN" dirty="0" smtClean="0">
                <a:sym typeface="Symbol" panose="05050102010706020507" pitchFamily="18" charset="2"/>
              </a:rPr>
              <a:t>++);</a:t>
            </a:r>
            <a:endParaRPr lang="en-US" altLang="zh-CN" dirty="0" smtClean="0">
              <a:sym typeface="Symbol" panose="05050102010706020507" pitchFamily="18" charset="2"/>
            </a:endParaRPr>
          </a:p>
          <a:p>
            <a:pPr>
              <a:spcBef>
                <a:spcPct val="0"/>
              </a:spcBef>
              <a:buFontTx/>
              <a:buNone/>
            </a:pPr>
            <a:r>
              <a:rPr lang="en-US" altLang="zh-CN" dirty="0" smtClean="0">
                <a:sym typeface="Symbol" panose="05050102010706020507" pitchFamily="18" charset="2"/>
              </a:rPr>
              <a:t>          if (</a:t>
            </a:r>
            <a:r>
              <a:rPr lang="en-US" altLang="zh-CN" dirty="0" err="1" smtClean="0">
                <a:sym typeface="Symbol" panose="05050102010706020507" pitchFamily="18" charset="2"/>
              </a:rPr>
              <a:t>i</a:t>
            </a:r>
            <a:r>
              <a:rPr lang="en-US" altLang="zh-CN" dirty="0" smtClean="0">
                <a:sym typeface="Symbol" panose="05050102010706020507" pitchFamily="18" charset="2"/>
              </a:rPr>
              <a:t>==n) return –1;</a:t>
            </a:r>
            <a:endParaRPr lang="en-US" altLang="zh-CN" dirty="0" smtClean="0">
              <a:sym typeface="Symbol" panose="05050102010706020507" pitchFamily="18" charset="2"/>
            </a:endParaRPr>
          </a:p>
          <a:p>
            <a:pPr>
              <a:spcBef>
                <a:spcPct val="0"/>
              </a:spcBef>
              <a:buFontTx/>
              <a:buNone/>
            </a:pPr>
            <a:r>
              <a:rPr lang="en-US" altLang="zh-CN" dirty="0" smtClean="0">
                <a:sym typeface="Symbol" panose="05050102010706020507" pitchFamily="18" charset="2"/>
              </a:rPr>
              <a:t>       return </a:t>
            </a:r>
            <a:r>
              <a:rPr lang="en-US" altLang="zh-CN" dirty="0" err="1" smtClean="0">
                <a:sym typeface="Symbol" panose="05050102010706020507" pitchFamily="18" charset="2"/>
              </a:rPr>
              <a:t>i</a:t>
            </a:r>
            <a:r>
              <a:rPr lang="en-US" altLang="zh-CN" dirty="0" smtClean="0">
                <a:sym typeface="Symbol" panose="05050102010706020507" pitchFamily="18" charset="2"/>
              </a:rPr>
              <a:t>;</a:t>
            </a:r>
            <a:endParaRPr lang="en-US" altLang="zh-CN" dirty="0" smtClean="0">
              <a:sym typeface="Symbol" panose="05050102010706020507" pitchFamily="18" charset="2"/>
            </a:endParaRPr>
          </a:p>
          <a:p>
            <a:pPr>
              <a:spcBef>
                <a:spcPct val="0"/>
              </a:spcBef>
              <a:buFontTx/>
              <a:buNone/>
            </a:pPr>
            <a:r>
              <a:rPr lang="en-US" altLang="zh-CN" dirty="0" smtClean="0">
                <a:sym typeface="Symbol" panose="05050102010706020507" pitchFamily="18" charset="2"/>
              </a:rPr>
              <a:t>} </a:t>
            </a:r>
            <a:endParaRPr lang="en-US" altLang="zh-CN" dirty="0" smtClean="0"/>
          </a:p>
          <a:p>
            <a:pPr eaLnBrk="1" hangingPunct="1"/>
            <a:endParaRPr lang="en-US" altLang="zh-CN" dirty="0" smtClean="0"/>
          </a:p>
        </p:txBody>
      </p:sp>
    </p:spTree>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92163" name="Rectangle 2"/>
          <p:cNvSpPr>
            <a:spLocks noGrp="1" noChangeArrowheads="1"/>
          </p:cNvSpPr>
          <p:nvPr>
            <p:ph type="title"/>
          </p:nvPr>
        </p:nvSpPr>
        <p:spPr/>
        <p:txBody>
          <a:bodyPr/>
          <a:lstStyle/>
          <a:p>
            <a:pPr eaLnBrk="1" hangingPunct="1"/>
            <a:r>
              <a:rPr lang="en-US" altLang="zh-CN" dirty="0">
                <a:latin typeface="+mn-ea"/>
              </a:rPr>
              <a:t>1.2.4 </a:t>
            </a:r>
            <a:r>
              <a:rPr lang="zh-CN" altLang="en-US" dirty="0">
                <a:latin typeface="+mn-ea"/>
              </a:rPr>
              <a:t>空间复杂度</a:t>
            </a:r>
            <a:r>
              <a:rPr lang="en-US" altLang="zh-CN" dirty="0">
                <a:latin typeface="+mn-ea"/>
              </a:rPr>
              <a:t>——</a:t>
            </a:r>
            <a:r>
              <a:rPr lang="zh-CN" altLang="en-US" dirty="0" smtClean="0"/>
              <a:t>例</a:t>
            </a:r>
            <a:r>
              <a:rPr lang="en-US" altLang="zh-CN" dirty="0" smtClean="0"/>
              <a:t>2   </a:t>
            </a:r>
            <a:r>
              <a:rPr lang="zh-CN" altLang="en-US" dirty="0" smtClean="0"/>
              <a:t>顺序查找</a:t>
            </a:r>
            <a:endParaRPr lang="en-US" altLang="zh-CN" dirty="0" smtClean="0"/>
          </a:p>
        </p:txBody>
      </p:sp>
      <p:sp>
        <p:nvSpPr>
          <p:cNvPr id="92164" name="Rectangle 3"/>
          <p:cNvSpPr>
            <a:spLocks noGrp="1" noChangeArrowheads="1"/>
          </p:cNvSpPr>
          <p:nvPr>
            <p:ph type="body" idx="1"/>
          </p:nvPr>
        </p:nvSpPr>
        <p:spPr/>
        <p:txBody>
          <a:bodyPr/>
          <a:lstStyle/>
          <a:p>
            <a:pPr eaLnBrk="1" hangingPunct="1"/>
            <a:r>
              <a:rPr lang="zh-CN" altLang="en-US" smtClean="0">
                <a:sym typeface="Symbol" panose="05050102010706020507" pitchFamily="18" charset="2"/>
              </a:rPr>
              <a:t>在例</a:t>
            </a:r>
            <a:r>
              <a:rPr lang="en-US" altLang="zh-CN" smtClean="0">
                <a:sym typeface="Symbol" panose="05050102010706020507" pitchFamily="18" charset="2"/>
              </a:rPr>
              <a:t>2</a:t>
            </a:r>
            <a:r>
              <a:rPr lang="zh-CN" altLang="en-US" smtClean="0">
                <a:sym typeface="Symbol" panose="05050102010706020507" pitchFamily="18" charset="2"/>
              </a:rPr>
              <a:t>中，假定采用被查数组的长度 </a:t>
            </a:r>
            <a:r>
              <a:rPr lang="en-US" altLang="zh-CN" smtClean="0">
                <a:sym typeface="Symbol" panose="05050102010706020507" pitchFamily="18" charset="2"/>
              </a:rPr>
              <a:t>n </a:t>
            </a:r>
            <a:r>
              <a:rPr lang="zh-CN" altLang="en-US" smtClean="0">
                <a:sym typeface="Symbol" panose="05050102010706020507" pitchFamily="18" charset="2"/>
              </a:rPr>
              <a:t>作为实例特征，并取</a:t>
            </a:r>
            <a:r>
              <a:rPr lang="en-US" altLang="zh-CN" smtClean="0">
                <a:sym typeface="Symbol" panose="05050102010706020507" pitchFamily="18" charset="2"/>
              </a:rPr>
              <a:t>T </a:t>
            </a:r>
            <a:r>
              <a:rPr lang="zh-CN" altLang="en-US" smtClean="0">
                <a:sym typeface="Symbol" panose="05050102010706020507" pitchFamily="18" charset="2"/>
              </a:rPr>
              <a:t>为 </a:t>
            </a:r>
            <a:r>
              <a:rPr lang="en-US" altLang="zh-CN" smtClean="0">
                <a:sym typeface="Symbol" panose="05050102010706020507" pitchFamily="18" charset="2"/>
              </a:rPr>
              <a:t>int </a:t>
            </a:r>
            <a:r>
              <a:rPr lang="zh-CN" altLang="en-US" smtClean="0">
                <a:sym typeface="Symbol" panose="05050102010706020507" pitchFamily="18" charset="2"/>
              </a:rPr>
              <a:t>类型。</a:t>
            </a:r>
            <a:endParaRPr lang="en-US" altLang="zh-CN" smtClean="0">
              <a:sym typeface="Symbol" panose="05050102010706020507" pitchFamily="18" charset="2"/>
            </a:endParaRPr>
          </a:p>
          <a:p>
            <a:pPr eaLnBrk="1" hangingPunct="1"/>
            <a:r>
              <a:rPr lang="zh-CN" altLang="en-US" smtClean="0">
                <a:sym typeface="Symbol" panose="05050102010706020507" pitchFamily="18" charset="2"/>
              </a:rPr>
              <a:t>数组中每个元素需要 2 个字节，实参</a:t>
            </a:r>
            <a:r>
              <a:rPr lang="en-US" altLang="zh-CN" smtClean="0">
                <a:sym typeface="Symbol" panose="05050102010706020507" pitchFamily="18" charset="2"/>
              </a:rPr>
              <a:t>x </a:t>
            </a:r>
            <a:r>
              <a:rPr lang="zh-CN" altLang="en-US" smtClean="0">
                <a:sym typeface="Symbol" panose="05050102010706020507" pitchFamily="18" charset="2"/>
              </a:rPr>
              <a:t>需要2 个字节，传值形式参数 </a:t>
            </a:r>
            <a:r>
              <a:rPr lang="en-US" altLang="zh-CN" smtClean="0">
                <a:sym typeface="Symbol" panose="05050102010706020507" pitchFamily="18" charset="2"/>
              </a:rPr>
              <a:t>n </a:t>
            </a:r>
            <a:r>
              <a:rPr lang="zh-CN" altLang="en-US" smtClean="0">
                <a:sym typeface="Symbol" panose="05050102010706020507" pitchFamily="18" charset="2"/>
              </a:rPr>
              <a:t>需要2 个字节，局部变量 </a:t>
            </a:r>
            <a:r>
              <a:rPr lang="en-US" altLang="zh-CN" smtClean="0">
                <a:sym typeface="Symbol" panose="05050102010706020507" pitchFamily="18" charset="2"/>
              </a:rPr>
              <a:t>i</a:t>
            </a:r>
            <a:r>
              <a:rPr lang="zh-CN" altLang="en-US" smtClean="0">
                <a:sym typeface="Symbol" panose="05050102010706020507" pitchFamily="18" charset="2"/>
              </a:rPr>
              <a:t> 需要2 个字节，整数常量 –1 需要2 个字节，所需要的总的数据空间为 10 个字节，其独立于 </a:t>
            </a:r>
            <a:r>
              <a:rPr lang="en-US" altLang="zh-CN" smtClean="0">
                <a:sym typeface="Symbol" panose="05050102010706020507" pitchFamily="18" charset="2"/>
              </a:rPr>
              <a:t>n, </a:t>
            </a:r>
            <a:r>
              <a:rPr lang="zh-CN" altLang="en-US" smtClean="0">
                <a:sym typeface="Symbol" panose="05050102010706020507" pitchFamily="18" charset="2"/>
              </a:rPr>
              <a:t>所以 </a:t>
            </a:r>
            <a:r>
              <a:rPr lang="en-US" altLang="zh-CN" smtClean="0">
                <a:sym typeface="Symbol" panose="05050102010706020507" pitchFamily="18" charset="2"/>
              </a:rPr>
              <a:t>S</a:t>
            </a:r>
            <a:r>
              <a:rPr lang="zh-CN" altLang="en-US" smtClean="0">
                <a:sym typeface="Symbol" panose="05050102010706020507" pitchFamily="18" charset="2"/>
              </a:rPr>
              <a:t> (</a:t>
            </a:r>
            <a:r>
              <a:rPr lang="en-US" altLang="zh-CN" smtClean="0">
                <a:sym typeface="Symbol" panose="05050102010706020507" pitchFamily="18" charset="2"/>
              </a:rPr>
              <a:t>n)=0</a:t>
            </a:r>
            <a:r>
              <a:rPr lang="zh-CN" altLang="en-US" smtClean="0">
                <a:sym typeface="Symbol" panose="05050102010706020507" pitchFamily="18" charset="2"/>
              </a:rPr>
              <a:t>。</a:t>
            </a:r>
            <a:endParaRPr lang="en-US" altLang="zh-CN" smtClean="0">
              <a:sym typeface="Symbol" panose="05050102010706020507" pitchFamily="18" charset="2"/>
            </a:endParaRPr>
          </a:p>
          <a:p>
            <a:pPr eaLnBrk="1" hangingPunct="1"/>
            <a:r>
              <a:rPr lang="en-US" altLang="zh-CN" smtClean="0">
                <a:sym typeface="Symbol" panose="05050102010706020507" pitchFamily="18" charset="2"/>
              </a:rPr>
              <a:t> </a:t>
            </a:r>
            <a:r>
              <a:rPr lang="zh-CN" altLang="en-US" smtClean="0">
                <a:sym typeface="Symbol" panose="05050102010706020507" pitchFamily="18" charset="2"/>
              </a:rPr>
              <a:t>这里我们并没有把数组</a:t>
            </a:r>
            <a:r>
              <a:rPr lang="en-US" altLang="zh-CN" smtClean="0">
                <a:sym typeface="Symbol" panose="05050102010706020507" pitchFamily="18" charset="2"/>
              </a:rPr>
              <a:t>a </a:t>
            </a:r>
            <a:r>
              <a:rPr lang="zh-CN" altLang="en-US" smtClean="0">
                <a:sym typeface="Symbol" panose="05050102010706020507" pitchFamily="18" charset="2"/>
              </a:rPr>
              <a:t>所需的空间计算进来，因为该数组所需的空间已在定义实际参数(对应于 </a:t>
            </a:r>
            <a:r>
              <a:rPr lang="en-US" altLang="zh-CN" smtClean="0">
                <a:sym typeface="Symbol" panose="05050102010706020507" pitchFamily="18" charset="2"/>
              </a:rPr>
              <a:t>a) </a:t>
            </a:r>
            <a:r>
              <a:rPr lang="zh-CN" altLang="en-US" smtClean="0">
                <a:sym typeface="Symbol" panose="05050102010706020507" pitchFamily="18" charset="2"/>
              </a:rPr>
              <a:t>的函数中分配，不能再加到函数 </a:t>
            </a:r>
            <a:r>
              <a:rPr lang="en-US" altLang="zh-CN" smtClean="0">
                <a:sym typeface="Symbol" panose="05050102010706020507" pitchFamily="18" charset="2"/>
              </a:rPr>
              <a:t>SequentialSearch </a:t>
            </a:r>
            <a:r>
              <a:rPr lang="zh-CN" altLang="en-US" smtClean="0">
                <a:sym typeface="Symbol" panose="05050102010706020507" pitchFamily="18" charset="2"/>
              </a:rPr>
              <a:t>所需的空间上去。</a:t>
            </a:r>
            <a:endParaRPr lang="zh-CN" altLang="en-US" smtClean="0">
              <a:sym typeface="Symbol" panose="05050102010706020507" pitchFamily="18" charset="2"/>
            </a:endParaRPr>
          </a:p>
          <a:p>
            <a:pPr eaLnBrk="1" hangingPunct="1"/>
            <a:endParaRPr lang="en-US" altLang="zh-CN" smtClean="0"/>
          </a:p>
        </p:txBody>
      </p:sp>
    </p:spTree>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298"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dirty="0" smtClean="0">
                <a:solidFill>
                  <a:schemeClr val="tx1"/>
                </a:solidFill>
                <a:latin typeface="Arial" panose="020B0604020202090204" pitchFamily="34" charset="0"/>
                <a:ea typeface="宋体" pitchFamily="2" charset="-122"/>
              </a:rPr>
              <a:t>Algorithms Design Techniques and Analysis</a:t>
            </a:r>
            <a:endParaRPr lang="en-US" altLang="zh-CN" sz="1400" dirty="0" smtClean="0">
              <a:solidFill>
                <a:schemeClr val="tx1"/>
              </a:solidFill>
              <a:latin typeface="Arial" panose="020B0604020202090204" pitchFamily="34" charset="0"/>
              <a:ea typeface="宋体" pitchFamily="2" charset="-122"/>
            </a:endParaRPr>
          </a:p>
        </p:txBody>
      </p:sp>
      <p:sp>
        <p:nvSpPr>
          <p:cNvPr id="183299" name="Rectangle 2"/>
          <p:cNvSpPr>
            <a:spLocks noGrp="1" noChangeArrowheads="1"/>
          </p:cNvSpPr>
          <p:nvPr>
            <p:ph type="title"/>
          </p:nvPr>
        </p:nvSpPr>
        <p:spPr/>
        <p:txBody>
          <a:bodyPr/>
          <a:lstStyle/>
          <a:p>
            <a:pPr eaLnBrk="1" hangingPunct="1"/>
            <a:r>
              <a:rPr lang="en-US" altLang="zh-CN" dirty="0">
                <a:latin typeface="+mn-ea"/>
              </a:rPr>
              <a:t>1.2.5 </a:t>
            </a:r>
            <a:r>
              <a:rPr lang="zh-CN" altLang="en-US" dirty="0" smtClean="0"/>
              <a:t>最优算法</a:t>
            </a:r>
            <a:endParaRPr lang="en-US" altLang="zh-CN" dirty="0" smtClean="0"/>
          </a:p>
        </p:txBody>
      </p:sp>
      <p:sp>
        <p:nvSpPr>
          <p:cNvPr id="75779" name="Rectangle 3"/>
          <p:cNvSpPr>
            <a:spLocks noGrp="1" noChangeArrowheads="1"/>
          </p:cNvSpPr>
          <p:nvPr>
            <p:ph type="body" idx="1"/>
          </p:nvPr>
        </p:nvSpPr>
        <p:spPr/>
        <p:txBody>
          <a:bodyPr/>
          <a:lstStyle/>
          <a:p>
            <a:pPr eaLnBrk="1" hangingPunct="1">
              <a:defRPr/>
            </a:pPr>
            <a:r>
              <a:rPr lang="zh-CN" altLang="en-US" sz="2900" dirty="0" smtClean="0"/>
              <a:t>定义</a:t>
            </a:r>
            <a:r>
              <a:rPr lang="zh-CN" altLang="en-US" sz="2600" dirty="0" smtClean="0">
                <a:latin typeface="+mn-lt"/>
                <a:ea typeface="+mn-ea"/>
              </a:rPr>
              <a:t>如果可以证明任何一个求解问题</a:t>
            </a:r>
            <a:r>
              <a:rPr lang="en-US" altLang="zh-CN" sz="2600" dirty="0" smtClean="0">
                <a:latin typeface="+mn-lt"/>
                <a:ea typeface="+mn-ea"/>
                <a:sym typeface="Symbol" panose="05050102010706020507" pitchFamily="18" charset="2"/>
              </a:rPr>
              <a:t> </a:t>
            </a:r>
            <a:r>
              <a:rPr lang="zh-CN" altLang="en-US" sz="2600" dirty="0" smtClean="0">
                <a:latin typeface="+mn-lt"/>
                <a:ea typeface="+mn-ea"/>
                <a:sym typeface="Symbol" panose="05050102010706020507" pitchFamily="18" charset="2"/>
              </a:rPr>
              <a:t>的算法必定是</a:t>
            </a:r>
            <a:r>
              <a:rPr lang="en-US" altLang="zh-CN" sz="2600" dirty="0" smtClean="0">
                <a:latin typeface="+mn-lt"/>
                <a:ea typeface="+mn-ea"/>
                <a:sym typeface="Symbol" panose="05050102010706020507" pitchFamily="18" charset="2"/>
              </a:rPr>
              <a:t>(f(n)),</a:t>
            </a:r>
            <a:r>
              <a:rPr lang="zh-CN" altLang="en-US" sz="2600" dirty="0" smtClean="0">
                <a:latin typeface="+mn-lt"/>
                <a:ea typeface="+mn-ea"/>
                <a:sym typeface="Symbol" panose="05050102010706020507" pitchFamily="18" charset="2"/>
              </a:rPr>
              <a:t>，那么我们把在</a:t>
            </a:r>
            <a:r>
              <a:rPr lang="en-US" altLang="zh-CN" sz="2600" dirty="0" smtClean="0">
                <a:latin typeface="+mn-lt"/>
                <a:ea typeface="+mn-ea"/>
                <a:sym typeface="Symbol" panose="05050102010706020507" pitchFamily="18" charset="2"/>
              </a:rPr>
              <a:t>O(f(n)) </a:t>
            </a:r>
            <a:r>
              <a:rPr lang="zh-CN" altLang="en-US" sz="2600" dirty="0" smtClean="0">
                <a:latin typeface="+mn-lt"/>
                <a:ea typeface="+mn-ea"/>
                <a:sym typeface="Symbol" panose="05050102010706020507" pitchFamily="18" charset="2"/>
              </a:rPr>
              <a:t>时间内求解问题</a:t>
            </a:r>
            <a:r>
              <a:rPr lang="en-US" altLang="zh-CN" sz="2600" dirty="0" smtClean="0">
                <a:latin typeface="+mn-lt"/>
                <a:ea typeface="+mn-ea"/>
                <a:sym typeface="Symbol" panose="05050102010706020507" pitchFamily="18" charset="2"/>
              </a:rPr>
              <a:t> </a:t>
            </a:r>
            <a:r>
              <a:rPr lang="zh-CN" altLang="en-US" sz="2600" dirty="0" smtClean="0">
                <a:latin typeface="+mn-lt"/>
                <a:ea typeface="+mn-ea"/>
                <a:sym typeface="Symbol" panose="05050102010706020507" pitchFamily="18" charset="2"/>
              </a:rPr>
              <a:t>的任何算法都称为问题</a:t>
            </a:r>
            <a:r>
              <a:rPr lang="en-US" altLang="zh-CN" sz="2600" dirty="0" smtClean="0">
                <a:latin typeface="+mn-lt"/>
                <a:ea typeface="+mn-ea"/>
                <a:sym typeface="Symbol" panose="05050102010706020507" pitchFamily="18" charset="2"/>
              </a:rPr>
              <a:t></a:t>
            </a:r>
            <a:r>
              <a:rPr lang="zh-CN" altLang="en-US" sz="2600" dirty="0" smtClean="0">
                <a:latin typeface="+mn-lt"/>
                <a:ea typeface="+mn-ea"/>
                <a:sym typeface="Symbol" panose="05050102010706020507" pitchFamily="18" charset="2"/>
              </a:rPr>
              <a:t>的</a:t>
            </a:r>
            <a:r>
              <a:rPr lang="zh-CN" altLang="en-US" sz="2600" dirty="0" smtClean="0">
                <a:solidFill>
                  <a:srgbClr val="FF0000"/>
                </a:solidFill>
                <a:latin typeface="+mn-lt"/>
                <a:ea typeface="+mn-ea"/>
                <a:sym typeface="Symbol" panose="05050102010706020507" pitchFamily="18" charset="2"/>
              </a:rPr>
              <a:t>最优算法</a:t>
            </a:r>
            <a:r>
              <a:rPr lang="zh-CN" altLang="en-US" sz="2600" dirty="0" smtClean="0">
                <a:latin typeface="+mn-lt"/>
                <a:ea typeface="+mn-ea"/>
                <a:sym typeface="Symbol" panose="05050102010706020507" pitchFamily="18" charset="2"/>
              </a:rPr>
              <a:t>。</a:t>
            </a:r>
            <a:endParaRPr lang="en-US" altLang="zh-CN" sz="2600" dirty="0" smtClean="0">
              <a:latin typeface="+mn-lt"/>
              <a:ea typeface="+mn-ea"/>
              <a:sym typeface="Symbol" panose="05050102010706020507" pitchFamily="18" charset="2"/>
            </a:endParaRPr>
          </a:p>
          <a:p>
            <a:pPr marL="0" indent="0" eaLnBrk="1" hangingPunct="1">
              <a:buNone/>
              <a:defRPr/>
            </a:pPr>
            <a:endParaRPr lang="en-US" altLang="zh-CN" sz="2600" dirty="0">
              <a:sym typeface="Symbol" panose="05050102010706020507" pitchFamily="18" charset="2"/>
            </a:endParaRPr>
          </a:p>
          <a:p>
            <a:pPr eaLnBrk="1" hangingPunct="1">
              <a:defRPr/>
            </a:pPr>
            <a:r>
              <a:rPr lang="zh-CN" altLang="en-US" sz="2600" dirty="0" smtClean="0">
                <a:latin typeface="+mn-lt"/>
                <a:ea typeface="+mn-ea"/>
                <a:sym typeface="Symbol" panose="05050102010706020507" pitchFamily="18" charset="2"/>
              </a:rPr>
              <a:t>文献中被广泛使用的定义没有考虑空间复杂性，原因如下：</a:t>
            </a:r>
            <a:endParaRPr lang="en-US" altLang="zh-CN" sz="2600" dirty="0" smtClean="0">
              <a:latin typeface="+mn-lt"/>
              <a:ea typeface="+mn-ea"/>
              <a:sym typeface="Symbol" panose="05050102010706020507" pitchFamily="18" charset="2"/>
            </a:endParaRPr>
          </a:p>
          <a:p>
            <a:pPr marL="0" indent="0" eaLnBrk="1" hangingPunct="1">
              <a:buNone/>
              <a:defRPr/>
            </a:pPr>
            <a:r>
              <a:rPr lang="en-US" altLang="zh-CN" sz="2600" dirty="0">
                <a:sym typeface="Symbol" panose="05050102010706020507" pitchFamily="18" charset="2"/>
              </a:rPr>
              <a:t> </a:t>
            </a:r>
            <a:r>
              <a:rPr lang="en-US" altLang="zh-CN" sz="2600" dirty="0" smtClean="0">
                <a:sym typeface="Symbol" panose="05050102010706020507" pitchFamily="18" charset="2"/>
              </a:rPr>
              <a:t>        1)</a:t>
            </a:r>
            <a:r>
              <a:rPr lang="zh-CN" altLang="en-US" sz="2600" dirty="0" smtClean="0">
                <a:sym typeface="Symbol" panose="05050102010706020507" pitchFamily="18" charset="2"/>
              </a:rPr>
              <a:t>时间比空间珍贵；</a:t>
            </a:r>
            <a:endParaRPr lang="en-US" altLang="zh-CN" sz="2600" dirty="0" smtClean="0">
              <a:sym typeface="Symbol" panose="05050102010706020507" pitchFamily="18" charset="2"/>
            </a:endParaRPr>
          </a:p>
          <a:p>
            <a:pPr marL="0" indent="0" eaLnBrk="1" hangingPunct="1">
              <a:buNone/>
              <a:defRPr/>
            </a:pPr>
            <a:r>
              <a:rPr lang="en-US" altLang="zh-CN" sz="2600" dirty="0" smtClean="0">
                <a:latin typeface="+mn-lt"/>
                <a:ea typeface="+mn-ea"/>
                <a:sym typeface="Symbol" panose="05050102010706020507" pitchFamily="18" charset="2"/>
              </a:rPr>
              <a:t>	  2</a:t>
            </a:r>
            <a:r>
              <a:rPr lang="en-US" altLang="zh-CN" sz="2600" dirty="0" smtClean="0">
                <a:sym typeface="Symbol" panose="05050102010706020507" pitchFamily="18" charset="2"/>
              </a:rPr>
              <a:t>)</a:t>
            </a:r>
            <a:r>
              <a:rPr lang="zh-CN" altLang="en-US" sz="2600" dirty="0" smtClean="0">
                <a:sym typeface="Symbol" panose="05050102010706020507" pitchFamily="18" charset="2"/>
              </a:rPr>
              <a:t>大多数最优算法的空间复杂性同处</a:t>
            </a:r>
            <a:r>
              <a:rPr lang="en-US" altLang="zh-CN" sz="2600" dirty="0" smtClean="0">
                <a:sym typeface="Symbol" panose="05050102010706020507" pitchFamily="18" charset="2"/>
              </a:rPr>
              <a:t>O(n)</a:t>
            </a:r>
            <a:r>
              <a:rPr lang="zh-CN" altLang="en-US" sz="2600" dirty="0" smtClean="0">
                <a:sym typeface="Symbol" panose="05050102010706020507" pitchFamily="18" charset="2"/>
              </a:rPr>
              <a:t>阶内。</a:t>
            </a:r>
            <a:r>
              <a:rPr lang="en-US" altLang="zh-CN" sz="2600" dirty="0" smtClean="0">
                <a:sym typeface="Symbol" panose="05050102010706020507" pitchFamily="18" charset="2"/>
              </a:rPr>
              <a:t> </a:t>
            </a:r>
            <a:endParaRPr lang="en-US" altLang="zh-CN" sz="2600" dirty="0" smtClean="0">
              <a:latin typeface="+mn-lt"/>
              <a:ea typeface="+mn-ea"/>
              <a:sym typeface="Symbol" panose="05050102010706020507" pitchFamily="18" charset="2"/>
            </a:endParaRPr>
          </a:p>
          <a:p>
            <a:pPr marL="457200" lvl="1" indent="0" eaLnBrk="1" hangingPunct="1">
              <a:buNone/>
              <a:defRPr/>
            </a:pPr>
            <a:r>
              <a:rPr lang="en-US" altLang="zh-CN" sz="2600" dirty="0">
                <a:latin typeface="+mn-lt"/>
                <a:ea typeface="+mn-ea"/>
                <a:sym typeface="Symbol" panose="05050102010706020507" pitchFamily="18" charset="2"/>
              </a:rPr>
              <a:t>	</a:t>
            </a:r>
            <a:r>
              <a:rPr lang="en-US" altLang="zh-CN" sz="2600" dirty="0" smtClean="0">
                <a:latin typeface="+mn-lt"/>
                <a:ea typeface="+mn-ea"/>
                <a:sym typeface="Symbol" panose="05050102010706020507" pitchFamily="18" charset="2"/>
              </a:rPr>
              <a:t>	</a:t>
            </a:r>
            <a:endParaRPr lang="en-US" altLang="zh-CN" sz="2600" dirty="0" smtClean="0">
              <a:latin typeface="+mn-lt"/>
              <a:ea typeface="+mn-ea"/>
            </a:endParaRPr>
          </a:p>
        </p:txBody>
      </p:sp>
    </p:spTree>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smtClean="0">
                <a:latin typeface="+mn-ea"/>
              </a:rPr>
              <a:t>1.2.6 </a:t>
            </a:r>
            <a:r>
              <a:rPr lang="zh-CN" altLang="en-US" dirty="0" smtClean="0">
                <a:latin typeface="+mn-ea"/>
              </a:rPr>
              <a:t>算法正确性证明方法</a:t>
            </a:r>
            <a:endParaRPr lang="zh-CN" altLang="en-US" dirty="0"/>
          </a:p>
        </p:txBody>
      </p:sp>
      <p:sp>
        <p:nvSpPr>
          <p:cNvPr id="3" name="内容占位符 2"/>
          <p:cNvSpPr>
            <a:spLocks noGrp="1"/>
          </p:cNvSpPr>
          <p:nvPr>
            <p:ph idx="1"/>
          </p:nvPr>
        </p:nvSpPr>
        <p:spPr/>
        <p:txBody>
          <a:bodyPr/>
          <a:lstStyle/>
          <a:p>
            <a:pPr marL="0" indent="0">
              <a:buNone/>
            </a:pPr>
            <a:r>
              <a:rPr lang="zh-CN" altLang="en-US" sz="2800" b="1" dirty="0" smtClean="0"/>
              <a:t>概述：</a:t>
            </a:r>
            <a:endParaRPr lang="en-US" altLang="zh-CN" sz="2800" b="1" dirty="0" smtClean="0"/>
          </a:p>
          <a:p>
            <a:r>
              <a:rPr lang="zh-CN" altLang="en-US" dirty="0" smtClean="0"/>
              <a:t>对于</a:t>
            </a:r>
            <a:r>
              <a:rPr lang="zh-CN" altLang="en-US" dirty="0"/>
              <a:t>明显是正确的算法</a:t>
            </a:r>
            <a:r>
              <a:rPr lang="en-US" altLang="zh-CN" dirty="0"/>
              <a:t>(</a:t>
            </a:r>
            <a:r>
              <a:rPr lang="zh-CN" altLang="en-US" dirty="0"/>
              <a:t>或程序</a:t>
            </a:r>
            <a:r>
              <a:rPr lang="en-US" altLang="zh-CN" dirty="0" smtClean="0"/>
              <a:t>)</a:t>
            </a:r>
            <a:r>
              <a:rPr lang="zh-CN" altLang="en-US" dirty="0" smtClean="0"/>
              <a:t>可以通过</a:t>
            </a:r>
            <a:r>
              <a:rPr lang="zh-CN" altLang="en-US" dirty="0"/>
              <a:t>上机调试、验证其正确性。调试用</a:t>
            </a:r>
            <a:r>
              <a:rPr lang="zh-CN" altLang="en-US" dirty="0" smtClean="0"/>
              <a:t>的数据</a:t>
            </a:r>
            <a:r>
              <a:rPr lang="zh-CN" altLang="en-US" dirty="0"/>
              <a:t>要精心挑选，以期达到算法对</a:t>
            </a:r>
            <a:r>
              <a:rPr lang="zh-CN" altLang="en-US" dirty="0" smtClean="0"/>
              <a:t>“所有的”</a:t>
            </a:r>
            <a:r>
              <a:rPr lang="zh-CN" altLang="en-US" dirty="0"/>
              <a:t>数据都是正确的目标</a:t>
            </a:r>
            <a:r>
              <a:rPr lang="zh-CN" altLang="en-US" dirty="0" smtClean="0"/>
              <a:t>。</a:t>
            </a:r>
            <a:endParaRPr lang="en-US" altLang="zh-CN" dirty="0" smtClean="0"/>
          </a:p>
          <a:p>
            <a:r>
              <a:rPr lang="zh-CN" altLang="en-US" dirty="0" smtClean="0"/>
              <a:t>只要</a:t>
            </a:r>
            <a:r>
              <a:rPr lang="zh-CN" altLang="en-US" dirty="0"/>
              <a:t>找出一组数据使算法失败</a:t>
            </a:r>
            <a:r>
              <a:rPr lang="zh-CN" altLang="en-US" dirty="0" smtClean="0"/>
              <a:t>，就</a:t>
            </a:r>
            <a:r>
              <a:rPr lang="zh-CN" altLang="en-US" dirty="0"/>
              <a:t>能</a:t>
            </a:r>
            <a:r>
              <a:rPr lang="zh-CN" altLang="en-US" dirty="0" smtClean="0"/>
              <a:t>否定整个</a:t>
            </a:r>
            <a:r>
              <a:rPr lang="zh-CN" altLang="en-US" dirty="0"/>
              <a:t>算法的正确性</a:t>
            </a:r>
            <a:r>
              <a:rPr lang="en-US" altLang="zh-CN" dirty="0"/>
              <a:t>; </a:t>
            </a:r>
            <a:endParaRPr lang="en-US" altLang="zh-CN" dirty="0" smtClean="0"/>
          </a:p>
          <a:p>
            <a:r>
              <a:rPr lang="zh-CN" altLang="en-US" dirty="0" smtClean="0"/>
              <a:t>算法</a:t>
            </a:r>
            <a:r>
              <a:rPr lang="zh-CN" altLang="en-US" dirty="0"/>
              <a:t>的正确性一般通过</a:t>
            </a:r>
            <a:r>
              <a:rPr lang="zh-CN" altLang="en-US" dirty="0" smtClean="0"/>
              <a:t>数学方法</a:t>
            </a:r>
            <a:r>
              <a:rPr lang="zh-CN" altLang="en-US" dirty="0"/>
              <a:t>进行</a:t>
            </a:r>
            <a:r>
              <a:rPr lang="zh-CN" altLang="en-US" dirty="0" smtClean="0"/>
              <a:t>推理证明</a:t>
            </a:r>
            <a:r>
              <a:rPr lang="zh-CN" altLang="en-US" dirty="0"/>
              <a:t>，常用的数学方法除了</a:t>
            </a:r>
            <a:r>
              <a:rPr lang="zh-CN" altLang="en-US" dirty="0">
                <a:solidFill>
                  <a:srgbClr val="FF0000"/>
                </a:solidFill>
              </a:rPr>
              <a:t>直接证明法</a:t>
            </a:r>
            <a:r>
              <a:rPr lang="zh-CN" altLang="en-US" dirty="0"/>
              <a:t>外</a:t>
            </a:r>
            <a:r>
              <a:rPr lang="zh-CN" altLang="en-US" dirty="0" smtClean="0"/>
              <a:t>，还有</a:t>
            </a:r>
            <a:r>
              <a:rPr lang="zh-CN" altLang="en-US" dirty="0">
                <a:solidFill>
                  <a:srgbClr val="FF0000"/>
                </a:solidFill>
              </a:rPr>
              <a:t>反证法</a:t>
            </a:r>
            <a:r>
              <a:rPr lang="zh-CN" altLang="en-US" dirty="0"/>
              <a:t>和</a:t>
            </a:r>
            <a:r>
              <a:rPr lang="zh-CN" altLang="en-US" dirty="0">
                <a:solidFill>
                  <a:srgbClr val="FF0000"/>
                </a:solidFill>
              </a:rPr>
              <a:t>数学归纳法</a:t>
            </a:r>
            <a:r>
              <a:rPr lang="zh-CN" altLang="en-US" dirty="0"/>
              <a:t>。</a:t>
            </a:r>
            <a:endParaRPr lang="zh-CN" altLang="en-US" dirty="0"/>
          </a:p>
        </p:txBody>
      </p:sp>
      <p:sp>
        <p:nvSpPr>
          <p:cNvPr id="4" name="页脚占位符 3"/>
          <p:cNvSpPr>
            <a:spLocks noGrp="1"/>
          </p:cNvSpPr>
          <p:nvPr>
            <p:ph type="ftr" sz="quarter" idx="10"/>
          </p:nvPr>
        </p:nvSpPr>
        <p:spPr/>
        <p:txBody>
          <a:bodyPr/>
          <a:lstStyle/>
          <a:p>
            <a:pPr>
              <a:defRPr/>
            </a:pPr>
            <a:r>
              <a:rPr lang="en-US" altLang="zh-CN" smtClean="0"/>
              <a:t>Algorithms Design Techniques and Analysis</a:t>
            </a:r>
            <a:endParaRPr lang="en-US" altLang="zh-CN"/>
          </a:p>
        </p:txBody>
      </p:sp>
    </p:spTree>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smtClean="0">
                <a:latin typeface="+mn-ea"/>
              </a:rPr>
              <a:t>1.2.6 </a:t>
            </a:r>
            <a:r>
              <a:rPr lang="zh-CN" altLang="en-US" dirty="0" smtClean="0">
                <a:latin typeface="+mn-ea"/>
              </a:rPr>
              <a:t>算法正确性证明</a:t>
            </a:r>
            <a:r>
              <a:rPr lang="en-US" altLang="zh-CN" dirty="0" smtClean="0">
                <a:latin typeface="+mn-ea"/>
              </a:rPr>
              <a:t>——</a:t>
            </a:r>
            <a:r>
              <a:rPr lang="zh-CN" altLang="en-US" dirty="0" smtClean="0">
                <a:latin typeface="+mn-ea"/>
              </a:rPr>
              <a:t>反证法</a:t>
            </a:r>
            <a:endParaRPr lang="zh-CN" altLang="en-US" dirty="0"/>
          </a:p>
        </p:txBody>
      </p:sp>
      <p:sp>
        <p:nvSpPr>
          <p:cNvPr id="3" name="内容占位符 2"/>
          <p:cNvSpPr>
            <a:spLocks noGrp="1"/>
          </p:cNvSpPr>
          <p:nvPr>
            <p:ph idx="1"/>
          </p:nvPr>
        </p:nvSpPr>
        <p:spPr/>
        <p:txBody>
          <a:bodyPr/>
          <a:lstStyle/>
          <a:p>
            <a:pPr marL="0" indent="0">
              <a:buNone/>
            </a:pPr>
            <a:r>
              <a:rPr lang="zh-CN" altLang="en-US" dirty="0"/>
              <a:t>①要证明定理</a:t>
            </a:r>
            <a:r>
              <a:rPr lang="en-US" altLang="zh-CN" dirty="0"/>
              <a:t>T</a:t>
            </a:r>
            <a:r>
              <a:rPr lang="zh-CN" altLang="en-US" dirty="0"/>
              <a:t>是正确的，首先假定</a:t>
            </a:r>
            <a:r>
              <a:rPr lang="en-US" altLang="zh-CN" dirty="0"/>
              <a:t>T</a:t>
            </a:r>
            <a:r>
              <a:rPr lang="zh-CN" altLang="en-US" dirty="0"/>
              <a:t>是</a:t>
            </a:r>
            <a:r>
              <a:rPr lang="zh-CN" altLang="en-US" dirty="0" smtClean="0"/>
              <a:t>错误的。</a:t>
            </a:r>
            <a:endParaRPr lang="zh-CN" altLang="en-US" dirty="0"/>
          </a:p>
          <a:p>
            <a:pPr marL="0" indent="0">
              <a:buNone/>
            </a:pPr>
            <a:r>
              <a:rPr lang="zh-CN" altLang="en-US" dirty="0"/>
              <a:t>②用正确的命题和推理规则进行推理，若</a:t>
            </a:r>
            <a:r>
              <a:rPr lang="zh-CN" altLang="en-US" dirty="0" smtClean="0"/>
              <a:t>出现</a:t>
            </a:r>
            <a:r>
              <a:rPr lang="zh-CN" altLang="en-US" dirty="0"/>
              <a:t>下列条件之一，就会得出矛盾的结果</a:t>
            </a:r>
            <a:r>
              <a:rPr lang="en-US" altLang="zh-CN" dirty="0"/>
              <a:t>:</a:t>
            </a:r>
            <a:endParaRPr lang="en-US" altLang="zh-CN" dirty="0"/>
          </a:p>
          <a:p>
            <a:pPr marL="360045" indent="0">
              <a:buNone/>
            </a:pPr>
            <a:r>
              <a:rPr lang="en-US" altLang="zh-CN" dirty="0" smtClean="0"/>
              <a:t>➢</a:t>
            </a:r>
            <a:r>
              <a:rPr lang="zh-CN" altLang="en-US" dirty="0"/>
              <a:t>与已知条件矛盾</a:t>
            </a:r>
            <a:endParaRPr lang="zh-CN" altLang="en-US" dirty="0"/>
          </a:p>
          <a:p>
            <a:pPr marL="360045" indent="0">
              <a:buNone/>
            </a:pPr>
            <a:r>
              <a:rPr lang="zh-CN" altLang="en-US" dirty="0"/>
              <a:t>➢与公理矛盾</a:t>
            </a:r>
            <a:endParaRPr lang="zh-CN" altLang="en-US" dirty="0"/>
          </a:p>
          <a:p>
            <a:pPr marL="360045" indent="0">
              <a:buNone/>
            </a:pPr>
            <a:r>
              <a:rPr lang="zh-CN" altLang="en-US" dirty="0"/>
              <a:t>➢与证明过的定理矛盾</a:t>
            </a:r>
            <a:endParaRPr lang="zh-CN" altLang="en-US" dirty="0"/>
          </a:p>
          <a:p>
            <a:pPr marL="360045" indent="0">
              <a:buNone/>
            </a:pPr>
            <a:r>
              <a:rPr lang="zh-CN" altLang="en-US" dirty="0"/>
              <a:t>➢自相矛盾</a:t>
            </a:r>
            <a:endParaRPr lang="zh-CN" altLang="en-US" dirty="0"/>
          </a:p>
          <a:p>
            <a:pPr marL="0" indent="0">
              <a:buNone/>
            </a:pPr>
            <a:r>
              <a:rPr lang="zh-CN" altLang="en-US" dirty="0"/>
              <a:t>③由此推出定理</a:t>
            </a:r>
            <a:r>
              <a:rPr lang="en-US" altLang="zh-CN" dirty="0"/>
              <a:t>T</a:t>
            </a:r>
            <a:r>
              <a:rPr lang="zh-CN" altLang="en-US" dirty="0"/>
              <a:t>是正确的。</a:t>
            </a:r>
            <a:endParaRPr lang="zh-CN" altLang="en-US" dirty="0"/>
          </a:p>
        </p:txBody>
      </p:sp>
      <p:sp>
        <p:nvSpPr>
          <p:cNvPr id="4" name="页脚占位符 3"/>
          <p:cNvSpPr>
            <a:spLocks noGrp="1"/>
          </p:cNvSpPr>
          <p:nvPr>
            <p:ph type="ftr" sz="quarter" idx="10"/>
          </p:nvPr>
        </p:nvSpPr>
        <p:spPr/>
        <p:txBody>
          <a:bodyPr/>
          <a:lstStyle/>
          <a:p>
            <a:pPr>
              <a:defRPr/>
            </a:pPr>
            <a:r>
              <a:rPr lang="en-US" altLang="zh-CN" smtClean="0"/>
              <a:t>Algorithms Design Techniques and Analysis</a:t>
            </a:r>
            <a:endParaRPr lang="en-US" altLang="zh-CN"/>
          </a:p>
        </p:txBody>
      </p:sp>
    </p:spTree>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latin typeface="+mn-ea"/>
              </a:rPr>
              <a:t>1.2.6 </a:t>
            </a:r>
            <a:r>
              <a:rPr lang="zh-CN" altLang="en-US" dirty="0">
                <a:latin typeface="+mn-ea"/>
              </a:rPr>
              <a:t>算法正确性证明</a:t>
            </a:r>
            <a:r>
              <a:rPr lang="en-US" altLang="zh-CN" dirty="0">
                <a:latin typeface="+mn-ea"/>
              </a:rPr>
              <a:t>——</a:t>
            </a:r>
            <a:r>
              <a:rPr lang="zh-CN" altLang="en-US" dirty="0">
                <a:latin typeface="+mn-ea"/>
              </a:rPr>
              <a:t>反证法</a:t>
            </a:r>
            <a:endParaRPr lang="zh-CN" altLang="en-US" dirty="0"/>
          </a:p>
        </p:txBody>
      </p:sp>
      <p:sp>
        <p:nvSpPr>
          <p:cNvPr id="3" name="内容占位符 2"/>
          <p:cNvSpPr>
            <a:spLocks noGrp="1"/>
          </p:cNvSpPr>
          <p:nvPr>
            <p:ph idx="1"/>
          </p:nvPr>
        </p:nvSpPr>
        <p:spPr>
          <a:xfrm>
            <a:off x="900113" y="1268413"/>
            <a:ext cx="7755514" cy="4525962"/>
          </a:xfrm>
        </p:spPr>
        <p:txBody>
          <a:bodyPr/>
          <a:lstStyle/>
          <a:p>
            <a:pPr marL="0" indent="0">
              <a:buNone/>
            </a:pPr>
            <a:r>
              <a:rPr lang="zh-CN" altLang="en-US" b="1" dirty="0" smtClean="0"/>
              <a:t>例子：证明</a:t>
            </a:r>
            <a:r>
              <a:rPr lang="zh-CN" altLang="en-US" b="1" dirty="0"/>
              <a:t>没有最大的</a:t>
            </a:r>
            <a:r>
              <a:rPr lang="zh-CN" altLang="en-US" b="1" dirty="0" smtClean="0"/>
              <a:t>整数。</a:t>
            </a:r>
            <a:endParaRPr lang="en-US" altLang="zh-CN" b="1" dirty="0"/>
          </a:p>
          <a:p>
            <a:pPr marL="0" indent="0">
              <a:buNone/>
            </a:pPr>
            <a:r>
              <a:rPr lang="zh-CN" altLang="en-US" b="1" dirty="0"/>
              <a:t>证明</a:t>
            </a:r>
            <a:r>
              <a:rPr lang="en-US" altLang="zh-CN" b="1" dirty="0"/>
              <a:t>:</a:t>
            </a:r>
            <a:r>
              <a:rPr lang="zh-CN" altLang="en-US" b="1" dirty="0"/>
              <a:t>用反证法。</a:t>
            </a:r>
            <a:endParaRPr lang="zh-CN" altLang="en-US" b="1" dirty="0"/>
          </a:p>
          <a:p>
            <a:pPr marL="0" indent="0">
              <a:buNone/>
            </a:pPr>
            <a:r>
              <a:rPr lang="zh-CN" altLang="en-US" dirty="0"/>
              <a:t>①反面假设</a:t>
            </a:r>
            <a:r>
              <a:rPr lang="en-US" altLang="zh-CN" dirty="0"/>
              <a:t>:</a:t>
            </a:r>
            <a:endParaRPr lang="en-US" altLang="zh-CN" dirty="0"/>
          </a:p>
          <a:p>
            <a:pPr marL="0" indent="0">
              <a:buNone/>
            </a:pPr>
            <a:r>
              <a:rPr lang="zh-CN" altLang="en-US" dirty="0" smtClean="0"/>
              <a:t>     假设存在一</a:t>
            </a:r>
            <a:r>
              <a:rPr lang="zh-CN" altLang="en-US" dirty="0"/>
              <a:t>个最大整数，记为</a:t>
            </a:r>
            <a:r>
              <a:rPr lang="en-US" altLang="zh-CN" dirty="0" smtClean="0"/>
              <a:t>N</a:t>
            </a:r>
            <a:r>
              <a:rPr lang="zh-CN" altLang="en-US" dirty="0" smtClean="0"/>
              <a:t>。</a:t>
            </a:r>
            <a:endParaRPr lang="en-US" altLang="zh-CN" dirty="0"/>
          </a:p>
          <a:p>
            <a:pPr marL="0" indent="0">
              <a:buNone/>
            </a:pPr>
            <a:r>
              <a:rPr lang="en-US" altLang="zh-CN" dirty="0"/>
              <a:t>②</a:t>
            </a:r>
            <a:r>
              <a:rPr lang="zh-CN" altLang="en-US" dirty="0"/>
              <a:t>由假设推出矛盾</a:t>
            </a:r>
            <a:r>
              <a:rPr lang="en-US" altLang="zh-CN" dirty="0"/>
              <a:t>:</a:t>
            </a:r>
            <a:endParaRPr lang="en-US" altLang="zh-CN" dirty="0"/>
          </a:p>
          <a:p>
            <a:pPr marL="0" indent="0">
              <a:buNone/>
            </a:pPr>
            <a:r>
              <a:rPr lang="zh-CN" altLang="en-US" dirty="0" smtClean="0"/>
              <a:t>     设</a:t>
            </a:r>
            <a:r>
              <a:rPr lang="en-US" altLang="zh-CN" dirty="0"/>
              <a:t>P=</a:t>
            </a:r>
            <a:r>
              <a:rPr lang="en-US" altLang="zh-CN" dirty="0" err="1"/>
              <a:t>N+1</a:t>
            </a:r>
            <a:r>
              <a:rPr lang="en-US" altLang="zh-CN" dirty="0"/>
              <a:t>,</a:t>
            </a:r>
            <a:r>
              <a:rPr lang="zh-CN" altLang="en-US" dirty="0"/>
              <a:t>因为</a:t>
            </a:r>
            <a:r>
              <a:rPr lang="en-US" altLang="zh-CN" dirty="0"/>
              <a:t>P</a:t>
            </a:r>
            <a:r>
              <a:rPr lang="zh-CN" altLang="en-US" dirty="0"/>
              <a:t>是两个整数的和，</a:t>
            </a:r>
            <a:r>
              <a:rPr lang="zh-CN" altLang="en-US" dirty="0" smtClean="0"/>
              <a:t>所以</a:t>
            </a:r>
            <a:r>
              <a:rPr lang="en-US" altLang="zh-CN" dirty="0" smtClean="0"/>
              <a:t>P</a:t>
            </a:r>
            <a:r>
              <a:rPr lang="zh-CN" altLang="en-US" dirty="0"/>
              <a:t>也是</a:t>
            </a:r>
            <a:r>
              <a:rPr lang="zh-CN" altLang="en-US" dirty="0" smtClean="0"/>
              <a:t>整数，</a:t>
            </a:r>
            <a:endParaRPr lang="en-US" altLang="zh-CN" dirty="0" smtClean="0"/>
          </a:p>
          <a:p>
            <a:pPr marL="0" indent="0">
              <a:buNone/>
            </a:pPr>
            <a:r>
              <a:rPr lang="zh-CN" altLang="en-US" dirty="0" smtClean="0"/>
              <a:t>     且</a:t>
            </a:r>
            <a:r>
              <a:rPr lang="en-US" altLang="zh-CN" dirty="0" smtClean="0"/>
              <a:t>P&gt;N</a:t>
            </a:r>
            <a:r>
              <a:rPr lang="zh-CN" altLang="en-US" dirty="0"/>
              <a:t>，</a:t>
            </a:r>
            <a:r>
              <a:rPr lang="zh-CN" altLang="en-US" dirty="0" smtClean="0"/>
              <a:t>与</a:t>
            </a:r>
            <a:r>
              <a:rPr lang="en-US" altLang="zh-CN" dirty="0"/>
              <a:t>N</a:t>
            </a:r>
            <a:r>
              <a:rPr lang="zh-CN" altLang="en-US" dirty="0"/>
              <a:t>是最大整数</a:t>
            </a:r>
            <a:r>
              <a:rPr lang="zh-CN" altLang="en-US" dirty="0" smtClean="0"/>
              <a:t>矛盾。</a:t>
            </a:r>
            <a:endParaRPr lang="en-US" altLang="zh-CN" dirty="0"/>
          </a:p>
          <a:p>
            <a:pPr marL="0" indent="0">
              <a:buNone/>
            </a:pPr>
            <a:r>
              <a:rPr lang="en-US" altLang="zh-CN" dirty="0"/>
              <a:t>③</a:t>
            </a:r>
            <a:r>
              <a:rPr lang="zh-CN" altLang="en-US" dirty="0"/>
              <a:t>肯定原来的结论</a:t>
            </a:r>
            <a:r>
              <a:rPr lang="en-US" altLang="zh-CN" dirty="0"/>
              <a:t>:</a:t>
            </a:r>
            <a:endParaRPr lang="en-US" altLang="zh-CN" dirty="0"/>
          </a:p>
          <a:p>
            <a:pPr marL="0" indent="0">
              <a:buNone/>
            </a:pPr>
            <a:r>
              <a:rPr lang="zh-CN" altLang="en-US" dirty="0" smtClean="0"/>
              <a:t>    故</a:t>
            </a:r>
            <a:r>
              <a:rPr lang="zh-CN" altLang="en-US" dirty="0"/>
              <a:t>没有最大的</a:t>
            </a:r>
            <a:r>
              <a:rPr lang="zh-CN" altLang="en-US" dirty="0" smtClean="0"/>
              <a:t>整数。证</a:t>
            </a:r>
            <a:r>
              <a:rPr lang="zh-CN" altLang="en-US" dirty="0"/>
              <a:t>毕</a:t>
            </a:r>
            <a:endParaRPr lang="zh-CN" altLang="en-US" dirty="0"/>
          </a:p>
        </p:txBody>
      </p:sp>
      <p:sp>
        <p:nvSpPr>
          <p:cNvPr id="4" name="页脚占位符 3"/>
          <p:cNvSpPr>
            <a:spLocks noGrp="1"/>
          </p:cNvSpPr>
          <p:nvPr>
            <p:ph type="ftr" sz="quarter" idx="10"/>
          </p:nvPr>
        </p:nvSpPr>
        <p:spPr/>
        <p:txBody>
          <a:bodyPr/>
          <a:lstStyle/>
          <a:p>
            <a:pPr>
              <a:defRPr/>
            </a:pPr>
            <a:r>
              <a:rPr lang="en-US" altLang="zh-CN" smtClean="0"/>
              <a:t>Algorithms Design Techniques and Analysis</a:t>
            </a:r>
            <a:endParaRPr lang="en-US" altLang="zh-CN"/>
          </a:p>
        </p:txBody>
      </p:sp>
    </p:spTree>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pPr>
              <a:lnSpc>
                <a:spcPct val="150000"/>
              </a:lnSpc>
            </a:pPr>
            <a:r>
              <a:rPr lang="zh-CN" altLang="en-US" dirty="0"/>
              <a:t>数学归纳法，通常被用于证明某个</a:t>
            </a:r>
            <a:r>
              <a:rPr lang="zh-CN" altLang="en-US" dirty="0" smtClean="0"/>
              <a:t>给定</a:t>
            </a:r>
            <a:r>
              <a:rPr lang="zh-CN" altLang="en-US" dirty="0"/>
              <a:t>命题</a:t>
            </a:r>
            <a:r>
              <a:rPr lang="en-US" altLang="zh-CN" dirty="0"/>
              <a:t>(</a:t>
            </a:r>
            <a:r>
              <a:rPr lang="zh-CN" altLang="en-US" dirty="0"/>
              <a:t>定理</a:t>
            </a:r>
            <a:r>
              <a:rPr lang="en-US" altLang="zh-CN" dirty="0"/>
              <a:t>)</a:t>
            </a:r>
            <a:r>
              <a:rPr lang="zh-CN" altLang="en-US" dirty="0"/>
              <a:t>在整个</a:t>
            </a:r>
            <a:r>
              <a:rPr lang="en-US" altLang="zh-CN" dirty="0"/>
              <a:t>(</a:t>
            </a:r>
            <a:r>
              <a:rPr lang="zh-CN" altLang="en-US" dirty="0"/>
              <a:t>或者局部</a:t>
            </a:r>
            <a:r>
              <a:rPr lang="en-US" altLang="zh-CN" dirty="0" smtClean="0"/>
              <a:t>)</a:t>
            </a:r>
            <a:r>
              <a:rPr lang="zh-CN" altLang="en-US" dirty="0" smtClean="0"/>
              <a:t>且</a:t>
            </a:r>
            <a:r>
              <a:rPr lang="zh-CN" altLang="en-US" dirty="0"/>
              <a:t>然数范围内成立</a:t>
            </a:r>
            <a:r>
              <a:rPr lang="zh-CN" altLang="en-US" dirty="0" smtClean="0"/>
              <a:t>。</a:t>
            </a:r>
            <a:endParaRPr lang="en-US" altLang="zh-CN" dirty="0" smtClean="0"/>
          </a:p>
          <a:p>
            <a:pPr>
              <a:lnSpc>
                <a:spcPct val="150000"/>
              </a:lnSpc>
            </a:pPr>
            <a:r>
              <a:rPr lang="zh-CN" altLang="en-US" dirty="0" smtClean="0"/>
              <a:t>数学归纳法</a:t>
            </a:r>
            <a:r>
              <a:rPr lang="zh-CN" altLang="en-US" dirty="0"/>
              <a:t>依靠假设的事实来证明</a:t>
            </a:r>
            <a:r>
              <a:rPr lang="zh-CN" altLang="en-US" dirty="0" smtClean="0"/>
              <a:t>定理</a:t>
            </a:r>
            <a:r>
              <a:rPr lang="zh-CN" altLang="en-US" dirty="0"/>
              <a:t>，是</a:t>
            </a:r>
            <a:r>
              <a:rPr lang="zh-CN" altLang="en-US" dirty="0" smtClean="0"/>
              <a:t>用“有限”</a:t>
            </a:r>
            <a:r>
              <a:rPr lang="zh-CN" altLang="en-US" dirty="0"/>
              <a:t>步骤解决</a:t>
            </a:r>
            <a:r>
              <a:rPr lang="zh-CN" altLang="en-US" dirty="0" smtClean="0"/>
              <a:t>“无限”步骤</a:t>
            </a:r>
            <a:r>
              <a:rPr lang="zh-CN" altLang="en-US" dirty="0"/>
              <a:t>问题的一种严格证明方法。</a:t>
            </a:r>
            <a:endParaRPr lang="zh-CN" altLang="en-US" dirty="0"/>
          </a:p>
        </p:txBody>
      </p:sp>
      <p:sp>
        <p:nvSpPr>
          <p:cNvPr id="4" name="页脚占位符 3"/>
          <p:cNvSpPr>
            <a:spLocks noGrp="1"/>
          </p:cNvSpPr>
          <p:nvPr>
            <p:ph type="ftr" sz="quarter" idx="10"/>
          </p:nvPr>
        </p:nvSpPr>
        <p:spPr/>
        <p:txBody>
          <a:bodyPr/>
          <a:lstStyle/>
          <a:p>
            <a:pPr>
              <a:defRPr/>
            </a:pPr>
            <a:r>
              <a:rPr lang="en-US" altLang="zh-CN" smtClean="0"/>
              <a:t>Algorithms Design Techniques and Analysis</a:t>
            </a:r>
            <a:endParaRPr lang="en-US" altLang="zh-CN"/>
          </a:p>
        </p:txBody>
      </p:sp>
      <p:sp>
        <p:nvSpPr>
          <p:cNvPr id="5" name="标题 1"/>
          <p:cNvSpPr>
            <a:spLocks noGrp="1"/>
          </p:cNvSpPr>
          <p:nvPr>
            <p:ph type="title"/>
          </p:nvPr>
        </p:nvSpPr>
        <p:spPr/>
        <p:txBody>
          <a:bodyPr/>
          <a:lstStyle/>
          <a:p>
            <a:r>
              <a:rPr lang="en-US" altLang="zh-CN" dirty="0">
                <a:latin typeface="+mn-ea"/>
              </a:rPr>
              <a:t>1.2.6 </a:t>
            </a:r>
            <a:r>
              <a:rPr lang="zh-CN" altLang="en-US" dirty="0">
                <a:latin typeface="+mn-ea"/>
              </a:rPr>
              <a:t>算法正确性证明</a:t>
            </a:r>
            <a:r>
              <a:rPr lang="en-US" altLang="zh-CN" dirty="0" smtClean="0">
                <a:latin typeface="+mn-ea"/>
              </a:rPr>
              <a:t>——</a:t>
            </a:r>
            <a:r>
              <a:rPr lang="zh-CN" altLang="en-US" dirty="0" smtClean="0">
                <a:latin typeface="+mn-ea"/>
              </a:rPr>
              <a:t>数学归纳法</a:t>
            </a:r>
            <a:endParaRPr lang="zh-CN" altLang="en-US" dirty="0"/>
          </a:p>
        </p:txBody>
      </p:sp>
    </p:spTree>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latin typeface="+mn-ea"/>
              </a:rPr>
              <a:t>1.2.6 </a:t>
            </a:r>
            <a:r>
              <a:rPr lang="zh-CN" altLang="en-US" dirty="0">
                <a:latin typeface="+mn-ea"/>
              </a:rPr>
              <a:t>算法正确性证明</a:t>
            </a:r>
            <a:r>
              <a:rPr lang="en-US" altLang="zh-CN" dirty="0">
                <a:latin typeface="+mn-ea"/>
              </a:rPr>
              <a:t>——</a:t>
            </a:r>
            <a:r>
              <a:rPr lang="zh-CN" altLang="en-US" dirty="0">
                <a:latin typeface="+mn-ea"/>
              </a:rPr>
              <a:t>数学归纳法</a:t>
            </a:r>
            <a:endParaRPr lang="zh-CN" altLang="en-US" dirty="0"/>
          </a:p>
        </p:txBody>
      </p:sp>
      <p:sp>
        <p:nvSpPr>
          <p:cNvPr id="4" name="页脚占位符 3"/>
          <p:cNvSpPr>
            <a:spLocks noGrp="1"/>
          </p:cNvSpPr>
          <p:nvPr>
            <p:ph type="ftr" sz="quarter" idx="10"/>
          </p:nvPr>
        </p:nvSpPr>
        <p:spPr/>
        <p:txBody>
          <a:bodyPr/>
          <a:lstStyle/>
          <a:p>
            <a:pPr>
              <a:defRPr/>
            </a:pPr>
            <a:r>
              <a:rPr lang="en-US" altLang="zh-CN" smtClean="0"/>
              <a:t>Algorithms Design Techniques and Analysis</a:t>
            </a:r>
            <a:endParaRPr lang="en-US" altLang="zh-CN"/>
          </a:p>
        </p:txBody>
      </p:sp>
      <p:sp>
        <p:nvSpPr>
          <p:cNvPr id="5" name="内容占位符 2"/>
          <p:cNvSpPr>
            <a:spLocks noGrp="1"/>
          </p:cNvSpPr>
          <p:nvPr>
            <p:ph idx="1"/>
          </p:nvPr>
        </p:nvSpPr>
        <p:spPr>
          <a:xfrm>
            <a:off x="900113" y="1268413"/>
            <a:ext cx="7786687" cy="968760"/>
          </a:xfrm>
        </p:spPr>
        <p:txBody>
          <a:bodyPr/>
          <a:lstStyle/>
          <a:p>
            <a:pPr marL="0" indent="0">
              <a:buNone/>
            </a:pPr>
            <a:r>
              <a:rPr lang="zh-CN" altLang="en-US" b="1" dirty="0" smtClean="0"/>
              <a:t>例子：</a:t>
            </a:r>
            <a:r>
              <a:rPr lang="zh-CN" altLang="en-US" b="1" dirty="0"/>
              <a:t> 金字塔</a:t>
            </a:r>
            <a:r>
              <a:rPr lang="zh-CN" altLang="en-US" b="1" dirty="0" smtClean="0"/>
              <a:t>求和。</a:t>
            </a:r>
            <a:endParaRPr lang="en-US" altLang="zh-CN" b="1" dirty="0"/>
          </a:p>
          <a:p>
            <a:pPr marL="0" indent="0">
              <a:buNone/>
            </a:pPr>
            <a:r>
              <a:rPr lang="zh-CN" altLang="en-US" b="1" dirty="0"/>
              <a:t>证明</a:t>
            </a:r>
            <a:r>
              <a:rPr lang="en-US" altLang="zh-CN" b="1" dirty="0"/>
              <a:t>:</a:t>
            </a:r>
            <a:r>
              <a:rPr lang="zh-CN" altLang="en-US" b="1" dirty="0" smtClean="0"/>
              <a:t>用数学归纳法。</a:t>
            </a:r>
            <a:endParaRPr lang="en-US" altLang="zh-CN" b="1" dirty="0" smtClean="0"/>
          </a:p>
        </p:txBody>
      </p:sp>
      <p:pic>
        <p:nvPicPr>
          <p:cNvPr id="6" name="图片 5"/>
          <p:cNvPicPr>
            <a:picLocks noChangeAspect="1"/>
          </p:cNvPicPr>
          <p:nvPr/>
        </p:nvPicPr>
        <p:blipFill>
          <a:blip r:embed="rId1"/>
          <a:stretch>
            <a:fillRect/>
          </a:stretch>
        </p:blipFill>
        <p:spPr>
          <a:xfrm>
            <a:off x="4595875" y="1196975"/>
            <a:ext cx="4012064" cy="1266561"/>
          </a:xfrm>
          <a:prstGeom prst="rect">
            <a:avLst/>
          </a:prstGeom>
        </p:spPr>
      </p:pic>
      <p:pic>
        <p:nvPicPr>
          <p:cNvPr id="10" name="图片 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15522" y="2530934"/>
            <a:ext cx="6451547" cy="3431237"/>
          </a:xfrm>
          <a:prstGeom prst="rect">
            <a:avLst/>
          </a:prstGeom>
        </p:spPr>
      </p:pic>
    </p:spTree>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11267" name="Rectangle 2"/>
          <p:cNvSpPr>
            <a:spLocks noGrp="1" noChangeArrowheads="1"/>
          </p:cNvSpPr>
          <p:nvPr>
            <p:ph type="title"/>
          </p:nvPr>
        </p:nvSpPr>
        <p:spPr/>
        <p:txBody>
          <a:bodyPr/>
          <a:lstStyle/>
          <a:p>
            <a:pPr eaLnBrk="1" hangingPunct="1"/>
            <a:r>
              <a:rPr lang="zh-CN" altLang="en-US" b="0" smtClean="0"/>
              <a:t>主要内容</a:t>
            </a:r>
            <a:endParaRPr lang="en-US" altLang="zh-CN" b="0" smtClean="0"/>
          </a:p>
        </p:txBody>
      </p:sp>
      <p:sp>
        <p:nvSpPr>
          <p:cNvPr id="8196" name="Rectangle 3"/>
          <p:cNvSpPr>
            <a:spLocks noGrp="1" noChangeArrowheads="1"/>
          </p:cNvSpPr>
          <p:nvPr>
            <p:ph type="body" idx="1"/>
          </p:nvPr>
        </p:nvSpPr>
        <p:spPr>
          <a:xfrm>
            <a:off x="962026" y="1883206"/>
            <a:ext cx="6210299" cy="2520117"/>
          </a:xfrm>
        </p:spPr>
        <p:txBody>
          <a:bodyPr/>
          <a:lstStyle/>
          <a:p>
            <a:pPr marL="0" lvl="1" indent="-419100" eaLnBrk="1" hangingPunct="1">
              <a:buFontTx/>
              <a:buNone/>
              <a:defRPr/>
            </a:pPr>
            <a:r>
              <a:rPr lang="en-US" altLang="zh-CN" sz="2400" dirty="0" smtClean="0">
                <a:latin typeface="+mn-ea"/>
                <a:ea typeface="+mn-ea"/>
              </a:rPr>
              <a:t>1.1</a:t>
            </a:r>
            <a:r>
              <a:rPr lang="zh-CN" altLang="en-US" sz="2400" dirty="0" smtClean="0">
                <a:latin typeface="+mn-ea"/>
                <a:ea typeface="+mn-ea"/>
              </a:rPr>
              <a:t>算法的基本概念</a:t>
            </a:r>
            <a:endParaRPr lang="en-US" altLang="zh-CN" sz="2400" dirty="0" smtClean="0">
              <a:latin typeface="+mn-ea"/>
              <a:ea typeface="+mn-ea"/>
            </a:endParaRPr>
          </a:p>
          <a:p>
            <a:pPr marL="0" lvl="1" indent="-419100" eaLnBrk="1" hangingPunct="1">
              <a:buNone/>
              <a:defRPr/>
            </a:pPr>
            <a:r>
              <a:rPr lang="en-US" altLang="zh-CN" sz="2400" dirty="0">
                <a:latin typeface="+mn-ea"/>
                <a:ea typeface="+mn-ea"/>
              </a:rPr>
              <a:t>1.2</a:t>
            </a:r>
            <a:r>
              <a:rPr lang="zh-CN" altLang="en-US" sz="2400" dirty="0">
                <a:latin typeface="+mn-ea"/>
                <a:ea typeface="+mn-ea"/>
              </a:rPr>
              <a:t>算法分析基础</a:t>
            </a:r>
            <a:endParaRPr lang="en-US" altLang="zh-CN" sz="2400" dirty="0">
              <a:latin typeface="+mn-ea"/>
              <a:ea typeface="+mn-ea"/>
            </a:endParaRPr>
          </a:p>
          <a:p>
            <a:pPr marL="0" lvl="1" indent="-419100" eaLnBrk="1" hangingPunct="1">
              <a:buNone/>
              <a:defRPr/>
            </a:pPr>
            <a:r>
              <a:rPr lang="en-US" altLang="zh-CN" sz="2800" b="1" u="sng" dirty="0">
                <a:latin typeface="+mn-ea"/>
                <a:ea typeface="+mn-ea"/>
              </a:rPr>
              <a:t>1.3</a:t>
            </a:r>
            <a:r>
              <a:rPr lang="zh-CN" altLang="en-US" sz="2800" b="1" u="sng" dirty="0">
                <a:latin typeface="+mn-ea"/>
                <a:ea typeface="+mn-ea"/>
              </a:rPr>
              <a:t>算法分析常用的数学</a:t>
            </a:r>
            <a:r>
              <a:rPr lang="zh-CN" altLang="en-US" sz="2800" b="1" u="sng" dirty="0">
                <a:latin typeface="+mn-ea"/>
                <a:ea typeface="+mn-ea"/>
              </a:rPr>
              <a:t>知识</a:t>
            </a:r>
            <a:endParaRPr lang="en-US" altLang="zh-CN" sz="2800" b="1" u="sng" dirty="0">
              <a:latin typeface="+mn-ea"/>
              <a:ea typeface="+mn-ea"/>
            </a:endParaRPr>
          </a:p>
          <a:p>
            <a:pPr marL="0" lvl="1" indent="-419100" eaLnBrk="1" hangingPunct="1">
              <a:buFontTx/>
              <a:buNone/>
              <a:defRPr/>
            </a:pPr>
            <a:r>
              <a:rPr lang="en-US" altLang="zh-CN" sz="2400" dirty="0">
                <a:latin typeface="+mn-ea"/>
                <a:ea typeface="+mn-ea"/>
              </a:rPr>
              <a:t>1.4</a:t>
            </a:r>
            <a:r>
              <a:rPr lang="zh-CN" altLang="en-US" sz="2400" dirty="0">
                <a:latin typeface="+mn-ea"/>
                <a:ea typeface="+mn-ea"/>
              </a:rPr>
              <a:t>数据结构的表示、操作算法及分析</a:t>
            </a:r>
            <a:endParaRPr lang="zh-CN" altLang="en-US" sz="2400" dirty="0" smtClean="0">
              <a:latin typeface="+mn-ea"/>
              <a:ea typeface="+mn-ea"/>
            </a:endParaRPr>
          </a:p>
        </p:txBody>
      </p:sp>
      <p:pic>
        <p:nvPicPr>
          <p:cNvPr id="11269" name="Picture 4" descr="j0195384"/>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5940425" y="260350"/>
            <a:ext cx="1231900" cy="1257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11267" name="Rectangle 2"/>
          <p:cNvSpPr>
            <a:spLocks noGrp="1" noChangeArrowheads="1"/>
          </p:cNvSpPr>
          <p:nvPr>
            <p:ph type="title"/>
          </p:nvPr>
        </p:nvSpPr>
        <p:spPr/>
        <p:txBody>
          <a:bodyPr/>
          <a:lstStyle/>
          <a:p>
            <a:pPr eaLnBrk="1" hangingPunct="1"/>
            <a:r>
              <a:rPr lang="zh-CN" altLang="en-US" b="0" dirty="0" smtClean="0"/>
              <a:t>主要内容</a:t>
            </a:r>
            <a:endParaRPr lang="en-US" altLang="zh-CN" b="0" dirty="0" smtClean="0"/>
          </a:p>
        </p:txBody>
      </p:sp>
      <p:sp>
        <p:nvSpPr>
          <p:cNvPr id="8196" name="Rectangle 3"/>
          <p:cNvSpPr>
            <a:spLocks noGrp="1" noChangeArrowheads="1"/>
          </p:cNvSpPr>
          <p:nvPr>
            <p:ph type="body" idx="1"/>
          </p:nvPr>
        </p:nvSpPr>
        <p:spPr>
          <a:xfrm>
            <a:off x="900113" y="1279525"/>
            <a:ext cx="7786687" cy="4525963"/>
          </a:xfrm>
        </p:spPr>
        <p:txBody>
          <a:bodyPr/>
          <a:lstStyle/>
          <a:p>
            <a:pPr marL="0" lvl="1" indent="-419100" eaLnBrk="1" hangingPunct="1">
              <a:buFontTx/>
              <a:buNone/>
              <a:defRPr/>
            </a:pPr>
            <a:r>
              <a:rPr lang="en-US" altLang="zh-CN" sz="2400" dirty="0" smtClean="0">
                <a:latin typeface="+mn-ea"/>
                <a:ea typeface="+mn-ea"/>
              </a:rPr>
              <a:t>1.3</a:t>
            </a:r>
            <a:r>
              <a:rPr lang="zh-CN" altLang="en-US" sz="2400" dirty="0">
                <a:latin typeface="+mn-ea"/>
                <a:ea typeface="+mn-ea"/>
              </a:rPr>
              <a:t>算法分析常用的数学</a:t>
            </a:r>
            <a:r>
              <a:rPr lang="zh-CN" altLang="en-US" sz="2400" dirty="0" smtClean="0">
                <a:latin typeface="+mn-ea"/>
                <a:ea typeface="+mn-ea"/>
              </a:rPr>
              <a:t>知识</a:t>
            </a:r>
            <a:endParaRPr lang="en-US" altLang="zh-CN" sz="2400" dirty="0" smtClean="0">
              <a:latin typeface="+mn-ea"/>
              <a:ea typeface="+mn-ea"/>
            </a:endParaRPr>
          </a:p>
          <a:p>
            <a:pPr marL="360045" lvl="1" indent="-419100" eaLnBrk="1" hangingPunct="1">
              <a:buFontTx/>
              <a:buNone/>
              <a:defRPr/>
            </a:pPr>
            <a:r>
              <a:rPr lang="en-US" altLang="zh-CN" sz="2400" dirty="0" smtClean="0">
                <a:latin typeface="+mn-ea"/>
                <a:ea typeface="+mn-ea"/>
              </a:rPr>
              <a:t>	1.3.1 </a:t>
            </a:r>
            <a:r>
              <a:rPr lang="zh-CN" altLang="en-US" sz="2400" dirty="0">
                <a:latin typeface="+mn-ea"/>
                <a:ea typeface="+mn-ea"/>
              </a:rPr>
              <a:t>集合、关系、函数</a:t>
            </a:r>
            <a:endParaRPr lang="zh-CN" altLang="en-US" sz="2400" dirty="0">
              <a:latin typeface="+mn-ea"/>
              <a:ea typeface="+mn-ea"/>
            </a:endParaRPr>
          </a:p>
          <a:p>
            <a:pPr marL="360045" lvl="1" indent="-419100" eaLnBrk="1" hangingPunct="1">
              <a:buFontTx/>
              <a:buNone/>
              <a:defRPr/>
            </a:pPr>
            <a:r>
              <a:rPr lang="en-US" altLang="zh-CN" sz="2400" dirty="0" smtClean="0">
                <a:latin typeface="+mn-ea"/>
                <a:ea typeface="+mn-ea"/>
              </a:rPr>
              <a:t>	1.3.2 </a:t>
            </a:r>
            <a:r>
              <a:rPr lang="zh-CN" altLang="en-US" sz="2400" dirty="0">
                <a:latin typeface="+mn-ea"/>
                <a:ea typeface="+mn-ea"/>
              </a:rPr>
              <a:t>证明方法</a:t>
            </a:r>
            <a:endParaRPr lang="zh-CN" altLang="en-US" sz="2400" dirty="0">
              <a:latin typeface="+mn-ea"/>
              <a:ea typeface="+mn-ea"/>
            </a:endParaRPr>
          </a:p>
          <a:p>
            <a:pPr marL="360045" lvl="1" indent="-419100" eaLnBrk="1" hangingPunct="1">
              <a:buFontTx/>
              <a:buNone/>
              <a:defRPr/>
            </a:pPr>
            <a:r>
              <a:rPr lang="en-US" altLang="zh-CN" sz="2400" dirty="0" smtClean="0">
                <a:latin typeface="+mn-ea"/>
                <a:ea typeface="+mn-ea"/>
              </a:rPr>
              <a:t>	1.3.3 </a:t>
            </a:r>
            <a:r>
              <a:rPr lang="zh-CN" altLang="en-US" sz="2400" dirty="0">
                <a:latin typeface="+mn-ea"/>
                <a:ea typeface="+mn-ea"/>
              </a:rPr>
              <a:t>对数</a:t>
            </a:r>
            <a:endParaRPr lang="zh-CN" altLang="en-US" sz="2400" dirty="0">
              <a:latin typeface="+mn-ea"/>
              <a:ea typeface="+mn-ea"/>
            </a:endParaRPr>
          </a:p>
          <a:p>
            <a:pPr marL="360045" lvl="1" indent="-419100" eaLnBrk="1" hangingPunct="1">
              <a:buFontTx/>
              <a:buNone/>
              <a:defRPr/>
            </a:pPr>
            <a:r>
              <a:rPr lang="en-US" altLang="zh-CN" sz="2400" dirty="0" smtClean="0">
                <a:latin typeface="+mn-ea"/>
                <a:ea typeface="+mn-ea"/>
              </a:rPr>
              <a:t>	1.3.4 </a:t>
            </a:r>
            <a:r>
              <a:rPr lang="zh-CN" altLang="en-US" sz="2400" dirty="0">
                <a:latin typeface="+mn-ea"/>
                <a:ea typeface="+mn-ea"/>
              </a:rPr>
              <a:t>底函数、顶函数</a:t>
            </a:r>
            <a:endParaRPr lang="zh-CN" altLang="en-US" sz="2400" dirty="0">
              <a:latin typeface="+mn-ea"/>
              <a:ea typeface="+mn-ea"/>
            </a:endParaRPr>
          </a:p>
          <a:p>
            <a:pPr marL="360045" lvl="1" indent="-419100" eaLnBrk="1" hangingPunct="1">
              <a:buFontTx/>
              <a:buNone/>
              <a:defRPr/>
            </a:pPr>
            <a:r>
              <a:rPr lang="en-US" altLang="zh-CN" sz="2400" dirty="0" smtClean="0">
                <a:latin typeface="+mn-ea"/>
                <a:ea typeface="+mn-ea"/>
              </a:rPr>
              <a:t>	1.3.5 </a:t>
            </a:r>
            <a:r>
              <a:rPr lang="zh-CN" altLang="en-US" sz="2400" dirty="0">
                <a:latin typeface="+mn-ea"/>
                <a:ea typeface="+mn-ea"/>
              </a:rPr>
              <a:t>阶乘和二项式系数</a:t>
            </a:r>
            <a:endParaRPr lang="zh-CN" altLang="en-US" sz="2400" dirty="0">
              <a:latin typeface="+mn-ea"/>
              <a:ea typeface="+mn-ea"/>
            </a:endParaRPr>
          </a:p>
          <a:p>
            <a:pPr marL="360045" lvl="1" indent="-419100" eaLnBrk="1" hangingPunct="1">
              <a:buFontTx/>
              <a:buNone/>
              <a:defRPr/>
            </a:pPr>
            <a:r>
              <a:rPr lang="en-US" altLang="zh-CN" sz="2400" dirty="0" smtClean="0">
                <a:latin typeface="+mn-ea"/>
                <a:ea typeface="+mn-ea"/>
              </a:rPr>
              <a:t>	1.3.6 </a:t>
            </a:r>
            <a:r>
              <a:rPr lang="zh-CN" altLang="en-US" sz="2400" dirty="0">
                <a:latin typeface="+mn-ea"/>
                <a:ea typeface="+mn-ea"/>
              </a:rPr>
              <a:t>鸽巢原理</a:t>
            </a:r>
            <a:endParaRPr lang="zh-CN" altLang="en-US" sz="2400" dirty="0">
              <a:latin typeface="+mn-ea"/>
              <a:ea typeface="+mn-ea"/>
            </a:endParaRPr>
          </a:p>
          <a:p>
            <a:pPr marL="360045" lvl="1" indent="-419100" eaLnBrk="1" hangingPunct="1">
              <a:buFontTx/>
              <a:buNone/>
              <a:defRPr/>
            </a:pPr>
            <a:r>
              <a:rPr lang="en-US" altLang="zh-CN" sz="2400" dirty="0" smtClean="0">
                <a:latin typeface="+mn-ea"/>
                <a:ea typeface="+mn-ea"/>
              </a:rPr>
              <a:t>	1.3.7 </a:t>
            </a:r>
            <a:r>
              <a:rPr lang="zh-CN" altLang="en-US" sz="2400" dirty="0">
                <a:latin typeface="+mn-ea"/>
                <a:ea typeface="+mn-ea"/>
              </a:rPr>
              <a:t>和式</a:t>
            </a:r>
            <a:endParaRPr lang="zh-CN" altLang="en-US" sz="2400" dirty="0">
              <a:latin typeface="+mn-ea"/>
              <a:ea typeface="+mn-ea"/>
            </a:endParaRPr>
          </a:p>
          <a:p>
            <a:pPr marL="360045" lvl="1" indent="-419100" eaLnBrk="1" hangingPunct="1">
              <a:buFontTx/>
              <a:buNone/>
              <a:defRPr/>
            </a:pPr>
            <a:r>
              <a:rPr lang="en-US" altLang="zh-CN" sz="2400" dirty="0" smtClean="0">
                <a:latin typeface="+mn-ea"/>
                <a:ea typeface="+mn-ea"/>
              </a:rPr>
              <a:t>	1.3.8 </a:t>
            </a:r>
            <a:r>
              <a:rPr lang="zh-CN" altLang="en-US" sz="2400" dirty="0">
                <a:latin typeface="+mn-ea"/>
                <a:ea typeface="+mn-ea"/>
              </a:rPr>
              <a:t>递推关系</a:t>
            </a:r>
            <a:endParaRPr lang="zh-CN" altLang="en-US" sz="2400" dirty="0" smtClean="0">
              <a:latin typeface="+mn-ea"/>
              <a:ea typeface="+mn-ea"/>
            </a:endParaRPr>
          </a:p>
        </p:txBody>
      </p:sp>
      <p:pic>
        <p:nvPicPr>
          <p:cNvPr id="11269" name="Picture 4" descr="j0195384"/>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5940425" y="260350"/>
            <a:ext cx="1231900" cy="1257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8195" name="Rectangle 2"/>
          <p:cNvSpPr>
            <a:spLocks noGrp="1" noChangeArrowheads="1"/>
          </p:cNvSpPr>
          <p:nvPr>
            <p:ph type="title"/>
          </p:nvPr>
        </p:nvSpPr>
        <p:spPr/>
        <p:txBody>
          <a:bodyPr/>
          <a:lstStyle/>
          <a:p>
            <a:pPr eaLnBrk="1" hangingPunct="1"/>
            <a:r>
              <a:rPr lang="en-US" altLang="zh-CN" b="0" dirty="0" smtClean="0">
                <a:latin typeface="+mn-ea"/>
              </a:rPr>
              <a:t>1.3.1 </a:t>
            </a:r>
            <a:r>
              <a:rPr lang="zh-CN" altLang="en-US" b="0" dirty="0" smtClean="0">
                <a:latin typeface="+mn-ea"/>
              </a:rPr>
              <a:t>集合</a:t>
            </a:r>
            <a:r>
              <a:rPr lang="zh-CN" altLang="en-US" b="0" dirty="0">
                <a:latin typeface="+mn-ea"/>
              </a:rPr>
              <a:t>、关系、函数</a:t>
            </a:r>
            <a:endParaRPr lang="en-US" altLang="zh-CN" b="0" dirty="0" smtClean="0"/>
          </a:p>
        </p:txBody>
      </p:sp>
      <p:sp>
        <p:nvSpPr>
          <p:cNvPr id="8196" name="Rectangle 3"/>
          <p:cNvSpPr>
            <a:spLocks noGrp="1" noChangeArrowheads="1"/>
          </p:cNvSpPr>
          <p:nvPr>
            <p:ph type="body" idx="1"/>
          </p:nvPr>
        </p:nvSpPr>
        <p:spPr>
          <a:xfrm>
            <a:off x="806450" y="1268413"/>
            <a:ext cx="8229600" cy="4718050"/>
          </a:xfrm>
        </p:spPr>
        <p:txBody>
          <a:bodyPr/>
          <a:lstStyle/>
          <a:p>
            <a:pPr eaLnBrk="1" hangingPunct="1"/>
            <a:r>
              <a:rPr lang="zh-CN" altLang="en-US" dirty="0" smtClean="0"/>
              <a:t>当分析算法时，我们认为它的输入是从某个特定范围（如整数集合）取出的一个</a:t>
            </a:r>
            <a:r>
              <a:rPr lang="zh-CN" altLang="en-US" dirty="0" smtClean="0">
                <a:solidFill>
                  <a:srgbClr val="FF0000"/>
                </a:solidFill>
              </a:rPr>
              <a:t>集合</a:t>
            </a:r>
            <a:r>
              <a:rPr lang="zh-CN" altLang="en-US" dirty="0" smtClean="0"/>
              <a:t>。形式的说，可以认为算法是一个</a:t>
            </a:r>
            <a:r>
              <a:rPr lang="zh-CN" altLang="en-US" dirty="0" smtClean="0">
                <a:solidFill>
                  <a:srgbClr val="FF0000"/>
                </a:solidFill>
              </a:rPr>
              <a:t>函数</a:t>
            </a:r>
            <a:r>
              <a:rPr lang="zh-CN" altLang="en-US" dirty="0" smtClean="0"/>
              <a:t>，它是一个受约束的关系，它映射每一个可能的输入到一个特定的输出。</a:t>
            </a:r>
            <a:endParaRPr lang="en-US" altLang="zh-CN" dirty="0" smtClean="0"/>
          </a:p>
          <a:p>
            <a:pPr eaLnBrk="1" hangingPunct="1"/>
            <a:endParaRPr lang="en-US" altLang="zh-CN" dirty="0" smtClean="0"/>
          </a:p>
          <a:p>
            <a:pPr eaLnBrk="1" hangingPunct="1"/>
            <a:r>
              <a:rPr lang="zh-CN" altLang="en-US" dirty="0" smtClean="0"/>
              <a:t>这样，集合和函数都处于算法分析的核心中</a:t>
            </a:r>
            <a:endParaRPr lang="en-US" altLang="zh-CN" dirty="0" smtClean="0"/>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10243" name="Rectangle 2"/>
          <p:cNvSpPr>
            <a:spLocks noGrp="1" noChangeArrowheads="1"/>
          </p:cNvSpPr>
          <p:nvPr>
            <p:ph type="title"/>
          </p:nvPr>
        </p:nvSpPr>
        <p:spPr/>
        <p:txBody>
          <a:bodyPr/>
          <a:lstStyle/>
          <a:p>
            <a:pPr eaLnBrk="1" hangingPunct="1"/>
            <a:r>
              <a:rPr lang="en-US" altLang="zh-CN" b="0" dirty="0">
                <a:latin typeface="+mn-ea"/>
              </a:rPr>
              <a:t>1.3.1 </a:t>
            </a:r>
            <a:r>
              <a:rPr lang="zh-CN" altLang="en-US" u="sng" dirty="0">
                <a:latin typeface="+mn-ea"/>
              </a:rPr>
              <a:t>集合</a:t>
            </a:r>
            <a:r>
              <a:rPr lang="zh-CN" altLang="en-US" b="0" dirty="0">
                <a:latin typeface="+mn-ea"/>
              </a:rPr>
              <a:t>、关系、函数</a:t>
            </a:r>
            <a:endParaRPr lang="en-US" altLang="zh-CN" b="0" dirty="0" smtClean="0"/>
          </a:p>
        </p:txBody>
      </p:sp>
      <p:sp>
        <p:nvSpPr>
          <p:cNvPr id="111619" name="Rectangle 3"/>
          <p:cNvSpPr>
            <a:spLocks noGrp="1" noChangeArrowheads="1"/>
          </p:cNvSpPr>
          <p:nvPr>
            <p:ph type="body" idx="1"/>
          </p:nvPr>
        </p:nvSpPr>
        <p:spPr/>
        <p:txBody>
          <a:bodyPr/>
          <a:lstStyle/>
          <a:p>
            <a:pPr eaLnBrk="1" hangingPunct="1">
              <a:lnSpc>
                <a:spcPct val="90000"/>
              </a:lnSpc>
              <a:defRPr/>
            </a:pPr>
            <a:r>
              <a:rPr lang="zh-CN" altLang="en-US" sz="2000" dirty="0" smtClean="0">
                <a:solidFill>
                  <a:srgbClr val="FF0000"/>
                </a:solidFill>
              </a:rPr>
              <a:t>集合</a:t>
            </a:r>
            <a:endParaRPr lang="en-US" altLang="zh-CN" sz="2000" dirty="0" smtClean="0">
              <a:solidFill>
                <a:srgbClr val="FF0000"/>
              </a:solidFill>
            </a:endParaRPr>
          </a:p>
          <a:p>
            <a:pPr lvl="1" eaLnBrk="1" hangingPunct="1">
              <a:lnSpc>
                <a:spcPct val="90000"/>
              </a:lnSpc>
              <a:defRPr/>
            </a:pPr>
            <a:r>
              <a:rPr lang="zh-CN" altLang="en-US" sz="2000" dirty="0" smtClean="0">
                <a:latin typeface="+mn-lt"/>
                <a:ea typeface="+mn-ea"/>
              </a:rPr>
              <a:t>“集合”可用来指任何一批对象，它们成为集合的成员或元素。</a:t>
            </a:r>
            <a:endParaRPr lang="en-US" altLang="zh-CN" sz="2000" dirty="0" smtClean="0">
              <a:solidFill>
                <a:srgbClr val="EA0000"/>
              </a:solidFill>
              <a:latin typeface="+mn-lt"/>
              <a:ea typeface="+mn-ea"/>
            </a:endParaRPr>
          </a:p>
          <a:p>
            <a:pPr eaLnBrk="1" hangingPunct="1">
              <a:lnSpc>
                <a:spcPct val="90000"/>
              </a:lnSpc>
              <a:defRPr/>
            </a:pPr>
            <a:r>
              <a:rPr lang="zh-CN" altLang="en-US" sz="2000" dirty="0" smtClean="0">
                <a:solidFill>
                  <a:srgbClr val="FF0000"/>
                </a:solidFill>
              </a:rPr>
              <a:t>有限</a:t>
            </a:r>
            <a:r>
              <a:rPr lang="en-US" altLang="zh-CN" sz="2000" dirty="0" smtClean="0">
                <a:solidFill>
                  <a:srgbClr val="FF0000"/>
                </a:solidFill>
              </a:rPr>
              <a:t>/</a:t>
            </a:r>
            <a:r>
              <a:rPr lang="zh-CN" altLang="en-US" sz="2000" dirty="0" smtClean="0">
                <a:solidFill>
                  <a:srgbClr val="FF0000"/>
                </a:solidFill>
              </a:rPr>
              <a:t>无限集合</a:t>
            </a:r>
            <a:endParaRPr lang="en-US" altLang="zh-CN" sz="2000" dirty="0" smtClean="0">
              <a:solidFill>
                <a:srgbClr val="FF0000"/>
              </a:solidFill>
            </a:endParaRPr>
          </a:p>
          <a:p>
            <a:pPr lvl="1" eaLnBrk="1" hangingPunct="1">
              <a:lnSpc>
                <a:spcPct val="90000"/>
              </a:lnSpc>
              <a:defRPr/>
            </a:pPr>
            <a:r>
              <a:rPr lang="zh-CN" altLang="en-US" sz="2000" dirty="0" smtClean="0">
                <a:latin typeface="+mn-lt"/>
                <a:ea typeface="+mn-ea"/>
              </a:rPr>
              <a:t>如果对于某个常数</a:t>
            </a:r>
            <a:r>
              <a:rPr lang="en-US" altLang="zh-CN" sz="2000" dirty="0" smtClean="0">
                <a:latin typeface="+mn-lt"/>
                <a:ea typeface="+mn-ea"/>
              </a:rPr>
              <a:t>n</a:t>
            </a:r>
            <a:r>
              <a:rPr lang="en-US" altLang="zh-CN" sz="2000" dirty="0" smtClean="0">
                <a:latin typeface="+mn-lt"/>
                <a:ea typeface="+mn-ea"/>
                <a:sym typeface="Symbol" panose="05050102010706020507" pitchFamily="18" charset="2"/>
              </a:rPr>
              <a:t></a:t>
            </a:r>
            <a:r>
              <a:rPr lang="en-US" altLang="zh-CN" sz="2000" dirty="0" smtClean="0">
                <a:latin typeface="+mn-lt"/>
                <a:ea typeface="+mn-ea"/>
              </a:rPr>
              <a:t>0</a:t>
            </a:r>
            <a:r>
              <a:rPr lang="zh-CN" altLang="en-US" sz="2000" dirty="0" smtClean="0">
                <a:latin typeface="+mn-lt"/>
                <a:ea typeface="+mn-ea"/>
              </a:rPr>
              <a:t>，一个集合包含</a:t>
            </a:r>
            <a:r>
              <a:rPr lang="en-US" altLang="zh-CN" sz="2000" dirty="0" smtClean="0">
                <a:latin typeface="+mn-lt"/>
                <a:ea typeface="+mn-ea"/>
              </a:rPr>
              <a:t>n</a:t>
            </a:r>
            <a:r>
              <a:rPr lang="zh-CN" altLang="en-US" sz="2000" dirty="0" smtClean="0">
                <a:latin typeface="+mn-lt"/>
                <a:ea typeface="+mn-ea"/>
              </a:rPr>
              <a:t>个元素，则称它为有限的，否则是无限的。</a:t>
            </a:r>
            <a:endParaRPr lang="en-US" altLang="zh-CN" sz="2000" dirty="0" smtClean="0">
              <a:latin typeface="+mn-lt"/>
              <a:ea typeface="+mn-ea"/>
            </a:endParaRPr>
          </a:p>
          <a:p>
            <a:pPr eaLnBrk="1" hangingPunct="1">
              <a:lnSpc>
                <a:spcPct val="90000"/>
              </a:lnSpc>
              <a:defRPr/>
            </a:pPr>
            <a:r>
              <a:rPr lang="zh-CN" altLang="en-US" sz="2000" dirty="0" smtClean="0">
                <a:solidFill>
                  <a:srgbClr val="FF0000"/>
                </a:solidFill>
              </a:rPr>
              <a:t>可数</a:t>
            </a:r>
            <a:r>
              <a:rPr lang="en-US" altLang="zh-CN" sz="2000" dirty="0" smtClean="0">
                <a:solidFill>
                  <a:srgbClr val="FF0000"/>
                </a:solidFill>
              </a:rPr>
              <a:t>/</a:t>
            </a:r>
            <a:r>
              <a:rPr lang="zh-CN" altLang="en-US" sz="2000" dirty="0" smtClean="0">
                <a:solidFill>
                  <a:srgbClr val="FF0000"/>
                </a:solidFill>
              </a:rPr>
              <a:t>不可数集合</a:t>
            </a:r>
            <a:endParaRPr lang="en-US" altLang="zh-CN" sz="2000" dirty="0" smtClean="0">
              <a:solidFill>
                <a:srgbClr val="FF0000"/>
              </a:solidFill>
            </a:endParaRPr>
          </a:p>
          <a:p>
            <a:pPr lvl="1" eaLnBrk="1" hangingPunct="1">
              <a:lnSpc>
                <a:spcPct val="90000"/>
              </a:lnSpc>
              <a:defRPr/>
            </a:pPr>
            <a:r>
              <a:rPr lang="zh-CN" altLang="en-US" sz="2000" dirty="0" smtClean="0">
                <a:latin typeface="+mn-lt"/>
                <a:ea typeface="+mn-ea"/>
              </a:rPr>
              <a:t>如果一个无限集合的元素能被第一个元素、第二个元素列举出来，就称这个无限集合是可数的，否则称为不可数的。</a:t>
            </a:r>
            <a:endParaRPr lang="en-US" altLang="zh-CN" sz="2000" dirty="0" smtClean="0">
              <a:latin typeface="+mn-lt"/>
              <a:ea typeface="+mn-ea"/>
            </a:endParaRPr>
          </a:p>
          <a:p>
            <a:pPr lvl="1" eaLnBrk="1" hangingPunct="1">
              <a:lnSpc>
                <a:spcPct val="90000"/>
              </a:lnSpc>
              <a:defRPr/>
            </a:pPr>
            <a:r>
              <a:rPr lang="zh-CN" altLang="en-US" sz="2000" dirty="0" smtClean="0">
                <a:latin typeface="+mn-lt"/>
                <a:ea typeface="+mn-ea"/>
              </a:rPr>
              <a:t>整数集合可数，实数集合不可数。</a:t>
            </a:r>
            <a:endParaRPr lang="en-US" altLang="zh-CN" sz="2000" dirty="0" smtClean="0">
              <a:latin typeface="+mn-lt"/>
              <a:ea typeface="+mn-ea"/>
            </a:endParaRPr>
          </a:p>
          <a:p>
            <a:pPr eaLnBrk="1" hangingPunct="1">
              <a:lnSpc>
                <a:spcPct val="90000"/>
              </a:lnSpc>
              <a:defRPr/>
            </a:pPr>
            <a:r>
              <a:rPr lang="zh-CN" altLang="en-US" sz="2000" dirty="0" smtClean="0">
                <a:solidFill>
                  <a:srgbClr val="FF0000"/>
                </a:solidFill>
              </a:rPr>
              <a:t>集合的描述</a:t>
            </a:r>
            <a:endParaRPr lang="en-US" altLang="zh-CN" sz="2000" dirty="0" smtClean="0">
              <a:solidFill>
                <a:srgbClr val="FF0000"/>
              </a:solidFill>
            </a:endParaRPr>
          </a:p>
          <a:p>
            <a:pPr lvl="1" eaLnBrk="1" hangingPunct="1">
              <a:lnSpc>
                <a:spcPct val="90000"/>
              </a:lnSpc>
              <a:defRPr/>
            </a:pPr>
            <a:r>
              <a:rPr lang="zh-CN" altLang="en-US" sz="2000" dirty="0" smtClean="0">
                <a:latin typeface="+mn-lt"/>
                <a:ea typeface="+mn-ea"/>
              </a:rPr>
              <a:t>有限整数集合</a:t>
            </a:r>
            <a:r>
              <a:rPr lang="en-US" altLang="zh-CN" sz="2000" dirty="0" smtClean="0">
                <a:latin typeface="+mn-lt"/>
                <a:ea typeface="+mn-ea"/>
              </a:rPr>
              <a:t>{1,2,3}; </a:t>
            </a:r>
            <a:endParaRPr lang="en-US" altLang="zh-CN" sz="2000" dirty="0" smtClean="0">
              <a:latin typeface="+mn-lt"/>
              <a:ea typeface="+mn-ea"/>
            </a:endParaRPr>
          </a:p>
          <a:p>
            <a:pPr lvl="1" eaLnBrk="1" hangingPunct="1">
              <a:lnSpc>
                <a:spcPct val="90000"/>
              </a:lnSpc>
              <a:defRPr/>
            </a:pPr>
            <a:r>
              <a:rPr lang="zh-CN" altLang="en-US" sz="2000" dirty="0" smtClean="0">
                <a:latin typeface="+mn-lt"/>
                <a:ea typeface="+mn-ea"/>
              </a:rPr>
              <a:t>自然数集合</a:t>
            </a:r>
            <a:r>
              <a:rPr lang="en-US" altLang="zh-CN" sz="2000" dirty="0" smtClean="0">
                <a:latin typeface="+mn-lt"/>
                <a:ea typeface="+mn-ea"/>
              </a:rPr>
              <a:t>{1,2,3,…};</a:t>
            </a:r>
            <a:endParaRPr lang="en-US" altLang="zh-CN" sz="2000" dirty="0" smtClean="0">
              <a:latin typeface="+mn-lt"/>
              <a:ea typeface="+mn-ea"/>
            </a:endParaRPr>
          </a:p>
          <a:p>
            <a:pPr lvl="1" eaLnBrk="1" hangingPunct="1">
              <a:lnSpc>
                <a:spcPct val="90000"/>
              </a:lnSpc>
              <a:defRPr/>
            </a:pPr>
            <a:r>
              <a:rPr lang="zh-CN" altLang="en-US" sz="2000" dirty="0" smtClean="0">
                <a:latin typeface="+mn-lt"/>
                <a:ea typeface="+mn-ea"/>
              </a:rPr>
              <a:t>有限整数集合</a:t>
            </a:r>
            <a:r>
              <a:rPr lang="en-US" altLang="zh-CN" sz="2000" dirty="0" smtClean="0">
                <a:latin typeface="+mn-lt"/>
                <a:ea typeface="+mn-ea"/>
              </a:rPr>
              <a:t>{x|1</a:t>
            </a:r>
            <a:r>
              <a:rPr lang="en-US" altLang="zh-CN" sz="2000" dirty="0" smtClean="0">
                <a:latin typeface="+mn-lt"/>
                <a:ea typeface="+mn-ea"/>
                <a:sym typeface="Symbol" panose="05050102010706020507" pitchFamily="18" charset="2"/>
              </a:rPr>
              <a:t>x</a:t>
            </a:r>
            <a:r>
              <a:rPr lang="en-US" altLang="zh-CN" sz="2000" dirty="0" smtClean="0">
                <a:latin typeface="+mn-lt"/>
                <a:ea typeface="+mn-ea"/>
              </a:rPr>
              <a:t>100 and x </a:t>
            </a:r>
            <a:r>
              <a:rPr lang="zh-CN" altLang="en-US" sz="2000" dirty="0" smtClean="0">
                <a:latin typeface="+mn-lt"/>
                <a:ea typeface="+mn-ea"/>
              </a:rPr>
              <a:t>是整数</a:t>
            </a:r>
            <a:r>
              <a:rPr lang="en-US" altLang="zh-CN" sz="2000" dirty="0" smtClean="0">
                <a:latin typeface="+mn-lt"/>
                <a:ea typeface="+mn-ea"/>
              </a:rPr>
              <a:t>},</a:t>
            </a:r>
            <a:endParaRPr lang="en-US" altLang="zh-CN" sz="2000" dirty="0" smtClean="0">
              <a:latin typeface="+mn-lt"/>
              <a:ea typeface="+mn-ea"/>
            </a:endParaRPr>
          </a:p>
          <a:p>
            <a:pPr lvl="1" eaLnBrk="1" hangingPunct="1">
              <a:lnSpc>
                <a:spcPct val="90000"/>
              </a:lnSpc>
              <a:defRPr/>
            </a:pPr>
            <a:r>
              <a:rPr lang="zh-CN" altLang="en-US" sz="2000" dirty="0" smtClean="0">
                <a:latin typeface="+mn-lt"/>
                <a:ea typeface="+mn-ea"/>
              </a:rPr>
              <a:t>空集</a:t>
            </a:r>
            <a:r>
              <a:rPr lang="en-US" altLang="zh-CN" sz="2000" dirty="0" smtClean="0">
                <a:latin typeface="+mn-lt"/>
                <a:ea typeface="+mn-ea"/>
              </a:rPr>
              <a:t>{} or </a:t>
            </a:r>
            <a:r>
              <a:rPr lang="en-US" altLang="zh-CN" sz="2000" dirty="0" smtClean="0">
                <a:latin typeface="+mn-lt"/>
                <a:ea typeface="+mn-ea"/>
                <a:sym typeface="Symbol" panose="05050102010706020507" pitchFamily="18" charset="2"/>
              </a:rPr>
              <a:t>.</a:t>
            </a:r>
            <a:endParaRPr lang="en-US" altLang="zh-CN" sz="2000" dirty="0" smtClean="0">
              <a:latin typeface="+mn-lt"/>
              <a:ea typeface="+mn-ea"/>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12291" name="Rectangle 2"/>
          <p:cNvSpPr>
            <a:spLocks noGrp="1" noChangeArrowheads="1"/>
          </p:cNvSpPr>
          <p:nvPr>
            <p:ph type="title"/>
          </p:nvPr>
        </p:nvSpPr>
        <p:spPr/>
        <p:txBody>
          <a:bodyPr/>
          <a:lstStyle/>
          <a:p>
            <a:pPr eaLnBrk="1" hangingPunct="1"/>
            <a:r>
              <a:rPr lang="en-US" altLang="zh-CN" b="0" dirty="0">
                <a:latin typeface="+mn-ea"/>
              </a:rPr>
              <a:t>1.3.1 </a:t>
            </a:r>
            <a:r>
              <a:rPr lang="zh-CN" altLang="en-US" u="sng" dirty="0">
                <a:latin typeface="+mn-ea"/>
              </a:rPr>
              <a:t>集合</a:t>
            </a:r>
            <a:r>
              <a:rPr lang="zh-CN" altLang="en-US" b="0" dirty="0">
                <a:latin typeface="+mn-ea"/>
              </a:rPr>
              <a:t>、关系、函数</a:t>
            </a:r>
            <a:endParaRPr lang="en-US" altLang="zh-CN" b="0" dirty="0" smtClean="0"/>
          </a:p>
        </p:txBody>
      </p:sp>
      <p:sp>
        <p:nvSpPr>
          <p:cNvPr id="92163" name="Rectangle 3"/>
          <p:cNvSpPr>
            <a:spLocks noGrp="1" noChangeArrowheads="1"/>
          </p:cNvSpPr>
          <p:nvPr>
            <p:ph type="body" idx="1"/>
          </p:nvPr>
        </p:nvSpPr>
        <p:spPr/>
        <p:txBody>
          <a:bodyPr/>
          <a:lstStyle/>
          <a:p>
            <a:pPr eaLnBrk="1" hangingPunct="1">
              <a:lnSpc>
                <a:spcPct val="90000"/>
              </a:lnSpc>
              <a:defRPr/>
            </a:pPr>
            <a:r>
              <a:rPr lang="zh-CN" altLang="en-US" sz="2000" dirty="0" smtClean="0">
                <a:solidFill>
                  <a:srgbClr val="FF0000"/>
                </a:solidFill>
                <a:sym typeface="Symbol" panose="05050102010706020507" pitchFamily="18" charset="2"/>
              </a:rPr>
              <a:t>基数</a:t>
            </a:r>
            <a:endParaRPr lang="en-US" altLang="zh-CN" sz="2000" dirty="0" smtClean="0">
              <a:solidFill>
                <a:srgbClr val="FF0000"/>
              </a:solidFill>
              <a:sym typeface="Symbol" panose="05050102010706020507" pitchFamily="18" charset="2"/>
            </a:endParaRPr>
          </a:p>
          <a:p>
            <a:pPr lvl="1" eaLnBrk="1" hangingPunct="1">
              <a:lnSpc>
                <a:spcPct val="90000"/>
              </a:lnSpc>
              <a:defRPr/>
            </a:pPr>
            <a:r>
              <a:rPr lang="zh-CN" altLang="en-US" sz="2000" dirty="0" smtClean="0">
                <a:latin typeface="+mn-lt"/>
                <a:ea typeface="+mn-ea"/>
                <a:sym typeface="Symbol" panose="05050102010706020507" pitchFamily="18" charset="2"/>
              </a:rPr>
              <a:t>如果</a:t>
            </a:r>
            <a:r>
              <a:rPr lang="en-US" altLang="zh-CN" sz="2000" dirty="0" smtClean="0">
                <a:latin typeface="+mn-lt"/>
                <a:ea typeface="+mn-ea"/>
                <a:sym typeface="Symbol" panose="05050102010706020507" pitchFamily="18" charset="2"/>
              </a:rPr>
              <a:t>A</a:t>
            </a:r>
            <a:r>
              <a:rPr lang="zh-CN" altLang="en-US" sz="2000" dirty="0" smtClean="0">
                <a:latin typeface="+mn-lt"/>
                <a:ea typeface="+mn-ea"/>
                <a:sym typeface="Symbol" panose="05050102010706020507" pitchFamily="18" charset="2"/>
              </a:rPr>
              <a:t>是一个有限集，那么</a:t>
            </a:r>
            <a:r>
              <a:rPr lang="en-US" altLang="zh-CN" sz="2000" dirty="0" smtClean="0">
                <a:latin typeface="+mn-lt"/>
                <a:ea typeface="+mn-ea"/>
                <a:sym typeface="Symbol" panose="05050102010706020507" pitchFamily="18" charset="2"/>
              </a:rPr>
              <a:t>A</a:t>
            </a:r>
            <a:r>
              <a:rPr lang="zh-CN" altLang="en-US" sz="2000" dirty="0" smtClean="0">
                <a:latin typeface="+mn-lt"/>
                <a:ea typeface="+mn-ea"/>
                <a:sym typeface="Symbol" panose="05050102010706020507" pitchFamily="18" charset="2"/>
              </a:rPr>
              <a:t>的基数是指</a:t>
            </a:r>
            <a:r>
              <a:rPr lang="en-US" altLang="zh-CN" sz="2000" dirty="0" smtClean="0">
                <a:latin typeface="+mn-lt"/>
                <a:ea typeface="+mn-ea"/>
                <a:sym typeface="Symbol" panose="05050102010706020507" pitchFamily="18" charset="2"/>
              </a:rPr>
              <a:t>A</a:t>
            </a:r>
            <a:r>
              <a:rPr lang="zh-CN" altLang="en-US" sz="2000" dirty="0" smtClean="0">
                <a:latin typeface="+mn-lt"/>
                <a:ea typeface="+mn-ea"/>
                <a:sym typeface="Symbol" panose="05050102010706020507" pitchFamily="18" charset="2"/>
              </a:rPr>
              <a:t>中元素的个数，表示成</a:t>
            </a:r>
            <a:r>
              <a:rPr lang="en-US" altLang="zh-CN" sz="2000" dirty="0" smtClean="0">
                <a:latin typeface="+mn-lt"/>
                <a:ea typeface="+mn-ea"/>
                <a:sym typeface="Symbol" panose="05050102010706020507" pitchFamily="18" charset="2"/>
              </a:rPr>
              <a:t>|A|</a:t>
            </a:r>
            <a:r>
              <a:rPr lang="zh-CN" altLang="en-US" sz="2000" dirty="0" smtClean="0">
                <a:latin typeface="+mn-lt"/>
                <a:ea typeface="+mn-ea"/>
                <a:sym typeface="Symbol" panose="05050102010706020507" pitchFamily="18" charset="2"/>
              </a:rPr>
              <a:t>。</a:t>
            </a:r>
            <a:endParaRPr lang="en-US" altLang="zh-CN" sz="2000" dirty="0" smtClean="0">
              <a:latin typeface="+mn-lt"/>
              <a:ea typeface="+mn-ea"/>
              <a:sym typeface="Symbol" panose="05050102010706020507" pitchFamily="18" charset="2"/>
            </a:endParaRPr>
          </a:p>
          <a:p>
            <a:pPr eaLnBrk="1" hangingPunct="1">
              <a:lnSpc>
                <a:spcPct val="90000"/>
              </a:lnSpc>
              <a:defRPr/>
            </a:pPr>
            <a:r>
              <a:rPr lang="zh-CN" altLang="en-US" sz="2000" dirty="0" smtClean="0">
                <a:solidFill>
                  <a:srgbClr val="FF0000"/>
                </a:solidFill>
                <a:sym typeface="Symbol" panose="05050102010706020507" pitchFamily="18" charset="2"/>
              </a:rPr>
              <a:t>成员</a:t>
            </a:r>
            <a:r>
              <a:rPr lang="zh-CN" altLang="en-US" sz="2000" dirty="0" smtClean="0">
                <a:sym typeface="Symbol" panose="05050102010706020507" pitchFamily="18" charset="2"/>
              </a:rPr>
              <a:t>（元素）</a:t>
            </a:r>
            <a:endParaRPr lang="en-US" altLang="zh-CN" sz="2000" dirty="0" smtClean="0">
              <a:sym typeface="Symbol" panose="05050102010706020507" pitchFamily="18" charset="2"/>
            </a:endParaRPr>
          </a:p>
          <a:p>
            <a:pPr lvl="1" eaLnBrk="1" hangingPunct="1">
              <a:lnSpc>
                <a:spcPct val="90000"/>
              </a:lnSpc>
              <a:defRPr/>
            </a:pPr>
            <a:r>
              <a:rPr lang="zh-CN" altLang="en-US" sz="2000" dirty="0" smtClean="0">
                <a:latin typeface="+mn-lt"/>
                <a:ea typeface="+mn-ea"/>
                <a:sym typeface="Symbol" panose="05050102010706020507" pitchFamily="18" charset="2"/>
              </a:rPr>
              <a:t>如果</a:t>
            </a:r>
            <a:r>
              <a:rPr lang="en-US" altLang="zh-CN" sz="2000" dirty="0" smtClean="0">
                <a:latin typeface="+mn-lt"/>
                <a:ea typeface="+mn-ea"/>
                <a:sym typeface="Symbol" panose="05050102010706020507" pitchFamily="18" charset="2"/>
              </a:rPr>
              <a:t>x</a:t>
            </a:r>
            <a:r>
              <a:rPr lang="zh-CN" altLang="en-US" sz="2000" dirty="0" smtClean="0">
                <a:latin typeface="+mn-lt"/>
                <a:ea typeface="+mn-ea"/>
                <a:sym typeface="Symbol" panose="05050102010706020507" pitchFamily="18" charset="2"/>
              </a:rPr>
              <a:t>是</a:t>
            </a:r>
            <a:r>
              <a:rPr lang="en-US" altLang="zh-CN" sz="2000" dirty="0" smtClean="0">
                <a:latin typeface="+mn-lt"/>
                <a:ea typeface="+mn-ea"/>
                <a:sym typeface="Symbol" panose="05050102010706020507" pitchFamily="18" charset="2"/>
              </a:rPr>
              <a:t>A</a:t>
            </a:r>
            <a:r>
              <a:rPr lang="zh-CN" altLang="en-US" sz="2000" dirty="0" smtClean="0">
                <a:latin typeface="+mn-lt"/>
                <a:ea typeface="+mn-ea"/>
                <a:sym typeface="Symbol" panose="05050102010706020507" pitchFamily="18" charset="2"/>
              </a:rPr>
              <a:t>的成员，我们用</a:t>
            </a:r>
            <a:r>
              <a:rPr lang="en-US" altLang="zh-CN" sz="2000" dirty="0" smtClean="0">
                <a:latin typeface="+mn-lt"/>
                <a:ea typeface="+mn-ea"/>
                <a:sym typeface="Symbol" panose="05050102010706020507" pitchFamily="18" charset="2"/>
              </a:rPr>
              <a:t>xA</a:t>
            </a:r>
            <a:r>
              <a:rPr lang="zh-CN" altLang="en-US" sz="2000" dirty="0" smtClean="0">
                <a:latin typeface="+mn-lt"/>
                <a:ea typeface="+mn-ea"/>
                <a:sym typeface="Symbol" panose="05050102010706020507" pitchFamily="18" charset="2"/>
              </a:rPr>
              <a:t>表示，否则</a:t>
            </a:r>
            <a:r>
              <a:rPr lang="en-US" altLang="zh-CN" sz="2000" dirty="0" smtClean="0">
                <a:latin typeface="+mn-lt"/>
                <a:ea typeface="+mn-ea"/>
                <a:sym typeface="Symbol" panose="05050102010706020507" pitchFamily="18" charset="2"/>
              </a:rPr>
              <a:t> </a:t>
            </a:r>
            <a:r>
              <a:rPr lang="en-US" altLang="zh-CN" sz="2000" dirty="0" err="1" smtClean="0">
                <a:latin typeface="+mn-lt"/>
                <a:ea typeface="+mn-ea"/>
                <a:sym typeface="Symbol" panose="05050102010706020507" pitchFamily="18" charset="2"/>
              </a:rPr>
              <a:t>xA</a:t>
            </a:r>
            <a:r>
              <a:rPr lang="en-US" altLang="zh-CN" sz="2000" dirty="0" smtClean="0">
                <a:latin typeface="+mn-lt"/>
                <a:ea typeface="+mn-ea"/>
                <a:sym typeface="Symbol" panose="05050102010706020507" pitchFamily="18" charset="2"/>
              </a:rPr>
              <a:t>.</a:t>
            </a:r>
            <a:endParaRPr lang="en-US" altLang="zh-CN" sz="2000" dirty="0" smtClean="0">
              <a:latin typeface="+mn-lt"/>
              <a:ea typeface="+mn-ea"/>
              <a:sym typeface="Symbol" panose="05050102010706020507" pitchFamily="18" charset="2"/>
            </a:endParaRPr>
          </a:p>
          <a:p>
            <a:pPr eaLnBrk="1" hangingPunct="1">
              <a:lnSpc>
                <a:spcPct val="90000"/>
              </a:lnSpc>
              <a:defRPr/>
            </a:pPr>
            <a:r>
              <a:rPr lang="zh-CN" altLang="en-US" sz="2000" dirty="0" smtClean="0">
                <a:solidFill>
                  <a:srgbClr val="FF0000"/>
                </a:solidFill>
                <a:sym typeface="Symbol" panose="05050102010706020507" pitchFamily="18" charset="2"/>
              </a:rPr>
              <a:t>子集</a:t>
            </a:r>
            <a:endParaRPr lang="en-US" altLang="zh-CN" sz="2000" dirty="0" smtClean="0">
              <a:solidFill>
                <a:srgbClr val="FF0000"/>
              </a:solidFill>
              <a:sym typeface="Symbol" panose="05050102010706020507" pitchFamily="18" charset="2"/>
            </a:endParaRPr>
          </a:p>
          <a:p>
            <a:pPr>
              <a:defRPr/>
            </a:pPr>
            <a:r>
              <a:rPr lang="zh-CN" altLang="en-US" sz="2000" dirty="0" smtClean="0">
                <a:sym typeface="Symbol" panose="05050102010706020507" pitchFamily="18" charset="2"/>
              </a:rPr>
              <a:t>如果每一个</a:t>
            </a:r>
            <a:r>
              <a:rPr lang="en-US" altLang="zh-CN" sz="2000" dirty="0" smtClean="0">
                <a:sym typeface="Symbol" panose="05050102010706020507" pitchFamily="18" charset="2"/>
              </a:rPr>
              <a:t>B</a:t>
            </a:r>
            <a:r>
              <a:rPr lang="zh-CN" altLang="en-US" sz="2000" dirty="0" smtClean="0">
                <a:sym typeface="Symbol" panose="05050102010706020507" pitchFamily="18" charset="2"/>
              </a:rPr>
              <a:t>的元素都是</a:t>
            </a:r>
            <a:r>
              <a:rPr lang="en-US" altLang="zh-CN" sz="2000" dirty="0" smtClean="0">
                <a:sym typeface="Symbol" panose="05050102010706020507" pitchFamily="18" charset="2"/>
              </a:rPr>
              <a:t>A</a:t>
            </a:r>
            <a:r>
              <a:rPr lang="zh-CN" altLang="en-US" sz="2000" dirty="0" smtClean="0">
                <a:sym typeface="Symbol" panose="05050102010706020507" pitchFamily="18" charset="2"/>
              </a:rPr>
              <a:t>的元素，那么称集合</a:t>
            </a:r>
            <a:r>
              <a:rPr lang="en-US" altLang="zh-CN" sz="2000" dirty="0" smtClean="0">
                <a:sym typeface="Symbol" panose="05050102010706020507" pitchFamily="18" charset="2"/>
              </a:rPr>
              <a:t>B</a:t>
            </a:r>
            <a:r>
              <a:rPr lang="zh-CN" altLang="en-US" sz="2000" dirty="0" smtClean="0">
                <a:sym typeface="Symbol" panose="05050102010706020507" pitchFamily="18" charset="2"/>
              </a:rPr>
              <a:t>是集合</a:t>
            </a:r>
            <a:r>
              <a:rPr lang="en-US" altLang="zh-CN" sz="2000" dirty="0" smtClean="0">
                <a:sym typeface="Symbol" panose="05050102010706020507" pitchFamily="18" charset="2"/>
              </a:rPr>
              <a:t>A</a:t>
            </a:r>
            <a:r>
              <a:rPr lang="zh-CN" altLang="en-US" sz="2000" dirty="0" smtClean="0">
                <a:sym typeface="Symbol" panose="05050102010706020507" pitchFamily="18" charset="2"/>
              </a:rPr>
              <a:t>的子集合，记为</a:t>
            </a:r>
            <a:r>
              <a:rPr lang="en-US" altLang="zh-CN" sz="2000" dirty="0" smtClean="0">
                <a:sym typeface="Symbol" panose="05050102010706020507" pitchFamily="18" charset="2"/>
              </a:rPr>
              <a:t>BA, </a:t>
            </a:r>
            <a:r>
              <a:rPr lang="zh-CN" altLang="en-US" sz="2000" dirty="0" smtClean="0">
                <a:sym typeface="Symbol" panose="05050102010706020507" pitchFamily="18" charset="2"/>
              </a:rPr>
              <a:t>如果还有</a:t>
            </a:r>
            <a:r>
              <a:rPr lang="en-US" altLang="zh-CN" sz="2000" dirty="0" smtClean="0">
                <a:sym typeface="Symbol" panose="05050102010706020507" pitchFamily="18" charset="2"/>
              </a:rPr>
              <a:t> BA, </a:t>
            </a:r>
            <a:r>
              <a:rPr lang="zh-CN" altLang="en-US" sz="2000" dirty="0" smtClean="0">
                <a:sym typeface="Symbol" panose="05050102010706020507" pitchFamily="18" charset="2"/>
              </a:rPr>
              <a:t>则称</a:t>
            </a:r>
            <a:r>
              <a:rPr lang="en-US" altLang="zh-CN" sz="2000" dirty="0" smtClean="0">
                <a:sym typeface="Symbol" panose="05050102010706020507" pitchFamily="18" charset="2"/>
              </a:rPr>
              <a:t>B</a:t>
            </a:r>
            <a:r>
              <a:rPr lang="zh-CN" altLang="en-US" sz="2000" dirty="0" smtClean="0">
                <a:sym typeface="Symbol" panose="05050102010706020507" pitchFamily="18" charset="2"/>
              </a:rPr>
              <a:t>是</a:t>
            </a:r>
            <a:r>
              <a:rPr lang="en-US" altLang="zh-CN" sz="2000" dirty="0" smtClean="0">
                <a:sym typeface="Symbol" panose="05050102010706020507" pitchFamily="18" charset="2"/>
              </a:rPr>
              <a:t>A</a:t>
            </a:r>
            <a:r>
              <a:rPr lang="zh-CN" altLang="en-US" sz="2000" dirty="0" smtClean="0">
                <a:sym typeface="Symbol" panose="05050102010706020507" pitchFamily="18" charset="2"/>
              </a:rPr>
              <a:t>的真子集，记为</a:t>
            </a:r>
            <a:r>
              <a:rPr lang="en-US" altLang="zh-CN" sz="2000" dirty="0" smtClean="0">
                <a:sym typeface="Symbol" panose="05050102010706020507" pitchFamily="18" charset="2"/>
              </a:rPr>
              <a:t>BA.</a:t>
            </a:r>
            <a:r>
              <a:rPr lang="zh-CN" altLang="en-US" sz="2000" dirty="0" smtClean="0"/>
              <a:t> </a:t>
            </a:r>
            <a:endParaRPr lang="en-US" altLang="zh-CN" sz="2000" dirty="0" smtClean="0"/>
          </a:p>
          <a:p>
            <a:pPr>
              <a:buFontTx/>
              <a:buNone/>
              <a:defRPr/>
            </a:pPr>
            <a:r>
              <a:rPr lang="en-US" altLang="zh-CN" sz="2000" dirty="0" smtClean="0"/>
              <a:t>        </a:t>
            </a:r>
            <a:r>
              <a:rPr lang="zh-CN" altLang="en-US" sz="2000" dirty="0" smtClean="0"/>
              <a:t>如：</a:t>
            </a:r>
            <a:r>
              <a:rPr lang="en-US" altLang="zh-CN" sz="2000" dirty="0" smtClean="0"/>
              <a:t>{1, 3} ⊂ {1, 2, 3, 4}      {1, 2, 3, 4} ⊆ {1, 2, 3, 4}</a:t>
            </a:r>
            <a:endParaRPr lang="en-US" altLang="zh-CN" sz="2000" dirty="0" smtClean="0">
              <a:sym typeface="Symbol" panose="05050102010706020507" pitchFamily="18" charset="2"/>
            </a:endParaRPr>
          </a:p>
          <a:p>
            <a:pPr eaLnBrk="1" hangingPunct="1">
              <a:lnSpc>
                <a:spcPct val="90000"/>
              </a:lnSpc>
              <a:defRPr/>
            </a:pPr>
            <a:r>
              <a:rPr lang="zh-CN" altLang="en-US" sz="2000" dirty="0" smtClean="0">
                <a:solidFill>
                  <a:srgbClr val="FF0000"/>
                </a:solidFill>
                <a:sym typeface="Symbol" panose="05050102010706020507" pitchFamily="18" charset="2"/>
              </a:rPr>
              <a:t>幂集</a:t>
            </a:r>
            <a:endParaRPr lang="en-US" altLang="zh-CN" sz="2000" dirty="0" smtClean="0">
              <a:solidFill>
                <a:srgbClr val="FF0000"/>
              </a:solidFill>
              <a:sym typeface="Symbol" panose="05050102010706020507" pitchFamily="18" charset="2"/>
            </a:endParaRPr>
          </a:p>
          <a:p>
            <a:pPr lvl="1" eaLnBrk="1" hangingPunct="1">
              <a:lnSpc>
                <a:spcPct val="90000"/>
              </a:lnSpc>
              <a:defRPr/>
            </a:pPr>
            <a:r>
              <a:rPr lang="zh-CN" altLang="en-US" sz="2000" dirty="0" smtClean="0">
                <a:latin typeface="+mn-lt"/>
                <a:ea typeface="+mn-ea"/>
                <a:sym typeface="Symbol" panose="05050102010706020507" pitchFamily="18" charset="2"/>
              </a:rPr>
              <a:t>集合</a:t>
            </a:r>
            <a:r>
              <a:rPr lang="en-US" altLang="zh-CN" sz="2000" dirty="0" smtClean="0">
                <a:latin typeface="+mn-lt"/>
                <a:ea typeface="+mn-ea"/>
                <a:sym typeface="Symbol" panose="05050102010706020507" pitchFamily="18" charset="2"/>
              </a:rPr>
              <a:t>A</a:t>
            </a:r>
            <a:r>
              <a:rPr lang="zh-CN" altLang="en-US" sz="2000" dirty="0" smtClean="0">
                <a:latin typeface="+mn-lt"/>
                <a:ea typeface="+mn-ea"/>
                <a:sym typeface="Symbol" panose="05050102010706020507" pitchFamily="18" charset="2"/>
              </a:rPr>
              <a:t>的幂集是</a:t>
            </a:r>
            <a:r>
              <a:rPr lang="en-US" altLang="zh-CN" sz="2000" dirty="0" smtClean="0">
                <a:latin typeface="+mn-lt"/>
                <a:ea typeface="+mn-ea"/>
                <a:sym typeface="Symbol" panose="05050102010706020507" pitchFamily="18" charset="2"/>
              </a:rPr>
              <a:t>A</a:t>
            </a:r>
            <a:r>
              <a:rPr lang="zh-CN" altLang="en-US" sz="2000" dirty="0" smtClean="0">
                <a:latin typeface="+mn-lt"/>
                <a:ea typeface="+mn-ea"/>
                <a:sym typeface="Symbol" panose="05050102010706020507" pitchFamily="18" charset="2"/>
              </a:rPr>
              <a:t>的所有子集的集合，记为</a:t>
            </a:r>
            <a:r>
              <a:rPr lang="en-US" altLang="zh-CN" sz="2000" dirty="0" smtClean="0">
                <a:latin typeface="+mn-lt"/>
                <a:ea typeface="+mn-ea"/>
                <a:sym typeface="Symbol" panose="05050102010706020507" pitchFamily="18" charset="2"/>
              </a:rPr>
              <a:t>P(A),</a:t>
            </a:r>
            <a:r>
              <a:rPr lang="zh-CN" altLang="en-US" sz="2000" dirty="0" smtClean="0">
                <a:latin typeface="+mn-lt"/>
                <a:ea typeface="+mn-ea"/>
                <a:sym typeface="Symbol" panose="05050102010706020507" pitchFamily="18" charset="2"/>
              </a:rPr>
              <a:t>如果</a:t>
            </a:r>
            <a:r>
              <a:rPr lang="en-US" altLang="zh-CN" sz="2000" dirty="0" smtClean="0">
                <a:latin typeface="+mn-lt"/>
                <a:ea typeface="+mn-ea"/>
                <a:sym typeface="Symbol" panose="05050102010706020507" pitchFamily="18" charset="2"/>
              </a:rPr>
              <a:t> |A|=n, </a:t>
            </a:r>
            <a:r>
              <a:rPr lang="zh-CN" altLang="en-US" sz="2000" dirty="0" smtClean="0">
                <a:latin typeface="+mn-lt"/>
                <a:ea typeface="+mn-ea"/>
                <a:sym typeface="Symbol" panose="05050102010706020507" pitchFamily="18" charset="2"/>
              </a:rPr>
              <a:t>那么</a:t>
            </a:r>
            <a:r>
              <a:rPr lang="en-US" altLang="zh-CN" sz="2000" dirty="0" smtClean="0">
                <a:latin typeface="+mn-lt"/>
                <a:ea typeface="+mn-ea"/>
                <a:sym typeface="Symbol" panose="05050102010706020507" pitchFamily="18" charset="2"/>
              </a:rPr>
              <a:t> |P(A)|=2</a:t>
            </a:r>
            <a:r>
              <a:rPr lang="en-US" altLang="zh-CN" sz="2000" baseline="30000" dirty="0" smtClean="0">
                <a:latin typeface="+mn-lt"/>
                <a:ea typeface="+mn-ea"/>
                <a:sym typeface="Symbol" panose="05050102010706020507" pitchFamily="18" charset="2"/>
              </a:rPr>
              <a:t>n</a:t>
            </a:r>
            <a:r>
              <a:rPr lang="en-US" altLang="zh-CN" sz="2000" dirty="0" smtClean="0">
                <a:latin typeface="+mn-lt"/>
                <a:ea typeface="+mn-ea"/>
                <a:sym typeface="Symbol" panose="05050102010706020507" pitchFamily="18" charset="2"/>
              </a:rPr>
              <a:t>.</a:t>
            </a:r>
            <a:endParaRPr lang="en-US" altLang="zh-CN" sz="2000" dirty="0" smtClean="0">
              <a:latin typeface="+mn-lt"/>
              <a:ea typeface="+mn-ea"/>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14339" name="Rectangle 2"/>
          <p:cNvSpPr>
            <a:spLocks noGrp="1" noChangeArrowheads="1"/>
          </p:cNvSpPr>
          <p:nvPr>
            <p:ph type="title"/>
          </p:nvPr>
        </p:nvSpPr>
        <p:spPr/>
        <p:txBody>
          <a:bodyPr/>
          <a:lstStyle/>
          <a:p>
            <a:pPr eaLnBrk="1" hangingPunct="1"/>
            <a:r>
              <a:rPr lang="en-US" altLang="zh-CN" b="0" dirty="0">
                <a:latin typeface="+mn-ea"/>
              </a:rPr>
              <a:t>1.3.1 </a:t>
            </a:r>
            <a:r>
              <a:rPr lang="zh-CN" altLang="en-US" u="sng" dirty="0">
                <a:latin typeface="+mn-ea"/>
              </a:rPr>
              <a:t>集合</a:t>
            </a:r>
            <a:r>
              <a:rPr lang="zh-CN" altLang="en-US" b="0" dirty="0">
                <a:latin typeface="+mn-ea"/>
              </a:rPr>
              <a:t>、关系、函数</a:t>
            </a:r>
            <a:endParaRPr lang="en-US" altLang="zh-CN" dirty="0" smtClean="0"/>
          </a:p>
        </p:txBody>
      </p:sp>
      <p:sp>
        <p:nvSpPr>
          <p:cNvPr id="93187" name="Rectangle 3"/>
          <p:cNvSpPr>
            <a:spLocks noGrp="1" noChangeArrowheads="1"/>
          </p:cNvSpPr>
          <p:nvPr>
            <p:ph type="body" idx="1"/>
          </p:nvPr>
        </p:nvSpPr>
        <p:spPr>
          <a:xfrm>
            <a:off x="879475" y="1196975"/>
            <a:ext cx="8229600" cy="5327650"/>
          </a:xfrm>
        </p:spPr>
        <p:txBody>
          <a:bodyPr/>
          <a:lstStyle/>
          <a:p>
            <a:pPr eaLnBrk="1" hangingPunct="1">
              <a:defRPr/>
            </a:pPr>
            <a:r>
              <a:rPr lang="zh-CN" altLang="en-US" sz="2000" dirty="0" smtClean="0">
                <a:solidFill>
                  <a:srgbClr val="FF0000"/>
                </a:solidFill>
                <a:sym typeface="Symbol" panose="05050102010706020507" pitchFamily="18" charset="2"/>
              </a:rPr>
              <a:t>并集</a:t>
            </a:r>
            <a:r>
              <a:rPr lang="en-US" altLang="zh-CN" sz="2000" dirty="0" smtClean="0">
                <a:solidFill>
                  <a:srgbClr val="FF0000"/>
                </a:solidFill>
                <a:sym typeface="Symbol" panose="05050102010706020507" pitchFamily="18" charset="2"/>
              </a:rPr>
              <a:t> </a:t>
            </a:r>
            <a:endParaRPr lang="en-US" altLang="zh-CN" sz="2000" dirty="0" smtClean="0">
              <a:solidFill>
                <a:srgbClr val="FF0000"/>
              </a:solidFill>
              <a:sym typeface="Symbol" panose="05050102010706020507" pitchFamily="18" charset="2"/>
            </a:endParaRPr>
          </a:p>
          <a:p>
            <a:pPr lvl="1" eaLnBrk="1" hangingPunct="1">
              <a:defRPr/>
            </a:pPr>
            <a:r>
              <a:rPr lang="zh-CN" altLang="en-US" sz="1900" dirty="0" smtClean="0">
                <a:latin typeface="+mn-lt"/>
                <a:ea typeface="+mn-ea"/>
                <a:sym typeface="Symbol" panose="05050102010706020507" pitchFamily="18" charset="2"/>
              </a:rPr>
              <a:t>两个集合的并是集合</a:t>
            </a:r>
            <a:r>
              <a:rPr lang="en-US" altLang="zh-CN" sz="1900" dirty="0" smtClean="0">
                <a:latin typeface="+mn-lt"/>
                <a:ea typeface="+mn-ea"/>
                <a:sym typeface="Symbol" panose="05050102010706020507" pitchFamily="18" charset="2"/>
              </a:rPr>
              <a:t>{</a:t>
            </a:r>
            <a:r>
              <a:rPr lang="en-US" altLang="zh-CN" sz="1900" dirty="0" err="1" smtClean="0">
                <a:latin typeface="+mn-lt"/>
                <a:ea typeface="+mn-ea"/>
                <a:sym typeface="Symbol" panose="05050102010706020507" pitchFamily="18" charset="2"/>
              </a:rPr>
              <a:t>x|xA</a:t>
            </a:r>
            <a:r>
              <a:rPr lang="en-US" altLang="zh-CN" sz="1900" dirty="0" smtClean="0">
                <a:latin typeface="+mn-lt"/>
                <a:ea typeface="+mn-ea"/>
                <a:sym typeface="Symbol" panose="05050102010706020507" pitchFamily="18" charset="2"/>
              </a:rPr>
              <a:t> </a:t>
            </a:r>
            <a:r>
              <a:rPr lang="zh-CN" altLang="en-US" sz="1900" dirty="0" smtClean="0">
                <a:latin typeface="+mn-lt"/>
                <a:ea typeface="+mn-ea"/>
                <a:sym typeface="Symbol" panose="05050102010706020507" pitchFamily="18" charset="2"/>
              </a:rPr>
              <a:t>或</a:t>
            </a:r>
            <a:r>
              <a:rPr lang="en-US" altLang="zh-CN" sz="1900" dirty="0" smtClean="0">
                <a:latin typeface="+mn-lt"/>
                <a:ea typeface="+mn-ea"/>
                <a:sym typeface="Symbol" panose="05050102010706020507" pitchFamily="18" charset="2"/>
              </a:rPr>
              <a:t> </a:t>
            </a:r>
            <a:r>
              <a:rPr lang="en-US" altLang="zh-CN" sz="1900" dirty="0" err="1" smtClean="0">
                <a:latin typeface="+mn-lt"/>
                <a:ea typeface="+mn-ea"/>
                <a:sym typeface="Symbol" panose="05050102010706020507" pitchFamily="18" charset="2"/>
              </a:rPr>
              <a:t>xB</a:t>
            </a:r>
            <a:r>
              <a:rPr lang="en-US" altLang="zh-CN" sz="1900" dirty="0" smtClean="0">
                <a:latin typeface="+mn-lt"/>
                <a:ea typeface="+mn-ea"/>
                <a:sym typeface="Symbol" panose="05050102010706020507" pitchFamily="18" charset="2"/>
              </a:rPr>
              <a:t>}</a:t>
            </a:r>
            <a:r>
              <a:rPr lang="zh-CN" altLang="en-US" sz="1900" dirty="0" smtClean="0">
                <a:latin typeface="+mn-lt"/>
                <a:ea typeface="+mn-ea"/>
                <a:sym typeface="Symbol" panose="05050102010706020507" pitchFamily="18" charset="2"/>
              </a:rPr>
              <a:t>，记为</a:t>
            </a:r>
            <a:r>
              <a:rPr lang="en-US" altLang="zh-CN" sz="1900" dirty="0" smtClean="0">
                <a:latin typeface="+mn-lt"/>
                <a:ea typeface="+mn-ea"/>
                <a:sym typeface="Symbol" panose="05050102010706020507" pitchFamily="18" charset="2"/>
              </a:rPr>
              <a:t>AB</a:t>
            </a:r>
            <a:r>
              <a:rPr lang="zh-CN" altLang="en-US" sz="1900" dirty="0" smtClean="0">
                <a:latin typeface="+mn-lt"/>
                <a:ea typeface="+mn-ea"/>
                <a:sym typeface="Symbol" panose="05050102010706020507" pitchFamily="18" charset="2"/>
              </a:rPr>
              <a:t>。</a:t>
            </a:r>
            <a:endParaRPr lang="en-US" altLang="zh-CN" sz="1900" dirty="0" smtClean="0">
              <a:latin typeface="+mn-lt"/>
              <a:ea typeface="+mn-ea"/>
              <a:sym typeface="Symbol" panose="05050102010706020507" pitchFamily="18" charset="2"/>
            </a:endParaRPr>
          </a:p>
          <a:p>
            <a:pPr eaLnBrk="1" hangingPunct="1">
              <a:defRPr/>
            </a:pPr>
            <a:r>
              <a:rPr lang="zh-CN" altLang="en-US" sz="2000" dirty="0" smtClean="0">
                <a:solidFill>
                  <a:srgbClr val="FF0000"/>
                </a:solidFill>
                <a:sym typeface="Symbol" panose="05050102010706020507" pitchFamily="18" charset="2"/>
              </a:rPr>
              <a:t>交集</a:t>
            </a:r>
            <a:endParaRPr lang="en-US" altLang="zh-CN" sz="2000" dirty="0" smtClean="0">
              <a:solidFill>
                <a:srgbClr val="FF0000"/>
              </a:solidFill>
              <a:sym typeface="Symbol" panose="05050102010706020507" pitchFamily="18" charset="2"/>
            </a:endParaRPr>
          </a:p>
          <a:p>
            <a:pPr lvl="1" eaLnBrk="1" hangingPunct="1">
              <a:defRPr/>
            </a:pPr>
            <a:r>
              <a:rPr lang="zh-CN" altLang="en-US" sz="1900" dirty="0" smtClean="0">
                <a:latin typeface="+mn-lt"/>
                <a:ea typeface="+mn-ea"/>
                <a:sym typeface="Symbol" panose="05050102010706020507" pitchFamily="18" charset="2"/>
              </a:rPr>
              <a:t>两个集合的交是集合</a:t>
            </a:r>
            <a:r>
              <a:rPr lang="en-US" altLang="zh-CN" sz="1900" dirty="0" smtClean="0">
                <a:latin typeface="+mn-lt"/>
                <a:ea typeface="+mn-ea"/>
                <a:sym typeface="Symbol" panose="05050102010706020507" pitchFamily="18" charset="2"/>
              </a:rPr>
              <a:t>{</a:t>
            </a:r>
            <a:r>
              <a:rPr lang="en-US" altLang="zh-CN" sz="1900" dirty="0" err="1" smtClean="0">
                <a:latin typeface="+mn-lt"/>
                <a:ea typeface="+mn-ea"/>
                <a:sym typeface="Symbol" panose="05050102010706020507" pitchFamily="18" charset="2"/>
              </a:rPr>
              <a:t>x|xA</a:t>
            </a:r>
            <a:r>
              <a:rPr lang="en-US" altLang="zh-CN" sz="1900" dirty="0" smtClean="0">
                <a:latin typeface="+mn-lt"/>
                <a:ea typeface="+mn-ea"/>
                <a:sym typeface="Symbol" panose="05050102010706020507" pitchFamily="18" charset="2"/>
              </a:rPr>
              <a:t> </a:t>
            </a:r>
            <a:r>
              <a:rPr lang="zh-CN" altLang="en-US" sz="1900" dirty="0" smtClean="0">
                <a:latin typeface="+mn-lt"/>
                <a:ea typeface="+mn-ea"/>
                <a:sym typeface="Symbol" panose="05050102010706020507" pitchFamily="18" charset="2"/>
              </a:rPr>
              <a:t>且</a:t>
            </a:r>
            <a:r>
              <a:rPr lang="en-US" altLang="zh-CN" sz="1900" dirty="0" smtClean="0">
                <a:latin typeface="+mn-lt"/>
                <a:ea typeface="+mn-ea"/>
                <a:sym typeface="Symbol" panose="05050102010706020507" pitchFamily="18" charset="2"/>
              </a:rPr>
              <a:t> </a:t>
            </a:r>
            <a:r>
              <a:rPr lang="en-US" altLang="zh-CN" sz="1900" dirty="0" err="1" smtClean="0">
                <a:latin typeface="+mn-lt"/>
                <a:ea typeface="+mn-ea"/>
                <a:sym typeface="Symbol" panose="05050102010706020507" pitchFamily="18" charset="2"/>
              </a:rPr>
              <a:t>xB</a:t>
            </a:r>
            <a:r>
              <a:rPr lang="en-US" altLang="zh-CN" sz="1900" dirty="0" smtClean="0">
                <a:latin typeface="+mn-lt"/>
                <a:ea typeface="+mn-ea"/>
                <a:sym typeface="Symbol" panose="05050102010706020507" pitchFamily="18" charset="2"/>
              </a:rPr>
              <a:t> </a:t>
            </a:r>
            <a:r>
              <a:rPr lang="zh-CN" altLang="en-US" sz="1900" dirty="0" smtClean="0">
                <a:latin typeface="+mn-lt"/>
                <a:ea typeface="+mn-ea"/>
                <a:sym typeface="Symbol" panose="05050102010706020507" pitchFamily="18" charset="2"/>
              </a:rPr>
              <a:t>，记为</a:t>
            </a:r>
            <a:r>
              <a:rPr lang="en-US" altLang="zh-CN" sz="1900" dirty="0" smtClean="0">
                <a:latin typeface="+mn-lt"/>
                <a:ea typeface="+mn-ea"/>
                <a:sym typeface="Symbol" panose="05050102010706020507" pitchFamily="18" charset="2"/>
              </a:rPr>
              <a:t>AB </a:t>
            </a:r>
            <a:r>
              <a:rPr lang="zh-CN" altLang="en-US" sz="1900" dirty="0" smtClean="0">
                <a:latin typeface="+mn-lt"/>
                <a:ea typeface="+mn-ea"/>
                <a:sym typeface="Symbol" panose="05050102010706020507" pitchFamily="18" charset="2"/>
              </a:rPr>
              <a:t>。两个不相交集合</a:t>
            </a:r>
            <a:r>
              <a:rPr lang="en-US" altLang="zh-CN" sz="1900" dirty="0" smtClean="0">
                <a:latin typeface="+mn-lt"/>
                <a:ea typeface="+mn-ea"/>
                <a:sym typeface="Symbol" panose="05050102010706020507" pitchFamily="18" charset="2"/>
              </a:rPr>
              <a:t>AB =</a:t>
            </a:r>
            <a:r>
              <a:rPr lang="en-US" altLang="zh-CN" sz="1900" dirty="0" smtClean="0">
                <a:latin typeface="+mn-lt"/>
                <a:ea typeface="+mn-ea"/>
              </a:rPr>
              <a:t> </a:t>
            </a:r>
            <a:r>
              <a:rPr lang="en-US" altLang="zh-CN" sz="1900" dirty="0" smtClean="0">
                <a:latin typeface="+mn-lt"/>
                <a:ea typeface="+mn-ea"/>
                <a:sym typeface="Symbol" panose="05050102010706020507" pitchFamily="18" charset="2"/>
              </a:rPr>
              <a:t></a:t>
            </a:r>
            <a:r>
              <a:rPr lang="zh-CN" altLang="en-US" sz="1900" dirty="0" smtClean="0">
                <a:latin typeface="+mn-lt"/>
                <a:ea typeface="+mn-ea"/>
                <a:sym typeface="Symbol" panose="05050102010706020507" pitchFamily="18" charset="2"/>
              </a:rPr>
              <a:t>。</a:t>
            </a:r>
            <a:endParaRPr lang="en-US" altLang="zh-CN" sz="1900" dirty="0" smtClean="0">
              <a:latin typeface="+mn-lt"/>
              <a:ea typeface="+mn-ea"/>
              <a:sym typeface="Symbol" panose="05050102010706020507" pitchFamily="18" charset="2"/>
            </a:endParaRPr>
          </a:p>
          <a:p>
            <a:pPr eaLnBrk="1" hangingPunct="1">
              <a:defRPr/>
            </a:pPr>
            <a:r>
              <a:rPr lang="zh-CN" altLang="en-US" sz="2000" dirty="0" smtClean="0">
                <a:solidFill>
                  <a:srgbClr val="FF0000"/>
                </a:solidFill>
                <a:sym typeface="Symbol" panose="05050102010706020507" pitchFamily="18" charset="2"/>
              </a:rPr>
              <a:t>差集</a:t>
            </a:r>
            <a:r>
              <a:rPr lang="en-US" altLang="zh-CN" sz="2000" dirty="0" smtClean="0">
                <a:sym typeface="Symbol" panose="05050102010706020507" pitchFamily="18" charset="2"/>
              </a:rPr>
              <a:t> </a:t>
            </a:r>
            <a:endParaRPr lang="en-US" altLang="zh-CN" sz="2000" dirty="0" smtClean="0">
              <a:sym typeface="Symbol" panose="05050102010706020507" pitchFamily="18" charset="2"/>
            </a:endParaRPr>
          </a:p>
          <a:p>
            <a:pPr lvl="1" eaLnBrk="1" hangingPunct="1">
              <a:defRPr/>
            </a:pPr>
            <a:r>
              <a:rPr lang="zh-CN" altLang="en-US" sz="1900" dirty="0" smtClean="0">
                <a:latin typeface="+mn-lt"/>
                <a:ea typeface="+mn-ea"/>
                <a:sym typeface="Symbol" panose="05050102010706020507" pitchFamily="18" charset="2"/>
              </a:rPr>
              <a:t>集合</a:t>
            </a:r>
            <a:r>
              <a:rPr lang="en-US" altLang="zh-CN" sz="1900" dirty="0" smtClean="0">
                <a:latin typeface="+mn-lt"/>
                <a:ea typeface="+mn-ea"/>
                <a:sym typeface="Symbol" panose="05050102010706020507" pitchFamily="18" charset="2"/>
              </a:rPr>
              <a:t>A</a:t>
            </a:r>
            <a:r>
              <a:rPr lang="zh-CN" altLang="en-US" sz="1900" dirty="0" smtClean="0">
                <a:latin typeface="+mn-lt"/>
                <a:ea typeface="+mn-ea"/>
                <a:sym typeface="Symbol" panose="05050102010706020507" pitchFamily="18" charset="2"/>
              </a:rPr>
              <a:t>和集合</a:t>
            </a:r>
            <a:r>
              <a:rPr lang="en-US" altLang="zh-CN" sz="1900" dirty="0" smtClean="0">
                <a:latin typeface="+mn-lt"/>
                <a:ea typeface="+mn-ea"/>
                <a:sym typeface="Symbol" panose="05050102010706020507" pitchFamily="18" charset="2"/>
              </a:rPr>
              <a:t>B</a:t>
            </a:r>
            <a:r>
              <a:rPr lang="zh-CN" altLang="en-US" sz="1900" dirty="0" smtClean="0">
                <a:latin typeface="+mn-lt"/>
                <a:ea typeface="+mn-ea"/>
                <a:sym typeface="Symbol" panose="05050102010706020507" pitchFamily="18" charset="2"/>
              </a:rPr>
              <a:t>的差是集合</a:t>
            </a:r>
            <a:r>
              <a:rPr lang="en-US" altLang="zh-CN" sz="1900" dirty="0" smtClean="0">
                <a:latin typeface="+mn-lt"/>
                <a:ea typeface="+mn-ea"/>
                <a:sym typeface="Symbol" panose="05050102010706020507" pitchFamily="18" charset="2"/>
              </a:rPr>
              <a:t>{</a:t>
            </a:r>
            <a:r>
              <a:rPr lang="en-US" altLang="zh-CN" sz="1900" dirty="0" err="1" smtClean="0">
                <a:latin typeface="+mn-lt"/>
                <a:ea typeface="+mn-ea"/>
                <a:sym typeface="Symbol" panose="05050102010706020507" pitchFamily="18" charset="2"/>
              </a:rPr>
              <a:t>x|xA</a:t>
            </a:r>
            <a:r>
              <a:rPr lang="en-US" altLang="zh-CN" sz="1900" dirty="0" smtClean="0">
                <a:latin typeface="+mn-lt"/>
                <a:ea typeface="+mn-ea"/>
                <a:sym typeface="Symbol" panose="05050102010706020507" pitchFamily="18" charset="2"/>
              </a:rPr>
              <a:t> </a:t>
            </a:r>
            <a:r>
              <a:rPr lang="zh-CN" altLang="en-US" sz="1900" dirty="0" smtClean="0">
                <a:latin typeface="+mn-lt"/>
                <a:ea typeface="+mn-ea"/>
                <a:sym typeface="Symbol" panose="05050102010706020507" pitchFamily="18" charset="2"/>
              </a:rPr>
              <a:t>且 </a:t>
            </a:r>
            <a:r>
              <a:rPr lang="en-US" altLang="zh-CN" sz="1900" dirty="0" err="1" smtClean="0">
                <a:latin typeface="+mn-lt"/>
                <a:ea typeface="+mn-ea"/>
                <a:sym typeface="Symbol" panose="05050102010706020507" pitchFamily="18" charset="2"/>
              </a:rPr>
              <a:t>xB</a:t>
            </a:r>
            <a:r>
              <a:rPr lang="en-US" altLang="zh-CN" sz="1900" dirty="0" smtClean="0">
                <a:latin typeface="+mn-lt"/>
                <a:ea typeface="+mn-ea"/>
                <a:sym typeface="Symbol" panose="05050102010706020507" pitchFamily="18" charset="2"/>
              </a:rPr>
              <a:t>}</a:t>
            </a:r>
            <a:r>
              <a:rPr lang="zh-CN" altLang="en-US" sz="1900" dirty="0" smtClean="0">
                <a:latin typeface="+mn-lt"/>
                <a:ea typeface="+mn-ea"/>
                <a:sym typeface="Symbol" panose="05050102010706020507" pitchFamily="18" charset="2"/>
              </a:rPr>
              <a:t>，记为</a:t>
            </a:r>
            <a:r>
              <a:rPr lang="en-US" altLang="zh-CN" sz="1900" dirty="0" smtClean="0">
                <a:latin typeface="+mn-lt"/>
                <a:ea typeface="+mn-ea"/>
                <a:sym typeface="Symbol" panose="05050102010706020507" pitchFamily="18" charset="2"/>
              </a:rPr>
              <a:t> A-B</a:t>
            </a:r>
            <a:r>
              <a:rPr lang="zh-CN" altLang="en-US" sz="1900" dirty="0" smtClean="0">
                <a:latin typeface="+mn-lt"/>
                <a:ea typeface="+mn-ea"/>
                <a:sym typeface="Symbol" panose="05050102010706020507" pitchFamily="18" charset="2"/>
              </a:rPr>
              <a:t>。</a:t>
            </a:r>
            <a:endParaRPr lang="en-US" altLang="zh-CN" sz="1900" dirty="0" smtClean="0">
              <a:latin typeface="+mn-lt"/>
              <a:ea typeface="+mn-ea"/>
              <a:sym typeface="Symbol" panose="05050102010706020507" pitchFamily="18" charset="2"/>
            </a:endParaRPr>
          </a:p>
          <a:p>
            <a:pPr eaLnBrk="1" hangingPunct="1">
              <a:defRPr/>
            </a:pPr>
            <a:r>
              <a:rPr lang="zh-CN" altLang="en-US" sz="2000" dirty="0" smtClean="0">
                <a:solidFill>
                  <a:srgbClr val="FF0000"/>
                </a:solidFill>
                <a:sym typeface="Symbol" panose="05050102010706020507" pitchFamily="18" charset="2"/>
              </a:rPr>
              <a:t>补集</a:t>
            </a:r>
            <a:endParaRPr lang="en-US" altLang="zh-CN" sz="2000" dirty="0" smtClean="0">
              <a:sym typeface="Symbol" panose="05050102010706020507" pitchFamily="18" charset="2"/>
            </a:endParaRPr>
          </a:p>
          <a:p>
            <a:pPr lvl="1" eaLnBrk="1" hangingPunct="1">
              <a:defRPr/>
            </a:pPr>
            <a:r>
              <a:rPr lang="zh-CN" altLang="en-US" sz="1900" dirty="0" smtClean="0">
                <a:latin typeface="+mn-lt"/>
                <a:ea typeface="+mn-ea"/>
                <a:sym typeface="Symbol" panose="05050102010706020507" pitchFamily="18" charset="2"/>
              </a:rPr>
              <a:t>集合</a:t>
            </a:r>
            <a:r>
              <a:rPr lang="en-US" altLang="zh-CN" sz="1900" dirty="0" smtClean="0">
                <a:latin typeface="+mn-lt"/>
                <a:ea typeface="+mn-ea"/>
                <a:sym typeface="Symbol" panose="05050102010706020507" pitchFamily="18" charset="2"/>
              </a:rPr>
              <a:t>A</a:t>
            </a:r>
            <a:r>
              <a:rPr lang="zh-CN" altLang="en-US" sz="1900" dirty="0" smtClean="0">
                <a:latin typeface="+mn-lt"/>
                <a:ea typeface="+mn-ea"/>
                <a:sym typeface="Symbol" panose="05050102010706020507" pitchFamily="18" charset="2"/>
              </a:rPr>
              <a:t>的补集定义为</a:t>
            </a:r>
            <a:r>
              <a:rPr lang="en-US" altLang="zh-CN" sz="1900" dirty="0" smtClean="0">
                <a:latin typeface="+mn-lt"/>
                <a:ea typeface="+mn-ea"/>
                <a:sym typeface="Symbol" panose="05050102010706020507" pitchFamily="18" charset="2"/>
              </a:rPr>
              <a:t>U-A</a:t>
            </a:r>
            <a:r>
              <a:rPr lang="zh-CN" altLang="en-US" sz="1900" dirty="0" smtClean="0">
                <a:latin typeface="+mn-lt"/>
                <a:ea typeface="+mn-ea"/>
                <a:sym typeface="Symbol" panose="05050102010706020507" pitchFamily="18" charset="2"/>
              </a:rPr>
              <a:t>，这里</a:t>
            </a:r>
            <a:r>
              <a:rPr lang="en-US" altLang="zh-CN" sz="1900" dirty="0" smtClean="0">
                <a:latin typeface="+mn-lt"/>
                <a:ea typeface="+mn-ea"/>
                <a:sym typeface="Symbol" panose="05050102010706020507" pitchFamily="18" charset="2"/>
              </a:rPr>
              <a:t>U</a:t>
            </a:r>
            <a:r>
              <a:rPr lang="zh-CN" altLang="en-US" sz="1900" dirty="0" smtClean="0">
                <a:latin typeface="+mn-lt"/>
                <a:ea typeface="+mn-ea"/>
                <a:sym typeface="Symbol" panose="05050102010706020507" pitchFamily="18" charset="2"/>
              </a:rPr>
              <a:t>是包含</a:t>
            </a:r>
            <a:r>
              <a:rPr lang="en-US" altLang="zh-CN" sz="1900" dirty="0" smtClean="0">
                <a:latin typeface="+mn-lt"/>
                <a:ea typeface="+mn-ea"/>
                <a:sym typeface="Symbol" panose="05050102010706020507" pitchFamily="18" charset="2"/>
              </a:rPr>
              <a:t>A</a:t>
            </a:r>
            <a:r>
              <a:rPr lang="zh-CN" altLang="en-US" sz="1900" dirty="0" smtClean="0">
                <a:latin typeface="+mn-lt"/>
                <a:ea typeface="+mn-ea"/>
                <a:sym typeface="Symbol" panose="05050102010706020507" pitchFamily="18" charset="2"/>
              </a:rPr>
              <a:t>在内的全集，它通常可以从上下文中知道，</a:t>
            </a:r>
            <a:r>
              <a:rPr lang="en-US" altLang="zh-CN" sz="1900" dirty="0" smtClean="0">
                <a:latin typeface="+mn-lt"/>
                <a:ea typeface="+mn-ea"/>
                <a:sym typeface="Symbol" panose="05050102010706020507" pitchFamily="18" charset="2"/>
              </a:rPr>
              <a:t>A</a:t>
            </a:r>
            <a:r>
              <a:rPr lang="zh-CN" altLang="en-US" sz="1900" dirty="0" smtClean="0">
                <a:latin typeface="+mn-lt"/>
                <a:ea typeface="+mn-ea"/>
                <a:sym typeface="Symbol" panose="05050102010706020507" pitchFamily="18" charset="2"/>
              </a:rPr>
              <a:t>的补集可以记为</a:t>
            </a:r>
            <a:r>
              <a:rPr lang="en-US" altLang="zh-CN" sz="1900" dirty="0" smtClean="0">
                <a:latin typeface="+mn-lt"/>
                <a:ea typeface="+mn-ea"/>
                <a:sym typeface="Symbol" panose="05050102010706020507" pitchFamily="18" charset="2"/>
              </a:rPr>
              <a:t>Ā</a:t>
            </a:r>
            <a:r>
              <a:rPr lang="zh-CN" altLang="en-US" sz="1900" dirty="0" smtClean="0">
                <a:latin typeface="+mn-lt"/>
                <a:ea typeface="+mn-ea"/>
                <a:sym typeface="Symbol" panose="05050102010706020507" pitchFamily="18" charset="2"/>
              </a:rPr>
              <a:t>。</a:t>
            </a:r>
            <a:endParaRPr lang="en-US" altLang="zh-CN" sz="1900" dirty="0" smtClean="0">
              <a:latin typeface="+mn-lt"/>
              <a:ea typeface="+mn-ea"/>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16387" name="Rectangle 2"/>
          <p:cNvSpPr>
            <a:spLocks noGrp="1" noChangeArrowheads="1"/>
          </p:cNvSpPr>
          <p:nvPr>
            <p:ph type="title"/>
          </p:nvPr>
        </p:nvSpPr>
        <p:spPr/>
        <p:txBody>
          <a:bodyPr/>
          <a:lstStyle/>
          <a:p>
            <a:pPr eaLnBrk="1" hangingPunct="1"/>
            <a:r>
              <a:rPr lang="en-US" altLang="zh-CN" b="0" dirty="0">
                <a:latin typeface="+mn-ea"/>
              </a:rPr>
              <a:t>1.3.1 </a:t>
            </a:r>
            <a:r>
              <a:rPr lang="zh-CN" altLang="en-US" b="0" dirty="0">
                <a:latin typeface="+mn-ea"/>
              </a:rPr>
              <a:t>集合、</a:t>
            </a:r>
            <a:r>
              <a:rPr lang="zh-CN" altLang="en-US" u="sng" dirty="0">
                <a:latin typeface="+mn-ea"/>
              </a:rPr>
              <a:t>关系</a:t>
            </a:r>
            <a:r>
              <a:rPr lang="zh-CN" altLang="en-US" b="0" dirty="0">
                <a:latin typeface="+mn-ea"/>
              </a:rPr>
              <a:t>、函数</a:t>
            </a:r>
            <a:endParaRPr lang="en-US" altLang="zh-CN" dirty="0" smtClean="0"/>
          </a:p>
        </p:txBody>
      </p:sp>
      <p:sp>
        <p:nvSpPr>
          <p:cNvPr id="94211" name="Rectangle 3"/>
          <p:cNvSpPr>
            <a:spLocks noGrp="1" noChangeArrowheads="1"/>
          </p:cNvSpPr>
          <p:nvPr>
            <p:ph type="body" idx="1"/>
          </p:nvPr>
        </p:nvSpPr>
        <p:spPr/>
        <p:txBody>
          <a:bodyPr/>
          <a:lstStyle/>
          <a:p>
            <a:pPr eaLnBrk="1" hangingPunct="1">
              <a:defRPr/>
            </a:pPr>
            <a:r>
              <a:rPr lang="zh-CN" altLang="en-US" dirty="0" smtClean="0">
                <a:solidFill>
                  <a:srgbClr val="FF0000"/>
                </a:solidFill>
              </a:rPr>
              <a:t>有序</a:t>
            </a:r>
            <a:r>
              <a:rPr lang="en-US" altLang="zh-CN" dirty="0" smtClean="0">
                <a:solidFill>
                  <a:srgbClr val="FF0000"/>
                </a:solidFill>
              </a:rPr>
              <a:t>n</a:t>
            </a:r>
            <a:r>
              <a:rPr lang="zh-CN" altLang="en-US" dirty="0" smtClean="0">
                <a:solidFill>
                  <a:srgbClr val="FF0000"/>
                </a:solidFill>
              </a:rPr>
              <a:t>元组</a:t>
            </a:r>
            <a:r>
              <a:rPr lang="en-US" altLang="zh-CN" dirty="0" smtClean="0">
                <a:solidFill>
                  <a:srgbClr val="FF0000"/>
                </a:solidFill>
              </a:rPr>
              <a:t> </a:t>
            </a:r>
            <a:endParaRPr lang="en-US" altLang="zh-CN" dirty="0" smtClean="0">
              <a:solidFill>
                <a:srgbClr val="FF0000"/>
              </a:solidFill>
            </a:endParaRPr>
          </a:p>
          <a:p>
            <a:pPr lvl="1" eaLnBrk="1" hangingPunct="1">
              <a:defRPr/>
            </a:pPr>
            <a:r>
              <a:rPr lang="zh-CN" altLang="en-US" sz="2000" dirty="0" smtClean="0">
                <a:latin typeface="+mn-lt"/>
                <a:ea typeface="+mn-ea"/>
              </a:rPr>
              <a:t>有序</a:t>
            </a:r>
            <a:r>
              <a:rPr lang="en-US" altLang="zh-CN" sz="2000" dirty="0" smtClean="0">
                <a:latin typeface="+mn-lt"/>
                <a:ea typeface="+mn-ea"/>
              </a:rPr>
              <a:t>n</a:t>
            </a:r>
            <a:r>
              <a:rPr lang="zh-CN" altLang="en-US" sz="2000" dirty="0" smtClean="0">
                <a:latin typeface="+mn-lt"/>
                <a:ea typeface="+mn-ea"/>
              </a:rPr>
              <a:t>元组</a:t>
            </a:r>
            <a:r>
              <a:rPr lang="en-US" altLang="zh-CN" sz="2000" dirty="0" smtClean="0">
                <a:latin typeface="+mn-lt"/>
                <a:ea typeface="+mn-ea"/>
              </a:rPr>
              <a:t>(a</a:t>
            </a:r>
            <a:r>
              <a:rPr lang="en-US" altLang="zh-CN" sz="2000" baseline="-25000" dirty="0" smtClean="0">
                <a:latin typeface="+mn-lt"/>
                <a:ea typeface="+mn-ea"/>
              </a:rPr>
              <a:t>1</a:t>
            </a:r>
            <a:r>
              <a:rPr lang="en-US" altLang="zh-CN" sz="2000" dirty="0" smtClean="0">
                <a:latin typeface="+mn-lt"/>
                <a:ea typeface="+mn-ea"/>
              </a:rPr>
              <a:t>,a</a:t>
            </a:r>
            <a:r>
              <a:rPr lang="en-US" altLang="zh-CN" sz="2000" baseline="-25000" dirty="0" smtClean="0">
                <a:latin typeface="+mn-lt"/>
                <a:ea typeface="+mn-ea"/>
              </a:rPr>
              <a:t>2</a:t>
            </a:r>
            <a:r>
              <a:rPr lang="en-US" altLang="zh-CN" sz="2000" dirty="0" smtClean="0">
                <a:latin typeface="+mn-lt"/>
                <a:ea typeface="+mn-ea"/>
              </a:rPr>
              <a:t>,…,a</a:t>
            </a:r>
            <a:r>
              <a:rPr lang="en-US" altLang="zh-CN" sz="2000" baseline="-25000" dirty="0" smtClean="0">
                <a:latin typeface="+mn-lt"/>
                <a:ea typeface="+mn-ea"/>
              </a:rPr>
              <a:t>n</a:t>
            </a:r>
            <a:r>
              <a:rPr lang="en-US" altLang="zh-CN" sz="2000" dirty="0" smtClean="0">
                <a:latin typeface="+mn-lt"/>
                <a:ea typeface="+mn-ea"/>
              </a:rPr>
              <a:t>)</a:t>
            </a:r>
            <a:r>
              <a:rPr lang="zh-CN" altLang="en-US" sz="2000" dirty="0" smtClean="0">
                <a:latin typeface="+mn-lt"/>
                <a:ea typeface="+mn-ea"/>
              </a:rPr>
              <a:t>是一个</a:t>
            </a:r>
            <a:r>
              <a:rPr lang="zh-CN" altLang="en-US" sz="2000" dirty="0" smtClean="0">
                <a:solidFill>
                  <a:srgbClr val="FF0000"/>
                </a:solidFill>
                <a:latin typeface="+mn-lt"/>
                <a:ea typeface="+mn-ea"/>
              </a:rPr>
              <a:t>有序集</a:t>
            </a:r>
            <a:r>
              <a:rPr lang="zh-CN" altLang="en-US" sz="2000" dirty="0" smtClean="0">
                <a:latin typeface="+mn-lt"/>
                <a:ea typeface="+mn-ea"/>
              </a:rPr>
              <a:t>，其中</a:t>
            </a:r>
            <a:r>
              <a:rPr lang="en-US" altLang="zh-CN" sz="2000" dirty="0" smtClean="0">
                <a:latin typeface="+mn-lt"/>
                <a:ea typeface="+mn-ea"/>
              </a:rPr>
              <a:t>a</a:t>
            </a:r>
            <a:r>
              <a:rPr lang="en-US" altLang="zh-CN" sz="2000" baseline="-25000" dirty="0" smtClean="0">
                <a:latin typeface="+mn-lt"/>
                <a:ea typeface="+mn-ea"/>
              </a:rPr>
              <a:t>1</a:t>
            </a:r>
            <a:r>
              <a:rPr lang="en-US" altLang="zh-CN" sz="2000" dirty="0" smtClean="0">
                <a:latin typeface="+mn-lt"/>
                <a:ea typeface="+mn-ea"/>
              </a:rPr>
              <a:t> </a:t>
            </a:r>
            <a:r>
              <a:rPr lang="zh-CN" altLang="en-US" sz="2000" dirty="0" smtClean="0">
                <a:latin typeface="+mn-lt"/>
                <a:ea typeface="+mn-ea"/>
              </a:rPr>
              <a:t>是它的第一个元素</a:t>
            </a:r>
            <a:r>
              <a:rPr lang="en-US" altLang="zh-CN" sz="2000" dirty="0" smtClean="0">
                <a:latin typeface="+mn-lt"/>
                <a:ea typeface="+mn-ea"/>
              </a:rPr>
              <a:t>, a</a:t>
            </a:r>
            <a:r>
              <a:rPr lang="en-US" altLang="zh-CN" sz="2000" baseline="-25000" dirty="0" smtClean="0">
                <a:latin typeface="+mn-lt"/>
                <a:ea typeface="+mn-ea"/>
              </a:rPr>
              <a:t>2</a:t>
            </a:r>
            <a:r>
              <a:rPr lang="en-US" altLang="zh-CN" sz="2000" dirty="0" smtClean="0">
                <a:latin typeface="+mn-lt"/>
                <a:ea typeface="+mn-ea"/>
              </a:rPr>
              <a:t> </a:t>
            </a:r>
            <a:r>
              <a:rPr lang="zh-CN" altLang="en-US" sz="2000" dirty="0" smtClean="0">
                <a:latin typeface="+mn-lt"/>
                <a:ea typeface="+mn-ea"/>
              </a:rPr>
              <a:t>是它的第二个元素</a:t>
            </a:r>
            <a:r>
              <a:rPr lang="en-US" altLang="zh-CN" sz="2000" dirty="0" smtClean="0">
                <a:latin typeface="+mn-lt"/>
                <a:ea typeface="+mn-ea"/>
              </a:rPr>
              <a:t>…, a</a:t>
            </a:r>
            <a:r>
              <a:rPr lang="en-US" altLang="zh-CN" sz="2000" baseline="-25000" dirty="0" smtClean="0">
                <a:latin typeface="+mn-lt"/>
                <a:ea typeface="+mn-ea"/>
              </a:rPr>
              <a:t>n</a:t>
            </a:r>
            <a:r>
              <a:rPr lang="en-US" altLang="zh-CN" sz="2000" dirty="0" smtClean="0">
                <a:latin typeface="+mn-lt"/>
                <a:ea typeface="+mn-ea"/>
              </a:rPr>
              <a:t> </a:t>
            </a:r>
            <a:r>
              <a:rPr lang="zh-CN" altLang="en-US" sz="2000" dirty="0" smtClean="0">
                <a:latin typeface="+mn-lt"/>
                <a:ea typeface="+mn-ea"/>
              </a:rPr>
              <a:t>是它的第</a:t>
            </a:r>
            <a:r>
              <a:rPr lang="en-US" altLang="zh-CN" sz="2000" dirty="0" smtClean="0">
                <a:latin typeface="+mn-lt"/>
                <a:ea typeface="+mn-ea"/>
              </a:rPr>
              <a:t>n</a:t>
            </a:r>
            <a:r>
              <a:rPr lang="zh-CN" altLang="en-US" sz="2000" dirty="0" smtClean="0">
                <a:latin typeface="+mn-lt"/>
                <a:ea typeface="+mn-ea"/>
              </a:rPr>
              <a:t>个元素。作为特列，</a:t>
            </a:r>
            <a:r>
              <a:rPr lang="zh-CN" altLang="en-US" sz="2000" dirty="0" smtClean="0">
                <a:solidFill>
                  <a:srgbClr val="FF0000"/>
                </a:solidFill>
                <a:latin typeface="+mn-lt"/>
                <a:ea typeface="+mn-ea"/>
              </a:rPr>
              <a:t>二元组</a:t>
            </a:r>
            <a:r>
              <a:rPr lang="zh-CN" altLang="en-US" sz="2000" dirty="0" smtClean="0">
                <a:latin typeface="+mn-lt"/>
                <a:ea typeface="+mn-ea"/>
              </a:rPr>
              <a:t>称为</a:t>
            </a:r>
            <a:r>
              <a:rPr lang="zh-CN" altLang="en-US" sz="2000" dirty="0" smtClean="0">
                <a:solidFill>
                  <a:srgbClr val="FF0000"/>
                </a:solidFill>
                <a:latin typeface="+mn-lt"/>
                <a:ea typeface="+mn-ea"/>
              </a:rPr>
              <a:t>有序对</a:t>
            </a:r>
            <a:r>
              <a:rPr lang="zh-CN" altLang="en-US" sz="2000" dirty="0" smtClean="0">
                <a:latin typeface="+mn-lt"/>
                <a:ea typeface="+mn-ea"/>
              </a:rPr>
              <a:t>。</a:t>
            </a:r>
            <a:endParaRPr lang="en-US" altLang="zh-CN" sz="2000" dirty="0" smtClean="0">
              <a:latin typeface="+mn-lt"/>
              <a:ea typeface="+mn-ea"/>
            </a:endParaRPr>
          </a:p>
          <a:p>
            <a:pPr eaLnBrk="1" hangingPunct="1">
              <a:defRPr/>
            </a:pPr>
            <a:r>
              <a:rPr lang="zh-CN" altLang="en-US" dirty="0" smtClean="0">
                <a:solidFill>
                  <a:srgbClr val="FF0000"/>
                </a:solidFill>
              </a:rPr>
              <a:t>笛卡尔积</a:t>
            </a:r>
            <a:endParaRPr lang="en-US" altLang="zh-CN" dirty="0" smtClean="0"/>
          </a:p>
          <a:p>
            <a:pPr lvl="1" eaLnBrk="1" hangingPunct="1">
              <a:defRPr/>
            </a:pPr>
            <a:r>
              <a:rPr lang="zh-CN" altLang="en-US" sz="2000" dirty="0" smtClean="0">
                <a:latin typeface="+mn-lt"/>
                <a:ea typeface="+mn-ea"/>
              </a:rPr>
              <a:t>令</a:t>
            </a:r>
            <a:r>
              <a:rPr lang="en-US" altLang="zh-CN" sz="2000" dirty="0" smtClean="0">
                <a:latin typeface="+mn-lt"/>
                <a:ea typeface="+mn-ea"/>
              </a:rPr>
              <a:t>A</a:t>
            </a:r>
            <a:r>
              <a:rPr lang="zh-CN" altLang="en-US" sz="2000" dirty="0" smtClean="0">
                <a:latin typeface="+mn-lt"/>
                <a:ea typeface="+mn-ea"/>
              </a:rPr>
              <a:t>和</a:t>
            </a:r>
            <a:r>
              <a:rPr lang="en-US" altLang="zh-CN" sz="2000" dirty="0" smtClean="0">
                <a:latin typeface="+mn-lt"/>
                <a:ea typeface="+mn-ea"/>
              </a:rPr>
              <a:t>B</a:t>
            </a:r>
            <a:r>
              <a:rPr lang="zh-CN" altLang="en-US" sz="2000" dirty="0" smtClean="0">
                <a:latin typeface="+mn-lt"/>
                <a:ea typeface="+mn-ea"/>
              </a:rPr>
              <a:t>是两个集合，</a:t>
            </a:r>
            <a:r>
              <a:rPr lang="en-US" altLang="zh-CN" sz="2000" dirty="0" smtClean="0">
                <a:latin typeface="+mn-lt"/>
                <a:ea typeface="+mn-ea"/>
              </a:rPr>
              <a:t>A</a:t>
            </a:r>
            <a:r>
              <a:rPr lang="zh-CN" altLang="en-US" sz="2000" dirty="0" smtClean="0">
                <a:latin typeface="+mn-lt"/>
                <a:ea typeface="+mn-ea"/>
              </a:rPr>
              <a:t>和</a:t>
            </a:r>
            <a:r>
              <a:rPr lang="en-US" altLang="zh-CN" sz="2000" dirty="0" smtClean="0">
                <a:latin typeface="+mn-lt"/>
                <a:ea typeface="+mn-ea"/>
              </a:rPr>
              <a:t>B</a:t>
            </a:r>
            <a:r>
              <a:rPr lang="zh-CN" altLang="en-US" sz="2000" dirty="0" smtClean="0">
                <a:latin typeface="+mn-lt"/>
                <a:ea typeface="+mn-ea"/>
              </a:rPr>
              <a:t>的笛卡尔积是所有有序对</a:t>
            </a:r>
            <a:r>
              <a:rPr lang="en-US" altLang="zh-CN" sz="2000" dirty="0" smtClean="0">
                <a:latin typeface="+mn-lt"/>
                <a:ea typeface="+mn-ea"/>
                <a:sym typeface="Symbol" panose="05050102010706020507" pitchFamily="18" charset="2"/>
              </a:rPr>
              <a:t>(</a:t>
            </a:r>
            <a:r>
              <a:rPr lang="en-US" altLang="zh-CN" sz="2000" dirty="0" err="1" smtClean="0">
                <a:latin typeface="+mn-lt"/>
                <a:ea typeface="+mn-ea"/>
                <a:sym typeface="Symbol" panose="05050102010706020507" pitchFamily="18" charset="2"/>
              </a:rPr>
              <a:t>a,b</a:t>
            </a:r>
            <a:r>
              <a:rPr lang="en-US" altLang="zh-CN" sz="2000" dirty="0" smtClean="0">
                <a:latin typeface="+mn-lt"/>
                <a:ea typeface="+mn-ea"/>
                <a:sym typeface="Symbol" panose="05050102010706020507" pitchFamily="18" charset="2"/>
              </a:rPr>
              <a:t>) </a:t>
            </a:r>
            <a:r>
              <a:rPr lang="zh-CN" altLang="en-US" sz="2000" dirty="0" smtClean="0">
                <a:latin typeface="+mn-lt"/>
                <a:ea typeface="+mn-ea"/>
                <a:sym typeface="Symbol" panose="05050102010706020507" pitchFamily="18" charset="2"/>
              </a:rPr>
              <a:t>的集合，这里</a:t>
            </a:r>
            <a:r>
              <a:rPr lang="en-US" altLang="zh-CN" sz="2000" dirty="0" err="1" smtClean="0">
                <a:latin typeface="+mn-lt"/>
                <a:ea typeface="+mn-ea"/>
                <a:sym typeface="Symbol" panose="05050102010706020507" pitchFamily="18" charset="2"/>
              </a:rPr>
              <a:t>aA</a:t>
            </a:r>
            <a:r>
              <a:rPr lang="en-US" altLang="zh-CN" sz="2000" dirty="0" smtClean="0">
                <a:latin typeface="+mn-lt"/>
                <a:ea typeface="+mn-ea"/>
                <a:sym typeface="Symbol" panose="05050102010706020507" pitchFamily="18" charset="2"/>
              </a:rPr>
              <a:t> </a:t>
            </a:r>
            <a:r>
              <a:rPr lang="zh-CN" altLang="en-US" sz="2000" dirty="0" smtClean="0">
                <a:latin typeface="+mn-lt"/>
                <a:ea typeface="+mn-ea"/>
                <a:sym typeface="Symbol" panose="05050102010706020507" pitchFamily="18" charset="2"/>
              </a:rPr>
              <a:t>，</a:t>
            </a:r>
            <a:r>
              <a:rPr lang="en-US" altLang="zh-CN" sz="2000" dirty="0" smtClean="0">
                <a:latin typeface="+mn-lt"/>
                <a:ea typeface="+mn-ea"/>
                <a:sym typeface="Symbol" panose="05050102010706020507" pitchFamily="18" charset="2"/>
              </a:rPr>
              <a:t> </a:t>
            </a:r>
            <a:r>
              <a:rPr lang="en-US" altLang="zh-CN" sz="2000" dirty="0" err="1" smtClean="0">
                <a:latin typeface="+mn-lt"/>
                <a:ea typeface="+mn-ea"/>
                <a:sym typeface="Symbol" panose="05050102010706020507" pitchFamily="18" charset="2"/>
              </a:rPr>
              <a:t>bB</a:t>
            </a:r>
            <a:r>
              <a:rPr lang="zh-CN" altLang="en-US" sz="2000" dirty="0" smtClean="0">
                <a:latin typeface="+mn-lt"/>
                <a:ea typeface="+mn-ea"/>
                <a:sym typeface="Symbol" panose="05050102010706020507" pitchFamily="18" charset="2"/>
              </a:rPr>
              <a:t>，笛卡尔积记为</a:t>
            </a:r>
            <a:r>
              <a:rPr lang="en-US" altLang="zh-CN" sz="2000" dirty="0" smtClean="0">
                <a:latin typeface="+mn-lt"/>
                <a:ea typeface="+mn-ea"/>
              </a:rPr>
              <a:t>A</a:t>
            </a:r>
            <a:r>
              <a:rPr lang="en-US" altLang="zh-CN" sz="2000" dirty="0" smtClean="0">
                <a:latin typeface="+mn-lt"/>
                <a:ea typeface="+mn-ea"/>
                <a:sym typeface="Symbol" panose="05050102010706020507" pitchFamily="18" charset="2"/>
              </a:rPr>
              <a:t>B</a:t>
            </a:r>
            <a:r>
              <a:rPr lang="zh-CN" altLang="en-US" sz="2000" dirty="0" smtClean="0">
                <a:latin typeface="+mn-lt"/>
                <a:ea typeface="+mn-ea"/>
                <a:sym typeface="Symbol" panose="05050102010706020507" pitchFamily="18" charset="2"/>
              </a:rPr>
              <a:t>。用集合符号表示：</a:t>
            </a:r>
            <a:r>
              <a:rPr lang="en-US" altLang="zh-CN" sz="2000" dirty="0" smtClean="0">
                <a:latin typeface="+mn-lt"/>
                <a:ea typeface="+mn-ea"/>
                <a:sym typeface="Symbol" panose="05050102010706020507" pitchFamily="18" charset="2"/>
              </a:rPr>
              <a:t>                    </a:t>
            </a:r>
            <a:endParaRPr lang="en-US" altLang="zh-CN" sz="2000" dirty="0" smtClean="0">
              <a:latin typeface="+mn-lt"/>
              <a:ea typeface="+mn-ea"/>
              <a:sym typeface="Symbol" panose="05050102010706020507" pitchFamily="18" charset="2"/>
            </a:endParaRPr>
          </a:p>
          <a:p>
            <a:pPr lvl="1" eaLnBrk="1" hangingPunct="1">
              <a:buFontTx/>
              <a:buNone/>
              <a:defRPr/>
            </a:pPr>
            <a:r>
              <a:rPr lang="en-US" altLang="zh-CN" sz="2000" dirty="0" smtClean="0">
                <a:latin typeface="+mn-lt"/>
                <a:ea typeface="+mn-ea"/>
                <a:sym typeface="Symbol" panose="05050102010706020507" pitchFamily="18" charset="2"/>
              </a:rPr>
              <a:t>            </a:t>
            </a:r>
            <a:r>
              <a:rPr lang="en-US" altLang="zh-CN" sz="2000" dirty="0" smtClean="0">
                <a:solidFill>
                  <a:srgbClr val="FF0000"/>
                </a:solidFill>
                <a:latin typeface="+mn-lt"/>
                <a:ea typeface="+mn-ea"/>
                <a:sym typeface="Symbol" panose="05050102010706020507" pitchFamily="18" charset="2"/>
              </a:rPr>
              <a:t> </a:t>
            </a:r>
            <a:r>
              <a:rPr lang="en-US" altLang="zh-CN" sz="2000" dirty="0" smtClean="0">
                <a:solidFill>
                  <a:srgbClr val="FF0000"/>
                </a:solidFill>
                <a:latin typeface="+mn-lt"/>
                <a:ea typeface="+mn-ea"/>
              </a:rPr>
              <a:t>A</a:t>
            </a:r>
            <a:r>
              <a:rPr lang="en-US" altLang="zh-CN" sz="2000" dirty="0" smtClean="0">
                <a:solidFill>
                  <a:srgbClr val="FF0000"/>
                </a:solidFill>
                <a:latin typeface="+mn-lt"/>
                <a:ea typeface="+mn-ea"/>
                <a:sym typeface="Symbol" panose="05050102010706020507" pitchFamily="18" charset="2"/>
              </a:rPr>
              <a:t>B={(</a:t>
            </a:r>
            <a:r>
              <a:rPr lang="en-US" altLang="zh-CN" sz="2000" dirty="0" err="1" smtClean="0">
                <a:solidFill>
                  <a:srgbClr val="FF0000"/>
                </a:solidFill>
                <a:latin typeface="+mn-lt"/>
                <a:ea typeface="+mn-ea"/>
                <a:sym typeface="Symbol" panose="05050102010706020507" pitchFamily="18" charset="2"/>
              </a:rPr>
              <a:t>a,b</a:t>
            </a:r>
            <a:r>
              <a:rPr lang="en-US" altLang="zh-CN" sz="2000" dirty="0" smtClean="0">
                <a:solidFill>
                  <a:srgbClr val="FF0000"/>
                </a:solidFill>
                <a:latin typeface="+mn-lt"/>
                <a:ea typeface="+mn-ea"/>
                <a:sym typeface="Symbol" panose="05050102010706020507" pitchFamily="18" charset="2"/>
              </a:rPr>
              <a:t>)| </a:t>
            </a:r>
            <a:r>
              <a:rPr lang="en-US" altLang="zh-CN" sz="2000" dirty="0" err="1" smtClean="0">
                <a:solidFill>
                  <a:srgbClr val="FF0000"/>
                </a:solidFill>
                <a:latin typeface="+mn-lt"/>
                <a:ea typeface="+mn-ea"/>
                <a:sym typeface="Symbol" panose="05050102010706020507" pitchFamily="18" charset="2"/>
              </a:rPr>
              <a:t>aA</a:t>
            </a:r>
            <a:r>
              <a:rPr lang="en-US" altLang="zh-CN" sz="2000" dirty="0" smtClean="0">
                <a:solidFill>
                  <a:srgbClr val="FF0000"/>
                </a:solidFill>
                <a:latin typeface="+mn-lt"/>
                <a:ea typeface="+mn-ea"/>
                <a:sym typeface="Symbol" panose="05050102010706020507" pitchFamily="18" charset="2"/>
              </a:rPr>
              <a:t>  and </a:t>
            </a:r>
            <a:r>
              <a:rPr lang="en-US" altLang="zh-CN" sz="2000" dirty="0" err="1" smtClean="0">
                <a:solidFill>
                  <a:srgbClr val="FF0000"/>
                </a:solidFill>
                <a:latin typeface="+mn-lt"/>
                <a:ea typeface="+mn-ea"/>
                <a:sym typeface="Symbol" panose="05050102010706020507" pitchFamily="18" charset="2"/>
              </a:rPr>
              <a:t>bB</a:t>
            </a:r>
            <a:r>
              <a:rPr lang="en-US" altLang="zh-CN" sz="2000" dirty="0" smtClean="0">
                <a:solidFill>
                  <a:srgbClr val="FF0000"/>
                </a:solidFill>
                <a:latin typeface="+mn-lt"/>
                <a:ea typeface="+mn-ea"/>
                <a:sym typeface="Symbol" panose="05050102010706020507" pitchFamily="18" charset="2"/>
              </a:rPr>
              <a:t>}. </a:t>
            </a:r>
            <a:endParaRPr lang="en-US" altLang="zh-CN" sz="2000" dirty="0" smtClean="0">
              <a:solidFill>
                <a:srgbClr val="FF0000"/>
              </a:solidFill>
              <a:latin typeface="+mn-lt"/>
              <a:ea typeface="+mn-ea"/>
              <a:sym typeface="Symbol" panose="05050102010706020507" pitchFamily="18" charset="2"/>
            </a:endParaRPr>
          </a:p>
          <a:p>
            <a:pPr lvl="1" eaLnBrk="1" hangingPunct="1">
              <a:defRPr/>
            </a:pPr>
            <a:r>
              <a:rPr lang="zh-CN" altLang="en-US" sz="2000" dirty="0" smtClean="0">
                <a:latin typeface="+mn-lt"/>
                <a:ea typeface="+mn-ea"/>
                <a:sym typeface="Symbol" panose="05050102010706020507" pitchFamily="18" charset="2"/>
              </a:rPr>
              <a:t>更一般的</a:t>
            </a:r>
            <a:r>
              <a:rPr lang="en-US" altLang="zh-CN" sz="2000" dirty="0" smtClean="0">
                <a:latin typeface="+mn-lt"/>
                <a:ea typeface="+mn-ea"/>
                <a:sym typeface="Symbol" panose="05050102010706020507" pitchFamily="18" charset="2"/>
              </a:rPr>
              <a:t>, A</a:t>
            </a:r>
            <a:r>
              <a:rPr lang="en-US" altLang="zh-CN" sz="2000" baseline="-25000" dirty="0" smtClean="0">
                <a:latin typeface="+mn-lt"/>
                <a:ea typeface="+mn-ea"/>
                <a:sym typeface="Symbol" panose="05050102010706020507" pitchFamily="18" charset="2"/>
              </a:rPr>
              <a:t>1</a:t>
            </a:r>
            <a:r>
              <a:rPr lang="en-US" altLang="zh-CN" sz="2000" dirty="0" smtClean="0">
                <a:latin typeface="+mn-lt"/>
                <a:ea typeface="+mn-ea"/>
                <a:sym typeface="Symbol" panose="05050102010706020507" pitchFamily="18" charset="2"/>
              </a:rPr>
              <a:t>,A</a:t>
            </a:r>
            <a:r>
              <a:rPr lang="en-US" altLang="zh-CN" sz="2000" baseline="-25000" dirty="0" smtClean="0">
                <a:latin typeface="+mn-lt"/>
                <a:ea typeface="+mn-ea"/>
                <a:sym typeface="Symbol" panose="05050102010706020507" pitchFamily="18" charset="2"/>
              </a:rPr>
              <a:t>2</a:t>
            </a:r>
            <a:r>
              <a:rPr lang="en-US" altLang="zh-CN" sz="2000" dirty="0" smtClean="0">
                <a:latin typeface="+mn-lt"/>
                <a:ea typeface="+mn-ea"/>
                <a:sym typeface="Symbol" panose="05050102010706020507" pitchFamily="18" charset="2"/>
              </a:rPr>
              <a:t>,…,A</a:t>
            </a:r>
            <a:r>
              <a:rPr lang="en-US" altLang="zh-CN" sz="2000" baseline="-25000" dirty="0" smtClean="0">
                <a:latin typeface="+mn-lt"/>
                <a:ea typeface="+mn-ea"/>
                <a:sym typeface="Symbol" panose="05050102010706020507" pitchFamily="18" charset="2"/>
              </a:rPr>
              <a:t>n</a:t>
            </a:r>
            <a:r>
              <a:rPr lang="en-US" altLang="zh-CN" sz="2000" dirty="0" smtClean="0">
                <a:latin typeface="+mn-lt"/>
                <a:ea typeface="+mn-ea"/>
                <a:sym typeface="Symbol" panose="05050102010706020507" pitchFamily="18" charset="2"/>
              </a:rPr>
              <a:t> </a:t>
            </a:r>
            <a:r>
              <a:rPr lang="zh-CN" altLang="en-US" sz="2000" dirty="0" smtClean="0">
                <a:latin typeface="+mn-lt"/>
                <a:ea typeface="+mn-ea"/>
                <a:sym typeface="Symbol" panose="05050102010706020507" pitchFamily="18" charset="2"/>
              </a:rPr>
              <a:t>的笛卡尔积定义为</a:t>
            </a:r>
            <a:endParaRPr lang="en-US" altLang="zh-CN" sz="2000" dirty="0" smtClean="0">
              <a:latin typeface="+mn-lt"/>
              <a:ea typeface="+mn-ea"/>
              <a:sym typeface="Symbol" panose="05050102010706020507" pitchFamily="18" charset="2"/>
            </a:endParaRPr>
          </a:p>
          <a:p>
            <a:pPr lvl="1" eaLnBrk="1" hangingPunct="1">
              <a:buFontTx/>
              <a:buNone/>
              <a:defRPr/>
            </a:pPr>
            <a:r>
              <a:rPr lang="en-US" altLang="zh-CN" sz="2000" dirty="0" smtClean="0">
                <a:latin typeface="+mn-lt"/>
                <a:ea typeface="+mn-ea"/>
                <a:sym typeface="Symbol" panose="05050102010706020507" pitchFamily="18" charset="2"/>
              </a:rPr>
              <a:t>             </a:t>
            </a:r>
            <a:r>
              <a:rPr lang="en-US" altLang="zh-CN" sz="2000" dirty="0" smtClean="0">
                <a:latin typeface="+mn-lt"/>
                <a:ea typeface="+mn-ea"/>
              </a:rPr>
              <a:t>A</a:t>
            </a:r>
            <a:r>
              <a:rPr lang="en-US" altLang="zh-CN" sz="2000" baseline="-25000" dirty="0" smtClean="0">
                <a:latin typeface="+mn-lt"/>
                <a:ea typeface="+mn-ea"/>
              </a:rPr>
              <a:t>1</a:t>
            </a:r>
            <a:r>
              <a:rPr lang="en-US" altLang="zh-CN" sz="2000" dirty="0" smtClean="0">
                <a:latin typeface="+mn-lt"/>
                <a:ea typeface="+mn-ea"/>
                <a:sym typeface="Symbol" panose="05050102010706020507" pitchFamily="18" charset="2"/>
              </a:rPr>
              <a:t>A</a:t>
            </a:r>
            <a:r>
              <a:rPr lang="en-US" altLang="zh-CN" sz="2000" baseline="-25000" dirty="0" smtClean="0">
                <a:latin typeface="+mn-lt"/>
                <a:ea typeface="+mn-ea"/>
                <a:sym typeface="Symbol" panose="05050102010706020507" pitchFamily="18" charset="2"/>
              </a:rPr>
              <a:t>2</a:t>
            </a:r>
            <a:r>
              <a:rPr lang="en-US" altLang="zh-CN" sz="2000" dirty="0" smtClean="0">
                <a:latin typeface="+mn-lt"/>
                <a:ea typeface="+mn-ea"/>
                <a:sym typeface="Symbol" panose="05050102010706020507" pitchFamily="18" charset="2"/>
              </a:rPr>
              <a:t>  …  A</a:t>
            </a:r>
            <a:r>
              <a:rPr lang="en-US" altLang="zh-CN" sz="2000" baseline="-25000" dirty="0" smtClean="0">
                <a:latin typeface="+mn-lt"/>
                <a:ea typeface="+mn-ea"/>
                <a:sym typeface="Symbol" panose="05050102010706020507" pitchFamily="18" charset="2"/>
              </a:rPr>
              <a:t>n </a:t>
            </a:r>
            <a:r>
              <a:rPr lang="en-US" altLang="zh-CN" sz="2000" dirty="0" smtClean="0">
                <a:latin typeface="+mn-lt"/>
                <a:ea typeface="+mn-ea"/>
                <a:sym typeface="Symbol" panose="05050102010706020507" pitchFamily="18" charset="2"/>
              </a:rPr>
              <a:t>= {(a</a:t>
            </a:r>
            <a:r>
              <a:rPr lang="en-US" altLang="zh-CN" sz="2000" baseline="-25000" dirty="0" smtClean="0">
                <a:latin typeface="+mn-lt"/>
                <a:ea typeface="+mn-ea"/>
                <a:sym typeface="Symbol" panose="05050102010706020507" pitchFamily="18" charset="2"/>
              </a:rPr>
              <a:t>1</a:t>
            </a:r>
            <a:r>
              <a:rPr lang="en-US" altLang="zh-CN" sz="2000" dirty="0" smtClean="0">
                <a:latin typeface="+mn-lt"/>
                <a:ea typeface="+mn-ea"/>
                <a:sym typeface="Symbol" panose="05050102010706020507" pitchFamily="18" charset="2"/>
              </a:rPr>
              <a:t>,a</a:t>
            </a:r>
            <a:r>
              <a:rPr lang="en-US" altLang="zh-CN" sz="2000" baseline="-25000" dirty="0" smtClean="0">
                <a:latin typeface="+mn-lt"/>
                <a:ea typeface="+mn-ea"/>
                <a:sym typeface="Symbol" panose="05050102010706020507" pitchFamily="18" charset="2"/>
              </a:rPr>
              <a:t>2</a:t>
            </a:r>
            <a:r>
              <a:rPr lang="en-US" altLang="zh-CN" sz="2000" dirty="0" smtClean="0">
                <a:latin typeface="+mn-lt"/>
                <a:ea typeface="+mn-ea"/>
                <a:sym typeface="Symbol" panose="05050102010706020507" pitchFamily="18" charset="2"/>
              </a:rPr>
              <a:t>,…,a</a:t>
            </a:r>
            <a:r>
              <a:rPr lang="en-US" altLang="zh-CN" sz="2000" baseline="-25000" dirty="0" smtClean="0">
                <a:latin typeface="+mn-lt"/>
                <a:ea typeface="+mn-ea"/>
                <a:sym typeface="Symbol" panose="05050102010706020507" pitchFamily="18" charset="2"/>
              </a:rPr>
              <a:t>n</a:t>
            </a:r>
            <a:r>
              <a:rPr lang="en-US" altLang="zh-CN" sz="2000" dirty="0" smtClean="0">
                <a:latin typeface="+mn-lt"/>
                <a:ea typeface="+mn-ea"/>
                <a:sym typeface="Symbol" panose="05050102010706020507" pitchFamily="18" charset="2"/>
              </a:rPr>
              <a:t>)| a</a:t>
            </a:r>
            <a:r>
              <a:rPr lang="en-US" altLang="zh-CN" sz="2000" baseline="-25000" dirty="0" smtClean="0">
                <a:latin typeface="+mn-lt"/>
                <a:ea typeface="+mn-ea"/>
                <a:sym typeface="Symbol" panose="05050102010706020507" pitchFamily="18" charset="2"/>
              </a:rPr>
              <a:t>i</a:t>
            </a:r>
            <a:r>
              <a:rPr lang="en-US" altLang="zh-CN" sz="2000" dirty="0" smtClean="0">
                <a:latin typeface="+mn-lt"/>
                <a:ea typeface="+mn-ea"/>
                <a:sym typeface="Symbol" panose="05050102010706020507" pitchFamily="18" charset="2"/>
              </a:rPr>
              <a:t>A</a:t>
            </a:r>
            <a:r>
              <a:rPr lang="en-US" altLang="zh-CN" sz="2000" baseline="-25000" dirty="0" smtClean="0">
                <a:latin typeface="+mn-lt"/>
                <a:ea typeface="+mn-ea"/>
                <a:sym typeface="Symbol" panose="05050102010706020507" pitchFamily="18" charset="2"/>
              </a:rPr>
              <a:t>i</a:t>
            </a:r>
            <a:r>
              <a:rPr lang="en-US" altLang="zh-CN" sz="2000" dirty="0" smtClean="0">
                <a:latin typeface="+mn-lt"/>
                <a:ea typeface="+mn-ea"/>
                <a:sym typeface="Symbol" panose="05050102010706020507" pitchFamily="18" charset="2"/>
              </a:rPr>
              <a:t>,1in}. </a:t>
            </a:r>
            <a:endParaRPr lang="en-US" altLang="zh-CN" sz="2000" dirty="0" smtClean="0">
              <a:latin typeface="+mn-lt"/>
              <a:ea typeface="+mn-ea"/>
              <a:sym typeface="Symbol" panose="05050102010706020507" pitchFamily="18" charset="2"/>
            </a:endParaRPr>
          </a:p>
          <a:p>
            <a:pPr eaLnBrk="1" hangingPunct="1">
              <a:defRPr/>
            </a:pPr>
            <a:endParaRPr lang="en-US" altLang="zh-CN" sz="2000" dirty="0" smtClean="0"/>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18435" name="Rectangle 2"/>
          <p:cNvSpPr>
            <a:spLocks noGrp="1" noChangeArrowheads="1"/>
          </p:cNvSpPr>
          <p:nvPr>
            <p:ph type="title"/>
          </p:nvPr>
        </p:nvSpPr>
        <p:spPr/>
        <p:txBody>
          <a:bodyPr/>
          <a:lstStyle/>
          <a:p>
            <a:pPr eaLnBrk="1" hangingPunct="1"/>
            <a:r>
              <a:rPr lang="en-US" altLang="zh-CN" b="0" dirty="0">
                <a:latin typeface="+mn-ea"/>
              </a:rPr>
              <a:t>1.3.1 </a:t>
            </a:r>
            <a:r>
              <a:rPr lang="zh-CN" altLang="en-US" b="0" dirty="0">
                <a:latin typeface="+mn-ea"/>
              </a:rPr>
              <a:t>集合、</a:t>
            </a:r>
            <a:r>
              <a:rPr lang="zh-CN" altLang="en-US" u="sng" dirty="0">
                <a:latin typeface="+mn-ea"/>
              </a:rPr>
              <a:t>关系</a:t>
            </a:r>
            <a:r>
              <a:rPr lang="zh-CN" altLang="en-US" b="0" dirty="0">
                <a:latin typeface="+mn-ea"/>
              </a:rPr>
              <a:t>、函数</a:t>
            </a:r>
            <a:endParaRPr lang="en-US" altLang="zh-CN" dirty="0" smtClean="0"/>
          </a:p>
        </p:txBody>
      </p:sp>
      <p:sp>
        <p:nvSpPr>
          <p:cNvPr id="18436" name="Rectangle 3"/>
          <p:cNvSpPr>
            <a:spLocks noGrp="1" noChangeArrowheads="1"/>
          </p:cNvSpPr>
          <p:nvPr>
            <p:ph type="body" idx="1"/>
          </p:nvPr>
        </p:nvSpPr>
        <p:spPr/>
        <p:txBody>
          <a:bodyPr/>
          <a:lstStyle/>
          <a:p>
            <a:pPr eaLnBrk="1" hangingPunct="1">
              <a:buFontTx/>
              <a:buNone/>
            </a:pPr>
            <a:r>
              <a:rPr lang="zh-CN" altLang="en-US" sz="2400" smtClean="0"/>
              <a:t>笛卡尔积举例 </a:t>
            </a:r>
            <a:endParaRPr lang="zh-CN" altLang="en-US" sz="2400" smtClean="0"/>
          </a:p>
          <a:p>
            <a:pPr eaLnBrk="1" hangingPunct="1"/>
            <a:r>
              <a:rPr lang="zh-CN" altLang="en-US" sz="2400" smtClean="0"/>
              <a:t>：</a:t>
            </a:r>
            <a:r>
              <a:rPr lang="en-US" altLang="zh-CN" sz="2400" smtClean="0"/>
              <a:t>A</a:t>
            </a:r>
            <a:r>
              <a:rPr lang="zh-CN" altLang="en-US" sz="2400" smtClean="0"/>
              <a:t>表示某大学所有学生的集合，</a:t>
            </a:r>
            <a:r>
              <a:rPr lang="en-US" altLang="zh-CN" sz="2400" smtClean="0"/>
              <a:t>B</a:t>
            </a:r>
            <a:r>
              <a:rPr lang="zh-CN" altLang="en-US" sz="2400" smtClean="0"/>
              <a:t>表示大学开设的所有 课程的集合， 则</a:t>
            </a:r>
            <a:r>
              <a:rPr lang="en-US" altLang="zh-CN" sz="2400" smtClean="0"/>
              <a:t>A×B</a:t>
            </a:r>
            <a:r>
              <a:rPr lang="zh-CN" altLang="en-US" sz="2400" smtClean="0"/>
              <a:t>可以用来表示该校学生选课的所有可能情况。 令</a:t>
            </a:r>
            <a:r>
              <a:rPr lang="en-US" altLang="zh-CN" sz="2400" smtClean="0"/>
              <a:t>A</a:t>
            </a:r>
            <a:r>
              <a:rPr lang="zh-CN" altLang="en-US" sz="2400" smtClean="0"/>
              <a:t>是直角坐标系中</a:t>
            </a:r>
            <a:r>
              <a:rPr lang="en-US" altLang="zh-CN" sz="2400" smtClean="0"/>
              <a:t>x</a:t>
            </a:r>
            <a:r>
              <a:rPr lang="zh-CN" altLang="en-US" sz="2400" smtClean="0"/>
              <a:t>轴上的点集，</a:t>
            </a:r>
            <a:r>
              <a:rPr lang="en-US" altLang="zh-CN" sz="2400" smtClean="0"/>
              <a:t>B</a:t>
            </a:r>
            <a:r>
              <a:rPr lang="zh-CN" altLang="en-US" sz="2400" smtClean="0"/>
              <a:t>是直角坐标系中</a:t>
            </a:r>
            <a:r>
              <a:rPr lang="en-US" altLang="zh-CN" sz="2400" smtClean="0"/>
              <a:t>y </a:t>
            </a:r>
            <a:r>
              <a:rPr lang="zh-CN" altLang="en-US" sz="2400" smtClean="0"/>
              <a:t>轴上的点集， 于是</a:t>
            </a:r>
            <a:r>
              <a:rPr lang="en-US" altLang="zh-CN" sz="2400" smtClean="0"/>
              <a:t>A×B</a:t>
            </a:r>
            <a:r>
              <a:rPr lang="zh-CN" altLang="en-US" sz="2400" smtClean="0"/>
              <a:t>就和平面点集一一对应。 </a:t>
            </a:r>
            <a:endParaRPr lang="zh-CN" altLang="en-US" sz="2400" smtClean="0"/>
          </a:p>
          <a:p>
            <a:pPr eaLnBrk="1" hangingPunct="1"/>
            <a:r>
              <a:rPr lang="zh-CN" altLang="en-US" sz="2400" smtClean="0"/>
              <a:t>设</a:t>
            </a:r>
            <a:r>
              <a:rPr lang="en-US" altLang="zh-CN" sz="2400" smtClean="0"/>
              <a:t>A={a,b}, B={0,1,2}</a:t>
            </a:r>
            <a:r>
              <a:rPr lang="zh-CN" altLang="en-US" sz="2400" smtClean="0"/>
              <a:t>，则 </a:t>
            </a:r>
            <a:r>
              <a:rPr lang="en-US" altLang="zh-CN" sz="2400" smtClean="0"/>
              <a:t>A×B={&lt;a,0&gt;,&lt;a,1&gt;,&lt;a,2&gt;,&lt;b,0&gt;,&lt;b,1&gt;,&lt;b,2&gt;} B×A={&lt;0,a&gt;,&lt;0,b&gt;,&lt;1,a&gt;,&lt;1,b&gt;,&lt;2,a&gt;,&lt;2,b&gt;}</a:t>
            </a:r>
            <a:endParaRPr lang="en-US" altLang="zh-CN" sz="2400" smtClean="0"/>
          </a:p>
          <a:p>
            <a:pPr eaLnBrk="1" hangingPunct="1"/>
            <a:r>
              <a:rPr lang="zh-CN" altLang="en-US" sz="2400" smtClean="0"/>
              <a:t>如果</a:t>
            </a:r>
            <a:r>
              <a:rPr lang="en-US" altLang="zh-CN" sz="2400" smtClean="0"/>
              <a:t>|A|=m</a:t>
            </a:r>
            <a:r>
              <a:rPr lang="zh-CN" altLang="en-US" sz="2400" smtClean="0"/>
              <a:t>，</a:t>
            </a:r>
            <a:r>
              <a:rPr lang="en-US" altLang="zh-CN" sz="2400" smtClean="0"/>
              <a:t>|B|=n</a:t>
            </a:r>
            <a:r>
              <a:rPr lang="zh-CN" altLang="en-US" sz="2400" smtClean="0"/>
              <a:t>，则</a:t>
            </a:r>
            <a:r>
              <a:rPr lang="en-US" altLang="zh-CN" sz="2400" smtClean="0"/>
              <a:t>|A×B|=mn。</a:t>
            </a:r>
            <a:endParaRPr lang="en-US" altLang="zh-CN" sz="2400" smtClean="0"/>
          </a:p>
          <a:p>
            <a:pPr eaLnBrk="1" hangingPunct="1"/>
            <a:endParaRPr lang="en-US" altLang="zh-CN" sz="2000" smtClean="0"/>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20483" name="Rectangle 2"/>
          <p:cNvSpPr>
            <a:spLocks noGrp="1" noChangeArrowheads="1"/>
          </p:cNvSpPr>
          <p:nvPr>
            <p:ph type="title"/>
          </p:nvPr>
        </p:nvSpPr>
        <p:spPr/>
        <p:txBody>
          <a:bodyPr/>
          <a:lstStyle/>
          <a:p>
            <a:pPr eaLnBrk="1" hangingPunct="1"/>
            <a:r>
              <a:rPr lang="en-US" altLang="zh-CN" b="0" dirty="0">
                <a:latin typeface="+mn-ea"/>
              </a:rPr>
              <a:t>1.3.1 </a:t>
            </a:r>
            <a:r>
              <a:rPr lang="zh-CN" altLang="en-US" b="0" dirty="0">
                <a:latin typeface="+mn-ea"/>
              </a:rPr>
              <a:t>集合、</a:t>
            </a:r>
            <a:r>
              <a:rPr lang="zh-CN" altLang="en-US" u="sng" dirty="0">
                <a:latin typeface="+mn-ea"/>
              </a:rPr>
              <a:t>关系</a:t>
            </a:r>
            <a:r>
              <a:rPr lang="zh-CN" altLang="en-US" b="0" dirty="0">
                <a:latin typeface="+mn-ea"/>
              </a:rPr>
              <a:t>、函数</a:t>
            </a:r>
            <a:endParaRPr lang="en-US" altLang="zh-CN" dirty="0" smtClean="0"/>
          </a:p>
        </p:txBody>
      </p:sp>
      <p:sp>
        <p:nvSpPr>
          <p:cNvPr id="95235" name="Rectangle 3"/>
          <p:cNvSpPr>
            <a:spLocks noGrp="1" noChangeArrowheads="1"/>
          </p:cNvSpPr>
          <p:nvPr>
            <p:ph type="body" idx="1"/>
          </p:nvPr>
        </p:nvSpPr>
        <p:spPr/>
        <p:txBody>
          <a:bodyPr/>
          <a:lstStyle/>
          <a:p>
            <a:pPr eaLnBrk="1" hangingPunct="1">
              <a:defRPr/>
            </a:pPr>
            <a:r>
              <a:rPr lang="zh-CN" altLang="en-US" dirty="0" smtClean="0">
                <a:solidFill>
                  <a:srgbClr val="FF0000"/>
                </a:solidFill>
                <a:sym typeface="Symbol" panose="05050102010706020507" pitchFamily="18" charset="2"/>
              </a:rPr>
              <a:t>关系</a:t>
            </a:r>
            <a:endParaRPr lang="en-US" altLang="zh-CN" dirty="0" smtClean="0">
              <a:solidFill>
                <a:srgbClr val="FF0000"/>
              </a:solidFill>
              <a:sym typeface="Symbol" panose="05050102010706020507" pitchFamily="18" charset="2"/>
            </a:endParaRPr>
          </a:p>
          <a:p>
            <a:pPr lvl="1" eaLnBrk="1" hangingPunct="1">
              <a:defRPr/>
            </a:pPr>
            <a:r>
              <a:rPr lang="zh-CN" altLang="en-US" sz="2000" dirty="0" smtClean="0">
                <a:latin typeface="+mn-lt"/>
                <a:ea typeface="+mn-ea"/>
                <a:sym typeface="Symbol" panose="05050102010706020507" pitchFamily="18" charset="2"/>
              </a:rPr>
              <a:t>设</a:t>
            </a:r>
            <a:r>
              <a:rPr lang="en-US" altLang="zh-CN" sz="2000" dirty="0" smtClean="0">
                <a:latin typeface="+mn-lt"/>
                <a:ea typeface="+mn-ea"/>
                <a:sym typeface="Symbol" panose="05050102010706020507" pitchFamily="18" charset="2"/>
              </a:rPr>
              <a:t>A</a:t>
            </a:r>
            <a:r>
              <a:rPr lang="zh-CN" altLang="en-US" sz="2000" dirty="0" smtClean="0">
                <a:latin typeface="+mn-lt"/>
                <a:ea typeface="+mn-ea"/>
                <a:sym typeface="Symbol" panose="05050102010706020507" pitchFamily="18" charset="2"/>
              </a:rPr>
              <a:t>和</a:t>
            </a:r>
            <a:r>
              <a:rPr lang="en-US" altLang="zh-CN" sz="2000" dirty="0" smtClean="0">
                <a:latin typeface="+mn-lt"/>
                <a:ea typeface="+mn-ea"/>
                <a:sym typeface="Symbol" panose="05050102010706020507" pitchFamily="18" charset="2"/>
              </a:rPr>
              <a:t>B</a:t>
            </a:r>
            <a:r>
              <a:rPr lang="zh-CN" altLang="en-US" sz="2000" dirty="0" smtClean="0">
                <a:latin typeface="+mn-lt"/>
                <a:ea typeface="+mn-ea"/>
                <a:sym typeface="Symbol" panose="05050102010706020507" pitchFamily="18" charset="2"/>
              </a:rPr>
              <a:t>是两个非空集，一个从</a:t>
            </a:r>
            <a:r>
              <a:rPr lang="en-US" altLang="zh-CN" sz="2000" dirty="0" smtClean="0">
                <a:latin typeface="+mn-lt"/>
                <a:ea typeface="+mn-ea"/>
                <a:sym typeface="Symbol" panose="05050102010706020507" pitchFamily="18" charset="2"/>
              </a:rPr>
              <a:t>A</a:t>
            </a:r>
            <a:r>
              <a:rPr lang="zh-CN" altLang="en-US" sz="2000" dirty="0" smtClean="0">
                <a:latin typeface="+mn-lt"/>
                <a:ea typeface="+mn-ea"/>
                <a:sym typeface="Symbol" panose="05050102010706020507" pitchFamily="18" charset="2"/>
              </a:rPr>
              <a:t>到</a:t>
            </a:r>
            <a:r>
              <a:rPr lang="en-US" altLang="zh-CN" sz="2000" dirty="0" smtClean="0">
                <a:latin typeface="+mn-lt"/>
                <a:ea typeface="+mn-ea"/>
                <a:sym typeface="Symbol" panose="05050102010706020507" pitchFamily="18" charset="2"/>
              </a:rPr>
              <a:t>B</a:t>
            </a:r>
            <a:r>
              <a:rPr lang="zh-CN" altLang="en-US" sz="2000" dirty="0" smtClean="0">
                <a:latin typeface="+mn-lt"/>
                <a:ea typeface="+mn-ea"/>
                <a:sym typeface="Symbol" panose="05050102010706020507" pitchFamily="18" charset="2"/>
              </a:rPr>
              <a:t>的</a:t>
            </a:r>
            <a:r>
              <a:rPr lang="zh-CN" altLang="en-US" sz="2000" dirty="0" smtClean="0">
                <a:solidFill>
                  <a:srgbClr val="FF0000"/>
                </a:solidFill>
                <a:latin typeface="+mn-lt"/>
                <a:ea typeface="+mn-ea"/>
                <a:sym typeface="Symbol" panose="05050102010706020507" pitchFamily="18" charset="2"/>
              </a:rPr>
              <a:t>二元关系</a:t>
            </a:r>
            <a:r>
              <a:rPr lang="zh-CN" altLang="en-US" sz="2000" dirty="0" smtClean="0">
                <a:latin typeface="+mn-lt"/>
                <a:ea typeface="+mn-ea"/>
                <a:sym typeface="Symbol" panose="05050102010706020507" pitchFamily="18" charset="2"/>
              </a:rPr>
              <a:t>，或简单的说</a:t>
            </a:r>
            <a:r>
              <a:rPr lang="en-US" altLang="zh-CN" sz="2000" dirty="0" smtClean="0">
                <a:solidFill>
                  <a:srgbClr val="FF0000"/>
                </a:solidFill>
                <a:latin typeface="+mn-lt"/>
                <a:ea typeface="+mn-ea"/>
                <a:sym typeface="Symbol" panose="05050102010706020507" pitchFamily="18" charset="2"/>
              </a:rPr>
              <a:t>A</a:t>
            </a:r>
            <a:r>
              <a:rPr lang="zh-CN" altLang="en-US" sz="2000" dirty="0" smtClean="0">
                <a:solidFill>
                  <a:srgbClr val="FF0000"/>
                </a:solidFill>
                <a:latin typeface="+mn-lt"/>
                <a:ea typeface="+mn-ea"/>
                <a:sym typeface="Symbol" panose="05050102010706020507" pitchFamily="18" charset="2"/>
              </a:rPr>
              <a:t>到</a:t>
            </a:r>
            <a:r>
              <a:rPr lang="en-US" altLang="zh-CN" sz="2000" dirty="0" smtClean="0">
                <a:solidFill>
                  <a:srgbClr val="FF0000"/>
                </a:solidFill>
                <a:latin typeface="+mn-lt"/>
                <a:ea typeface="+mn-ea"/>
                <a:sym typeface="Symbol" panose="05050102010706020507" pitchFamily="18" charset="2"/>
              </a:rPr>
              <a:t>B</a:t>
            </a:r>
            <a:r>
              <a:rPr lang="zh-CN" altLang="en-US" sz="2000" dirty="0" smtClean="0">
                <a:solidFill>
                  <a:srgbClr val="FF0000"/>
                </a:solidFill>
                <a:latin typeface="+mn-lt"/>
                <a:ea typeface="+mn-ea"/>
                <a:sym typeface="Symbol" panose="05050102010706020507" pitchFamily="18" charset="2"/>
              </a:rPr>
              <a:t>的关系</a:t>
            </a:r>
            <a:r>
              <a:rPr lang="en-US" altLang="zh-CN" sz="2000" dirty="0" smtClean="0">
                <a:solidFill>
                  <a:srgbClr val="FF0000"/>
                </a:solidFill>
                <a:latin typeface="+mn-lt"/>
                <a:ea typeface="+mn-ea"/>
                <a:sym typeface="Symbol" panose="05050102010706020507" pitchFamily="18" charset="2"/>
              </a:rPr>
              <a:t>R</a:t>
            </a:r>
            <a:r>
              <a:rPr lang="zh-CN" altLang="en-US" sz="2000" dirty="0" smtClean="0">
                <a:latin typeface="+mn-lt"/>
                <a:ea typeface="+mn-ea"/>
                <a:sym typeface="Symbol" panose="05050102010706020507" pitchFamily="18" charset="2"/>
              </a:rPr>
              <a:t>是有序对</a:t>
            </a:r>
            <a:r>
              <a:rPr lang="en-US" altLang="zh-CN" sz="2000" dirty="0" smtClean="0">
                <a:latin typeface="+mn-lt"/>
                <a:ea typeface="+mn-ea"/>
                <a:sym typeface="Symbol" panose="05050102010706020507" pitchFamily="18" charset="2"/>
              </a:rPr>
              <a:t> (</a:t>
            </a:r>
            <a:r>
              <a:rPr lang="en-US" altLang="zh-CN" sz="2000" dirty="0" err="1" smtClean="0">
                <a:latin typeface="+mn-lt"/>
                <a:ea typeface="+mn-ea"/>
                <a:sym typeface="Symbol" panose="05050102010706020507" pitchFamily="18" charset="2"/>
              </a:rPr>
              <a:t>a,b</a:t>
            </a:r>
            <a:r>
              <a:rPr lang="en-US" altLang="zh-CN" sz="2000" dirty="0" smtClean="0">
                <a:latin typeface="+mn-lt"/>
                <a:ea typeface="+mn-ea"/>
                <a:sym typeface="Symbol" panose="05050102010706020507" pitchFamily="18" charset="2"/>
              </a:rPr>
              <a:t>)</a:t>
            </a:r>
            <a:r>
              <a:rPr lang="zh-CN" altLang="en-US" sz="2000" dirty="0" smtClean="0">
                <a:latin typeface="+mn-lt"/>
                <a:ea typeface="+mn-ea"/>
                <a:sym typeface="Symbol" panose="05050102010706020507" pitchFamily="18" charset="2"/>
              </a:rPr>
              <a:t>的集合，这里</a:t>
            </a:r>
            <a:r>
              <a:rPr lang="en-US" altLang="zh-CN" sz="2000" dirty="0" err="1" smtClean="0">
                <a:latin typeface="+mn-lt"/>
                <a:ea typeface="+mn-ea"/>
                <a:sym typeface="Symbol" panose="05050102010706020507" pitchFamily="18" charset="2"/>
              </a:rPr>
              <a:t>aA</a:t>
            </a:r>
            <a:r>
              <a:rPr lang="zh-CN" altLang="en-US" sz="2000" dirty="0" smtClean="0">
                <a:latin typeface="+mn-lt"/>
                <a:ea typeface="+mn-ea"/>
                <a:sym typeface="Symbol" panose="05050102010706020507" pitchFamily="18" charset="2"/>
              </a:rPr>
              <a:t>，</a:t>
            </a:r>
            <a:r>
              <a:rPr lang="en-US" altLang="zh-CN" sz="2000" dirty="0" err="1" smtClean="0">
                <a:latin typeface="+mn-lt"/>
                <a:ea typeface="+mn-ea"/>
                <a:sym typeface="Symbol" panose="05050102010706020507" pitchFamily="18" charset="2"/>
              </a:rPr>
              <a:t>bB</a:t>
            </a:r>
            <a:r>
              <a:rPr lang="en-US" altLang="zh-CN" sz="2000" dirty="0" smtClean="0">
                <a:latin typeface="+mn-lt"/>
                <a:ea typeface="+mn-ea"/>
                <a:sym typeface="Symbol" panose="05050102010706020507" pitchFamily="18" charset="2"/>
              </a:rPr>
              <a:t>, </a:t>
            </a:r>
            <a:r>
              <a:rPr lang="zh-CN" altLang="en-US" sz="2000" dirty="0" smtClean="0">
                <a:latin typeface="+mn-lt"/>
                <a:ea typeface="+mn-ea"/>
                <a:sym typeface="Symbol" panose="05050102010706020507" pitchFamily="18" charset="2"/>
              </a:rPr>
              <a:t>就是</a:t>
            </a:r>
            <a:r>
              <a:rPr lang="en-US" altLang="zh-CN" sz="2000" dirty="0" smtClean="0">
                <a:latin typeface="+mn-lt"/>
                <a:ea typeface="+mn-ea"/>
                <a:sym typeface="Symbol" panose="05050102010706020507" pitchFamily="18" charset="2"/>
              </a:rPr>
              <a:t> R </a:t>
            </a:r>
            <a:r>
              <a:rPr lang="en-US" altLang="zh-CN" sz="2000" dirty="0" smtClean="0">
                <a:latin typeface="+mn-lt"/>
                <a:ea typeface="+mn-ea"/>
              </a:rPr>
              <a:t>A</a:t>
            </a:r>
            <a:r>
              <a:rPr lang="en-US" altLang="zh-CN" sz="2000" dirty="0" smtClean="0">
                <a:latin typeface="+mn-lt"/>
                <a:ea typeface="+mn-ea"/>
                <a:sym typeface="Symbol" panose="05050102010706020507" pitchFamily="18" charset="2"/>
              </a:rPr>
              <a:t>B</a:t>
            </a:r>
            <a:r>
              <a:rPr lang="zh-CN" altLang="en-US" sz="2000" dirty="0" smtClean="0">
                <a:latin typeface="+mn-lt"/>
                <a:ea typeface="+mn-ea"/>
                <a:sym typeface="Symbol" panose="05050102010706020507" pitchFamily="18" charset="2"/>
              </a:rPr>
              <a:t>。如果</a:t>
            </a:r>
            <a:r>
              <a:rPr lang="en-US" altLang="zh-CN" sz="2000" dirty="0" smtClean="0">
                <a:latin typeface="+mn-lt"/>
                <a:ea typeface="+mn-ea"/>
                <a:sym typeface="Symbol" panose="05050102010706020507" pitchFamily="18" charset="2"/>
              </a:rPr>
              <a:t> A=B, </a:t>
            </a:r>
            <a:r>
              <a:rPr lang="zh-CN" altLang="en-US" sz="2000" dirty="0" smtClean="0">
                <a:latin typeface="+mn-lt"/>
                <a:ea typeface="+mn-ea"/>
                <a:sym typeface="Symbol" panose="05050102010706020507" pitchFamily="18" charset="2"/>
              </a:rPr>
              <a:t>则称</a:t>
            </a:r>
            <a:r>
              <a:rPr lang="en-US" altLang="zh-CN" sz="2000" dirty="0" smtClean="0">
                <a:solidFill>
                  <a:srgbClr val="FF0000"/>
                </a:solidFill>
                <a:latin typeface="+mn-lt"/>
                <a:ea typeface="+mn-ea"/>
                <a:sym typeface="Symbol" panose="05050102010706020507" pitchFamily="18" charset="2"/>
              </a:rPr>
              <a:t>R</a:t>
            </a:r>
            <a:r>
              <a:rPr lang="zh-CN" altLang="en-US" sz="2000" dirty="0" smtClean="0">
                <a:solidFill>
                  <a:srgbClr val="FF0000"/>
                </a:solidFill>
                <a:latin typeface="+mn-lt"/>
                <a:ea typeface="+mn-ea"/>
                <a:sym typeface="Symbol" panose="05050102010706020507" pitchFamily="18" charset="2"/>
              </a:rPr>
              <a:t>是集合</a:t>
            </a:r>
            <a:r>
              <a:rPr lang="en-US" altLang="zh-CN" sz="2000" dirty="0" smtClean="0">
                <a:solidFill>
                  <a:srgbClr val="FF0000"/>
                </a:solidFill>
                <a:latin typeface="+mn-lt"/>
                <a:ea typeface="+mn-ea"/>
                <a:sym typeface="Symbol" panose="05050102010706020507" pitchFamily="18" charset="2"/>
              </a:rPr>
              <a:t>A</a:t>
            </a:r>
            <a:r>
              <a:rPr lang="zh-CN" altLang="en-US" sz="2000" dirty="0" smtClean="0">
                <a:solidFill>
                  <a:srgbClr val="FF0000"/>
                </a:solidFill>
                <a:latin typeface="+mn-lt"/>
                <a:ea typeface="+mn-ea"/>
                <a:sym typeface="Symbol" panose="05050102010706020507" pitchFamily="18" charset="2"/>
              </a:rPr>
              <a:t>上的关系</a:t>
            </a:r>
            <a:r>
              <a:rPr lang="zh-CN" altLang="en-US" sz="2000" dirty="0" smtClean="0">
                <a:latin typeface="+mn-lt"/>
                <a:ea typeface="+mn-ea"/>
                <a:sym typeface="Symbol" panose="05050102010706020507" pitchFamily="18" charset="2"/>
              </a:rPr>
              <a:t>。</a:t>
            </a:r>
            <a:endParaRPr lang="en-US" altLang="zh-CN" sz="2000" dirty="0" smtClean="0">
              <a:latin typeface="+mn-lt"/>
              <a:ea typeface="+mn-ea"/>
              <a:sym typeface="Symbol" panose="05050102010706020507" pitchFamily="18" charset="2"/>
            </a:endParaRPr>
          </a:p>
          <a:p>
            <a:pPr lvl="1" eaLnBrk="1" hangingPunct="1">
              <a:defRPr/>
            </a:pPr>
            <a:endParaRPr lang="en-US" altLang="zh-CN" sz="2000" dirty="0" smtClean="0">
              <a:latin typeface="+mn-lt"/>
              <a:ea typeface="+mn-ea"/>
              <a:sym typeface="Symbol" panose="05050102010706020507" pitchFamily="18" charset="2"/>
            </a:endParaRPr>
          </a:p>
          <a:p>
            <a:pPr lvl="1" eaLnBrk="1" hangingPunct="1">
              <a:defRPr/>
            </a:pPr>
            <a:r>
              <a:rPr lang="zh-CN" altLang="en-US" sz="2000" dirty="0" smtClean="0">
                <a:latin typeface="+mn-lt"/>
                <a:ea typeface="+mn-ea"/>
              </a:rPr>
              <a:t>如果一个集合满足以下条件之一： （</a:t>
            </a:r>
            <a:r>
              <a:rPr lang="en-US" altLang="zh-CN" sz="2000" dirty="0" smtClean="0">
                <a:latin typeface="+mn-lt"/>
                <a:ea typeface="+mn-ea"/>
              </a:rPr>
              <a:t>1</a:t>
            </a:r>
            <a:r>
              <a:rPr lang="zh-CN" altLang="en-US" sz="2000" dirty="0" smtClean="0">
                <a:latin typeface="+mn-lt"/>
                <a:ea typeface="+mn-ea"/>
              </a:rPr>
              <a:t>）集合非空，且它的元素都是有序对； （</a:t>
            </a:r>
            <a:r>
              <a:rPr lang="en-US" altLang="zh-CN" sz="2000" dirty="0" smtClean="0">
                <a:latin typeface="+mn-lt"/>
                <a:ea typeface="+mn-ea"/>
              </a:rPr>
              <a:t>2</a:t>
            </a:r>
            <a:r>
              <a:rPr lang="zh-CN" altLang="en-US" sz="2000" dirty="0" smtClean="0">
                <a:latin typeface="+mn-lt"/>
                <a:ea typeface="+mn-ea"/>
              </a:rPr>
              <a:t>）集合是空集 ；         则称该集合为一个</a:t>
            </a:r>
            <a:r>
              <a:rPr lang="zh-CN" altLang="en-US" sz="2000" dirty="0" smtClean="0">
                <a:solidFill>
                  <a:srgbClr val="FF0000"/>
                </a:solidFill>
                <a:latin typeface="+mn-lt"/>
                <a:ea typeface="+mn-ea"/>
              </a:rPr>
              <a:t>二元关系</a:t>
            </a:r>
            <a:r>
              <a:rPr lang="zh-CN" altLang="en-US" sz="2000" dirty="0" smtClean="0">
                <a:latin typeface="+mn-lt"/>
                <a:ea typeface="+mn-ea"/>
              </a:rPr>
              <a:t>，记作</a:t>
            </a:r>
            <a:r>
              <a:rPr lang="en-US" altLang="zh-CN" sz="2000" dirty="0" smtClean="0">
                <a:latin typeface="+mn-lt"/>
                <a:ea typeface="+mn-ea"/>
              </a:rPr>
              <a:t>R</a:t>
            </a:r>
            <a:r>
              <a:rPr lang="zh-CN" altLang="en-US" sz="2000" dirty="0" smtClean="0">
                <a:latin typeface="+mn-lt"/>
                <a:ea typeface="+mn-ea"/>
              </a:rPr>
              <a:t>。二元关系也可简称为关 系。对于二元关系</a:t>
            </a:r>
            <a:r>
              <a:rPr lang="en-US" altLang="zh-CN" sz="2000" dirty="0" smtClean="0">
                <a:latin typeface="+mn-lt"/>
                <a:ea typeface="+mn-ea"/>
              </a:rPr>
              <a:t>R</a:t>
            </a:r>
            <a:r>
              <a:rPr lang="zh-CN" altLang="en-US" sz="2000" dirty="0" smtClean="0">
                <a:latin typeface="+mn-lt"/>
                <a:ea typeface="+mn-ea"/>
              </a:rPr>
              <a:t>，如果</a:t>
            </a:r>
            <a:r>
              <a:rPr lang="en-US" altLang="zh-CN" sz="2000" dirty="0" smtClean="0">
                <a:solidFill>
                  <a:srgbClr val="FF0000"/>
                </a:solidFill>
                <a:latin typeface="+mn-lt"/>
                <a:ea typeface="+mn-ea"/>
              </a:rPr>
              <a:t>&lt;</a:t>
            </a:r>
            <a:r>
              <a:rPr lang="en-US" altLang="zh-CN" sz="2000" dirty="0" err="1" smtClean="0">
                <a:solidFill>
                  <a:srgbClr val="FF0000"/>
                </a:solidFill>
                <a:latin typeface="+mn-lt"/>
                <a:ea typeface="+mn-ea"/>
              </a:rPr>
              <a:t>x,y</a:t>
            </a:r>
            <a:r>
              <a:rPr lang="en-US" altLang="zh-CN" sz="2000" dirty="0" smtClean="0">
                <a:solidFill>
                  <a:srgbClr val="FF0000"/>
                </a:solidFill>
                <a:latin typeface="+mn-lt"/>
                <a:ea typeface="+mn-ea"/>
              </a:rPr>
              <a:t>&gt;∈R</a:t>
            </a:r>
            <a:r>
              <a:rPr lang="zh-CN" altLang="en-US" sz="2000" dirty="0" smtClean="0">
                <a:latin typeface="+mn-lt"/>
                <a:ea typeface="+mn-ea"/>
              </a:rPr>
              <a:t>，可记作</a:t>
            </a:r>
            <a:r>
              <a:rPr lang="en-US" altLang="zh-CN" sz="2000" dirty="0" err="1" smtClean="0">
                <a:solidFill>
                  <a:srgbClr val="FF0000"/>
                </a:solidFill>
                <a:latin typeface="+mn-lt"/>
                <a:ea typeface="+mn-ea"/>
              </a:rPr>
              <a:t>xRy</a:t>
            </a:r>
            <a:r>
              <a:rPr lang="zh-CN" altLang="en-US" sz="2000" dirty="0" smtClean="0">
                <a:latin typeface="+mn-lt"/>
                <a:ea typeface="+mn-ea"/>
              </a:rPr>
              <a:t>。</a:t>
            </a:r>
            <a:endParaRPr lang="en-US" altLang="zh-CN" sz="2000" dirty="0" smtClean="0">
              <a:latin typeface="+mn-lt"/>
              <a:ea typeface="+mn-ea"/>
            </a:endParaRPr>
          </a:p>
          <a:p>
            <a:pPr lvl="1" eaLnBrk="1" hangingPunct="1">
              <a:buFontTx/>
              <a:buNone/>
              <a:defRPr/>
            </a:pPr>
            <a:endParaRPr lang="en-US" altLang="zh-CN" sz="2000" dirty="0" smtClean="0">
              <a:latin typeface="+mn-lt"/>
              <a:ea typeface="+mn-ea"/>
            </a:endParaRPr>
          </a:p>
          <a:p>
            <a:pPr lvl="1" eaLnBrk="1" hangingPunct="1">
              <a:defRPr/>
            </a:pPr>
            <a:r>
              <a:rPr lang="zh-CN" altLang="en-US" sz="2000" dirty="0" smtClean="0">
                <a:latin typeface="+mn-lt"/>
                <a:ea typeface="+mn-ea"/>
              </a:rPr>
              <a:t>设</a:t>
            </a:r>
            <a:r>
              <a:rPr lang="en-US" altLang="zh-CN" sz="2000" dirty="0" smtClean="0">
                <a:latin typeface="+mn-lt"/>
                <a:ea typeface="+mn-ea"/>
              </a:rPr>
              <a:t>R1</a:t>
            </a:r>
            <a:r>
              <a:rPr lang="zh-CN" altLang="en-US" sz="2000" dirty="0" smtClean="0">
                <a:latin typeface="+mn-lt"/>
                <a:ea typeface="+mn-ea"/>
              </a:rPr>
              <a:t>＝</a:t>
            </a:r>
            <a:r>
              <a:rPr lang="en-US" altLang="zh-CN" sz="2000" dirty="0" smtClean="0">
                <a:latin typeface="+mn-lt"/>
                <a:ea typeface="+mn-ea"/>
              </a:rPr>
              <a:t>{&lt;1,2&gt;,&lt;</a:t>
            </a:r>
            <a:r>
              <a:rPr lang="en-US" altLang="zh-CN" sz="2000" dirty="0" err="1" smtClean="0">
                <a:latin typeface="+mn-lt"/>
                <a:ea typeface="+mn-ea"/>
              </a:rPr>
              <a:t>a,b</a:t>
            </a:r>
            <a:r>
              <a:rPr lang="en-US" altLang="zh-CN" sz="2000" dirty="0" smtClean="0">
                <a:latin typeface="+mn-lt"/>
                <a:ea typeface="+mn-ea"/>
              </a:rPr>
              <a:t>&gt;}</a:t>
            </a:r>
            <a:r>
              <a:rPr lang="zh-CN" altLang="en-US" sz="2000" dirty="0" smtClean="0">
                <a:latin typeface="+mn-lt"/>
                <a:ea typeface="+mn-ea"/>
              </a:rPr>
              <a:t>，</a:t>
            </a:r>
            <a:r>
              <a:rPr lang="en-US" altLang="zh-CN" sz="2000" dirty="0" smtClean="0">
                <a:latin typeface="+mn-lt"/>
                <a:ea typeface="+mn-ea"/>
              </a:rPr>
              <a:t>R2</a:t>
            </a:r>
            <a:r>
              <a:rPr lang="zh-CN" altLang="en-US" sz="2000" dirty="0" smtClean="0">
                <a:latin typeface="+mn-lt"/>
                <a:ea typeface="+mn-ea"/>
              </a:rPr>
              <a:t>＝</a:t>
            </a:r>
            <a:r>
              <a:rPr lang="en-US" altLang="zh-CN" sz="2000" dirty="0" smtClean="0">
                <a:latin typeface="+mn-lt"/>
                <a:ea typeface="+mn-ea"/>
              </a:rPr>
              <a:t>{&lt;1,2&gt;,</a:t>
            </a:r>
            <a:r>
              <a:rPr lang="en-US" altLang="zh-CN" sz="2000" dirty="0" err="1" smtClean="0">
                <a:latin typeface="+mn-lt"/>
                <a:ea typeface="+mn-ea"/>
              </a:rPr>
              <a:t>a,b</a:t>
            </a:r>
            <a:r>
              <a:rPr lang="en-US" altLang="zh-CN" sz="2000" dirty="0" smtClean="0">
                <a:latin typeface="+mn-lt"/>
                <a:ea typeface="+mn-ea"/>
              </a:rPr>
              <a:t>}</a:t>
            </a:r>
            <a:r>
              <a:rPr lang="zh-CN" altLang="en-US" sz="2000" dirty="0" smtClean="0">
                <a:latin typeface="+mn-lt"/>
                <a:ea typeface="+mn-ea"/>
              </a:rPr>
              <a:t>。 则</a:t>
            </a:r>
            <a:r>
              <a:rPr lang="en-US" altLang="zh-CN" sz="2000" dirty="0" smtClean="0">
                <a:latin typeface="+mn-lt"/>
                <a:ea typeface="+mn-ea"/>
              </a:rPr>
              <a:t>R1</a:t>
            </a:r>
            <a:r>
              <a:rPr lang="zh-CN" altLang="en-US" sz="2000" dirty="0" smtClean="0">
                <a:latin typeface="+mn-lt"/>
                <a:ea typeface="+mn-ea"/>
              </a:rPr>
              <a:t>是二元关系，</a:t>
            </a:r>
            <a:r>
              <a:rPr lang="en-US" altLang="zh-CN" sz="2000" dirty="0" smtClean="0">
                <a:latin typeface="+mn-lt"/>
                <a:ea typeface="+mn-ea"/>
              </a:rPr>
              <a:t>R2</a:t>
            </a:r>
            <a:r>
              <a:rPr lang="zh-CN" altLang="en-US" sz="2000" dirty="0" smtClean="0">
                <a:latin typeface="+mn-lt"/>
                <a:ea typeface="+mn-ea"/>
              </a:rPr>
              <a:t>不是二元关系，只是一个集合， 除非将</a:t>
            </a:r>
            <a:r>
              <a:rPr lang="en-US" altLang="zh-CN" sz="2000" dirty="0" smtClean="0">
                <a:latin typeface="+mn-lt"/>
                <a:ea typeface="+mn-ea"/>
              </a:rPr>
              <a:t>a</a:t>
            </a:r>
            <a:r>
              <a:rPr lang="zh-CN" altLang="en-US" sz="2000" dirty="0" smtClean="0">
                <a:latin typeface="+mn-lt"/>
                <a:ea typeface="+mn-ea"/>
              </a:rPr>
              <a:t>和</a:t>
            </a:r>
            <a:r>
              <a:rPr lang="en-US" altLang="zh-CN" sz="2000" dirty="0" smtClean="0">
                <a:latin typeface="+mn-lt"/>
                <a:ea typeface="+mn-ea"/>
              </a:rPr>
              <a:t>b</a:t>
            </a:r>
            <a:r>
              <a:rPr lang="zh-CN" altLang="en-US" sz="2000" dirty="0" smtClean="0">
                <a:latin typeface="+mn-lt"/>
                <a:ea typeface="+mn-ea"/>
              </a:rPr>
              <a:t>定义为有序对。</a:t>
            </a:r>
            <a:endParaRPr lang="en-US" altLang="zh-CN" sz="2000" dirty="0" smtClean="0">
              <a:latin typeface="+mn-lt"/>
              <a:ea typeface="+mn-ea"/>
            </a:endParaRPr>
          </a:p>
          <a:p>
            <a:pPr lvl="1" eaLnBrk="1" hangingPunct="1">
              <a:defRPr/>
            </a:pPr>
            <a:r>
              <a:rPr lang="en-US" altLang="zh-CN" sz="2000" dirty="0" smtClean="0">
                <a:latin typeface="+mn-lt"/>
                <a:ea typeface="+mn-ea"/>
              </a:rPr>
              <a:t>R</a:t>
            </a:r>
            <a:r>
              <a:rPr lang="zh-CN" altLang="en-US" sz="2000" dirty="0" smtClean="0">
                <a:latin typeface="+mn-lt"/>
                <a:ea typeface="+mn-ea"/>
              </a:rPr>
              <a:t>＝</a:t>
            </a:r>
            <a:r>
              <a:rPr lang="en-US" altLang="zh-CN" sz="2000" dirty="0" smtClean="0">
                <a:latin typeface="+mn-lt"/>
                <a:ea typeface="+mn-ea"/>
              </a:rPr>
              <a:t>{&lt;</a:t>
            </a:r>
            <a:r>
              <a:rPr lang="zh-CN" altLang="en-US" sz="2000" dirty="0" smtClean="0">
                <a:latin typeface="+mn-lt"/>
                <a:ea typeface="+mn-ea"/>
              </a:rPr>
              <a:t>上</a:t>
            </a:r>
            <a:r>
              <a:rPr lang="en-US" altLang="zh-CN" sz="2000" dirty="0" smtClean="0">
                <a:latin typeface="+mn-lt"/>
                <a:ea typeface="+mn-ea"/>
              </a:rPr>
              <a:t>,</a:t>
            </a:r>
            <a:r>
              <a:rPr lang="zh-CN" altLang="en-US" sz="2000" dirty="0" smtClean="0">
                <a:latin typeface="+mn-lt"/>
                <a:ea typeface="+mn-ea"/>
              </a:rPr>
              <a:t>下</a:t>
            </a:r>
            <a:r>
              <a:rPr lang="en-US" altLang="zh-CN" sz="2000" dirty="0" smtClean="0">
                <a:latin typeface="+mn-lt"/>
                <a:ea typeface="+mn-ea"/>
              </a:rPr>
              <a:t>&gt;,&lt;</a:t>
            </a:r>
            <a:r>
              <a:rPr lang="zh-CN" altLang="en-US" sz="2000" dirty="0" smtClean="0">
                <a:latin typeface="+mn-lt"/>
                <a:ea typeface="+mn-ea"/>
              </a:rPr>
              <a:t>前</a:t>
            </a:r>
            <a:r>
              <a:rPr lang="en-US" altLang="zh-CN" sz="2000" dirty="0" smtClean="0">
                <a:latin typeface="+mn-lt"/>
                <a:ea typeface="+mn-ea"/>
              </a:rPr>
              <a:t>,</a:t>
            </a:r>
            <a:r>
              <a:rPr lang="zh-CN" altLang="en-US" sz="2000" dirty="0" smtClean="0">
                <a:latin typeface="+mn-lt"/>
                <a:ea typeface="+mn-ea"/>
              </a:rPr>
              <a:t>后</a:t>
            </a:r>
            <a:r>
              <a:rPr lang="en-US" altLang="zh-CN" sz="2000" dirty="0" smtClean="0">
                <a:latin typeface="+mn-lt"/>
                <a:ea typeface="+mn-ea"/>
              </a:rPr>
              <a:t>&gt;,&lt;</a:t>
            </a:r>
            <a:r>
              <a:rPr lang="zh-CN" altLang="en-US" sz="2000" dirty="0" smtClean="0">
                <a:latin typeface="+mn-lt"/>
                <a:ea typeface="+mn-ea"/>
              </a:rPr>
              <a:t>正</a:t>
            </a:r>
            <a:r>
              <a:rPr lang="en-US" altLang="zh-CN" sz="2000" dirty="0" smtClean="0">
                <a:latin typeface="+mn-lt"/>
                <a:ea typeface="+mn-ea"/>
              </a:rPr>
              <a:t>,</a:t>
            </a:r>
            <a:r>
              <a:rPr lang="zh-CN" altLang="en-US" sz="2000" dirty="0" smtClean="0">
                <a:latin typeface="+mn-lt"/>
                <a:ea typeface="+mn-ea"/>
              </a:rPr>
              <a:t>反</a:t>
            </a:r>
            <a:r>
              <a:rPr lang="en-US" altLang="zh-CN" sz="2000" dirty="0" smtClean="0">
                <a:latin typeface="+mn-lt"/>
                <a:ea typeface="+mn-ea"/>
              </a:rPr>
              <a:t>&gt;,&lt;</a:t>
            </a:r>
            <a:r>
              <a:rPr lang="zh-CN" altLang="en-US" sz="2000" dirty="0" smtClean="0">
                <a:latin typeface="+mn-lt"/>
                <a:ea typeface="+mn-ea"/>
              </a:rPr>
              <a:t>左</a:t>
            </a:r>
            <a:r>
              <a:rPr lang="en-US" altLang="zh-CN" sz="2000" dirty="0" smtClean="0">
                <a:latin typeface="+mn-lt"/>
                <a:ea typeface="+mn-ea"/>
              </a:rPr>
              <a:t>,</a:t>
            </a:r>
            <a:r>
              <a:rPr lang="zh-CN" altLang="en-US" sz="2000" dirty="0" smtClean="0">
                <a:latin typeface="+mn-lt"/>
                <a:ea typeface="+mn-ea"/>
              </a:rPr>
              <a:t>右</a:t>
            </a:r>
            <a:r>
              <a:rPr lang="en-US" altLang="zh-CN" sz="2000" dirty="0" smtClean="0">
                <a:latin typeface="+mn-lt"/>
                <a:ea typeface="+mn-ea"/>
              </a:rPr>
              <a:t>&gt;}</a:t>
            </a:r>
            <a:r>
              <a:rPr lang="zh-CN" altLang="en-US" sz="2000" dirty="0" smtClean="0">
                <a:latin typeface="+mn-lt"/>
                <a:ea typeface="+mn-ea"/>
              </a:rPr>
              <a:t>是否为二元关系？</a:t>
            </a:r>
            <a:endParaRPr lang="en-US" altLang="zh-CN" sz="2000" dirty="0" smtClean="0">
              <a:latin typeface="+mn-lt"/>
              <a:ea typeface="+mn-ea"/>
            </a:endParaRPr>
          </a:p>
          <a:p>
            <a:pPr lvl="1" eaLnBrk="1" hangingPunct="1">
              <a:defRPr/>
            </a:pPr>
            <a:endParaRPr lang="en-US" altLang="zh-CN" sz="2000" dirty="0" smtClean="0">
              <a:sym typeface="Symbol" panose="05050102010706020507" pitchFamily="18" charset="2"/>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22531" name="Rectangle 2"/>
          <p:cNvSpPr>
            <a:spLocks noGrp="1" noChangeArrowheads="1"/>
          </p:cNvSpPr>
          <p:nvPr>
            <p:ph type="title"/>
          </p:nvPr>
        </p:nvSpPr>
        <p:spPr/>
        <p:txBody>
          <a:bodyPr/>
          <a:lstStyle/>
          <a:p>
            <a:pPr eaLnBrk="1" hangingPunct="1"/>
            <a:r>
              <a:rPr lang="en-US" altLang="zh-CN" b="0" dirty="0">
                <a:latin typeface="+mn-ea"/>
              </a:rPr>
              <a:t>1.3.1 </a:t>
            </a:r>
            <a:r>
              <a:rPr lang="zh-CN" altLang="en-US" b="0" dirty="0">
                <a:latin typeface="+mn-ea"/>
              </a:rPr>
              <a:t>集合、</a:t>
            </a:r>
            <a:r>
              <a:rPr lang="zh-CN" altLang="en-US" u="sng" dirty="0">
                <a:latin typeface="+mn-ea"/>
              </a:rPr>
              <a:t>关系</a:t>
            </a:r>
            <a:r>
              <a:rPr lang="zh-CN" altLang="en-US" b="0" dirty="0">
                <a:latin typeface="+mn-ea"/>
              </a:rPr>
              <a:t>、函数</a:t>
            </a:r>
            <a:endParaRPr lang="en-US" altLang="zh-CN" dirty="0" smtClean="0"/>
          </a:p>
        </p:txBody>
      </p:sp>
      <p:sp>
        <p:nvSpPr>
          <p:cNvPr id="95235" name="Rectangle 3"/>
          <p:cNvSpPr>
            <a:spLocks noGrp="1" noChangeArrowheads="1"/>
          </p:cNvSpPr>
          <p:nvPr>
            <p:ph type="body" idx="1"/>
          </p:nvPr>
        </p:nvSpPr>
        <p:spPr/>
        <p:txBody>
          <a:bodyPr/>
          <a:lstStyle/>
          <a:p>
            <a:pPr eaLnBrk="1" hangingPunct="1">
              <a:defRPr/>
            </a:pPr>
            <a:r>
              <a:rPr lang="en-US" altLang="zh-CN" dirty="0" smtClean="0">
                <a:solidFill>
                  <a:srgbClr val="FF0000"/>
                </a:solidFill>
                <a:sym typeface="Symbol" panose="05050102010706020507" pitchFamily="18" charset="2"/>
              </a:rPr>
              <a:t>R</a:t>
            </a:r>
            <a:r>
              <a:rPr lang="zh-CN" altLang="en-US" dirty="0" smtClean="0">
                <a:solidFill>
                  <a:srgbClr val="FF0000"/>
                </a:solidFill>
                <a:sym typeface="Symbol" panose="05050102010706020507" pitchFamily="18" charset="2"/>
              </a:rPr>
              <a:t>的定义域</a:t>
            </a:r>
            <a:endParaRPr lang="en-US" altLang="zh-CN" dirty="0" smtClean="0">
              <a:solidFill>
                <a:srgbClr val="FF0000"/>
              </a:solidFill>
              <a:sym typeface="Symbol" panose="05050102010706020507" pitchFamily="18" charset="2"/>
            </a:endParaRPr>
          </a:p>
          <a:p>
            <a:pPr lvl="1" eaLnBrk="1" hangingPunct="1">
              <a:defRPr/>
            </a:pPr>
            <a:r>
              <a:rPr lang="en-US" altLang="zh-CN" sz="2000" dirty="0" smtClean="0">
                <a:latin typeface="+mn-lt"/>
                <a:ea typeface="+mn-ea"/>
                <a:sym typeface="Symbol" panose="05050102010706020507" pitchFamily="18" charset="2"/>
              </a:rPr>
              <a:t>R</a:t>
            </a:r>
            <a:r>
              <a:rPr lang="zh-CN" altLang="en-US" sz="2000" dirty="0" smtClean="0">
                <a:latin typeface="+mn-lt"/>
                <a:ea typeface="+mn-ea"/>
                <a:sym typeface="Symbol" panose="05050102010706020507" pitchFamily="18" charset="2"/>
              </a:rPr>
              <a:t>的定义域，有时写成</a:t>
            </a:r>
            <a:r>
              <a:rPr lang="en-US" altLang="zh-CN" sz="2000" dirty="0" smtClean="0">
                <a:latin typeface="+mn-lt"/>
                <a:ea typeface="+mn-ea"/>
                <a:sym typeface="Symbol" panose="05050102010706020507" pitchFamily="18" charset="2"/>
              </a:rPr>
              <a:t> Dom (R)</a:t>
            </a:r>
            <a:r>
              <a:rPr lang="zh-CN" altLang="en-US" sz="2000" dirty="0" smtClean="0">
                <a:latin typeface="+mn-lt"/>
                <a:ea typeface="+mn-ea"/>
                <a:sym typeface="Symbol" panose="05050102010706020507" pitchFamily="18" charset="2"/>
              </a:rPr>
              <a:t>，定义为</a:t>
            </a:r>
            <a:endParaRPr lang="en-US" altLang="zh-CN" sz="2000" dirty="0" smtClean="0">
              <a:latin typeface="+mn-lt"/>
              <a:ea typeface="+mn-ea"/>
              <a:sym typeface="Symbol" panose="05050102010706020507" pitchFamily="18" charset="2"/>
            </a:endParaRPr>
          </a:p>
          <a:p>
            <a:pPr lvl="2" eaLnBrk="1" hangingPunct="1">
              <a:buFontTx/>
              <a:buNone/>
              <a:defRPr/>
            </a:pPr>
            <a:r>
              <a:rPr lang="en-US" altLang="zh-CN" dirty="0" smtClean="0">
                <a:latin typeface="+mn-lt"/>
                <a:ea typeface="+mn-ea"/>
                <a:sym typeface="Symbol" panose="05050102010706020507" pitchFamily="18" charset="2"/>
              </a:rPr>
              <a:t>      </a:t>
            </a:r>
            <a:r>
              <a:rPr lang="en-US" altLang="zh-CN" sz="2400" dirty="0" smtClean="0">
                <a:solidFill>
                  <a:srgbClr val="660066"/>
                </a:solidFill>
                <a:latin typeface="+mn-lt"/>
                <a:ea typeface="+mn-ea"/>
                <a:sym typeface="Symbol" panose="05050102010706020507" pitchFamily="18" charset="2"/>
              </a:rPr>
              <a:t>Dom (R)= {a| </a:t>
            </a:r>
            <a:r>
              <a:rPr lang="zh-CN" altLang="en-US" sz="2400" dirty="0" smtClean="0">
                <a:solidFill>
                  <a:srgbClr val="660066"/>
                </a:solidFill>
                <a:latin typeface="+mn-lt"/>
                <a:ea typeface="+mn-ea"/>
                <a:sym typeface="Symbol" panose="05050102010706020507" pitchFamily="18" charset="2"/>
              </a:rPr>
              <a:t>对某个</a:t>
            </a:r>
            <a:r>
              <a:rPr lang="en-US" altLang="zh-CN" sz="2400" dirty="0" err="1" smtClean="0">
                <a:solidFill>
                  <a:srgbClr val="660066"/>
                </a:solidFill>
                <a:latin typeface="+mn-lt"/>
                <a:ea typeface="+mn-ea"/>
                <a:sym typeface="Symbol" panose="05050102010706020507" pitchFamily="18" charset="2"/>
              </a:rPr>
              <a:t>bB</a:t>
            </a:r>
            <a:r>
              <a:rPr lang="en-US" altLang="zh-CN" sz="2400" dirty="0" smtClean="0">
                <a:solidFill>
                  <a:srgbClr val="660066"/>
                </a:solidFill>
                <a:latin typeface="+mn-lt"/>
                <a:ea typeface="+mn-ea"/>
                <a:sym typeface="Symbol" panose="05050102010706020507" pitchFamily="18" charset="2"/>
              </a:rPr>
              <a:t>, (</a:t>
            </a:r>
            <a:r>
              <a:rPr lang="en-US" altLang="zh-CN" sz="2400" dirty="0" err="1" smtClean="0">
                <a:solidFill>
                  <a:srgbClr val="660066"/>
                </a:solidFill>
                <a:latin typeface="+mn-lt"/>
                <a:ea typeface="+mn-ea"/>
                <a:sym typeface="Symbol" panose="05050102010706020507" pitchFamily="18" charset="2"/>
              </a:rPr>
              <a:t>a,b</a:t>
            </a:r>
            <a:r>
              <a:rPr lang="en-US" altLang="zh-CN" sz="2400" dirty="0" smtClean="0">
                <a:solidFill>
                  <a:srgbClr val="660066"/>
                </a:solidFill>
                <a:latin typeface="+mn-lt"/>
                <a:ea typeface="+mn-ea"/>
                <a:sym typeface="Symbol" panose="05050102010706020507" pitchFamily="18" charset="2"/>
              </a:rPr>
              <a:t>) R}</a:t>
            </a:r>
            <a:endParaRPr lang="en-US" altLang="zh-CN" sz="2400" dirty="0" smtClean="0">
              <a:solidFill>
                <a:srgbClr val="660066"/>
              </a:solidFill>
              <a:latin typeface="+mn-lt"/>
              <a:ea typeface="+mn-ea"/>
              <a:sym typeface="Symbol" panose="05050102010706020507" pitchFamily="18" charset="2"/>
            </a:endParaRPr>
          </a:p>
          <a:p>
            <a:pPr eaLnBrk="1" hangingPunct="1">
              <a:defRPr/>
            </a:pPr>
            <a:r>
              <a:rPr lang="en-US" altLang="zh-CN" dirty="0" smtClean="0">
                <a:solidFill>
                  <a:srgbClr val="FF0000"/>
                </a:solidFill>
                <a:sym typeface="Symbol" panose="05050102010706020507" pitchFamily="18" charset="2"/>
              </a:rPr>
              <a:t>R</a:t>
            </a:r>
            <a:r>
              <a:rPr lang="zh-CN" altLang="en-US" dirty="0" smtClean="0">
                <a:solidFill>
                  <a:srgbClr val="FF0000"/>
                </a:solidFill>
                <a:sym typeface="Symbol" panose="05050102010706020507" pitchFamily="18" charset="2"/>
              </a:rPr>
              <a:t>的值域</a:t>
            </a:r>
            <a:endParaRPr lang="en-US" altLang="zh-CN" dirty="0" smtClean="0">
              <a:solidFill>
                <a:srgbClr val="FF0000"/>
              </a:solidFill>
              <a:sym typeface="Symbol" panose="05050102010706020507" pitchFamily="18" charset="2"/>
            </a:endParaRPr>
          </a:p>
          <a:p>
            <a:pPr lvl="1" eaLnBrk="1" hangingPunct="1">
              <a:defRPr/>
            </a:pPr>
            <a:r>
              <a:rPr lang="en-US" altLang="zh-CN" sz="2000" dirty="0" smtClean="0">
                <a:latin typeface="+mn-lt"/>
                <a:ea typeface="+mn-ea"/>
                <a:sym typeface="Symbol" panose="05050102010706020507" pitchFamily="18" charset="2"/>
              </a:rPr>
              <a:t>R</a:t>
            </a:r>
            <a:r>
              <a:rPr lang="zh-CN" altLang="en-US" sz="2000" dirty="0" smtClean="0">
                <a:latin typeface="+mn-lt"/>
                <a:ea typeface="+mn-ea"/>
                <a:sym typeface="Symbol" panose="05050102010706020507" pitchFamily="18" charset="2"/>
              </a:rPr>
              <a:t>的值域</a:t>
            </a:r>
            <a:r>
              <a:rPr lang="en-US" altLang="zh-CN" sz="2000" dirty="0" smtClean="0">
                <a:latin typeface="+mn-lt"/>
                <a:ea typeface="+mn-ea"/>
                <a:sym typeface="Symbol" panose="05050102010706020507" pitchFamily="18" charset="2"/>
              </a:rPr>
              <a:t>, </a:t>
            </a:r>
            <a:r>
              <a:rPr lang="zh-CN" altLang="en-US" sz="2000" dirty="0" smtClean="0">
                <a:latin typeface="+mn-lt"/>
                <a:ea typeface="+mn-ea"/>
                <a:sym typeface="Symbol" panose="05050102010706020507" pitchFamily="18" charset="2"/>
              </a:rPr>
              <a:t>有时写成</a:t>
            </a:r>
            <a:r>
              <a:rPr lang="en-US" altLang="zh-CN" sz="2000" dirty="0" smtClean="0">
                <a:latin typeface="+mn-lt"/>
                <a:ea typeface="+mn-ea"/>
                <a:sym typeface="Symbol" panose="05050102010706020507" pitchFamily="18" charset="2"/>
              </a:rPr>
              <a:t> Ran (R), </a:t>
            </a:r>
            <a:r>
              <a:rPr lang="zh-CN" altLang="en-US" sz="2000" dirty="0" smtClean="0">
                <a:latin typeface="+mn-lt"/>
                <a:ea typeface="+mn-ea"/>
                <a:sym typeface="Symbol" panose="05050102010706020507" pitchFamily="18" charset="2"/>
              </a:rPr>
              <a:t>定义为</a:t>
            </a:r>
            <a:endParaRPr lang="en-US" altLang="zh-CN" sz="2000" dirty="0" smtClean="0">
              <a:latin typeface="+mn-lt"/>
              <a:ea typeface="+mn-ea"/>
              <a:sym typeface="Symbol" panose="05050102010706020507" pitchFamily="18" charset="2"/>
            </a:endParaRPr>
          </a:p>
          <a:p>
            <a:pPr lvl="2" eaLnBrk="1" hangingPunct="1">
              <a:buFontTx/>
              <a:buNone/>
              <a:defRPr/>
            </a:pPr>
            <a:r>
              <a:rPr lang="en-US" altLang="zh-CN" dirty="0" smtClean="0">
                <a:latin typeface="+mn-lt"/>
                <a:ea typeface="+mn-ea"/>
                <a:sym typeface="Symbol" panose="05050102010706020507" pitchFamily="18" charset="2"/>
              </a:rPr>
              <a:t>      </a:t>
            </a:r>
            <a:r>
              <a:rPr lang="en-US" altLang="zh-CN" sz="2400" dirty="0" smtClean="0">
                <a:solidFill>
                  <a:srgbClr val="660066"/>
                </a:solidFill>
                <a:latin typeface="+mn-lt"/>
                <a:ea typeface="+mn-ea"/>
                <a:sym typeface="Symbol" panose="05050102010706020507" pitchFamily="18" charset="2"/>
              </a:rPr>
              <a:t>Ran (R)= {b| </a:t>
            </a:r>
            <a:r>
              <a:rPr lang="zh-CN" altLang="en-US" sz="2400" dirty="0" smtClean="0">
                <a:solidFill>
                  <a:srgbClr val="660066"/>
                </a:solidFill>
                <a:latin typeface="+mn-lt"/>
                <a:ea typeface="+mn-ea"/>
                <a:sym typeface="Symbol" panose="05050102010706020507" pitchFamily="18" charset="2"/>
              </a:rPr>
              <a:t>对某个</a:t>
            </a:r>
            <a:r>
              <a:rPr lang="en-US" altLang="zh-CN" sz="2400" dirty="0" err="1" smtClean="0">
                <a:solidFill>
                  <a:srgbClr val="660066"/>
                </a:solidFill>
                <a:latin typeface="+mn-lt"/>
                <a:ea typeface="+mn-ea"/>
                <a:sym typeface="Symbol" panose="05050102010706020507" pitchFamily="18" charset="2"/>
              </a:rPr>
              <a:t>aA</a:t>
            </a:r>
            <a:r>
              <a:rPr lang="en-US" altLang="zh-CN" sz="2400" dirty="0" smtClean="0">
                <a:solidFill>
                  <a:srgbClr val="660066"/>
                </a:solidFill>
                <a:latin typeface="+mn-lt"/>
                <a:ea typeface="+mn-ea"/>
                <a:sym typeface="Symbol" panose="05050102010706020507" pitchFamily="18" charset="2"/>
              </a:rPr>
              <a:t>, (</a:t>
            </a:r>
            <a:r>
              <a:rPr lang="en-US" altLang="zh-CN" sz="2400" dirty="0" err="1" smtClean="0">
                <a:solidFill>
                  <a:srgbClr val="660066"/>
                </a:solidFill>
                <a:latin typeface="+mn-lt"/>
                <a:ea typeface="+mn-ea"/>
                <a:sym typeface="Symbol" panose="05050102010706020507" pitchFamily="18" charset="2"/>
              </a:rPr>
              <a:t>a,b</a:t>
            </a:r>
            <a:r>
              <a:rPr lang="en-US" altLang="zh-CN" sz="2400" dirty="0" smtClean="0">
                <a:solidFill>
                  <a:srgbClr val="660066"/>
                </a:solidFill>
                <a:latin typeface="+mn-lt"/>
                <a:ea typeface="+mn-ea"/>
                <a:sym typeface="Symbol" panose="05050102010706020507" pitchFamily="18" charset="2"/>
              </a:rPr>
              <a:t>) R}</a:t>
            </a:r>
            <a:endParaRPr lang="en-US" altLang="zh-CN" sz="2400" dirty="0">
              <a:solidFill>
                <a:srgbClr val="660066"/>
              </a:solidFill>
              <a:latin typeface="+mn-lt"/>
              <a:ea typeface="+mn-ea"/>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24579" name="Rectangle 2"/>
          <p:cNvSpPr>
            <a:spLocks noGrp="1" noChangeArrowheads="1"/>
          </p:cNvSpPr>
          <p:nvPr>
            <p:ph type="title"/>
          </p:nvPr>
        </p:nvSpPr>
        <p:spPr/>
        <p:txBody>
          <a:bodyPr/>
          <a:lstStyle/>
          <a:p>
            <a:pPr eaLnBrk="1" hangingPunct="1"/>
            <a:r>
              <a:rPr lang="en-US" altLang="zh-CN" b="0" dirty="0">
                <a:latin typeface="+mn-ea"/>
              </a:rPr>
              <a:t>1.3.1 </a:t>
            </a:r>
            <a:r>
              <a:rPr lang="zh-CN" altLang="en-US" b="0" dirty="0">
                <a:latin typeface="+mn-ea"/>
              </a:rPr>
              <a:t>集合、</a:t>
            </a:r>
            <a:r>
              <a:rPr lang="zh-CN" altLang="en-US" u="sng" dirty="0">
                <a:latin typeface="+mn-ea"/>
              </a:rPr>
              <a:t>关系</a:t>
            </a:r>
            <a:r>
              <a:rPr lang="zh-CN" altLang="en-US" b="0" dirty="0">
                <a:latin typeface="+mn-ea"/>
              </a:rPr>
              <a:t>、函数</a:t>
            </a:r>
            <a:endParaRPr lang="en-US" altLang="zh-CN" dirty="0" smtClean="0"/>
          </a:p>
        </p:txBody>
      </p:sp>
      <p:sp>
        <p:nvSpPr>
          <p:cNvPr id="24580" name="Rectangle 3"/>
          <p:cNvSpPr>
            <a:spLocks noGrp="1" noChangeArrowheads="1"/>
          </p:cNvSpPr>
          <p:nvPr>
            <p:ph type="body" idx="1"/>
          </p:nvPr>
        </p:nvSpPr>
        <p:spPr/>
        <p:txBody>
          <a:bodyPr/>
          <a:lstStyle/>
          <a:p>
            <a:pPr eaLnBrk="1" hangingPunct="1"/>
            <a:r>
              <a:rPr lang="zh-CN" altLang="en-US" dirty="0" smtClean="0"/>
              <a:t>例</a:t>
            </a:r>
            <a:r>
              <a:rPr lang="zh-CN" altLang="en-US" dirty="0"/>
              <a:t>子</a:t>
            </a:r>
            <a:endParaRPr lang="en-US" altLang="zh-CN" dirty="0" smtClean="0"/>
          </a:p>
          <a:p>
            <a:pPr marL="575945" indent="0" eaLnBrk="1" hangingPunct="1">
              <a:buNone/>
            </a:pPr>
            <a:r>
              <a:rPr lang="zh-CN" altLang="en-US" dirty="0" smtClean="0"/>
              <a:t>设</a:t>
            </a:r>
            <a:r>
              <a:rPr lang="en-US" altLang="zh-CN" dirty="0" smtClean="0"/>
              <a:t> </a:t>
            </a:r>
            <a:r>
              <a:rPr lang="en-US" altLang="zh-CN" dirty="0" err="1" smtClean="0"/>
              <a:t>R</a:t>
            </a:r>
            <a:r>
              <a:rPr lang="en-US" altLang="zh-CN" baseline="-25000" dirty="0" err="1" smtClean="0"/>
              <a:t>1</a:t>
            </a:r>
            <a:r>
              <a:rPr lang="en-US" altLang="zh-CN" dirty="0" smtClean="0"/>
              <a:t>={(2,5), (3,3)}, </a:t>
            </a:r>
            <a:endParaRPr lang="en-US" altLang="zh-CN" dirty="0" smtClean="0"/>
          </a:p>
          <a:p>
            <a:pPr marL="575945" indent="0" eaLnBrk="1" hangingPunct="1">
              <a:buNone/>
            </a:pPr>
            <a:r>
              <a:rPr lang="en-US" altLang="zh-CN" dirty="0" err="1" smtClean="0"/>
              <a:t>R</a:t>
            </a:r>
            <a:r>
              <a:rPr lang="en-US" altLang="zh-CN" baseline="-25000" dirty="0" err="1" smtClean="0"/>
              <a:t>2</a:t>
            </a:r>
            <a:r>
              <a:rPr lang="en-US" altLang="zh-CN" dirty="0" smtClean="0"/>
              <a:t>={(</a:t>
            </a:r>
            <a:r>
              <a:rPr lang="en-US" altLang="zh-CN" dirty="0" err="1" smtClean="0"/>
              <a:t>x,y</a:t>
            </a:r>
            <a:r>
              <a:rPr lang="en-US" altLang="zh-CN" dirty="0" smtClean="0"/>
              <a:t>)|x, y </a:t>
            </a:r>
            <a:r>
              <a:rPr lang="zh-CN" altLang="en-US" dirty="0" smtClean="0"/>
              <a:t>是正整数，且</a:t>
            </a:r>
            <a:r>
              <a:rPr lang="en-US" altLang="zh-CN" dirty="0" smtClean="0"/>
              <a:t> </a:t>
            </a:r>
            <a:r>
              <a:rPr lang="en-US" altLang="zh-CN" dirty="0" err="1" smtClean="0"/>
              <a:t>x</a:t>
            </a:r>
            <a:r>
              <a:rPr lang="en-US" altLang="zh-CN" dirty="0" err="1" smtClean="0">
                <a:sym typeface="Symbol" panose="05050102010706020507" pitchFamily="18" charset="2"/>
              </a:rPr>
              <a:t>y</a:t>
            </a:r>
            <a:r>
              <a:rPr lang="en-US" altLang="zh-CN" dirty="0" smtClean="0"/>
              <a:t>}</a:t>
            </a:r>
            <a:r>
              <a:rPr lang="zh-CN" altLang="en-US" dirty="0" smtClean="0"/>
              <a:t>，</a:t>
            </a:r>
            <a:endParaRPr lang="en-US" altLang="zh-CN" dirty="0" smtClean="0"/>
          </a:p>
          <a:p>
            <a:pPr marL="575945" indent="0" eaLnBrk="1" hangingPunct="1">
              <a:buNone/>
            </a:pPr>
            <a:r>
              <a:rPr lang="en-US" altLang="zh-CN" dirty="0" err="1" smtClean="0"/>
              <a:t>R</a:t>
            </a:r>
            <a:r>
              <a:rPr lang="en-US" altLang="zh-CN" baseline="-25000" dirty="0" err="1" smtClean="0"/>
              <a:t>3</a:t>
            </a:r>
            <a:r>
              <a:rPr lang="en-US" altLang="zh-CN" dirty="0" smtClean="0"/>
              <a:t>={(</a:t>
            </a:r>
            <a:r>
              <a:rPr lang="en-US" altLang="zh-CN" dirty="0" err="1" smtClean="0"/>
              <a:t>x,y</a:t>
            </a:r>
            <a:r>
              <a:rPr lang="en-US" altLang="zh-CN" dirty="0" smtClean="0"/>
              <a:t>)|x, y </a:t>
            </a:r>
            <a:r>
              <a:rPr lang="zh-CN" altLang="en-US" dirty="0" smtClean="0"/>
              <a:t>是实数，且</a:t>
            </a:r>
            <a:r>
              <a:rPr lang="en-US" altLang="zh-CN" dirty="0" smtClean="0"/>
              <a:t> </a:t>
            </a:r>
            <a:r>
              <a:rPr lang="en-US" altLang="zh-CN" dirty="0" err="1" smtClean="0"/>
              <a:t>x</a:t>
            </a:r>
            <a:r>
              <a:rPr lang="en-US" altLang="zh-CN" baseline="30000" dirty="0" err="1" smtClean="0"/>
              <a:t>2</a:t>
            </a:r>
            <a:r>
              <a:rPr lang="en-US" altLang="zh-CN" dirty="0" err="1" smtClean="0"/>
              <a:t>+y</a:t>
            </a:r>
            <a:r>
              <a:rPr lang="en-US" altLang="zh-CN" baseline="30000" dirty="0" err="1" smtClean="0"/>
              <a:t>2</a:t>
            </a:r>
            <a:r>
              <a:rPr lang="en-US" altLang="zh-CN" dirty="0" err="1" smtClean="0">
                <a:sym typeface="Symbol" panose="05050102010706020507" pitchFamily="18" charset="2"/>
              </a:rPr>
              <a:t>1</a:t>
            </a:r>
            <a:r>
              <a:rPr lang="en-US" altLang="zh-CN" dirty="0" smtClean="0"/>
              <a:t>}. </a:t>
            </a:r>
            <a:endParaRPr lang="en-US" altLang="zh-CN" dirty="0" smtClean="0"/>
          </a:p>
          <a:p>
            <a:pPr eaLnBrk="1" hangingPunct="1">
              <a:buFontTx/>
              <a:buNone/>
            </a:pPr>
            <a:r>
              <a:rPr lang="en-US" altLang="zh-CN" dirty="0" smtClean="0"/>
              <a:t>	</a:t>
            </a:r>
            <a:endParaRPr lang="en-US" altLang="zh-CN" dirty="0" smtClean="0"/>
          </a:p>
          <a:p>
            <a:pPr eaLnBrk="1" hangingPunct="1">
              <a:buFontTx/>
              <a:buNone/>
            </a:pPr>
            <a:r>
              <a:rPr lang="en-US" altLang="zh-CN" dirty="0" smtClean="0"/>
              <a:t>	   </a:t>
            </a:r>
            <a:r>
              <a:rPr lang="zh-CN" altLang="en-US" dirty="0" smtClean="0"/>
              <a:t>那么</a:t>
            </a:r>
            <a:r>
              <a:rPr lang="en-US" altLang="zh-CN" dirty="0" smtClean="0"/>
              <a:t> Dom(</a:t>
            </a:r>
            <a:r>
              <a:rPr lang="en-US" altLang="zh-CN" dirty="0" err="1" smtClean="0"/>
              <a:t>R</a:t>
            </a:r>
            <a:r>
              <a:rPr lang="en-US" altLang="zh-CN" baseline="-25000" dirty="0" err="1" smtClean="0"/>
              <a:t>1</a:t>
            </a:r>
            <a:r>
              <a:rPr lang="en-US" altLang="zh-CN" dirty="0" smtClean="0"/>
              <a:t>)={2,3} </a:t>
            </a:r>
            <a:r>
              <a:rPr lang="zh-CN" altLang="en-US" dirty="0" smtClean="0"/>
              <a:t>，</a:t>
            </a:r>
            <a:r>
              <a:rPr lang="en-US" altLang="zh-CN" dirty="0" smtClean="0"/>
              <a:t>Ran(</a:t>
            </a:r>
            <a:r>
              <a:rPr lang="en-US" altLang="zh-CN" dirty="0" err="1" smtClean="0"/>
              <a:t>R</a:t>
            </a:r>
            <a:r>
              <a:rPr lang="en-US" altLang="zh-CN" baseline="-25000" dirty="0" err="1" smtClean="0"/>
              <a:t>1</a:t>
            </a:r>
            <a:r>
              <a:rPr lang="en-US" altLang="zh-CN" dirty="0" smtClean="0"/>
              <a:t>)={5,3}, Dom(</a:t>
            </a:r>
            <a:r>
              <a:rPr lang="en-US" altLang="zh-CN" dirty="0" err="1" smtClean="0"/>
              <a:t>R</a:t>
            </a:r>
            <a:r>
              <a:rPr lang="en-US" altLang="zh-CN" baseline="-25000" dirty="0" err="1" smtClean="0"/>
              <a:t>2</a:t>
            </a:r>
            <a:r>
              <a:rPr lang="en-US" altLang="zh-CN" dirty="0" smtClean="0"/>
              <a:t>)= Ran(</a:t>
            </a:r>
            <a:r>
              <a:rPr lang="en-US" altLang="zh-CN" dirty="0" err="1" smtClean="0"/>
              <a:t>R</a:t>
            </a:r>
            <a:r>
              <a:rPr lang="en-US" altLang="zh-CN" baseline="-25000" dirty="0" err="1" smtClean="0"/>
              <a:t>2</a:t>
            </a:r>
            <a:r>
              <a:rPr lang="en-US" altLang="zh-CN" baseline="-25000" dirty="0" smtClean="0"/>
              <a:t> </a:t>
            </a:r>
            <a:r>
              <a:rPr lang="en-US" altLang="zh-CN" dirty="0" smtClean="0"/>
              <a:t>) </a:t>
            </a:r>
            <a:r>
              <a:rPr lang="zh-CN" altLang="en-US" dirty="0" smtClean="0"/>
              <a:t>是自然数集合</a:t>
            </a:r>
            <a:r>
              <a:rPr lang="en-US" altLang="zh-CN" dirty="0" smtClean="0"/>
              <a:t>, Dom(</a:t>
            </a:r>
            <a:r>
              <a:rPr lang="en-US" altLang="zh-CN" dirty="0" err="1" smtClean="0"/>
              <a:t>R</a:t>
            </a:r>
            <a:r>
              <a:rPr lang="en-US" altLang="zh-CN" baseline="-25000" dirty="0" err="1" smtClean="0"/>
              <a:t>3</a:t>
            </a:r>
            <a:r>
              <a:rPr lang="en-US" altLang="zh-CN" dirty="0" smtClean="0"/>
              <a:t>)= Ran(</a:t>
            </a:r>
            <a:r>
              <a:rPr lang="en-US" altLang="zh-CN" dirty="0" err="1" smtClean="0"/>
              <a:t>R</a:t>
            </a:r>
            <a:r>
              <a:rPr lang="en-US" altLang="zh-CN" baseline="-25000" dirty="0" err="1" smtClean="0"/>
              <a:t>3</a:t>
            </a:r>
            <a:r>
              <a:rPr lang="en-US" altLang="zh-CN" baseline="-25000" dirty="0" smtClean="0"/>
              <a:t> </a:t>
            </a:r>
            <a:r>
              <a:rPr lang="en-US" altLang="zh-CN" dirty="0" smtClean="0"/>
              <a:t>) </a:t>
            </a:r>
            <a:r>
              <a:rPr lang="zh-CN" altLang="en-US" dirty="0" smtClean="0"/>
              <a:t>是在区间</a:t>
            </a:r>
            <a:r>
              <a:rPr lang="en-US" altLang="zh-CN" dirty="0" smtClean="0"/>
              <a:t>[-1..1]</a:t>
            </a:r>
            <a:r>
              <a:rPr lang="zh-CN" altLang="en-US" dirty="0" smtClean="0"/>
              <a:t>中的实数集合</a:t>
            </a:r>
            <a:r>
              <a:rPr lang="en-US" altLang="zh-CN" dirty="0" smtClean="0"/>
              <a:t>.</a:t>
            </a:r>
            <a:endParaRPr lang="en-US" altLang="zh-CN" dirty="0" smtClean="0"/>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26627" name="Rectangle 2"/>
          <p:cNvSpPr>
            <a:spLocks noGrp="1" noChangeArrowheads="1"/>
          </p:cNvSpPr>
          <p:nvPr>
            <p:ph type="title"/>
          </p:nvPr>
        </p:nvSpPr>
        <p:spPr/>
        <p:txBody>
          <a:bodyPr/>
          <a:lstStyle/>
          <a:p>
            <a:pPr eaLnBrk="1" hangingPunct="1"/>
            <a:r>
              <a:rPr lang="en-US" altLang="zh-CN" b="0" dirty="0">
                <a:latin typeface="+mn-ea"/>
              </a:rPr>
              <a:t>1.3.1 </a:t>
            </a:r>
            <a:r>
              <a:rPr lang="zh-CN" altLang="en-US" b="0" dirty="0">
                <a:latin typeface="+mn-ea"/>
              </a:rPr>
              <a:t>集合、</a:t>
            </a:r>
            <a:r>
              <a:rPr lang="zh-CN" altLang="en-US" u="sng" dirty="0">
                <a:latin typeface="+mn-ea"/>
              </a:rPr>
              <a:t>关系</a:t>
            </a:r>
            <a:r>
              <a:rPr lang="zh-CN" altLang="en-US" b="0" dirty="0">
                <a:latin typeface="+mn-ea"/>
              </a:rPr>
              <a:t>、函数</a:t>
            </a:r>
            <a:endParaRPr lang="en-US" altLang="zh-CN" dirty="0" smtClean="0"/>
          </a:p>
        </p:txBody>
      </p:sp>
      <p:sp>
        <p:nvSpPr>
          <p:cNvPr id="96259" name="Rectangle 3"/>
          <p:cNvSpPr>
            <a:spLocks noGrp="1" noChangeArrowheads="1"/>
          </p:cNvSpPr>
          <p:nvPr>
            <p:ph type="body" idx="1"/>
          </p:nvPr>
        </p:nvSpPr>
        <p:spPr>
          <a:xfrm>
            <a:off x="914400" y="1250950"/>
            <a:ext cx="8229600" cy="5294313"/>
          </a:xfrm>
        </p:spPr>
        <p:txBody>
          <a:bodyPr/>
          <a:lstStyle/>
          <a:p>
            <a:pPr eaLnBrk="1" hangingPunct="1">
              <a:buFontTx/>
              <a:buNone/>
              <a:defRPr/>
            </a:pPr>
            <a:r>
              <a:rPr lang="zh-CN" altLang="en-US" sz="2000" dirty="0" smtClean="0"/>
              <a:t>设</a:t>
            </a:r>
            <a:r>
              <a:rPr lang="en-US" altLang="zh-CN" sz="2000" dirty="0" smtClean="0"/>
              <a:t>R</a:t>
            </a:r>
            <a:r>
              <a:rPr lang="zh-CN" altLang="en-US" sz="2000" dirty="0" smtClean="0"/>
              <a:t>是在集合</a:t>
            </a:r>
            <a:r>
              <a:rPr lang="en-US" altLang="zh-CN" sz="2000" dirty="0" smtClean="0"/>
              <a:t>A</a:t>
            </a:r>
            <a:r>
              <a:rPr lang="zh-CN" altLang="en-US" sz="2000" dirty="0" smtClean="0"/>
              <a:t>上的关系</a:t>
            </a:r>
            <a:r>
              <a:rPr lang="en-US" altLang="zh-CN" sz="2000" dirty="0" smtClean="0"/>
              <a:t>.</a:t>
            </a:r>
            <a:endParaRPr lang="en-US" altLang="zh-CN" sz="2000" dirty="0" smtClean="0"/>
          </a:p>
          <a:p>
            <a:pPr eaLnBrk="1" hangingPunct="1">
              <a:defRPr/>
            </a:pPr>
            <a:r>
              <a:rPr lang="zh-CN" altLang="en-US" sz="1800" dirty="0" smtClean="0">
                <a:solidFill>
                  <a:srgbClr val="FF0000"/>
                </a:solidFill>
              </a:rPr>
              <a:t>自反</a:t>
            </a:r>
            <a:r>
              <a:rPr lang="en-US" altLang="zh-CN" sz="1800" dirty="0" smtClean="0">
                <a:solidFill>
                  <a:srgbClr val="FF0000"/>
                </a:solidFill>
              </a:rPr>
              <a:t>/</a:t>
            </a:r>
            <a:r>
              <a:rPr lang="zh-CN" altLang="en-US" sz="1800" dirty="0" smtClean="0">
                <a:solidFill>
                  <a:srgbClr val="FF0000"/>
                </a:solidFill>
              </a:rPr>
              <a:t>反自反</a:t>
            </a:r>
            <a:endParaRPr lang="en-US" altLang="zh-CN" sz="1900" dirty="0" smtClean="0">
              <a:solidFill>
                <a:srgbClr val="FF0000"/>
              </a:solidFill>
            </a:endParaRPr>
          </a:p>
          <a:p>
            <a:pPr lvl="1" eaLnBrk="1" hangingPunct="1">
              <a:defRPr/>
            </a:pPr>
            <a:r>
              <a:rPr lang="zh-CN" altLang="en-US" sz="1900" dirty="0" smtClean="0">
                <a:latin typeface="+mn-lt"/>
                <a:ea typeface="+mn-ea"/>
              </a:rPr>
              <a:t>如果对所有的</a:t>
            </a:r>
            <a:r>
              <a:rPr lang="en-US" altLang="zh-CN" sz="1900" dirty="0" smtClean="0">
                <a:latin typeface="+mn-lt"/>
                <a:ea typeface="+mn-ea"/>
                <a:sym typeface="Symbol" panose="05050102010706020507" pitchFamily="18" charset="2"/>
              </a:rPr>
              <a:t>a A </a:t>
            </a:r>
            <a:r>
              <a:rPr lang="zh-CN" altLang="en-US" sz="1900" dirty="0" smtClean="0">
                <a:latin typeface="+mn-lt"/>
                <a:ea typeface="+mn-ea"/>
                <a:sym typeface="Symbol" panose="05050102010706020507" pitchFamily="18" charset="2"/>
              </a:rPr>
              <a:t>，有</a:t>
            </a:r>
            <a:r>
              <a:rPr lang="en-US" altLang="zh-CN" sz="1900" dirty="0" smtClean="0">
                <a:latin typeface="+mn-lt"/>
                <a:ea typeface="+mn-ea"/>
              </a:rPr>
              <a:t>(</a:t>
            </a:r>
            <a:r>
              <a:rPr lang="en-US" altLang="zh-CN" sz="1900" dirty="0" err="1" smtClean="0">
                <a:latin typeface="+mn-lt"/>
                <a:ea typeface="+mn-ea"/>
              </a:rPr>
              <a:t>a,a</a:t>
            </a:r>
            <a:r>
              <a:rPr lang="en-US" altLang="zh-CN" sz="1900" dirty="0" smtClean="0">
                <a:latin typeface="+mn-lt"/>
                <a:ea typeface="+mn-ea"/>
              </a:rPr>
              <a:t>)</a:t>
            </a:r>
            <a:r>
              <a:rPr lang="en-US" altLang="zh-CN" sz="1900" dirty="0" smtClean="0">
                <a:latin typeface="+mn-lt"/>
                <a:ea typeface="+mn-ea"/>
                <a:sym typeface="Symbol" panose="05050102010706020507" pitchFamily="18" charset="2"/>
              </a:rPr>
              <a:t>R </a:t>
            </a:r>
            <a:r>
              <a:rPr lang="zh-CN" altLang="en-US" sz="1900" dirty="0" smtClean="0">
                <a:latin typeface="+mn-lt"/>
                <a:ea typeface="+mn-ea"/>
                <a:sym typeface="Symbol" panose="05050102010706020507" pitchFamily="18" charset="2"/>
              </a:rPr>
              <a:t>，则称</a:t>
            </a:r>
            <a:r>
              <a:rPr lang="en-US" altLang="zh-CN" sz="1900" dirty="0" smtClean="0">
                <a:latin typeface="+mn-lt"/>
                <a:ea typeface="+mn-ea"/>
                <a:sym typeface="Symbol" panose="05050102010706020507" pitchFamily="18" charset="2"/>
              </a:rPr>
              <a:t>R</a:t>
            </a:r>
            <a:r>
              <a:rPr lang="zh-CN" altLang="en-US" sz="1900" dirty="0" smtClean="0">
                <a:latin typeface="+mn-lt"/>
                <a:ea typeface="+mn-ea"/>
                <a:sym typeface="Symbol" panose="05050102010706020507" pitchFamily="18" charset="2"/>
              </a:rPr>
              <a:t>是自反的；</a:t>
            </a:r>
            <a:endParaRPr lang="en-US" altLang="zh-CN" sz="1900" dirty="0" smtClean="0">
              <a:latin typeface="+mn-lt"/>
              <a:ea typeface="+mn-ea"/>
              <a:sym typeface="Symbol" panose="05050102010706020507" pitchFamily="18" charset="2"/>
            </a:endParaRPr>
          </a:p>
          <a:p>
            <a:pPr lvl="1" eaLnBrk="1" hangingPunct="1">
              <a:defRPr/>
            </a:pPr>
            <a:r>
              <a:rPr lang="zh-CN" altLang="en-US" sz="1900" dirty="0" smtClean="0">
                <a:latin typeface="+mn-lt"/>
                <a:ea typeface="+mn-ea"/>
              </a:rPr>
              <a:t>如果对所有的</a:t>
            </a:r>
            <a:r>
              <a:rPr lang="en-US" altLang="zh-CN" sz="1900" dirty="0" smtClean="0">
                <a:latin typeface="+mn-lt"/>
                <a:ea typeface="+mn-ea"/>
                <a:sym typeface="Symbol" panose="05050102010706020507" pitchFamily="18" charset="2"/>
              </a:rPr>
              <a:t>a A </a:t>
            </a:r>
            <a:r>
              <a:rPr lang="zh-CN" altLang="en-US" sz="1900" dirty="0" smtClean="0">
                <a:latin typeface="+mn-lt"/>
                <a:ea typeface="+mn-ea"/>
                <a:sym typeface="Symbol" panose="05050102010706020507" pitchFamily="18" charset="2"/>
              </a:rPr>
              <a:t>，有</a:t>
            </a:r>
            <a:r>
              <a:rPr lang="en-US" altLang="zh-CN" sz="1900" dirty="0" smtClean="0">
                <a:latin typeface="+mn-lt"/>
                <a:ea typeface="+mn-ea"/>
                <a:sym typeface="Symbol" panose="05050102010706020507" pitchFamily="18" charset="2"/>
              </a:rPr>
              <a:t>(</a:t>
            </a:r>
            <a:r>
              <a:rPr lang="en-US" altLang="zh-CN" sz="1900" dirty="0" err="1" smtClean="0">
                <a:latin typeface="+mn-lt"/>
                <a:ea typeface="+mn-ea"/>
                <a:sym typeface="Symbol" panose="05050102010706020507" pitchFamily="18" charset="2"/>
              </a:rPr>
              <a:t>a,a</a:t>
            </a:r>
            <a:r>
              <a:rPr lang="en-US" altLang="zh-CN" sz="1900" dirty="0" smtClean="0">
                <a:latin typeface="+mn-lt"/>
                <a:ea typeface="+mn-ea"/>
                <a:sym typeface="Symbol" panose="05050102010706020507" pitchFamily="18" charset="2"/>
              </a:rPr>
              <a:t>)R </a:t>
            </a:r>
            <a:r>
              <a:rPr lang="zh-CN" altLang="en-US" sz="1900" dirty="0" smtClean="0">
                <a:latin typeface="+mn-lt"/>
                <a:ea typeface="+mn-ea"/>
                <a:sym typeface="Symbol" panose="05050102010706020507" pitchFamily="18" charset="2"/>
              </a:rPr>
              <a:t>，则称</a:t>
            </a:r>
            <a:r>
              <a:rPr lang="en-US" altLang="zh-CN" sz="1900" dirty="0" smtClean="0">
                <a:latin typeface="+mn-lt"/>
                <a:ea typeface="+mn-ea"/>
                <a:sym typeface="Symbol" panose="05050102010706020507" pitchFamily="18" charset="2"/>
              </a:rPr>
              <a:t>R</a:t>
            </a:r>
            <a:r>
              <a:rPr lang="zh-CN" altLang="en-US" sz="1900" dirty="0" smtClean="0">
                <a:latin typeface="+mn-lt"/>
                <a:ea typeface="+mn-ea"/>
                <a:sym typeface="Symbol" panose="05050102010706020507" pitchFamily="18" charset="2"/>
              </a:rPr>
              <a:t>是反自反的；</a:t>
            </a:r>
            <a:endParaRPr lang="en-US" altLang="zh-CN" sz="1900" dirty="0" smtClean="0">
              <a:latin typeface="+mn-lt"/>
              <a:ea typeface="+mn-ea"/>
              <a:sym typeface="Symbol" panose="05050102010706020507" pitchFamily="18" charset="2"/>
            </a:endParaRPr>
          </a:p>
          <a:p>
            <a:pPr eaLnBrk="1" hangingPunct="1">
              <a:defRPr/>
            </a:pPr>
            <a:r>
              <a:rPr lang="zh-CN" altLang="en-US" sz="1800" dirty="0" smtClean="0">
                <a:solidFill>
                  <a:srgbClr val="FF0000"/>
                </a:solidFill>
                <a:sym typeface="Symbol" panose="05050102010706020507" pitchFamily="18" charset="2"/>
              </a:rPr>
              <a:t>对称</a:t>
            </a:r>
            <a:r>
              <a:rPr lang="en-US" altLang="zh-CN" sz="1800" dirty="0" smtClean="0">
                <a:solidFill>
                  <a:srgbClr val="FF0000"/>
                </a:solidFill>
                <a:sym typeface="Symbol" panose="05050102010706020507" pitchFamily="18" charset="2"/>
              </a:rPr>
              <a:t>/</a:t>
            </a:r>
            <a:r>
              <a:rPr lang="zh-CN" altLang="en-US" sz="1800" dirty="0" smtClean="0">
                <a:solidFill>
                  <a:srgbClr val="FF0000"/>
                </a:solidFill>
                <a:sym typeface="Symbol" panose="05050102010706020507" pitchFamily="18" charset="2"/>
              </a:rPr>
              <a:t>非对称</a:t>
            </a:r>
            <a:r>
              <a:rPr lang="en-US" altLang="zh-CN" sz="1800" dirty="0" smtClean="0">
                <a:solidFill>
                  <a:srgbClr val="FF0000"/>
                </a:solidFill>
                <a:sym typeface="Symbol" panose="05050102010706020507" pitchFamily="18" charset="2"/>
              </a:rPr>
              <a:t>/</a:t>
            </a:r>
            <a:r>
              <a:rPr lang="zh-CN" altLang="en-US" sz="1800" dirty="0" smtClean="0">
                <a:solidFill>
                  <a:srgbClr val="FF0000"/>
                </a:solidFill>
                <a:sym typeface="Symbol" panose="05050102010706020507" pitchFamily="18" charset="2"/>
              </a:rPr>
              <a:t>反对称</a:t>
            </a:r>
            <a:endParaRPr lang="en-US" altLang="zh-CN" sz="1800" dirty="0" smtClean="0">
              <a:solidFill>
                <a:srgbClr val="FF0000"/>
              </a:solidFill>
              <a:sym typeface="Symbol" panose="05050102010706020507" pitchFamily="18" charset="2"/>
            </a:endParaRPr>
          </a:p>
          <a:p>
            <a:pPr lvl="1" eaLnBrk="1" hangingPunct="1">
              <a:defRPr/>
            </a:pPr>
            <a:r>
              <a:rPr lang="zh-CN" altLang="en-US" sz="1900" dirty="0" smtClean="0">
                <a:latin typeface="+mn-lt"/>
                <a:ea typeface="+mn-ea"/>
              </a:rPr>
              <a:t>如果 </a:t>
            </a:r>
            <a:r>
              <a:rPr lang="en-US" altLang="zh-CN" sz="1900" dirty="0" smtClean="0">
                <a:latin typeface="+mn-lt"/>
                <a:ea typeface="+mn-ea"/>
                <a:sym typeface="Symbol" panose="05050102010706020507" pitchFamily="18" charset="2"/>
              </a:rPr>
              <a:t>(</a:t>
            </a:r>
            <a:r>
              <a:rPr lang="en-US" altLang="zh-CN" sz="1900" dirty="0" err="1" smtClean="0">
                <a:latin typeface="+mn-lt"/>
                <a:ea typeface="+mn-ea"/>
                <a:sym typeface="Symbol" panose="05050102010706020507" pitchFamily="18" charset="2"/>
              </a:rPr>
              <a:t>a,b</a:t>
            </a:r>
            <a:r>
              <a:rPr lang="en-US" altLang="zh-CN" sz="1900" dirty="0" smtClean="0">
                <a:latin typeface="+mn-lt"/>
                <a:ea typeface="+mn-ea"/>
                <a:sym typeface="Symbol" panose="05050102010706020507" pitchFamily="18" charset="2"/>
              </a:rPr>
              <a:t>) R </a:t>
            </a:r>
            <a:r>
              <a:rPr lang="zh-CN" altLang="en-US" sz="1900" dirty="0" smtClean="0">
                <a:latin typeface="+mn-lt"/>
                <a:ea typeface="+mn-ea"/>
                <a:sym typeface="Symbol" panose="05050102010706020507" pitchFamily="18" charset="2"/>
              </a:rPr>
              <a:t>蕴含着</a:t>
            </a:r>
            <a:r>
              <a:rPr lang="en-US" altLang="zh-CN" sz="1900" dirty="0" smtClean="0">
                <a:latin typeface="+mn-lt"/>
                <a:ea typeface="+mn-ea"/>
                <a:sym typeface="Symbol" panose="05050102010706020507" pitchFamily="18" charset="2"/>
              </a:rPr>
              <a:t>(</a:t>
            </a:r>
            <a:r>
              <a:rPr lang="en-US" altLang="zh-CN" sz="1900" dirty="0" err="1" smtClean="0">
                <a:latin typeface="+mn-lt"/>
                <a:ea typeface="+mn-ea"/>
                <a:sym typeface="Symbol" panose="05050102010706020507" pitchFamily="18" charset="2"/>
              </a:rPr>
              <a:t>b,a</a:t>
            </a:r>
            <a:r>
              <a:rPr lang="en-US" altLang="zh-CN" sz="1900" dirty="0" smtClean="0">
                <a:latin typeface="+mn-lt"/>
                <a:ea typeface="+mn-ea"/>
                <a:sym typeface="Symbol" panose="05050102010706020507" pitchFamily="18" charset="2"/>
              </a:rPr>
              <a:t>) R </a:t>
            </a:r>
            <a:r>
              <a:rPr lang="zh-CN" altLang="en-US" sz="1900" dirty="0" smtClean="0">
                <a:latin typeface="+mn-lt"/>
                <a:ea typeface="+mn-ea"/>
                <a:sym typeface="Symbol" panose="05050102010706020507" pitchFamily="18" charset="2"/>
              </a:rPr>
              <a:t>，则称</a:t>
            </a:r>
            <a:r>
              <a:rPr lang="en-US" altLang="zh-CN" sz="1900" dirty="0" smtClean="0">
                <a:latin typeface="+mn-lt"/>
                <a:ea typeface="+mn-ea"/>
                <a:sym typeface="Symbol" panose="05050102010706020507" pitchFamily="18" charset="2"/>
              </a:rPr>
              <a:t>R</a:t>
            </a:r>
            <a:r>
              <a:rPr lang="zh-CN" altLang="en-US" sz="1900" dirty="0" smtClean="0">
                <a:latin typeface="+mn-lt"/>
                <a:ea typeface="+mn-ea"/>
                <a:sym typeface="Symbol" panose="05050102010706020507" pitchFamily="18" charset="2"/>
              </a:rPr>
              <a:t>是为对称的；</a:t>
            </a:r>
            <a:endParaRPr lang="en-US" altLang="zh-CN" sz="1900" dirty="0" smtClean="0">
              <a:latin typeface="+mn-lt"/>
              <a:ea typeface="+mn-ea"/>
              <a:sym typeface="Symbol" panose="05050102010706020507" pitchFamily="18" charset="2"/>
            </a:endParaRPr>
          </a:p>
          <a:p>
            <a:pPr lvl="1" eaLnBrk="1" hangingPunct="1">
              <a:defRPr/>
            </a:pPr>
            <a:r>
              <a:rPr lang="zh-CN" altLang="en-US" sz="1900" dirty="0" smtClean="0">
                <a:latin typeface="+mn-lt"/>
                <a:ea typeface="+mn-ea"/>
              </a:rPr>
              <a:t>如果 </a:t>
            </a:r>
            <a:r>
              <a:rPr lang="en-US" altLang="zh-CN" sz="1900" dirty="0" smtClean="0">
                <a:latin typeface="+mn-lt"/>
                <a:ea typeface="+mn-ea"/>
                <a:sym typeface="Symbol" panose="05050102010706020507" pitchFamily="18" charset="2"/>
              </a:rPr>
              <a:t>(</a:t>
            </a:r>
            <a:r>
              <a:rPr lang="en-US" altLang="zh-CN" sz="1900" dirty="0" err="1" smtClean="0">
                <a:latin typeface="+mn-lt"/>
                <a:ea typeface="+mn-ea"/>
                <a:sym typeface="Symbol" panose="05050102010706020507" pitchFamily="18" charset="2"/>
              </a:rPr>
              <a:t>a,b</a:t>
            </a:r>
            <a:r>
              <a:rPr lang="en-US" altLang="zh-CN" sz="1900" dirty="0" smtClean="0">
                <a:latin typeface="+mn-lt"/>
                <a:ea typeface="+mn-ea"/>
                <a:sym typeface="Symbol" panose="05050102010706020507" pitchFamily="18" charset="2"/>
              </a:rPr>
              <a:t>) R </a:t>
            </a:r>
            <a:r>
              <a:rPr lang="zh-CN" altLang="en-US" sz="1900" dirty="0" smtClean="0">
                <a:latin typeface="+mn-lt"/>
                <a:ea typeface="+mn-ea"/>
                <a:sym typeface="Symbol" panose="05050102010706020507" pitchFamily="18" charset="2"/>
              </a:rPr>
              <a:t>蕴含着</a:t>
            </a:r>
            <a:r>
              <a:rPr lang="en-US" altLang="zh-CN" sz="1900" dirty="0" smtClean="0">
                <a:latin typeface="+mn-lt"/>
                <a:ea typeface="+mn-ea"/>
                <a:sym typeface="Symbol" panose="05050102010706020507" pitchFamily="18" charset="2"/>
              </a:rPr>
              <a:t>(</a:t>
            </a:r>
            <a:r>
              <a:rPr lang="en-US" altLang="zh-CN" sz="1900" dirty="0" err="1" smtClean="0">
                <a:latin typeface="+mn-lt"/>
                <a:ea typeface="+mn-ea"/>
                <a:sym typeface="Symbol" panose="05050102010706020507" pitchFamily="18" charset="2"/>
              </a:rPr>
              <a:t>b,a</a:t>
            </a:r>
            <a:r>
              <a:rPr lang="en-US" altLang="zh-CN" sz="1900" dirty="0" smtClean="0">
                <a:latin typeface="+mn-lt"/>
                <a:ea typeface="+mn-ea"/>
                <a:sym typeface="Symbol" panose="05050102010706020507" pitchFamily="18" charset="2"/>
              </a:rPr>
              <a:t>) R </a:t>
            </a:r>
            <a:r>
              <a:rPr lang="zh-CN" altLang="en-US" sz="1900" dirty="0" smtClean="0">
                <a:latin typeface="+mn-lt"/>
                <a:ea typeface="+mn-ea"/>
                <a:sym typeface="Symbol" panose="05050102010706020507" pitchFamily="18" charset="2"/>
              </a:rPr>
              <a:t>，则称</a:t>
            </a:r>
            <a:r>
              <a:rPr lang="en-US" altLang="zh-CN" sz="1900" dirty="0" smtClean="0">
                <a:latin typeface="+mn-lt"/>
                <a:ea typeface="+mn-ea"/>
                <a:sym typeface="Symbol" panose="05050102010706020507" pitchFamily="18" charset="2"/>
              </a:rPr>
              <a:t>R</a:t>
            </a:r>
            <a:r>
              <a:rPr lang="zh-CN" altLang="en-US" sz="1900" dirty="0" smtClean="0">
                <a:latin typeface="+mn-lt"/>
                <a:ea typeface="+mn-ea"/>
                <a:sym typeface="Symbol" panose="05050102010706020507" pitchFamily="18" charset="2"/>
              </a:rPr>
              <a:t>是为非对称的；</a:t>
            </a:r>
            <a:endParaRPr lang="en-US" altLang="zh-CN" sz="1900" dirty="0" smtClean="0">
              <a:latin typeface="+mn-lt"/>
              <a:ea typeface="+mn-ea"/>
              <a:sym typeface="Symbol" panose="05050102010706020507" pitchFamily="18" charset="2"/>
            </a:endParaRPr>
          </a:p>
          <a:p>
            <a:pPr lvl="1" eaLnBrk="1" hangingPunct="1">
              <a:defRPr/>
            </a:pPr>
            <a:r>
              <a:rPr lang="zh-CN" altLang="en-US" sz="1900" dirty="0" smtClean="0">
                <a:latin typeface="+mn-lt"/>
                <a:ea typeface="+mn-ea"/>
              </a:rPr>
              <a:t>如果 </a:t>
            </a:r>
            <a:r>
              <a:rPr lang="en-US" altLang="zh-CN" sz="1900" dirty="0" smtClean="0">
                <a:latin typeface="+mn-lt"/>
                <a:ea typeface="+mn-ea"/>
                <a:sym typeface="Symbol" panose="05050102010706020507" pitchFamily="18" charset="2"/>
              </a:rPr>
              <a:t>(</a:t>
            </a:r>
            <a:r>
              <a:rPr lang="en-US" altLang="zh-CN" sz="1900" dirty="0" err="1" smtClean="0">
                <a:latin typeface="+mn-lt"/>
                <a:ea typeface="+mn-ea"/>
                <a:sym typeface="Symbol" panose="05050102010706020507" pitchFamily="18" charset="2"/>
              </a:rPr>
              <a:t>a,b</a:t>
            </a:r>
            <a:r>
              <a:rPr lang="en-US" altLang="zh-CN" sz="1900" dirty="0" smtClean="0">
                <a:latin typeface="+mn-lt"/>
                <a:ea typeface="+mn-ea"/>
                <a:sym typeface="Symbol" panose="05050102010706020507" pitchFamily="18" charset="2"/>
              </a:rPr>
              <a:t>) R </a:t>
            </a:r>
            <a:r>
              <a:rPr lang="zh-CN" altLang="en-US" sz="1900" dirty="0" smtClean="0">
                <a:latin typeface="+mn-lt"/>
                <a:ea typeface="+mn-ea"/>
                <a:sym typeface="Symbol" panose="05050102010706020507" pitchFamily="18" charset="2"/>
              </a:rPr>
              <a:t>，</a:t>
            </a:r>
            <a:r>
              <a:rPr lang="en-US" altLang="zh-CN" sz="1900" dirty="0" smtClean="0">
                <a:latin typeface="+mn-lt"/>
                <a:ea typeface="+mn-ea"/>
                <a:sym typeface="Symbol" panose="05050102010706020507" pitchFamily="18" charset="2"/>
              </a:rPr>
              <a:t>(</a:t>
            </a:r>
            <a:r>
              <a:rPr lang="en-US" altLang="zh-CN" sz="1900" dirty="0" err="1" smtClean="0">
                <a:latin typeface="+mn-lt"/>
                <a:ea typeface="+mn-ea"/>
                <a:sym typeface="Symbol" panose="05050102010706020507" pitchFamily="18" charset="2"/>
              </a:rPr>
              <a:t>b,a</a:t>
            </a:r>
            <a:r>
              <a:rPr lang="en-US" altLang="zh-CN" sz="1900" dirty="0" smtClean="0">
                <a:latin typeface="+mn-lt"/>
                <a:ea typeface="+mn-ea"/>
                <a:sym typeface="Symbol" panose="05050102010706020507" pitchFamily="18" charset="2"/>
              </a:rPr>
              <a:t>) R </a:t>
            </a:r>
            <a:r>
              <a:rPr lang="zh-CN" altLang="en-US" sz="1900" dirty="0" smtClean="0">
                <a:latin typeface="+mn-lt"/>
                <a:ea typeface="+mn-ea"/>
                <a:sym typeface="Symbol" panose="05050102010706020507" pitchFamily="18" charset="2"/>
              </a:rPr>
              <a:t>，蕴含着</a:t>
            </a:r>
            <a:r>
              <a:rPr lang="en-US" altLang="zh-CN" sz="1900" dirty="0" smtClean="0">
                <a:latin typeface="+mn-lt"/>
                <a:ea typeface="+mn-ea"/>
                <a:sym typeface="Symbol" panose="05050102010706020507" pitchFamily="18" charset="2"/>
              </a:rPr>
              <a:t>a=b</a:t>
            </a:r>
            <a:r>
              <a:rPr lang="zh-CN" altLang="en-US" sz="1900" dirty="0" smtClean="0">
                <a:latin typeface="+mn-lt"/>
                <a:ea typeface="+mn-ea"/>
                <a:sym typeface="Symbol" panose="05050102010706020507" pitchFamily="18" charset="2"/>
              </a:rPr>
              <a:t>，则称</a:t>
            </a:r>
            <a:r>
              <a:rPr lang="en-US" altLang="zh-CN" sz="1900" dirty="0" smtClean="0">
                <a:latin typeface="+mn-lt"/>
                <a:ea typeface="+mn-ea"/>
                <a:sym typeface="Symbol" panose="05050102010706020507" pitchFamily="18" charset="2"/>
              </a:rPr>
              <a:t>R</a:t>
            </a:r>
            <a:r>
              <a:rPr lang="zh-CN" altLang="en-US" sz="1900" dirty="0" smtClean="0">
                <a:latin typeface="+mn-lt"/>
                <a:ea typeface="+mn-ea"/>
                <a:sym typeface="Symbol" panose="05050102010706020507" pitchFamily="18" charset="2"/>
              </a:rPr>
              <a:t>是为反对称的；</a:t>
            </a:r>
            <a:endParaRPr lang="en-US" altLang="zh-CN" sz="1900" dirty="0" smtClean="0">
              <a:latin typeface="+mn-lt"/>
              <a:ea typeface="+mn-ea"/>
              <a:sym typeface="Symbol" panose="05050102010706020507" pitchFamily="18" charset="2"/>
            </a:endParaRPr>
          </a:p>
          <a:p>
            <a:pPr eaLnBrk="1" hangingPunct="1">
              <a:defRPr/>
            </a:pPr>
            <a:r>
              <a:rPr lang="zh-CN" altLang="en-US" sz="1800" dirty="0" smtClean="0">
                <a:solidFill>
                  <a:srgbClr val="FF0000"/>
                </a:solidFill>
                <a:sym typeface="Symbol" panose="05050102010706020507" pitchFamily="18" charset="2"/>
              </a:rPr>
              <a:t>传递</a:t>
            </a:r>
            <a:endParaRPr lang="en-US" altLang="zh-CN" sz="1900" dirty="0" smtClean="0">
              <a:solidFill>
                <a:srgbClr val="FF0000"/>
              </a:solidFill>
              <a:sym typeface="Symbol" panose="05050102010706020507" pitchFamily="18" charset="2"/>
            </a:endParaRPr>
          </a:p>
          <a:p>
            <a:pPr lvl="1" eaLnBrk="1" hangingPunct="1">
              <a:defRPr/>
            </a:pPr>
            <a:r>
              <a:rPr lang="zh-CN" altLang="en-US" sz="1900" dirty="0" smtClean="0">
                <a:latin typeface="+mn-lt"/>
                <a:ea typeface="+mn-ea"/>
                <a:sym typeface="Symbol" panose="05050102010706020507" pitchFamily="18" charset="2"/>
              </a:rPr>
              <a:t>如果</a:t>
            </a:r>
            <a:r>
              <a:rPr lang="en-US" altLang="zh-CN" sz="1900" dirty="0" smtClean="0">
                <a:latin typeface="+mn-lt"/>
                <a:ea typeface="+mn-ea"/>
                <a:sym typeface="Symbol" panose="05050102010706020507" pitchFamily="18" charset="2"/>
              </a:rPr>
              <a:t> (</a:t>
            </a:r>
            <a:r>
              <a:rPr lang="en-US" altLang="zh-CN" sz="1900" dirty="0" err="1" smtClean="0">
                <a:latin typeface="+mn-lt"/>
                <a:ea typeface="+mn-ea"/>
                <a:sym typeface="Symbol" panose="05050102010706020507" pitchFamily="18" charset="2"/>
              </a:rPr>
              <a:t>a,b</a:t>
            </a:r>
            <a:r>
              <a:rPr lang="en-US" altLang="zh-CN" sz="1900" dirty="0" smtClean="0">
                <a:latin typeface="+mn-lt"/>
                <a:ea typeface="+mn-ea"/>
                <a:sym typeface="Symbol" panose="05050102010706020507" pitchFamily="18" charset="2"/>
              </a:rPr>
              <a:t>) R </a:t>
            </a:r>
            <a:r>
              <a:rPr lang="zh-CN" altLang="en-US" sz="1900" dirty="0" smtClean="0">
                <a:latin typeface="+mn-lt"/>
                <a:ea typeface="+mn-ea"/>
                <a:sym typeface="Symbol" panose="05050102010706020507" pitchFamily="18" charset="2"/>
              </a:rPr>
              <a:t>并且</a:t>
            </a:r>
            <a:r>
              <a:rPr lang="en-US" altLang="zh-CN" sz="1900" dirty="0" smtClean="0">
                <a:latin typeface="+mn-lt"/>
                <a:ea typeface="+mn-ea"/>
                <a:sym typeface="Symbol" panose="05050102010706020507" pitchFamily="18" charset="2"/>
              </a:rPr>
              <a:t> (</a:t>
            </a:r>
            <a:r>
              <a:rPr lang="en-US" altLang="zh-CN" sz="1900" dirty="0" err="1" smtClean="0">
                <a:latin typeface="+mn-lt"/>
                <a:ea typeface="+mn-ea"/>
                <a:sym typeface="Symbol" panose="05050102010706020507" pitchFamily="18" charset="2"/>
              </a:rPr>
              <a:t>b,c</a:t>
            </a:r>
            <a:r>
              <a:rPr lang="en-US" altLang="zh-CN" sz="1900" dirty="0" smtClean="0">
                <a:latin typeface="+mn-lt"/>
                <a:ea typeface="+mn-ea"/>
                <a:sym typeface="Symbol" panose="05050102010706020507" pitchFamily="18" charset="2"/>
              </a:rPr>
              <a:t>) R </a:t>
            </a:r>
            <a:r>
              <a:rPr lang="zh-CN" altLang="en-US" sz="1900" dirty="0" smtClean="0">
                <a:latin typeface="+mn-lt"/>
                <a:ea typeface="+mn-ea"/>
                <a:sym typeface="Symbol" panose="05050102010706020507" pitchFamily="18" charset="2"/>
              </a:rPr>
              <a:t>得出</a:t>
            </a:r>
            <a:r>
              <a:rPr lang="en-US" altLang="zh-CN" sz="1900" dirty="0" smtClean="0">
                <a:latin typeface="+mn-lt"/>
                <a:ea typeface="+mn-ea"/>
                <a:sym typeface="Symbol" panose="05050102010706020507" pitchFamily="18" charset="2"/>
              </a:rPr>
              <a:t> (</a:t>
            </a:r>
            <a:r>
              <a:rPr lang="en-US" altLang="zh-CN" sz="1900" dirty="0" err="1" smtClean="0">
                <a:latin typeface="+mn-lt"/>
                <a:ea typeface="+mn-ea"/>
                <a:sym typeface="Symbol" panose="05050102010706020507" pitchFamily="18" charset="2"/>
              </a:rPr>
              <a:t>a,c</a:t>
            </a:r>
            <a:r>
              <a:rPr lang="en-US" altLang="zh-CN" sz="1900" dirty="0" smtClean="0">
                <a:latin typeface="+mn-lt"/>
                <a:ea typeface="+mn-ea"/>
                <a:sym typeface="Symbol" panose="05050102010706020507" pitchFamily="18" charset="2"/>
              </a:rPr>
              <a:t>) R</a:t>
            </a:r>
            <a:r>
              <a:rPr lang="zh-CN" altLang="en-US" sz="1900" dirty="0" smtClean="0">
                <a:latin typeface="+mn-lt"/>
                <a:ea typeface="+mn-ea"/>
                <a:sym typeface="Symbol" panose="05050102010706020507" pitchFamily="18" charset="2"/>
              </a:rPr>
              <a:t>，则称</a:t>
            </a:r>
            <a:r>
              <a:rPr lang="en-US" altLang="zh-CN" sz="1900" dirty="0" smtClean="0">
                <a:latin typeface="+mn-lt"/>
                <a:ea typeface="+mn-ea"/>
                <a:sym typeface="Symbol" panose="05050102010706020507" pitchFamily="18" charset="2"/>
              </a:rPr>
              <a:t>R</a:t>
            </a:r>
            <a:r>
              <a:rPr lang="zh-CN" altLang="en-US" sz="1900" dirty="0" smtClean="0">
                <a:latin typeface="+mn-lt"/>
                <a:ea typeface="+mn-ea"/>
                <a:sym typeface="Symbol" panose="05050102010706020507" pitchFamily="18" charset="2"/>
              </a:rPr>
              <a:t>是传递的</a:t>
            </a:r>
            <a:r>
              <a:rPr lang="en-US" altLang="zh-CN" sz="1900" dirty="0" smtClean="0">
                <a:latin typeface="+mn-lt"/>
                <a:ea typeface="+mn-ea"/>
                <a:sym typeface="Symbol" panose="05050102010706020507" pitchFamily="18" charset="2"/>
              </a:rPr>
              <a:t>.</a:t>
            </a:r>
            <a:endParaRPr lang="en-US" altLang="zh-CN" sz="1900" dirty="0" smtClean="0">
              <a:latin typeface="+mn-lt"/>
              <a:ea typeface="+mn-ea"/>
              <a:sym typeface="Symbol" panose="05050102010706020507" pitchFamily="18" charset="2"/>
            </a:endParaRPr>
          </a:p>
          <a:p>
            <a:pPr eaLnBrk="1" hangingPunct="1">
              <a:defRPr/>
            </a:pPr>
            <a:r>
              <a:rPr lang="zh-CN" altLang="en-US" sz="1800" dirty="0" smtClean="0">
                <a:solidFill>
                  <a:srgbClr val="FF0000"/>
                </a:solidFill>
                <a:sym typeface="Symbol" panose="05050102010706020507" pitchFamily="18" charset="2"/>
              </a:rPr>
              <a:t>偏序</a:t>
            </a:r>
            <a:endParaRPr lang="en-US" altLang="zh-CN" sz="1800" dirty="0" smtClean="0">
              <a:solidFill>
                <a:srgbClr val="FF0000"/>
              </a:solidFill>
              <a:sym typeface="Symbol" panose="05050102010706020507" pitchFamily="18" charset="2"/>
            </a:endParaRPr>
          </a:p>
          <a:p>
            <a:pPr lvl="1" eaLnBrk="1" hangingPunct="1">
              <a:defRPr/>
            </a:pPr>
            <a:r>
              <a:rPr lang="zh-CN" altLang="en-US" sz="1900" dirty="0" smtClean="0">
                <a:latin typeface="+mn-lt"/>
                <a:ea typeface="+mn-ea"/>
                <a:sym typeface="Symbol" panose="05050102010706020507" pitchFamily="18" charset="2"/>
              </a:rPr>
              <a:t>一个关系是</a:t>
            </a:r>
            <a:r>
              <a:rPr lang="zh-CN" altLang="en-US" sz="1900" dirty="0" smtClean="0">
                <a:solidFill>
                  <a:srgbClr val="FF0000"/>
                </a:solidFill>
                <a:latin typeface="+mn-lt"/>
                <a:ea typeface="+mn-ea"/>
                <a:sym typeface="Symbol" panose="05050102010706020507" pitchFamily="18" charset="2"/>
              </a:rPr>
              <a:t>自反的、反对称的 和传递</a:t>
            </a:r>
            <a:r>
              <a:rPr lang="zh-CN" altLang="en-US" sz="1900" dirty="0" smtClean="0">
                <a:latin typeface="+mn-lt"/>
                <a:ea typeface="+mn-ea"/>
                <a:sym typeface="Symbol" panose="05050102010706020507" pitchFamily="18" charset="2"/>
              </a:rPr>
              <a:t>的，则称为是一个偏序。</a:t>
            </a:r>
            <a:endParaRPr lang="en-US" altLang="zh-CN" sz="1900" dirty="0" smtClean="0">
              <a:latin typeface="+mn-lt"/>
              <a:ea typeface="+mn-ea"/>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28675" name="Rectangle 2"/>
          <p:cNvSpPr>
            <a:spLocks noGrp="1" noChangeArrowheads="1"/>
          </p:cNvSpPr>
          <p:nvPr>
            <p:ph type="title"/>
          </p:nvPr>
        </p:nvSpPr>
        <p:spPr/>
        <p:txBody>
          <a:bodyPr/>
          <a:lstStyle/>
          <a:p>
            <a:pPr eaLnBrk="1" hangingPunct="1"/>
            <a:r>
              <a:rPr lang="en-US" altLang="zh-CN" b="0" dirty="0">
                <a:latin typeface="+mn-ea"/>
              </a:rPr>
              <a:t>1.3.1 </a:t>
            </a:r>
            <a:r>
              <a:rPr lang="zh-CN" altLang="en-US" b="0" dirty="0">
                <a:latin typeface="+mn-ea"/>
              </a:rPr>
              <a:t>集合、</a:t>
            </a:r>
            <a:r>
              <a:rPr lang="zh-CN" altLang="en-US" u="sng" dirty="0">
                <a:latin typeface="+mn-ea"/>
              </a:rPr>
              <a:t>关系</a:t>
            </a:r>
            <a:r>
              <a:rPr lang="zh-CN" altLang="en-US" b="0" dirty="0">
                <a:latin typeface="+mn-ea"/>
              </a:rPr>
              <a:t>、函数</a:t>
            </a:r>
            <a:endParaRPr lang="en-US" altLang="zh-CN" dirty="0" smtClean="0"/>
          </a:p>
        </p:txBody>
      </p:sp>
      <p:sp>
        <p:nvSpPr>
          <p:cNvPr id="34820" name="Rectangle 3"/>
          <p:cNvSpPr>
            <a:spLocks noGrp="1" noChangeArrowheads="1"/>
          </p:cNvSpPr>
          <p:nvPr>
            <p:ph type="body" idx="1"/>
          </p:nvPr>
        </p:nvSpPr>
        <p:spPr/>
        <p:txBody>
          <a:bodyPr/>
          <a:lstStyle/>
          <a:p>
            <a:pPr eaLnBrk="1" hangingPunct="1"/>
            <a:r>
              <a:rPr lang="zh-CN" altLang="en-US" dirty="0" smtClean="0"/>
              <a:t>例子</a:t>
            </a:r>
            <a:endParaRPr lang="en-US" altLang="zh-CN" dirty="0" smtClean="0"/>
          </a:p>
          <a:p>
            <a:pPr eaLnBrk="1" hangingPunct="1"/>
            <a:r>
              <a:rPr lang="zh-CN" altLang="en-US" dirty="0" smtClean="0"/>
              <a:t>设：</a:t>
            </a:r>
            <a:endParaRPr lang="en-US" altLang="zh-CN" dirty="0" smtClean="0"/>
          </a:p>
          <a:p>
            <a:pPr lvl="1" eaLnBrk="1" hangingPunct="1">
              <a:buFontTx/>
              <a:buNone/>
            </a:pPr>
            <a:r>
              <a:rPr lang="en-US" altLang="zh-CN" sz="2500" dirty="0" err="1">
                <a:latin typeface="+mn-lt"/>
                <a:ea typeface="+mn-ea"/>
                <a:cs typeface="+mn-cs"/>
              </a:rPr>
              <a:t>R1</a:t>
            </a:r>
            <a:r>
              <a:rPr lang="en-US" altLang="zh-CN" sz="2500" dirty="0">
                <a:latin typeface="+mn-lt"/>
                <a:ea typeface="+mn-ea"/>
                <a:cs typeface="+mn-cs"/>
              </a:rPr>
              <a:t>={(</a:t>
            </a:r>
            <a:r>
              <a:rPr lang="en-US" altLang="zh-CN" sz="2500" dirty="0" err="1">
                <a:latin typeface="+mn-lt"/>
                <a:ea typeface="+mn-ea"/>
                <a:cs typeface="+mn-cs"/>
              </a:rPr>
              <a:t>x,y</a:t>
            </a:r>
            <a:r>
              <a:rPr lang="en-US" altLang="zh-CN" sz="2500" dirty="0">
                <a:latin typeface="+mn-lt"/>
                <a:ea typeface="+mn-ea"/>
                <a:cs typeface="+mn-cs"/>
              </a:rPr>
              <a:t>)|</a:t>
            </a:r>
            <a:r>
              <a:rPr lang="en-US" altLang="zh-CN" sz="2500" dirty="0" err="1">
                <a:latin typeface="+mn-lt"/>
                <a:ea typeface="+mn-ea"/>
                <a:cs typeface="+mn-cs"/>
              </a:rPr>
              <a:t>x,y</a:t>
            </a:r>
            <a:r>
              <a:rPr lang="en-US" altLang="zh-CN" sz="2500" dirty="0">
                <a:latin typeface="+mn-lt"/>
                <a:ea typeface="+mn-ea"/>
                <a:cs typeface="+mn-cs"/>
              </a:rPr>
              <a:t> </a:t>
            </a:r>
            <a:r>
              <a:rPr lang="zh-CN" altLang="en-US" sz="2500" dirty="0">
                <a:latin typeface="+mn-lt"/>
                <a:ea typeface="+mn-ea"/>
                <a:cs typeface="+mn-cs"/>
              </a:rPr>
              <a:t>是正整数，且</a:t>
            </a:r>
            <a:r>
              <a:rPr lang="en-US" altLang="zh-CN" sz="2500" dirty="0">
                <a:latin typeface="+mn-lt"/>
                <a:ea typeface="+mn-ea"/>
                <a:cs typeface="+mn-cs"/>
              </a:rPr>
              <a:t>x </a:t>
            </a:r>
            <a:r>
              <a:rPr lang="zh-CN" altLang="en-US" sz="2500" dirty="0">
                <a:latin typeface="+mn-lt"/>
                <a:ea typeface="+mn-ea"/>
                <a:cs typeface="+mn-cs"/>
              </a:rPr>
              <a:t>整除</a:t>
            </a:r>
            <a:r>
              <a:rPr lang="en-US" altLang="zh-CN" sz="2500" dirty="0">
                <a:latin typeface="+mn-lt"/>
                <a:ea typeface="+mn-ea"/>
                <a:cs typeface="+mn-cs"/>
              </a:rPr>
              <a:t> y}</a:t>
            </a:r>
            <a:r>
              <a:rPr lang="zh-CN" altLang="en-US" sz="2500" dirty="0">
                <a:latin typeface="+mn-lt"/>
                <a:ea typeface="+mn-ea"/>
                <a:cs typeface="+mn-cs"/>
              </a:rPr>
              <a:t>，</a:t>
            </a:r>
            <a:endParaRPr lang="en-US" altLang="zh-CN" sz="2500" dirty="0">
              <a:latin typeface="+mn-lt"/>
              <a:ea typeface="+mn-ea"/>
              <a:cs typeface="+mn-cs"/>
            </a:endParaRPr>
          </a:p>
          <a:p>
            <a:pPr lvl="1" eaLnBrk="1" hangingPunct="1">
              <a:buFontTx/>
              <a:buNone/>
            </a:pPr>
            <a:endParaRPr lang="en-US" altLang="zh-CN" sz="2500" dirty="0">
              <a:latin typeface="+mn-lt"/>
              <a:ea typeface="+mn-ea"/>
              <a:cs typeface="+mn-cs"/>
            </a:endParaRPr>
          </a:p>
          <a:p>
            <a:pPr lvl="1" eaLnBrk="1" hangingPunct="1">
              <a:buFontTx/>
              <a:buNone/>
            </a:pPr>
            <a:r>
              <a:rPr lang="en-US" altLang="zh-CN" sz="2500" dirty="0" err="1">
                <a:latin typeface="+mn-lt"/>
                <a:ea typeface="+mn-ea"/>
                <a:cs typeface="+mn-cs"/>
              </a:rPr>
              <a:t>R2</a:t>
            </a:r>
            <a:r>
              <a:rPr lang="en-US" altLang="zh-CN" sz="2500" dirty="0">
                <a:latin typeface="+mn-lt"/>
                <a:ea typeface="+mn-ea"/>
                <a:cs typeface="+mn-cs"/>
              </a:rPr>
              <a:t>={(</a:t>
            </a:r>
            <a:r>
              <a:rPr lang="en-US" altLang="zh-CN" sz="2500" dirty="0" err="1">
                <a:latin typeface="+mn-lt"/>
                <a:ea typeface="+mn-ea"/>
                <a:cs typeface="+mn-cs"/>
              </a:rPr>
              <a:t>x,y</a:t>
            </a:r>
            <a:r>
              <a:rPr lang="en-US" altLang="zh-CN" sz="2500" dirty="0">
                <a:latin typeface="+mn-lt"/>
                <a:ea typeface="+mn-ea"/>
                <a:cs typeface="+mn-cs"/>
              </a:rPr>
              <a:t>)|</a:t>
            </a:r>
            <a:r>
              <a:rPr lang="en-US" altLang="zh-CN" sz="2500" dirty="0" err="1">
                <a:latin typeface="+mn-lt"/>
                <a:ea typeface="+mn-ea"/>
                <a:cs typeface="+mn-cs"/>
              </a:rPr>
              <a:t>x,y</a:t>
            </a:r>
            <a:r>
              <a:rPr lang="en-US" altLang="zh-CN" sz="2500" dirty="0">
                <a:latin typeface="+mn-lt"/>
                <a:ea typeface="+mn-ea"/>
                <a:cs typeface="+mn-cs"/>
              </a:rPr>
              <a:t> </a:t>
            </a:r>
            <a:r>
              <a:rPr lang="zh-CN" altLang="en-US" sz="2500" dirty="0">
                <a:latin typeface="+mn-lt"/>
                <a:ea typeface="+mn-ea"/>
                <a:cs typeface="+mn-cs"/>
              </a:rPr>
              <a:t>是整数，且</a:t>
            </a:r>
            <a:r>
              <a:rPr lang="en-US" altLang="zh-CN" sz="2500" dirty="0" err="1">
                <a:latin typeface="+mn-lt"/>
                <a:ea typeface="+mn-ea"/>
                <a:cs typeface="+mn-cs"/>
              </a:rPr>
              <a:t>x</a:t>
            </a:r>
            <a:r>
              <a:rPr lang="en-US" altLang="zh-CN" sz="2500" dirty="0" err="1">
                <a:latin typeface="+mn-lt"/>
                <a:ea typeface="+mn-ea"/>
                <a:cs typeface="+mn-cs"/>
                <a:sym typeface="Symbol" panose="05050102010706020507" pitchFamily="18" charset="2"/>
              </a:rPr>
              <a:t></a:t>
            </a:r>
            <a:r>
              <a:rPr lang="en-US" altLang="zh-CN" sz="2500" dirty="0" err="1">
                <a:latin typeface="+mn-lt"/>
                <a:ea typeface="+mn-ea"/>
                <a:cs typeface="+mn-cs"/>
              </a:rPr>
              <a:t>y</a:t>
            </a:r>
            <a:r>
              <a:rPr lang="en-US" altLang="zh-CN" sz="2500" dirty="0">
                <a:latin typeface="+mn-lt"/>
                <a:ea typeface="+mn-ea"/>
                <a:cs typeface="+mn-cs"/>
              </a:rPr>
              <a:t>}. </a:t>
            </a:r>
            <a:endParaRPr lang="en-US" altLang="zh-CN" sz="2500" dirty="0">
              <a:latin typeface="+mn-lt"/>
              <a:ea typeface="+mn-ea"/>
              <a:cs typeface="+mn-cs"/>
            </a:endParaRPr>
          </a:p>
          <a:p>
            <a:pPr eaLnBrk="1" hangingPunct="1"/>
            <a:endParaRPr lang="en-US" altLang="zh-CN" dirty="0" smtClean="0"/>
          </a:p>
          <a:p>
            <a:pPr eaLnBrk="1" hangingPunct="1">
              <a:buFontTx/>
              <a:buNone/>
            </a:pPr>
            <a:r>
              <a:rPr lang="en-US" altLang="zh-CN" dirty="0" smtClean="0"/>
              <a:t>	</a:t>
            </a:r>
            <a:r>
              <a:rPr lang="zh-CN" altLang="en-US" dirty="0" smtClean="0"/>
              <a:t>那么</a:t>
            </a:r>
            <a:r>
              <a:rPr lang="en-US" altLang="zh-CN" dirty="0" err="1" smtClean="0"/>
              <a:t>R1</a:t>
            </a:r>
            <a:r>
              <a:rPr lang="zh-CN" altLang="en-US" dirty="0" smtClean="0"/>
              <a:t>和</a:t>
            </a:r>
            <a:r>
              <a:rPr lang="en-US" altLang="zh-CN" dirty="0" err="1" smtClean="0"/>
              <a:t>R2</a:t>
            </a:r>
            <a:r>
              <a:rPr lang="en-US" altLang="zh-CN" dirty="0" smtClean="0"/>
              <a:t> </a:t>
            </a:r>
            <a:r>
              <a:rPr lang="zh-CN" altLang="en-US" dirty="0" smtClean="0"/>
              <a:t>都是自反的、反对称 的和传递的，因此都是</a:t>
            </a:r>
            <a:r>
              <a:rPr lang="zh-CN" altLang="en-US" dirty="0" smtClean="0">
                <a:solidFill>
                  <a:srgbClr val="FF0000"/>
                </a:solidFill>
              </a:rPr>
              <a:t>偏序</a:t>
            </a:r>
            <a:r>
              <a:rPr lang="zh-CN" altLang="en-US" dirty="0" smtClean="0"/>
              <a:t>。</a:t>
            </a:r>
            <a:endParaRPr lang="en-US" altLang="zh-CN" dirty="0" smtClean="0"/>
          </a:p>
        </p:txBody>
      </p:sp>
      <p:sp>
        <p:nvSpPr>
          <p:cNvPr id="6" name="矩形 5"/>
          <p:cNvSpPr>
            <a:spLocks noChangeArrowheads="1"/>
          </p:cNvSpPr>
          <p:nvPr/>
        </p:nvSpPr>
        <p:spPr bwMode="auto">
          <a:xfrm>
            <a:off x="6286500" y="0"/>
            <a:ext cx="2857500" cy="2246313"/>
          </a:xfrm>
          <a:prstGeom prst="rect">
            <a:avLst/>
          </a:prstGeom>
          <a:noFill/>
          <a:ln w="9525">
            <a:solidFill>
              <a:srgbClr val="C00000"/>
            </a:solidFill>
            <a:miter lim="800000"/>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eaLnBrk="1" hangingPunct="1">
              <a:spcBef>
                <a:spcPct val="0"/>
              </a:spcBef>
              <a:buFontTx/>
              <a:buNone/>
            </a:pPr>
            <a:r>
              <a:rPr lang="zh-CN" altLang="en-US" sz="2000" b="1">
                <a:solidFill>
                  <a:schemeClr val="tx1"/>
                </a:solidFill>
                <a:latin typeface="Arial" panose="020B0604020202090204" pitchFamily="34" charset="0"/>
                <a:ea typeface="宋体" pitchFamily="2" charset="-122"/>
              </a:rPr>
              <a:t>分析</a:t>
            </a:r>
            <a:r>
              <a:rPr lang="en-US" altLang="zh-CN" sz="2000" b="1">
                <a:solidFill>
                  <a:schemeClr val="tx1"/>
                </a:solidFill>
                <a:latin typeface="Arial" panose="020B0604020202090204" pitchFamily="34" charset="0"/>
                <a:ea typeface="宋体" pitchFamily="2" charset="-122"/>
              </a:rPr>
              <a:t>R1</a:t>
            </a:r>
            <a:r>
              <a:rPr lang="zh-CN" altLang="en-US" sz="2000" b="1">
                <a:solidFill>
                  <a:schemeClr val="tx1"/>
                </a:solidFill>
                <a:latin typeface="Arial" panose="020B0604020202090204" pitchFamily="34" charset="0"/>
                <a:ea typeface="宋体" pitchFamily="2" charset="-122"/>
              </a:rPr>
              <a:t>：</a:t>
            </a:r>
            <a:endParaRPr lang="en-US" altLang="zh-CN" sz="2000" b="1">
              <a:solidFill>
                <a:schemeClr val="tx1"/>
              </a:solidFill>
              <a:latin typeface="Arial" panose="020B0604020202090204" pitchFamily="34" charset="0"/>
              <a:ea typeface="宋体" pitchFamily="2" charset="-122"/>
            </a:endParaRPr>
          </a:p>
          <a:p>
            <a:pPr eaLnBrk="1" hangingPunct="1">
              <a:spcBef>
                <a:spcPct val="0"/>
              </a:spcBef>
            </a:pPr>
            <a:r>
              <a:rPr lang="zh-CN" altLang="en-US" sz="2000" b="1">
                <a:solidFill>
                  <a:schemeClr val="tx1"/>
                </a:solidFill>
                <a:latin typeface="Arial" panose="020B0604020202090204" pitchFamily="34" charset="0"/>
                <a:ea typeface="宋体" pitchFamily="2" charset="-122"/>
              </a:rPr>
              <a:t>自反的：</a:t>
            </a:r>
            <a:r>
              <a:rPr lang="en-US" altLang="zh-CN" sz="2000" b="1">
                <a:solidFill>
                  <a:schemeClr val="tx1"/>
                </a:solidFill>
                <a:latin typeface="Arial" panose="020B0604020202090204" pitchFamily="34" charset="0"/>
                <a:ea typeface="宋体" pitchFamily="2" charset="-122"/>
              </a:rPr>
              <a:t>x</a:t>
            </a:r>
            <a:r>
              <a:rPr lang="zh-CN" altLang="en-US" sz="2000">
                <a:solidFill>
                  <a:schemeClr val="tx1"/>
                </a:solidFill>
                <a:latin typeface="Arial" panose="020B0604020202090204" pitchFamily="34" charset="0"/>
                <a:ea typeface="宋体" pitchFamily="2" charset="-122"/>
              </a:rPr>
              <a:t>可以整除</a:t>
            </a:r>
            <a:r>
              <a:rPr lang="en-US" altLang="zh-CN" sz="2000">
                <a:solidFill>
                  <a:schemeClr val="tx1"/>
                </a:solidFill>
                <a:latin typeface="Arial" panose="020B0604020202090204" pitchFamily="34" charset="0"/>
                <a:ea typeface="宋体" pitchFamily="2" charset="-122"/>
              </a:rPr>
              <a:t>x</a:t>
            </a:r>
            <a:r>
              <a:rPr lang="zh-CN" altLang="en-US" sz="2000">
                <a:solidFill>
                  <a:schemeClr val="tx1"/>
                </a:solidFill>
                <a:latin typeface="Arial" panose="020B0604020202090204" pitchFamily="34" charset="0"/>
                <a:ea typeface="宋体" pitchFamily="2" charset="-122"/>
              </a:rPr>
              <a:t>； </a:t>
            </a:r>
            <a:endParaRPr lang="en-US" altLang="zh-CN" sz="2000">
              <a:solidFill>
                <a:schemeClr val="tx1"/>
              </a:solidFill>
              <a:latin typeface="Arial" panose="020B0604020202090204" pitchFamily="34" charset="0"/>
              <a:ea typeface="宋体" pitchFamily="2" charset="-122"/>
            </a:endParaRPr>
          </a:p>
          <a:p>
            <a:pPr eaLnBrk="1" hangingPunct="1">
              <a:spcBef>
                <a:spcPct val="0"/>
              </a:spcBef>
            </a:pPr>
            <a:r>
              <a:rPr lang="zh-CN" altLang="en-US" sz="2000" b="1">
                <a:solidFill>
                  <a:schemeClr val="tx1"/>
                </a:solidFill>
                <a:latin typeface="Arial" panose="020B0604020202090204" pitchFamily="34" charset="0"/>
                <a:ea typeface="宋体" pitchFamily="2" charset="-122"/>
              </a:rPr>
              <a:t>反对称的：</a:t>
            </a:r>
            <a:r>
              <a:rPr lang="zh-CN" altLang="en-US" sz="2000">
                <a:solidFill>
                  <a:schemeClr val="tx1"/>
                </a:solidFill>
                <a:latin typeface="Arial" panose="020B0604020202090204" pitchFamily="34" charset="0"/>
                <a:ea typeface="宋体" pitchFamily="2" charset="-122"/>
              </a:rPr>
              <a:t>如果</a:t>
            </a:r>
            <a:r>
              <a:rPr lang="en-US" altLang="zh-CN" sz="2000">
                <a:solidFill>
                  <a:schemeClr val="tx1"/>
                </a:solidFill>
                <a:latin typeface="Arial" panose="020B0604020202090204" pitchFamily="34" charset="0"/>
                <a:ea typeface="宋体" pitchFamily="2" charset="-122"/>
              </a:rPr>
              <a:t>x</a:t>
            </a:r>
            <a:r>
              <a:rPr lang="zh-CN" altLang="en-US" sz="2000">
                <a:solidFill>
                  <a:schemeClr val="tx1"/>
                </a:solidFill>
                <a:latin typeface="Arial" panose="020B0604020202090204" pitchFamily="34" charset="0"/>
                <a:ea typeface="宋体" pitchFamily="2" charset="-122"/>
              </a:rPr>
              <a:t>能整除</a:t>
            </a:r>
            <a:r>
              <a:rPr lang="en-US" altLang="zh-CN" sz="2000">
                <a:solidFill>
                  <a:schemeClr val="tx1"/>
                </a:solidFill>
                <a:latin typeface="Arial" panose="020B0604020202090204" pitchFamily="34" charset="0"/>
                <a:ea typeface="宋体" pitchFamily="2" charset="-122"/>
              </a:rPr>
              <a:t>y</a:t>
            </a:r>
            <a:r>
              <a:rPr lang="zh-CN" altLang="en-US" sz="2000">
                <a:solidFill>
                  <a:schemeClr val="tx1"/>
                </a:solidFill>
                <a:latin typeface="Arial" panose="020B0604020202090204" pitchFamily="34" charset="0"/>
                <a:ea typeface="宋体" pitchFamily="2" charset="-122"/>
              </a:rPr>
              <a:t>，</a:t>
            </a:r>
            <a:r>
              <a:rPr lang="en-US" altLang="zh-CN" sz="2000">
                <a:solidFill>
                  <a:schemeClr val="tx1"/>
                </a:solidFill>
                <a:latin typeface="Arial" panose="020B0604020202090204" pitchFamily="34" charset="0"/>
                <a:ea typeface="宋体" pitchFamily="2" charset="-122"/>
              </a:rPr>
              <a:t>y</a:t>
            </a:r>
            <a:r>
              <a:rPr lang="zh-CN" altLang="en-US" sz="2000">
                <a:solidFill>
                  <a:schemeClr val="tx1"/>
                </a:solidFill>
                <a:latin typeface="Arial" panose="020B0604020202090204" pitchFamily="34" charset="0"/>
                <a:ea typeface="宋体" pitchFamily="2" charset="-122"/>
              </a:rPr>
              <a:t>也能整除</a:t>
            </a:r>
            <a:r>
              <a:rPr lang="en-US" altLang="zh-CN" sz="2000">
                <a:solidFill>
                  <a:schemeClr val="tx1"/>
                </a:solidFill>
                <a:latin typeface="Arial" panose="020B0604020202090204" pitchFamily="34" charset="0"/>
                <a:ea typeface="宋体" pitchFamily="2" charset="-122"/>
              </a:rPr>
              <a:t>x</a:t>
            </a:r>
            <a:r>
              <a:rPr lang="zh-CN" altLang="en-US" sz="2000">
                <a:solidFill>
                  <a:schemeClr val="tx1"/>
                </a:solidFill>
                <a:latin typeface="Arial" panose="020B0604020202090204" pitchFamily="34" charset="0"/>
                <a:ea typeface="宋体" pitchFamily="2" charset="-122"/>
              </a:rPr>
              <a:t>，则</a:t>
            </a:r>
            <a:r>
              <a:rPr lang="en-US" altLang="zh-CN" sz="2000">
                <a:solidFill>
                  <a:schemeClr val="tx1"/>
                </a:solidFill>
                <a:latin typeface="Arial" panose="020B0604020202090204" pitchFamily="34" charset="0"/>
                <a:ea typeface="宋体" pitchFamily="2" charset="-122"/>
              </a:rPr>
              <a:t>x=y</a:t>
            </a:r>
            <a:r>
              <a:rPr lang="zh-CN" altLang="en-US" sz="2000">
                <a:solidFill>
                  <a:schemeClr val="tx1"/>
                </a:solidFill>
                <a:latin typeface="Arial" panose="020B0604020202090204" pitchFamily="34" charset="0"/>
                <a:ea typeface="宋体" pitchFamily="2" charset="-122"/>
              </a:rPr>
              <a:t>；</a:t>
            </a:r>
            <a:endParaRPr lang="en-US" altLang="zh-CN" sz="2000">
              <a:solidFill>
                <a:schemeClr val="tx1"/>
              </a:solidFill>
              <a:latin typeface="Arial" panose="020B0604020202090204" pitchFamily="34" charset="0"/>
              <a:ea typeface="宋体" pitchFamily="2" charset="-122"/>
            </a:endParaRPr>
          </a:p>
          <a:p>
            <a:pPr eaLnBrk="1" hangingPunct="1">
              <a:spcBef>
                <a:spcPct val="0"/>
              </a:spcBef>
            </a:pPr>
            <a:r>
              <a:rPr lang="zh-CN" altLang="en-US" sz="2000" b="1">
                <a:solidFill>
                  <a:schemeClr val="tx1"/>
                </a:solidFill>
                <a:latin typeface="Arial" panose="020B0604020202090204" pitchFamily="34" charset="0"/>
                <a:ea typeface="宋体" pitchFamily="2" charset="-122"/>
              </a:rPr>
              <a:t>传递的：</a:t>
            </a:r>
            <a:r>
              <a:rPr lang="zh-CN" altLang="en-US" sz="2000">
                <a:solidFill>
                  <a:schemeClr val="tx1"/>
                </a:solidFill>
                <a:latin typeface="Arial" panose="020B0604020202090204" pitchFamily="34" charset="0"/>
                <a:ea typeface="宋体" pitchFamily="2" charset="-122"/>
              </a:rPr>
              <a:t>如果</a:t>
            </a:r>
            <a:r>
              <a:rPr lang="en-US" altLang="zh-CN" sz="2000">
                <a:solidFill>
                  <a:schemeClr val="tx1"/>
                </a:solidFill>
                <a:latin typeface="Arial" panose="020B0604020202090204" pitchFamily="34" charset="0"/>
                <a:ea typeface="宋体" pitchFamily="2" charset="-122"/>
              </a:rPr>
              <a:t>x</a:t>
            </a:r>
            <a:r>
              <a:rPr lang="zh-CN" altLang="en-US" sz="2000">
                <a:solidFill>
                  <a:schemeClr val="tx1"/>
                </a:solidFill>
                <a:latin typeface="Arial" panose="020B0604020202090204" pitchFamily="34" charset="0"/>
                <a:ea typeface="宋体" pitchFamily="2" charset="-122"/>
              </a:rPr>
              <a:t>能整除</a:t>
            </a:r>
            <a:r>
              <a:rPr lang="en-US" altLang="zh-CN" sz="2000">
                <a:solidFill>
                  <a:schemeClr val="tx1"/>
                </a:solidFill>
                <a:latin typeface="Arial" panose="020B0604020202090204" pitchFamily="34" charset="0"/>
                <a:ea typeface="宋体" pitchFamily="2" charset="-122"/>
              </a:rPr>
              <a:t>y</a:t>
            </a:r>
            <a:r>
              <a:rPr lang="zh-CN" altLang="en-US" sz="2000">
                <a:solidFill>
                  <a:schemeClr val="tx1"/>
                </a:solidFill>
                <a:latin typeface="Arial" panose="020B0604020202090204" pitchFamily="34" charset="0"/>
                <a:ea typeface="宋体" pitchFamily="2" charset="-122"/>
              </a:rPr>
              <a:t>，</a:t>
            </a:r>
            <a:r>
              <a:rPr lang="en-US" altLang="zh-CN" sz="2000">
                <a:solidFill>
                  <a:schemeClr val="tx1"/>
                </a:solidFill>
                <a:latin typeface="Arial" panose="020B0604020202090204" pitchFamily="34" charset="0"/>
                <a:ea typeface="宋体" pitchFamily="2" charset="-122"/>
              </a:rPr>
              <a:t>y</a:t>
            </a:r>
            <a:r>
              <a:rPr lang="zh-CN" altLang="en-US" sz="2000">
                <a:solidFill>
                  <a:schemeClr val="tx1"/>
                </a:solidFill>
                <a:latin typeface="Arial" panose="020B0604020202090204" pitchFamily="34" charset="0"/>
                <a:ea typeface="宋体" pitchFamily="2" charset="-122"/>
              </a:rPr>
              <a:t>能整除</a:t>
            </a:r>
            <a:r>
              <a:rPr lang="en-US" altLang="zh-CN" sz="2000">
                <a:solidFill>
                  <a:schemeClr val="tx1"/>
                </a:solidFill>
                <a:latin typeface="Arial" panose="020B0604020202090204" pitchFamily="34" charset="0"/>
                <a:ea typeface="宋体" pitchFamily="2" charset="-122"/>
              </a:rPr>
              <a:t>z</a:t>
            </a:r>
            <a:r>
              <a:rPr lang="zh-CN" altLang="en-US" sz="2000">
                <a:solidFill>
                  <a:schemeClr val="tx1"/>
                </a:solidFill>
                <a:latin typeface="Arial" panose="020B0604020202090204" pitchFamily="34" charset="0"/>
                <a:ea typeface="宋体" pitchFamily="2" charset="-122"/>
              </a:rPr>
              <a:t>，则</a:t>
            </a:r>
            <a:r>
              <a:rPr lang="en-US" altLang="zh-CN" sz="2000">
                <a:solidFill>
                  <a:schemeClr val="tx1"/>
                </a:solidFill>
                <a:latin typeface="Arial" panose="020B0604020202090204" pitchFamily="34" charset="0"/>
                <a:ea typeface="宋体" pitchFamily="2" charset="-122"/>
              </a:rPr>
              <a:t>x</a:t>
            </a:r>
            <a:r>
              <a:rPr lang="zh-CN" altLang="en-US" sz="2000">
                <a:solidFill>
                  <a:schemeClr val="tx1"/>
                </a:solidFill>
                <a:latin typeface="Arial" panose="020B0604020202090204" pitchFamily="34" charset="0"/>
                <a:ea typeface="宋体" pitchFamily="2" charset="-122"/>
              </a:rPr>
              <a:t>能整除</a:t>
            </a:r>
            <a:r>
              <a:rPr lang="en-US" altLang="zh-CN" sz="2000">
                <a:solidFill>
                  <a:schemeClr val="tx1"/>
                </a:solidFill>
                <a:latin typeface="Arial" panose="020B0604020202090204" pitchFamily="34" charset="0"/>
                <a:ea typeface="宋体" pitchFamily="2" charset="-122"/>
              </a:rPr>
              <a:t>z</a:t>
            </a:r>
            <a:r>
              <a:rPr lang="zh-CN" altLang="en-US" sz="2000">
                <a:solidFill>
                  <a:schemeClr val="tx1"/>
                </a:solidFill>
                <a:latin typeface="Arial" panose="020B0604020202090204" pitchFamily="34" charset="0"/>
                <a:ea typeface="宋体" pitchFamily="2" charset="-122"/>
              </a:rPr>
              <a:t>；</a:t>
            </a:r>
            <a:endParaRPr lang="en-US" altLang="zh-CN" sz="2000">
              <a:solidFill>
                <a:schemeClr val="tx1"/>
              </a:solidFill>
              <a:latin typeface="Arial" panose="020B0604020202090204" pitchFamily="34" charset="0"/>
              <a:ea typeface="宋体"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nodeType="clickEffect">
                                  <p:stCondLst>
                                    <p:cond delay="0"/>
                                  </p:stCondLst>
                                  <p:childTnLst>
                                    <p:set>
                                      <p:cBhvr>
                                        <p:cTn id="10" dur="1" fill="hold">
                                          <p:stCondLst>
                                            <p:cond delay="0"/>
                                          </p:stCondLst>
                                        </p:cTn>
                                        <p:tgtEl>
                                          <p:spTgt spid="34820">
                                            <p:txEl>
                                              <p:pRg st="6" end="6"/>
                                            </p:txEl>
                                          </p:spTgt>
                                        </p:tgtEl>
                                        <p:attrNameLst>
                                          <p:attrName>style.visibility</p:attrName>
                                        </p:attrNameLst>
                                      </p:cBhvr>
                                      <p:to>
                                        <p:strVal val="visible"/>
                                      </p:to>
                                    </p:set>
                                    <p:anim calcmode="lin" valueType="num">
                                      <p:cBhvr additive="base">
                                        <p:cTn id="11" dur="500" fill="hold"/>
                                        <p:tgtEl>
                                          <p:spTgt spid="34820">
                                            <p:txEl>
                                              <p:pRg st="6" end="6"/>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4820">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30723" name="Rectangle 2"/>
          <p:cNvSpPr>
            <a:spLocks noGrp="1" noChangeArrowheads="1"/>
          </p:cNvSpPr>
          <p:nvPr>
            <p:ph type="title"/>
          </p:nvPr>
        </p:nvSpPr>
        <p:spPr/>
        <p:txBody>
          <a:bodyPr/>
          <a:lstStyle/>
          <a:p>
            <a:pPr eaLnBrk="1" hangingPunct="1"/>
            <a:r>
              <a:rPr lang="en-US" altLang="zh-CN" b="0" dirty="0">
                <a:latin typeface="+mn-ea"/>
              </a:rPr>
              <a:t>1.3.1 </a:t>
            </a:r>
            <a:r>
              <a:rPr lang="zh-CN" altLang="en-US" b="0" dirty="0">
                <a:latin typeface="+mn-ea"/>
              </a:rPr>
              <a:t>集合、</a:t>
            </a:r>
            <a:r>
              <a:rPr lang="zh-CN" altLang="en-US" u="sng" dirty="0">
                <a:latin typeface="+mn-ea"/>
              </a:rPr>
              <a:t>关系</a:t>
            </a:r>
            <a:r>
              <a:rPr lang="zh-CN" altLang="en-US" b="0" dirty="0">
                <a:latin typeface="+mn-ea"/>
              </a:rPr>
              <a:t>、函数</a:t>
            </a:r>
            <a:endParaRPr lang="en-US" altLang="zh-CN" dirty="0" smtClean="0"/>
          </a:p>
        </p:txBody>
      </p:sp>
      <p:sp>
        <p:nvSpPr>
          <p:cNvPr id="97283" name="Rectangle 3"/>
          <p:cNvSpPr>
            <a:spLocks noGrp="1" noChangeArrowheads="1"/>
          </p:cNvSpPr>
          <p:nvPr>
            <p:ph type="body" idx="1"/>
          </p:nvPr>
        </p:nvSpPr>
        <p:spPr/>
        <p:txBody>
          <a:bodyPr/>
          <a:lstStyle/>
          <a:p>
            <a:pPr eaLnBrk="1" hangingPunct="1">
              <a:defRPr/>
            </a:pPr>
            <a:r>
              <a:rPr lang="zh-CN" altLang="en-US" dirty="0" smtClean="0">
                <a:solidFill>
                  <a:srgbClr val="FF0000"/>
                </a:solidFill>
              </a:rPr>
              <a:t>等价关系</a:t>
            </a:r>
            <a:endParaRPr lang="en-US" altLang="zh-CN" dirty="0" smtClean="0">
              <a:solidFill>
                <a:srgbClr val="FF0000"/>
              </a:solidFill>
            </a:endParaRPr>
          </a:p>
          <a:p>
            <a:pPr lvl="1" eaLnBrk="1" hangingPunct="1">
              <a:defRPr/>
            </a:pPr>
            <a:r>
              <a:rPr lang="zh-CN" altLang="en-US" dirty="0" smtClean="0">
                <a:latin typeface="+mn-lt"/>
                <a:ea typeface="+mn-ea"/>
              </a:rPr>
              <a:t>如果集合</a:t>
            </a:r>
            <a:r>
              <a:rPr lang="en-US" altLang="zh-CN" dirty="0" smtClean="0">
                <a:latin typeface="+mn-lt"/>
                <a:ea typeface="+mn-ea"/>
              </a:rPr>
              <a:t>A</a:t>
            </a:r>
            <a:r>
              <a:rPr lang="zh-CN" altLang="en-US" dirty="0" smtClean="0">
                <a:latin typeface="+mn-lt"/>
                <a:ea typeface="+mn-ea"/>
              </a:rPr>
              <a:t>上的关系是自反的、对称的和传递的，则称它是</a:t>
            </a:r>
            <a:r>
              <a:rPr lang="zh-CN" altLang="en-US" dirty="0" smtClean="0">
                <a:solidFill>
                  <a:srgbClr val="FF0000"/>
                </a:solidFill>
                <a:latin typeface="+mn-lt"/>
                <a:ea typeface="+mn-ea"/>
              </a:rPr>
              <a:t>等价关系</a:t>
            </a:r>
            <a:r>
              <a:rPr lang="zh-CN" altLang="en-US" dirty="0" smtClean="0">
                <a:latin typeface="+mn-lt"/>
                <a:ea typeface="+mn-ea"/>
              </a:rPr>
              <a:t>。</a:t>
            </a:r>
            <a:endParaRPr lang="en-US" altLang="zh-CN" dirty="0" smtClean="0">
              <a:latin typeface="+mn-lt"/>
              <a:ea typeface="+mn-ea"/>
            </a:endParaRPr>
          </a:p>
          <a:p>
            <a:pPr eaLnBrk="1" hangingPunct="1">
              <a:defRPr/>
            </a:pPr>
            <a:r>
              <a:rPr lang="zh-CN" altLang="en-US" dirty="0" smtClean="0">
                <a:solidFill>
                  <a:srgbClr val="FF0000"/>
                </a:solidFill>
              </a:rPr>
              <a:t>等价类</a:t>
            </a:r>
            <a:endParaRPr lang="en-US" altLang="zh-CN" dirty="0" smtClean="0">
              <a:solidFill>
                <a:srgbClr val="FF0000"/>
              </a:solidFill>
            </a:endParaRPr>
          </a:p>
          <a:p>
            <a:pPr lvl="1" eaLnBrk="1" hangingPunct="1">
              <a:defRPr/>
            </a:pPr>
            <a:r>
              <a:rPr lang="en-US" altLang="zh-CN" dirty="0" smtClean="0">
                <a:latin typeface="+mn-lt"/>
                <a:ea typeface="+mn-ea"/>
              </a:rPr>
              <a:t>R</a:t>
            </a:r>
            <a:r>
              <a:rPr lang="zh-CN" altLang="en-US" dirty="0" smtClean="0">
                <a:latin typeface="+mn-lt"/>
                <a:ea typeface="+mn-ea"/>
              </a:rPr>
              <a:t>是</a:t>
            </a:r>
            <a:r>
              <a:rPr lang="en-US" altLang="zh-CN" dirty="0" smtClean="0">
                <a:latin typeface="+mn-lt"/>
                <a:ea typeface="+mn-ea"/>
              </a:rPr>
              <a:t>A</a:t>
            </a:r>
            <a:r>
              <a:rPr lang="zh-CN" altLang="en-US" dirty="0" smtClean="0">
                <a:latin typeface="+mn-lt"/>
                <a:ea typeface="+mn-ea"/>
              </a:rPr>
              <a:t>上的等价关系，此情况下，</a:t>
            </a:r>
            <a:r>
              <a:rPr lang="en-US" altLang="zh-CN" dirty="0" smtClean="0">
                <a:latin typeface="+mn-lt"/>
                <a:ea typeface="+mn-ea"/>
              </a:rPr>
              <a:t>R</a:t>
            </a:r>
            <a:r>
              <a:rPr lang="zh-CN" altLang="en-US" dirty="0" smtClean="0">
                <a:latin typeface="+mn-lt"/>
                <a:ea typeface="+mn-ea"/>
              </a:rPr>
              <a:t>划分</a:t>
            </a:r>
            <a:r>
              <a:rPr lang="en-US" altLang="zh-CN" dirty="0" smtClean="0">
                <a:latin typeface="+mn-lt"/>
                <a:ea typeface="+mn-ea"/>
              </a:rPr>
              <a:t>A</a:t>
            </a:r>
            <a:r>
              <a:rPr lang="zh-CN" altLang="en-US" dirty="0" smtClean="0">
                <a:latin typeface="+mn-lt"/>
                <a:ea typeface="+mn-ea"/>
              </a:rPr>
              <a:t>成为等价类</a:t>
            </a:r>
            <a:r>
              <a:rPr lang="en-US" altLang="zh-CN" dirty="0" smtClean="0">
                <a:latin typeface="+mn-lt"/>
                <a:ea typeface="+mn-ea"/>
              </a:rPr>
              <a:t>C</a:t>
            </a:r>
            <a:r>
              <a:rPr lang="en-US" altLang="zh-CN" baseline="-25000" dirty="0" smtClean="0">
                <a:latin typeface="+mn-lt"/>
                <a:ea typeface="+mn-ea"/>
              </a:rPr>
              <a:t>1</a:t>
            </a:r>
            <a:r>
              <a:rPr lang="en-US" altLang="zh-CN" dirty="0" smtClean="0">
                <a:latin typeface="+mn-lt"/>
                <a:ea typeface="+mn-ea"/>
              </a:rPr>
              <a:t>,C</a:t>
            </a:r>
            <a:r>
              <a:rPr lang="en-US" altLang="zh-CN" baseline="-25000" dirty="0" smtClean="0">
                <a:latin typeface="+mn-lt"/>
                <a:ea typeface="+mn-ea"/>
              </a:rPr>
              <a:t>2</a:t>
            </a:r>
            <a:r>
              <a:rPr lang="en-US" altLang="zh-CN" dirty="0" smtClean="0">
                <a:latin typeface="+mn-lt"/>
                <a:ea typeface="+mn-ea"/>
              </a:rPr>
              <a:t>,…,C</a:t>
            </a:r>
            <a:r>
              <a:rPr lang="en-US" altLang="zh-CN" baseline="-25000" dirty="0" smtClean="0">
                <a:latin typeface="+mn-lt"/>
                <a:ea typeface="+mn-ea"/>
              </a:rPr>
              <a:t>k</a:t>
            </a:r>
            <a:r>
              <a:rPr lang="en-US" altLang="zh-CN" dirty="0" smtClean="0">
                <a:latin typeface="+mn-lt"/>
                <a:ea typeface="+mn-ea"/>
              </a:rPr>
              <a:t> </a:t>
            </a:r>
            <a:r>
              <a:rPr lang="zh-CN" altLang="en-US" dirty="0" smtClean="0">
                <a:latin typeface="+mn-lt"/>
                <a:ea typeface="+mn-ea"/>
              </a:rPr>
              <a:t>，这样</a:t>
            </a:r>
            <a:r>
              <a:rPr lang="zh-CN" altLang="en-US" dirty="0" smtClean="0">
                <a:solidFill>
                  <a:srgbClr val="FF0000"/>
                </a:solidFill>
                <a:latin typeface="+mn-lt"/>
                <a:ea typeface="+mn-ea"/>
              </a:rPr>
              <a:t>等价类中的任意两个元素有</a:t>
            </a:r>
            <a:r>
              <a:rPr lang="en-US" altLang="zh-CN" dirty="0" smtClean="0">
                <a:solidFill>
                  <a:srgbClr val="FF0000"/>
                </a:solidFill>
                <a:latin typeface="+mn-lt"/>
                <a:ea typeface="+mn-ea"/>
              </a:rPr>
              <a:t>R</a:t>
            </a:r>
            <a:r>
              <a:rPr lang="zh-CN" altLang="en-US" dirty="0" smtClean="0">
                <a:solidFill>
                  <a:srgbClr val="FF0000"/>
                </a:solidFill>
                <a:latin typeface="+mn-lt"/>
                <a:ea typeface="+mn-ea"/>
              </a:rPr>
              <a:t>关系</a:t>
            </a:r>
            <a:r>
              <a:rPr lang="zh-CN" altLang="en-US" dirty="0" smtClean="0">
                <a:latin typeface="+mn-lt"/>
                <a:ea typeface="+mn-ea"/>
              </a:rPr>
              <a:t>。也就是对于任意</a:t>
            </a:r>
            <a:r>
              <a:rPr lang="en-US" altLang="zh-CN" dirty="0" smtClean="0">
                <a:latin typeface="+mn-lt"/>
                <a:ea typeface="+mn-ea"/>
              </a:rPr>
              <a:t>C</a:t>
            </a:r>
            <a:r>
              <a:rPr lang="en-US" altLang="zh-CN" baseline="-25000" dirty="0" smtClean="0">
                <a:latin typeface="+mn-lt"/>
                <a:ea typeface="+mn-ea"/>
              </a:rPr>
              <a:t>i</a:t>
            </a:r>
            <a:r>
              <a:rPr lang="en-US" altLang="zh-CN" dirty="0" smtClean="0">
                <a:latin typeface="+mn-lt"/>
                <a:ea typeface="+mn-ea"/>
              </a:rPr>
              <a:t>,1</a:t>
            </a:r>
            <a:r>
              <a:rPr lang="en-US" altLang="zh-CN" dirty="0" smtClean="0">
                <a:latin typeface="+mn-lt"/>
                <a:ea typeface="+mn-ea"/>
                <a:sym typeface="Symbol" panose="05050102010706020507" pitchFamily="18" charset="2"/>
              </a:rPr>
              <a:t>ik</a:t>
            </a:r>
            <a:r>
              <a:rPr lang="zh-CN" altLang="en-US" dirty="0" smtClean="0">
                <a:latin typeface="+mn-lt"/>
                <a:ea typeface="+mn-ea"/>
                <a:sym typeface="Symbol" panose="05050102010706020507" pitchFamily="18" charset="2"/>
              </a:rPr>
              <a:t>，如果</a:t>
            </a:r>
            <a:r>
              <a:rPr lang="en-US" altLang="zh-CN" dirty="0" smtClean="0">
                <a:latin typeface="+mn-lt"/>
                <a:ea typeface="+mn-ea"/>
                <a:sym typeface="Symbol" panose="05050102010706020507" pitchFamily="18" charset="2"/>
              </a:rPr>
              <a:t>x </a:t>
            </a:r>
            <a:r>
              <a:rPr lang="en-US" altLang="zh-CN" dirty="0" err="1" smtClean="0">
                <a:latin typeface="+mn-lt"/>
                <a:ea typeface="+mn-ea"/>
                <a:sym typeface="Symbol" panose="05050102010706020507" pitchFamily="18" charset="2"/>
              </a:rPr>
              <a:t>C</a:t>
            </a:r>
            <a:r>
              <a:rPr lang="en-US" altLang="zh-CN" baseline="-25000" dirty="0" err="1" smtClean="0">
                <a:latin typeface="+mn-lt"/>
                <a:ea typeface="+mn-ea"/>
                <a:sym typeface="Symbol" panose="05050102010706020507" pitchFamily="18" charset="2"/>
              </a:rPr>
              <a:t>i</a:t>
            </a:r>
            <a:r>
              <a:rPr lang="en-US" altLang="zh-CN" dirty="0" smtClean="0">
                <a:latin typeface="+mn-lt"/>
                <a:ea typeface="+mn-ea"/>
                <a:sym typeface="Symbol" panose="05050102010706020507" pitchFamily="18" charset="2"/>
              </a:rPr>
              <a:t> </a:t>
            </a:r>
            <a:r>
              <a:rPr lang="zh-CN" altLang="en-US" dirty="0" smtClean="0">
                <a:latin typeface="+mn-lt"/>
                <a:ea typeface="+mn-ea"/>
                <a:sym typeface="Symbol" panose="05050102010706020507" pitchFamily="18" charset="2"/>
              </a:rPr>
              <a:t>且</a:t>
            </a:r>
            <a:r>
              <a:rPr lang="en-US" altLang="zh-CN" dirty="0" smtClean="0">
                <a:latin typeface="+mn-lt"/>
                <a:ea typeface="+mn-ea"/>
                <a:sym typeface="Symbol" panose="05050102010706020507" pitchFamily="18" charset="2"/>
              </a:rPr>
              <a:t>y </a:t>
            </a:r>
            <a:r>
              <a:rPr lang="en-US" altLang="zh-CN" dirty="0" err="1" smtClean="0">
                <a:latin typeface="+mn-lt"/>
                <a:ea typeface="+mn-ea"/>
                <a:sym typeface="Symbol" panose="05050102010706020507" pitchFamily="18" charset="2"/>
              </a:rPr>
              <a:t>C</a:t>
            </a:r>
            <a:r>
              <a:rPr lang="en-US" altLang="zh-CN" baseline="-25000" dirty="0" err="1" smtClean="0">
                <a:latin typeface="+mn-lt"/>
                <a:ea typeface="+mn-ea"/>
                <a:sym typeface="Symbol" panose="05050102010706020507" pitchFamily="18" charset="2"/>
              </a:rPr>
              <a:t>i</a:t>
            </a:r>
            <a:r>
              <a:rPr lang="zh-CN" altLang="en-US" baseline="-25000" dirty="0" smtClean="0">
                <a:latin typeface="+mn-lt"/>
                <a:ea typeface="+mn-ea"/>
                <a:sym typeface="Symbol" panose="05050102010706020507" pitchFamily="18" charset="2"/>
              </a:rPr>
              <a:t>，</a:t>
            </a:r>
            <a:r>
              <a:rPr lang="zh-CN" altLang="en-US" dirty="0" smtClean="0">
                <a:latin typeface="+mn-lt"/>
                <a:ea typeface="+mn-ea"/>
                <a:sym typeface="Symbol" panose="05050102010706020507" pitchFamily="18" charset="2"/>
              </a:rPr>
              <a:t>则</a:t>
            </a:r>
            <a:r>
              <a:rPr lang="en-US" altLang="zh-CN" dirty="0" smtClean="0">
                <a:latin typeface="+mn-lt"/>
                <a:ea typeface="+mn-ea"/>
                <a:sym typeface="Symbol" panose="05050102010706020507" pitchFamily="18" charset="2"/>
              </a:rPr>
              <a:t> (</a:t>
            </a:r>
            <a:r>
              <a:rPr lang="en-US" altLang="zh-CN" dirty="0" err="1" smtClean="0">
                <a:latin typeface="+mn-lt"/>
                <a:ea typeface="+mn-ea"/>
                <a:sym typeface="Symbol" panose="05050102010706020507" pitchFamily="18" charset="2"/>
              </a:rPr>
              <a:t>x,y</a:t>
            </a:r>
            <a:r>
              <a:rPr lang="en-US" altLang="zh-CN" dirty="0" smtClean="0">
                <a:latin typeface="+mn-lt"/>
                <a:ea typeface="+mn-ea"/>
                <a:sym typeface="Symbol" panose="05050102010706020507" pitchFamily="18" charset="2"/>
              </a:rPr>
              <a:t>)R</a:t>
            </a:r>
            <a:r>
              <a:rPr lang="zh-CN" altLang="en-US" dirty="0" smtClean="0">
                <a:latin typeface="+mn-lt"/>
                <a:ea typeface="+mn-ea"/>
                <a:sym typeface="Symbol" panose="05050102010706020507" pitchFamily="18" charset="2"/>
              </a:rPr>
              <a:t>。另一方面，如果</a:t>
            </a:r>
            <a:r>
              <a:rPr lang="en-US" altLang="zh-CN" dirty="0" smtClean="0">
                <a:latin typeface="+mn-lt"/>
                <a:ea typeface="+mn-ea"/>
                <a:sym typeface="Symbol" panose="05050102010706020507" pitchFamily="18" charset="2"/>
              </a:rPr>
              <a:t> x </a:t>
            </a:r>
            <a:r>
              <a:rPr lang="en-US" altLang="zh-CN" dirty="0" err="1" smtClean="0">
                <a:latin typeface="+mn-lt"/>
                <a:ea typeface="+mn-ea"/>
                <a:sym typeface="Symbol" panose="05050102010706020507" pitchFamily="18" charset="2"/>
              </a:rPr>
              <a:t>C</a:t>
            </a:r>
            <a:r>
              <a:rPr lang="en-US" altLang="zh-CN" baseline="-25000" dirty="0" err="1" smtClean="0">
                <a:latin typeface="+mn-lt"/>
                <a:ea typeface="+mn-ea"/>
                <a:sym typeface="Symbol" panose="05050102010706020507" pitchFamily="18" charset="2"/>
              </a:rPr>
              <a:t>i</a:t>
            </a:r>
            <a:r>
              <a:rPr lang="en-US" altLang="zh-CN" dirty="0" smtClean="0">
                <a:latin typeface="+mn-lt"/>
                <a:ea typeface="+mn-ea"/>
                <a:sym typeface="Symbol" panose="05050102010706020507" pitchFamily="18" charset="2"/>
              </a:rPr>
              <a:t> </a:t>
            </a:r>
            <a:r>
              <a:rPr lang="zh-CN" altLang="en-US" dirty="0" smtClean="0">
                <a:latin typeface="+mn-lt"/>
                <a:ea typeface="+mn-ea"/>
                <a:sym typeface="Symbol" panose="05050102010706020507" pitchFamily="18" charset="2"/>
              </a:rPr>
              <a:t>且</a:t>
            </a:r>
            <a:r>
              <a:rPr lang="en-US" altLang="zh-CN" dirty="0" smtClean="0">
                <a:latin typeface="+mn-lt"/>
                <a:ea typeface="+mn-ea"/>
                <a:sym typeface="Symbol" panose="05050102010706020507" pitchFamily="18" charset="2"/>
              </a:rPr>
              <a:t>y </a:t>
            </a:r>
            <a:r>
              <a:rPr lang="en-US" altLang="zh-CN" dirty="0" err="1" smtClean="0">
                <a:latin typeface="+mn-lt"/>
                <a:ea typeface="+mn-ea"/>
                <a:sym typeface="Symbol" panose="05050102010706020507" pitchFamily="18" charset="2"/>
              </a:rPr>
              <a:t>C</a:t>
            </a:r>
            <a:r>
              <a:rPr lang="en-US" altLang="zh-CN" baseline="-25000" dirty="0" err="1" smtClean="0">
                <a:latin typeface="+mn-lt"/>
                <a:ea typeface="+mn-ea"/>
                <a:sym typeface="Symbol" panose="05050102010706020507" pitchFamily="18" charset="2"/>
              </a:rPr>
              <a:t>j</a:t>
            </a:r>
            <a:r>
              <a:rPr lang="en-US" altLang="zh-CN" dirty="0" smtClean="0">
                <a:latin typeface="+mn-lt"/>
                <a:ea typeface="+mn-ea"/>
                <a:sym typeface="Symbol" panose="05050102010706020507" pitchFamily="18" charset="2"/>
              </a:rPr>
              <a:t> </a:t>
            </a:r>
            <a:r>
              <a:rPr lang="zh-CN" altLang="en-US" dirty="0" smtClean="0">
                <a:latin typeface="+mn-lt"/>
                <a:ea typeface="+mn-ea"/>
                <a:sym typeface="Symbol" panose="05050102010706020507" pitchFamily="18" charset="2"/>
              </a:rPr>
              <a:t>，</a:t>
            </a:r>
            <a:r>
              <a:rPr lang="en-US" altLang="zh-CN" dirty="0" err="1" smtClean="0">
                <a:latin typeface="+mn-lt"/>
                <a:ea typeface="+mn-ea"/>
                <a:sym typeface="Symbol" panose="05050102010706020507" pitchFamily="18" charset="2"/>
              </a:rPr>
              <a:t>ij</a:t>
            </a:r>
            <a:r>
              <a:rPr lang="zh-CN" altLang="en-US" dirty="0" smtClean="0">
                <a:latin typeface="+mn-lt"/>
                <a:ea typeface="+mn-ea"/>
                <a:sym typeface="Symbol" panose="05050102010706020507" pitchFamily="18" charset="2"/>
              </a:rPr>
              <a:t>，那么</a:t>
            </a:r>
            <a:r>
              <a:rPr lang="en-US" altLang="zh-CN" dirty="0" smtClean="0">
                <a:latin typeface="+mn-lt"/>
                <a:ea typeface="+mn-ea"/>
                <a:sym typeface="Symbol" panose="05050102010706020507" pitchFamily="18" charset="2"/>
              </a:rPr>
              <a:t> (</a:t>
            </a:r>
            <a:r>
              <a:rPr lang="en-US" altLang="zh-CN" dirty="0" err="1" smtClean="0">
                <a:latin typeface="+mn-lt"/>
                <a:ea typeface="+mn-ea"/>
                <a:sym typeface="Symbol" panose="05050102010706020507" pitchFamily="18" charset="2"/>
              </a:rPr>
              <a:t>x,y</a:t>
            </a:r>
            <a:r>
              <a:rPr lang="en-US" altLang="zh-CN" dirty="0" smtClean="0">
                <a:latin typeface="+mn-lt"/>
                <a:ea typeface="+mn-ea"/>
                <a:sym typeface="Symbol" panose="05050102010706020507" pitchFamily="18" charset="2"/>
              </a:rPr>
              <a:t>)R</a:t>
            </a:r>
            <a:r>
              <a:rPr lang="zh-CN" altLang="en-US" dirty="0" smtClean="0">
                <a:latin typeface="+mn-lt"/>
                <a:ea typeface="+mn-ea"/>
                <a:sym typeface="Symbol" panose="05050102010706020507" pitchFamily="18" charset="2"/>
              </a:rPr>
              <a:t>。</a:t>
            </a:r>
            <a:endParaRPr lang="en-US" altLang="zh-CN" dirty="0" smtClean="0">
              <a:latin typeface="+mn-lt"/>
              <a:ea typeface="+mn-ea"/>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32771" name="Rectangle 2"/>
          <p:cNvSpPr>
            <a:spLocks noGrp="1" noChangeArrowheads="1"/>
          </p:cNvSpPr>
          <p:nvPr>
            <p:ph type="title"/>
          </p:nvPr>
        </p:nvSpPr>
        <p:spPr/>
        <p:txBody>
          <a:bodyPr/>
          <a:lstStyle/>
          <a:p>
            <a:pPr eaLnBrk="1" hangingPunct="1"/>
            <a:r>
              <a:rPr lang="en-US" altLang="zh-CN" b="0" dirty="0">
                <a:latin typeface="+mn-ea"/>
              </a:rPr>
              <a:t>1.3.1 </a:t>
            </a:r>
            <a:r>
              <a:rPr lang="zh-CN" altLang="en-US" b="0" dirty="0">
                <a:latin typeface="+mn-ea"/>
              </a:rPr>
              <a:t>集合、</a:t>
            </a:r>
            <a:r>
              <a:rPr lang="zh-CN" altLang="en-US" u="sng" dirty="0">
                <a:latin typeface="+mn-ea"/>
              </a:rPr>
              <a:t>关系</a:t>
            </a:r>
            <a:r>
              <a:rPr lang="zh-CN" altLang="en-US" b="0" dirty="0">
                <a:latin typeface="+mn-ea"/>
              </a:rPr>
              <a:t>、函数</a:t>
            </a:r>
            <a:endParaRPr lang="en-US" altLang="zh-CN" dirty="0" smtClean="0"/>
          </a:p>
        </p:txBody>
      </p:sp>
      <p:sp>
        <p:nvSpPr>
          <p:cNvPr id="32772" name="Rectangle 3"/>
          <p:cNvSpPr>
            <a:spLocks noGrp="1" noChangeArrowheads="1"/>
          </p:cNvSpPr>
          <p:nvPr>
            <p:ph type="body" idx="1"/>
          </p:nvPr>
        </p:nvSpPr>
        <p:spPr>
          <a:xfrm>
            <a:off x="889000" y="1268413"/>
            <a:ext cx="7931150" cy="4525962"/>
          </a:xfrm>
        </p:spPr>
        <p:txBody>
          <a:bodyPr/>
          <a:lstStyle/>
          <a:p>
            <a:pPr eaLnBrk="1" hangingPunct="1"/>
            <a:r>
              <a:rPr lang="zh-CN" altLang="en-US" sz="2200" dirty="0" smtClean="0"/>
              <a:t>例子</a:t>
            </a:r>
            <a:endParaRPr lang="en-US" altLang="zh-CN" sz="2200" dirty="0" smtClean="0"/>
          </a:p>
          <a:p>
            <a:pPr eaLnBrk="1" hangingPunct="1"/>
            <a:r>
              <a:rPr lang="zh-CN" altLang="en-US" sz="2200" dirty="0" smtClean="0"/>
              <a:t>设</a:t>
            </a:r>
            <a:r>
              <a:rPr lang="en-US" altLang="zh-CN" sz="2200" dirty="0" smtClean="0"/>
              <a:t>x</a:t>
            </a:r>
            <a:r>
              <a:rPr lang="zh-CN" altLang="en-US" sz="2200" dirty="0" smtClean="0"/>
              <a:t>和</a:t>
            </a:r>
            <a:r>
              <a:rPr lang="en-US" altLang="zh-CN" sz="2200" dirty="0" smtClean="0"/>
              <a:t>y</a:t>
            </a:r>
            <a:r>
              <a:rPr lang="zh-CN" altLang="en-US" sz="2200" dirty="0" smtClean="0"/>
              <a:t>是两个整数，</a:t>
            </a:r>
            <a:r>
              <a:rPr lang="en-US" altLang="zh-CN" sz="2200" dirty="0" smtClean="0"/>
              <a:t>n</a:t>
            </a:r>
            <a:r>
              <a:rPr lang="zh-CN" altLang="en-US" sz="2200" dirty="0" smtClean="0"/>
              <a:t>是正整数，如果对于某个整数</a:t>
            </a:r>
            <a:r>
              <a:rPr lang="en-US" altLang="zh-CN" sz="2200" dirty="0" smtClean="0"/>
              <a:t>k</a:t>
            </a:r>
            <a:r>
              <a:rPr lang="zh-CN" altLang="en-US" sz="2200" dirty="0" smtClean="0"/>
              <a:t>，有</a:t>
            </a:r>
            <a:r>
              <a:rPr lang="en-US" altLang="zh-CN" sz="2200" dirty="0" smtClean="0"/>
              <a:t>x-y=</a:t>
            </a:r>
            <a:r>
              <a:rPr lang="en-US" altLang="zh-CN" sz="2200" dirty="0" err="1" smtClean="0"/>
              <a:t>kn</a:t>
            </a:r>
            <a:r>
              <a:rPr lang="zh-CN" altLang="en-US" sz="2200" dirty="0" smtClean="0"/>
              <a:t>，则称</a:t>
            </a:r>
            <a:r>
              <a:rPr lang="en-US" altLang="zh-CN" sz="2200" dirty="0" smtClean="0"/>
              <a:t>x</a:t>
            </a:r>
            <a:r>
              <a:rPr lang="zh-CN" altLang="en-US" sz="2200" dirty="0" smtClean="0"/>
              <a:t>和</a:t>
            </a:r>
            <a:r>
              <a:rPr lang="en-US" altLang="zh-CN" sz="2200" dirty="0" smtClean="0"/>
              <a:t>y</a:t>
            </a:r>
            <a:r>
              <a:rPr lang="zh-CN" altLang="en-US" sz="2200" dirty="0" smtClean="0"/>
              <a:t>模</a:t>
            </a:r>
            <a:r>
              <a:rPr lang="en-US" altLang="zh-CN" sz="2200" dirty="0" smtClean="0"/>
              <a:t>n</a:t>
            </a:r>
            <a:r>
              <a:rPr lang="zh-CN" altLang="en-US" sz="2200" dirty="0" smtClean="0"/>
              <a:t>同余，记为</a:t>
            </a:r>
            <a:endParaRPr lang="en-US" altLang="zh-CN" sz="2200" dirty="0" smtClean="0"/>
          </a:p>
          <a:p>
            <a:pPr eaLnBrk="1" hangingPunct="1">
              <a:buFontTx/>
              <a:buNone/>
            </a:pPr>
            <a:r>
              <a:rPr lang="en-US" altLang="zh-CN" sz="2200" dirty="0" smtClean="0"/>
              <a:t>    		</a:t>
            </a:r>
            <a:r>
              <a:rPr lang="en-US" altLang="zh-CN" sz="2200" i="1" dirty="0" smtClean="0">
                <a:solidFill>
                  <a:schemeClr val="tx2"/>
                </a:solidFill>
              </a:rPr>
              <a:t>x ≡y (mod n)</a:t>
            </a:r>
            <a:endParaRPr lang="en-US" altLang="zh-CN" sz="2200" i="1" dirty="0" smtClean="0">
              <a:solidFill>
                <a:schemeClr val="tx2"/>
              </a:solidFill>
            </a:endParaRPr>
          </a:p>
          <a:p>
            <a:pPr eaLnBrk="1" hangingPunct="1">
              <a:buFontTx/>
              <a:buNone/>
            </a:pPr>
            <a:r>
              <a:rPr lang="en-US" altLang="zh-CN" sz="2200" dirty="0" smtClean="0"/>
              <a:t>	</a:t>
            </a:r>
            <a:r>
              <a:rPr lang="zh-CN" altLang="en-US" sz="2200" dirty="0" smtClean="0"/>
              <a:t>换句话说，如果</a:t>
            </a:r>
            <a:r>
              <a:rPr lang="en-US" altLang="zh-CN" sz="2200" dirty="0" smtClean="0"/>
              <a:t>x</a:t>
            </a:r>
            <a:r>
              <a:rPr lang="zh-CN" altLang="en-US" sz="2200" dirty="0" smtClean="0"/>
              <a:t>和</a:t>
            </a:r>
            <a:r>
              <a:rPr lang="en-US" altLang="zh-CN" sz="2200" dirty="0" smtClean="0"/>
              <a:t>y</a:t>
            </a:r>
            <a:r>
              <a:rPr lang="zh-CN" altLang="en-US" sz="2200" dirty="0" smtClean="0"/>
              <a:t>被</a:t>
            </a:r>
            <a:r>
              <a:rPr lang="en-US" altLang="zh-CN" sz="2200" dirty="0" smtClean="0"/>
              <a:t>n</a:t>
            </a:r>
            <a:r>
              <a:rPr lang="zh-CN" altLang="en-US" sz="2200" dirty="0" smtClean="0"/>
              <a:t>除的时候，余数相同，就有</a:t>
            </a:r>
            <a:r>
              <a:rPr lang="en-US" altLang="zh-CN" sz="2200" dirty="0" err="1" smtClean="0"/>
              <a:t>x≡y</a:t>
            </a:r>
            <a:r>
              <a:rPr lang="en-US" altLang="zh-CN" sz="2200" dirty="0" smtClean="0"/>
              <a:t>(mod n) </a:t>
            </a:r>
            <a:r>
              <a:rPr lang="zh-CN" altLang="en-US" sz="2200" dirty="0" smtClean="0"/>
              <a:t>。如</a:t>
            </a:r>
            <a:r>
              <a:rPr lang="en-US" altLang="zh-CN" sz="2200" dirty="0" smtClean="0"/>
              <a:t>13≡8 (mod 5) </a:t>
            </a:r>
            <a:r>
              <a:rPr lang="zh-CN" altLang="en-US" sz="2200" dirty="0" smtClean="0"/>
              <a:t>和</a:t>
            </a:r>
            <a:r>
              <a:rPr lang="en-US" altLang="zh-CN" sz="2200" dirty="0" smtClean="0"/>
              <a:t>13≡-2(mod 5)</a:t>
            </a:r>
            <a:r>
              <a:rPr lang="zh-CN" altLang="en-US" sz="2200" dirty="0" smtClean="0"/>
              <a:t>。</a:t>
            </a:r>
            <a:endParaRPr lang="en-US" altLang="zh-CN" sz="2200" dirty="0" smtClean="0"/>
          </a:p>
          <a:p>
            <a:pPr eaLnBrk="1" hangingPunct="1">
              <a:buFontTx/>
              <a:buNone/>
            </a:pPr>
            <a:r>
              <a:rPr lang="zh-CN" altLang="en-US" sz="2200" dirty="0" smtClean="0"/>
              <a:t>    现在定义关系，</a:t>
            </a:r>
            <a:r>
              <a:rPr lang="en-US" altLang="zh-CN" sz="2200" i="1" dirty="0" smtClean="0">
                <a:solidFill>
                  <a:schemeClr val="tx2"/>
                </a:solidFill>
              </a:rPr>
              <a:t> R={(</a:t>
            </a:r>
            <a:r>
              <a:rPr lang="en-US" altLang="zh-CN" sz="2200" i="1" dirty="0" err="1" smtClean="0">
                <a:solidFill>
                  <a:schemeClr val="tx2"/>
                </a:solidFill>
              </a:rPr>
              <a:t>x,y</a:t>
            </a:r>
            <a:r>
              <a:rPr lang="en-US" altLang="zh-CN" sz="2200" i="1" dirty="0" smtClean="0">
                <a:solidFill>
                  <a:schemeClr val="tx2"/>
                </a:solidFill>
              </a:rPr>
              <a:t>)|</a:t>
            </a:r>
            <a:r>
              <a:rPr lang="en-US" altLang="zh-CN" sz="2200" i="1" dirty="0" err="1" smtClean="0">
                <a:solidFill>
                  <a:schemeClr val="tx2"/>
                </a:solidFill>
              </a:rPr>
              <a:t>x,y</a:t>
            </a:r>
            <a:r>
              <a:rPr lang="en-US" altLang="zh-CN" sz="2200" i="1" dirty="0" smtClean="0">
                <a:solidFill>
                  <a:schemeClr val="tx2"/>
                </a:solidFill>
              </a:rPr>
              <a:t> </a:t>
            </a:r>
            <a:r>
              <a:rPr lang="zh-CN" altLang="en-US" sz="2200" dirty="0" smtClean="0">
                <a:solidFill>
                  <a:schemeClr val="tx2"/>
                </a:solidFill>
              </a:rPr>
              <a:t>是整数，</a:t>
            </a:r>
            <a:r>
              <a:rPr lang="zh-CN" altLang="en-US" sz="2200" i="1" dirty="0" smtClean="0">
                <a:solidFill>
                  <a:schemeClr val="tx2"/>
                </a:solidFill>
              </a:rPr>
              <a:t>且</a:t>
            </a:r>
            <a:r>
              <a:rPr lang="en-US" altLang="zh-CN" sz="2200" i="1" dirty="0" err="1" smtClean="0">
                <a:solidFill>
                  <a:schemeClr val="tx2"/>
                </a:solidFill>
              </a:rPr>
              <a:t>x≡y</a:t>
            </a:r>
            <a:r>
              <a:rPr lang="en-US" altLang="zh-CN" sz="2200" i="1" dirty="0" smtClean="0">
                <a:solidFill>
                  <a:schemeClr val="tx2"/>
                </a:solidFill>
              </a:rPr>
              <a:t> (mod n)}.</a:t>
            </a:r>
            <a:endParaRPr lang="en-US" altLang="zh-CN" sz="2200" i="1" dirty="0" smtClean="0">
              <a:solidFill>
                <a:schemeClr val="tx2"/>
              </a:solidFill>
            </a:endParaRPr>
          </a:p>
          <a:p>
            <a:pPr eaLnBrk="1" hangingPunct="1">
              <a:buFontTx/>
              <a:buNone/>
            </a:pPr>
            <a:r>
              <a:rPr lang="zh-CN" altLang="en-US" sz="2200" dirty="0" smtClean="0"/>
              <a:t>    是等价关系。</a:t>
            </a:r>
            <a:endParaRPr lang="en-US" altLang="zh-CN" sz="2200" dirty="0" smtClean="0"/>
          </a:p>
          <a:p>
            <a:pPr eaLnBrk="1" hangingPunct="1"/>
            <a:r>
              <a:rPr lang="zh-CN" altLang="en-US" sz="2200" dirty="0" smtClean="0"/>
              <a:t>它划分整数集合为</a:t>
            </a:r>
            <a:r>
              <a:rPr lang="en-US" altLang="zh-CN" sz="2200" dirty="0" smtClean="0"/>
              <a:t>n</a:t>
            </a:r>
            <a:r>
              <a:rPr lang="zh-CN" altLang="en-US" sz="2200" dirty="0" smtClean="0"/>
              <a:t>类</a:t>
            </a:r>
            <a:r>
              <a:rPr lang="en-US" altLang="zh-CN" sz="2200" dirty="0" smtClean="0"/>
              <a:t> </a:t>
            </a:r>
            <a:r>
              <a:rPr lang="en-US" altLang="zh-CN" sz="2200" dirty="0" err="1" smtClean="0"/>
              <a:t>C</a:t>
            </a:r>
            <a:r>
              <a:rPr lang="en-US" altLang="zh-CN" sz="2200" baseline="-25000" dirty="0" err="1" smtClean="0"/>
              <a:t>0</a:t>
            </a:r>
            <a:r>
              <a:rPr lang="en-US" altLang="zh-CN" sz="2200" dirty="0" err="1" smtClean="0"/>
              <a:t>,C</a:t>
            </a:r>
            <a:r>
              <a:rPr lang="en-US" altLang="zh-CN" sz="2200" baseline="-25000" dirty="0" err="1" smtClean="0"/>
              <a:t>1</a:t>
            </a:r>
            <a:r>
              <a:rPr lang="en-US" altLang="zh-CN" sz="2200" dirty="0" smtClean="0"/>
              <a:t>,…,C</a:t>
            </a:r>
            <a:r>
              <a:rPr lang="en-US" altLang="zh-CN" sz="2200" baseline="-25000" dirty="0" smtClean="0"/>
              <a:t>n-1</a:t>
            </a:r>
            <a:r>
              <a:rPr lang="en-US" altLang="zh-CN" sz="2200" dirty="0" smtClean="0"/>
              <a:t> </a:t>
            </a:r>
            <a:r>
              <a:rPr lang="zh-CN" altLang="en-US" sz="2200" dirty="0" smtClean="0"/>
              <a:t>，当且仅当</a:t>
            </a:r>
            <a:r>
              <a:rPr lang="en-US" altLang="zh-CN" sz="2200" dirty="0" err="1" smtClean="0"/>
              <a:t>x≡y</a:t>
            </a:r>
            <a:r>
              <a:rPr lang="en-US" altLang="zh-CN" sz="2200" dirty="0" smtClean="0"/>
              <a:t> (mod n)</a:t>
            </a:r>
            <a:r>
              <a:rPr lang="zh-CN" altLang="en-US" sz="2200" dirty="0" smtClean="0"/>
              <a:t>时，有</a:t>
            </a:r>
            <a:r>
              <a:rPr lang="en-US" altLang="zh-CN" sz="2200" dirty="0" err="1" smtClean="0"/>
              <a:t>x</a:t>
            </a:r>
            <a:r>
              <a:rPr lang="en-US" altLang="zh-CN" sz="2200" dirty="0" err="1" smtClean="0">
                <a:sym typeface="Symbol" panose="05050102010706020507" pitchFamily="18" charset="2"/>
              </a:rPr>
              <a:t>∈C</a:t>
            </a:r>
            <a:r>
              <a:rPr lang="en-US" altLang="zh-CN" sz="2200" baseline="-25000" dirty="0" err="1" smtClean="0">
                <a:sym typeface="Symbol" panose="05050102010706020507" pitchFamily="18" charset="2"/>
              </a:rPr>
              <a:t>i</a:t>
            </a:r>
            <a:r>
              <a:rPr lang="en-US" altLang="zh-CN" sz="2200" dirty="0" smtClean="0">
                <a:sym typeface="Symbol" panose="05050102010706020507" pitchFamily="18" charset="2"/>
              </a:rPr>
              <a:t> </a:t>
            </a:r>
            <a:r>
              <a:rPr lang="zh-CN" altLang="en-US" sz="2200" dirty="0" smtClean="0">
                <a:sym typeface="Symbol" panose="05050102010706020507" pitchFamily="18" charset="2"/>
              </a:rPr>
              <a:t>和</a:t>
            </a:r>
            <a:r>
              <a:rPr lang="en-US" altLang="zh-CN" sz="2200" dirty="0" err="1" smtClean="0">
                <a:sym typeface="Symbol" panose="05050102010706020507" pitchFamily="18" charset="2"/>
              </a:rPr>
              <a:t>y∈C</a:t>
            </a:r>
            <a:r>
              <a:rPr lang="en-US" altLang="zh-CN" sz="2200" baseline="-25000" dirty="0" err="1" smtClean="0">
                <a:sym typeface="Symbol" panose="05050102010706020507" pitchFamily="18" charset="2"/>
              </a:rPr>
              <a:t>i</a:t>
            </a:r>
            <a:endParaRPr lang="en-US" altLang="zh-CN" sz="2200" dirty="0" smtClean="0"/>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34819" name="Rectangle 2"/>
          <p:cNvSpPr>
            <a:spLocks noGrp="1" noChangeArrowheads="1"/>
          </p:cNvSpPr>
          <p:nvPr>
            <p:ph type="title"/>
          </p:nvPr>
        </p:nvSpPr>
        <p:spPr/>
        <p:txBody>
          <a:bodyPr/>
          <a:lstStyle/>
          <a:p>
            <a:pPr eaLnBrk="1" hangingPunct="1"/>
            <a:r>
              <a:rPr lang="en-US" altLang="zh-CN" b="0" dirty="0">
                <a:latin typeface="+mn-ea"/>
              </a:rPr>
              <a:t>1.3.1 </a:t>
            </a:r>
            <a:r>
              <a:rPr lang="zh-CN" altLang="en-US" b="0" dirty="0">
                <a:latin typeface="+mn-ea"/>
              </a:rPr>
              <a:t>集合、</a:t>
            </a:r>
            <a:r>
              <a:rPr lang="zh-CN" altLang="en-US" u="sng" dirty="0">
                <a:latin typeface="+mn-ea"/>
              </a:rPr>
              <a:t>关系</a:t>
            </a:r>
            <a:r>
              <a:rPr lang="zh-CN" altLang="en-US" b="0" dirty="0">
                <a:latin typeface="+mn-ea"/>
              </a:rPr>
              <a:t>、函数</a:t>
            </a:r>
            <a:endParaRPr lang="en-US" altLang="zh-CN" dirty="0" smtClean="0"/>
          </a:p>
        </p:txBody>
      </p:sp>
      <p:sp>
        <p:nvSpPr>
          <p:cNvPr id="37892" name="Rectangle 3"/>
          <p:cNvSpPr>
            <a:spLocks noGrp="1" noChangeArrowheads="1"/>
          </p:cNvSpPr>
          <p:nvPr>
            <p:ph type="body" idx="1"/>
          </p:nvPr>
        </p:nvSpPr>
        <p:spPr>
          <a:xfrm>
            <a:off x="889000" y="1268413"/>
            <a:ext cx="7931150" cy="4525962"/>
          </a:xfrm>
        </p:spPr>
        <p:txBody>
          <a:bodyPr/>
          <a:lstStyle/>
          <a:p>
            <a:pPr eaLnBrk="1" hangingPunct="1"/>
            <a:r>
              <a:rPr lang="zh-CN" altLang="en-US" sz="2200" dirty="0" smtClean="0"/>
              <a:t>例子</a:t>
            </a:r>
            <a:endParaRPr lang="en-US" altLang="zh-CN" sz="2200" dirty="0" smtClean="0"/>
          </a:p>
          <a:p>
            <a:pPr eaLnBrk="1" hangingPunct="1"/>
            <a:r>
              <a:rPr lang="en-US" altLang="zh-CN" sz="2200" i="1" dirty="0" smtClean="0">
                <a:solidFill>
                  <a:schemeClr val="tx2"/>
                </a:solidFill>
              </a:rPr>
              <a:t>R={(</a:t>
            </a:r>
            <a:r>
              <a:rPr lang="en-US" altLang="zh-CN" sz="2200" i="1" dirty="0" err="1" smtClean="0">
                <a:solidFill>
                  <a:schemeClr val="tx2"/>
                </a:solidFill>
              </a:rPr>
              <a:t>x,y</a:t>
            </a:r>
            <a:r>
              <a:rPr lang="en-US" altLang="zh-CN" sz="2200" i="1" dirty="0" smtClean="0">
                <a:solidFill>
                  <a:schemeClr val="tx2"/>
                </a:solidFill>
              </a:rPr>
              <a:t>)|</a:t>
            </a:r>
            <a:r>
              <a:rPr lang="en-US" altLang="zh-CN" sz="2200" i="1" dirty="0" err="1" smtClean="0">
                <a:solidFill>
                  <a:schemeClr val="tx2"/>
                </a:solidFill>
              </a:rPr>
              <a:t>x,y</a:t>
            </a:r>
            <a:r>
              <a:rPr lang="en-US" altLang="zh-CN" sz="2200" i="1" dirty="0" smtClean="0">
                <a:solidFill>
                  <a:schemeClr val="tx2"/>
                </a:solidFill>
              </a:rPr>
              <a:t> </a:t>
            </a:r>
            <a:r>
              <a:rPr lang="zh-CN" altLang="en-US" sz="2200" dirty="0" smtClean="0">
                <a:solidFill>
                  <a:schemeClr val="tx2"/>
                </a:solidFill>
              </a:rPr>
              <a:t>是整数，</a:t>
            </a:r>
            <a:r>
              <a:rPr lang="zh-CN" altLang="en-US" sz="2200" i="1" dirty="0" smtClean="0">
                <a:solidFill>
                  <a:schemeClr val="tx2"/>
                </a:solidFill>
              </a:rPr>
              <a:t>且</a:t>
            </a:r>
            <a:r>
              <a:rPr lang="en-US" altLang="zh-CN" sz="2200" i="1" dirty="0" err="1" smtClean="0">
                <a:solidFill>
                  <a:schemeClr val="tx2"/>
                </a:solidFill>
              </a:rPr>
              <a:t>x≡y</a:t>
            </a:r>
            <a:r>
              <a:rPr lang="en-US" altLang="zh-CN" sz="2200" i="1" dirty="0" smtClean="0">
                <a:solidFill>
                  <a:schemeClr val="tx2"/>
                </a:solidFill>
              </a:rPr>
              <a:t> (mod n)}.</a:t>
            </a:r>
            <a:r>
              <a:rPr lang="zh-CN" altLang="en-US" sz="2200" dirty="0" smtClean="0">
                <a:solidFill>
                  <a:schemeClr val="tx2"/>
                </a:solidFill>
              </a:rPr>
              <a:t>是等价关系</a:t>
            </a:r>
            <a:endParaRPr lang="en-US" altLang="zh-CN" sz="2200" dirty="0" smtClean="0"/>
          </a:p>
          <a:p>
            <a:pPr eaLnBrk="1" hangingPunct="1"/>
            <a:r>
              <a:rPr lang="zh-CN" altLang="en-US" sz="2400" dirty="0" smtClean="0"/>
              <a:t>证明： 设任意</a:t>
            </a:r>
            <a:r>
              <a:rPr lang="en-US" altLang="zh-CN" sz="2400" dirty="0" smtClean="0"/>
              <a:t>a， </a:t>
            </a:r>
            <a:r>
              <a:rPr lang="en-US" altLang="zh-CN" sz="2400" dirty="0" err="1" smtClean="0"/>
              <a:t>b，c∈I</a:t>
            </a:r>
            <a:r>
              <a:rPr lang="en-US" altLang="zh-CN" sz="2400" dirty="0" smtClean="0"/>
              <a:t> </a:t>
            </a:r>
            <a:r>
              <a:rPr lang="zh-CN" altLang="en-US" sz="2400" dirty="0" smtClean="0"/>
              <a:t>（整数）</a:t>
            </a:r>
            <a:br>
              <a:rPr lang="en-US" altLang="zh-CN" sz="2400" dirty="0" smtClean="0"/>
            </a:br>
            <a:r>
              <a:rPr lang="en-US" altLang="zh-CN" sz="2400" dirty="0" smtClean="0"/>
              <a:t>  Ⅰ：</a:t>
            </a:r>
            <a:r>
              <a:rPr lang="zh-CN" altLang="en-US" sz="2400" dirty="0" smtClean="0"/>
              <a:t>因为</a:t>
            </a:r>
            <a:r>
              <a:rPr lang="en-US" altLang="zh-CN" sz="2400" dirty="0" smtClean="0"/>
              <a:t>a-a=</a:t>
            </a:r>
            <a:r>
              <a:rPr lang="en-US" altLang="zh-CN" sz="2400" dirty="0" err="1" smtClean="0"/>
              <a:t>k·0</a:t>
            </a:r>
            <a:r>
              <a:rPr lang="en-US" altLang="zh-CN" sz="2400" dirty="0" smtClean="0"/>
              <a:t>，</a:t>
            </a:r>
            <a:r>
              <a:rPr lang="zh-CN" altLang="en-US" sz="2400" dirty="0" smtClean="0"/>
              <a:t>所以 </a:t>
            </a:r>
            <a:r>
              <a:rPr lang="en-US" altLang="zh-CN" sz="2400" dirty="0" smtClean="0"/>
              <a:t>&lt;</a:t>
            </a:r>
            <a:r>
              <a:rPr lang="en-US" altLang="zh-CN" sz="2400" dirty="0" err="1" smtClean="0"/>
              <a:t>a，a</a:t>
            </a:r>
            <a:r>
              <a:rPr lang="en-US" altLang="zh-CN" sz="2400" dirty="0" smtClean="0"/>
              <a:t>&gt;∈R</a:t>
            </a:r>
            <a:br>
              <a:rPr lang="en-US" altLang="zh-CN" sz="2400" dirty="0" smtClean="0"/>
            </a:br>
            <a:r>
              <a:rPr lang="en-US" altLang="zh-CN" sz="2400" dirty="0" smtClean="0"/>
              <a:t>  Ⅱ：</a:t>
            </a:r>
            <a:r>
              <a:rPr lang="zh-CN" altLang="en-US" sz="2400" dirty="0" smtClean="0"/>
              <a:t>若</a:t>
            </a:r>
            <a:r>
              <a:rPr lang="en-US" altLang="zh-CN" sz="2400" dirty="0" err="1" smtClean="0"/>
              <a:t>a≡b</a:t>
            </a:r>
            <a:r>
              <a:rPr lang="en-US" altLang="zh-CN" sz="2400" dirty="0" smtClean="0"/>
              <a:t>(mod k)，</a:t>
            </a:r>
            <a:r>
              <a:rPr lang="en-US" altLang="zh-CN" sz="2400" dirty="0" err="1" smtClean="0"/>
              <a:t>a-b＝kt</a:t>
            </a:r>
            <a:r>
              <a:rPr lang="en-US" altLang="zh-CN" sz="2400" dirty="0" smtClean="0"/>
              <a:t>(t</a:t>
            </a:r>
            <a:r>
              <a:rPr lang="zh-CN" altLang="en-US" sz="2400" dirty="0" smtClean="0"/>
              <a:t>为整数</a:t>
            </a:r>
            <a:r>
              <a:rPr lang="en-US" altLang="zh-CN" sz="2400" dirty="0" smtClean="0"/>
              <a:t>)</a:t>
            </a:r>
            <a:r>
              <a:rPr lang="zh-CN" altLang="en-US" sz="2400" dirty="0" smtClean="0"/>
              <a:t>，则</a:t>
            </a:r>
            <a:r>
              <a:rPr lang="en-US" altLang="zh-CN" sz="2400" dirty="0" smtClean="0"/>
              <a:t>b-a＝-</a:t>
            </a:r>
            <a:r>
              <a:rPr lang="en-US" altLang="zh-CN" sz="2400" dirty="0" err="1" smtClean="0"/>
              <a:t>kt</a:t>
            </a:r>
            <a:r>
              <a:rPr lang="en-US" altLang="zh-CN" sz="2400" dirty="0" smtClean="0"/>
              <a:t>，</a:t>
            </a:r>
            <a:r>
              <a:rPr lang="zh-CN" altLang="en-US" sz="2400" dirty="0" smtClean="0"/>
              <a:t>所以</a:t>
            </a:r>
            <a:r>
              <a:rPr lang="en-US" altLang="zh-CN" sz="2400" dirty="0" err="1" smtClean="0"/>
              <a:t>b≡a</a:t>
            </a:r>
            <a:r>
              <a:rPr lang="en-US" altLang="zh-CN" sz="2400" dirty="0" smtClean="0"/>
              <a:t>(mod k)</a:t>
            </a:r>
            <a:br>
              <a:rPr lang="en-US" altLang="zh-CN" sz="2400" dirty="0" smtClean="0"/>
            </a:br>
            <a:r>
              <a:rPr lang="en-US" altLang="zh-CN" sz="2400" dirty="0" smtClean="0"/>
              <a:t>  Ⅲ：</a:t>
            </a:r>
            <a:r>
              <a:rPr lang="zh-CN" altLang="en-US" sz="2400" dirty="0" smtClean="0"/>
              <a:t>若</a:t>
            </a:r>
            <a:r>
              <a:rPr lang="en-US" altLang="zh-CN" sz="2400" dirty="0" err="1" smtClean="0"/>
              <a:t>a≡b</a:t>
            </a:r>
            <a:r>
              <a:rPr lang="en-US" altLang="zh-CN" sz="2400" dirty="0" smtClean="0"/>
              <a:t>(mod k)，</a:t>
            </a:r>
            <a:r>
              <a:rPr lang="en-US" altLang="zh-CN" sz="2400" dirty="0" err="1" smtClean="0"/>
              <a:t>b≡c</a:t>
            </a:r>
            <a:r>
              <a:rPr lang="en-US" altLang="zh-CN" sz="2400" dirty="0" smtClean="0"/>
              <a:t>(mod k)，</a:t>
            </a:r>
            <a:r>
              <a:rPr lang="zh-CN" altLang="en-US" sz="2400" dirty="0" smtClean="0"/>
              <a:t>则</a:t>
            </a:r>
            <a:r>
              <a:rPr lang="en-US" altLang="zh-CN" sz="2400" dirty="0" err="1" smtClean="0"/>
              <a:t>a-b＝kt．b-c＝ks</a:t>
            </a:r>
            <a:r>
              <a:rPr lang="en-US" altLang="zh-CN" sz="2400" dirty="0" smtClean="0"/>
              <a:t>(</a:t>
            </a:r>
            <a:r>
              <a:rPr lang="en-US" altLang="zh-CN" sz="2400" dirty="0" err="1" smtClean="0"/>
              <a:t>t，s</a:t>
            </a:r>
            <a:r>
              <a:rPr lang="zh-CN" altLang="en-US" sz="2400" dirty="0" smtClean="0"/>
              <a:t>为整数</a:t>
            </a:r>
            <a:r>
              <a:rPr lang="en-US" altLang="zh-CN" sz="2400" dirty="0" smtClean="0"/>
              <a:t>)</a:t>
            </a:r>
            <a:r>
              <a:rPr lang="zh-CN" altLang="en-US" sz="2400" dirty="0" smtClean="0"/>
              <a:t>，</a:t>
            </a:r>
            <a:r>
              <a:rPr lang="en-US" altLang="zh-CN" sz="2400" dirty="0" err="1" smtClean="0"/>
              <a:t>a-c＝a-b+b-c＝k</a:t>
            </a:r>
            <a:r>
              <a:rPr lang="en-US" altLang="zh-CN" sz="2400" dirty="0" smtClean="0"/>
              <a:t>(</a:t>
            </a:r>
            <a:r>
              <a:rPr lang="en-US" altLang="zh-CN" sz="2400" dirty="0" err="1" smtClean="0"/>
              <a:t>t+s</a:t>
            </a:r>
            <a:r>
              <a:rPr lang="en-US" altLang="zh-CN" sz="2400" dirty="0" smtClean="0"/>
              <a:t>)，</a:t>
            </a:r>
            <a:r>
              <a:rPr lang="zh-CN" altLang="en-US" sz="2400" dirty="0" smtClean="0"/>
              <a:t>所以 </a:t>
            </a:r>
            <a:r>
              <a:rPr lang="en-US" altLang="zh-CN" sz="2400" dirty="0" err="1" smtClean="0"/>
              <a:t>a≡c</a:t>
            </a:r>
            <a:r>
              <a:rPr lang="en-US" altLang="zh-CN" sz="2400" dirty="0" smtClean="0"/>
              <a:t>(mod k)</a:t>
            </a:r>
            <a:endParaRPr lang="en-US" altLang="zh-CN" sz="2400" dirty="0" smtClean="0"/>
          </a:p>
          <a:p>
            <a:pPr eaLnBrk="1" hangingPunct="1"/>
            <a:r>
              <a:rPr lang="zh-CN" altLang="en-US" sz="2400" dirty="0" smtClean="0"/>
              <a:t>等价类为：（</a:t>
            </a:r>
            <a:r>
              <a:rPr lang="en-US" altLang="zh-CN" sz="2400" dirty="0" smtClean="0"/>
              <a:t>n=3</a:t>
            </a:r>
            <a:r>
              <a:rPr lang="zh-CN" altLang="en-US" sz="2400" dirty="0" smtClean="0"/>
              <a:t>时）</a:t>
            </a:r>
            <a:endParaRPr lang="en-US" altLang="zh-CN" sz="2400" dirty="0" smtClean="0"/>
          </a:p>
          <a:p>
            <a:pPr eaLnBrk="1" hangingPunct="1">
              <a:buFontTx/>
              <a:buNone/>
            </a:pPr>
            <a:r>
              <a:rPr lang="en-US" altLang="zh-CN" sz="2400" dirty="0" smtClean="0"/>
              <a:t>       </a:t>
            </a:r>
            <a:r>
              <a:rPr lang="en-US" altLang="zh-CN" sz="2000" dirty="0" err="1" smtClean="0"/>
              <a:t>C</a:t>
            </a:r>
            <a:r>
              <a:rPr lang="en-US" altLang="zh-CN" sz="2000" baseline="-25000" dirty="0" err="1" smtClean="0"/>
              <a:t>0</a:t>
            </a:r>
            <a:r>
              <a:rPr lang="en-US" altLang="zh-CN" sz="2000" baseline="-25000" dirty="0" smtClean="0"/>
              <a:t> </a:t>
            </a:r>
            <a:r>
              <a:rPr lang="en-US" altLang="zh-CN" sz="2000" dirty="0" smtClean="0"/>
              <a:t>＝{…，-6，-3，0，3，6，…}</a:t>
            </a:r>
            <a:br>
              <a:rPr lang="en-US" altLang="zh-CN" sz="2000" dirty="0" smtClean="0"/>
            </a:br>
            <a:r>
              <a:rPr lang="en-US" altLang="zh-CN" sz="2000" dirty="0" smtClean="0"/>
              <a:t>   </a:t>
            </a:r>
            <a:r>
              <a:rPr lang="en-US" altLang="zh-CN" sz="2000" dirty="0" err="1" smtClean="0"/>
              <a:t>C</a:t>
            </a:r>
            <a:r>
              <a:rPr lang="en-US" altLang="zh-CN" sz="2000" baseline="-25000" dirty="0" err="1" smtClean="0"/>
              <a:t>1</a:t>
            </a:r>
            <a:r>
              <a:rPr lang="en-US" altLang="zh-CN" sz="2000" baseline="-25000" dirty="0" smtClean="0"/>
              <a:t> </a:t>
            </a:r>
            <a:r>
              <a:rPr lang="en-US" altLang="zh-CN" sz="2000" dirty="0" smtClean="0"/>
              <a:t>＝{…，-5，-2，1，4，7，…}</a:t>
            </a:r>
            <a:br>
              <a:rPr lang="en-US" altLang="zh-CN" sz="2000" dirty="0" smtClean="0"/>
            </a:br>
            <a:r>
              <a:rPr lang="en-US" altLang="zh-CN" sz="2000" dirty="0" smtClean="0"/>
              <a:t>   </a:t>
            </a:r>
            <a:r>
              <a:rPr lang="en-US" altLang="zh-CN" sz="2000" dirty="0" err="1" smtClean="0"/>
              <a:t>C</a:t>
            </a:r>
            <a:r>
              <a:rPr lang="en-US" altLang="zh-CN" sz="2000" baseline="-25000" dirty="0" err="1" smtClean="0"/>
              <a:t>2</a:t>
            </a:r>
            <a:r>
              <a:rPr lang="en-US" altLang="zh-CN" sz="2000" baseline="-25000" dirty="0" smtClean="0"/>
              <a:t> </a:t>
            </a:r>
            <a:r>
              <a:rPr lang="en-US" altLang="zh-CN" sz="2000" dirty="0" smtClean="0"/>
              <a:t>＝{…，-4，-1，2，5，8，…}</a:t>
            </a:r>
            <a:endParaRPr lang="en-US" altLang="zh-CN" sz="2000" dirty="0" smtClean="0"/>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89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36867" name="Rectangle 2"/>
          <p:cNvSpPr>
            <a:spLocks noGrp="1" noChangeArrowheads="1"/>
          </p:cNvSpPr>
          <p:nvPr>
            <p:ph type="title"/>
          </p:nvPr>
        </p:nvSpPr>
        <p:spPr/>
        <p:txBody>
          <a:bodyPr/>
          <a:lstStyle/>
          <a:p>
            <a:pPr eaLnBrk="1" hangingPunct="1"/>
            <a:r>
              <a:rPr lang="en-US" altLang="zh-CN" b="0" dirty="0">
                <a:latin typeface="+mn-ea"/>
              </a:rPr>
              <a:t>1.3.1 </a:t>
            </a:r>
            <a:r>
              <a:rPr lang="zh-CN" altLang="en-US" b="0" dirty="0">
                <a:latin typeface="+mn-ea"/>
              </a:rPr>
              <a:t>集合、关系、</a:t>
            </a:r>
            <a:r>
              <a:rPr lang="zh-CN" altLang="en-US" u="sng" dirty="0">
                <a:latin typeface="+mn-ea"/>
              </a:rPr>
              <a:t>函数</a:t>
            </a:r>
            <a:endParaRPr lang="en-US" altLang="zh-CN" u="sng" dirty="0" smtClean="0">
              <a:solidFill>
                <a:srgbClr val="FF0000"/>
              </a:solidFill>
            </a:endParaRPr>
          </a:p>
        </p:txBody>
      </p:sp>
      <p:sp>
        <p:nvSpPr>
          <p:cNvPr id="98307" name="Rectangle 3"/>
          <p:cNvSpPr>
            <a:spLocks noGrp="1" noChangeArrowheads="1"/>
          </p:cNvSpPr>
          <p:nvPr>
            <p:ph type="body" idx="1"/>
          </p:nvPr>
        </p:nvSpPr>
        <p:spPr>
          <a:xfrm>
            <a:off x="962025" y="1268413"/>
            <a:ext cx="7786688" cy="4525962"/>
          </a:xfrm>
        </p:spPr>
        <p:txBody>
          <a:bodyPr/>
          <a:lstStyle/>
          <a:p>
            <a:pPr eaLnBrk="1" hangingPunct="1">
              <a:defRPr/>
            </a:pPr>
            <a:r>
              <a:rPr lang="zh-CN" altLang="en-US" sz="2400" dirty="0" smtClean="0">
                <a:solidFill>
                  <a:srgbClr val="FF0000"/>
                </a:solidFill>
              </a:rPr>
              <a:t>函数</a:t>
            </a:r>
            <a:endParaRPr lang="en-US" altLang="zh-CN" sz="2400" dirty="0" smtClean="0">
              <a:solidFill>
                <a:srgbClr val="FF0000"/>
              </a:solidFill>
            </a:endParaRPr>
          </a:p>
          <a:p>
            <a:pPr lvl="1" eaLnBrk="1" hangingPunct="1">
              <a:defRPr/>
            </a:pPr>
            <a:r>
              <a:rPr lang="zh-CN" altLang="en-US" sz="2400" dirty="0" smtClean="0">
                <a:latin typeface="+mn-lt"/>
                <a:ea typeface="+mn-ea"/>
              </a:rPr>
              <a:t>函数</a:t>
            </a:r>
            <a:r>
              <a:rPr lang="en-US" altLang="zh-CN" sz="2400" i="1" dirty="0" smtClean="0">
                <a:latin typeface="+mn-lt"/>
                <a:ea typeface="+mn-ea"/>
              </a:rPr>
              <a:t>f</a:t>
            </a:r>
            <a:r>
              <a:rPr lang="en-US" altLang="zh-CN" sz="2400" dirty="0" smtClean="0">
                <a:latin typeface="+mn-lt"/>
                <a:ea typeface="+mn-ea"/>
              </a:rPr>
              <a:t> </a:t>
            </a:r>
            <a:r>
              <a:rPr lang="zh-CN" altLang="en-US" sz="2400" dirty="0" smtClean="0">
                <a:latin typeface="+mn-lt"/>
                <a:ea typeface="+mn-ea"/>
              </a:rPr>
              <a:t>是一个（二元）关系，就是对于每一个元素</a:t>
            </a:r>
            <a:r>
              <a:rPr lang="en-US" altLang="zh-CN" sz="2400" i="1" dirty="0" err="1" smtClean="0">
                <a:latin typeface="+mn-lt"/>
                <a:ea typeface="+mn-ea"/>
              </a:rPr>
              <a:t>x</a:t>
            </a:r>
            <a:r>
              <a:rPr lang="en-US" altLang="zh-CN" sz="2400" dirty="0" err="1" smtClean="0">
                <a:latin typeface="+mn-lt"/>
                <a:ea typeface="+mn-ea"/>
                <a:sym typeface="Symbol" panose="05050102010706020507" pitchFamily="18" charset="2"/>
              </a:rPr>
              <a:t>Dom</a:t>
            </a:r>
            <a:r>
              <a:rPr lang="en-US" altLang="zh-CN" sz="2400" dirty="0" smtClean="0">
                <a:latin typeface="+mn-lt"/>
                <a:ea typeface="+mn-ea"/>
                <a:sym typeface="Symbol" panose="05050102010706020507" pitchFamily="18" charset="2"/>
              </a:rPr>
              <a:t>(</a:t>
            </a:r>
            <a:r>
              <a:rPr lang="en-US" altLang="zh-CN" sz="2400" i="1" dirty="0" smtClean="0">
                <a:latin typeface="+mn-lt"/>
                <a:ea typeface="+mn-ea"/>
                <a:sym typeface="Symbol" panose="05050102010706020507" pitchFamily="18" charset="2"/>
              </a:rPr>
              <a:t>f</a:t>
            </a:r>
            <a:r>
              <a:rPr lang="en-US" altLang="zh-CN" sz="2400" dirty="0" smtClean="0">
                <a:latin typeface="+mn-lt"/>
                <a:ea typeface="+mn-ea"/>
                <a:sym typeface="Symbol" panose="05050102010706020507" pitchFamily="18" charset="2"/>
              </a:rPr>
              <a:t>)</a:t>
            </a:r>
            <a:r>
              <a:rPr lang="zh-CN" altLang="en-US" sz="2400" dirty="0" smtClean="0">
                <a:latin typeface="+mn-lt"/>
                <a:ea typeface="+mn-ea"/>
                <a:sym typeface="Symbol" panose="05050102010706020507" pitchFamily="18" charset="2"/>
              </a:rPr>
              <a:t>，</a:t>
            </a:r>
            <a:r>
              <a:rPr lang="zh-CN" altLang="en-US" sz="2400" dirty="0" smtClean="0">
                <a:solidFill>
                  <a:srgbClr val="FF0000"/>
                </a:solidFill>
                <a:latin typeface="+mn-lt"/>
                <a:ea typeface="+mn-ea"/>
                <a:sym typeface="Symbol" panose="05050102010706020507" pitchFamily="18" charset="2"/>
              </a:rPr>
              <a:t>恰有一个</a:t>
            </a:r>
            <a:r>
              <a:rPr lang="zh-CN" altLang="en-US" sz="2400" dirty="0" smtClean="0">
                <a:latin typeface="+mn-lt"/>
                <a:ea typeface="+mn-ea"/>
                <a:sym typeface="Symbol" panose="05050102010706020507" pitchFamily="18" charset="2"/>
              </a:rPr>
              <a:t>元素</a:t>
            </a:r>
            <a:r>
              <a:rPr lang="en-US" altLang="zh-CN" sz="2400" i="1" dirty="0" err="1" smtClean="0">
                <a:latin typeface="+mn-lt"/>
                <a:ea typeface="+mn-ea"/>
                <a:sym typeface="Symbol" panose="05050102010706020507" pitchFamily="18" charset="2"/>
              </a:rPr>
              <a:t>y</a:t>
            </a:r>
            <a:r>
              <a:rPr lang="en-US" altLang="zh-CN" sz="2400" dirty="0" err="1" smtClean="0">
                <a:latin typeface="+mn-lt"/>
                <a:ea typeface="+mn-ea"/>
                <a:sym typeface="Symbol" panose="05050102010706020507" pitchFamily="18" charset="2"/>
              </a:rPr>
              <a:t>Ran</a:t>
            </a:r>
            <a:r>
              <a:rPr lang="en-US" altLang="zh-CN" sz="2400" dirty="0" smtClean="0">
                <a:latin typeface="+mn-lt"/>
                <a:ea typeface="+mn-ea"/>
                <a:sym typeface="Symbol" panose="05050102010706020507" pitchFamily="18" charset="2"/>
              </a:rPr>
              <a:t>(</a:t>
            </a:r>
            <a:r>
              <a:rPr lang="en-US" altLang="zh-CN" sz="2400" i="1" dirty="0" smtClean="0">
                <a:latin typeface="+mn-lt"/>
                <a:ea typeface="+mn-ea"/>
                <a:sym typeface="Symbol" panose="05050102010706020507" pitchFamily="18" charset="2"/>
              </a:rPr>
              <a:t>f</a:t>
            </a:r>
            <a:r>
              <a:rPr lang="en-US" altLang="zh-CN" sz="2400" dirty="0" smtClean="0">
                <a:latin typeface="+mn-lt"/>
                <a:ea typeface="+mn-ea"/>
                <a:sym typeface="Symbol" panose="05050102010706020507" pitchFamily="18" charset="2"/>
              </a:rPr>
              <a:t>)</a:t>
            </a:r>
            <a:r>
              <a:rPr lang="zh-CN" altLang="en-US" sz="2400" dirty="0" smtClean="0">
                <a:latin typeface="+mn-lt"/>
                <a:ea typeface="+mn-ea"/>
                <a:sym typeface="Symbol" panose="05050102010706020507" pitchFamily="18" charset="2"/>
              </a:rPr>
              <a:t>，并且</a:t>
            </a:r>
            <a:r>
              <a:rPr lang="en-US" altLang="zh-CN" sz="2400" dirty="0" smtClean="0">
                <a:latin typeface="+mn-lt"/>
                <a:ea typeface="+mn-ea"/>
                <a:sym typeface="Symbol" panose="05050102010706020507" pitchFamily="18" charset="2"/>
              </a:rPr>
              <a:t>(</a:t>
            </a:r>
            <a:r>
              <a:rPr lang="en-US" altLang="zh-CN" sz="2400" i="1" dirty="0" err="1" smtClean="0">
                <a:latin typeface="+mn-lt"/>
                <a:ea typeface="+mn-ea"/>
                <a:sym typeface="Symbol" panose="05050102010706020507" pitchFamily="18" charset="2"/>
              </a:rPr>
              <a:t>x</a:t>
            </a:r>
            <a:r>
              <a:rPr lang="en-US" altLang="zh-CN" sz="2400" dirty="0" err="1" smtClean="0">
                <a:latin typeface="+mn-lt"/>
                <a:ea typeface="+mn-ea"/>
                <a:sym typeface="Symbol" panose="05050102010706020507" pitchFamily="18" charset="2"/>
              </a:rPr>
              <a:t>,</a:t>
            </a:r>
            <a:r>
              <a:rPr lang="en-US" altLang="zh-CN" sz="2400" i="1" dirty="0" err="1" smtClean="0">
                <a:latin typeface="+mn-lt"/>
                <a:ea typeface="+mn-ea"/>
                <a:sym typeface="Symbol" panose="05050102010706020507" pitchFamily="18" charset="2"/>
              </a:rPr>
              <a:t>y</a:t>
            </a:r>
            <a:r>
              <a:rPr lang="en-US" altLang="zh-CN" sz="2400" dirty="0" smtClean="0">
                <a:latin typeface="+mn-lt"/>
                <a:ea typeface="+mn-ea"/>
                <a:sym typeface="Symbol" panose="05050102010706020507" pitchFamily="18" charset="2"/>
              </a:rPr>
              <a:t>)</a:t>
            </a:r>
            <a:r>
              <a:rPr lang="en-US" altLang="zh-CN" sz="2400" i="1" dirty="0" smtClean="0">
                <a:latin typeface="+mn-lt"/>
                <a:ea typeface="+mn-ea"/>
                <a:sym typeface="Symbol" panose="05050102010706020507" pitchFamily="18" charset="2"/>
              </a:rPr>
              <a:t>f</a:t>
            </a:r>
            <a:r>
              <a:rPr lang="zh-CN" altLang="en-US" sz="2400" i="1" dirty="0" smtClean="0">
                <a:latin typeface="+mn-lt"/>
                <a:ea typeface="+mn-ea"/>
                <a:sym typeface="Symbol" panose="05050102010706020507" pitchFamily="18" charset="2"/>
              </a:rPr>
              <a:t>。</a:t>
            </a:r>
            <a:r>
              <a:rPr lang="zh-CN" altLang="en-US" sz="2400" dirty="0" smtClean="0">
                <a:latin typeface="+mn-lt"/>
                <a:ea typeface="+mn-ea"/>
                <a:sym typeface="Symbol" panose="05050102010706020507" pitchFamily="18" charset="2"/>
              </a:rPr>
              <a:t>在这种情况下，常常把</a:t>
            </a:r>
            <a:r>
              <a:rPr lang="en-US" altLang="zh-CN" sz="2400" dirty="0" smtClean="0">
                <a:latin typeface="+mn-lt"/>
                <a:ea typeface="+mn-ea"/>
                <a:sym typeface="Symbol" panose="05050102010706020507" pitchFamily="18" charset="2"/>
              </a:rPr>
              <a:t>(</a:t>
            </a:r>
            <a:r>
              <a:rPr lang="en-US" altLang="zh-CN" sz="2400" i="1" dirty="0" err="1" smtClean="0">
                <a:latin typeface="+mn-lt"/>
                <a:ea typeface="+mn-ea"/>
                <a:sym typeface="Symbol" panose="05050102010706020507" pitchFamily="18" charset="2"/>
              </a:rPr>
              <a:t>x</a:t>
            </a:r>
            <a:r>
              <a:rPr lang="en-US" altLang="zh-CN" sz="2400" dirty="0" err="1" smtClean="0">
                <a:latin typeface="+mn-lt"/>
                <a:ea typeface="+mn-ea"/>
                <a:sym typeface="Symbol" panose="05050102010706020507" pitchFamily="18" charset="2"/>
              </a:rPr>
              <a:t>,</a:t>
            </a:r>
            <a:r>
              <a:rPr lang="en-US" altLang="zh-CN" sz="2400" i="1" dirty="0" err="1" smtClean="0">
                <a:latin typeface="+mn-lt"/>
                <a:ea typeface="+mn-ea"/>
                <a:sym typeface="Symbol" panose="05050102010706020507" pitchFamily="18" charset="2"/>
              </a:rPr>
              <a:t>y</a:t>
            </a:r>
            <a:r>
              <a:rPr lang="en-US" altLang="zh-CN" sz="2400" dirty="0" smtClean="0">
                <a:latin typeface="+mn-lt"/>
                <a:ea typeface="+mn-ea"/>
                <a:sym typeface="Symbol" panose="05050102010706020507" pitchFamily="18" charset="2"/>
              </a:rPr>
              <a:t>)</a:t>
            </a:r>
            <a:r>
              <a:rPr lang="en-US" altLang="zh-CN" sz="2400" i="1" dirty="0" smtClean="0">
                <a:latin typeface="+mn-lt"/>
                <a:ea typeface="+mn-ea"/>
                <a:sym typeface="Symbol" panose="05050102010706020507" pitchFamily="18" charset="2"/>
              </a:rPr>
              <a:t>f</a:t>
            </a:r>
            <a:r>
              <a:rPr lang="en-US" altLang="zh-CN" sz="2400" dirty="0" smtClean="0">
                <a:latin typeface="+mn-lt"/>
                <a:ea typeface="+mn-ea"/>
                <a:sym typeface="Symbol" panose="05050102010706020507" pitchFamily="18" charset="2"/>
              </a:rPr>
              <a:t> </a:t>
            </a:r>
            <a:r>
              <a:rPr lang="zh-CN" altLang="en-US" sz="2400" dirty="0" smtClean="0">
                <a:latin typeface="+mn-lt"/>
                <a:ea typeface="+mn-ea"/>
                <a:sym typeface="Symbol" panose="05050102010706020507" pitchFamily="18" charset="2"/>
              </a:rPr>
              <a:t>写成</a:t>
            </a:r>
            <a:r>
              <a:rPr lang="en-US" altLang="zh-CN" sz="2400" i="1" dirty="0" smtClean="0">
                <a:latin typeface="+mn-lt"/>
                <a:ea typeface="+mn-ea"/>
                <a:sym typeface="Symbol" panose="05050102010706020507" pitchFamily="18" charset="2"/>
              </a:rPr>
              <a:t>f(x)=y</a:t>
            </a:r>
            <a:r>
              <a:rPr lang="en-US" altLang="zh-CN" sz="2400" dirty="0" smtClean="0">
                <a:latin typeface="+mn-lt"/>
                <a:ea typeface="+mn-ea"/>
                <a:sym typeface="Symbol" panose="05050102010706020507" pitchFamily="18" charset="2"/>
              </a:rPr>
              <a:t> </a:t>
            </a:r>
            <a:r>
              <a:rPr lang="zh-CN" altLang="en-US" sz="2400" dirty="0" smtClean="0">
                <a:latin typeface="+mn-lt"/>
                <a:ea typeface="+mn-ea"/>
                <a:sym typeface="Symbol" panose="05050102010706020507" pitchFamily="18" charset="2"/>
              </a:rPr>
              <a:t>，并且称</a:t>
            </a:r>
            <a:r>
              <a:rPr lang="en-US" altLang="zh-CN" sz="2400" dirty="0" smtClean="0">
                <a:latin typeface="+mn-lt"/>
                <a:ea typeface="+mn-ea"/>
                <a:sym typeface="Symbol" panose="05050102010706020507" pitchFamily="18" charset="2"/>
              </a:rPr>
              <a:t>y</a:t>
            </a:r>
            <a:r>
              <a:rPr lang="zh-CN" altLang="en-US" sz="2400" dirty="0" smtClean="0">
                <a:latin typeface="+mn-lt"/>
                <a:ea typeface="+mn-ea"/>
                <a:sym typeface="Symbol" panose="05050102010706020507" pitchFamily="18" charset="2"/>
              </a:rPr>
              <a:t>是</a:t>
            </a:r>
            <a:r>
              <a:rPr lang="en-US" altLang="zh-CN" sz="2400" dirty="0" smtClean="0">
                <a:latin typeface="+mn-lt"/>
                <a:ea typeface="+mn-ea"/>
                <a:sym typeface="Symbol" panose="05050102010706020507" pitchFamily="18" charset="2"/>
              </a:rPr>
              <a:t>f</a:t>
            </a:r>
            <a:r>
              <a:rPr lang="zh-CN" altLang="en-US" sz="2400" dirty="0" smtClean="0">
                <a:latin typeface="+mn-lt"/>
                <a:ea typeface="+mn-ea"/>
                <a:sym typeface="Symbol" panose="05050102010706020507" pitchFamily="18" charset="2"/>
              </a:rPr>
              <a:t>在</a:t>
            </a:r>
            <a:r>
              <a:rPr lang="en-US" altLang="zh-CN" sz="2400" dirty="0" smtClean="0">
                <a:latin typeface="+mn-lt"/>
                <a:ea typeface="+mn-ea"/>
                <a:sym typeface="Symbol" panose="05050102010706020507" pitchFamily="18" charset="2"/>
              </a:rPr>
              <a:t>x</a:t>
            </a:r>
            <a:r>
              <a:rPr lang="zh-CN" altLang="en-US" sz="2400" dirty="0" smtClean="0">
                <a:latin typeface="+mn-lt"/>
                <a:ea typeface="+mn-ea"/>
                <a:sym typeface="Symbol" panose="05050102010706020507" pitchFamily="18" charset="2"/>
              </a:rPr>
              <a:t>上的</a:t>
            </a:r>
            <a:r>
              <a:rPr lang="zh-CN" altLang="en-US" sz="2400" dirty="0" smtClean="0">
                <a:solidFill>
                  <a:srgbClr val="FF0000"/>
                </a:solidFill>
                <a:latin typeface="+mn-lt"/>
                <a:ea typeface="+mn-ea"/>
                <a:sym typeface="Symbol" panose="05050102010706020507" pitchFamily="18" charset="2"/>
              </a:rPr>
              <a:t>值或像</a:t>
            </a:r>
            <a:r>
              <a:rPr lang="zh-CN" altLang="en-US" sz="2400" dirty="0" smtClean="0">
                <a:latin typeface="+mn-lt"/>
                <a:ea typeface="+mn-ea"/>
                <a:sym typeface="Symbol" panose="05050102010706020507" pitchFamily="18" charset="2"/>
              </a:rPr>
              <a:t>。</a:t>
            </a:r>
            <a:endParaRPr lang="en-US" altLang="zh-CN" sz="2400" dirty="0" smtClean="0">
              <a:latin typeface="+mn-lt"/>
              <a:ea typeface="+mn-ea"/>
              <a:sym typeface="Symbol" panose="05050102010706020507" pitchFamily="18" charset="2"/>
            </a:endParaRPr>
          </a:p>
          <a:p>
            <a:pPr lvl="0" eaLnBrk="1" hangingPunct="1"/>
            <a:r>
              <a:rPr lang="zh-CN" altLang="en-US" sz="2200" dirty="0">
                <a:solidFill>
                  <a:srgbClr val="333399"/>
                </a:solidFill>
              </a:rPr>
              <a:t>例子</a:t>
            </a:r>
            <a:endParaRPr lang="en-US" altLang="zh-CN" sz="2200" dirty="0">
              <a:solidFill>
                <a:srgbClr val="333399"/>
              </a:solidFill>
            </a:endParaRPr>
          </a:p>
          <a:p>
            <a:pPr lvl="1" eaLnBrk="1" hangingPunct="1">
              <a:defRPr/>
            </a:pPr>
            <a:r>
              <a:rPr lang="zh-CN" altLang="en-US" sz="2400" dirty="0" smtClean="0">
                <a:latin typeface="+mn-lt"/>
                <a:ea typeface="+mn-ea"/>
              </a:rPr>
              <a:t>关系</a:t>
            </a:r>
            <a:r>
              <a:rPr lang="en-US" altLang="zh-CN" sz="2400" dirty="0" smtClean="0">
                <a:latin typeface="+mn-lt"/>
                <a:ea typeface="+mn-ea"/>
              </a:rPr>
              <a:t> {(1,2),(3,4),(2,4)} </a:t>
            </a:r>
            <a:r>
              <a:rPr lang="zh-CN" altLang="en-US" sz="2400" dirty="0" smtClean="0">
                <a:latin typeface="+mn-lt"/>
                <a:ea typeface="+mn-ea"/>
              </a:rPr>
              <a:t>是函数，而关系</a:t>
            </a:r>
            <a:r>
              <a:rPr lang="en-US" altLang="zh-CN" sz="2400" dirty="0" smtClean="0">
                <a:latin typeface="+mn-lt"/>
                <a:ea typeface="+mn-ea"/>
              </a:rPr>
              <a:t> {(1,2),(1,4)} </a:t>
            </a:r>
            <a:r>
              <a:rPr lang="zh-CN" altLang="en-US" sz="2400" dirty="0" smtClean="0">
                <a:latin typeface="+mn-lt"/>
                <a:ea typeface="+mn-ea"/>
              </a:rPr>
              <a:t>不是。</a:t>
            </a:r>
            <a:r>
              <a:rPr lang="en-US" altLang="zh-CN" sz="2400" dirty="0" smtClean="0">
                <a:latin typeface="+mn-lt"/>
                <a:ea typeface="+mn-ea"/>
              </a:rPr>
              <a:t> </a:t>
            </a:r>
            <a:endParaRPr lang="en-US" altLang="zh-CN" sz="2400" dirty="0" smtClean="0">
              <a:latin typeface="+mn-lt"/>
              <a:ea typeface="+mn-ea"/>
            </a:endParaRPr>
          </a:p>
          <a:p>
            <a:pPr lvl="1" eaLnBrk="1" hangingPunct="1">
              <a:defRPr/>
            </a:pPr>
            <a:r>
              <a:rPr lang="zh-CN" altLang="en-US" sz="2400" dirty="0" smtClean="0">
                <a:latin typeface="+mn-lt"/>
                <a:ea typeface="+mn-ea"/>
              </a:rPr>
              <a:t>关系</a:t>
            </a:r>
            <a:r>
              <a:rPr lang="en-US" altLang="zh-CN" sz="2400" dirty="0" smtClean="0">
                <a:latin typeface="+mn-lt"/>
                <a:ea typeface="+mn-ea"/>
              </a:rPr>
              <a:t>{(</a:t>
            </a:r>
            <a:r>
              <a:rPr lang="en-US" altLang="zh-CN" sz="2400" dirty="0" err="1" smtClean="0">
                <a:latin typeface="+mn-lt"/>
                <a:ea typeface="+mn-ea"/>
              </a:rPr>
              <a:t>x,y</a:t>
            </a:r>
            <a:r>
              <a:rPr lang="en-US" altLang="zh-CN" sz="2400" dirty="0" smtClean="0">
                <a:latin typeface="+mn-lt"/>
                <a:ea typeface="+mn-ea"/>
              </a:rPr>
              <a:t>)|</a:t>
            </a:r>
            <a:r>
              <a:rPr lang="en-US" altLang="zh-CN" sz="2400" dirty="0" err="1" smtClean="0">
                <a:latin typeface="+mn-lt"/>
                <a:ea typeface="+mn-ea"/>
              </a:rPr>
              <a:t>x,y</a:t>
            </a:r>
            <a:r>
              <a:rPr lang="en-US" altLang="zh-CN" sz="2400" dirty="0" smtClean="0">
                <a:latin typeface="+mn-lt"/>
                <a:ea typeface="+mn-ea"/>
              </a:rPr>
              <a:t> </a:t>
            </a:r>
            <a:r>
              <a:rPr lang="zh-CN" altLang="en-US" sz="2400" dirty="0" smtClean="0">
                <a:latin typeface="+mn-lt"/>
                <a:ea typeface="+mn-ea"/>
              </a:rPr>
              <a:t>是正整数，且</a:t>
            </a:r>
            <a:r>
              <a:rPr lang="en-US" altLang="zh-CN" sz="2400" dirty="0" smtClean="0">
                <a:latin typeface="+mn-lt"/>
                <a:ea typeface="+mn-ea"/>
              </a:rPr>
              <a:t>x=y</a:t>
            </a:r>
            <a:r>
              <a:rPr lang="en-US" altLang="zh-CN" sz="2400" baseline="30000" dirty="0" smtClean="0">
                <a:latin typeface="+mn-lt"/>
                <a:ea typeface="+mn-ea"/>
              </a:rPr>
              <a:t>3</a:t>
            </a:r>
            <a:r>
              <a:rPr lang="en-US" altLang="zh-CN" sz="2400" dirty="0" smtClean="0">
                <a:latin typeface="+mn-lt"/>
                <a:ea typeface="+mn-ea"/>
              </a:rPr>
              <a:t>} </a:t>
            </a:r>
            <a:r>
              <a:rPr lang="zh-CN" altLang="en-US" sz="2400" dirty="0" smtClean="0">
                <a:latin typeface="+mn-lt"/>
                <a:ea typeface="+mn-ea"/>
              </a:rPr>
              <a:t>是一个函数</a:t>
            </a:r>
            <a:r>
              <a:rPr lang="en-US" altLang="zh-CN" sz="2400" dirty="0" smtClean="0">
                <a:latin typeface="+mn-lt"/>
                <a:ea typeface="+mn-ea"/>
              </a:rPr>
              <a:t>, </a:t>
            </a:r>
            <a:r>
              <a:rPr lang="zh-CN" altLang="en-US" sz="2400" dirty="0" smtClean="0">
                <a:latin typeface="+mn-lt"/>
                <a:ea typeface="+mn-ea"/>
              </a:rPr>
              <a:t>而关系</a:t>
            </a:r>
            <a:r>
              <a:rPr lang="en-US" altLang="zh-CN" sz="2400" dirty="0" smtClean="0">
                <a:latin typeface="+mn-lt"/>
                <a:ea typeface="+mn-ea"/>
              </a:rPr>
              <a:t> {(</a:t>
            </a:r>
            <a:r>
              <a:rPr lang="en-US" altLang="zh-CN" sz="2400" dirty="0" err="1" smtClean="0">
                <a:latin typeface="+mn-lt"/>
                <a:ea typeface="+mn-ea"/>
              </a:rPr>
              <a:t>x,y</a:t>
            </a:r>
            <a:r>
              <a:rPr lang="en-US" altLang="zh-CN" sz="2400" dirty="0" smtClean="0">
                <a:latin typeface="+mn-lt"/>
                <a:ea typeface="+mn-ea"/>
              </a:rPr>
              <a:t>)|x </a:t>
            </a:r>
            <a:r>
              <a:rPr lang="zh-CN" altLang="en-US" sz="2400" dirty="0" smtClean="0">
                <a:latin typeface="+mn-lt"/>
                <a:ea typeface="+mn-ea"/>
              </a:rPr>
              <a:t>是正整数</a:t>
            </a:r>
            <a:r>
              <a:rPr lang="en-US" altLang="zh-CN" sz="2400" dirty="0" smtClean="0">
                <a:latin typeface="+mn-lt"/>
                <a:ea typeface="+mn-ea"/>
              </a:rPr>
              <a:t>, y </a:t>
            </a:r>
            <a:r>
              <a:rPr lang="zh-CN" altLang="en-US" sz="2400" dirty="0" smtClean="0">
                <a:latin typeface="+mn-lt"/>
                <a:ea typeface="+mn-ea"/>
              </a:rPr>
              <a:t>是整数，且</a:t>
            </a:r>
            <a:r>
              <a:rPr lang="en-US" altLang="zh-CN" sz="2400" dirty="0" smtClean="0">
                <a:latin typeface="+mn-lt"/>
                <a:ea typeface="+mn-ea"/>
              </a:rPr>
              <a:t>x=y</a:t>
            </a:r>
            <a:r>
              <a:rPr lang="en-US" altLang="zh-CN" sz="2400" baseline="30000" dirty="0" smtClean="0">
                <a:latin typeface="+mn-lt"/>
                <a:ea typeface="+mn-ea"/>
              </a:rPr>
              <a:t>2</a:t>
            </a:r>
            <a:r>
              <a:rPr lang="en-US" altLang="zh-CN" sz="2400" dirty="0" smtClean="0">
                <a:latin typeface="+mn-lt"/>
                <a:ea typeface="+mn-ea"/>
              </a:rPr>
              <a:t>} </a:t>
            </a:r>
            <a:r>
              <a:rPr lang="zh-CN" altLang="en-US" sz="2400" dirty="0" smtClean="0">
                <a:latin typeface="+mn-lt"/>
                <a:ea typeface="+mn-ea"/>
              </a:rPr>
              <a:t>不是函数。</a:t>
            </a:r>
            <a:r>
              <a:rPr lang="en-US" altLang="zh-CN" sz="2400" dirty="0" smtClean="0">
                <a:latin typeface="+mn-lt"/>
                <a:ea typeface="+mn-ea"/>
              </a:rPr>
              <a:t> </a:t>
            </a:r>
            <a:endParaRPr lang="en-US" altLang="zh-CN" sz="2400" dirty="0" smtClean="0">
              <a:latin typeface="+mn-lt"/>
              <a:ea typeface="+mn-ea"/>
            </a:endParaRPr>
          </a:p>
          <a:p>
            <a:pPr lvl="1" eaLnBrk="1" hangingPunct="1">
              <a:defRPr/>
            </a:pPr>
            <a:r>
              <a:rPr lang="zh-CN" altLang="en-US" sz="2400" dirty="0" smtClean="0">
                <a:latin typeface="+mn-lt"/>
                <a:ea typeface="+mn-ea"/>
              </a:rPr>
              <a:t>在例</a:t>
            </a:r>
            <a:r>
              <a:rPr lang="en-US" altLang="zh-CN" sz="2400" dirty="0" smtClean="0">
                <a:latin typeface="+mn-lt"/>
                <a:ea typeface="+mn-ea"/>
              </a:rPr>
              <a:t>2.1</a:t>
            </a:r>
            <a:r>
              <a:rPr lang="zh-CN" altLang="en-US" sz="2400" dirty="0" smtClean="0">
                <a:latin typeface="+mn-lt"/>
                <a:ea typeface="+mn-ea"/>
              </a:rPr>
              <a:t>中</a:t>
            </a:r>
            <a:r>
              <a:rPr lang="en-US" altLang="zh-CN" sz="2400" dirty="0" smtClean="0">
                <a:latin typeface="+mn-lt"/>
                <a:ea typeface="+mn-ea"/>
              </a:rPr>
              <a:t>, R</a:t>
            </a:r>
            <a:r>
              <a:rPr lang="en-US" altLang="zh-CN" sz="2400" baseline="-25000" dirty="0" smtClean="0">
                <a:latin typeface="+mn-lt"/>
                <a:ea typeface="+mn-ea"/>
              </a:rPr>
              <a:t>1</a:t>
            </a:r>
            <a:r>
              <a:rPr lang="en-US" altLang="zh-CN" sz="2400" dirty="0" smtClean="0">
                <a:latin typeface="+mn-lt"/>
                <a:ea typeface="+mn-ea"/>
              </a:rPr>
              <a:t> </a:t>
            </a:r>
            <a:r>
              <a:rPr lang="zh-CN" altLang="en-US" sz="2400" dirty="0" smtClean="0">
                <a:latin typeface="+mn-lt"/>
                <a:ea typeface="+mn-ea"/>
              </a:rPr>
              <a:t>是函数，而</a:t>
            </a:r>
            <a:r>
              <a:rPr lang="en-US" altLang="zh-CN" sz="2400" dirty="0" smtClean="0">
                <a:latin typeface="+mn-lt"/>
                <a:ea typeface="+mn-ea"/>
              </a:rPr>
              <a:t>R</a:t>
            </a:r>
            <a:r>
              <a:rPr lang="en-US" altLang="zh-CN" sz="2400" baseline="-25000" dirty="0" smtClean="0">
                <a:latin typeface="+mn-lt"/>
                <a:ea typeface="+mn-ea"/>
              </a:rPr>
              <a:t>2</a:t>
            </a:r>
            <a:r>
              <a:rPr lang="en-US" altLang="zh-CN" sz="2400" dirty="0" smtClean="0">
                <a:latin typeface="+mn-lt"/>
                <a:ea typeface="+mn-ea"/>
              </a:rPr>
              <a:t> </a:t>
            </a:r>
            <a:r>
              <a:rPr lang="zh-CN" altLang="en-US" sz="2400" dirty="0" smtClean="0">
                <a:latin typeface="+mn-lt"/>
                <a:ea typeface="+mn-ea"/>
              </a:rPr>
              <a:t>和</a:t>
            </a:r>
            <a:r>
              <a:rPr lang="en-US" altLang="zh-CN" sz="2400" dirty="0" smtClean="0">
                <a:latin typeface="+mn-lt"/>
                <a:ea typeface="+mn-ea"/>
              </a:rPr>
              <a:t>R</a:t>
            </a:r>
            <a:r>
              <a:rPr lang="en-US" altLang="zh-CN" sz="2400" baseline="-25000" dirty="0" smtClean="0">
                <a:latin typeface="+mn-lt"/>
                <a:ea typeface="+mn-ea"/>
              </a:rPr>
              <a:t>3</a:t>
            </a:r>
            <a:r>
              <a:rPr lang="en-US" altLang="zh-CN" sz="2400" dirty="0" smtClean="0">
                <a:latin typeface="+mn-lt"/>
                <a:ea typeface="+mn-ea"/>
              </a:rPr>
              <a:t> </a:t>
            </a:r>
            <a:r>
              <a:rPr lang="zh-CN" altLang="en-US" sz="2400" dirty="0" smtClean="0">
                <a:latin typeface="+mn-lt"/>
                <a:ea typeface="+mn-ea"/>
              </a:rPr>
              <a:t>不是</a:t>
            </a:r>
            <a:r>
              <a:rPr lang="en-US" altLang="zh-CN" sz="2400" dirty="0" smtClean="0">
                <a:latin typeface="+mn-lt"/>
                <a:ea typeface="+mn-ea"/>
              </a:rPr>
              <a:t>.</a:t>
            </a:r>
            <a:endParaRPr lang="en-US" altLang="zh-CN" sz="2800" dirty="0" smtClean="0">
              <a:latin typeface="+mn-lt"/>
              <a:ea typeface="+mn-ea"/>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98307">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830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8307">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830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38915" name="Rectangle 2"/>
          <p:cNvSpPr>
            <a:spLocks noGrp="1" noChangeArrowheads="1"/>
          </p:cNvSpPr>
          <p:nvPr>
            <p:ph type="title"/>
          </p:nvPr>
        </p:nvSpPr>
        <p:spPr/>
        <p:txBody>
          <a:bodyPr/>
          <a:lstStyle/>
          <a:p>
            <a:pPr eaLnBrk="1" hangingPunct="1"/>
            <a:r>
              <a:rPr lang="en-US" altLang="zh-CN" b="0" dirty="0">
                <a:latin typeface="+mn-ea"/>
              </a:rPr>
              <a:t>1.3.1 </a:t>
            </a:r>
            <a:r>
              <a:rPr lang="zh-CN" altLang="en-US" b="0" dirty="0">
                <a:latin typeface="+mn-ea"/>
              </a:rPr>
              <a:t>集合、关系、</a:t>
            </a:r>
            <a:r>
              <a:rPr lang="zh-CN" altLang="en-US" u="sng" dirty="0">
                <a:latin typeface="+mn-ea"/>
              </a:rPr>
              <a:t>函数</a:t>
            </a:r>
            <a:endParaRPr lang="en-US" altLang="zh-CN" dirty="0" smtClean="0">
              <a:solidFill>
                <a:srgbClr val="FF0000"/>
              </a:solidFill>
            </a:endParaRPr>
          </a:p>
        </p:txBody>
      </p:sp>
      <p:sp>
        <p:nvSpPr>
          <p:cNvPr id="99331" name="Rectangle 3"/>
          <p:cNvSpPr>
            <a:spLocks noGrp="1" noChangeArrowheads="1"/>
          </p:cNvSpPr>
          <p:nvPr>
            <p:ph type="body" idx="1"/>
          </p:nvPr>
        </p:nvSpPr>
        <p:spPr>
          <a:xfrm>
            <a:off x="879475" y="1196975"/>
            <a:ext cx="8229600" cy="4789488"/>
          </a:xfrm>
        </p:spPr>
        <p:txBody>
          <a:bodyPr/>
          <a:lstStyle/>
          <a:p>
            <a:pPr eaLnBrk="1" hangingPunct="1">
              <a:defRPr/>
            </a:pPr>
            <a:r>
              <a:rPr lang="zh-CN" altLang="en-US" sz="2400" dirty="0" smtClean="0">
                <a:sym typeface="Symbol" panose="05050102010706020507" pitchFamily="18" charset="2"/>
              </a:rPr>
              <a:t>设</a:t>
            </a:r>
            <a:r>
              <a:rPr lang="en-US" altLang="zh-CN" sz="2400" dirty="0" smtClean="0">
                <a:sym typeface="Symbol" panose="05050102010706020507" pitchFamily="18" charset="2"/>
              </a:rPr>
              <a:t> f </a:t>
            </a:r>
            <a:r>
              <a:rPr lang="zh-CN" altLang="en-US" sz="2400" dirty="0" smtClean="0">
                <a:sym typeface="Symbol" panose="05050102010706020507" pitchFamily="18" charset="2"/>
              </a:rPr>
              <a:t>是一个函数，对于非空集合</a:t>
            </a:r>
            <a:r>
              <a:rPr lang="en-US" altLang="zh-CN" sz="2400" dirty="0" smtClean="0">
                <a:sym typeface="Symbol" panose="05050102010706020507" pitchFamily="18" charset="2"/>
              </a:rPr>
              <a:t>A</a:t>
            </a:r>
            <a:r>
              <a:rPr lang="zh-CN" altLang="en-US" sz="2400" dirty="0" smtClean="0">
                <a:sym typeface="Symbol" panose="05050102010706020507" pitchFamily="18" charset="2"/>
              </a:rPr>
              <a:t>和</a:t>
            </a:r>
            <a:r>
              <a:rPr lang="en-US" altLang="zh-CN" sz="2400" dirty="0" smtClean="0">
                <a:sym typeface="Symbol" panose="05050102010706020507" pitchFamily="18" charset="2"/>
              </a:rPr>
              <a:t>B</a:t>
            </a:r>
            <a:r>
              <a:rPr lang="zh-CN" altLang="en-US" sz="2400" dirty="0" smtClean="0">
                <a:sym typeface="Symbol" panose="05050102010706020507" pitchFamily="18" charset="2"/>
              </a:rPr>
              <a:t>，有</a:t>
            </a:r>
            <a:r>
              <a:rPr lang="en-US" altLang="zh-CN" sz="2400" dirty="0" smtClean="0">
                <a:sym typeface="Symbol" panose="05050102010706020507" pitchFamily="18" charset="2"/>
              </a:rPr>
              <a:t>Dom(f)=A </a:t>
            </a:r>
            <a:r>
              <a:rPr lang="zh-CN" altLang="en-US" sz="2400" dirty="0" smtClean="0">
                <a:sym typeface="Symbol" panose="05050102010706020507" pitchFamily="18" charset="2"/>
              </a:rPr>
              <a:t>和</a:t>
            </a:r>
            <a:r>
              <a:rPr lang="en-US" altLang="zh-CN" sz="2400" dirty="0" smtClean="0">
                <a:sym typeface="Symbol" panose="05050102010706020507" pitchFamily="18" charset="2"/>
              </a:rPr>
              <a:t>Ran(f)B </a:t>
            </a:r>
            <a:r>
              <a:rPr lang="zh-CN" altLang="en-US" sz="2400" dirty="0" smtClean="0">
                <a:sym typeface="Symbol" panose="05050102010706020507" pitchFamily="18" charset="2"/>
              </a:rPr>
              <a:t>，</a:t>
            </a:r>
            <a:endParaRPr lang="en-US" altLang="zh-CN" sz="2400" dirty="0" smtClean="0">
              <a:sym typeface="Symbol" panose="05050102010706020507" pitchFamily="18" charset="2"/>
            </a:endParaRPr>
          </a:p>
          <a:p>
            <a:pPr lvl="1" eaLnBrk="1" hangingPunct="1">
              <a:defRPr/>
            </a:pPr>
            <a:r>
              <a:rPr lang="zh-CN" altLang="en-US" sz="2100" dirty="0" smtClean="0">
                <a:latin typeface="+mn-lt"/>
                <a:ea typeface="+mn-ea"/>
                <a:sym typeface="Symbol" panose="05050102010706020507" pitchFamily="18" charset="2"/>
              </a:rPr>
              <a:t>如果</a:t>
            </a:r>
            <a:r>
              <a:rPr lang="en-US" altLang="zh-CN" sz="2100" dirty="0" smtClean="0">
                <a:latin typeface="+mn-lt"/>
                <a:ea typeface="+mn-ea"/>
                <a:sym typeface="Symbol" panose="05050102010706020507" pitchFamily="18" charset="2"/>
              </a:rPr>
              <a:t>A</a:t>
            </a:r>
            <a:r>
              <a:rPr lang="zh-CN" altLang="en-US" sz="2100" dirty="0" smtClean="0">
                <a:latin typeface="+mn-lt"/>
                <a:ea typeface="+mn-ea"/>
                <a:sym typeface="Symbol" panose="05050102010706020507" pitchFamily="18" charset="2"/>
              </a:rPr>
              <a:t>中没有不同元素</a:t>
            </a:r>
            <a:r>
              <a:rPr lang="en-US" altLang="zh-CN" sz="2100" dirty="0" smtClean="0">
                <a:latin typeface="+mn-lt"/>
                <a:ea typeface="+mn-ea"/>
                <a:sym typeface="Symbol" panose="05050102010706020507" pitchFamily="18" charset="2"/>
              </a:rPr>
              <a:t>x</a:t>
            </a:r>
            <a:r>
              <a:rPr lang="zh-CN" altLang="en-US" sz="2100" dirty="0" smtClean="0">
                <a:latin typeface="+mn-lt"/>
                <a:ea typeface="+mn-ea"/>
                <a:sym typeface="Symbol" panose="05050102010706020507" pitchFamily="18" charset="2"/>
              </a:rPr>
              <a:t>和</a:t>
            </a:r>
            <a:r>
              <a:rPr lang="en-US" altLang="zh-CN" sz="2100" dirty="0" smtClean="0">
                <a:latin typeface="+mn-lt"/>
                <a:ea typeface="+mn-ea"/>
                <a:sym typeface="Symbol" panose="05050102010706020507" pitchFamily="18" charset="2"/>
              </a:rPr>
              <a:t>y</a:t>
            </a:r>
            <a:r>
              <a:rPr lang="zh-CN" altLang="en-US" sz="2100" dirty="0" smtClean="0">
                <a:latin typeface="+mn-lt"/>
                <a:ea typeface="+mn-ea"/>
                <a:sym typeface="Symbol" panose="05050102010706020507" pitchFamily="18" charset="2"/>
              </a:rPr>
              <a:t>，使得</a:t>
            </a:r>
            <a:r>
              <a:rPr lang="en-US" altLang="zh-CN" sz="2100" dirty="0" smtClean="0">
                <a:latin typeface="+mn-lt"/>
                <a:ea typeface="+mn-ea"/>
                <a:sym typeface="Symbol" panose="05050102010706020507" pitchFamily="18" charset="2"/>
              </a:rPr>
              <a:t>f(x)=f(y)</a:t>
            </a:r>
            <a:r>
              <a:rPr lang="zh-CN" altLang="en-US" sz="2100" dirty="0" smtClean="0">
                <a:latin typeface="+mn-lt"/>
                <a:ea typeface="+mn-ea"/>
                <a:sym typeface="Symbol" panose="05050102010706020507" pitchFamily="18" charset="2"/>
              </a:rPr>
              <a:t>，则称</a:t>
            </a:r>
            <a:r>
              <a:rPr lang="en-US" altLang="zh-CN" sz="2100" dirty="0" smtClean="0">
                <a:latin typeface="+mn-lt"/>
                <a:ea typeface="+mn-ea"/>
                <a:sym typeface="Symbol" panose="05050102010706020507" pitchFamily="18" charset="2"/>
              </a:rPr>
              <a:t>f</a:t>
            </a:r>
            <a:r>
              <a:rPr lang="zh-CN" altLang="en-US" sz="2100" dirty="0" smtClean="0">
                <a:latin typeface="+mn-lt"/>
                <a:ea typeface="+mn-ea"/>
                <a:sym typeface="Symbol" panose="05050102010706020507" pitchFamily="18" charset="2"/>
              </a:rPr>
              <a:t>是</a:t>
            </a:r>
            <a:r>
              <a:rPr lang="zh-CN" altLang="en-US" sz="2100" dirty="0" smtClean="0">
                <a:solidFill>
                  <a:srgbClr val="FF0000"/>
                </a:solidFill>
                <a:latin typeface="+mn-lt"/>
                <a:ea typeface="+mn-ea"/>
                <a:sym typeface="Symbol" panose="05050102010706020507" pitchFamily="18" charset="2"/>
              </a:rPr>
              <a:t>一对一的</a:t>
            </a:r>
            <a:r>
              <a:rPr lang="zh-CN" altLang="en-US" sz="2100" dirty="0" smtClean="0">
                <a:latin typeface="+mn-lt"/>
                <a:ea typeface="+mn-ea"/>
                <a:sym typeface="Symbol" panose="05050102010706020507" pitchFamily="18" charset="2"/>
              </a:rPr>
              <a:t>，即</a:t>
            </a:r>
            <a:r>
              <a:rPr lang="en-US" altLang="zh-CN" sz="2100" dirty="0" smtClean="0">
                <a:latin typeface="+mn-lt"/>
                <a:ea typeface="+mn-ea"/>
                <a:sym typeface="Symbol" panose="05050102010706020507" pitchFamily="18" charset="2"/>
              </a:rPr>
              <a:t>f(x)=f(y)</a:t>
            </a:r>
            <a:r>
              <a:rPr lang="zh-CN" altLang="en-US" sz="2100" dirty="0" smtClean="0">
                <a:latin typeface="+mn-lt"/>
                <a:ea typeface="+mn-ea"/>
                <a:sym typeface="Symbol" panose="05050102010706020507" pitchFamily="18" charset="2"/>
              </a:rPr>
              <a:t>蕴含着</a:t>
            </a:r>
            <a:r>
              <a:rPr lang="en-US" altLang="zh-CN" sz="2100" dirty="0" smtClean="0">
                <a:latin typeface="+mn-lt"/>
                <a:ea typeface="+mn-ea"/>
                <a:sym typeface="Symbol" panose="05050102010706020507" pitchFamily="18" charset="2"/>
              </a:rPr>
              <a:t>x=y</a:t>
            </a:r>
            <a:r>
              <a:rPr lang="zh-CN" altLang="en-US" sz="2100" dirty="0" smtClean="0">
                <a:latin typeface="+mn-lt"/>
                <a:ea typeface="+mn-ea"/>
                <a:sym typeface="Symbol" panose="05050102010706020507" pitchFamily="18" charset="2"/>
              </a:rPr>
              <a:t>（单射）。</a:t>
            </a:r>
            <a:endParaRPr lang="en-US" altLang="zh-CN" sz="2100" dirty="0" smtClean="0">
              <a:latin typeface="+mn-lt"/>
              <a:ea typeface="+mn-ea"/>
              <a:sym typeface="Symbol" panose="05050102010706020507" pitchFamily="18" charset="2"/>
            </a:endParaRPr>
          </a:p>
          <a:p>
            <a:pPr lvl="1" eaLnBrk="1" hangingPunct="1">
              <a:defRPr/>
            </a:pPr>
            <a:r>
              <a:rPr lang="zh-CN" altLang="en-US" sz="2100" dirty="0" smtClean="0">
                <a:latin typeface="+mn-lt"/>
                <a:ea typeface="+mn-ea"/>
                <a:sym typeface="Symbol" panose="05050102010706020507" pitchFamily="18" charset="2"/>
              </a:rPr>
              <a:t>如果</a:t>
            </a:r>
            <a:r>
              <a:rPr lang="en-US" altLang="zh-CN" sz="2100" dirty="0" smtClean="0">
                <a:latin typeface="+mn-lt"/>
                <a:ea typeface="+mn-ea"/>
                <a:sym typeface="Symbol" panose="05050102010706020507" pitchFamily="18" charset="2"/>
              </a:rPr>
              <a:t>Ran(f)=B.</a:t>
            </a:r>
            <a:r>
              <a:rPr lang="zh-CN" altLang="en-US" sz="2100" dirty="0" smtClean="0">
                <a:latin typeface="+mn-lt"/>
                <a:ea typeface="+mn-ea"/>
                <a:sym typeface="Symbol" panose="05050102010706020507" pitchFamily="18" charset="2"/>
              </a:rPr>
              <a:t>则称</a:t>
            </a:r>
            <a:r>
              <a:rPr lang="en-US" altLang="zh-CN" sz="2100" dirty="0" smtClean="0">
                <a:solidFill>
                  <a:srgbClr val="FF0000"/>
                </a:solidFill>
                <a:latin typeface="+mn-lt"/>
                <a:ea typeface="+mn-ea"/>
                <a:sym typeface="Symbol" panose="05050102010706020507" pitchFamily="18" charset="2"/>
              </a:rPr>
              <a:t>f</a:t>
            </a:r>
            <a:r>
              <a:rPr lang="zh-CN" altLang="en-US" sz="2100" dirty="0" smtClean="0">
                <a:solidFill>
                  <a:srgbClr val="FF0000"/>
                </a:solidFill>
                <a:latin typeface="+mn-lt"/>
                <a:ea typeface="+mn-ea"/>
                <a:sym typeface="Symbol" panose="05050102010706020507" pitchFamily="18" charset="2"/>
              </a:rPr>
              <a:t>是映到</a:t>
            </a:r>
            <a:r>
              <a:rPr lang="en-US" altLang="zh-CN" sz="2100" dirty="0" smtClean="0">
                <a:solidFill>
                  <a:srgbClr val="FF0000"/>
                </a:solidFill>
                <a:latin typeface="+mn-lt"/>
                <a:ea typeface="+mn-ea"/>
                <a:sym typeface="Symbol" panose="05050102010706020507" pitchFamily="18" charset="2"/>
              </a:rPr>
              <a:t>B</a:t>
            </a:r>
            <a:r>
              <a:rPr lang="zh-CN" altLang="en-US" sz="2100" dirty="0" smtClean="0">
                <a:solidFill>
                  <a:srgbClr val="FF0000"/>
                </a:solidFill>
                <a:latin typeface="+mn-lt"/>
                <a:ea typeface="+mn-ea"/>
                <a:sym typeface="Symbol" panose="05050102010706020507" pitchFamily="18" charset="2"/>
              </a:rPr>
              <a:t>的</a:t>
            </a:r>
            <a:r>
              <a:rPr lang="zh-CN" altLang="en-US" sz="2100" dirty="0" smtClean="0">
                <a:latin typeface="+mn-lt"/>
                <a:ea typeface="+mn-ea"/>
                <a:sym typeface="Symbol" panose="05050102010706020507" pitchFamily="18" charset="2"/>
              </a:rPr>
              <a:t>（满射）。</a:t>
            </a:r>
            <a:endParaRPr lang="en-US" altLang="zh-CN" sz="2100" dirty="0" smtClean="0">
              <a:latin typeface="+mn-lt"/>
              <a:ea typeface="+mn-ea"/>
              <a:sym typeface="Symbol" panose="05050102010706020507" pitchFamily="18" charset="2"/>
            </a:endParaRPr>
          </a:p>
          <a:p>
            <a:pPr lvl="1" eaLnBrk="1" hangingPunct="1">
              <a:defRPr/>
            </a:pPr>
            <a:r>
              <a:rPr lang="zh-CN" altLang="en-US" sz="2100" dirty="0" smtClean="0">
                <a:latin typeface="+mn-lt"/>
                <a:ea typeface="+mn-ea"/>
                <a:sym typeface="Symbol" panose="05050102010706020507" pitchFamily="18" charset="2"/>
              </a:rPr>
              <a:t>如果</a:t>
            </a:r>
            <a:r>
              <a:rPr lang="en-US" altLang="zh-CN" sz="2100" dirty="0" smtClean="0">
                <a:latin typeface="+mn-lt"/>
                <a:ea typeface="+mn-ea"/>
                <a:sym typeface="Symbol" panose="05050102010706020507" pitchFamily="18" charset="2"/>
              </a:rPr>
              <a:t>f</a:t>
            </a:r>
            <a:r>
              <a:rPr lang="zh-CN" altLang="en-US" sz="2100" dirty="0" smtClean="0">
                <a:latin typeface="+mn-lt"/>
                <a:ea typeface="+mn-ea"/>
                <a:sym typeface="Symbol" panose="05050102010706020507" pitchFamily="18" charset="2"/>
              </a:rPr>
              <a:t>是一对一的，又是映到</a:t>
            </a:r>
            <a:r>
              <a:rPr lang="en-US" altLang="zh-CN" sz="2100" dirty="0" smtClean="0">
                <a:latin typeface="+mn-lt"/>
                <a:ea typeface="+mn-ea"/>
                <a:sym typeface="Symbol" panose="05050102010706020507" pitchFamily="18" charset="2"/>
              </a:rPr>
              <a:t>B</a:t>
            </a:r>
            <a:r>
              <a:rPr lang="zh-CN" altLang="en-US" sz="2100" dirty="0" smtClean="0">
                <a:latin typeface="+mn-lt"/>
                <a:ea typeface="+mn-ea"/>
                <a:sym typeface="Symbol" panose="05050102010706020507" pitchFamily="18" charset="2"/>
              </a:rPr>
              <a:t>的，则称它是双射的或者称</a:t>
            </a:r>
            <a:r>
              <a:rPr lang="en-US" altLang="zh-CN" sz="2100" dirty="0" smtClean="0">
                <a:latin typeface="+mn-lt"/>
                <a:ea typeface="+mn-ea"/>
                <a:sym typeface="Symbol" panose="05050102010706020507" pitchFamily="18" charset="2"/>
              </a:rPr>
              <a:t>A</a:t>
            </a:r>
            <a:r>
              <a:rPr lang="zh-CN" altLang="en-US" sz="2100" dirty="0" smtClean="0">
                <a:latin typeface="+mn-lt"/>
                <a:ea typeface="+mn-ea"/>
                <a:sym typeface="Symbol" panose="05050102010706020507" pitchFamily="18" charset="2"/>
              </a:rPr>
              <a:t>和</a:t>
            </a:r>
            <a:r>
              <a:rPr lang="en-US" altLang="zh-CN" sz="2100" dirty="0" smtClean="0">
                <a:latin typeface="+mn-lt"/>
                <a:ea typeface="+mn-ea"/>
                <a:sym typeface="Symbol" panose="05050102010706020507" pitchFamily="18" charset="2"/>
              </a:rPr>
              <a:t>B</a:t>
            </a:r>
            <a:r>
              <a:rPr lang="zh-CN" altLang="en-US" sz="2100" dirty="0" smtClean="0">
                <a:latin typeface="+mn-lt"/>
                <a:ea typeface="+mn-ea"/>
                <a:sym typeface="Symbol" panose="05050102010706020507" pitchFamily="18" charset="2"/>
              </a:rPr>
              <a:t>之间是</a:t>
            </a:r>
            <a:r>
              <a:rPr lang="zh-CN" altLang="en-US" sz="2100" dirty="0" smtClean="0">
                <a:solidFill>
                  <a:srgbClr val="FF0000"/>
                </a:solidFill>
                <a:latin typeface="+mn-lt"/>
                <a:ea typeface="+mn-ea"/>
                <a:sym typeface="Symbol" panose="05050102010706020507" pitchFamily="18" charset="2"/>
              </a:rPr>
              <a:t>一一对应的</a:t>
            </a:r>
            <a:r>
              <a:rPr lang="zh-CN" altLang="en-US" sz="2100" dirty="0" smtClean="0">
                <a:latin typeface="+mn-lt"/>
                <a:ea typeface="+mn-ea"/>
                <a:sym typeface="Symbol" panose="05050102010706020507" pitchFamily="18" charset="2"/>
              </a:rPr>
              <a:t>（双射）。</a:t>
            </a:r>
            <a:endParaRPr lang="en-US" altLang="zh-CN" sz="2100" dirty="0" smtClean="0">
              <a:latin typeface="+mn-lt"/>
              <a:ea typeface="+mn-ea"/>
              <a:sym typeface="Symbol" panose="05050102010706020507" pitchFamily="18" charset="2"/>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40963" name="Rectangle 2"/>
          <p:cNvSpPr>
            <a:spLocks noGrp="1" noChangeArrowheads="1"/>
          </p:cNvSpPr>
          <p:nvPr>
            <p:ph type="title"/>
          </p:nvPr>
        </p:nvSpPr>
        <p:spPr/>
        <p:txBody>
          <a:bodyPr/>
          <a:lstStyle/>
          <a:p>
            <a:pPr eaLnBrk="1" hangingPunct="1"/>
            <a:r>
              <a:rPr lang="en-US" altLang="zh-CN" b="0" dirty="0">
                <a:latin typeface="+mn-ea"/>
              </a:rPr>
              <a:t>1.3.1 </a:t>
            </a:r>
            <a:r>
              <a:rPr lang="zh-CN" altLang="en-US" b="0" dirty="0">
                <a:latin typeface="+mn-ea"/>
              </a:rPr>
              <a:t>集合、关系、</a:t>
            </a:r>
            <a:r>
              <a:rPr lang="zh-CN" altLang="en-US" u="sng" dirty="0">
                <a:latin typeface="+mn-ea"/>
              </a:rPr>
              <a:t>函数</a:t>
            </a:r>
            <a:endParaRPr lang="en-US" altLang="zh-CN" dirty="0" smtClean="0">
              <a:solidFill>
                <a:srgbClr val="FF0000"/>
              </a:solidFill>
            </a:endParaRPr>
          </a:p>
        </p:txBody>
      </p:sp>
      <p:sp>
        <p:nvSpPr>
          <p:cNvPr id="40964" name="Rectangle 3"/>
          <p:cNvSpPr>
            <a:spLocks noGrp="1" noChangeArrowheads="1"/>
          </p:cNvSpPr>
          <p:nvPr>
            <p:ph type="body" idx="1"/>
          </p:nvPr>
        </p:nvSpPr>
        <p:spPr>
          <a:xfrm>
            <a:off x="879475" y="1196975"/>
            <a:ext cx="8229600" cy="4789488"/>
          </a:xfrm>
        </p:spPr>
        <p:txBody>
          <a:bodyPr/>
          <a:lstStyle/>
          <a:p>
            <a:r>
              <a:rPr lang="zh-CN" altLang="zh-CN" sz="2000" b="1" smtClean="0">
                <a:solidFill>
                  <a:srgbClr val="FF0000"/>
                </a:solidFill>
              </a:rPr>
              <a:t>单射</a:t>
            </a:r>
            <a:r>
              <a:rPr lang="zh-CN" altLang="zh-CN" sz="2000" smtClean="0"/>
              <a:t>：指将不同的变量映射到不同的值的函数。 </a:t>
            </a:r>
            <a:endParaRPr lang="zh-CN" altLang="zh-CN" sz="2000" smtClean="0"/>
          </a:p>
          <a:p>
            <a:r>
              <a:rPr lang="zh-CN" altLang="zh-CN" sz="2000" b="1" smtClean="0">
                <a:solidFill>
                  <a:srgbClr val="FF0000"/>
                </a:solidFill>
              </a:rPr>
              <a:t>满射</a:t>
            </a:r>
            <a:r>
              <a:rPr lang="zh-CN" altLang="zh-CN" sz="2000" smtClean="0"/>
              <a:t>：</a:t>
            </a:r>
            <a:r>
              <a:rPr lang="zh-CN" altLang="en-US" sz="2000" smtClean="0"/>
              <a:t>对于</a:t>
            </a:r>
            <a:r>
              <a:rPr lang="zh-CN" altLang="zh-CN" sz="2000" smtClean="0"/>
              <a:t>值域中任意元素，都存在至少一个定义域中的元素与之对应。 </a:t>
            </a:r>
            <a:endParaRPr lang="zh-CN" altLang="zh-CN" sz="2000" smtClean="0"/>
          </a:p>
          <a:p>
            <a:r>
              <a:rPr lang="zh-CN" altLang="zh-CN" sz="2000" b="1" smtClean="0">
                <a:solidFill>
                  <a:srgbClr val="FF0000"/>
                </a:solidFill>
              </a:rPr>
              <a:t>双射</a:t>
            </a:r>
            <a:r>
              <a:rPr lang="zh-CN" altLang="zh-CN" sz="2000" smtClean="0"/>
              <a:t>（也称</a:t>
            </a:r>
            <a:r>
              <a:rPr lang="zh-CN" altLang="zh-CN" sz="2000" b="1" smtClean="0"/>
              <a:t>一一对应</a:t>
            </a:r>
            <a:r>
              <a:rPr lang="zh-CN" altLang="zh-CN" sz="2000" smtClean="0"/>
              <a:t>）：既是单射又是满射的函数。直观地说，一个双射函数形成一个对应，并且每一个输入值都有正好一个输出值以及每一个输出值都有正好一个输入值。</a:t>
            </a:r>
            <a:endParaRPr lang="zh-CN" altLang="zh-CN" sz="2000" smtClean="0"/>
          </a:p>
        </p:txBody>
      </p:sp>
      <p:pic>
        <p:nvPicPr>
          <p:cNvPr id="40965"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285875" y="3429000"/>
            <a:ext cx="7186613" cy="2143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43011" name="Rectangle 2"/>
          <p:cNvSpPr>
            <a:spLocks noGrp="1" noChangeArrowheads="1"/>
          </p:cNvSpPr>
          <p:nvPr>
            <p:ph type="title"/>
          </p:nvPr>
        </p:nvSpPr>
        <p:spPr/>
        <p:txBody>
          <a:bodyPr/>
          <a:lstStyle/>
          <a:p>
            <a:pPr eaLnBrk="1" hangingPunct="1"/>
            <a:r>
              <a:rPr lang="en-US" altLang="zh-CN" dirty="0" smtClean="0">
                <a:latin typeface="+mn-ea"/>
              </a:rPr>
              <a:t>1.3.2 </a:t>
            </a:r>
            <a:r>
              <a:rPr lang="zh-CN" altLang="en-US" dirty="0" smtClean="0">
                <a:latin typeface="+mn-ea"/>
              </a:rPr>
              <a:t>证明</a:t>
            </a:r>
            <a:r>
              <a:rPr lang="zh-CN" altLang="en-US" dirty="0">
                <a:latin typeface="+mn-ea"/>
              </a:rPr>
              <a:t>方法</a:t>
            </a:r>
            <a:endParaRPr lang="en-US" altLang="zh-CN" dirty="0" smtClean="0"/>
          </a:p>
        </p:txBody>
      </p:sp>
      <p:sp>
        <p:nvSpPr>
          <p:cNvPr id="100355" name="Rectangle 3"/>
          <p:cNvSpPr>
            <a:spLocks noGrp="1" noChangeArrowheads="1"/>
          </p:cNvSpPr>
          <p:nvPr>
            <p:ph type="body" idx="1"/>
          </p:nvPr>
        </p:nvSpPr>
        <p:spPr/>
        <p:txBody>
          <a:bodyPr/>
          <a:lstStyle/>
          <a:p>
            <a:pPr eaLnBrk="1" hangingPunct="1">
              <a:defRPr/>
            </a:pPr>
            <a:r>
              <a:rPr lang="zh-CN" altLang="en-US" dirty="0" smtClean="0">
                <a:solidFill>
                  <a:srgbClr val="FF0000"/>
                </a:solidFill>
              </a:rPr>
              <a:t>符号</a:t>
            </a:r>
            <a:endParaRPr lang="en-US" altLang="zh-CN" dirty="0" smtClean="0">
              <a:solidFill>
                <a:srgbClr val="FF0000"/>
              </a:solidFill>
            </a:endParaRPr>
          </a:p>
          <a:p>
            <a:pPr lvl="1" eaLnBrk="1" hangingPunct="1">
              <a:defRPr/>
            </a:pPr>
            <a:r>
              <a:rPr lang="zh-CN" altLang="en-US" sz="2400" dirty="0" smtClean="0">
                <a:latin typeface="+mn-lt"/>
                <a:ea typeface="+mn-ea"/>
                <a:cs typeface="+mn-cs"/>
              </a:rPr>
              <a:t>一个命题或断言</a:t>
            </a:r>
            <a:r>
              <a:rPr lang="en-US" altLang="zh-CN" sz="2400" dirty="0" smtClean="0">
                <a:latin typeface="+mn-lt"/>
                <a:ea typeface="+mn-ea"/>
                <a:cs typeface="+mn-cs"/>
              </a:rPr>
              <a:t>P</a:t>
            </a:r>
            <a:r>
              <a:rPr lang="zh-CN" altLang="en-US" sz="2400" dirty="0" smtClean="0">
                <a:latin typeface="+mn-lt"/>
                <a:ea typeface="+mn-ea"/>
                <a:cs typeface="+mn-cs"/>
              </a:rPr>
              <a:t>简单地说是一个陈述句，它可以是真或者是假，但不能二者都是</a:t>
            </a:r>
            <a:endParaRPr lang="en-US" altLang="zh-CN" sz="2400" dirty="0" smtClean="0">
              <a:latin typeface="+mn-lt"/>
              <a:ea typeface="+mn-ea"/>
              <a:cs typeface="+mn-cs"/>
            </a:endParaRPr>
          </a:p>
          <a:p>
            <a:pPr lvl="1" eaLnBrk="1" hangingPunct="1">
              <a:defRPr/>
            </a:pPr>
            <a:r>
              <a:rPr lang="zh-CN" altLang="en-US" sz="2400" dirty="0" smtClean="0">
                <a:latin typeface="+mn-lt"/>
                <a:ea typeface="+mn-ea"/>
                <a:cs typeface="+mn-cs"/>
                <a:sym typeface="Symbol" panose="05050102010706020507" pitchFamily="18" charset="2"/>
              </a:rPr>
              <a:t>符号</a:t>
            </a:r>
            <a:r>
              <a:rPr lang="en-US" altLang="zh-CN" sz="2400" dirty="0" smtClean="0">
                <a:latin typeface="+mn-lt"/>
                <a:ea typeface="+mn-ea"/>
                <a:cs typeface="+mn-cs"/>
                <a:sym typeface="Symbol" panose="05050102010706020507" pitchFamily="18" charset="2"/>
              </a:rPr>
              <a:t>:</a:t>
            </a:r>
            <a:r>
              <a:rPr lang="zh-CN" altLang="en-US" sz="2400" dirty="0" smtClean="0">
                <a:latin typeface="+mn-lt"/>
                <a:ea typeface="+mn-ea"/>
                <a:cs typeface="+mn-cs"/>
                <a:sym typeface="Symbol" panose="05050102010706020507" pitchFamily="18" charset="2"/>
              </a:rPr>
              <a:t>是</a:t>
            </a:r>
            <a:r>
              <a:rPr lang="zh-CN" altLang="en-US" sz="2400" dirty="0" smtClean="0">
                <a:solidFill>
                  <a:srgbClr val="FF0000"/>
                </a:solidFill>
                <a:latin typeface="+mn-lt"/>
                <a:ea typeface="+mn-ea"/>
                <a:cs typeface="+mn-cs"/>
                <a:sym typeface="Symbol" panose="05050102010706020507" pitchFamily="18" charset="2"/>
              </a:rPr>
              <a:t>否定符号</a:t>
            </a:r>
            <a:r>
              <a:rPr lang="en-US" altLang="zh-CN" sz="2400" dirty="0" smtClean="0">
                <a:latin typeface="+mn-lt"/>
                <a:ea typeface="+mn-ea"/>
                <a:cs typeface="+mn-cs"/>
                <a:sym typeface="Symbol" panose="05050102010706020507" pitchFamily="18" charset="2"/>
              </a:rPr>
              <a:t>. </a:t>
            </a:r>
            <a:r>
              <a:rPr lang="zh-CN" altLang="en-US" sz="2400" dirty="0" smtClean="0">
                <a:latin typeface="+mn-lt"/>
                <a:ea typeface="+mn-ea"/>
                <a:cs typeface="+mn-cs"/>
                <a:sym typeface="Symbol" panose="05050102010706020507" pitchFamily="18" charset="2"/>
              </a:rPr>
              <a:t>例如，</a:t>
            </a:r>
            <a:r>
              <a:rPr lang="en-US" altLang="zh-CN" sz="2400" dirty="0" smtClean="0">
                <a:latin typeface="+mn-lt"/>
                <a:ea typeface="+mn-ea"/>
                <a:cs typeface="+mn-cs"/>
                <a:sym typeface="Symbol" panose="05050102010706020507" pitchFamily="18" charset="2"/>
              </a:rPr>
              <a:t>P</a:t>
            </a:r>
            <a:r>
              <a:rPr lang="zh-CN" altLang="en-US" sz="2400" dirty="0" smtClean="0">
                <a:latin typeface="+mn-lt"/>
                <a:ea typeface="+mn-ea"/>
                <a:cs typeface="+mn-cs"/>
                <a:sym typeface="Symbol" panose="05050102010706020507" pitchFamily="18" charset="2"/>
              </a:rPr>
              <a:t>是命题</a:t>
            </a:r>
            <a:r>
              <a:rPr lang="en-US" altLang="zh-CN" sz="2400" dirty="0" smtClean="0">
                <a:latin typeface="+mn-lt"/>
                <a:ea typeface="+mn-ea"/>
                <a:cs typeface="+mn-cs"/>
                <a:sym typeface="Symbol" panose="05050102010706020507" pitchFamily="18" charset="2"/>
              </a:rPr>
              <a:t>P</a:t>
            </a:r>
            <a:r>
              <a:rPr lang="zh-CN" altLang="en-US" sz="2400" dirty="0" smtClean="0">
                <a:latin typeface="+mn-lt"/>
                <a:ea typeface="+mn-ea"/>
                <a:cs typeface="+mn-cs"/>
                <a:sym typeface="Symbol" panose="05050102010706020507" pitchFamily="18" charset="2"/>
              </a:rPr>
              <a:t>的否定。</a:t>
            </a:r>
            <a:endParaRPr lang="en-US" altLang="zh-CN" sz="2400" dirty="0" smtClean="0">
              <a:latin typeface="+mn-lt"/>
              <a:ea typeface="+mn-ea"/>
              <a:cs typeface="+mn-cs"/>
              <a:sym typeface="Symbol" panose="05050102010706020507" pitchFamily="18" charset="2"/>
            </a:endParaRPr>
          </a:p>
          <a:p>
            <a:pPr lvl="1" eaLnBrk="1" hangingPunct="1">
              <a:defRPr/>
            </a:pPr>
            <a:r>
              <a:rPr lang="zh-CN" altLang="en-US" sz="2400" dirty="0" smtClean="0">
                <a:latin typeface="+mn-lt"/>
                <a:ea typeface="+mn-ea"/>
                <a:cs typeface="+mn-cs"/>
                <a:sym typeface="Symbol" panose="05050102010706020507" pitchFamily="18" charset="2"/>
              </a:rPr>
              <a:t>符号</a:t>
            </a:r>
            <a:r>
              <a:rPr lang="en-US" altLang="zh-CN" sz="2400" dirty="0" smtClean="0">
                <a:latin typeface="+mn-lt"/>
                <a:ea typeface="+mn-ea"/>
                <a:cs typeface="+mn-cs"/>
                <a:sym typeface="Symbol" panose="05050102010706020507" pitchFamily="18" charset="2"/>
              </a:rPr>
              <a:t>: </a:t>
            </a:r>
            <a:r>
              <a:rPr lang="zh-CN" altLang="en-US" sz="2400" dirty="0" smtClean="0">
                <a:latin typeface="+mn-lt"/>
                <a:ea typeface="+mn-ea"/>
                <a:cs typeface="+mn-cs"/>
                <a:sym typeface="Symbol" panose="05050102010706020507" pitchFamily="18" charset="2"/>
              </a:rPr>
              <a:t>是表示“</a:t>
            </a:r>
            <a:r>
              <a:rPr lang="zh-CN" altLang="en-US" sz="2400" dirty="0" smtClean="0">
                <a:solidFill>
                  <a:srgbClr val="FF0000"/>
                </a:solidFill>
                <a:latin typeface="+mn-lt"/>
                <a:ea typeface="+mn-ea"/>
                <a:cs typeface="+mn-cs"/>
                <a:sym typeface="Symbol" panose="05050102010706020507" pitchFamily="18" charset="2"/>
              </a:rPr>
              <a:t>蕴含</a:t>
            </a:r>
            <a:r>
              <a:rPr lang="zh-CN" altLang="en-US" sz="2400" dirty="0" smtClean="0">
                <a:latin typeface="+mn-lt"/>
                <a:ea typeface="+mn-ea"/>
                <a:cs typeface="+mn-cs"/>
                <a:sym typeface="Symbol" panose="05050102010706020507" pitchFamily="18" charset="2"/>
              </a:rPr>
              <a:t>”。</a:t>
            </a:r>
            <a:r>
              <a:rPr lang="en-US" altLang="zh-CN" sz="2400" dirty="0" smtClean="0">
                <a:latin typeface="+mn-lt"/>
                <a:ea typeface="+mn-ea"/>
                <a:cs typeface="+mn-cs"/>
                <a:sym typeface="Symbol" panose="05050102010706020507" pitchFamily="18" charset="2"/>
              </a:rPr>
              <a:t> </a:t>
            </a:r>
            <a:r>
              <a:rPr lang="zh-CN" altLang="en-US" sz="2400" dirty="0" smtClean="0">
                <a:latin typeface="+mn-lt"/>
                <a:ea typeface="+mn-ea"/>
                <a:cs typeface="+mn-cs"/>
                <a:sym typeface="Symbol" panose="05050102010706020507" pitchFamily="18" charset="2"/>
              </a:rPr>
              <a:t>如果</a:t>
            </a:r>
            <a:r>
              <a:rPr lang="en-US" altLang="zh-CN" sz="2400" dirty="0" smtClean="0">
                <a:latin typeface="+mn-lt"/>
                <a:ea typeface="+mn-ea"/>
                <a:cs typeface="+mn-cs"/>
                <a:sym typeface="Symbol" panose="05050102010706020507" pitchFamily="18" charset="2"/>
              </a:rPr>
              <a:t> P Q, </a:t>
            </a:r>
            <a:r>
              <a:rPr lang="zh-CN" altLang="en-US" sz="2400" dirty="0" smtClean="0">
                <a:latin typeface="+mn-lt"/>
                <a:ea typeface="+mn-ea"/>
                <a:cs typeface="+mn-cs"/>
                <a:sym typeface="Symbol" panose="05050102010706020507" pitchFamily="18" charset="2"/>
              </a:rPr>
              <a:t>就说</a:t>
            </a:r>
            <a:r>
              <a:rPr lang="en-US" altLang="zh-CN" sz="2400" dirty="0" smtClean="0">
                <a:latin typeface="+mn-lt"/>
                <a:ea typeface="+mn-ea"/>
                <a:cs typeface="+mn-cs"/>
                <a:sym typeface="Symbol" panose="05050102010706020507" pitchFamily="18" charset="2"/>
              </a:rPr>
              <a:t>Q</a:t>
            </a:r>
            <a:r>
              <a:rPr lang="zh-CN" altLang="en-US" sz="2400" dirty="0" smtClean="0">
                <a:latin typeface="+mn-lt"/>
                <a:ea typeface="+mn-ea"/>
                <a:cs typeface="+mn-cs"/>
                <a:sym typeface="Symbol" panose="05050102010706020507" pitchFamily="18" charset="2"/>
              </a:rPr>
              <a:t>是</a:t>
            </a:r>
            <a:r>
              <a:rPr lang="en-US" altLang="zh-CN" sz="2400" dirty="0" smtClean="0">
                <a:latin typeface="+mn-lt"/>
                <a:ea typeface="+mn-ea"/>
                <a:cs typeface="+mn-cs"/>
                <a:sym typeface="Symbol" panose="05050102010706020507" pitchFamily="18" charset="2"/>
              </a:rPr>
              <a:t>P</a:t>
            </a:r>
            <a:r>
              <a:rPr lang="zh-CN" altLang="en-US" sz="2400" dirty="0" smtClean="0">
                <a:latin typeface="+mn-lt"/>
                <a:ea typeface="+mn-ea"/>
                <a:cs typeface="+mn-cs"/>
                <a:sym typeface="Symbol" panose="05050102010706020507" pitchFamily="18" charset="2"/>
              </a:rPr>
              <a:t>的必要条件，</a:t>
            </a:r>
            <a:r>
              <a:rPr lang="en-US" altLang="zh-CN" sz="2400" dirty="0" smtClean="0">
                <a:latin typeface="+mn-lt"/>
                <a:ea typeface="+mn-ea"/>
                <a:cs typeface="+mn-cs"/>
                <a:sym typeface="Symbol" panose="05050102010706020507" pitchFamily="18" charset="2"/>
              </a:rPr>
              <a:t>P</a:t>
            </a:r>
            <a:r>
              <a:rPr lang="zh-CN" altLang="en-US" sz="2400" dirty="0" smtClean="0">
                <a:latin typeface="+mn-lt"/>
                <a:ea typeface="+mn-ea"/>
                <a:cs typeface="+mn-cs"/>
                <a:sym typeface="Symbol" panose="05050102010706020507" pitchFamily="18" charset="2"/>
              </a:rPr>
              <a:t>是</a:t>
            </a:r>
            <a:r>
              <a:rPr lang="en-US" altLang="zh-CN" sz="2400" dirty="0" smtClean="0">
                <a:latin typeface="+mn-lt"/>
                <a:ea typeface="+mn-ea"/>
                <a:cs typeface="+mn-cs"/>
                <a:sym typeface="Symbol" panose="05050102010706020507" pitchFamily="18" charset="2"/>
              </a:rPr>
              <a:t>Q</a:t>
            </a:r>
            <a:r>
              <a:rPr lang="zh-CN" altLang="en-US" sz="2400" dirty="0" smtClean="0">
                <a:latin typeface="+mn-lt"/>
                <a:ea typeface="+mn-ea"/>
                <a:cs typeface="+mn-cs"/>
                <a:sym typeface="Symbol" panose="05050102010706020507" pitchFamily="18" charset="2"/>
              </a:rPr>
              <a:t>的充分条件。</a:t>
            </a:r>
            <a:endParaRPr lang="en-US" altLang="zh-CN" sz="2400" dirty="0" smtClean="0">
              <a:latin typeface="+mn-lt"/>
              <a:ea typeface="+mn-ea"/>
              <a:cs typeface="+mn-cs"/>
              <a:sym typeface="Symbol" panose="05050102010706020507" pitchFamily="18" charset="2"/>
            </a:endParaRPr>
          </a:p>
          <a:p>
            <a:pPr lvl="1" eaLnBrk="1" hangingPunct="1">
              <a:defRPr/>
            </a:pPr>
            <a:r>
              <a:rPr lang="en-US" altLang="zh-CN" sz="2400" dirty="0" smtClean="0">
                <a:latin typeface="+mn-lt"/>
                <a:ea typeface="+mn-ea"/>
                <a:cs typeface="+mn-cs"/>
                <a:sym typeface="Symbol" panose="05050102010706020507" pitchFamily="18" charset="2"/>
              </a:rPr>
              <a:t>: </a:t>
            </a:r>
            <a:r>
              <a:rPr lang="zh-CN" altLang="en-US" sz="2400" dirty="0" smtClean="0">
                <a:solidFill>
                  <a:srgbClr val="FF0000"/>
                </a:solidFill>
                <a:latin typeface="+mn-lt"/>
                <a:ea typeface="+mn-ea"/>
                <a:cs typeface="+mn-cs"/>
                <a:sym typeface="Symbol" panose="05050102010706020507" pitchFamily="18" charset="2"/>
              </a:rPr>
              <a:t>当且仅当</a:t>
            </a:r>
            <a:r>
              <a:rPr lang="zh-CN" altLang="en-US" sz="2400" dirty="0" smtClean="0">
                <a:latin typeface="+mn-lt"/>
                <a:ea typeface="+mn-ea"/>
                <a:cs typeface="+mn-cs"/>
                <a:sym typeface="Symbol" panose="05050102010706020507" pitchFamily="18" charset="2"/>
              </a:rPr>
              <a:t>。</a:t>
            </a:r>
            <a:r>
              <a:rPr lang="en-US" altLang="zh-CN" sz="2400" dirty="0" smtClean="0">
                <a:latin typeface="+mn-lt"/>
                <a:ea typeface="+mn-ea"/>
                <a:cs typeface="+mn-cs"/>
                <a:sym typeface="Symbol" panose="05050102010706020507" pitchFamily="18" charset="2"/>
              </a:rPr>
              <a:t> </a:t>
            </a:r>
            <a:r>
              <a:rPr lang="zh-CN" altLang="en-US" sz="2400" dirty="0" smtClean="0">
                <a:latin typeface="+mn-lt"/>
                <a:ea typeface="+mn-ea"/>
                <a:cs typeface="+mn-cs"/>
                <a:sym typeface="Symbol" panose="05050102010706020507" pitchFamily="18" charset="2"/>
              </a:rPr>
              <a:t>语句</a:t>
            </a:r>
            <a:r>
              <a:rPr lang="en-US" altLang="zh-CN" sz="2400" dirty="0" smtClean="0">
                <a:latin typeface="+mn-lt"/>
                <a:ea typeface="+mn-ea"/>
                <a:cs typeface="+mn-cs"/>
                <a:sym typeface="Symbol" panose="05050102010706020507" pitchFamily="18" charset="2"/>
              </a:rPr>
              <a:t>PQ</a:t>
            </a:r>
            <a:r>
              <a:rPr lang="zh-CN" altLang="en-US" sz="2400" dirty="0" smtClean="0">
                <a:latin typeface="+mn-lt"/>
                <a:ea typeface="+mn-ea"/>
                <a:cs typeface="+mn-cs"/>
                <a:sym typeface="Symbol" panose="05050102010706020507" pitchFamily="18" charset="2"/>
              </a:rPr>
              <a:t>代表“</a:t>
            </a:r>
            <a:r>
              <a:rPr lang="en-US" altLang="zh-CN" sz="2400" dirty="0" smtClean="0">
                <a:latin typeface="+mn-lt"/>
                <a:ea typeface="+mn-ea"/>
                <a:cs typeface="+mn-cs"/>
                <a:sym typeface="Symbol" panose="05050102010706020507" pitchFamily="18" charset="2"/>
              </a:rPr>
              <a:t>P</a:t>
            </a:r>
            <a:r>
              <a:rPr lang="zh-CN" altLang="en-US" sz="2400" dirty="0" smtClean="0">
                <a:latin typeface="+mn-lt"/>
                <a:ea typeface="+mn-ea"/>
                <a:cs typeface="+mn-cs"/>
                <a:sym typeface="Symbol" panose="05050102010706020507" pitchFamily="18" charset="2"/>
              </a:rPr>
              <a:t>当且仅当</a:t>
            </a:r>
            <a:r>
              <a:rPr lang="en-US" altLang="zh-CN" sz="2400" dirty="0" smtClean="0">
                <a:latin typeface="+mn-lt"/>
                <a:ea typeface="+mn-ea"/>
                <a:cs typeface="+mn-cs"/>
                <a:sym typeface="Symbol" panose="05050102010706020507" pitchFamily="18" charset="2"/>
              </a:rPr>
              <a:t>Q</a:t>
            </a:r>
            <a:r>
              <a:rPr lang="zh-CN" altLang="en-US" sz="2400" dirty="0" smtClean="0">
                <a:latin typeface="+mn-lt"/>
                <a:ea typeface="+mn-ea"/>
                <a:cs typeface="+mn-cs"/>
                <a:sym typeface="Symbol" panose="05050102010706020507" pitchFamily="18" charset="2"/>
              </a:rPr>
              <a:t>”，也就是“当且仅当</a:t>
            </a:r>
            <a:r>
              <a:rPr lang="en-US" altLang="zh-CN" sz="2400" dirty="0" smtClean="0">
                <a:latin typeface="+mn-lt"/>
                <a:ea typeface="+mn-ea"/>
                <a:cs typeface="+mn-cs"/>
                <a:sym typeface="Symbol" panose="05050102010706020507" pitchFamily="18" charset="2"/>
              </a:rPr>
              <a:t>Q</a:t>
            </a:r>
            <a:r>
              <a:rPr lang="zh-CN" altLang="en-US" sz="2400" dirty="0" smtClean="0">
                <a:latin typeface="+mn-lt"/>
                <a:ea typeface="+mn-ea"/>
                <a:cs typeface="+mn-cs"/>
                <a:sym typeface="Symbol" panose="05050102010706020507" pitchFamily="18" charset="2"/>
              </a:rPr>
              <a:t>为真时</a:t>
            </a:r>
            <a:r>
              <a:rPr lang="en-US" altLang="zh-CN" sz="2400" dirty="0" smtClean="0">
                <a:latin typeface="+mn-lt"/>
                <a:ea typeface="+mn-ea"/>
                <a:cs typeface="+mn-cs"/>
                <a:sym typeface="Symbol" panose="05050102010706020507" pitchFamily="18" charset="2"/>
              </a:rPr>
              <a:t>P</a:t>
            </a:r>
            <a:r>
              <a:rPr lang="zh-CN" altLang="en-US" sz="2400" dirty="0" smtClean="0">
                <a:latin typeface="+mn-lt"/>
                <a:ea typeface="+mn-ea"/>
                <a:cs typeface="+mn-cs"/>
                <a:sym typeface="Symbol" panose="05050102010706020507" pitchFamily="18" charset="2"/>
              </a:rPr>
              <a:t>为真”，可分成</a:t>
            </a:r>
            <a:r>
              <a:rPr lang="en-US" altLang="zh-CN" sz="2400" dirty="0" smtClean="0">
                <a:latin typeface="+mn-lt"/>
                <a:ea typeface="+mn-ea"/>
                <a:cs typeface="+mn-cs"/>
                <a:sym typeface="Symbol" panose="05050102010706020507" pitchFamily="18" charset="2"/>
              </a:rPr>
              <a:t>PQ </a:t>
            </a:r>
            <a:r>
              <a:rPr lang="zh-CN" altLang="en-US" sz="2400" dirty="0" smtClean="0">
                <a:latin typeface="+mn-lt"/>
                <a:ea typeface="+mn-ea"/>
                <a:cs typeface="+mn-cs"/>
                <a:sym typeface="Symbol" panose="05050102010706020507" pitchFamily="18" charset="2"/>
              </a:rPr>
              <a:t>和</a:t>
            </a:r>
            <a:r>
              <a:rPr lang="en-US" altLang="zh-CN" sz="2400" dirty="0" smtClean="0">
                <a:latin typeface="+mn-lt"/>
                <a:ea typeface="+mn-ea"/>
                <a:cs typeface="+mn-cs"/>
                <a:sym typeface="Symbol" panose="05050102010706020507" pitchFamily="18" charset="2"/>
              </a:rPr>
              <a:t>PQ</a:t>
            </a:r>
            <a:r>
              <a:rPr lang="zh-CN" altLang="en-US" sz="2400" dirty="0" smtClean="0">
                <a:latin typeface="+mn-lt"/>
                <a:ea typeface="+mn-ea"/>
                <a:cs typeface="+mn-cs"/>
                <a:sym typeface="Symbol" panose="05050102010706020507" pitchFamily="18" charset="2"/>
              </a:rPr>
              <a:t>。</a:t>
            </a:r>
            <a:endParaRPr lang="en-US" altLang="zh-CN" sz="2400" dirty="0" smtClean="0">
              <a:latin typeface="+mn-lt"/>
              <a:ea typeface="+mn-ea"/>
              <a:cs typeface="+mn-cs"/>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0355">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0355">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035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45059" name="Rectangle 2"/>
          <p:cNvSpPr>
            <a:spLocks noGrp="1" noChangeArrowheads="1"/>
          </p:cNvSpPr>
          <p:nvPr>
            <p:ph type="title"/>
          </p:nvPr>
        </p:nvSpPr>
        <p:spPr/>
        <p:txBody>
          <a:bodyPr/>
          <a:lstStyle/>
          <a:p>
            <a:pPr eaLnBrk="1" hangingPunct="1"/>
            <a:r>
              <a:rPr lang="en-US" altLang="zh-CN" dirty="0">
                <a:latin typeface="+mn-ea"/>
              </a:rPr>
              <a:t>1.3.2 </a:t>
            </a:r>
            <a:r>
              <a:rPr lang="zh-CN" altLang="en-US" dirty="0">
                <a:latin typeface="+mn-ea"/>
              </a:rPr>
              <a:t>证明</a:t>
            </a:r>
            <a:r>
              <a:rPr lang="zh-CN" altLang="en-US" dirty="0" smtClean="0">
                <a:latin typeface="+mn-ea"/>
              </a:rPr>
              <a:t>方法</a:t>
            </a:r>
            <a:r>
              <a:rPr lang="en-US" altLang="zh-CN" dirty="0" smtClean="0">
                <a:latin typeface="+mn-ea"/>
              </a:rPr>
              <a:t>——</a:t>
            </a:r>
            <a:r>
              <a:rPr lang="zh-CN" altLang="en-US" dirty="0" smtClean="0">
                <a:latin typeface="+mn-ea"/>
              </a:rPr>
              <a:t>直接证明</a:t>
            </a:r>
            <a:endParaRPr lang="en-US" altLang="zh-CN" dirty="0" smtClean="0"/>
          </a:p>
        </p:txBody>
      </p:sp>
      <p:sp>
        <p:nvSpPr>
          <p:cNvPr id="101379" name="Rectangle 3"/>
          <p:cNvSpPr>
            <a:spLocks noGrp="1" noChangeArrowheads="1"/>
          </p:cNvSpPr>
          <p:nvPr>
            <p:ph type="body" idx="1"/>
          </p:nvPr>
        </p:nvSpPr>
        <p:spPr/>
        <p:txBody>
          <a:bodyPr/>
          <a:lstStyle/>
          <a:p>
            <a:pPr eaLnBrk="1" hangingPunct="1">
              <a:defRPr/>
            </a:pPr>
            <a:r>
              <a:rPr lang="zh-CN" altLang="en-US" sz="2100" dirty="0" smtClean="0"/>
              <a:t>要证明</a:t>
            </a:r>
            <a:r>
              <a:rPr lang="en-US" altLang="zh-CN" sz="2100" dirty="0" smtClean="0"/>
              <a:t>“P</a:t>
            </a:r>
            <a:r>
              <a:rPr lang="en-US" altLang="zh-CN" sz="2100" dirty="0" smtClean="0">
                <a:sym typeface="Wingdings" panose="05000000000000000000" pitchFamily="2" charset="2"/>
              </a:rPr>
              <a:t>Q</a:t>
            </a:r>
            <a:r>
              <a:rPr lang="en-US" altLang="zh-CN" sz="2100" dirty="0" smtClean="0"/>
              <a:t>”</a:t>
            </a:r>
            <a:r>
              <a:rPr lang="zh-CN" altLang="en-US" sz="2100" dirty="0" smtClean="0"/>
              <a:t>，可以先假设</a:t>
            </a:r>
            <a:r>
              <a:rPr lang="en-US" altLang="zh-CN" sz="2100" dirty="0" smtClean="0"/>
              <a:t>P</a:t>
            </a:r>
            <a:r>
              <a:rPr lang="zh-CN" altLang="en-US" sz="2100" dirty="0" smtClean="0"/>
              <a:t>是真的，然后从</a:t>
            </a:r>
            <a:r>
              <a:rPr lang="en-US" altLang="zh-CN" sz="2100" dirty="0" smtClean="0"/>
              <a:t>P</a:t>
            </a:r>
            <a:r>
              <a:rPr lang="zh-CN" altLang="en-US" sz="2100" dirty="0" smtClean="0"/>
              <a:t>为真推出</a:t>
            </a:r>
            <a:r>
              <a:rPr lang="en-US" altLang="zh-CN" sz="2100" dirty="0" smtClean="0"/>
              <a:t>Q</a:t>
            </a:r>
            <a:r>
              <a:rPr lang="zh-CN" altLang="en-US" sz="2100" dirty="0" smtClean="0"/>
              <a:t>为真，这是</a:t>
            </a:r>
            <a:r>
              <a:rPr lang="zh-CN" altLang="en-US" sz="2100" dirty="0" smtClean="0">
                <a:solidFill>
                  <a:srgbClr val="FF0000"/>
                </a:solidFill>
              </a:rPr>
              <a:t>直接证明法</a:t>
            </a:r>
            <a:r>
              <a:rPr lang="zh-CN" altLang="en-US" sz="2100" dirty="0" smtClean="0"/>
              <a:t>。</a:t>
            </a:r>
            <a:endParaRPr lang="en-US" altLang="zh-CN" sz="2100" dirty="0" smtClean="0"/>
          </a:p>
          <a:p>
            <a:pPr eaLnBrk="1" hangingPunct="1">
              <a:defRPr/>
            </a:pPr>
            <a:endParaRPr lang="en-US" altLang="zh-CN" sz="1800" dirty="0" smtClean="0"/>
          </a:p>
          <a:p>
            <a:pPr lvl="0" eaLnBrk="1" hangingPunct="1"/>
            <a:r>
              <a:rPr lang="zh-CN" altLang="en-US" sz="2200" dirty="0">
                <a:solidFill>
                  <a:srgbClr val="333399"/>
                </a:solidFill>
              </a:rPr>
              <a:t>例子</a:t>
            </a:r>
            <a:endParaRPr lang="en-US" altLang="zh-CN" sz="2200" dirty="0">
              <a:solidFill>
                <a:srgbClr val="333399"/>
              </a:solidFill>
            </a:endParaRPr>
          </a:p>
          <a:p>
            <a:pPr lvl="1" eaLnBrk="1" hangingPunct="1">
              <a:buFontTx/>
              <a:buNone/>
              <a:defRPr/>
            </a:pPr>
            <a:r>
              <a:rPr lang="en-US" altLang="zh-CN" dirty="0" smtClean="0"/>
              <a:t>     </a:t>
            </a:r>
            <a:r>
              <a:rPr lang="zh-CN" altLang="en-US" sz="2100" dirty="0" smtClean="0">
                <a:latin typeface="+mn-lt"/>
                <a:ea typeface="+mn-ea"/>
                <a:cs typeface="+mn-cs"/>
              </a:rPr>
              <a:t>如果</a:t>
            </a:r>
            <a:r>
              <a:rPr lang="en-US" altLang="zh-CN" sz="2100" dirty="0" smtClean="0">
                <a:latin typeface="+mn-lt"/>
                <a:ea typeface="+mn-ea"/>
                <a:cs typeface="+mn-cs"/>
              </a:rPr>
              <a:t>n</a:t>
            </a:r>
            <a:r>
              <a:rPr lang="zh-CN" altLang="en-US" sz="2100" dirty="0" smtClean="0">
                <a:latin typeface="+mn-lt"/>
                <a:ea typeface="+mn-ea"/>
                <a:cs typeface="+mn-cs"/>
              </a:rPr>
              <a:t>是偶数，</a:t>
            </a:r>
            <a:r>
              <a:rPr lang="zh-CN" altLang="en-US" dirty="0" smtClean="0">
                <a:latin typeface="+mn-ea"/>
                <a:ea typeface="+mn-ea"/>
              </a:rPr>
              <a:t>则</a:t>
            </a:r>
            <a:r>
              <a:rPr lang="en-US" altLang="zh-CN" dirty="0" smtClean="0"/>
              <a:t>n</a:t>
            </a:r>
            <a:r>
              <a:rPr lang="en-US" altLang="zh-CN" baseline="30000" dirty="0" smtClean="0"/>
              <a:t>2</a:t>
            </a:r>
            <a:r>
              <a:rPr lang="zh-CN" altLang="en-US" sz="2100" dirty="0" smtClean="0">
                <a:latin typeface="+mn-lt"/>
                <a:ea typeface="+mn-ea"/>
                <a:cs typeface="+mn-cs"/>
              </a:rPr>
              <a:t>也是偶数。</a:t>
            </a:r>
            <a:endParaRPr lang="en-US" altLang="zh-CN" sz="2100" dirty="0" smtClean="0">
              <a:latin typeface="+mn-lt"/>
              <a:ea typeface="+mn-ea"/>
              <a:cs typeface="+mn-cs"/>
            </a:endParaRPr>
          </a:p>
          <a:p>
            <a:pPr lvl="1" eaLnBrk="1" hangingPunct="1">
              <a:buFontTx/>
              <a:buNone/>
              <a:defRPr/>
            </a:pPr>
            <a:r>
              <a:rPr lang="en-US" altLang="zh-CN" dirty="0" smtClean="0"/>
              <a:t>    </a:t>
            </a:r>
            <a:endParaRPr lang="en-US" altLang="zh-CN" dirty="0" smtClean="0"/>
          </a:p>
          <a:p>
            <a:pPr lvl="1" eaLnBrk="1" hangingPunct="1">
              <a:buFontTx/>
              <a:buNone/>
              <a:defRPr/>
            </a:pPr>
            <a:r>
              <a:rPr lang="en-US" altLang="zh-CN" dirty="0" smtClean="0"/>
              <a:t>     </a:t>
            </a:r>
            <a:r>
              <a:rPr lang="zh-CN" altLang="en-US" sz="2100" dirty="0" smtClean="0">
                <a:latin typeface="+mn-lt"/>
                <a:ea typeface="+mn-ea"/>
                <a:cs typeface="+mn-cs"/>
              </a:rPr>
              <a:t>证明（直接）</a:t>
            </a:r>
            <a:r>
              <a:rPr lang="en-US" altLang="zh-CN" sz="2100" dirty="0" smtClean="0">
                <a:latin typeface="+mn-lt"/>
                <a:ea typeface="+mn-ea"/>
                <a:cs typeface="+mn-cs"/>
              </a:rPr>
              <a:t>:</a:t>
            </a:r>
            <a:endParaRPr lang="en-US" altLang="zh-CN" sz="2100" dirty="0" smtClean="0">
              <a:latin typeface="+mn-lt"/>
              <a:ea typeface="+mn-ea"/>
              <a:cs typeface="+mn-cs"/>
            </a:endParaRPr>
          </a:p>
          <a:p>
            <a:pPr lvl="1" eaLnBrk="1" hangingPunct="1">
              <a:buFontTx/>
              <a:buNone/>
              <a:defRPr/>
            </a:pPr>
            <a:r>
              <a:rPr lang="en-US" altLang="zh-CN" sz="2100" dirty="0" smtClean="0">
                <a:latin typeface="+mn-lt"/>
                <a:ea typeface="+mn-ea"/>
                <a:cs typeface="+mn-cs"/>
              </a:rPr>
              <a:t>     </a:t>
            </a:r>
            <a:r>
              <a:rPr lang="zh-CN" altLang="en-US" sz="2100" dirty="0" smtClean="0">
                <a:latin typeface="+mn-lt"/>
                <a:ea typeface="+mn-ea"/>
                <a:cs typeface="+mn-cs"/>
              </a:rPr>
              <a:t>由于</a:t>
            </a:r>
            <a:r>
              <a:rPr lang="en-US" altLang="zh-CN" sz="2100" dirty="0" smtClean="0">
                <a:latin typeface="+mn-lt"/>
                <a:ea typeface="+mn-ea"/>
                <a:cs typeface="+mn-cs"/>
              </a:rPr>
              <a:t>n</a:t>
            </a:r>
            <a:r>
              <a:rPr lang="zh-CN" altLang="en-US" sz="2100" dirty="0" smtClean="0">
                <a:latin typeface="+mn-lt"/>
                <a:ea typeface="+mn-ea"/>
                <a:cs typeface="+mn-cs"/>
              </a:rPr>
              <a:t>是偶数</a:t>
            </a:r>
            <a:r>
              <a:rPr lang="zh-CN" altLang="en-US" dirty="0" smtClean="0"/>
              <a:t>，</a:t>
            </a:r>
            <a:r>
              <a:rPr lang="zh-CN" altLang="en-US" sz="2100" dirty="0" smtClean="0">
                <a:latin typeface="+mn-lt"/>
                <a:ea typeface="+mn-ea"/>
                <a:cs typeface="+mn-cs"/>
              </a:rPr>
              <a:t>则</a:t>
            </a:r>
            <a:r>
              <a:rPr lang="en-US" altLang="zh-CN" dirty="0" smtClean="0"/>
              <a:t> n = 2k</a:t>
            </a:r>
            <a:r>
              <a:rPr lang="zh-CN" altLang="en-US" sz="2100" dirty="0" smtClean="0">
                <a:latin typeface="+mn-lt"/>
                <a:ea typeface="+mn-ea"/>
                <a:cs typeface="+mn-cs"/>
              </a:rPr>
              <a:t>，</a:t>
            </a:r>
            <a:r>
              <a:rPr lang="en-US" altLang="zh-CN" sz="2100" dirty="0" smtClean="0">
                <a:latin typeface="+mn-lt"/>
                <a:ea typeface="+mn-ea"/>
                <a:cs typeface="+mn-cs"/>
              </a:rPr>
              <a:t>k</a:t>
            </a:r>
            <a:r>
              <a:rPr lang="zh-CN" altLang="en-US" sz="2100" dirty="0" smtClean="0">
                <a:latin typeface="+mn-lt"/>
                <a:ea typeface="+mn-ea"/>
                <a:cs typeface="+mn-cs"/>
              </a:rPr>
              <a:t>是某个整数</a:t>
            </a:r>
            <a:r>
              <a:rPr lang="en-US" altLang="zh-CN" sz="2100" dirty="0" smtClean="0">
                <a:latin typeface="+mn-lt"/>
                <a:ea typeface="+mn-ea"/>
                <a:cs typeface="+mn-cs"/>
              </a:rPr>
              <a:t> </a:t>
            </a:r>
            <a:r>
              <a:rPr lang="zh-CN" altLang="en-US" sz="2100" dirty="0" smtClean="0">
                <a:latin typeface="+mn-lt"/>
                <a:ea typeface="+mn-ea"/>
                <a:cs typeface="+mn-cs"/>
              </a:rPr>
              <a:t>，</a:t>
            </a:r>
            <a:endParaRPr lang="en-US" altLang="zh-CN" sz="2100" dirty="0" smtClean="0">
              <a:latin typeface="+mn-lt"/>
              <a:ea typeface="+mn-ea"/>
              <a:cs typeface="+mn-cs"/>
            </a:endParaRPr>
          </a:p>
          <a:p>
            <a:pPr lvl="1" eaLnBrk="1" hangingPunct="1">
              <a:buFontTx/>
              <a:buNone/>
              <a:defRPr/>
            </a:pPr>
            <a:r>
              <a:rPr lang="en-US" altLang="zh-CN" sz="2100" dirty="0" smtClean="0">
                <a:latin typeface="+mn-lt"/>
                <a:ea typeface="+mn-ea"/>
                <a:cs typeface="+mn-cs"/>
              </a:rPr>
              <a:t>    </a:t>
            </a:r>
            <a:r>
              <a:rPr lang="zh-CN" altLang="en-US" sz="2100" dirty="0" smtClean="0">
                <a:latin typeface="+mn-lt"/>
                <a:ea typeface="+mn-ea"/>
                <a:cs typeface="+mn-cs"/>
              </a:rPr>
              <a:t>所以有</a:t>
            </a:r>
            <a:r>
              <a:rPr lang="en-US" altLang="zh-CN" sz="2100" dirty="0" smtClean="0">
                <a:latin typeface="+mn-lt"/>
                <a:ea typeface="+mn-ea"/>
                <a:cs typeface="+mn-cs"/>
              </a:rPr>
              <a:t> </a:t>
            </a:r>
            <a:r>
              <a:rPr lang="en-US" altLang="zh-CN" dirty="0" smtClean="0"/>
              <a:t>n</a:t>
            </a:r>
            <a:r>
              <a:rPr lang="en-US" altLang="zh-CN" baseline="30000" dirty="0" smtClean="0"/>
              <a:t>2</a:t>
            </a:r>
            <a:r>
              <a:rPr lang="en-US" altLang="zh-CN" dirty="0" smtClean="0"/>
              <a:t> = 4k</a:t>
            </a:r>
            <a:r>
              <a:rPr lang="en-US" altLang="zh-CN" baseline="30000" dirty="0" smtClean="0"/>
              <a:t>2 </a:t>
            </a:r>
            <a:r>
              <a:rPr lang="en-US" altLang="zh-CN" dirty="0" smtClean="0"/>
              <a:t>= 2(2k</a:t>
            </a:r>
            <a:r>
              <a:rPr lang="en-US" altLang="zh-CN" baseline="30000" dirty="0" smtClean="0"/>
              <a:t>2</a:t>
            </a:r>
            <a:r>
              <a:rPr lang="en-US" altLang="zh-CN" dirty="0" smtClean="0"/>
              <a:t>). </a:t>
            </a:r>
            <a:endParaRPr lang="en-US" altLang="zh-CN" dirty="0" smtClean="0"/>
          </a:p>
          <a:p>
            <a:pPr lvl="1" eaLnBrk="1" hangingPunct="1">
              <a:buFontTx/>
              <a:buNone/>
              <a:defRPr/>
            </a:pPr>
            <a:r>
              <a:rPr lang="en-US" altLang="zh-CN" sz="2100" dirty="0" smtClean="0">
                <a:latin typeface="+mn-lt"/>
                <a:ea typeface="+mn-ea"/>
                <a:cs typeface="+mn-cs"/>
              </a:rPr>
              <a:t>     </a:t>
            </a:r>
            <a:r>
              <a:rPr lang="zh-CN" altLang="en-US" sz="2100" dirty="0" smtClean="0">
                <a:latin typeface="+mn-lt"/>
                <a:ea typeface="+mn-ea"/>
                <a:cs typeface="+mn-cs"/>
              </a:rPr>
              <a:t>因此，得出</a:t>
            </a:r>
            <a:r>
              <a:rPr lang="en-US" altLang="zh-CN" sz="2100" dirty="0" smtClean="0">
                <a:latin typeface="+mn-lt"/>
                <a:ea typeface="+mn-ea"/>
                <a:cs typeface="+mn-cs"/>
              </a:rPr>
              <a:t>n</a:t>
            </a:r>
            <a:r>
              <a:rPr lang="en-US" altLang="zh-CN" sz="2100" baseline="30000" dirty="0" smtClean="0">
                <a:latin typeface="+mn-lt"/>
                <a:ea typeface="+mn-ea"/>
                <a:cs typeface="+mn-cs"/>
              </a:rPr>
              <a:t>2</a:t>
            </a:r>
            <a:r>
              <a:rPr lang="en-US" altLang="zh-CN" sz="2100" dirty="0" smtClean="0">
                <a:latin typeface="+mn-lt"/>
                <a:ea typeface="+mn-ea"/>
                <a:cs typeface="+mn-cs"/>
              </a:rPr>
              <a:t> </a:t>
            </a:r>
            <a:r>
              <a:rPr lang="zh-CN" altLang="en-US" sz="2100" dirty="0" smtClean="0">
                <a:latin typeface="+mn-lt"/>
                <a:ea typeface="+mn-ea"/>
                <a:cs typeface="+mn-cs"/>
              </a:rPr>
              <a:t>是偶数，证明完毕</a:t>
            </a:r>
            <a:r>
              <a:rPr lang="zh-CN" altLang="en-US" dirty="0" smtClean="0"/>
              <a:t>。</a:t>
            </a:r>
            <a:endParaRPr lang="en-US" altLang="zh-CN" dirty="0" smtClean="0"/>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01379">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1379">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379">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379">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1379">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1379">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137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47107" name="Rectangle 2"/>
          <p:cNvSpPr>
            <a:spLocks noGrp="1" noChangeArrowheads="1"/>
          </p:cNvSpPr>
          <p:nvPr>
            <p:ph type="title"/>
          </p:nvPr>
        </p:nvSpPr>
        <p:spPr/>
        <p:txBody>
          <a:bodyPr/>
          <a:lstStyle/>
          <a:p>
            <a:pPr eaLnBrk="1" hangingPunct="1"/>
            <a:r>
              <a:rPr lang="en-US" altLang="zh-CN" dirty="0">
                <a:latin typeface="+mn-ea"/>
              </a:rPr>
              <a:t>1.3.2 </a:t>
            </a:r>
            <a:r>
              <a:rPr lang="zh-CN" altLang="en-US" dirty="0">
                <a:latin typeface="+mn-ea"/>
              </a:rPr>
              <a:t>证明方法</a:t>
            </a:r>
            <a:r>
              <a:rPr lang="en-US" altLang="zh-CN" dirty="0" smtClean="0">
                <a:latin typeface="+mn-ea"/>
              </a:rPr>
              <a:t>——</a:t>
            </a:r>
            <a:r>
              <a:rPr lang="zh-CN" altLang="en-US" dirty="0">
                <a:latin typeface="+mn-ea"/>
              </a:rPr>
              <a:t>间接</a:t>
            </a:r>
            <a:r>
              <a:rPr lang="zh-CN" altLang="en-US" dirty="0" smtClean="0">
                <a:latin typeface="+mn-ea"/>
              </a:rPr>
              <a:t>证明</a:t>
            </a:r>
            <a:endParaRPr lang="en-US" altLang="zh-CN" dirty="0" smtClean="0"/>
          </a:p>
        </p:txBody>
      </p:sp>
      <p:sp>
        <p:nvSpPr>
          <p:cNvPr id="102403" name="Rectangle 3"/>
          <p:cNvSpPr>
            <a:spLocks noGrp="1" noChangeArrowheads="1"/>
          </p:cNvSpPr>
          <p:nvPr>
            <p:ph type="body" idx="1"/>
          </p:nvPr>
        </p:nvSpPr>
        <p:spPr>
          <a:xfrm>
            <a:off x="806450" y="1231900"/>
            <a:ext cx="8229600" cy="4789488"/>
          </a:xfrm>
        </p:spPr>
        <p:txBody>
          <a:bodyPr/>
          <a:lstStyle/>
          <a:p>
            <a:pPr eaLnBrk="1" hangingPunct="1">
              <a:lnSpc>
                <a:spcPct val="90000"/>
              </a:lnSpc>
              <a:defRPr/>
            </a:pPr>
            <a:r>
              <a:rPr lang="zh-CN" altLang="en-US" sz="2100" dirty="0" smtClean="0"/>
              <a:t>蕴含式“</a:t>
            </a:r>
            <a:r>
              <a:rPr lang="en-US" altLang="zh-CN" sz="2100" dirty="0" smtClean="0"/>
              <a:t>P</a:t>
            </a:r>
            <a:r>
              <a:rPr lang="en-US" altLang="zh-CN" sz="2100" dirty="0" smtClean="0">
                <a:sym typeface="Symbol" panose="05050102010706020507" pitchFamily="18" charset="2"/>
              </a:rPr>
              <a:t>Q</a:t>
            </a:r>
            <a:r>
              <a:rPr lang="zh-CN" altLang="en-US" sz="2100" dirty="0" smtClean="0">
                <a:sym typeface="Symbol" panose="05050102010706020507" pitchFamily="18" charset="2"/>
              </a:rPr>
              <a:t>”逻辑等价于逆反命题</a:t>
            </a:r>
            <a:r>
              <a:rPr lang="en-US" altLang="zh-CN" sz="2100" dirty="0" smtClean="0"/>
              <a:t> “</a:t>
            </a:r>
            <a:r>
              <a:rPr lang="en-US" altLang="zh-CN" sz="2100" dirty="0" smtClean="0">
                <a:sym typeface="Symbol" panose="05050102010706020507" pitchFamily="18" charset="2"/>
              </a:rPr>
              <a:t>QP</a:t>
            </a:r>
            <a:r>
              <a:rPr lang="en-US" altLang="zh-CN" sz="2100" dirty="0" smtClean="0"/>
              <a:t>”;</a:t>
            </a:r>
            <a:endParaRPr lang="en-US" altLang="zh-CN" sz="2100" dirty="0" smtClean="0"/>
          </a:p>
          <a:p>
            <a:pPr eaLnBrk="1" hangingPunct="1">
              <a:lnSpc>
                <a:spcPct val="90000"/>
              </a:lnSpc>
              <a:defRPr/>
            </a:pPr>
            <a:r>
              <a:rPr lang="zh-CN" altLang="en-US" sz="2100" dirty="0" smtClean="0"/>
              <a:t>要证明</a:t>
            </a:r>
            <a:r>
              <a:rPr lang="en-US" altLang="zh-CN" sz="2100" dirty="0" smtClean="0"/>
              <a:t>“P</a:t>
            </a:r>
            <a:r>
              <a:rPr lang="en-US" altLang="zh-CN" sz="2100" dirty="0" smtClean="0">
                <a:sym typeface="Symbol" panose="05050102010706020507" pitchFamily="18" charset="2"/>
              </a:rPr>
              <a:t>Q</a:t>
            </a:r>
            <a:r>
              <a:rPr lang="en-US" altLang="zh-CN" sz="2100" dirty="0" smtClean="0"/>
              <a:t>”, </a:t>
            </a:r>
            <a:r>
              <a:rPr lang="zh-CN" altLang="en-US" sz="2100" dirty="0" smtClean="0"/>
              <a:t>间接等于要证明</a:t>
            </a:r>
            <a:r>
              <a:rPr lang="en-US" altLang="zh-CN" sz="2100" dirty="0" smtClean="0"/>
              <a:t>“</a:t>
            </a:r>
            <a:r>
              <a:rPr lang="en-US" altLang="zh-CN" sz="2100" dirty="0" smtClean="0">
                <a:sym typeface="Symbol" panose="05050102010706020507" pitchFamily="18" charset="2"/>
              </a:rPr>
              <a:t>QP</a:t>
            </a:r>
            <a:r>
              <a:rPr lang="en-US" altLang="zh-CN" sz="2100" dirty="0" smtClean="0"/>
              <a:t>” .</a:t>
            </a:r>
            <a:endParaRPr lang="en-US" altLang="zh-CN" sz="2100" dirty="0" smtClean="0"/>
          </a:p>
          <a:p>
            <a:pPr eaLnBrk="1" hangingPunct="1">
              <a:lnSpc>
                <a:spcPct val="90000"/>
              </a:lnSpc>
              <a:defRPr/>
            </a:pPr>
            <a:endParaRPr lang="en-US" altLang="zh-CN" sz="700" dirty="0" smtClean="0"/>
          </a:p>
          <a:p>
            <a:pPr lvl="0" eaLnBrk="1" hangingPunct="1"/>
            <a:r>
              <a:rPr lang="zh-CN" altLang="en-US" sz="2200" dirty="0">
                <a:solidFill>
                  <a:srgbClr val="333399"/>
                </a:solidFill>
              </a:rPr>
              <a:t>例子</a:t>
            </a:r>
            <a:endParaRPr lang="en-US" altLang="zh-CN" sz="2200" dirty="0">
              <a:solidFill>
                <a:srgbClr val="333399"/>
              </a:solidFill>
            </a:endParaRPr>
          </a:p>
          <a:p>
            <a:pPr lvl="1" eaLnBrk="1" hangingPunct="1">
              <a:lnSpc>
                <a:spcPct val="90000"/>
              </a:lnSpc>
              <a:buFontTx/>
              <a:buNone/>
              <a:defRPr/>
            </a:pPr>
            <a:r>
              <a:rPr lang="zh-CN" altLang="en-US" dirty="0" smtClean="0">
                <a:latin typeface="+mn-lt"/>
                <a:ea typeface="+mn-ea"/>
              </a:rPr>
              <a:t>如果</a:t>
            </a:r>
            <a:r>
              <a:rPr lang="en-US" altLang="zh-CN" dirty="0" smtClean="0">
                <a:latin typeface="+mn-lt"/>
                <a:ea typeface="+mn-ea"/>
              </a:rPr>
              <a:t> </a:t>
            </a:r>
            <a:r>
              <a:rPr lang="en-US" altLang="zh-CN" i="1" dirty="0" smtClean="0">
                <a:latin typeface="+mn-lt"/>
                <a:ea typeface="+mn-ea"/>
              </a:rPr>
              <a:t>n</a:t>
            </a:r>
            <a:r>
              <a:rPr lang="en-US" altLang="zh-CN" i="1" baseline="30000" dirty="0" smtClean="0">
                <a:latin typeface="+mn-lt"/>
                <a:ea typeface="+mn-ea"/>
              </a:rPr>
              <a:t>2</a:t>
            </a:r>
            <a:r>
              <a:rPr lang="zh-CN" altLang="en-US" dirty="0" smtClean="0">
                <a:latin typeface="+mn-lt"/>
                <a:ea typeface="+mn-ea"/>
              </a:rPr>
              <a:t>是偶数，那么</a:t>
            </a:r>
            <a:r>
              <a:rPr lang="en-US" altLang="zh-CN" dirty="0" smtClean="0">
                <a:latin typeface="+mn-lt"/>
                <a:ea typeface="+mn-ea"/>
              </a:rPr>
              <a:t> </a:t>
            </a:r>
            <a:r>
              <a:rPr lang="en-US" altLang="zh-CN" i="1" dirty="0" smtClean="0">
                <a:latin typeface="+mn-lt"/>
                <a:ea typeface="+mn-ea"/>
              </a:rPr>
              <a:t>n</a:t>
            </a:r>
            <a:r>
              <a:rPr lang="en-US" altLang="zh-CN" dirty="0" smtClean="0">
                <a:latin typeface="+mn-lt"/>
                <a:ea typeface="+mn-ea"/>
              </a:rPr>
              <a:t> </a:t>
            </a:r>
            <a:r>
              <a:rPr lang="zh-CN" altLang="en-US" dirty="0" smtClean="0">
                <a:latin typeface="+mn-lt"/>
                <a:ea typeface="+mn-ea"/>
              </a:rPr>
              <a:t>是偶数。</a:t>
            </a:r>
            <a:endParaRPr lang="en-US" altLang="zh-CN" dirty="0" smtClean="0">
              <a:latin typeface="+mn-lt"/>
              <a:ea typeface="+mn-ea"/>
            </a:endParaRPr>
          </a:p>
          <a:p>
            <a:pPr lvl="1" eaLnBrk="1" hangingPunct="1">
              <a:lnSpc>
                <a:spcPct val="90000"/>
              </a:lnSpc>
              <a:buFontTx/>
              <a:buNone/>
              <a:defRPr/>
            </a:pPr>
            <a:endParaRPr lang="en-US" altLang="zh-CN" sz="900" dirty="0" smtClean="0"/>
          </a:p>
          <a:p>
            <a:pPr lvl="1" eaLnBrk="1" hangingPunct="1">
              <a:lnSpc>
                <a:spcPct val="90000"/>
              </a:lnSpc>
              <a:buFontTx/>
              <a:buNone/>
              <a:defRPr/>
            </a:pPr>
            <a:r>
              <a:rPr lang="zh-CN" altLang="en-US" sz="2100" dirty="0" smtClean="0">
                <a:latin typeface="+mn-lt"/>
                <a:ea typeface="+mn-ea"/>
                <a:cs typeface="+mn-cs"/>
              </a:rPr>
              <a:t>证明</a:t>
            </a:r>
            <a:r>
              <a:rPr lang="en-US" altLang="zh-CN" sz="2100" dirty="0" smtClean="0">
                <a:latin typeface="+mn-lt"/>
                <a:ea typeface="+mn-ea"/>
                <a:cs typeface="+mn-cs"/>
              </a:rPr>
              <a:t> (</a:t>
            </a:r>
            <a:r>
              <a:rPr lang="zh-CN" altLang="en-US" sz="2100" dirty="0" smtClean="0">
                <a:latin typeface="+mn-lt"/>
                <a:ea typeface="+mn-ea"/>
                <a:cs typeface="+mn-cs"/>
              </a:rPr>
              <a:t>间接</a:t>
            </a:r>
            <a:r>
              <a:rPr lang="en-US" altLang="zh-CN" sz="2100" dirty="0" smtClean="0">
                <a:latin typeface="+mn-lt"/>
                <a:ea typeface="+mn-ea"/>
                <a:cs typeface="+mn-cs"/>
              </a:rPr>
              <a:t>):</a:t>
            </a:r>
            <a:endParaRPr lang="en-US" altLang="zh-CN" sz="2100" dirty="0" smtClean="0">
              <a:latin typeface="+mn-lt"/>
              <a:ea typeface="+mn-ea"/>
              <a:cs typeface="+mn-cs"/>
            </a:endParaRPr>
          </a:p>
          <a:p>
            <a:pPr lvl="1" eaLnBrk="1" hangingPunct="1">
              <a:lnSpc>
                <a:spcPct val="90000"/>
              </a:lnSpc>
              <a:buFontTx/>
              <a:buNone/>
              <a:defRPr/>
            </a:pPr>
            <a:r>
              <a:rPr lang="zh-CN" altLang="en-US" sz="2100" dirty="0" smtClean="0">
                <a:latin typeface="+mn-lt"/>
                <a:ea typeface="+mn-ea"/>
                <a:cs typeface="+mn-cs"/>
              </a:rPr>
              <a:t>首先，我们证明如果</a:t>
            </a:r>
            <a:r>
              <a:rPr lang="en-US" altLang="zh-CN" sz="2100" dirty="0" smtClean="0">
                <a:latin typeface="+mn-lt"/>
                <a:ea typeface="+mn-ea"/>
                <a:cs typeface="+mn-cs"/>
              </a:rPr>
              <a:t>n</a:t>
            </a:r>
            <a:r>
              <a:rPr lang="zh-CN" altLang="en-US" sz="2100" dirty="0" smtClean="0">
                <a:latin typeface="+mn-lt"/>
                <a:ea typeface="+mn-ea"/>
                <a:cs typeface="+mn-cs"/>
              </a:rPr>
              <a:t>是奇数，那么</a:t>
            </a:r>
            <a:r>
              <a:rPr lang="en-US" altLang="zh-CN" sz="2100" dirty="0" smtClean="0">
                <a:latin typeface="+mn-lt"/>
                <a:ea typeface="+mn-ea"/>
                <a:cs typeface="+mn-cs"/>
              </a:rPr>
              <a:t>n</a:t>
            </a:r>
            <a:r>
              <a:rPr lang="en-US" altLang="zh-CN" sz="2100" baseline="30000" dirty="0" smtClean="0">
                <a:latin typeface="+mn-lt"/>
                <a:ea typeface="+mn-ea"/>
                <a:cs typeface="+mn-cs"/>
              </a:rPr>
              <a:t>2</a:t>
            </a:r>
            <a:r>
              <a:rPr lang="en-US" altLang="zh-CN" sz="2100" dirty="0" smtClean="0">
                <a:latin typeface="+mn-lt"/>
                <a:ea typeface="+mn-ea"/>
                <a:cs typeface="+mn-cs"/>
              </a:rPr>
              <a:t> </a:t>
            </a:r>
            <a:r>
              <a:rPr lang="zh-CN" altLang="en-US" sz="2100" dirty="0" smtClean="0">
                <a:latin typeface="+mn-lt"/>
                <a:ea typeface="+mn-ea"/>
                <a:cs typeface="+mn-cs"/>
              </a:rPr>
              <a:t>也是奇数。</a:t>
            </a:r>
            <a:endParaRPr lang="en-US" altLang="zh-CN" sz="2100" dirty="0" smtClean="0">
              <a:latin typeface="+mn-lt"/>
              <a:ea typeface="+mn-ea"/>
              <a:cs typeface="+mn-cs"/>
            </a:endParaRPr>
          </a:p>
          <a:p>
            <a:pPr lvl="1" eaLnBrk="1" hangingPunct="1">
              <a:lnSpc>
                <a:spcPct val="90000"/>
              </a:lnSpc>
              <a:buFontTx/>
              <a:buNone/>
              <a:defRPr/>
            </a:pPr>
            <a:r>
              <a:rPr lang="zh-CN" altLang="en-US" sz="2100" dirty="0" smtClean="0">
                <a:latin typeface="+mn-lt"/>
                <a:ea typeface="+mn-ea"/>
                <a:cs typeface="+mn-cs"/>
              </a:rPr>
              <a:t>由于</a:t>
            </a:r>
            <a:r>
              <a:rPr lang="en-US" altLang="zh-CN" sz="2100" dirty="0" smtClean="0">
                <a:latin typeface="+mn-lt"/>
                <a:ea typeface="+mn-ea"/>
                <a:cs typeface="+mn-cs"/>
              </a:rPr>
              <a:t> n </a:t>
            </a:r>
            <a:r>
              <a:rPr lang="zh-CN" altLang="en-US" sz="2100" dirty="0" smtClean="0">
                <a:latin typeface="+mn-lt"/>
                <a:ea typeface="+mn-ea"/>
                <a:cs typeface="+mn-cs"/>
              </a:rPr>
              <a:t>是奇数，</a:t>
            </a:r>
            <a:r>
              <a:rPr lang="en-US" altLang="zh-CN" sz="2100" dirty="0" smtClean="0">
                <a:latin typeface="+mn-lt"/>
                <a:ea typeface="+mn-ea"/>
                <a:cs typeface="+mn-cs"/>
              </a:rPr>
              <a:t> </a:t>
            </a:r>
            <a:r>
              <a:rPr lang="zh-CN" altLang="en-US" sz="2100" dirty="0" smtClean="0">
                <a:latin typeface="+mn-lt"/>
                <a:ea typeface="+mn-ea"/>
                <a:cs typeface="+mn-cs"/>
              </a:rPr>
              <a:t>那么</a:t>
            </a:r>
            <a:r>
              <a:rPr lang="en-US" altLang="zh-CN" sz="2100" dirty="0" smtClean="0">
                <a:latin typeface="+mn-lt"/>
                <a:ea typeface="+mn-ea"/>
                <a:cs typeface="+mn-cs"/>
              </a:rPr>
              <a:t>n=2k+1</a:t>
            </a:r>
            <a:r>
              <a:rPr lang="zh-CN" altLang="en-US" sz="2100" dirty="0" smtClean="0">
                <a:latin typeface="+mn-lt"/>
                <a:ea typeface="+mn-ea"/>
                <a:cs typeface="+mn-cs"/>
              </a:rPr>
              <a:t>，</a:t>
            </a:r>
            <a:r>
              <a:rPr lang="en-US" altLang="zh-CN" sz="2100" dirty="0" smtClean="0">
                <a:latin typeface="+mn-lt"/>
                <a:ea typeface="+mn-ea"/>
                <a:cs typeface="+mn-cs"/>
              </a:rPr>
              <a:t>k</a:t>
            </a:r>
            <a:r>
              <a:rPr lang="zh-CN" altLang="en-US" sz="2100" dirty="0" smtClean="0">
                <a:latin typeface="+mn-lt"/>
                <a:ea typeface="+mn-ea"/>
                <a:cs typeface="+mn-cs"/>
              </a:rPr>
              <a:t>是某个整数。</a:t>
            </a:r>
            <a:endParaRPr lang="en-US" altLang="zh-CN" sz="2100" dirty="0" smtClean="0">
              <a:latin typeface="+mn-lt"/>
              <a:ea typeface="+mn-ea"/>
              <a:cs typeface="+mn-cs"/>
            </a:endParaRPr>
          </a:p>
          <a:p>
            <a:pPr lvl="1" eaLnBrk="1" hangingPunct="1">
              <a:lnSpc>
                <a:spcPct val="90000"/>
              </a:lnSpc>
              <a:buFontTx/>
              <a:buNone/>
              <a:defRPr/>
            </a:pPr>
            <a:r>
              <a:rPr lang="zh-CN" altLang="en-US" sz="2100" dirty="0" smtClean="0">
                <a:latin typeface="+mn-lt"/>
                <a:ea typeface="+mn-ea"/>
                <a:cs typeface="+mn-cs"/>
              </a:rPr>
              <a:t>那么</a:t>
            </a:r>
            <a:r>
              <a:rPr lang="en-US" altLang="zh-CN" sz="2100" dirty="0" smtClean="0">
                <a:latin typeface="+mn-lt"/>
                <a:ea typeface="+mn-ea"/>
                <a:cs typeface="+mn-cs"/>
              </a:rPr>
              <a:t>, n</a:t>
            </a:r>
            <a:r>
              <a:rPr lang="en-US" altLang="zh-CN" sz="2100" baseline="30000" dirty="0" smtClean="0">
                <a:latin typeface="+mn-lt"/>
                <a:ea typeface="+mn-ea"/>
                <a:cs typeface="+mn-cs"/>
              </a:rPr>
              <a:t>2</a:t>
            </a:r>
            <a:r>
              <a:rPr lang="en-US" altLang="zh-CN" sz="2100" dirty="0" smtClean="0">
                <a:latin typeface="+mn-lt"/>
                <a:ea typeface="+mn-ea"/>
                <a:cs typeface="+mn-cs"/>
              </a:rPr>
              <a:t>=(2K+1)</a:t>
            </a:r>
            <a:r>
              <a:rPr lang="en-US" altLang="zh-CN" sz="2100" baseline="30000" dirty="0" smtClean="0">
                <a:latin typeface="+mn-lt"/>
                <a:ea typeface="+mn-ea"/>
                <a:cs typeface="+mn-cs"/>
              </a:rPr>
              <a:t>2</a:t>
            </a:r>
            <a:r>
              <a:rPr lang="en-US" altLang="zh-CN" sz="2100" dirty="0" smtClean="0">
                <a:latin typeface="+mn-lt"/>
                <a:ea typeface="+mn-ea"/>
                <a:cs typeface="+mn-cs"/>
              </a:rPr>
              <a:t> =2(2k</a:t>
            </a:r>
            <a:r>
              <a:rPr lang="en-US" altLang="zh-CN" sz="2100" baseline="30000" dirty="0" smtClean="0">
                <a:latin typeface="+mn-lt"/>
                <a:ea typeface="+mn-ea"/>
                <a:cs typeface="+mn-cs"/>
              </a:rPr>
              <a:t>2</a:t>
            </a:r>
            <a:r>
              <a:rPr lang="en-US" altLang="zh-CN" sz="2100" dirty="0" smtClean="0">
                <a:latin typeface="+mn-lt"/>
                <a:ea typeface="+mn-ea"/>
                <a:cs typeface="+mn-cs"/>
              </a:rPr>
              <a:t>+2k)+1</a:t>
            </a:r>
            <a:r>
              <a:rPr lang="zh-CN" altLang="en-US" sz="2100" dirty="0" smtClean="0">
                <a:latin typeface="+mn-lt"/>
                <a:ea typeface="+mn-ea"/>
                <a:cs typeface="+mn-cs"/>
              </a:rPr>
              <a:t>，</a:t>
            </a:r>
            <a:endParaRPr lang="en-US" altLang="zh-CN" sz="2100" dirty="0" smtClean="0">
              <a:latin typeface="+mn-lt"/>
              <a:ea typeface="+mn-ea"/>
              <a:cs typeface="+mn-cs"/>
            </a:endParaRPr>
          </a:p>
          <a:p>
            <a:pPr lvl="1" eaLnBrk="1" hangingPunct="1">
              <a:lnSpc>
                <a:spcPct val="90000"/>
              </a:lnSpc>
              <a:buFontTx/>
              <a:buNone/>
              <a:defRPr/>
            </a:pPr>
            <a:r>
              <a:rPr lang="zh-CN" altLang="en-US" sz="2100" dirty="0" smtClean="0">
                <a:latin typeface="+mn-lt"/>
                <a:ea typeface="+mn-ea"/>
                <a:cs typeface="+mn-cs"/>
              </a:rPr>
              <a:t>所以</a:t>
            </a:r>
            <a:r>
              <a:rPr lang="en-US" altLang="zh-CN" sz="2100" dirty="0" smtClean="0">
                <a:latin typeface="+mn-lt"/>
                <a:ea typeface="+mn-ea"/>
                <a:cs typeface="+mn-cs"/>
              </a:rPr>
              <a:t>n</a:t>
            </a:r>
            <a:r>
              <a:rPr lang="en-US" altLang="zh-CN" sz="2100" baseline="30000" dirty="0" smtClean="0">
                <a:latin typeface="+mn-lt"/>
                <a:ea typeface="+mn-ea"/>
                <a:cs typeface="+mn-cs"/>
              </a:rPr>
              <a:t>2</a:t>
            </a:r>
            <a:r>
              <a:rPr lang="zh-CN" altLang="en-US" sz="2100" dirty="0" smtClean="0">
                <a:latin typeface="+mn-lt"/>
                <a:ea typeface="+mn-ea"/>
                <a:cs typeface="+mn-cs"/>
              </a:rPr>
              <a:t>是奇数。</a:t>
            </a:r>
            <a:endParaRPr lang="en-US" altLang="zh-CN" sz="2100" dirty="0" smtClean="0">
              <a:latin typeface="+mn-lt"/>
              <a:ea typeface="+mn-ea"/>
              <a:cs typeface="+mn-cs"/>
            </a:endParaRPr>
          </a:p>
          <a:p>
            <a:pPr lvl="1" eaLnBrk="1" hangingPunct="1">
              <a:lnSpc>
                <a:spcPct val="90000"/>
              </a:lnSpc>
              <a:buFontTx/>
              <a:buNone/>
              <a:defRPr/>
            </a:pPr>
            <a:r>
              <a:rPr lang="zh-CN" altLang="en-US" sz="2100" dirty="0" smtClean="0">
                <a:latin typeface="+mn-lt"/>
                <a:ea typeface="+mn-ea"/>
                <a:cs typeface="+mn-cs"/>
              </a:rPr>
              <a:t>因此，如果</a:t>
            </a:r>
            <a:r>
              <a:rPr lang="en-US" altLang="zh-CN" sz="2100" dirty="0" smtClean="0">
                <a:latin typeface="+mn-lt"/>
                <a:ea typeface="+mn-ea"/>
                <a:cs typeface="+mn-cs"/>
              </a:rPr>
              <a:t> n</a:t>
            </a:r>
            <a:r>
              <a:rPr lang="en-US" altLang="zh-CN" sz="2100" baseline="30000" dirty="0" smtClean="0">
                <a:latin typeface="+mn-lt"/>
                <a:ea typeface="+mn-ea"/>
                <a:cs typeface="+mn-cs"/>
              </a:rPr>
              <a:t>2</a:t>
            </a:r>
            <a:r>
              <a:rPr lang="zh-CN" altLang="en-US" sz="2100" dirty="0" smtClean="0">
                <a:latin typeface="+mn-lt"/>
                <a:ea typeface="+mn-ea"/>
                <a:cs typeface="+mn-cs"/>
              </a:rPr>
              <a:t>是偶数，那么</a:t>
            </a:r>
            <a:r>
              <a:rPr lang="en-US" altLang="zh-CN" sz="2100" dirty="0" smtClean="0">
                <a:latin typeface="+mn-lt"/>
                <a:ea typeface="+mn-ea"/>
                <a:cs typeface="+mn-cs"/>
              </a:rPr>
              <a:t> n </a:t>
            </a:r>
            <a:r>
              <a:rPr lang="zh-CN" altLang="en-US" sz="2100" dirty="0" smtClean="0">
                <a:latin typeface="+mn-lt"/>
                <a:ea typeface="+mn-ea"/>
                <a:cs typeface="+mn-cs"/>
              </a:rPr>
              <a:t>是偶数。</a:t>
            </a:r>
            <a:endParaRPr lang="en-US" altLang="zh-CN" sz="2100" dirty="0" smtClean="0">
              <a:latin typeface="+mn-lt"/>
              <a:ea typeface="+mn-ea"/>
              <a:cs typeface="+mn-cs"/>
            </a:endParaRPr>
          </a:p>
          <a:p>
            <a:pPr lvl="1" eaLnBrk="1" hangingPunct="1">
              <a:lnSpc>
                <a:spcPct val="90000"/>
              </a:lnSpc>
              <a:buFontTx/>
              <a:buNone/>
              <a:defRPr/>
            </a:pPr>
            <a:endParaRPr lang="en-US" altLang="zh-CN" dirty="0" smtClean="0"/>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0240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40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240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2403">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2403">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2403">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2403">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240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49155" name="Rectangle 2"/>
          <p:cNvSpPr>
            <a:spLocks noGrp="1" noChangeArrowheads="1"/>
          </p:cNvSpPr>
          <p:nvPr>
            <p:ph type="title"/>
          </p:nvPr>
        </p:nvSpPr>
        <p:spPr/>
        <p:txBody>
          <a:bodyPr/>
          <a:lstStyle/>
          <a:p>
            <a:pPr eaLnBrk="1" hangingPunct="1"/>
            <a:r>
              <a:rPr lang="en-US" altLang="zh-CN" dirty="0">
                <a:latin typeface="+mn-ea"/>
              </a:rPr>
              <a:t>1.3.2 </a:t>
            </a:r>
            <a:r>
              <a:rPr lang="zh-CN" altLang="en-US" dirty="0">
                <a:latin typeface="+mn-ea"/>
              </a:rPr>
              <a:t>证明方法</a:t>
            </a:r>
            <a:r>
              <a:rPr lang="en-US" altLang="zh-CN" dirty="0">
                <a:latin typeface="+mn-ea"/>
              </a:rPr>
              <a:t>——</a:t>
            </a:r>
            <a:r>
              <a:rPr lang="zh-CN" altLang="en-US" dirty="0">
                <a:latin typeface="+mn-ea"/>
              </a:rPr>
              <a:t>间接证明</a:t>
            </a:r>
            <a:endParaRPr lang="en-US" altLang="zh-CN" dirty="0" smtClean="0"/>
          </a:p>
        </p:txBody>
      </p:sp>
      <p:sp>
        <p:nvSpPr>
          <p:cNvPr id="103427" name="Rectangle 3"/>
          <p:cNvSpPr>
            <a:spLocks noGrp="1" noChangeArrowheads="1"/>
          </p:cNvSpPr>
          <p:nvPr>
            <p:ph type="body" idx="1"/>
          </p:nvPr>
        </p:nvSpPr>
        <p:spPr/>
        <p:txBody>
          <a:bodyPr/>
          <a:lstStyle/>
          <a:p>
            <a:pPr eaLnBrk="1" hangingPunct="1">
              <a:lnSpc>
                <a:spcPct val="90000"/>
              </a:lnSpc>
              <a:defRPr/>
            </a:pPr>
            <a:r>
              <a:rPr lang="zh-CN" altLang="en-US" dirty="0" smtClean="0"/>
              <a:t>为了证明命题 </a:t>
            </a:r>
            <a:r>
              <a:rPr lang="en-US" altLang="zh-CN" dirty="0" smtClean="0"/>
              <a:t>“P</a:t>
            </a:r>
            <a:r>
              <a:rPr lang="en-US" altLang="zh-CN" dirty="0" smtClean="0">
                <a:sym typeface="Symbol" panose="05050102010706020507" pitchFamily="18" charset="2"/>
              </a:rPr>
              <a:t>Q</a:t>
            </a:r>
            <a:r>
              <a:rPr lang="en-US" altLang="zh-CN" dirty="0" smtClean="0"/>
              <a:t>”</a:t>
            </a:r>
            <a:r>
              <a:rPr lang="zh-CN" altLang="en-US" dirty="0" smtClean="0"/>
              <a:t>为真</a:t>
            </a:r>
            <a:r>
              <a:rPr lang="en-US" altLang="zh-CN" dirty="0" smtClean="0"/>
              <a:t>, </a:t>
            </a:r>
            <a:r>
              <a:rPr lang="zh-CN" altLang="en-US" dirty="0" smtClean="0"/>
              <a:t>先假定</a:t>
            </a:r>
            <a:r>
              <a:rPr lang="en-US" altLang="zh-CN" dirty="0" smtClean="0"/>
              <a:t>P</a:t>
            </a:r>
            <a:r>
              <a:rPr lang="zh-CN" altLang="en-US" dirty="0" smtClean="0"/>
              <a:t>为真，但</a:t>
            </a:r>
            <a:r>
              <a:rPr lang="en-US" altLang="zh-CN" dirty="0" smtClean="0"/>
              <a:t>Q</a:t>
            </a:r>
            <a:r>
              <a:rPr lang="zh-CN" altLang="en-US" dirty="0" smtClean="0"/>
              <a:t>为假。如果这个假设导出矛盾，就意味着假设“</a:t>
            </a:r>
            <a:r>
              <a:rPr lang="en-US" altLang="zh-CN" dirty="0" smtClean="0"/>
              <a:t>Q</a:t>
            </a:r>
            <a:r>
              <a:rPr lang="zh-CN" altLang="en-US" dirty="0" smtClean="0"/>
              <a:t>为假”必定是错的，所以</a:t>
            </a:r>
            <a:r>
              <a:rPr lang="en-US" altLang="zh-CN" dirty="0" smtClean="0"/>
              <a:t>Q</a:t>
            </a:r>
            <a:r>
              <a:rPr lang="zh-CN" altLang="en-US" dirty="0" smtClean="0"/>
              <a:t>必定可由</a:t>
            </a:r>
            <a:r>
              <a:rPr lang="en-US" altLang="zh-CN" dirty="0" smtClean="0"/>
              <a:t>P</a:t>
            </a:r>
            <a:r>
              <a:rPr lang="zh-CN" altLang="en-US" dirty="0" smtClean="0"/>
              <a:t>推出。</a:t>
            </a:r>
            <a:endParaRPr lang="en-US" altLang="zh-CN" dirty="0" smtClean="0"/>
          </a:p>
          <a:p>
            <a:pPr eaLnBrk="1" hangingPunct="1">
              <a:lnSpc>
                <a:spcPct val="90000"/>
              </a:lnSpc>
              <a:defRPr/>
            </a:pPr>
            <a:r>
              <a:rPr lang="zh-CN" altLang="en-US" dirty="0" smtClean="0"/>
              <a:t>逻辑因果关系</a:t>
            </a:r>
            <a:r>
              <a:rPr lang="en-US" altLang="zh-CN" dirty="0" smtClean="0"/>
              <a:t>: </a:t>
            </a:r>
            <a:endParaRPr lang="en-US" altLang="zh-CN" dirty="0" smtClean="0"/>
          </a:p>
          <a:p>
            <a:pPr lvl="1" eaLnBrk="1" hangingPunct="1">
              <a:lnSpc>
                <a:spcPct val="90000"/>
              </a:lnSpc>
              <a:defRPr/>
            </a:pPr>
            <a:r>
              <a:rPr lang="zh-CN" altLang="en-US" sz="2500" dirty="0" smtClean="0">
                <a:latin typeface="+mn-lt"/>
                <a:ea typeface="+mn-ea"/>
                <a:cs typeface="+mn-cs"/>
              </a:rPr>
              <a:t>如果已知</a:t>
            </a:r>
            <a:r>
              <a:rPr lang="en-US" altLang="zh-CN" sz="2500" dirty="0" smtClean="0">
                <a:latin typeface="+mn-lt"/>
                <a:ea typeface="+mn-ea"/>
                <a:cs typeface="+mn-cs"/>
              </a:rPr>
              <a:t>P</a:t>
            </a:r>
            <a:r>
              <a:rPr lang="en-US" altLang="zh-CN" sz="2500" dirty="0" smtClean="0">
                <a:latin typeface="+mn-lt"/>
                <a:ea typeface="+mn-ea"/>
                <a:cs typeface="+mn-cs"/>
                <a:sym typeface="Symbol" panose="05050102010706020507" pitchFamily="18" charset="2"/>
              </a:rPr>
              <a:t>Q </a:t>
            </a:r>
            <a:r>
              <a:rPr lang="zh-CN" altLang="en-US" sz="2500" dirty="0" smtClean="0">
                <a:latin typeface="+mn-lt"/>
                <a:ea typeface="+mn-ea"/>
                <a:cs typeface="+mn-cs"/>
                <a:sym typeface="Symbol" panose="05050102010706020507" pitchFamily="18" charset="2"/>
              </a:rPr>
              <a:t>为真，且</a:t>
            </a:r>
            <a:r>
              <a:rPr lang="en-US" altLang="zh-CN" sz="2500" dirty="0" smtClean="0">
                <a:latin typeface="+mn-lt"/>
                <a:ea typeface="+mn-ea"/>
                <a:cs typeface="+mn-cs"/>
                <a:sym typeface="Symbol" panose="05050102010706020507" pitchFamily="18" charset="2"/>
              </a:rPr>
              <a:t>Q </a:t>
            </a:r>
            <a:r>
              <a:rPr lang="zh-CN" altLang="en-US" sz="2500" dirty="0" smtClean="0">
                <a:latin typeface="+mn-lt"/>
                <a:ea typeface="+mn-ea"/>
                <a:cs typeface="+mn-cs"/>
                <a:sym typeface="Symbol" panose="05050102010706020507" pitchFamily="18" charset="2"/>
              </a:rPr>
              <a:t>为假，则</a:t>
            </a:r>
            <a:r>
              <a:rPr lang="en-US" altLang="zh-CN" sz="2500" dirty="0" smtClean="0">
                <a:latin typeface="+mn-lt"/>
                <a:ea typeface="+mn-ea"/>
                <a:cs typeface="+mn-cs"/>
                <a:sym typeface="Symbol" panose="05050102010706020507" pitchFamily="18" charset="2"/>
              </a:rPr>
              <a:t> P </a:t>
            </a:r>
            <a:r>
              <a:rPr lang="zh-CN" altLang="en-US" sz="2500" dirty="0" smtClean="0">
                <a:latin typeface="+mn-lt"/>
                <a:ea typeface="+mn-ea"/>
                <a:cs typeface="+mn-cs"/>
                <a:sym typeface="Symbol" panose="05050102010706020507" pitchFamily="18" charset="2"/>
              </a:rPr>
              <a:t>必定为假</a:t>
            </a:r>
            <a:r>
              <a:rPr lang="en-US" altLang="zh-CN" sz="2500" dirty="0" smtClean="0">
                <a:latin typeface="+mn-lt"/>
                <a:ea typeface="+mn-ea"/>
                <a:cs typeface="+mn-cs"/>
                <a:sym typeface="Symbol" panose="05050102010706020507" pitchFamily="18" charset="2"/>
              </a:rPr>
              <a:t>;</a:t>
            </a:r>
            <a:endParaRPr lang="en-US" altLang="zh-CN" sz="2500" dirty="0" smtClean="0">
              <a:latin typeface="+mn-lt"/>
              <a:ea typeface="+mn-ea"/>
              <a:cs typeface="+mn-cs"/>
              <a:sym typeface="Symbol" panose="05050102010706020507" pitchFamily="18" charset="2"/>
            </a:endParaRPr>
          </a:p>
          <a:p>
            <a:pPr lvl="1" eaLnBrk="1" hangingPunct="1">
              <a:lnSpc>
                <a:spcPct val="90000"/>
              </a:lnSpc>
              <a:defRPr/>
            </a:pPr>
            <a:r>
              <a:rPr lang="zh-CN" altLang="en-US" sz="2500" dirty="0" smtClean="0">
                <a:latin typeface="+mn-lt"/>
                <a:ea typeface="+mn-ea"/>
                <a:cs typeface="+mn-cs"/>
                <a:sym typeface="Symbol" panose="05050102010706020507" pitchFamily="18" charset="2"/>
              </a:rPr>
              <a:t>所以，如果一开始先假定</a:t>
            </a:r>
            <a:r>
              <a:rPr lang="en-US" altLang="zh-CN" sz="2500" dirty="0" smtClean="0">
                <a:latin typeface="+mn-lt"/>
                <a:ea typeface="+mn-ea"/>
                <a:cs typeface="+mn-cs"/>
                <a:sym typeface="Symbol" panose="05050102010706020507" pitchFamily="18" charset="2"/>
              </a:rPr>
              <a:t>P</a:t>
            </a:r>
            <a:r>
              <a:rPr lang="zh-CN" altLang="en-US" sz="2500" dirty="0" smtClean="0">
                <a:latin typeface="+mn-lt"/>
                <a:ea typeface="+mn-ea"/>
                <a:cs typeface="+mn-cs"/>
                <a:sym typeface="Symbol" panose="05050102010706020507" pitchFamily="18" charset="2"/>
              </a:rPr>
              <a:t>为真，</a:t>
            </a:r>
            <a:r>
              <a:rPr lang="en-US" altLang="zh-CN" sz="2500" dirty="0" smtClean="0">
                <a:latin typeface="+mn-lt"/>
                <a:ea typeface="+mn-ea"/>
                <a:cs typeface="+mn-cs"/>
                <a:sym typeface="Symbol" panose="05050102010706020507" pitchFamily="18" charset="2"/>
              </a:rPr>
              <a:t>Q</a:t>
            </a:r>
            <a:r>
              <a:rPr lang="zh-CN" altLang="en-US" sz="2500" dirty="0" smtClean="0">
                <a:latin typeface="+mn-lt"/>
                <a:ea typeface="+mn-ea"/>
                <a:cs typeface="+mn-cs"/>
                <a:sym typeface="Symbol" panose="05050102010706020507" pitchFamily="18" charset="2"/>
              </a:rPr>
              <a:t>为假，从而得出</a:t>
            </a:r>
            <a:r>
              <a:rPr lang="en-US" altLang="zh-CN" sz="2500" dirty="0" smtClean="0">
                <a:latin typeface="+mn-lt"/>
                <a:ea typeface="+mn-ea"/>
                <a:cs typeface="+mn-cs"/>
                <a:sym typeface="Symbol" panose="05050102010706020507" pitchFamily="18" charset="2"/>
              </a:rPr>
              <a:t>P</a:t>
            </a:r>
            <a:r>
              <a:rPr lang="zh-CN" altLang="en-US" sz="2500" dirty="0" smtClean="0">
                <a:latin typeface="+mn-lt"/>
                <a:ea typeface="+mn-ea"/>
                <a:cs typeface="+mn-cs"/>
                <a:sym typeface="Symbol" panose="05050102010706020507" pitchFamily="18" charset="2"/>
              </a:rPr>
              <a:t>为假的结论，这样，</a:t>
            </a:r>
            <a:r>
              <a:rPr lang="en-US" altLang="zh-CN" sz="2500" dirty="0" smtClean="0">
                <a:latin typeface="+mn-lt"/>
                <a:ea typeface="+mn-ea"/>
                <a:cs typeface="+mn-cs"/>
                <a:sym typeface="Symbol" panose="05050102010706020507" pitchFamily="18" charset="2"/>
              </a:rPr>
              <a:t>P</a:t>
            </a:r>
            <a:r>
              <a:rPr lang="zh-CN" altLang="en-US" sz="2500" dirty="0" smtClean="0">
                <a:latin typeface="+mn-lt"/>
                <a:ea typeface="+mn-ea"/>
                <a:cs typeface="+mn-cs"/>
                <a:sym typeface="Symbol" panose="05050102010706020507" pitchFamily="18" charset="2"/>
              </a:rPr>
              <a:t>即是真的又是假的，但是</a:t>
            </a:r>
            <a:r>
              <a:rPr lang="en-US" altLang="zh-CN" sz="2500" dirty="0" smtClean="0">
                <a:latin typeface="+mn-lt"/>
                <a:ea typeface="+mn-ea"/>
                <a:cs typeface="+mn-cs"/>
                <a:sym typeface="Symbol" panose="05050102010706020507" pitchFamily="18" charset="2"/>
              </a:rPr>
              <a:t>P</a:t>
            </a:r>
            <a:r>
              <a:rPr lang="zh-CN" altLang="en-US" sz="2500" dirty="0" smtClean="0">
                <a:latin typeface="+mn-lt"/>
                <a:ea typeface="+mn-ea"/>
                <a:cs typeface="+mn-cs"/>
                <a:sym typeface="Symbol" panose="05050102010706020507" pitchFamily="18" charset="2"/>
              </a:rPr>
              <a:t>不能既为真又为假，因此，这是一个矛盾，那么得出</a:t>
            </a:r>
            <a:r>
              <a:rPr lang="en-US" altLang="zh-CN" sz="2500" dirty="0" smtClean="0">
                <a:latin typeface="+mn-lt"/>
                <a:ea typeface="+mn-ea"/>
                <a:cs typeface="+mn-cs"/>
                <a:sym typeface="Symbol" panose="05050102010706020507" pitchFamily="18" charset="2"/>
              </a:rPr>
              <a:t>Q</a:t>
            </a:r>
            <a:r>
              <a:rPr lang="zh-CN" altLang="en-US" sz="2500" dirty="0" smtClean="0">
                <a:latin typeface="+mn-lt"/>
                <a:ea typeface="+mn-ea"/>
                <a:cs typeface="+mn-cs"/>
                <a:sym typeface="Symbol" panose="05050102010706020507" pitchFamily="18" charset="2"/>
              </a:rPr>
              <a:t>为假的假定是错误的，所以最终只有一种可能：</a:t>
            </a:r>
            <a:r>
              <a:rPr lang="en-US" altLang="zh-CN" sz="2500" dirty="0" smtClean="0">
                <a:latin typeface="+mn-lt"/>
                <a:ea typeface="+mn-ea"/>
                <a:cs typeface="+mn-cs"/>
                <a:sym typeface="Symbol" panose="05050102010706020507" pitchFamily="18" charset="2"/>
              </a:rPr>
              <a:t>Q</a:t>
            </a:r>
            <a:r>
              <a:rPr lang="zh-CN" altLang="en-US" sz="2500" dirty="0" smtClean="0">
                <a:latin typeface="+mn-lt"/>
                <a:ea typeface="+mn-ea"/>
                <a:cs typeface="+mn-cs"/>
                <a:sym typeface="Symbol" panose="05050102010706020507" pitchFamily="18" charset="2"/>
              </a:rPr>
              <a:t>为真。</a:t>
            </a:r>
            <a:endParaRPr lang="en-US" altLang="zh-CN" sz="2500" dirty="0" smtClean="0">
              <a:latin typeface="+mn-lt"/>
              <a:ea typeface="+mn-ea"/>
              <a:cs typeface="+mn-cs"/>
              <a:sym typeface="Symbol" panose="05050102010706020507" pitchFamily="18" charset="2"/>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342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342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51203" name="Rectangle 2"/>
          <p:cNvSpPr>
            <a:spLocks noGrp="1" noChangeArrowheads="1"/>
          </p:cNvSpPr>
          <p:nvPr>
            <p:ph type="title"/>
          </p:nvPr>
        </p:nvSpPr>
        <p:spPr/>
        <p:txBody>
          <a:bodyPr/>
          <a:lstStyle/>
          <a:p>
            <a:pPr eaLnBrk="1" hangingPunct="1"/>
            <a:r>
              <a:rPr lang="en-US" altLang="zh-CN" dirty="0">
                <a:latin typeface="+mn-ea"/>
              </a:rPr>
              <a:t>1.3.2 </a:t>
            </a:r>
            <a:r>
              <a:rPr lang="zh-CN" altLang="en-US" dirty="0">
                <a:latin typeface="+mn-ea"/>
              </a:rPr>
              <a:t>证明方法</a:t>
            </a:r>
            <a:r>
              <a:rPr lang="en-US" altLang="zh-CN" dirty="0">
                <a:latin typeface="+mn-ea"/>
              </a:rPr>
              <a:t>——</a:t>
            </a:r>
            <a:r>
              <a:rPr lang="zh-CN" altLang="en-US" dirty="0">
                <a:latin typeface="+mn-ea"/>
              </a:rPr>
              <a:t>间接证明</a:t>
            </a:r>
            <a:endParaRPr lang="en-US" altLang="zh-CN" dirty="0" smtClean="0"/>
          </a:p>
        </p:txBody>
      </p:sp>
      <p:sp>
        <p:nvSpPr>
          <p:cNvPr id="226307" name="Rectangle 3"/>
          <p:cNvSpPr>
            <a:spLocks noGrp="1" noChangeArrowheads="1"/>
          </p:cNvSpPr>
          <p:nvPr>
            <p:ph type="body" idx="1"/>
          </p:nvPr>
        </p:nvSpPr>
        <p:spPr>
          <a:xfrm>
            <a:off x="806306" y="1272381"/>
            <a:ext cx="8229600" cy="5033962"/>
          </a:xfrm>
        </p:spPr>
        <p:txBody>
          <a:bodyPr/>
          <a:lstStyle/>
          <a:p>
            <a:pPr lvl="0" eaLnBrk="1" hangingPunct="1"/>
            <a:r>
              <a:rPr lang="zh-CN" altLang="en-US" sz="2200" dirty="0">
                <a:solidFill>
                  <a:srgbClr val="333399"/>
                </a:solidFill>
              </a:rPr>
              <a:t>例子</a:t>
            </a:r>
            <a:endParaRPr lang="en-US" altLang="zh-CN" sz="2200" dirty="0">
              <a:solidFill>
                <a:srgbClr val="333399"/>
              </a:solidFill>
            </a:endParaRPr>
          </a:p>
          <a:p>
            <a:pPr lvl="1" eaLnBrk="1" hangingPunct="1">
              <a:buFontTx/>
              <a:buNone/>
              <a:defRPr/>
            </a:pPr>
            <a:r>
              <a:rPr lang="zh-CN" altLang="en-US" sz="2000" dirty="0" smtClean="0">
                <a:latin typeface="+mn-ea"/>
                <a:ea typeface="+mn-ea"/>
              </a:rPr>
              <a:t>有无限多的素数。反证法证明</a:t>
            </a:r>
            <a:r>
              <a:rPr lang="en-US" altLang="zh-CN" sz="2000" dirty="0" smtClean="0">
                <a:latin typeface="+mn-ea"/>
                <a:ea typeface="+mn-ea"/>
              </a:rPr>
              <a:t>:</a:t>
            </a:r>
            <a:endParaRPr lang="en-US" altLang="zh-CN" sz="2000" dirty="0" smtClean="0">
              <a:latin typeface="+mn-ea"/>
              <a:ea typeface="+mn-ea"/>
            </a:endParaRPr>
          </a:p>
          <a:p>
            <a:pPr lvl="1" eaLnBrk="1" hangingPunct="1">
              <a:buFontTx/>
              <a:buNone/>
              <a:defRPr/>
            </a:pPr>
            <a:r>
              <a:rPr lang="zh-CN" altLang="en-US" sz="2000" dirty="0" smtClean="0">
                <a:latin typeface="+mn-ea"/>
                <a:ea typeface="+mn-ea"/>
              </a:rPr>
              <a:t>素数</a:t>
            </a:r>
            <a:r>
              <a:rPr lang="en-US" altLang="zh-CN" sz="2000" dirty="0" smtClean="0">
                <a:latin typeface="+mn-ea"/>
                <a:ea typeface="+mn-ea"/>
              </a:rPr>
              <a:t>:</a:t>
            </a:r>
            <a:r>
              <a:rPr lang="zh-CN" altLang="en-US" sz="2000" dirty="0" smtClean="0">
                <a:latin typeface="+mn-ea"/>
                <a:ea typeface="+mn-ea"/>
              </a:rPr>
              <a:t>指在一个大于</a:t>
            </a:r>
            <a:r>
              <a:rPr lang="en-US" altLang="zh-CN" sz="2000" dirty="0" smtClean="0">
                <a:latin typeface="+mn-ea"/>
                <a:ea typeface="+mn-ea"/>
              </a:rPr>
              <a:t>1</a:t>
            </a:r>
            <a:r>
              <a:rPr lang="zh-CN" altLang="en-US" sz="2000" dirty="0" smtClean="0">
                <a:latin typeface="+mn-ea"/>
                <a:ea typeface="+mn-ea"/>
              </a:rPr>
              <a:t>的自然数中，除了</a:t>
            </a:r>
            <a:r>
              <a:rPr lang="en-US" altLang="zh-CN" sz="2000" dirty="0" smtClean="0">
                <a:latin typeface="+mn-ea"/>
                <a:ea typeface="+mn-ea"/>
              </a:rPr>
              <a:t>1</a:t>
            </a:r>
            <a:r>
              <a:rPr lang="zh-CN" altLang="en-US" sz="2000" dirty="0" smtClean="0">
                <a:latin typeface="+mn-ea"/>
                <a:ea typeface="+mn-ea"/>
              </a:rPr>
              <a:t>和此整数自身外，不能被其他自然数整除的数。</a:t>
            </a:r>
            <a:endParaRPr lang="en-US" altLang="zh-CN" sz="2000" dirty="0" smtClean="0">
              <a:latin typeface="+mn-ea"/>
              <a:ea typeface="+mn-ea"/>
            </a:endParaRPr>
          </a:p>
          <a:p>
            <a:pPr lvl="1" eaLnBrk="1" hangingPunct="1">
              <a:buFontTx/>
              <a:buNone/>
              <a:defRPr/>
            </a:pPr>
            <a:r>
              <a:rPr lang="zh-CN" altLang="en-US" sz="2000" dirty="0" smtClean="0">
                <a:latin typeface="+mn-ea"/>
                <a:ea typeface="+mn-ea"/>
              </a:rPr>
              <a:t>合数：比</a:t>
            </a:r>
            <a:r>
              <a:rPr lang="en-US" altLang="zh-CN" sz="2000" dirty="0" smtClean="0">
                <a:latin typeface="+mn-ea"/>
                <a:ea typeface="+mn-ea"/>
              </a:rPr>
              <a:t>1</a:t>
            </a:r>
            <a:r>
              <a:rPr lang="zh-CN" altLang="en-US" sz="2000" dirty="0" smtClean="0">
                <a:latin typeface="+mn-ea"/>
                <a:ea typeface="+mn-ea"/>
              </a:rPr>
              <a:t>大但不是素数的数称为合数。</a:t>
            </a:r>
            <a:endParaRPr lang="en-US" altLang="zh-CN" sz="2000" dirty="0" smtClean="0">
              <a:latin typeface="+mn-ea"/>
              <a:ea typeface="+mn-ea"/>
            </a:endParaRPr>
          </a:p>
          <a:p>
            <a:pPr lvl="1" eaLnBrk="1" hangingPunct="1">
              <a:buFontTx/>
              <a:buNone/>
              <a:defRPr/>
            </a:pPr>
            <a:r>
              <a:rPr lang="zh-CN" altLang="en-US" sz="2000" dirty="0" smtClean="0">
                <a:latin typeface="+mn-ea"/>
                <a:ea typeface="+mn-ea"/>
              </a:rPr>
              <a:t>定义：任何一个合数都可以分解为几个素数的积。</a:t>
            </a:r>
            <a:endParaRPr lang="en-US" altLang="zh-CN" sz="2000" dirty="0" smtClean="0">
              <a:latin typeface="+mn-ea"/>
              <a:ea typeface="+mn-ea"/>
            </a:endParaRPr>
          </a:p>
          <a:p>
            <a:pPr lvl="1" eaLnBrk="1" hangingPunct="1">
              <a:buFontTx/>
              <a:buNone/>
              <a:defRPr/>
            </a:pPr>
            <a:endParaRPr lang="en-US" altLang="zh-CN" sz="2000" dirty="0" smtClean="0">
              <a:latin typeface="+mn-ea"/>
              <a:ea typeface="+mn-ea"/>
            </a:endParaRPr>
          </a:p>
          <a:p>
            <a:pPr lvl="1" eaLnBrk="1" hangingPunct="1">
              <a:buFontTx/>
              <a:buNone/>
              <a:defRPr/>
            </a:pPr>
            <a:r>
              <a:rPr lang="zh-CN" altLang="en-US" sz="2000" dirty="0" smtClean="0">
                <a:latin typeface="+mn-ea"/>
                <a:ea typeface="+mn-ea"/>
              </a:rPr>
              <a:t>例：</a:t>
            </a:r>
            <a:r>
              <a:rPr lang="en-US" altLang="zh-CN" sz="2000" dirty="0" smtClean="0">
                <a:latin typeface="+mn-ea"/>
                <a:ea typeface="+mn-ea"/>
              </a:rPr>
              <a:t>100</a:t>
            </a:r>
            <a:r>
              <a:rPr lang="zh-CN" altLang="en-US" sz="2000" dirty="0" smtClean="0">
                <a:latin typeface="+mn-ea"/>
                <a:ea typeface="+mn-ea"/>
              </a:rPr>
              <a:t>以内的素数有</a:t>
            </a:r>
            <a:r>
              <a:rPr lang="en-US" altLang="zh-CN" sz="2000" dirty="0" smtClean="0">
                <a:latin typeface="+mn-ea"/>
                <a:ea typeface="+mn-ea"/>
              </a:rPr>
              <a:t>2</a:t>
            </a:r>
            <a:r>
              <a:rPr lang="zh-CN" altLang="en-US" sz="2000" dirty="0" smtClean="0">
                <a:latin typeface="+mn-ea"/>
                <a:ea typeface="+mn-ea"/>
              </a:rPr>
              <a:t>，</a:t>
            </a:r>
            <a:r>
              <a:rPr lang="en-US" altLang="zh-CN" sz="2000" dirty="0" smtClean="0">
                <a:latin typeface="+mn-ea"/>
                <a:ea typeface="+mn-ea"/>
              </a:rPr>
              <a:t>3</a:t>
            </a:r>
            <a:r>
              <a:rPr lang="zh-CN" altLang="en-US" sz="2000" dirty="0" smtClean="0">
                <a:latin typeface="+mn-ea"/>
                <a:ea typeface="+mn-ea"/>
              </a:rPr>
              <a:t>，</a:t>
            </a:r>
            <a:r>
              <a:rPr lang="en-US" altLang="zh-CN" sz="2000" dirty="0" smtClean="0">
                <a:latin typeface="+mn-ea"/>
                <a:ea typeface="+mn-ea"/>
              </a:rPr>
              <a:t>5</a:t>
            </a:r>
            <a:r>
              <a:rPr lang="zh-CN" altLang="en-US" sz="2000" dirty="0" smtClean="0">
                <a:latin typeface="+mn-ea"/>
                <a:ea typeface="+mn-ea"/>
              </a:rPr>
              <a:t>，</a:t>
            </a:r>
            <a:r>
              <a:rPr lang="en-US" altLang="zh-CN" sz="2000" dirty="0" smtClean="0">
                <a:latin typeface="+mn-ea"/>
                <a:ea typeface="+mn-ea"/>
              </a:rPr>
              <a:t>7</a:t>
            </a:r>
            <a:r>
              <a:rPr lang="zh-CN" altLang="en-US" sz="2000" dirty="0" smtClean="0">
                <a:latin typeface="+mn-ea"/>
                <a:ea typeface="+mn-ea"/>
              </a:rPr>
              <a:t>，</a:t>
            </a:r>
            <a:r>
              <a:rPr lang="en-US" altLang="zh-CN" sz="2000" dirty="0" smtClean="0">
                <a:latin typeface="+mn-ea"/>
                <a:ea typeface="+mn-ea"/>
              </a:rPr>
              <a:t>11</a:t>
            </a:r>
            <a:r>
              <a:rPr lang="zh-CN" altLang="en-US" sz="2000" dirty="0" smtClean="0">
                <a:latin typeface="+mn-ea"/>
                <a:ea typeface="+mn-ea"/>
              </a:rPr>
              <a:t>，</a:t>
            </a:r>
            <a:r>
              <a:rPr lang="en-US" altLang="zh-CN" sz="2000" dirty="0" smtClean="0">
                <a:latin typeface="+mn-ea"/>
                <a:ea typeface="+mn-ea"/>
              </a:rPr>
              <a:t>13</a:t>
            </a:r>
            <a:r>
              <a:rPr lang="zh-CN" altLang="en-US" sz="2000" dirty="0" smtClean="0">
                <a:latin typeface="+mn-ea"/>
                <a:ea typeface="+mn-ea"/>
              </a:rPr>
              <a:t>，</a:t>
            </a:r>
            <a:r>
              <a:rPr lang="en-US" altLang="zh-CN" sz="2000" dirty="0" smtClean="0">
                <a:latin typeface="+mn-ea"/>
                <a:ea typeface="+mn-ea"/>
              </a:rPr>
              <a:t>17</a:t>
            </a:r>
            <a:r>
              <a:rPr lang="zh-CN" altLang="en-US" sz="2000" dirty="0" smtClean="0">
                <a:latin typeface="+mn-ea"/>
                <a:ea typeface="+mn-ea"/>
              </a:rPr>
              <a:t>，</a:t>
            </a:r>
            <a:r>
              <a:rPr lang="en-US" altLang="zh-CN" sz="2000" dirty="0" smtClean="0">
                <a:latin typeface="+mn-ea"/>
                <a:ea typeface="+mn-ea"/>
              </a:rPr>
              <a:t>19</a:t>
            </a:r>
            <a:r>
              <a:rPr lang="zh-CN" altLang="en-US" sz="2000" dirty="0" smtClean="0">
                <a:latin typeface="+mn-ea"/>
                <a:ea typeface="+mn-ea"/>
              </a:rPr>
              <a:t>，</a:t>
            </a:r>
            <a:r>
              <a:rPr lang="en-US" altLang="zh-CN" sz="2000" dirty="0" smtClean="0">
                <a:latin typeface="+mn-ea"/>
                <a:ea typeface="+mn-ea"/>
              </a:rPr>
              <a:t>23</a:t>
            </a:r>
            <a:r>
              <a:rPr lang="zh-CN" altLang="en-US" sz="2000" dirty="0" smtClean="0">
                <a:latin typeface="+mn-ea"/>
                <a:ea typeface="+mn-ea"/>
              </a:rPr>
              <a:t>，</a:t>
            </a:r>
            <a:r>
              <a:rPr lang="en-US" altLang="zh-CN" sz="2000" dirty="0" smtClean="0">
                <a:latin typeface="+mn-ea"/>
                <a:ea typeface="+mn-ea"/>
              </a:rPr>
              <a:t>29</a:t>
            </a:r>
            <a:r>
              <a:rPr lang="zh-CN" altLang="en-US" sz="2000" dirty="0" smtClean="0">
                <a:latin typeface="+mn-ea"/>
                <a:ea typeface="+mn-ea"/>
              </a:rPr>
              <a:t>，</a:t>
            </a:r>
            <a:r>
              <a:rPr lang="en-US" altLang="zh-CN" sz="2000" dirty="0" smtClean="0">
                <a:latin typeface="+mn-ea"/>
                <a:ea typeface="+mn-ea"/>
              </a:rPr>
              <a:t>31</a:t>
            </a:r>
            <a:r>
              <a:rPr lang="zh-CN" altLang="en-US" sz="2000" dirty="0" smtClean="0">
                <a:latin typeface="+mn-ea"/>
                <a:ea typeface="+mn-ea"/>
              </a:rPr>
              <a:t>，</a:t>
            </a:r>
            <a:r>
              <a:rPr lang="en-US" altLang="zh-CN" sz="2000" dirty="0" smtClean="0">
                <a:latin typeface="+mn-ea"/>
                <a:ea typeface="+mn-ea"/>
              </a:rPr>
              <a:t>37</a:t>
            </a:r>
            <a:r>
              <a:rPr lang="zh-CN" altLang="en-US" sz="2000" dirty="0" smtClean="0">
                <a:latin typeface="+mn-ea"/>
                <a:ea typeface="+mn-ea"/>
              </a:rPr>
              <a:t>，</a:t>
            </a:r>
            <a:r>
              <a:rPr lang="en-US" altLang="zh-CN" sz="2000" dirty="0" smtClean="0">
                <a:latin typeface="+mn-ea"/>
                <a:ea typeface="+mn-ea"/>
              </a:rPr>
              <a:t>41</a:t>
            </a:r>
            <a:r>
              <a:rPr lang="zh-CN" altLang="en-US" sz="2000" dirty="0" smtClean="0">
                <a:latin typeface="+mn-ea"/>
                <a:ea typeface="+mn-ea"/>
              </a:rPr>
              <a:t>，</a:t>
            </a:r>
            <a:r>
              <a:rPr lang="en-US" altLang="zh-CN" sz="2000" dirty="0" smtClean="0">
                <a:latin typeface="+mn-ea"/>
                <a:ea typeface="+mn-ea"/>
              </a:rPr>
              <a:t>43</a:t>
            </a:r>
            <a:r>
              <a:rPr lang="zh-CN" altLang="en-US" sz="2000" dirty="0" smtClean="0">
                <a:latin typeface="+mn-ea"/>
                <a:ea typeface="+mn-ea"/>
              </a:rPr>
              <a:t>，</a:t>
            </a:r>
            <a:r>
              <a:rPr lang="en-US" altLang="zh-CN" sz="2000" dirty="0" smtClean="0">
                <a:latin typeface="+mn-ea"/>
                <a:ea typeface="+mn-ea"/>
              </a:rPr>
              <a:t>47</a:t>
            </a:r>
            <a:r>
              <a:rPr lang="zh-CN" altLang="en-US" sz="2000" dirty="0" smtClean="0">
                <a:latin typeface="+mn-ea"/>
                <a:ea typeface="+mn-ea"/>
              </a:rPr>
              <a:t>，</a:t>
            </a:r>
            <a:r>
              <a:rPr lang="en-US" altLang="zh-CN" sz="2000" dirty="0" smtClean="0">
                <a:latin typeface="+mn-ea"/>
                <a:ea typeface="+mn-ea"/>
              </a:rPr>
              <a:t>53</a:t>
            </a:r>
            <a:r>
              <a:rPr lang="zh-CN" altLang="en-US" sz="2000" dirty="0" smtClean="0">
                <a:latin typeface="+mn-ea"/>
                <a:ea typeface="+mn-ea"/>
              </a:rPr>
              <a:t>，</a:t>
            </a:r>
            <a:r>
              <a:rPr lang="en-US" altLang="zh-CN" sz="2000" dirty="0" smtClean="0">
                <a:latin typeface="+mn-ea"/>
                <a:ea typeface="+mn-ea"/>
              </a:rPr>
              <a:t>59</a:t>
            </a:r>
            <a:r>
              <a:rPr lang="zh-CN" altLang="en-US" sz="2000" dirty="0" smtClean="0">
                <a:latin typeface="+mn-ea"/>
                <a:ea typeface="+mn-ea"/>
              </a:rPr>
              <a:t>，</a:t>
            </a:r>
            <a:r>
              <a:rPr lang="en-US" altLang="zh-CN" sz="2000" dirty="0" smtClean="0">
                <a:latin typeface="+mn-ea"/>
                <a:ea typeface="+mn-ea"/>
              </a:rPr>
              <a:t>61</a:t>
            </a:r>
            <a:r>
              <a:rPr lang="zh-CN" altLang="en-US" sz="2000" dirty="0" smtClean="0">
                <a:latin typeface="+mn-ea"/>
                <a:ea typeface="+mn-ea"/>
              </a:rPr>
              <a:t>，</a:t>
            </a:r>
            <a:r>
              <a:rPr lang="en-US" altLang="zh-CN" sz="2000" dirty="0" smtClean="0">
                <a:latin typeface="+mn-ea"/>
                <a:ea typeface="+mn-ea"/>
              </a:rPr>
              <a:t>67</a:t>
            </a:r>
            <a:r>
              <a:rPr lang="zh-CN" altLang="en-US" sz="2000" dirty="0" smtClean="0">
                <a:latin typeface="+mn-ea"/>
                <a:ea typeface="+mn-ea"/>
              </a:rPr>
              <a:t>，</a:t>
            </a:r>
            <a:r>
              <a:rPr lang="en-US" altLang="zh-CN" sz="2000" dirty="0" smtClean="0">
                <a:latin typeface="+mn-ea"/>
                <a:ea typeface="+mn-ea"/>
              </a:rPr>
              <a:t>71</a:t>
            </a:r>
            <a:r>
              <a:rPr lang="zh-CN" altLang="en-US" sz="2000" dirty="0" smtClean="0">
                <a:latin typeface="+mn-ea"/>
                <a:ea typeface="+mn-ea"/>
              </a:rPr>
              <a:t>，</a:t>
            </a:r>
            <a:r>
              <a:rPr lang="en-US" altLang="zh-CN" sz="2000" dirty="0" smtClean="0">
                <a:latin typeface="+mn-ea"/>
                <a:ea typeface="+mn-ea"/>
              </a:rPr>
              <a:t>73</a:t>
            </a:r>
            <a:r>
              <a:rPr lang="zh-CN" altLang="en-US" sz="2000" dirty="0" smtClean="0">
                <a:latin typeface="+mn-ea"/>
                <a:ea typeface="+mn-ea"/>
              </a:rPr>
              <a:t>，</a:t>
            </a:r>
            <a:r>
              <a:rPr lang="en-US" altLang="zh-CN" sz="2000" dirty="0" smtClean="0">
                <a:latin typeface="+mn-ea"/>
                <a:ea typeface="+mn-ea"/>
              </a:rPr>
              <a:t>79</a:t>
            </a:r>
            <a:r>
              <a:rPr lang="zh-CN" altLang="en-US" sz="2000" dirty="0" smtClean="0">
                <a:latin typeface="+mn-ea"/>
                <a:ea typeface="+mn-ea"/>
              </a:rPr>
              <a:t>，</a:t>
            </a:r>
            <a:r>
              <a:rPr lang="en-US" altLang="zh-CN" sz="2000" dirty="0" smtClean="0">
                <a:latin typeface="+mn-ea"/>
                <a:ea typeface="+mn-ea"/>
              </a:rPr>
              <a:t>83</a:t>
            </a:r>
            <a:r>
              <a:rPr lang="zh-CN" altLang="en-US" sz="2000" dirty="0" smtClean="0">
                <a:latin typeface="+mn-ea"/>
                <a:ea typeface="+mn-ea"/>
              </a:rPr>
              <a:t>，</a:t>
            </a:r>
            <a:r>
              <a:rPr lang="en-US" altLang="zh-CN" sz="2000" dirty="0" smtClean="0">
                <a:latin typeface="+mn-ea"/>
                <a:ea typeface="+mn-ea"/>
              </a:rPr>
              <a:t>89</a:t>
            </a:r>
            <a:r>
              <a:rPr lang="zh-CN" altLang="en-US" sz="2000" dirty="0" smtClean="0">
                <a:latin typeface="+mn-ea"/>
                <a:ea typeface="+mn-ea"/>
              </a:rPr>
              <a:t>，</a:t>
            </a:r>
            <a:r>
              <a:rPr lang="en-US" altLang="zh-CN" sz="2000" dirty="0" smtClean="0">
                <a:latin typeface="+mn-ea"/>
                <a:ea typeface="+mn-ea"/>
              </a:rPr>
              <a:t>97</a:t>
            </a:r>
            <a:r>
              <a:rPr lang="zh-CN" altLang="en-US" sz="2000" dirty="0" smtClean="0">
                <a:latin typeface="+mn-ea"/>
                <a:ea typeface="+mn-ea"/>
              </a:rPr>
              <a:t>，在</a:t>
            </a:r>
            <a:r>
              <a:rPr lang="en-US" altLang="zh-CN" sz="2000" dirty="0" smtClean="0">
                <a:latin typeface="+mn-ea"/>
                <a:ea typeface="+mn-ea"/>
              </a:rPr>
              <a:t>100</a:t>
            </a:r>
            <a:r>
              <a:rPr lang="zh-CN" altLang="en-US" sz="2000" dirty="0" smtClean="0">
                <a:latin typeface="+mn-ea"/>
                <a:ea typeface="+mn-ea"/>
              </a:rPr>
              <a:t>内共有</a:t>
            </a:r>
            <a:r>
              <a:rPr lang="en-US" altLang="zh-CN" sz="2000" dirty="0" smtClean="0">
                <a:latin typeface="+mn-ea"/>
                <a:ea typeface="+mn-ea"/>
              </a:rPr>
              <a:t>25</a:t>
            </a:r>
            <a:r>
              <a:rPr lang="zh-CN" altLang="en-US" sz="2000" dirty="0" smtClean="0">
                <a:latin typeface="+mn-ea"/>
                <a:ea typeface="+mn-ea"/>
              </a:rPr>
              <a:t>个素数。 </a:t>
            </a:r>
            <a:endParaRPr lang="en-US" altLang="zh-CN" sz="2000" dirty="0" smtClean="0">
              <a:latin typeface="+mn-ea"/>
              <a:ea typeface="+mn-ea"/>
            </a:endParaRPr>
          </a:p>
          <a:p>
            <a:pPr lvl="1" eaLnBrk="1" hangingPunct="1">
              <a:buFontTx/>
              <a:buNone/>
              <a:defRPr/>
            </a:pPr>
            <a:endParaRPr lang="en-US" altLang="zh-CN" sz="500" dirty="0" smtClean="0"/>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53251" name="Rectangle 2"/>
          <p:cNvSpPr>
            <a:spLocks noGrp="1" noChangeArrowheads="1"/>
          </p:cNvSpPr>
          <p:nvPr>
            <p:ph type="title"/>
          </p:nvPr>
        </p:nvSpPr>
        <p:spPr/>
        <p:txBody>
          <a:bodyPr/>
          <a:lstStyle/>
          <a:p>
            <a:pPr eaLnBrk="1" hangingPunct="1"/>
            <a:r>
              <a:rPr lang="en-US" altLang="zh-CN" dirty="0">
                <a:latin typeface="+mn-ea"/>
              </a:rPr>
              <a:t>1.3.2 </a:t>
            </a:r>
            <a:r>
              <a:rPr lang="zh-CN" altLang="en-US" dirty="0">
                <a:latin typeface="+mn-ea"/>
              </a:rPr>
              <a:t>证明方法</a:t>
            </a:r>
            <a:r>
              <a:rPr lang="en-US" altLang="zh-CN" dirty="0">
                <a:latin typeface="+mn-ea"/>
              </a:rPr>
              <a:t>——</a:t>
            </a:r>
            <a:r>
              <a:rPr lang="zh-CN" altLang="en-US" dirty="0">
                <a:latin typeface="+mn-ea"/>
              </a:rPr>
              <a:t>间接证明</a:t>
            </a:r>
            <a:endParaRPr lang="en-US" altLang="zh-CN" dirty="0" smtClean="0"/>
          </a:p>
        </p:txBody>
      </p:sp>
      <p:sp>
        <p:nvSpPr>
          <p:cNvPr id="226307" name="Rectangle 3"/>
          <p:cNvSpPr>
            <a:spLocks noGrp="1" noChangeArrowheads="1"/>
          </p:cNvSpPr>
          <p:nvPr>
            <p:ph type="body" idx="1"/>
          </p:nvPr>
        </p:nvSpPr>
        <p:spPr>
          <a:xfrm>
            <a:off x="879475" y="1196975"/>
            <a:ext cx="8229600" cy="5033962"/>
          </a:xfrm>
        </p:spPr>
        <p:txBody>
          <a:bodyPr/>
          <a:lstStyle/>
          <a:p>
            <a:pPr lvl="0" eaLnBrk="1" hangingPunct="1"/>
            <a:r>
              <a:rPr lang="zh-CN" altLang="en-US" sz="2200" dirty="0">
                <a:solidFill>
                  <a:srgbClr val="333399"/>
                </a:solidFill>
              </a:rPr>
              <a:t>例子</a:t>
            </a:r>
            <a:endParaRPr lang="en-US" altLang="zh-CN" sz="2200" dirty="0">
              <a:solidFill>
                <a:srgbClr val="333399"/>
              </a:solidFill>
            </a:endParaRPr>
          </a:p>
          <a:p>
            <a:pPr lvl="1" eaLnBrk="1" hangingPunct="1">
              <a:buFontTx/>
              <a:buNone/>
              <a:defRPr/>
            </a:pPr>
            <a:endParaRPr lang="en-US" altLang="zh-CN" sz="500" dirty="0" smtClean="0"/>
          </a:p>
          <a:p>
            <a:pPr lvl="1" eaLnBrk="1" hangingPunct="1">
              <a:buFontTx/>
              <a:buNone/>
              <a:defRPr/>
            </a:pPr>
            <a:r>
              <a:rPr lang="zh-CN" altLang="en-US" sz="2000" dirty="0" smtClean="0">
                <a:latin typeface="+mn-lt"/>
                <a:ea typeface="+mn-ea"/>
              </a:rPr>
              <a:t>证明（反证法）</a:t>
            </a:r>
            <a:r>
              <a:rPr lang="zh-CN" altLang="en-US" sz="2000" dirty="0" smtClean="0">
                <a:latin typeface="+mn-lt"/>
                <a:ea typeface="+mn-ea"/>
                <a:sym typeface="Wingdings" panose="05000000000000000000" pitchFamily="2" charset="2"/>
              </a:rPr>
              <a:t>：（书本）</a:t>
            </a:r>
            <a:endParaRPr lang="en-US" altLang="zh-CN" sz="2000" dirty="0" smtClean="0">
              <a:latin typeface="+mn-lt"/>
              <a:ea typeface="+mn-ea"/>
            </a:endParaRPr>
          </a:p>
          <a:p>
            <a:pPr lvl="1" eaLnBrk="1" hangingPunct="1">
              <a:defRPr/>
            </a:pPr>
            <a:r>
              <a:rPr lang="zh-CN" altLang="en-US" sz="2000" dirty="0" smtClean="0">
                <a:latin typeface="+mn-lt"/>
                <a:ea typeface="+mn-ea"/>
              </a:rPr>
              <a:t>假设相反，仅存在</a:t>
            </a:r>
            <a:r>
              <a:rPr lang="en-US" altLang="zh-CN" sz="2000" dirty="0" smtClean="0">
                <a:latin typeface="+mn-lt"/>
                <a:ea typeface="+mn-ea"/>
              </a:rPr>
              <a:t>K</a:t>
            </a:r>
            <a:r>
              <a:rPr lang="zh-CN" altLang="en-US" sz="2000" dirty="0" smtClean="0">
                <a:latin typeface="+mn-lt"/>
                <a:ea typeface="+mn-ea"/>
              </a:rPr>
              <a:t>个素数</a:t>
            </a:r>
            <a:r>
              <a:rPr lang="en-US" altLang="zh-CN" sz="2000" b="1" dirty="0" smtClean="0">
                <a:latin typeface="+mn-lt"/>
                <a:ea typeface="+mn-ea"/>
              </a:rPr>
              <a:t>p</a:t>
            </a:r>
            <a:r>
              <a:rPr lang="en-US" altLang="zh-CN" sz="2000" b="1" baseline="-25000" dirty="0" smtClean="0">
                <a:latin typeface="+mn-lt"/>
                <a:ea typeface="+mn-ea"/>
              </a:rPr>
              <a:t>1</a:t>
            </a:r>
            <a:r>
              <a:rPr lang="en-US" altLang="zh-CN" sz="2000" b="1" dirty="0" smtClean="0">
                <a:latin typeface="+mn-lt"/>
                <a:ea typeface="+mn-ea"/>
              </a:rPr>
              <a:t>, p</a:t>
            </a:r>
            <a:r>
              <a:rPr lang="en-US" altLang="zh-CN" sz="2000" b="1" baseline="-25000" dirty="0" smtClean="0">
                <a:latin typeface="+mn-lt"/>
                <a:ea typeface="+mn-ea"/>
              </a:rPr>
              <a:t>2</a:t>
            </a:r>
            <a:r>
              <a:rPr lang="en-US" altLang="zh-CN" sz="2000" b="1" dirty="0" smtClean="0">
                <a:latin typeface="+mn-lt"/>
                <a:ea typeface="+mn-ea"/>
              </a:rPr>
              <a:t>,…, </a:t>
            </a:r>
            <a:r>
              <a:rPr lang="en-US" altLang="zh-CN" sz="2000" b="1" dirty="0" err="1" smtClean="0">
                <a:latin typeface="+mn-lt"/>
                <a:ea typeface="+mn-ea"/>
              </a:rPr>
              <a:t>p</a:t>
            </a:r>
            <a:r>
              <a:rPr lang="en-US" altLang="zh-CN" sz="2000" b="1" baseline="-25000" dirty="0" err="1" smtClean="0">
                <a:latin typeface="+mn-lt"/>
                <a:ea typeface="+mn-ea"/>
              </a:rPr>
              <a:t>k</a:t>
            </a:r>
            <a:r>
              <a:rPr lang="en-US" altLang="zh-CN" sz="2000" dirty="0" smtClean="0">
                <a:latin typeface="+mn-lt"/>
                <a:ea typeface="+mn-ea"/>
              </a:rPr>
              <a:t>, </a:t>
            </a:r>
            <a:r>
              <a:rPr lang="zh-CN" altLang="en-US" sz="2000" dirty="0" smtClean="0">
                <a:latin typeface="+mn-lt"/>
                <a:ea typeface="+mn-ea"/>
              </a:rPr>
              <a:t>这里</a:t>
            </a:r>
            <a:r>
              <a:rPr lang="en-US" altLang="zh-CN" sz="2000" b="1" dirty="0" smtClean="0">
                <a:latin typeface="+mn-lt"/>
                <a:ea typeface="+mn-ea"/>
              </a:rPr>
              <a:t>p</a:t>
            </a:r>
            <a:r>
              <a:rPr lang="en-US" altLang="zh-CN" sz="2000" b="1" baseline="-25000" dirty="0" smtClean="0">
                <a:latin typeface="+mn-lt"/>
                <a:ea typeface="+mn-ea"/>
              </a:rPr>
              <a:t>1</a:t>
            </a:r>
            <a:r>
              <a:rPr lang="en-US" altLang="zh-CN" sz="2000" b="1" dirty="0" smtClean="0">
                <a:latin typeface="+mn-lt"/>
                <a:ea typeface="+mn-ea"/>
              </a:rPr>
              <a:t>=2, p</a:t>
            </a:r>
            <a:r>
              <a:rPr lang="en-US" altLang="zh-CN" sz="2000" b="1" baseline="-25000" dirty="0" smtClean="0">
                <a:latin typeface="+mn-lt"/>
                <a:ea typeface="+mn-ea"/>
              </a:rPr>
              <a:t>2</a:t>
            </a:r>
            <a:r>
              <a:rPr lang="en-US" altLang="zh-CN" sz="2000" b="1" dirty="0" smtClean="0">
                <a:latin typeface="+mn-lt"/>
                <a:ea typeface="+mn-ea"/>
              </a:rPr>
              <a:t>=3, p</a:t>
            </a:r>
            <a:r>
              <a:rPr lang="en-US" altLang="zh-CN" sz="2000" b="1" baseline="-25000" dirty="0" smtClean="0">
                <a:latin typeface="+mn-lt"/>
                <a:ea typeface="+mn-ea"/>
              </a:rPr>
              <a:t>3</a:t>
            </a:r>
            <a:r>
              <a:rPr lang="en-US" altLang="zh-CN" sz="2000" b="1" dirty="0" smtClean="0">
                <a:latin typeface="+mn-lt"/>
                <a:ea typeface="+mn-ea"/>
              </a:rPr>
              <a:t>=5</a:t>
            </a:r>
            <a:r>
              <a:rPr lang="en-US" altLang="zh-CN" sz="2000" dirty="0" smtClean="0">
                <a:latin typeface="+mn-lt"/>
                <a:ea typeface="+mn-ea"/>
              </a:rPr>
              <a:t>, </a:t>
            </a:r>
            <a:r>
              <a:rPr lang="zh-CN" altLang="en-US" sz="2000" dirty="0" smtClean="0">
                <a:latin typeface="+mn-lt"/>
                <a:ea typeface="+mn-ea"/>
              </a:rPr>
              <a:t>等等。所有其他大于</a:t>
            </a:r>
            <a:r>
              <a:rPr lang="en-US" altLang="zh-CN" sz="2000" dirty="0" smtClean="0">
                <a:latin typeface="+mn-lt"/>
                <a:ea typeface="+mn-ea"/>
              </a:rPr>
              <a:t>1</a:t>
            </a:r>
            <a:r>
              <a:rPr lang="zh-CN" altLang="en-US" sz="2000" dirty="0" smtClean="0">
                <a:latin typeface="+mn-lt"/>
                <a:ea typeface="+mn-ea"/>
              </a:rPr>
              <a:t>的整数都是合数</a:t>
            </a:r>
            <a:r>
              <a:rPr lang="en-US" altLang="zh-CN" sz="2000" dirty="0" smtClean="0">
                <a:latin typeface="+mn-lt"/>
                <a:ea typeface="+mn-ea"/>
              </a:rPr>
              <a:t> </a:t>
            </a:r>
            <a:r>
              <a:rPr lang="zh-CN" altLang="en-US" sz="2000" dirty="0" smtClean="0">
                <a:latin typeface="+mn-lt"/>
                <a:ea typeface="+mn-ea"/>
              </a:rPr>
              <a:t>。</a:t>
            </a:r>
            <a:endParaRPr lang="en-US" altLang="zh-CN" sz="2000" dirty="0" smtClean="0">
              <a:latin typeface="+mn-lt"/>
              <a:ea typeface="+mn-ea"/>
            </a:endParaRPr>
          </a:p>
          <a:p>
            <a:pPr lvl="1" eaLnBrk="1" hangingPunct="1">
              <a:defRPr/>
            </a:pPr>
            <a:r>
              <a:rPr lang="zh-CN" altLang="en-US" sz="2000" dirty="0" smtClean="0">
                <a:latin typeface="+mn-lt"/>
                <a:ea typeface="+mn-ea"/>
              </a:rPr>
              <a:t>令</a:t>
            </a:r>
            <a:r>
              <a:rPr lang="en-US" altLang="zh-CN" sz="2000" b="1" dirty="0" smtClean="0">
                <a:latin typeface="+mn-lt"/>
                <a:ea typeface="+mn-ea"/>
              </a:rPr>
              <a:t>n=p</a:t>
            </a:r>
            <a:r>
              <a:rPr lang="en-US" altLang="zh-CN" sz="2000" b="1" baseline="-25000" dirty="0" smtClean="0">
                <a:latin typeface="+mn-lt"/>
                <a:ea typeface="+mn-ea"/>
              </a:rPr>
              <a:t>1</a:t>
            </a:r>
            <a:r>
              <a:rPr lang="en-US" altLang="zh-CN" sz="2000" b="1" dirty="0" smtClean="0">
                <a:latin typeface="+mn-lt"/>
                <a:ea typeface="+mn-ea"/>
              </a:rPr>
              <a:t>p</a:t>
            </a:r>
            <a:r>
              <a:rPr lang="en-US" altLang="zh-CN" sz="2000" b="1" baseline="-25000" dirty="0" smtClean="0">
                <a:latin typeface="+mn-lt"/>
                <a:ea typeface="+mn-ea"/>
              </a:rPr>
              <a:t>2</a:t>
            </a:r>
            <a:r>
              <a:rPr lang="en-US" altLang="zh-CN" sz="2000" b="1" dirty="0" smtClean="0">
                <a:latin typeface="+mn-lt"/>
                <a:ea typeface="+mn-ea"/>
              </a:rPr>
              <a:t>…p</a:t>
            </a:r>
            <a:r>
              <a:rPr lang="en-US" altLang="zh-CN" sz="2000" b="1" baseline="-25000" dirty="0" smtClean="0">
                <a:latin typeface="+mn-lt"/>
                <a:ea typeface="+mn-ea"/>
              </a:rPr>
              <a:t>k</a:t>
            </a:r>
            <a:r>
              <a:rPr lang="en-US" altLang="zh-CN" sz="2000" b="1" dirty="0" smtClean="0">
                <a:latin typeface="+mn-lt"/>
                <a:ea typeface="+mn-ea"/>
              </a:rPr>
              <a:t>+1 </a:t>
            </a:r>
            <a:r>
              <a:rPr lang="zh-CN" altLang="en-US" sz="2000" b="1" dirty="0" smtClean="0">
                <a:latin typeface="+mn-lt"/>
                <a:ea typeface="+mn-ea"/>
              </a:rPr>
              <a:t>，</a:t>
            </a:r>
            <a:r>
              <a:rPr lang="zh-CN" altLang="en-US" sz="2000" dirty="0" smtClean="0">
                <a:latin typeface="+mn-lt"/>
                <a:ea typeface="+mn-ea"/>
              </a:rPr>
              <a:t>令</a:t>
            </a:r>
            <a:r>
              <a:rPr lang="en-US" altLang="zh-CN" sz="2000" dirty="0" smtClean="0">
                <a:latin typeface="+mn-lt"/>
                <a:ea typeface="+mn-ea"/>
              </a:rPr>
              <a:t>p </a:t>
            </a:r>
            <a:r>
              <a:rPr lang="zh-CN" altLang="en-US" sz="2000" dirty="0" smtClean="0">
                <a:latin typeface="+mn-lt"/>
                <a:ea typeface="+mn-ea"/>
              </a:rPr>
              <a:t>为一个素数的因子</a:t>
            </a:r>
            <a:r>
              <a:rPr lang="en-US" altLang="zh-CN" sz="2000" dirty="0" smtClean="0">
                <a:latin typeface="+mn-lt"/>
                <a:ea typeface="+mn-ea"/>
              </a:rPr>
              <a:t>(</a:t>
            </a:r>
            <a:r>
              <a:rPr lang="zh-CN" altLang="en-US" sz="2000" dirty="0" smtClean="0">
                <a:latin typeface="+mn-lt"/>
                <a:ea typeface="+mn-ea"/>
              </a:rPr>
              <a:t>注意由前面的假设，由于</a:t>
            </a:r>
            <a:r>
              <a:rPr lang="en-US" altLang="zh-CN" sz="2000" dirty="0" smtClean="0">
                <a:latin typeface="+mn-lt"/>
                <a:ea typeface="+mn-ea"/>
              </a:rPr>
              <a:t>n</a:t>
            </a:r>
            <a:r>
              <a:rPr lang="zh-CN" altLang="en-US" sz="2000" dirty="0" smtClean="0">
                <a:latin typeface="+mn-lt"/>
                <a:ea typeface="+mn-ea"/>
              </a:rPr>
              <a:t>大于</a:t>
            </a:r>
            <a:r>
              <a:rPr lang="en-US" altLang="zh-CN" sz="2000" b="1" dirty="0" err="1" smtClean="0">
                <a:solidFill>
                  <a:srgbClr val="660066"/>
                </a:solidFill>
                <a:latin typeface="+mn-lt"/>
                <a:ea typeface="+mn-ea"/>
              </a:rPr>
              <a:t>p</a:t>
            </a:r>
            <a:r>
              <a:rPr lang="en-US" altLang="zh-CN" sz="2000" b="1" baseline="-25000" dirty="0" err="1" smtClean="0">
                <a:solidFill>
                  <a:srgbClr val="660066"/>
                </a:solidFill>
                <a:latin typeface="+mn-lt"/>
                <a:ea typeface="+mn-ea"/>
              </a:rPr>
              <a:t>k</a:t>
            </a:r>
            <a:r>
              <a:rPr lang="zh-CN" altLang="en-US" sz="2000" b="1" dirty="0" smtClean="0">
                <a:latin typeface="+mn-lt"/>
                <a:ea typeface="+mn-ea"/>
              </a:rPr>
              <a:t>，</a:t>
            </a:r>
            <a:r>
              <a:rPr lang="zh-CN" altLang="en-US" sz="2000" dirty="0" smtClean="0">
                <a:latin typeface="+mn-lt"/>
                <a:ea typeface="+mn-ea"/>
              </a:rPr>
              <a:t>所以</a:t>
            </a:r>
            <a:r>
              <a:rPr lang="en-US" altLang="zh-CN" sz="2000" dirty="0" smtClean="0">
                <a:latin typeface="+mn-lt"/>
                <a:ea typeface="+mn-ea"/>
              </a:rPr>
              <a:t>n</a:t>
            </a:r>
            <a:r>
              <a:rPr lang="zh-CN" altLang="en-US" sz="2000" dirty="0" smtClean="0">
                <a:latin typeface="+mn-lt"/>
                <a:ea typeface="+mn-ea"/>
              </a:rPr>
              <a:t>不是素数</a:t>
            </a:r>
            <a:r>
              <a:rPr lang="en-US" altLang="zh-CN" sz="2000" dirty="0" smtClean="0">
                <a:latin typeface="+mn-lt"/>
                <a:ea typeface="+mn-ea"/>
              </a:rPr>
              <a:t>)</a:t>
            </a:r>
            <a:r>
              <a:rPr lang="zh-CN" altLang="en-US" sz="2000" dirty="0" smtClean="0">
                <a:latin typeface="+mn-lt"/>
                <a:ea typeface="+mn-ea"/>
              </a:rPr>
              <a:t>。</a:t>
            </a:r>
            <a:endParaRPr lang="en-US" altLang="zh-CN" sz="2000" dirty="0" smtClean="0">
              <a:latin typeface="+mn-lt"/>
              <a:ea typeface="+mn-ea"/>
            </a:endParaRPr>
          </a:p>
          <a:p>
            <a:pPr lvl="1" eaLnBrk="1" hangingPunct="1">
              <a:defRPr/>
            </a:pPr>
            <a:r>
              <a:rPr lang="zh-CN" altLang="en-US" sz="2000" dirty="0" smtClean="0">
                <a:latin typeface="+mn-lt"/>
                <a:ea typeface="+mn-ea"/>
              </a:rPr>
              <a:t>既然</a:t>
            </a:r>
            <a:r>
              <a:rPr lang="en-US" altLang="zh-CN" sz="2000" dirty="0" smtClean="0">
                <a:latin typeface="+mn-lt"/>
                <a:ea typeface="+mn-ea"/>
              </a:rPr>
              <a:t>n</a:t>
            </a:r>
            <a:r>
              <a:rPr lang="zh-CN" altLang="en-US" sz="2000" dirty="0" smtClean="0">
                <a:latin typeface="+mn-lt"/>
                <a:ea typeface="+mn-ea"/>
              </a:rPr>
              <a:t>不是素数，那么</a:t>
            </a:r>
            <a:r>
              <a:rPr lang="en-US" altLang="zh-CN" sz="2000" b="1" dirty="0" smtClean="0">
                <a:latin typeface="+mn-lt"/>
                <a:ea typeface="+mn-ea"/>
              </a:rPr>
              <a:t>p</a:t>
            </a:r>
            <a:r>
              <a:rPr lang="en-US" altLang="zh-CN" sz="2000" b="1" baseline="-25000" dirty="0" smtClean="0">
                <a:latin typeface="+mn-lt"/>
                <a:ea typeface="+mn-ea"/>
              </a:rPr>
              <a:t>1</a:t>
            </a:r>
            <a:r>
              <a:rPr lang="en-US" altLang="zh-CN" sz="2000" b="1" dirty="0" smtClean="0">
                <a:latin typeface="+mn-lt"/>
                <a:ea typeface="+mn-ea"/>
              </a:rPr>
              <a:t>, p</a:t>
            </a:r>
            <a:r>
              <a:rPr lang="en-US" altLang="zh-CN" sz="2000" b="1" baseline="-25000" dirty="0" smtClean="0">
                <a:latin typeface="+mn-lt"/>
                <a:ea typeface="+mn-ea"/>
              </a:rPr>
              <a:t>2</a:t>
            </a:r>
            <a:r>
              <a:rPr lang="en-US" altLang="zh-CN" sz="2000" b="1" dirty="0" smtClean="0">
                <a:latin typeface="+mn-lt"/>
                <a:ea typeface="+mn-ea"/>
              </a:rPr>
              <a:t>,…, </a:t>
            </a:r>
            <a:r>
              <a:rPr lang="en-US" altLang="zh-CN" sz="2000" b="1" dirty="0" err="1" smtClean="0">
                <a:latin typeface="+mn-lt"/>
                <a:ea typeface="+mn-ea"/>
              </a:rPr>
              <a:t>p</a:t>
            </a:r>
            <a:r>
              <a:rPr lang="en-US" altLang="zh-CN" sz="2000" b="1" baseline="-25000" dirty="0" err="1" smtClean="0">
                <a:latin typeface="+mn-lt"/>
                <a:ea typeface="+mn-ea"/>
              </a:rPr>
              <a:t>k</a:t>
            </a:r>
            <a:r>
              <a:rPr lang="en-US" altLang="zh-CN" sz="2000" b="1" dirty="0" smtClean="0">
                <a:latin typeface="+mn-lt"/>
                <a:ea typeface="+mn-ea"/>
              </a:rPr>
              <a:t> </a:t>
            </a:r>
            <a:r>
              <a:rPr lang="zh-CN" altLang="en-US" sz="2000" dirty="0" smtClean="0">
                <a:latin typeface="+mn-lt"/>
                <a:ea typeface="+mn-ea"/>
              </a:rPr>
              <a:t>中，必定有一个能够整除</a:t>
            </a:r>
            <a:r>
              <a:rPr lang="en-US" altLang="zh-CN" sz="2000" dirty="0" smtClean="0">
                <a:latin typeface="+mn-lt"/>
                <a:ea typeface="+mn-ea"/>
              </a:rPr>
              <a:t>n</a:t>
            </a:r>
            <a:r>
              <a:rPr lang="zh-CN" altLang="en-US" sz="2000" dirty="0" smtClean="0">
                <a:latin typeface="+mn-lt"/>
                <a:ea typeface="+mn-ea"/>
              </a:rPr>
              <a:t>，就是说，</a:t>
            </a:r>
            <a:r>
              <a:rPr lang="en-US" altLang="zh-CN" sz="2000" b="1" dirty="0" smtClean="0">
                <a:latin typeface="+mn-lt"/>
                <a:ea typeface="+mn-ea"/>
              </a:rPr>
              <a:t>p </a:t>
            </a:r>
            <a:r>
              <a:rPr lang="zh-CN" altLang="en-US" sz="2000" b="1" dirty="0" smtClean="0">
                <a:latin typeface="+mn-lt"/>
                <a:ea typeface="+mn-ea"/>
              </a:rPr>
              <a:t>是</a:t>
            </a:r>
            <a:r>
              <a:rPr lang="en-US" altLang="zh-CN" sz="2000" b="1" dirty="0" smtClean="0">
                <a:latin typeface="+mn-lt"/>
                <a:ea typeface="+mn-ea"/>
              </a:rPr>
              <a:t>p</a:t>
            </a:r>
            <a:r>
              <a:rPr lang="en-US" altLang="zh-CN" sz="2000" b="1" baseline="-25000" dirty="0" smtClean="0">
                <a:latin typeface="+mn-lt"/>
                <a:ea typeface="+mn-ea"/>
              </a:rPr>
              <a:t>1</a:t>
            </a:r>
            <a:r>
              <a:rPr lang="en-US" altLang="zh-CN" sz="2000" b="1" dirty="0" smtClean="0">
                <a:latin typeface="+mn-lt"/>
                <a:ea typeface="+mn-ea"/>
              </a:rPr>
              <a:t>, p</a:t>
            </a:r>
            <a:r>
              <a:rPr lang="en-US" altLang="zh-CN" sz="2000" b="1" baseline="-25000" dirty="0" smtClean="0">
                <a:latin typeface="+mn-lt"/>
                <a:ea typeface="+mn-ea"/>
              </a:rPr>
              <a:t>2</a:t>
            </a:r>
            <a:r>
              <a:rPr lang="en-US" altLang="zh-CN" sz="2000" b="1" dirty="0" smtClean="0">
                <a:latin typeface="+mn-lt"/>
                <a:ea typeface="+mn-ea"/>
              </a:rPr>
              <a:t>,…, </a:t>
            </a:r>
            <a:r>
              <a:rPr lang="en-US" altLang="zh-CN" sz="2000" b="1" dirty="0" err="1" smtClean="0">
                <a:latin typeface="+mn-lt"/>
                <a:ea typeface="+mn-ea"/>
              </a:rPr>
              <a:t>p</a:t>
            </a:r>
            <a:r>
              <a:rPr lang="en-US" altLang="zh-CN" sz="2000" b="1" baseline="-25000" dirty="0" err="1" smtClean="0">
                <a:latin typeface="+mn-lt"/>
                <a:ea typeface="+mn-ea"/>
              </a:rPr>
              <a:t>k</a:t>
            </a:r>
            <a:r>
              <a:rPr lang="en-US" altLang="zh-CN" sz="2000" b="1" dirty="0" smtClean="0">
                <a:latin typeface="+mn-lt"/>
                <a:ea typeface="+mn-ea"/>
              </a:rPr>
              <a:t>, </a:t>
            </a:r>
            <a:r>
              <a:rPr lang="zh-CN" altLang="en-US" sz="2000" dirty="0" smtClean="0">
                <a:latin typeface="+mn-lt"/>
                <a:ea typeface="+mn-ea"/>
              </a:rPr>
              <a:t>中的一个，因为</a:t>
            </a:r>
            <a:r>
              <a:rPr lang="en-US" altLang="zh-CN" sz="2000" dirty="0" smtClean="0">
                <a:latin typeface="+mn-lt"/>
                <a:ea typeface="+mn-ea"/>
              </a:rPr>
              <a:t>p</a:t>
            </a:r>
            <a:r>
              <a:rPr lang="zh-CN" altLang="en-US" sz="2000" dirty="0" smtClean="0">
                <a:latin typeface="+mn-lt"/>
                <a:ea typeface="+mn-ea"/>
              </a:rPr>
              <a:t>整除</a:t>
            </a:r>
            <a:r>
              <a:rPr lang="en-US" altLang="zh-CN" sz="2000" b="1" dirty="0" smtClean="0">
                <a:latin typeface="+mn-lt"/>
                <a:ea typeface="+mn-ea"/>
              </a:rPr>
              <a:t>p</a:t>
            </a:r>
            <a:r>
              <a:rPr lang="en-US" altLang="zh-CN" sz="2000" b="1" baseline="-25000" dirty="0" smtClean="0">
                <a:latin typeface="+mn-lt"/>
                <a:ea typeface="+mn-ea"/>
              </a:rPr>
              <a:t>1</a:t>
            </a:r>
            <a:r>
              <a:rPr lang="en-US" altLang="zh-CN" sz="2000" b="1" dirty="0" smtClean="0">
                <a:latin typeface="+mn-lt"/>
                <a:ea typeface="+mn-ea"/>
              </a:rPr>
              <a:t>p</a:t>
            </a:r>
            <a:r>
              <a:rPr lang="en-US" altLang="zh-CN" sz="2000" b="1" baseline="-25000" dirty="0" smtClean="0">
                <a:latin typeface="+mn-lt"/>
                <a:ea typeface="+mn-ea"/>
              </a:rPr>
              <a:t>2</a:t>
            </a:r>
            <a:r>
              <a:rPr lang="en-US" altLang="zh-CN" sz="2000" b="1" dirty="0" smtClean="0">
                <a:latin typeface="+mn-lt"/>
                <a:ea typeface="+mn-ea"/>
              </a:rPr>
              <a:t>…p</a:t>
            </a:r>
            <a:r>
              <a:rPr lang="en-US" altLang="zh-CN" sz="2000" b="1" baseline="-25000" dirty="0" smtClean="0">
                <a:latin typeface="+mn-lt"/>
                <a:ea typeface="+mn-ea"/>
              </a:rPr>
              <a:t>k</a:t>
            </a:r>
            <a:r>
              <a:rPr lang="en-US" altLang="zh-CN" sz="2000" b="1" dirty="0" smtClean="0">
                <a:latin typeface="+mn-lt"/>
                <a:ea typeface="+mn-ea"/>
              </a:rPr>
              <a:t>. </a:t>
            </a:r>
            <a:r>
              <a:rPr lang="zh-CN" altLang="en-US" sz="2000" dirty="0" smtClean="0">
                <a:latin typeface="+mn-lt"/>
                <a:ea typeface="+mn-ea"/>
              </a:rPr>
              <a:t>因此，</a:t>
            </a:r>
            <a:r>
              <a:rPr lang="en-US" altLang="zh-CN" sz="2000" dirty="0" smtClean="0">
                <a:latin typeface="+mn-lt"/>
                <a:ea typeface="+mn-ea"/>
              </a:rPr>
              <a:t>p</a:t>
            </a:r>
            <a:r>
              <a:rPr lang="zh-CN" altLang="en-US" sz="2000" dirty="0" smtClean="0">
                <a:latin typeface="+mn-lt"/>
                <a:ea typeface="+mn-ea"/>
              </a:rPr>
              <a:t>整除</a:t>
            </a:r>
            <a:r>
              <a:rPr lang="en-US" altLang="zh-CN" sz="2000" b="1" dirty="0" smtClean="0">
                <a:latin typeface="+mn-lt"/>
                <a:ea typeface="+mn-ea"/>
              </a:rPr>
              <a:t>n-p</a:t>
            </a:r>
            <a:r>
              <a:rPr lang="en-US" altLang="zh-CN" sz="2000" b="1" baseline="-25000" dirty="0" smtClean="0">
                <a:latin typeface="+mn-lt"/>
                <a:ea typeface="+mn-ea"/>
              </a:rPr>
              <a:t>1</a:t>
            </a:r>
            <a:r>
              <a:rPr lang="en-US" altLang="zh-CN" sz="2000" b="1" dirty="0" smtClean="0">
                <a:latin typeface="+mn-lt"/>
                <a:ea typeface="+mn-ea"/>
              </a:rPr>
              <a:t>p</a:t>
            </a:r>
            <a:r>
              <a:rPr lang="en-US" altLang="zh-CN" sz="2000" b="1" baseline="-25000" dirty="0" smtClean="0">
                <a:latin typeface="+mn-lt"/>
                <a:ea typeface="+mn-ea"/>
              </a:rPr>
              <a:t>2</a:t>
            </a:r>
            <a:r>
              <a:rPr lang="en-US" altLang="zh-CN" sz="2000" b="1" dirty="0" smtClean="0">
                <a:latin typeface="+mn-lt"/>
                <a:ea typeface="+mn-ea"/>
              </a:rPr>
              <a:t>…p</a:t>
            </a:r>
            <a:r>
              <a:rPr lang="en-US" altLang="zh-CN" sz="2000" b="1" baseline="-25000" dirty="0" smtClean="0">
                <a:latin typeface="+mn-lt"/>
                <a:ea typeface="+mn-ea"/>
              </a:rPr>
              <a:t>k</a:t>
            </a:r>
            <a:r>
              <a:rPr lang="en-US" altLang="zh-CN" sz="2000" b="1" dirty="0" smtClean="0">
                <a:latin typeface="+mn-lt"/>
                <a:ea typeface="+mn-ea"/>
              </a:rPr>
              <a:t>. </a:t>
            </a:r>
            <a:endParaRPr lang="en-US" altLang="zh-CN" sz="2000" b="1" dirty="0" smtClean="0">
              <a:latin typeface="+mn-lt"/>
              <a:ea typeface="+mn-ea"/>
            </a:endParaRPr>
          </a:p>
          <a:p>
            <a:pPr lvl="1" eaLnBrk="1" hangingPunct="1">
              <a:defRPr/>
            </a:pPr>
            <a:r>
              <a:rPr lang="zh-CN" altLang="en-US" sz="2000" dirty="0" smtClean="0">
                <a:latin typeface="+mn-lt"/>
                <a:ea typeface="+mn-ea"/>
              </a:rPr>
              <a:t>但是</a:t>
            </a:r>
            <a:r>
              <a:rPr lang="en-US" altLang="zh-CN" sz="2000" b="1" dirty="0" smtClean="0">
                <a:latin typeface="+mn-lt"/>
                <a:ea typeface="+mn-ea"/>
              </a:rPr>
              <a:t>n-p</a:t>
            </a:r>
            <a:r>
              <a:rPr lang="en-US" altLang="zh-CN" sz="2000" b="1" baseline="-25000" dirty="0" smtClean="0">
                <a:latin typeface="+mn-lt"/>
                <a:ea typeface="+mn-ea"/>
              </a:rPr>
              <a:t>1</a:t>
            </a:r>
            <a:r>
              <a:rPr lang="en-US" altLang="zh-CN" sz="2000" b="1" dirty="0" smtClean="0">
                <a:latin typeface="+mn-lt"/>
                <a:ea typeface="+mn-ea"/>
              </a:rPr>
              <a:t>p</a:t>
            </a:r>
            <a:r>
              <a:rPr lang="en-US" altLang="zh-CN" sz="2000" b="1" baseline="-25000" dirty="0" smtClean="0">
                <a:latin typeface="+mn-lt"/>
                <a:ea typeface="+mn-ea"/>
              </a:rPr>
              <a:t>2</a:t>
            </a:r>
            <a:r>
              <a:rPr lang="en-US" altLang="zh-CN" sz="2000" b="1" dirty="0" smtClean="0">
                <a:latin typeface="+mn-lt"/>
                <a:ea typeface="+mn-ea"/>
              </a:rPr>
              <a:t>…</a:t>
            </a:r>
            <a:r>
              <a:rPr lang="en-US" altLang="zh-CN" sz="2000" b="1" dirty="0" err="1" smtClean="0">
                <a:latin typeface="+mn-lt"/>
                <a:ea typeface="+mn-ea"/>
              </a:rPr>
              <a:t>p</a:t>
            </a:r>
            <a:r>
              <a:rPr lang="en-US" altLang="zh-CN" sz="2000" b="1" baseline="-25000" dirty="0" err="1" smtClean="0">
                <a:latin typeface="+mn-lt"/>
                <a:ea typeface="+mn-ea"/>
              </a:rPr>
              <a:t>k</a:t>
            </a:r>
            <a:r>
              <a:rPr lang="en-US" altLang="zh-CN" sz="2000" b="1" dirty="0" smtClean="0">
                <a:latin typeface="+mn-lt"/>
                <a:ea typeface="+mn-ea"/>
              </a:rPr>
              <a:t>=1, </a:t>
            </a:r>
            <a:r>
              <a:rPr lang="zh-CN" altLang="en-US" sz="2000" dirty="0" smtClean="0">
                <a:latin typeface="+mn-lt"/>
                <a:ea typeface="+mn-ea"/>
              </a:rPr>
              <a:t>由素数的定义可知</a:t>
            </a:r>
            <a:r>
              <a:rPr lang="zh-CN" altLang="en-US" sz="2000" b="1" dirty="0" smtClean="0">
                <a:latin typeface="+mn-lt"/>
                <a:ea typeface="+mn-ea"/>
              </a:rPr>
              <a:t>，</a:t>
            </a:r>
            <a:r>
              <a:rPr lang="zh-CN" altLang="en-US" sz="2000" dirty="0" smtClean="0">
                <a:latin typeface="+mn-lt"/>
                <a:ea typeface="+mn-ea"/>
              </a:rPr>
              <a:t>因为</a:t>
            </a:r>
            <a:r>
              <a:rPr lang="en-US" altLang="zh-CN" sz="2000" dirty="0" smtClean="0">
                <a:latin typeface="+mn-lt"/>
                <a:ea typeface="+mn-ea"/>
              </a:rPr>
              <a:t>p </a:t>
            </a:r>
            <a:r>
              <a:rPr lang="zh-CN" altLang="en-US" sz="2000" dirty="0" smtClean="0">
                <a:latin typeface="+mn-lt"/>
                <a:ea typeface="+mn-ea"/>
              </a:rPr>
              <a:t>大于</a:t>
            </a:r>
            <a:r>
              <a:rPr lang="en-US" altLang="zh-CN" sz="2000" dirty="0" smtClean="0">
                <a:latin typeface="+mn-lt"/>
                <a:ea typeface="+mn-ea"/>
              </a:rPr>
              <a:t>1 </a:t>
            </a:r>
            <a:r>
              <a:rPr lang="zh-CN" altLang="en-US" sz="2000" dirty="0" smtClean="0">
                <a:latin typeface="+mn-lt"/>
                <a:ea typeface="+mn-ea"/>
              </a:rPr>
              <a:t>所以</a:t>
            </a:r>
            <a:r>
              <a:rPr lang="en-US" altLang="zh-CN" sz="2000" dirty="0" smtClean="0">
                <a:latin typeface="+mn-lt"/>
                <a:ea typeface="+mn-ea"/>
              </a:rPr>
              <a:t>p</a:t>
            </a:r>
            <a:r>
              <a:rPr lang="zh-CN" altLang="en-US" sz="2000" dirty="0" smtClean="0">
                <a:latin typeface="+mn-lt"/>
                <a:ea typeface="+mn-ea"/>
              </a:rPr>
              <a:t>不能整除</a:t>
            </a:r>
            <a:r>
              <a:rPr lang="en-US" altLang="zh-CN" sz="2000" dirty="0" smtClean="0">
                <a:latin typeface="+mn-lt"/>
                <a:ea typeface="+mn-ea"/>
              </a:rPr>
              <a:t>1,</a:t>
            </a:r>
            <a:r>
              <a:rPr lang="zh-CN" altLang="en-US" sz="2000" dirty="0" smtClean="0">
                <a:latin typeface="+mn-lt"/>
                <a:ea typeface="+mn-ea"/>
              </a:rPr>
              <a:t>。</a:t>
            </a:r>
            <a:endParaRPr lang="en-US" altLang="zh-CN" sz="2000" dirty="0" smtClean="0">
              <a:latin typeface="+mn-lt"/>
              <a:ea typeface="+mn-ea"/>
            </a:endParaRPr>
          </a:p>
          <a:p>
            <a:pPr lvl="1" eaLnBrk="1" hangingPunct="1">
              <a:buFontTx/>
              <a:buNone/>
              <a:defRPr/>
            </a:pPr>
            <a:r>
              <a:rPr lang="zh-CN" altLang="en-US" sz="2000" dirty="0" smtClean="0">
                <a:latin typeface="+mn-lt"/>
                <a:ea typeface="+mn-ea"/>
              </a:rPr>
              <a:t>这是一个矛盾，于是得到，素数的个数是无限的。</a:t>
            </a:r>
            <a:endParaRPr lang="en-US" altLang="zh-CN" sz="2000" dirty="0" smtClean="0">
              <a:latin typeface="+mn-lt"/>
              <a:ea typeface="+mn-ea"/>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55299" name="Rectangle 2"/>
          <p:cNvSpPr>
            <a:spLocks noGrp="1" noChangeArrowheads="1"/>
          </p:cNvSpPr>
          <p:nvPr>
            <p:ph type="title"/>
          </p:nvPr>
        </p:nvSpPr>
        <p:spPr/>
        <p:txBody>
          <a:bodyPr/>
          <a:lstStyle/>
          <a:p>
            <a:pPr eaLnBrk="1" hangingPunct="1"/>
            <a:r>
              <a:rPr lang="en-US" altLang="zh-CN" dirty="0">
                <a:latin typeface="+mn-ea"/>
              </a:rPr>
              <a:t>1.3.2 </a:t>
            </a:r>
            <a:r>
              <a:rPr lang="zh-CN" altLang="en-US" dirty="0">
                <a:latin typeface="+mn-ea"/>
              </a:rPr>
              <a:t>证明方法</a:t>
            </a:r>
            <a:r>
              <a:rPr lang="en-US" altLang="zh-CN" dirty="0">
                <a:latin typeface="+mn-ea"/>
              </a:rPr>
              <a:t>——</a:t>
            </a:r>
            <a:r>
              <a:rPr lang="zh-CN" altLang="en-US" dirty="0">
                <a:latin typeface="+mn-ea"/>
              </a:rPr>
              <a:t>间接证明</a:t>
            </a:r>
            <a:endParaRPr lang="en-US" altLang="zh-CN" dirty="0" smtClean="0"/>
          </a:p>
        </p:txBody>
      </p:sp>
      <p:sp>
        <p:nvSpPr>
          <p:cNvPr id="104451" name="Rectangle 3"/>
          <p:cNvSpPr>
            <a:spLocks noGrp="1" noChangeArrowheads="1"/>
          </p:cNvSpPr>
          <p:nvPr>
            <p:ph type="body" idx="1"/>
          </p:nvPr>
        </p:nvSpPr>
        <p:spPr>
          <a:xfrm>
            <a:off x="1016866" y="1196975"/>
            <a:ext cx="7493289" cy="4789488"/>
          </a:xfrm>
        </p:spPr>
        <p:txBody>
          <a:bodyPr/>
          <a:lstStyle/>
          <a:p>
            <a:pPr eaLnBrk="1" hangingPunct="1">
              <a:defRPr/>
            </a:pPr>
            <a:r>
              <a:rPr lang="zh-CN" altLang="en-US" sz="2000" dirty="0" smtClean="0">
                <a:solidFill>
                  <a:srgbClr val="FF0000"/>
                </a:solidFill>
              </a:rPr>
              <a:t>反例证明法</a:t>
            </a:r>
            <a:r>
              <a:rPr lang="zh-CN" altLang="en-US" sz="2000" dirty="0" smtClean="0"/>
              <a:t>用于证明一个假设的命题是错误的，它通常用来证明一个命题在很多情况下是正确的，但是并不永远正确。</a:t>
            </a:r>
            <a:endParaRPr lang="en-US" altLang="zh-CN" sz="2000" dirty="0" smtClean="0"/>
          </a:p>
          <a:p>
            <a:pPr eaLnBrk="1" hangingPunct="1">
              <a:defRPr/>
            </a:pPr>
            <a:r>
              <a:rPr lang="zh-CN" altLang="en-US" sz="2000" dirty="0" smtClean="0"/>
              <a:t>通常我们用一个反例来证明某个命题是不正确的。</a:t>
            </a:r>
            <a:endParaRPr lang="en-US" altLang="zh-CN" sz="2000" dirty="0" smtClean="0"/>
          </a:p>
          <a:p>
            <a:pPr lvl="0" eaLnBrk="1" hangingPunct="1"/>
            <a:r>
              <a:rPr lang="zh-CN" altLang="en-US" sz="2200" dirty="0">
                <a:solidFill>
                  <a:srgbClr val="333399"/>
                </a:solidFill>
              </a:rPr>
              <a:t>例子</a:t>
            </a:r>
            <a:endParaRPr lang="en-US" altLang="zh-CN" sz="2200" dirty="0">
              <a:solidFill>
                <a:srgbClr val="333399"/>
              </a:solidFill>
            </a:endParaRPr>
          </a:p>
          <a:p>
            <a:pPr lvl="1" eaLnBrk="1" hangingPunct="1">
              <a:buFontTx/>
              <a:buNone/>
              <a:defRPr/>
            </a:pPr>
            <a:r>
              <a:rPr lang="zh-CN" altLang="en-US" sz="2000" dirty="0" smtClean="0">
                <a:latin typeface="+mn-lt"/>
                <a:ea typeface="+mn-ea"/>
              </a:rPr>
              <a:t>令</a:t>
            </a:r>
            <a:r>
              <a:rPr lang="en-US" altLang="zh-CN" sz="2000" dirty="0" smtClean="0">
                <a:latin typeface="+mn-lt"/>
                <a:ea typeface="+mn-ea"/>
              </a:rPr>
              <a:t> </a:t>
            </a:r>
            <a:r>
              <a:rPr lang="en-US" altLang="zh-CN" sz="2000" i="1" dirty="0" smtClean="0">
                <a:latin typeface="+mn-lt"/>
                <a:ea typeface="+mn-ea"/>
              </a:rPr>
              <a:t>f(n)=n</a:t>
            </a:r>
            <a:r>
              <a:rPr lang="en-US" altLang="zh-CN" sz="2000" i="1" baseline="30000" dirty="0" smtClean="0">
                <a:latin typeface="+mn-lt"/>
                <a:ea typeface="+mn-ea"/>
              </a:rPr>
              <a:t>2</a:t>
            </a:r>
            <a:r>
              <a:rPr lang="en-US" altLang="zh-CN" sz="2000" i="1" dirty="0" smtClean="0">
                <a:latin typeface="+mn-lt"/>
                <a:ea typeface="+mn-ea"/>
              </a:rPr>
              <a:t>+n+</a:t>
            </a:r>
            <a:r>
              <a:rPr lang="en-US" altLang="zh-CN" sz="2000" dirty="0" smtClean="0">
                <a:latin typeface="+mn-lt"/>
                <a:ea typeface="+mn-ea"/>
              </a:rPr>
              <a:t>41 </a:t>
            </a:r>
            <a:r>
              <a:rPr lang="zh-CN" altLang="en-US" sz="2000" dirty="0" smtClean="0">
                <a:latin typeface="+mn-lt"/>
                <a:ea typeface="+mn-ea"/>
              </a:rPr>
              <a:t>是定义在非负整数集合上的一个函数。证明断言</a:t>
            </a:r>
            <a:r>
              <a:rPr lang="en-US" altLang="zh-CN" sz="2000" i="1" dirty="0" smtClean="0">
                <a:latin typeface="+mn-lt"/>
                <a:ea typeface="+mn-ea"/>
              </a:rPr>
              <a:t>f(n)</a:t>
            </a:r>
            <a:r>
              <a:rPr lang="en-US" altLang="zh-CN" sz="2000" dirty="0" smtClean="0">
                <a:latin typeface="+mn-lt"/>
                <a:ea typeface="+mn-ea"/>
              </a:rPr>
              <a:t> </a:t>
            </a:r>
            <a:r>
              <a:rPr lang="zh-CN" altLang="en-US" sz="2000" dirty="0" smtClean="0">
                <a:latin typeface="+mn-lt"/>
                <a:ea typeface="+mn-ea"/>
              </a:rPr>
              <a:t>永远是一个素数。例如</a:t>
            </a:r>
            <a:r>
              <a:rPr lang="en-US" altLang="zh-CN" sz="2000" i="1" dirty="0" smtClean="0">
                <a:latin typeface="+mn-lt"/>
                <a:ea typeface="+mn-ea"/>
              </a:rPr>
              <a:t>f</a:t>
            </a:r>
            <a:r>
              <a:rPr lang="en-US" altLang="zh-CN" sz="2000" dirty="0" smtClean="0">
                <a:latin typeface="+mn-lt"/>
                <a:ea typeface="+mn-ea"/>
              </a:rPr>
              <a:t>(0)=41,</a:t>
            </a:r>
            <a:r>
              <a:rPr lang="en-US" altLang="zh-CN" sz="2000" i="1" dirty="0" smtClean="0">
                <a:latin typeface="+mn-lt"/>
                <a:ea typeface="+mn-ea"/>
              </a:rPr>
              <a:t>f</a:t>
            </a:r>
            <a:r>
              <a:rPr lang="en-US" altLang="zh-CN" sz="2000" dirty="0" smtClean="0">
                <a:latin typeface="+mn-lt"/>
                <a:ea typeface="+mn-ea"/>
              </a:rPr>
              <a:t>(1)=43,…</a:t>
            </a:r>
            <a:r>
              <a:rPr lang="en-US" altLang="zh-CN" sz="2000" i="1" dirty="0" smtClean="0">
                <a:latin typeface="+mn-lt"/>
                <a:ea typeface="+mn-ea"/>
              </a:rPr>
              <a:t>f</a:t>
            </a:r>
            <a:r>
              <a:rPr lang="en-US" altLang="zh-CN" sz="2000" dirty="0" smtClean="0">
                <a:latin typeface="+mn-lt"/>
                <a:ea typeface="+mn-ea"/>
              </a:rPr>
              <a:t>(39)=1601 </a:t>
            </a:r>
            <a:r>
              <a:rPr lang="zh-CN" altLang="en-US" sz="2000" dirty="0" smtClean="0">
                <a:latin typeface="+mn-lt"/>
                <a:ea typeface="+mn-ea"/>
              </a:rPr>
              <a:t>都是素数。为了说明该命题有错，只需要找出一个</a:t>
            </a:r>
            <a:r>
              <a:rPr lang="zh-CN" altLang="en-US" sz="2000" dirty="0" smtClean="0">
                <a:latin typeface="+mn-ea"/>
                <a:ea typeface="+mn-ea"/>
              </a:rPr>
              <a:t>正整数</a:t>
            </a:r>
            <a:r>
              <a:rPr lang="en-US" altLang="zh-CN" sz="2000" dirty="0" smtClean="0">
                <a:latin typeface="+mn-ea"/>
                <a:ea typeface="+mn-ea"/>
              </a:rPr>
              <a:t>n</a:t>
            </a:r>
            <a:r>
              <a:rPr lang="zh-CN" altLang="en-US" sz="2000" dirty="0" smtClean="0">
                <a:latin typeface="+mn-ea"/>
                <a:ea typeface="+mn-ea"/>
              </a:rPr>
              <a:t>，</a:t>
            </a:r>
            <a:r>
              <a:rPr lang="zh-CN" altLang="en-US" sz="2000" dirty="0" smtClean="0">
                <a:latin typeface="+mn-lt"/>
                <a:ea typeface="+mn-ea"/>
              </a:rPr>
              <a:t>使得</a:t>
            </a:r>
            <a:r>
              <a:rPr lang="en-US" altLang="zh-CN" sz="2000" dirty="0" smtClean="0">
                <a:latin typeface="+mn-lt"/>
                <a:ea typeface="+mn-ea"/>
              </a:rPr>
              <a:t> </a:t>
            </a:r>
            <a:r>
              <a:rPr lang="en-US" altLang="zh-CN" sz="2000" i="1" dirty="0" smtClean="0">
                <a:latin typeface="+mn-lt"/>
                <a:ea typeface="+mn-ea"/>
              </a:rPr>
              <a:t>f(n)</a:t>
            </a:r>
            <a:r>
              <a:rPr lang="en-US" altLang="zh-CN" sz="2000" dirty="0" smtClean="0">
                <a:latin typeface="+mn-lt"/>
                <a:ea typeface="+mn-ea"/>
              </a:rPr>
              <a:t> </a:t>
            </a:r>
            <a:r>
              <a:rPr lang="zh-CN" altLang="en-US" sz="2000" dirty="0" smtClean="0">
                <a:latin typeface="+mn-ea"/>
                <a:ea typeface="+mn-ea"/>
              </a:rPr>
              <a:t>是合数即可。</a:t>
            </a:r>
            <a:endParaRPr lang="en-US" altLang="zh-CN" sz="2000" dirty="0" smtClean="0">
              <a:latin typeface="+mn-ea"/>
              <a:ea typeface="+mn-ea"/>
            </a:endParaRPr>
          </a:p>
          <a:p>
            <a:pPr lvl="1" eaLnBrk="1" hangingPunct="1">
              <a:buFontTx/>
              <a:buNone/>
              <a:defRPr/>
            </a:pPr>
            <a:endParaRPr lang="en-US" altLang="zh-CN" sz="500" dirty="0" smtClean="0">
              <a:latin typeface="+mn-lt"/>
              <a:ea typeface="+mn-ea"/>
            </a:endParaRPr>
          </a:p>
          <a:p>
            <a:pPr lvl="1" eaLnBrk="1" hangingPunct="1">
              <a:buFontTx/>
              <a:buNone/>
              <a:defRPr/>
            </a:pPr>
            <a:r>
              <a:rPr lang="zh-CN" altLang="en-US" sz="2000" dirty="0" smtClean="0">
                <a:latin typeface="+mn-lt"/>
                <a:ea typeface="+mn-ea"/>
              </a:rPr>
              <a:t>证明</a:t>
            </a:r>
            <a:r>
              <a:rPr lang="en-US" altLang="zh-CN" sz="2000" dirty="0" smtClean="0">
                <a:latin typeface="+mn-lt"/>
                <a:ea typeface="+mn-ea"/>
              </a:rPr>
              <a:t>:</a:t>
            </a:r>
            <a:endParaRPr lang="en-US" altLang="zh-CN" sz="2000" dirty="0" smtClean="0">
              <a:latin typeface="+mn-lt"/>
              <a:ea typeface="+mn-ea"/>
            </a:endParaRPr>
          </a:p>
          <a:p>
            <a:pPr lvl="1" eaLnBrk="1" hangingPunct="1">
              <a:defRPr/>
            </a:pPr>
            <a:r>
              <a:rPr lang="zh-CN" altLang="en-US" sz="2000" dirty="0" smtClean="0">
                <a:latin typeface="+mn-lt"/>
                <a:ea typeface="+mn-ea"/>
              </a:rPr>
              <a:t>因为</a:t>
            </a:r>
            <a:r>
              <a:rPr lang="en-US" altLang="zh-CN" sz="2000" dirty="0" smtClean="0">
                <a:latin typeface="+mn-lt"/>
                <a:ea typeface="+mn-ea"/>
              </a:rPr>
              <a:t> </a:t>
            </a:r>
            <a:r>
              <a:rPr lang="en-US" altLang="zh-CN" sz="2000" i="1" dirty="0" smtClean="0">
                <a:latin typeface="+mn-lt"/>
                <a:ea typeface="+mn-ea"/>
              </a:rPr>
              <a:t>f</a:t>
            </a:r>
            <a:r>
              <a:rPr lang="en-US" altLang="zh-CN" sz="2000" dirty="0" smtClean="0">
                <a:latin typeface="+mn-lt"/>
                <a:ea typeface="+mn-ea"/>
              </a:rPr>
              <a:t>(40)=1681=41</a:t>
            </a:r>
            <a:r>
              <a:rPr lang="en-US" altLang="zh-CN" sz="2000" baseline="30000" dirty="0" smtClean="0">
                <a:latin typeface="+mn-lt"/>
                <a:ea typeface="+mn-ea"/>
              </a:rPr>
              <a:t>2</a:t>
            </a:r>
            <a:r>
              <a:rPr lang="en-US" altLang="zh-CN" sz="2000" dirty="0" smtClean="0">
                <a:latin typeface="+mn-lt"/>
                <a:ea typeface="+mn-ea"/>
              </a:rPr>
              <a:t> </a:t>
            </a:r>
            <a:r>
              <a:rPr lang="zh-CN" altLang="en-US" sz="2000" dirty="0" smtClean="0">
                <a:latin typeface="+mn-lt"/>
                <a:ea typeface="+mn-ea"/>
              </a:rPr>
              <a:t>是合数，</a:t>
            </a:r>
            <a:endParaRPr lang="en-US" altLang="zh-CN" sz="2000" dirty="0" smtClean="0">
              <a:latin typeface="+mn-lt"/>
              <a:ea typeface="+mn-ea"/>
            </a:endParaRPr>
          </a:p>
          <a:p>
            <a:pPr lvl="1" eaLnBrk="1" hangingPunct="1">
              <a:defRPr/>
            </a:pPr>
            <a:r>
              <a:rPr lang="zh-CN" altLang="en-US" sz="2000" dirty="0" smtClean="0">
                <a:latin typeface="+mn-lt"/>
                <a:ea typeface="+mn-ea"/>
              </a:rPr>
              <a:t>所以该断言为假。</a:t>
            </a:r>
            <a:endParaRPr lang="en-US" altLang="zh-CN" sz="2000" dirty="0" smtClean="0">
              <a:latin typeface="+mn-lt"/>
              <a:ea typeface="+mn-ea"/>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04451">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4451">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4451">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4451">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4451">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57347" name="Rectangle 2"/>
          <p:cNvSpPr>
            <a:spLocks noGrp="1" noChangeArrowheads="1"/>
          </p:cNvSpPr>
          <p:nvPr>
            <p:ph type="title"/>
          </p:nvPr>
        </p:nvSpPr>
        <p:spPr/>
        <p:txBody>
          <a:bodyPr/>
          <a:lstStyle/>
          <a:p>
            <a:pPr eaLnBrk="1" hangingPunct="1"/>
            <a:r>
              <a:rPr lang="en-US" altLang="zh-CN" dirty="0">
                <a:latin typeface="+mn-ea"/>
              </a:rPr>
              <a:t>1.3.2 </a:t>
            </a:r>
            <a:r>
              <a:rPr lang="zh-CN" altLang="en-US" dirty="0">
                <a:latin typeface="+mn-ea"/>
              </a:rPr>
              <a:t>证明方法</a:t>
            </a:r>
            <a:r>
              <a:rPr lang="en-US" altLang="zh-CN" dirty="0" smtClean="0">
                <a:latin typeface="+mn-ea"/>
              </a:rPr>
              <a:t>——</a:t>
            </a:r>
            <a:r>
              <a:rPr lang="zh-CN" altLang="en-US" dirty="0" smtClean="0"/>
              <a:t>数学归纳法</a:t>
            </a:r>
            <a:endParaRPr lang="en-US" altLang="zh-CN" dirty="0" smtClean="0"/>
          </a:p>
        </p:txBody>
      </p:sp>
      <p:sp>
        <p:nvSpPr>
          <p:cNvPr id="105475" name="Rectangle 3"/>
          <p:cNvSpPr>
            <a:spLocks noGrp="1" noChangeArrowheads="1"/>
          </p:cNvSpPr>
          <p:nvPr>
            <p:ph type="body" idx="1"/>
          </p:nvPr>
        </p:nvSpPr>
        <p:spPr/>
        <p:txBody>
          <a:bodyPr/>
          <a:lstStyle/>
          <a:p>
            <a:pPr eaLnBrk="1" hangingPunct="1">
              <a:defRPr/>
            </a:pPr>
            <a:r>
              <a:rPr lang="zh-CN" altLang="en-US" dirty="0" smtClean="0"/>
              <a:t>数学归纳法在证明某一性质对自然数序列</a:t>
            </a:r>
            <a:r>
              <a:rPr lang="en-US" altLang="zh-CN" dirty="0" smtClean="0"/>
              <a:t>n</a:t>
            </a:r>
            <a:r>
              <a:rPr lang="en-US" altLang="zh-CN" baseline="-25000" dirty="0" smtClean="0"/>
              <a:t>0</a:t>
            </a:r>
            <a:r>
              <a:rPr lang="en-US" altLang="zh-CN" dirty="0" smtClean="0"/>
              <a:t>,n</a:t>
            </a:r>
            <a:r>
              <a:rPr lang="en-US" altLang="zh-CN" baseline="-25000" dirty="0" smtClean="0"/>
              <a:t>0</a:t>
            </a:r>
            <a:r>
              <a:rPr lang="en-US" altLang="zh-CN" dirty="0" smtClean="0"/>
              <a:t>+1,n</a:t>
            </a:r>
            <a:r>
              <a:rPr lang="en-US" altLang="zh-CN" baseline="-25000" dirty="0" smtClean="0"/>
              <a:t>0</a:t>
            </a:r>
            <a:r>
              <a:rPr lang="en-US" altLang="zh-CN" dirty="0" smtClean="0"/>
              <a:t>+2…</a:t>
            </a:r>
            <a:r>
              <a:rPr lang="zh-CN" altLang="en-US" dirty="0" smtClean="0"/>
              <a:t>成立时是一种强有力的方法。</a:t>
            </a:r>
            <a:endParaRPr lang="en-US" altLang="zh-CN" dirty="0" smtClean="0"/>
          </a:p>
          <a:p>
            <a:pPr eaLnBrk="1" hangingPunct="1">
              <a:defRPr/>
            </a:pPr>
            <a:r>
              <a:rPr lang="en-US" altLang="zh-CN" dirty="0" smtClean="0"/>
              <a:t>Steps:</a:t>
            </a:r>
            <a:endParaRPr lang="en-US" altLang="zh-CN" dirty="0" smtClean="0"/>
          </a:p>
          <a:p>
            <a:pPr lvl="1" eaLnBrk="1" hangingPunct="1">
              <a:defRPr/>
            </a:pPr>
            <a:r>
              <a:rPr lang="zh-CN" altLang="en-US" dirty="0" smtClean="0">
                <a:solidFill>
                  <a:srgbClr val="660066"/>
                </a:solidFill>
                <a:latin typeface="+mn-lt"/>
                <a:ea typeface="+mn-ea"/>
              </a:rPr>
              <a:t>基础步</a:t>
            </a:r>
            <a:r>
              <a:rPr lang="en-US" altLang="zh-CN" dirty="0" smtClean="0">
                <a:solidFill>
                  <a:srgbClr val="660066"/>
                </a:solidFill>
                <a:latin typeface="+mn-lt"/>
                <a:ea typeface="+mn-ea"/>
              </a:rPr>
              <a:t>:</a:t>
            </a:r>
            <a:r>
              <a:rPr lang="en-US" altLang="zh-CN" dirty="0" smtClean="0">
                <a:solidFill>
                  <a:srgbClr val="EA0000"/>
                </a:solidFill>
                <a:latin typeface="+mn-lt"/>
                <a:ea typeface="+mn-ea"/>
              </a:rPr>
              <a:t> </a:t>
            </a:r>
            <a:endParaRPr lang="en-US" altLang="zh-CN" dirty="0" smtClean="0">
              <a:solidFill>
                <a:srgbClr val="EA0000"/>
              </a:solidFill>
              <a:latin typeface="+mn-lt"/>
              <a:ea typeface="+mn-ea"/>
            </a:endParaRPr>
          </a:p>
          <a:p>
            <a:pPr lvl="1" eaLnBrk="1" hangingPunct="1">
              <a:buFontTx/>
              <a:buNone/>
              <a:defRPr/>
            </a:pPr>
            <a:r>
              <a:rPr lang="en-US" altLang="zh-CN" dirty="0" smtClean="0">
                <a:latin typeface="+mn-lt"/>
                <a:ea typeface="+mn-ea"/>
              </a:rPr>
              <a:t>     </a:t>
            </a:r>
            <a:r>
              <a:rPr lang="zh-CN" altLang="en-US" dirty="0" smtClean="0">
                <a:latin typeface="+mn-lt"/>
                <a:ea typeface="+mn-ea"/>
              </a:rPr>
              <a:t>首先证明该性质对于</a:t>
            </a:r>
            <a:r>
              <a:rPr lang="en-US" altLang="zh-CN" sz="2000" dirty="0" smtClean="0">
                <a:latin typeface="+mn-lt"/>
                <a:ea typeface="+mn-ea"/>
              </a:rPr>
              <a:t>n</a:t>
            </a:r>
            <a:r>
              <a:rPr lang="en-US" altLang="zh-CN" sz="2000" baseline="-25000" dirty="0" smtClean="0">
                <a:latin typeface="+mn-lt"/>
                <a:ea typeface="+mn-ea"/>
              </a:rPr>
              <a:t>0</a:t>
            </a:r>
            <a:r>
              <a:rPr lang="zh-CN" altLang="en-US" sz="2000" dirty="0" smtClean="0">
                <a:latin typeface="+mn-lt"/>
                <a:ea typeface="+mn-ea"/>
              </a:rPr>
              <a:t>成立。</a:t>
            </a:r>
            <a:endParaRPr lang="en-US" altLang="zh-CN" sz="2000" dirty="0" smtClean="0">
              <a:latin typeface="+mn-lt"/>
              <a:ea typeface="+mn-ea"/>
            </a:endParaRPr>
          </a:p>
          <a:p>
            <a:pPr lvl="1" eaLnBrk="1" hangingPunct="1">
              <a:defRPr/>
            </a:pPr>
            <a:r>
              <a:rPr lang="zh-CN" altLang="en-US" dirty="0" smtClean="0">
                <a:solidFill>
                  <a:srgbClr val="660066"/>
                </a:solidFill>
                <a:latin typeface="+mn-lt"/>
                <a:ea typeface="+mn-ea"/>
              </a:rPr>
              <a:t>归纳步</a:t>
            </a:r>
            <a:r>
              <a:rPr lang="en-US" altLang="zh-CN" dirty="0" smtClean="0">
                <a:solidFill>
                  <a:srgbClr val="660066"/>
                </a:solidFill>
                <a:latin typeface="+mn-lt"/>
                <a:ea typeface="+mn-ea"/>
              </a:rPr>
              <a:t>:</a:t>
            </a:r>
            <a:endParaRPr lang="en-US" altLang="zh-CN" dirty="0" smtClean="0">
              <a:solidFill>
                <a:srgbClr val="660066"/>
              </a:solidFill>
              <a:latin typeface="+mn-lt"/>
              <a:ea typeface="+mn-ea"/>
            </a:endParaRPr>
          </a:p>
          <a:p>
            <a:pPr lvl="1" eaLnBrk="1" hangingPunct="1">
              <a:buFontTx/>
              <a:buNone/>
              <a:defRPr/>
            </a:pPr>
            <a:r>
              <a:rPr lang="en-US" altLang="zh-CN" dirty="0" smtClean="0">
                <a:latin typeface="+mn-lt"/>
                <a:ea typeface="+mn-ea"/>
              </a:rPr>
              <a:t>     </a:t>
            </a:r>
            <a:r>
              <a:rPr lang="zh-CN" altLang="en-US" dirty="0" smtClean="0">
                <a:latin typeface="+mn-lt"/>
                <a:ea typeface="+mn-ea"/>
              </a:rPr>
              <a:t>然后证明只要这个性质对于</a:t>
            </a:r>
            <a:r>
              <a:rPr lang="en-US" altLang="zh-CN" sz="2000" dirty="0" smtClean="0">
                <a:latin typeface="+mn-lt"/>
                <a:ea typeface="+mn-ea"/>
              </a:rPr>
              <a:t>n</a:t>
            </a:r>
            <a:r>
              <a:rPr lang="en-US" altLang="zh-CN" sz="2000" baseline="-25000" dirty="0" smtClean="0">
                <a:latin typeface="+mn-lt"/>
                <a:ea typeface="+mn-ea"/>
              </a:rPr>
              <a:t>0</a:t>
            </a:r>
            <a:r>
              <a:rPr lang="en-US" altLang="zh-CN" sz="2000" dirty="0" smtClean="0">
                <a:latin typeface="+mn-lt"/>
                <a:ea typeface="+mn-ea"/>
              </a:rPr>
              <a:t>, n</a:t>
            </a:r>
            <a:r>
              <a:rPr lang="en-US" altLang="zh-CN" sz="2000" baseline="-25000" dirty="0" smtClean="0">
                <a:latin typeface="+mn-lt"/>
                <a:ea typeface="+mn-ea"/>
              </a:rPr>
              <a:t>0</a:t>
            </a:r>
            <a:r>
              <a:rPr lang="en-US" altLang="zh-CN" sz="2000" dirty="0" smtClean="0">
                <a:latin typeface="+mn-lt"/>
                <a:ea typeface="+mn-ea"/>
              </a:rPr>
              <a:t>+1, n</a:t>
            </a:r>
            <a:r>
              <a:rPr lang="en-US" altLang="zh-CN" sz="2000" baseline="-25000" dirty="0" smtClean="0">
                <a:latin typeface="+mn-lt"/>
                <a:ea typeface="+mn-ea"/>
              </a:rPr>
              <a:t>0</a:t>
            </a:r>
            <a:r>
              <a:rPr lang="en-US" altLang="zh-CN" sz="2000" dirty="0" smtClean="0">
                <a:latin typeface="+mn-lt"/>
                <a:ea typeface="+mn-ea"/>
              </a:rPr>
              <a:t>+2…n-1</a:t>
            </a:r>
            <a:r>
              <a:rPr lang="zh-CN" altLang="en-US" sz="2000" dirty="0" smtClean="0">
                <a:latin typeface="+mn-lt"/>
                <a:ea typeface="+mn-ea"/>
              </a:rPr>
              <a:t>为真，那么必有对于</a:t>
            </a:r>
            <a:r>
              <a:rPr lang="en-US" altLang="zh-CN" sz="2000" dirty="0" smtClean="0">
                <a:latin typeface="+mn-lt"/>
                <a:ea typeface="+mn-ea"/>
              </a:rPr>
              <a:t>n</a:t>
            </a:r>
            <a:r>
              <a:rPr lang="zh-CN" altLang="en-US" sz="2000" dirty="0" smtClean="0">
                <a:latin typeface="+mn-lt"/>
                <a:ea typeface="+mn-ea"/>
              </a:rPr>
              <a:t>这个性质为真</a:t>
            </a:r>
            <a:endParaRPr lang="en-US" altLang="zh-CN" sz="2000" dirty="0" smtClean="0">
              <a:latin typeface="+mn-lt"/>
              <a:ea typeface="+mn-ea"/>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页脚占位符 4"/>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59395" name="Text Box 14"/>
          <p:cNvSpPr txBox="1">
            <a:spLocks noChangeArrowheads="1"/>
          </p:cNvSpPr>
          <p:nvPr/>
        </p:nvSpPr>
        <p:spPr bwMode="auto">
          <a:xfrm>
            <a:off x="1258887" y="3258344"/>
            <a:ext cx="7022667" cy="203132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eaLnBrk="1" hangingPunct="1">
              <a:spcBef>
                <a:spcPct val="50000"/>
              </a:spcBef>
              <a:buFontTx/>
              <a:buNone/>
            </a:pPr>
            <a:endParaRPr lang="en-US" altLang="zh-CN" sz="1800">
              <a:solidFill>
                <a:schemeClr val="tx1"/>
              </a:solidFill>
              <a:latin typeface="Arial" panose="020B0604020202090204" pitchFamily="34" charset="0"/>
              <a:ea typeface="宋体" pitchFamily="2" charset="-122"/>
            </a:endParaRPr>
          </a:p>
          <a:p>
            <a:pPr eaLnBrk="1" hangingPunct="1">
              <a:spcBef>
                <a:spcPct val="50000"/>
              </a:spcBef>
              <a:buFontTx/>
              <a:buNone/>
            </a:pPr>
            <a:endParaRPr lang="en-US" altLang="zh-CN" sz="1800">
              <a:solidFill>
                <a:schemeClr val="tx1"/>
              </a:solidFill>
              <a:latin typeface="Arial" panose="020B0604020202090204" pitchFamily="34" charset="0"/>
              <a:ea typeface="宋体" pitchFamily="2" charset="-122"/>
            </a:endParaRPr>
          </a:p>
          <a:p>
            <a:pPr eaLnBrk="1" hangingPunct="1">
              <a:spcBef>
                <a:spcPct val="50000"/>
              </a:spcBef>
              <a:buFontTx/>
              <a:buNone/>
            </a:pPr>
            <a:endParaRPr lang="en-US" altLang="zh-CN" sz="1800">
              <a:solidFill>
                <a:schemeClr val="tx1"/>
              </a:solidFill>
              <a:latin typeface="Arial" panose="020B0604020202090204" pitchFamily="34" charset="0"/>
              <a:ea typeface="宋体" pitchFamily="2" charset="-122"/>
            </a:endParaRPr>
          </a:p>
          <a:p>
            <a:pPr eaLnBrk="1" hangingPunct="1">
              <a:spcBef>
                <a:spcPct val="50000"/>
              </a:spcBef>
              <a:buFontTx/>
              <a:buNone/>
            </a:pPr>
            <a:endParaRPr lang="en-US" altLang="zh-CN" sz="1800">
              <a:solidFill>
                <a:schemeClr val="tx1"/>
              </a:solidFill>
              <a:latin typeface="Arial" panose="020B0604020202090204" pitchFamily="34" charset="0"/>
              <a:ea typeface="宋体" pitchFamily="2" charset="-122"/>
            </a:endParaRPr>
          </a:p>
          <a:p>
            <a:pPr eaLnBrk="1" hangingPunct="1">
              <a:spcBef>
                <a:spcPct val="50000"/>
              </a:spcBef>
              <a:buFontTx/>
              <a:buNone/>
            </a:pPr>
            <a:endParaRPr lang="en-US" altLang="zh-CN" sz="1800">
              <a:solidFill>
                <a:schemeClr val="tx1"/>
              </a:solidFill>
              <a:latin typeface="Arial" panose="020B0604020202090204" pitchFamily="34" charset="0"/>
              <a:ea typeface="宋体" pitchFamily="2" charset="-122"/>
            </a:endParaRPr>
          </a:p>
        </p:txBody>
      </p:sp>
      <p:sp>
        <p:nvSpPr>
          <p:cNvPr id="59396" name="Rectangle 2"/>
          <p:cNvSpPr>
            <a:spLocks noGrp="1" noChangeArrowheads="1"/>
          </p:cNvSpPr>
          <p:nvPr>
            <p:ph type="title"/>
          </p:nvPr>
        </p:nvSpPr>
        <p:spPr/>
        <p:txBody>
          <a:bodyPr/>
          <a:lstStyle/>
          <a:p>
            <a:pPr eaLnBrk="1" hangingPunct="1"/>
            <a:r>
              <a:rPr lang="en-US" altLang="zh-CN" dirty="0">
                <a:latin typeface="+mn-ea"/>
              </a:rPr>
              <a:t>1.3.2 </a:t>
            </a:r>
            <a:r>
              <a:rPr lang="zh-CN" altLang="en-US" dirty="0">
                <a:latin typeface="+mn-ea"/>
              </a:rPr>
              <a:t>证明方法</a:t>
            </a:r>
            <a:r>
              <a:rPr lang="en-US" altLang="zh-CN" dirty="0">
                <a:latin typeface="+mn-ea"/>
              </a:rPr>
              <a:t>——</a:t>
            </a:r>
            <a:r>
              <a:rPr lang="zh-CN" altLang="en-US" dirty="0"/>
              <a:t>数学归纳法</a:t>
            </a:r>
            <a:endParaRPr lang="en-US" altLang="zh-CN" dirty="0" smtClean="0"/>
          </a:p>
        </p:txBody>
      </p:sp>
      <p:sp>
        <p:nvSpPr>
          <p:cNvPr id="112643" name="Rectangle 3"/>
          <p:cNvSpPr>
            <a:spLocks noGrp="1" noChangeArrowheads="1"/>
          </p:cNvSpPr>
          <p:nvPr>
            <p:ph type="body" sz="half" idx="1"/>
          </p:nvPr>
        </p:nvSpPr>
        <p:spPr>
          <a:xfrm>
            <a:off x="817563" y="1125538"/>
            <a:ext cx="8218487" cy="2232025"/>
          </a:xfrm>
        </p:spPr>
        <p:txBody>
          <a:bodyPr/>
          <a:lstStyle/>
          <a:p>
            <a:pPr lvl="0" eaLnBrk="1" hangingPunct="1"/>
            <a:r>
              <a:rPr lang="zh-CN" altLang="en-US" sz="2200" dirty="0">
                <a:solidFill>
                  <a:srgbClr val="333399"/>
                </a:solidFill>
              </a:rPr>
              <a:t>例子</a:t>
            </a:r>
            <a:endParaRPr lang="en-US" altLang="zh-CN" sz="2200" dirty="0">
              <a:solidFill>
                <a:srgbClr val="333399"/>
              </a:solidFill>
            </a:endParaRPr>
          </a:p>
          <a:p>
            <a:pPr lvl="1" eaLnBrk="1" hangingPunct="1">
              <a:lnSpc>
                <a:spcPct val="90000"/>
              </a:lnSpc>
              <a:buFontTx/>
              <a:buNone/>
              <a:defRPr/>
            </a:pPr>
            <a:r>
              <a:rPr lang="zh-CN" altLang="en-US" dirty="0" smtClean="0">
                <a:latin typeface="+mn-lt"/>
                <a:ea typeface="+mn-ea"/>
              </a:rPr>
              <a:t>证明</a:t>
            </a:r>
            <a:r>
              <a:rPr lang="en-US" altLang="zh-CN" dirty="0" smtClean="0">
                <a:latin typeface="+mn-lt"/>
                <a:ea typeface="+mn-ea"/>
              </a:rPr>
              <a:t>Bernoulli</a:t>
            </a:r>
            <a:r>
              <a:rPr lang="zh-CN" altLang="en-US" dirty="0" smtClean="0">
                <a:latin typeface="+mn-lt"/>
                <a:ea typeface="+mn-ea"/>
              </a:rPr>
              <a:t>不等式</a:t>
            </a:r>
            <a:r>
              <a:rPr lang="en-US" altLang="zh-CN" dirty="0" smtClean="0">
                <a:latin typeface="+mn-lt"/>
                <a:ea typeface="+mn-ea"/>
              </a:rPr>
              <a:t>: </a:t>
            </a:r>
            <a:r>
              <a:rPr lang="zh-CN" altLang="en-US" dirty="0" smtClean="0">
                <a:latin typeface="+mn-lt"/>
                <a:ea typeface="+mn-ea"/>
              </a:rPr>
              <a:t>对每一个实数</a:t>
            </a:r>
            <a:r>
              <a:rPr lang="en-US" altLang="zh-CN" dirty="0" smtClean="0">
                <a:latin typeface="+mn-lt"/>
                <a:ea typeface="+mn-ea"/>
              </a:rPr>
              <a:t>x</a:t>
            </a:r>
            <a:r>
              <a:rPr lang="en-US" altLang="zh-CN" dirty="0" smtClean="0">
                <a:latin typeface="+mn-lt"/>
                <a:ea typeface="+mn-ea"/>
                <a:sym typeface="Symbol" panose="05050102010706020507" pitchFamily="18" charset="2"/>
              </a:rPr>
              <a:t></a:t>
            </a:r>
            <a:r>
              <a:rPr lang="en-US" altLang="zh-CN" dirty="0" smtClean="0">
                <a:latin typeface="+mn-lt"/>
                <a:ea typeface="+mn-ea"/>
              </a:rPr>
              <a:t>-1 </a:t>
            </a:r>
            <a:r>
              <a:rPr lang="zh-CN" altLang="en-US" dirty="0" smtClean="0">
                <a:latin typeface="+mn-lt"/>
                <a:ea typeface="+mn-ea"/>
              </a:rPr>
              <a:t>和每一个自然数</a:t>
            </a:r>
            <a:r>
              <a:rPr lang="en-US" altLang="zh-CN" dirty="0" smtClean="0">
                <a:latin typeface="+mn-lt"/>
                <a:ea typeface="+mn-ea"/>
              </a:rPr>
              <a:t>n</a:t>
            </a:r>
            <a:r>
              <a:rPr lang="zh-CN" altLang="en-US" dirty="0" smtClean="0">
                <a:latin typeface="+mn-lt"/>
                <a:ea typeface="+mn-ea"/>
              </a:rPr>
              <a:t>，有</a:t>
            </a:r>
            <a:r>
              <a:rPr lang="en-US" altLang="zh-CN" dirty="0" smtClean="0">
                <a:latin typeface="+mn-lt"/>
                <a:ea typeface="+mn-ea"/>
              </a:rPr>
              <a:t>(1+x)</a:t>
            </a:r>
            <a:r>
              <a:rPr lang="en-US" altLang="zh-CN" baseline="30000" dirty="0" smtClean="0">
                <a:latin typeface="+mn-lt"/>
                <a:ea typeface="+mn-ea"/>
              </a:rPr>
              <a:t>n </a:t>
            </a:r>
            <a:r>
              <a:rPr lang="en-US" altLang="zh-CN" dirty="0" smtClean="0">
                <a:latin typeface="+mn-lt"/>
                <a:ea typeface="+mn-ea"/>
                <a:sym typeface="Symbol" panose="05050102010706020507" pitchFamily="18" charset="2"/>
              </a:rPr>
              <a:t></a:t>
            </a:r>
            <a:r>
              <a:rPr lang="en-US" altLang="zh-CN" dirty="0" smtClean="0">
                <a:latin typeface="+mn-lt"/>
                <a:ea typeface="+mn-ea"/>
              </a:rPr>
              <a:t> 1+nx</a:t>
            </a:r>
            <a:r>
              <a:rPr lang="zh-CN" altLang="en-US" dirty="0" smtClean="0">
                <a:latin typeface="+mn-lt"/>
                <a:ea typeface="+mn-ea"/>
              </a:rPr>
              <a:t>。</a:t>
            </a:r>
            <a:endParaRPr lang="en-US" altLang="zh-CN" dirty="0" smtClean="0">
              <a:latin typeface="+mn-lt"/>
              <a:ea typeface="+mn-ea"/>
            </a:endParaRPr>
          </a:p>
          <a:p>
            <a:pPr lvl="1" eaLnBrk="1" hangingPunct="1">
              <a:lnSpc>
                <a:spcPct val="90000"/>
              </a:lnSpc>
              <a:defRPr/>
            </a:pPr>
            <a:r>
              <a:rPr lang="zh-CN" altLang="en-US" dirty="0" smtClean="0">
                <a:latin typeface="+mn-lt"/>
                <a:ea typeface="+mn-ea"/>
              </a:rPr>
              <a:t>基础步：如果</a:t>
            </a:r>
            <a:r>
              <a:rPr lang="en-US" altLang="zh-CN" dirty="0" smtClean="0">
                <a:latin typeface="+mn-lt"/>
                <a:ea typeface="+mn-ea"/>
              </a:rPr>
              <a:t> n=1</a:t>
            </a:r>
            <a:r>
              <a:rPr lang="zh-CN" altLang="en-US" dirty="0" smtClean="0">
                <a:latin typeface="+mn-lt"/>
                <a:ea typeface="+mn-ea"/>
              </a:rPr>
              <a:t>，那么</a:t>
            </a:r>
            <a:r>
              <a:rPr lang="en-US" altLang="zh-CN" dirty="0" smtClean="0">
                <a:latin typeface="+mn-lt"/>
                <a:ea typeface="+mn-ea"/>
              </a:rPr>
              <a:t>1+x≥1+x</a:t>
            </a:r>
            <a:r>
              <a:rPr lang="zh-CN" altLang="en-US" dirty="0" smtClean="0">
                <a:latin typeface="+mn-lt"/>
                <a:ea typeface="+mn-ea"/>
              </a:rPr>
              <a:t>。</a:t>
            </a:r>
            <a:endParaRPr lang="en-US" altLang="zh-CN" dirty="0" smtClean="0">
              <a:latin typeface="+mn-lt"/>
              <a:ea typeface="+mn-ea"/>
            </a:endParaRPr>
          </a:p>
          <a:p>
            <a:pPr lvl="1" eaLnBrk="1" hangingPunct="1">
              <a:lnSpc>
                <a:spcPct val="90000"/>
              </a:lnSpc>
              <a:defRPr/>
            </a:pPr>
            <a:r>
              <a:rPr lang="zh-CN" altLang="en-US" dirty="0" smtClean="0">
                <a:latin typeface="+mn-lt"/>
                <a:ea typeface="+mn-ea"/>
              </a:rPr>
              <a:t>归纳步：假定不等式对于所有的</a:t>
            </a:r>
            <a:r>
              <a:rPr lang="en-US" altLang="zh-CN" dirty="0" smtClean="0">
                <a:latin typeface="+mn-lt"/>
                <a:ea typeface="+mn-ea"/>
              </a:rPr>
              <a:t>k</a:t>
            </a:r>
            <a:r>
              <a:rPr lang="zh-CN" altLang="en-US" dirty="0" smtClean="0">
                <a:latin typeface="+mn-lt"/>
                <a:ea typeface="+mn-ea"/>
              </a:rPr>
              <a:t>成立，</a:t>
            </a:r>
            <a:r>
              <a:rPr lang="en-US" altLang="zh-CN" dirty="0" smtClean="0">
                <a:latin typeface="+mn-lt"/>
                <a:ea typeface="+mn-ea"/>
              </a:rPr>
              <a:t>1≤k&lt;n, where n&gt;1</a:t>
            </a:r>
            <a:r>
              <a:rPr lang="zh-CN" altLang="en-US" dirty="0" smtClean="0">
                <a:latin typeface="+mn-lt"/>
                <a:ea typeface="+mn-ea"/>
              </a:rPr>
              <a:t>，那么</a:t>
            </a:r>
            <a:endParaRPr lang="en-US" altLang="zh-CN" dirty="0" smtClean="0">
              <a:latin typeface="+mn-lt"/>
              <a:ea typeface="+mn-ea"/>
            </a:endParaRPr>
          </a:p>
        </p:txBody>
      </p:sp>
      <p:graphicFrame>
        <p:nvGraphicFramePr>
          <p:cNvPr id="59399" name="Object 12"/>
          <p:cNvGraphicFramePr>
            <a:graphicFrameLocks noGrp="1" noChangeAspect="1"/>
          </p:cNvGraphicFramePr>
          <p:nvPr>
            <p:ph sz="half" idx="2"/>
          </p:nvPr>
        </p:nvGraphicFramePr>
        <p:xfrm>
          <a:off x="1723448" y="3228975"/>
          <a:ext cx="5697538" cy="2216150"/>
        </p:xfrm>
        <a:graphic>
          <a:graphicData uri="http://schemas.openxmlformats.org/presentationml/2006/ole">
            <mc:AlternateContent xmlns:mc="http://schemas.openxmlformats.org/markup-compatibility/2006">
              <mc:Choice xmlns:v="urn:schemas-microsoft-com:vml" Requires="v">
                <p:oleObj spid="_x0000_s4140" name="公式" r:id="rId1" imgW="3657600" imgH="1422400" progId="Equation.3">
                  <p:embed/>
                </p:oleObj>
              </mc:Choice>
              <mc:Fallback>
                <p:oleObj name="公式" r:id="rId1" imgW="3657600" imgH="1422400" progId="Equation.3">
                  <p:embed/>
                  <p:pic>
                    <p:nvPicPr>
                      <p:cNvPr id="0" name="Object 1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23448" y="3228975"/>
                        <a:ext cx="5697538" cy="221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59400" name="Text Box 15"/>
          <p:cNvSpPr txBox="1">
            <a:spLocks noChangeArrowheads="1"/>
          </p:cNvSpPr>
          <p:nvPr/>
        </p:nvSpPr>
        <p:spPr bwMode="auto">
          <a:xfrm>
            <a:off x="1387475" y="5445125"/>
            <a:ext cx="486568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eaLnBrk="1" hangingPunct="1">
              <a:spcBef>
                <a:spcPct val="0"/>
              </a:spcBef>
            </a:pPr>
            <a:r>
              <a:rPr lang="zh-CN" altLang="en-US" sz="2000">
                <a:latin typeface="Arial" panose="020B0604020202090204" pitchFamily="34" charset="0"/>
                <a:ea typeface="宋体" pitchFamily="2" charset="-122"/>
              </a:rPr>
              <a:t>因此，对于所有的</a:t>
            </a:r>
            <a:r>
              <a:rPr lang="en-US" altLang="zh-CN" sz="2000">
                <a:latin typeface="Arial" panose="020B0604020202090204" pitchFamily="34" charset="0"/>
                <a:ea typeface="宋体" pitchFamily="2" charset="-122"/>
              </a:rPr>
              <a:t>n ≥1</a:t>
            </a:r>
            <a:r>
              <a:rPr lang="zh-CN" altLang="en-US" sz="2000">
                <a:latin typeface="Arial" panose="020B0604020202090204" pitchFamily="34" charset="0"/>
                <a:ea typeface="宋体" pitchFamily="2" charset="-122"/>
              </a:rPr>
              <a:t>，有</a:t>
            </a:r>
            <a:r>
              <a:rPr lang="en-US" altLang="zh-CN" sz="2000">
                <a:latin typeface="Arial" panose="020B0604020202090204" pitchFamily="34" charset="0"/>
                <a:ea typeface="宋体" pitchFamily="2" charset="-122"/>
              </a:rPr>
              <a:t> (1+x)</a:t>
            </a:r>
            <a:r>
              <a:rPr lang="en-US" altLang="zh-CN" sz="2000" baseline="30000">
                <a:latin typeface="Arial" panose="020B0604020202090204" pitchFamily="34" charset="0"/>
                <a:ea typeface="宋体" pitchFamily="2" charset="-122"/>
              </a:rPr>
              <a:t>n</a:t>
            </a:r>
            <a:r>
              <a:rPr lang="en-US" altLang="zh-CN" sz="2000">
                <a:latin typeface="Arial" panose="020B0604020202090204" pitchFamily="34" charset="0"/>
                <a:ea typeface="宋体" pitchFamily="2" charset="-122"/>
              </a:rPr>
              <a:t> ≥1+nx</a:t>
            </a:r>
            <a:endParaRPr lang="en-US" altLang="zh-CN" sz="2000">
              <a:latin typeface="Arial" panose="020B0604020202090204" pitchFamily="34" charset="0"/>
              <a:ea typeface="宋体"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61443" name="Rectangle 2"/>
          <p:cNvSpPr>
            <a:spLocks noGrp="1" noChangeArrowheads="1"/>
          </p:cNvSpPr>
          <p:nvPr>
            <p:ph type="title"/>
          </p:nvPr>
        </p:nvSpPr>
        <p:spPr/>
        <p:txBody>
          <a:bodyPr/>
          <a:lstStyle/>
          <a:p>
            <a:pPr eaLnBrk="1" hangingPunct="1"/>
            <a:r>
              <a:rPr lang="en-US" altLang="zh-CN" dirty="0" smtClean="0">
                <a:latin typeface="+mn-ea"/>
              </a:rPr>
              <a:t>1.3.3 </a:t>
            </a:r>
            <a:r>
              <a:rPr lang="zh-CN" altLang="en-US" dirty="0" smtClean="0">
                <a:latin typeface="+mn-ea"/>
              </a:rPr>
              <a:t>对数</a:t>
            </a:r>
            <a:endParaRPr lang="en-US" altLang="zh-CN" dirty="0" smtClean="0"/>
          </a:p>
        </p:txBody>
      </p:sp>
      <p:sp>
        <p:nvSpPr>
          <p:cNvPr id="61444" name="Rectangle 3"/>
          <p:cNvSpPr>
            <a:spLocks noGrp="1" noChangeArrowheads="1"/>
          </p:cNvSpPr>
          <p:nvPr>
            <p:ph type="body" idx="1"/>
          </p:nvPr>
        </p:nvSpPr>
        <p:spPr/>
        <p:txBody>
          <a:bodyPr/>
          <a:lstStyle/>
          <a:p>
            <a:pPr eaLnBrk="1" hangingPunct="1"/>
            <a:r>
              <a:rPr lang="zh-CN" altLang="en-US" dirty="0" smtClean="0"/>
              <a:t>设</a:t>
            </a:r>
            <a:r>
              <a:rPr lang="en-US" altLang="zh-CN" dirty="0" smtClean="0"/>
              <a:t> </a:t>
            </a:r>
            <a:r>
              <a:rPr lang="en-US" altLang="zh-CN" i="1" dirty="0" smtClean="0"/>
              <a:t>b</a:t>
            </a:r>
            <a:r>
              <a:rPr lang="en-US" altLang="zh-CN" dirty="0" smtClean="0"/>
              <a:t> </a:t>
            </a:r>
            <a:r>
              <a:rPr lang="zh-CN" altLang="en-US" dirty="0" smtClean="0"/>
              <a:t>为一个大于</a:t>
            </a:r>
            <a:r>
              <a:rPr lang="en-US" altLang="zh-CN" dirty="0" smtClean="0"/>
              <a:t>1</a:t>
            </a:r>
            <a:r>
              <a:rPr lang="zh-CN" altLang="en-US" dirty="0" smtClean="0"/>
              <a:t>的正实数，</a:t>
            </a:r>
            <a:r>
              <a:rPr lang="en-US" altLang="zh-CN" dirty="0" smtClean="0"/>
              <a:t>x</a:t>
            </a:r>
            <a:r>
              <a:rPr lang="zh-CN" altLang="en-US" dirty="0" smtClean="0"/>
              <a:t>是实数，假定对于某个正实数</a:t>
            </a:r>
            <a:r>
              <a:rPr lang="en-US" altLang="zh-CN" dirty="0" smtClean="0"/>
              <a:t>y</a:t>
            </a:r>
            <a:r>
              <a:rPr lang="zh-CN" altLang="en-US" dirty="0" smtClean="0"/>
              <a:t>，有</a:t>
            </a:r>
            <a:r>
              <a:rPr lang="en-US" altLang="zh-CN" i="1" dirty="0" smtClean="0"/>
              <a:t>y=</a:t>
            </a:r>
            <a:r>
              <a:rPr lang="en-US" altLang="zh-CN" i="1" dirty="0" err="1" smtClean="0"/>
              <a:t>b</a:t>
            </a:r>
            <a:r>
              <a:rPr lang="en-US" altLang="zh-CN" i="1" baseline="30000" dirty="0" err="1" smtClean="0"/>
              <a:t>x</a:t>
            </a:r>
            <a:r>
              <a:rPr lang="en-US" altLang="zh-CN" dirty="0" smtClean="0"/>
              <a:t> </a:t>
            </a:r>
            <a:r>
              <a:rPr lang="zh-CN" altLang="en-US" dirty="0" smtClean="0"/>
              <a:t>。那么</a:t>
            </a:r>
            <a:r>
              <a:rPr lang="en-US" altLang="zh-CN" dirty="0" smtClean="0"/>
              <a:t>x</a:t>
            </a:r>
            <a:r>
              <a:rPr lang="zh-CN" altLang="en-US" dirty="0" smtClean="0"/>
              <a:t>称为以</a:t>
            </a:r>
            <a:r>
              <a:rPr lang="en-US" altLang="zh-CN" dirty="0" smtClean="0"/>
              <a:t>b</a:t>
            </a:r>
            <a:r>
              <a:rPr lang="zh-CN" altLang="en-US" dirty="0" smtClean="0"/>
              <a:t>为底的</a:t>
            </a:r>
            <a:r>
              <a:rPr lang="en-US" altLang="zh-CN" dirty="0" smtClean="0"/>
              <a:t>y</a:t>
            </a:r>
            <a:r>
              <a:rPr lang="zh-CN" altLang="en-US" dirty="0" smtClean="0"/>
              <a:t>的</a:t>
            </a:r>
            <a:r>
              <a:rPr lang="zh-CN" altLang="en-US" dirty="0" smtClean="0">
                <a:solidFill>
                  <a:srgbClr val="FF0000"/>
                </a:solidFill>
              </a:rPr>
              <a:t>对数</a:t>
            </a:r>
            <a:r>
              <a:rPr lang="zh-CN" altLang="en-US" dirty="0" smtClean="0"/>
              <a:t>，写作</a:t>
            </a:r>
            <a:r>
              <a:rPr lang="en-US" altLang="zh-CN" dirty="0" smtClean="0"/>
              <a:t>:</a:t>
            </a:r>
            <a:endParaRPr lang="en-US" altLang="zh-CN" dirty="0" smtClean="0"/>
          </a:p>
          <a:p>
            <a:pPr eaLnBrk="1" hangingPunct="1">
              <a:buFontTx/>
              <a:buNone/>
            </a:pPr>
            <a:r>
              <a:rPr lang="en-US" altLang="zh-CN" dirty="0" smtClean="0"/>
              <a:t>	       </a:t>
            </a:r>
            <a:r>
              <a:rPr lang="en-US" altLang="zh-CN" i="1" dirty="0" smtClean="0">
                <a:solidFill>
                  <a:schemeClr val="tx2"/>
                </a:solidFill>
              </a:rPr>
              <a:t>x=</a:t>
            </a:r>
            <a:r>
              <a:rPr lang="en-US" altLang="zh-CN" i="1" dirty="0" err="1" smtClean="0">
                <a:solidFill>
                  <a:schemeClr val="tx2"/>
                </a:solidFill>
              </a:rPr>
              <a:t>log</a:t>
            </a:r>
            <a:r>
              <a:rPr lang="en-US" altLang="zh-CN" i="1" baseline="-25000" dirty="0" err="1" smtClean="0">
                <a:solidFill>
                  <a:schemeClr val="tx2"/>
                </a:solidFill>
              </a:rPr>
              <a:t>b</a:t>
            </a:r>
            <a:r>
              <a:rPr lang="en-US" altLang="zh-CN" i="1" dirty="0" err="1" smtClean="0">
                <a:solidFill>
                  <a:schemeClr val="tx2"/>
                </a:solidFill>
              </a:rPr>
              <a:t>y</a:t>
            </a:r>
            <a:r>
              <a:rPr lang="en-US" altLang="zh-CN" i="1" dirty="0" smtClean="0">
                <a:solidFill>
                  <a:schemeClr val="tx2"/>
                </a:solidFill>
              </a:rPr>
              <a:t>.</a:t>
            </a:r>
            <a:r>
              <a:rPr lang="en-US" altLang="zh-CN" dirty="0" smtClean="0"/>
              <a:t> </a:t>
            </a:r>
            <a:endParaRPr lang="en-US" altLang="zh-CN" dirty="0" smtClean="0"/>
          </a:p>
          <a:p>
            <a:pPr eaLnBrk="1" hangingPunct="1">
              <a:buFontTx/>
              <a:buNone/>
            </a:pPr>
            <a:r>
              <a:rPr lang="en-US" altLang="zh-CN" dirty="0" smtClean="0"/>
              <a:t> 	</a:t>
            </a:r>
            <a:r>
              <a:rPr lang="zh-CN" altLang="en-US" dirty="0" smtClean="0"/>
              <a:t>这里，</a:t>
            </a:r>
            <a:r>
              <a:rPr lang="en-US" altLang="zh-CN" dirty="0" smtClean="0"/>
              <a:t>b</a:t>
            </a:r>
            <a:r>
              <a:rPr lang="zh-CN" altLang="en-US" dirty="0" smtClean="0"/>
              <a:t>称为</a:t>
            </a:r>
            <a:r>
              <a:rPr lang="zh-CN" altLang="en-US" dirty="0" smtClean="0">
                <a:solidFill>
                  <a:srgbClr val="FF0000"/>
                </a:solidFill>
              </a:rPr>
              <a:t>对数的底数</a:t>
            </a:r>
            <a:r>
              <a:rPr lang="zh-CN" altLang="en-US" dirty="0" smtClean="0"/>
              <a:t>。对于任意大于</a:t>
            </a:r>
            <a:r>
              <a:rPr lang="en-US" altLang="zh-CN" dirty="0" smtClean="0"/>
              <a:t>0</a:t>
            </a:r>
            <a:r>
              <a:rPr lang="zh-CN" altLang="en-US" dirty="0" smtClean="0"/>
              <a:t>的实数</a:t>
            </a:r>
            <a:r>
              <a:rPr lang="en-US" altLang="zh-CN" dirty="0" smtClean="0"/>
              <a:t>x</a:t>
            </a:r>
            <a:r>
              <a:rPr lang="zh-CN" altLang="en-US" dirty="0" smtClean="0"/>
              <a:t>和</a:t>
            </a:r>
            <a:r>
              <a:rPr lang="en-US" altLang="zh-CN" dirty="0" smtClean="0"/>
              <a:t>y</a:t>
            </a:r>
            <a:r>
              <a:rPr lang="zh-CN" altLang="en-US" dirty="0" smtClean="0"/>
              <a:t>，有：</a:t>
            </a:r>
            <a:endParaRPr lang="en-US" altLang="zh-CN" dirty="0" smtClean="0"/>
          </a:p>
          <a:p>
            <a:pPr eaLnBrk="1" hangingPunct="1">
              <a:buFontTx/>
              <a:buNone/>
            </a:pPr>
            <a:endParaRPr lang="en-US" altLang="zh-CN" dirty="0" smtClean="0"/>
          </a:p>
          <a:p>
            <a:pPr eaLnBrk="1" hangingPunct="1">
              <a:buFontTx/>
              <a:buNone/>
            </a:pPr>
            <a:endParaRPr lang="en-US" altLang="zh-CN" dirty="0" smtClean="0"/>
          </a:p>
          <a:p>
            <a:pPr eaLnBrk="1" hangingPunct="1">
              <a:buFontTx/>
              <a:buNone/>
            </a:pPr>
            <a:r>
              <a:rPr lang="zh-CN" altLang="en-US" dirty="0" smtClean="0"/>
              <a:t>当</a:t>
            </a:r>
            <a:r>
              <a:rPr lang="en-US" altLang="zh-CN" dirty="0" smtClean="0"/>
              <a:t>b=2</a:t>
            </a:r>
            <a:r>
              <a:rPr lang="zh-CN" altLang="en-US" dirty="0" smtClean="0"/>
              <a:t>时，我们把</a:t>
            </a:r>
            <a:r>
              <a:rPr lang="en-US" altLang="zh-CN" dirty="0" err="1" smtClean="0"/>
              <a:t>log</a:t>
            </a:r>
            <a:r>
              <a:rPr lang="en-US" altLang="zh-CN" baseline="-25000" dirty="0" err="1" smtClean="0"/>
              <a:t>2</a:t>
            </a:r>
            <a:r>
              <a:rPr lang="en-US" altLang="zh-CN" baseline="-25000" dirty="0" smtClean="0"/>
              <a:t> </a:t>
            </a:r>
            <a:r>
              <a:rPr lang="en-US" altLang="zh-CN" dirty="0" smtClean="0"/>
              <a:t>x</a:t>
            </a:r>
            <a:r>
              <a:rPr lang="zh-CN" altLang="en-US" dirty="0" smtClean="0"/>
              <a:t>写作</a:t>
            </a:r>
            <a:r>
              <a:rPr lang="en-US" altLang="zh-CN" dirty="0" smtClean="0"/>
              <a:t>log  x</a:t>
            </a:r>
            <a:endParaRPr lang="en-US" altLang="zh-CN" dirty="0" smtClean="0"/>
          </a:p>
          <a:p>
            <a:pPr eaLnBrk="1" hangingPunct="1">
              <a:buFontTx/>
              <a:buNone/>
            </a:pPr>
            <a:r>
              <a:rPr lang="zh-CN" altLang="en-US" dirty="0" smtClean="0"/>
              <a:t>当</a:t>
            </a:r>
            <a:r>
              <a:rPr lang="en-US" altLang="zh-CN" dirty="0" smtClean="0"/>
              <a:t>b=e</a:t>
            </a:r>
            <a:r>
              <a:rPr lang="zh-CN" altLang="en-US" dirty="0" smtClean="0"/>
              <a:t>时，我们把</a:t>
            </a:r>
            <a:r>
              <a:rPr lang="en-US" altLang="zh-CN" dirty="0" smtClean="0"/>
              <a:t>log</a:t>
            </a:r>
            <a:r>
              <a:rPr lang="en-US" altLang="zh-CN" baseline="-25000" dirty="0" smtClean="0"/>
              <a:t>e</a:t>
            </a:r>
            <a:r>
              <a:rPr lang="en-US" altLang="zh-CN" dirty="0" smtClean="0"/>
              <a:t> x</a:t>
            </a:r>
            <a:r>
              <a:rPr lang="zh-CN" altLang="en-US" dirty="0" smtClean="0"/>
              <a:t>写作</a:t>
            </a:r>
            <a:r>
              <a:rPr lang="en-US" altLang="zh-CN" dirty="0" smtClean="0"/>
              <a:t>ln x</a:t>
            </a:r>
            <a:endParaRPr lang="en-US" altLang="zh-CN" dirty="0" smtClean="0"/>
          </a:p>
          <a:p>
            <a:pPr eaLnBrk="1" hangingPunct="1">
              <a:buFontTx/>
              <a:buNone/>
            </a:pPr>
            <a:endParaRPr lang="en-US" altLang="zh-CN" dirty="0" smtClean="0"/>
          </a:p>
        </p:txBody>
      </p:sp>
      <p:pic>
        <p:nvPicPr>
          <p:cNvPr id="61445" name="Picture 5"/>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857500" y="3500438"/>
            <a:ext cx="2638425"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1446" name="Picture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00188" y="5643563"/>
            <a:ext cx="5295900" cy="542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63491" name="Rectangle 2"/>
          <p:cNvSpPr>
            <a:spLocks noGrp="1" noChangeArrowheads="1"/>
          </p:cNvSpPr>
          <p:nvPr>
            <p:ph type="title"/>
          </p:nvPr>
        </p:nvSpPr>
        <p:spPr/>
        <p:txBody>
          <a:bodyPr/>
          <a:lstStyle/>
          <a:p>
            <a:pPr eaLnBrk="1" hangingPunct="1"/>
            <a:r>
              <a:rPr lang="en-US" altLang="zh-CN" dirty="0" smtClean="0">
                <a:latin typeface="+mn-ea"/>
              </a:rPr>
              <a:t>1.3.4 </a:t>
            </a:r>
            <a:r>
              <a:rPr lang="zh-CN" altLang="en-US" dirty="0" smtClean="0">
                <a:latin typeface="+mn-ea"/>
              </a:rPr>
              <a:t>底</a:t>
            </a:r>
            <a:r>
              <a:rPr lang="zh-CN" altLang="en-US" dirty="0">
                <a:latin typeface="+mn-ea"/>
              </a:rPr>
              <a:t>函数、顶函数</a:t>
            </a:r>
            <a:endParaRPr lang="en-US" altLang="zh-CN" dirty="0" smtClean="0"/>
          </a:p>
        </p:txBody>
      </p:sp>
      <p:sp>
        <p:nvSpPr>
          <p:cNvPr id="107523" name="Rectangle 3"/>
          <p:cNvSpPr>
            <a:spLocks noGrp="1" noChangeArrowheads="1"/>
          </p:cNvSpPr>
          <p:nvPr>
            <p:ph type="body" idx="1"/>
          </p:nvPr>
        </p:nvSpPr>
        <p:spPr/>
        <p:txBody>
          <a:bodyPr/>
          <a:lstStyle/>
          <a:p>
            <a:pPr eaLnBrk="1" hangingPunct="1">
              <a:lnSpc>
                <a:spcPct val="90000"/>
              </a:lnSpc>
              <a:buFontTx/>
              <a:buNone/>
              <a:defRPr/>
            </a:pPr>
            <a:r>
              <a:rPr lang="zh-CN" altLang="en-US" dirty="0" smtClean="0"/>
              <a:t>令</a:t>
            </a:r>
            <a:r>
              <a:rPr lang="en-US" altLang="zh-CN" dirty="0" smtClean="0"/>
              <a:t> </a:t>
            </a:r>
            <a:r>
              <a:rPr lang="en-US" altLang="zh-CN" i="1" dirty="0" smtClean="0"/>
              <a:t>x</a:t>
            </a:r>
            <a:r>
              <a:rPr lang="en-US" altLang="zh-CN" dirty="0" smtClean="0"/>
              <a:t> </a:t>
            </a:r>
            <a:r>
              <a:rPr lang="zh-CN" altLang="en-US" dirty="0" smtClean="0"/>
              <a:t>是实数</a:t>
            </a:r>
            <a:endParaRPr lang="en-US" altLang="zh-CN" dirty="0" smtClean="0"/>
          </a:p>
          <a:p>
            <a:pPr eaLnBrk="1" hangingPunct="1">
              <a:lnSpc>
                <a:spcPct val="90000"/>
              </a:lnSpc>
              <a:defRPr/>
            </a:pPr>
            <a:r>
              <a:rPr lang="zh-CN" altLang="en-US" dirty="0" smtClean="0"/>
              <a:t>用</a:t>
            </a:r>
            <a:r>
              <a:rPr lang="en-US" altLang="zh-CN" dirty="0" smtClean="0">
                <a:solidFill>
                  <a:srgbClr val="FF0000"/>
                </a:solidFill>
                <a:sym typeface="Symbol" panose="05050102010706020507" pitchFamily="18" charset="2"/>
              </a:rPr>
              <a:t></a:t>
            </a:r>
            <a:r>
              <a:rPr lang="en-US" altLang="zh-CN" i="1" dirty="0" smtClean="0">
                <a:solidFill>
                  <a:srgbClr val="FF0000"/>
                </a:solidFill>
                <a:sym typeface="Symbol" panose="05050102010706020507" pitchFamily="18" charset="2"/>
              </a:rPr>
              <a:t>x</a:t>
            </a:r>
            <a:r>
              <a:rPr lang="en-US" altLang="zh-CN" dirty="0" smtClean="0">
                <a:solidFill>
                  <a:srgbClr val="FF0000"/>
                </a:solidFill>
                <a:sym typeface="Symbol" panose="05050102010706020507" pitchFamily="18" charset="2"/>
              </a:rPr>
              <a:t></a:t>
            </a:r>
            <a:r>
              <a:rPr lang="zh-CN" altLang="en-US" dirty="0" smtClean="0">
                <a:sym typeface="Symbol" panose="05050102010706020507" pitchFamily="18" charset="2"/>
              </a:rPr>
              <a:t>来表示</a:t>
            </a:r>
            <a:r>
              <a:rPr lang="en-US" altLang="zh-CN" dirty="0" smtClean="0">
                <a:sym typeface="Symbol" panose="05050102010706020507" pitchFamily="18" charset="2"/>
              </a:rPr>
              <a:t>x</a:t>
            </a:r>
            <a:r>
              <a:rPr lang="zh-CN" altLang="en-US" dirty="0" smtClean="0">
                <a:sym typeface="Symbol" panose="05050102010706020507" pitchFamily="18" charset="2"/>
              </a:rPr>
              <a:t>的底函数，它被定义为小于等于</a:t>
            </a:r>
            <a:r>
              <a:rPr lang="en-US" altLang="zh-CN" dirty="0" smtClean="0">
                <a:sym typeface="Symbol" panose="05050102010706020507" pitchFamily="18" charset="2"/>
              </a:rPr>
              <a:t>x</a:t>
            </a:r>
            <a:r>
              <a:rPr lang="zh-CN" altLang="en-US" dirty="0" smtClean="0">
                <a:sym typeface="Symbol" panose="05050102010706020507" pitchFamily="18" charset="2"/>
              </a:rPr>
              <a:t>的最大整数；</a:t>
            </a:r>
            <a:r>
              <a:rPr lang="en-US" altLang="zh-CN" dirty="0" smtClean="0">
                <a:sym typeface="Symbol" panose="05050102010706020507" pitchFamily="18" charset="2"/>
              </a:rPr>
              <a:t>x</a:t>
            </a:r>
            <a:r>
              <a:rPr lang="zh-CN" altLang="en-US" dirty="0" smtClean="0">
                <a:sym typeface="Symbol" panose="05050102010706020507" pitchFamily="18" charset="2"/>
              </a:rPr>
              <a:t>的顶函数用</a:t>
            </a:r>
            <a:r>
              <a:rPr lang="en-US" altLang="zh-CN" dirty="0" smtClean="0">
                <a:solidFill>
                  <a:srgbClr val="FF0000"/>
                </a:solidFill>
                <a:sym typeface="Symbol" panose="05050102010706020507" pitchFamily="18" charset="2"/>
              </a:rPr>
              <a:t></a:t>
            </a:r>
            <a:r>
              <a:rPr lang="en-US" altLang="zh-CN" i="1" dirty="0" smtClean="0">
                <a:solidFill>
                  <a:srgbClr val="FF0000"/>
                </a:solidFill>
                <a:sym typeface="Symbol" panose="05050102010706020507" pitchFamily="18" charset="2"/>
              </a:rPr>
              <a:t>x</a:t>
            </a:r>
            <a:r>
              <a:rPr lang="en-US" altLang="zh-CN" dirty="0" smtClean="0">
                <a:solidFill>
                  <a:srgbClr val="FF0000"/>
                </a:solidFill>
                <a:sym typeface="Symbol" panose="05050102010706020507" pitchFamily="18" charset="2"/>
              </a:rPr>
              <a:t></a:t>
            </a:r>
            <a:r>
              <a:rPr lang="zh-CN" altLang="en-US" dirty="0" smtClean="0">
                <a:sym typeface="Symbol" panose="05050102010706020507" pitchFamily="18" charset="2"/>
              </a:rPr>
              <a:t>来表示，它被定义为大于等于</a:t>
            </a:r>
            <a:r>
              <a:rPr lang="en-US" altLang="zh-CN" dirty="0" smtClean="0">
                <a:sym typeface="Symbol" panose="05050102010706020507" pitchFamily="18" charset="2"/>
              </a:rPr>
              <a:t>x</a:t>
            </a:r>
            <a:r>
              <a:rPr lang="zh-CN" altLang="en-US" dirty="0" smtClean="0">
                <a:sym typeface="Symbol" panose="05050102010706020507" pitchFamily="18" charset="2"/>
              </a:rPr>
              <a:t>的最小整数</a:t>
            </a:r>
            <a:r>
              <a:rPr lang="en-US" altLang="zh-CN" dirty="0" smtClean="0">
                <a:sym typeface="Symbol" panose="05050102010706020507" pitchFamily="18" charset="2"/>
              </a:rPr>
              <a:t> </a:t>
            </a:r>
            <a:r>
              <a:rPr lang="zh-CN" altLang="en-US" dirty="0" smtClean="0">
                <a:sym typeface="Symbol" panose="05050102010706020507" pitchFamily="18" charset="2"/>
              </a:rPr>
              <a:t>，例如：</a:t>
            </a:r>
            <a:endParaRPr lang="en-US" altLang="zh-CN" dirty="0" smtClean="0">
              <a:sym typeface="Symbol" panose="05050102010706020507" pitchFamily="18" charset="2"/>
            </a:endParaRPr>
          </a:p>
          <a:p>
            <a:pPr eaLnBrk="1" hangingPunct="1">
              <a:lnSpc>
                <a:spcPct val="90000"/>
              </a:lnSpc>
              <a:defRPr/>
            </a:pPr>
            <a:endParaRPr lang="en-US" altLang="zh-CN" dirty="0" smtClean="0">
              <a:sym typeface="Symbol" panose="05050102010706020507" pitchFamily="18" charset="2"/>
            </a:endParaRPr>
          </a:p>
          <a:p>
            <a:pPr eaLnBrk="1" hangingPunct="1">
              <a:lnSpc>
                <a:spcPct val="90000"/>
              </a:lnSpc>
              <a:defRPr/>
            </a:pPr>
            <a:r>
              <a:rPr lang="zh-CN" altLang="en-US" dirty="0" smtClean="0">
                <a:sym typeface="Symbol" panose="05050102010706020507" pitchFamily="18" charset="2"/>
              </a:rPr>
              <a:t>重要等式：</a:t>
            </a:r>
            <a:r>
              <a:rPr lang="en-US" altLang="zh-CN" dirty="0" smtClean="0">
                <a:sym typeface="Symbol" panose="05050102010706020507" pitchFamily="18" charset="2"/>
              </a:rPr>
              <a:t> </a:t>
            </a:r>
            <a:endParaRPr lang="en-US" altLang="zh-CN" dirty="0" smtClean="0">
              <a:sym typeface="Symbol" panose="05050102010706020507" pitchFamily="18" charset="2"/>
            </a:endParaRPr>
          </a:p>
          <a:p>
            <a:pPr lvl="1" eaLnBrk="1" hangingPunct="1">
              <a:lnSpc>
                <a:spcPct val="90000"/>
              </a:lnSpc>
              <a:defRPr/>
            </a:pPr>
            <a:r>
              <a:rPr lang="en-US" altLang="zh-CN" dirty="0" smtClean="0">
                <a:sym typeface="Symbol" panose="05050102010706020507" pitchFamily="18" charset="2"/>
              </a:rPr>
              <a:t></a:t>
            </a:r>
            <a:r>
              <a:rPr lang="en-US" altLang="zh-CN" i="1" dirty="0" smtClean="0">
                <a:sym typeface="Symbol" panose="05050102010706020507" pitchFamily="18" charset="2"/>
              </a:rPr>
              <a:t>x/2</a:t>
            </a:r>
            <a:r>
              <a:rPr lang="en-US" altLang="zh-CN" dirty="0" smtClean="0">
                <a:sym typeface="Symbol" panose="05050102010706020507" pitchFamily="18" charset="2"/>
              </a:rPr>
              <a:t>+ </a:t>
            </a:r>
            <a:r>
              <a:rPr lang="en-US" altLang="zh-CN" i="1" dirty="0" smtClean="0">
                <a:sym typeface="Symbol" panose="05050102010706020507" pitchFamily="18" charset="2"/>
              </a:rPr>
              <a:t>x/2</a:t>
            </a:r>
            <a:r>
              <a:rPr lang="en-US" altLang="zh-CN" dirty="0" smtClean="0">
                <a:sym typeface="Symbol" panose="05050102010706020507" pitchFamily="18" charset="2"/>
              </a:rPr>
              <a:t>=x;    -</a:t>
            </a:r>
            <a:r>
              <a:rPr lang="en-US" altLang="zh-CN" i="1" dirty="0" smtClean="0">
                <a:sym typeface="Symbol" panose="05050102010706020507" pitchFamily="18" charset="2"/>
              </a:rPr>
              <a:t>x</a:t>
            </a:r>
            <a:r>
              <a:rPr lang="en-US" altLang="zh-CN" dirty="0" smtClean="0">
                <a:sym typeface="Symbol" panose="05050102010706020507" pitchFamily="18" charset="2"/>
              </a:rPr>
              <a:t>=- </a:t>
            </a:r>
            <a:r>
              <a:rPr lang="en-US" altLang="zh-CN" i="1" dirty="0" smtClean="0">
                <a:sym typeface="Symbol" panose="05050102010706020507" pitchFamily="18" charset="2"/>
              </a:rPr>
              <a:t>x</a:t>
            </a:r>
            <a:r>
              <a:rPr lang="en-US" altLang="zh-CN" dirty="0" smtClean="0">
                <a:sym typeface="Symbol" panose="05050102010706020507" pitchFamily="18" charset="2"/>
              </a:rPr>
              <a:t>;        -</a:t>
            </a:r>
            <a:r>
              <a:rPr lang="en-US" altLang="zh-CN" i="1" dirty="0" smtClean="0">
                <a:sym typeface="Symbol" panose="05050102010706020507" pitchFamily="18" charset="2"/>
              </a:rPr>
              <a:t>x</a:t>
            </a:r>
            <a:r>
              <a:rPr lang="en-US" altLang="zh-CN" dirty="0" smtClean="0">
                <a:sym typeface="Symbol" panose="05050102010706020507" pitchFamily="18" charset="2"/>
              </a:rPr>
              <a:t>=- </a:t>
            </a:r>
            <a:r>
              <a:rPr lang="en-US" altLang="zh-CN" i="1" dirty="0" smtClean="0">
                <a:sym typeface="Symbol" panose="05050102010706020507" pitchFamily="18" charset="2"/>
              </a:rPr>
              <a:t>x</a:t>
            </a:r>
            <a:r>
              <a:rPr lang="en-US" altLang="zh-CN" dirty="0" smtClean="0">
                <a:sym typeface="Symbol" panose="05050102010706020507" pitchFamily="18" charset="2"/>
              </a:rPr>
              <a:t>.</a:t>
            </a:r>
            <a:endParaRPr lang="en-US" altLang="zh-CN" dirty="0" smtClean="0">
              <a:sym typeface="Symbol" panose="05050102010706020507" pitchFamily="18" charset="2"/>
            </a:endParaRPr>
          </a:p>
          <a:p>
            <a:pPr eaLnBrk="1" hangingPunct="1">
              <a:lnSpc>
                <a:spcPct val="90000"/>
              </a:lnSpc>
              <a:defRPr/>
            </a:pPr>
            <a:endParaRPr lang="en-US" altLang="zh-CN" dirty="0" smtClean="0">
              <a:sym typeface="Symbol" panose="05050102010706020507" pitchFamily="18" charset="2"/>
            </a:endParaRPr>
          </a:p>
          <a:p>
            <a:pPr eaLnBrk="1" hangingPunct="1">
              <a:lnSpc>
                <a:spcPct val="90000"/>
              </a:lnSpc>
              <a:defRPr/>
            </a:pPr>
            <a:r>
              <a:rPr lang="en-US" altLang="zh-CN" dirty="0" smtClean="0">
                <a:sym typeface="Symbol" panose="05050102010706020507" pitchFamily="18" charset="2"/>
              </a:rPr>
              <a:t> </a:t>
            </a:r>
            <a:r>
              <a:rPr lang="zh-CN" altLang="en-US" dirty="0" smtClean="0">
                <a:sym typeface="Symbol" panose="05050102010706020507" pitchFamily="18" charset="2"/>
              </a:rPr>
              <a:t>定理</a:t>
            </a:r>
            <a:r>
              <a:rPr lang="en-US" altLang="zh-CN" dirty="0" smtClean="0">
                <a:sym typeface="Symbol" panose="05050102010706020507" pitchFamily="18" charset="2"/>
              </a:rPr>
              <a:t> 2.1</a:t>
            </a:r>
            <a:endParaRPr lang="en-US" altLang="zh-CN" dirty="0" smtClean="0">
              <a:sym typeface="Symbol" panose="05050102010706020507" pitchFamily="18" charset="2"/>
            </a:endParaRPr>
          </a:p>
          <a:p>
            <a:pPr lvl="1" eaLnBrk="1" hangingPunct="1">
              <a:lnSpc>
                <a:spcPct val="90000"/>
              </a:lnSpc>
              <a:defRPr/>
            </a:pPr>
            <a:r>
              <a:rPr lang="en-US" altLang="zh-CN" dirty="0" smtClean="0">
                <a:latin typeface="+mn-lt"/>
                <a:ea typeface="+mn-ea"/>
                <a:sym typeface="Symbol" panose="05050102010706020507" pitchFamily="18" charset="2"/>
              </a:rPr>
              <a:t> </a:t>
            </a:r>
            <a:r>
              <a:rPr lang="en-US" altLang="zh-CN" i="1" dirty="0" smtClean="0">
                <a:latin typeface="+mn-lt"/>
                <a:ea typeface="+mn-ea"/>
                <a:sym typeface="Symbol" panose="05050102010706020507" pitchFamily="18" charset="2"/>
              </a:rPr>
              <a:t>f(x)</a:t>
            </a:r>
            <a:r>
              <a:rPr lang="en-US" altLang="zh-CN" dirty="0" smtClean="0">
                <a:latin typeface="+mn-lt"/>
                <a:ea typeface="+mn-ea"/>
                <a:sym typeface="Symbol" panose="05050102010706020507" pitchFamily="18" charset="2"/>
              </a:rPr>
              <a:t> </a:t>
            </a:r>
            <a:r>
              <a:rPr lang="zh-CN" altLang="en-US" dirty="0" smtClean="0">
                <a:latin typeface="+mn-lt"/>
                <a:ea typeface="+mn-ea"/>
                <a:sym typeface="Symbol" panose="05050102010706020507" pitchFamily="18" charset="2"/>
              </a:rPr>
              <a:t>是单调递增函数，使得若</a:t>
            </a:r>
            <a:r>
              <a:rPr lang="en-US" altLang="zh-CN" i="1" dirty="0" smtClean="0">
                <a:latin typeface="+mn-lt"/>
                <a:ea typeface="+mn-ea"/>
                <a:sym typeface="Symbol" panose="05050102010706020507" pitchFamily="18" charset="2"/>
              </a:rPr>
              <a:t>f(x)</a:t>
            </a:r>
            <a:r>
              <a:rPr lang="en-US" altLang="zh-CN" dirty="0" smtClean="0">
                <a:latin typeface="+mn-lt"/>
                <a:ea typeface="+mn-ea"/>
                <a:sym typeface="Symbol" panose="05050102010706020507" pitchFamily="18" charset="2"/>
              </a:rPr>
              <a:t> </a:t>
            </a:r>
            <a:r>
              <a:rPr lang="zh-CN" altLang="en-US" dirty="0" smtClean="0">
                <a:latin typeface="+mn-lt"/>
                <a:ea typeface="+mn-ea"/>
                <a:sym typeface="Symbol" panose="05050102010706020507" pitchFamily="18" charset="2"/>
              </a:rPr>
              <a:t>是整数，则</a:t>
            </a:r>
            <a:r>
              <a:rPr lang="en-US" altLang="zh-CN" dirty="0" smtClean="0">
                <a:latin typeface="+mn-lt"/>
                <a:ea typeface="+mn-ea"/>
                <a:sym typeface="Symbol" panose="05050102010706020507" pitchFamily="18" charset="2"/>
              </a:rPr>
              <a:t>x</a:t>
            </a:r>
            <a:r>
              <a:rPr lang="zh-CN" altLang="en-US" dirty="0" smtClean="0">
                <a:latin typeface="+mn-lt"/>
                <a:ea typeface="+mn-ea"/>
                <a:sym typeface="Symbol" panose="05050102010706020507" pitchFamily="18" charset="2"/>
              </a:rPr>
              <a:t>是整数。</a:t>
            </a:r>
            <a:endParaRPr lang="en-US" altLang="zh-CN" dirty="0" smtClean="0">
              <a:latin typeface="+mn-lt"/>
              <a:ea typeface="+mn-ea"/>
              <a:sym typeface="Symbol" panose="05050102010706020507" pitchFamily="18" charset="2"/>
            </a:endParaRPr>
          </a:p>
          <a:p>
            <a:pPr lvl="1" eaLnBrk="1" hangingPunct="1">
              <a:lnSpc>
                <a:spcPct val="90000"/>
              </a:lnSpc>
              <a:buFontTx/>
              <a:buNone/>
              <a:defRPr/>
            </a:pPr>
            <a:r>
              <a:rPr lang="en-US" altLang="zh-CN" dirty="0" smtClean="0">
                <a:latin typeface="+mn-lt"/>
                <a:ea typeface="+mn-ea"/>
                <a:sym typeface="Symbol" panose="05050102010706020507" pitchFamily="18" charset="2"/>
              </a:rPr>
              <a:t>       </a:t>
            </a:r>
            <a:r>
              <a:rPr lang="zh-CN" altLang="en-US" dirty="0" smtClean="0">
                <a:latin typeface="+mn-lt"/>
                <a:ea typeface="+mn-ea"/>
                <a:sym typeface="Symbol" panose="05050102010706020507" pitchFamily="18" charset="2"/>
              </a:rPr>
              <a:t>那么</a:t>
            </a:r>
            <a:r>
              <a:rPr lang="en-US" altLang="zh-CN" dirty="0" smtClean="0">
                <a:latin typeface="+mn-lt"/>
                <a:ea typeface="+mn-ea"/>
                <a:sym typeface="Symbol" panose="05050102010706020507" pitchFamily="18" charset="2"/>
              </a:rPr>
              <a:t> f(x)= f(x) </a:t>
            </a:r>
            <a:r>
              <a:rPr lang="zh-CN" altLang="en-US" dirty="0" smtClean="0">
                <a:latin typeface="+mn-lt"/>
                <a:ea typeface="+mn-ea"/>
                <a:sym typeface="Symbol" panose="05050102010706020507" pitchFamily="18" charset="2"/>
              </a:rPr>
              <a:t>且</a:t>
            </a:r>
            <a:r>
              <a:rPr lang="en-US" altLang="zh-CN" dirty="0" smtClean="0">
                <a:latin typeface="+mn-lt"/>
                <a:ea typeface="+mn-ea"/>
                <a:sym typeface="Symbol" panose="05050102010706020507" pitchFamily="18" charset="2"/>
              </a:rPr>
              <a:t> f(</a:t>
            </a:r>
            <a:r>
              <a:rPr lang="en-US" altLang="zh-CN" i="1" dirty="0" smtClean="0">
                <a:latin typeface="+mn-lt"/>
                <a:ea typeface="+mn-ea"/>
                <a:sym typeface="Symbol" panose="05050102010706020507" pitchFamily="18" charset="2"/>
              </a:rPr>
              <a:t>x</a:t>
            </a:r>
            <a:r>
              <a:rPr lang="en-US" altLang="zh-CN" dirty="0" smtClean="0">
                <a:latin typeface="+mn-lt"/>
                <a:ea typeface="+mn-ea"/>
                <a:sym typeface="Symbol" panose="05050102010706020507" pitchFamily="18" charset="2"/>
              </a:rPr>
              <a:t>)=f(</a:t>
            </a:r>
            <a:r>
              <a:rPr lang="en-US" altLang="zh-CN" i="1" dirty="0" smtClean="0">
                <a:latin typeface="+mn-lt"/>
                <a:ea typeface="+mn-ea"/>
                <a:sym typeface="Symbol" panose="05050102010706020507" pitchFamily="18" charset="2"/>
              </a:rPr>
              <a:t>x)</a:t>
            </a:r>
            <a:r>
              <a:rPr lang="en-US" altLang="zh-CN" dirty="0" smtClean="0">
                <a:latin typeface="+mn-lt"/>
                <a:ea typeface="+mn-ea"/>
                <a:sym typeface="Symbol" panose="05050102010706020507" pitchFamily="18" charset="2"/>
              </a:rPr>
              <a:t>.</a:t>
            </a:r>
            <a:endParaRPr lang="en-US" altLang="zh-CN" dirty="0" smtClean="0">
              <a:latin typeface="+mn-lt"/>
              <a:ea typeface="+mn-ea"/>
            </a:endParaRPr>
          </a:p>
        </p:txBody>
      </p:sp>
      <p:pic>
        <p:nvPicPr>
          <p:cNvPr id="63493" name="Picture 5" descr="theorem"/>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827088" y="4365625"/>
            <a:ext cx="5334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3494" name="Picture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14563" y="2786063"/>
            <a:ext cx="4524375" cy="390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67587" name="Rectangle 2"/>
          <p:cNvSpPr>
            <a:spLocks noGrp="1" noChangeArrowheads="1"/>
          </p:cNvSpPr>
          <p:nvPr>
            <p:ph type="title"/>
          </p:nvPr>
        </p:nvSpPr>
        <p:spPr>
          <a:xfrm>
            <a:off x="900113" y="183356"/>
            <a:ext cx="8229600" cy="995363"/>
          </a:xfrm>
        </p:spPr>
        <p:txBody>
          <a:bodyPr/>
          <a:lstStyle/>
          <a:p>
            <a:pPr eaLnBrk="1" hangingPunct="1"/>
            <a:r>
              <a:rPr lang="en-US" altLang="zh-CN" dirty="0">
                <a:solidFill>
                  <a:srgbClr val="333399"/>
                </a:solidFill>
                <a:latin typeface="华文楷体" panose="02010600040101010101" pitchFamily="2" charset="-122"/>
              </a:rPr>
              <a:t>1.3.5 </a:t>
            </a:r>
            <a:r>
              <a:rPr lang="zh-CN" altLang="en-US" dirty="0">
                <a:solidFill>
                  <a:srgbClr val="FF0000"/>
                </a:solidFill>
                <a:latin typeface="华文楷体" panose="02010600040101010101" pitchFamily="2" charset="-122"/>
              </a:rPr>
              <a:t>阶乘</a:t>
            </a:r>
            <a:r>
              <a:rPr lang="zh-CN" altLang="en-US" dirty="0">
                <a:solidFill>
                  <a:srgbClr val="333399"/>
                </a:solidFill>
                <a:latin typeface="华文楷体" panose="02010600040101010101" pitchFamily="2" charset="-122"/>
              </a:rPr>
              <a:t>和二项式系数</a:t>
            </a:r>
            <a:endParaRPr lang="en-US" altLang="zh-CN" sz="2800" dirty="0" smtClean="0"/>
          </a:p>
        </p:txBody>
      </p:sp>
      <p:sp>
        <p:nvSpPr>
          <p:cNvPr id="108547" name="Rectangle 3"/>
          <p:cNvSpPr>
            <a:spLocks noGrp="1" noChangeArrowheads="1"/>
          </p:cNvSpPr>
          <p:nvPr>
            <p:ph type="body" idx="1"/>
          </p:nvPr>
        </p:nvSpPr>
        <p:spPr/>
        <p:txBody>
          <a:bodyPr/>
          <a:lstStyle/>
          <a:p>
            <a:pPr eaLnBrk="1" hangingPunct="1">
              <a:defRPr/>
            </a:pPr>
            <a:r>
              <a:rPr lang="zh-CN" altLang="en-US" dirty="0" smtClean="0"/>
              <a:t>排列</a:t>
            </a:r>
            <a:r>
              <a:rPr lang="en-US" altLang="zh-CN" dirty="0" smtClean="0"/>
              <a:t>: </a:t>
            </a:r>
            <a:endParaRPr lang="en-US" altLang="zh-CN" dirty="0" smtClean="0"/>
          </a:p>
          <a:p>
            <a:pPr lvl="1" eaLnBrk="1" hangingPunct="1">
              <a:defRPr/>
            </a:pPr>
            <a:r>
              <a:rPr lang="en-US" altLang="zh-CN" dirty="0" smtClean="0">
                <a:latin typeface="+mn-lt"/>
                <a:ea typeface="+mn-ea"/>
              </a:rPr>
              <a:t>n</a:t>
            </a:r>
            <a:r>
              <a:rPr lang="zh-CN" altLang="en-US" dirty="0" smtClean="0">
                <a:latin typeface="+mn-lt"/>
                <a:ea typeface="+mn-ea"/>
              </a:rPr>
              <a:t>个不同对象的</a:t>
            </a:r>
            <a:r>
              <a:rPr lang="zh-CN" altLang="en-US" dirty="0" smtClean="0">
                <a:solidFill>
                  <a:srgbClr val="FF0000"/>
                </a:solidFill>
                <a:latin typeface="+mn-lt"/>
                <a:ea typeface="+mn-ea"/>
              </a:rPr>
              <a:t>排列</a:t>
            </a:r>
            <a:r>
              <a:rPr lang="zh-CN" altLang="en-US" dirty="0" smtClean="0">
                <a:latin typeface="+mn-lt"/>
                <a:ea typeface="+mn-ea"/>
              </a:rPr>
              <a:t>，定义为这些对象排成一排。例如</a:t>
            </a:r>
            <a:r>
              <a:rPr lang="en-US" altLang="zh-CN" dirty="0" err="1" smtClean="0">
                <a:latin typeface="+mn-lt"/>
                <a:ea typeface="+mn-ea"/>
              </a:rPr>
              <a:t>a,b,c</a:t>
            </a:r>
            <a:r>
              <a:rPr lang="zh-CN" altLang="en-US" dirty="0" smtClean="0">
                <a:latin typeface="+mn-lt"/>
                <a:ea typeface="+mn-ea"/>
              </a:rPr>
              <a:t>三个元素有</a:t>
            </a:r>
            <a:r>
              <a:rPr lang="en-US" altLang="zh-CN" dirty="0" smtClean="0">
                <a:latin typeface="+mn-lt"/>
                <a:ea typeface="+mn-ea"/>
              </a:rPr>
              <a:t>6</a:t>
            </a:r>
            <a:r>
              <a:rPr lang="zh-CN" altLang="en-US" dirty="0" smtClean="0">
                <a:latin typeface="+mn-lt"/>
                <a:ea typeface="+mn-ea"/>
              </a:rPr>
              <a:t>种排列，分别是</a:t>
            </a:r>
            <a:endParaRPr lang="en-US" altLang="zh-CN" dirty="0" smtClean="0">
              <a:latin typeface="+mn-lt"/>
              <a:ea typeface="+mn-ea"/>
            </a:endParaRPr>
          </a:p>
          <a:p>
            <a:pPr lvl="1" eaLnBrk="1" hangingPunct="1">
              <a:buFontTx/>
              <a:buNone/>
              <a:defRPr/>
            </a:pPr>
            <a:r>
              <a:rPr lang="en-US" altLang="zh-CN" dirty="0" smtClean="0">
                <a:latin typeface="+mn-lt"/>
                <a:ea typeface="+mn-ea"/>
              </a:rPr>
              <a:t>                     </a:t>
            </a:r>
            <a:r>
              <a:rPr lang="en-US" altLang="zh-CN" dirty="0" err="1" smtClean="0">
                <a:latin typeface="+mn-lt"/>
                <a:ea typeface="+mn-ea"/>
              </a:rPr>
              <a:t>abc</a:t>
            </a:r>
            <a:r>
              <a:rPr lang="en-US" altLang="zh-CN" dirty="0" smtClean="0">
                <a:latin typeface="+mn-lt"/>
                <a:ea typeface="+mn-ea"/>
              </a:rPr>
              <a:t>,  </a:t>
            </a:r>
            <a:r>
              <a:rPr lang="en-US" altLang="zh-CN" dirty="0" err="1" smtClean="0">
                <a:latin typeface="+mn-lt"/>
                <a:ea typeface="+mn-ea"/>
              </a:rPr>
              <a:t>acb</a:t>
            </a:r>
            <a:r>
              <a:rPr lang="en-US" altLang="zh-CN" dirty="0" smtClean="0">
                <a:latin typeface="+mn-lt"/>
                <a:ea typeface="+mn-ea"/>
              </a:rPr>
              <a:t>,  </a:t>
            </a:r>
            <a:r>
              <a:rPr lang="en-US" altLang="zh-CN" dirty="0" err="1" smtClean="0">
                <a:latin typeface="+mn-lt"/>
                <a:ea typeface="+mn-ea"/>
              </a:rPr>
              <a:t>bac</a:t>
            </a:r>
            <a:r>
              <a:rPr lang="en-US" altLang="zh-CN" dirty="0" smtClean="0">
                <a:latin typeface="+mn-lt"/>
                <a:ea typeface="+mn-ea"/>
              </a:rPr>
              <a:t>, </a:t>
            </a:r>
            <a:r>
              <a:rPr lang="en-US" altLang="zh-CN" dirty="0" err="1" smtClean="0">
                <a:latin typeface="+mn-lt"/>
                <a:ea typeface="+mn-ea"/>
              </a:rPr>
              <a:t>bca</a:t>
            </a:r>
            <a:r>
              <a:rPr lang="en-US" altLang="zh-CN" dirty="0" smtClean="0">
                <a:latin typeface="+mn-lt"/>
                <a:ea typeface="+mn-ea"/>
              </a:rPr>
              <a:t>, cab, </a:t>
            </a:r>
            <a:r>
              <a:rPr lang="en-US" altLang="zh-CN" dirty="0" err="1" smtClean="0">
                <a:latin typeface="+mn-lt"/>
                <a:ea typeface="+mn-ea"/>
              </a:rPr>
              <a:t>cba</a:t>
            </a:r>
            <a:endParaRPr lang="en-US" altLang="zh-CN" dirty="0" smtClean="0">
              <a:latin typeface="+mn-lt"/>
              <a:ea typeface="+mn-ea"/>
            </a:endParaRPr>
          </a:p>
          <a:p>
            <a:pPr lvl="1" eaLnBrk="1" hangingPunct="1">
              <a:buFontTx/>
              <a:buNone/>
              <a:defRPr/>
            </a:pPr>
            <a:r>
              <a:rPr lang="zh-CN" altLang="en-US" dirty="0" smtClean="0">
                <a:latin typeface="+mn-ea"/>
                <a:ea typeface="+mn-ea"/>
              </a:rPr>
              <a:t>排列与元素的</a:t>
            </a:r>
            <a:r>
              <a:rPr lang="zh-CN" altLang="en-US" dirty="0" smtClean="0">
                <a:solidFill>
                  <a:srgbClr val="FF0000"/>
                </a:solidFill>
                <a:latin typeface="+mn-ea"/>
                <a:ea typeface="+mn-ea"/>
              </a:rPr>
              <a:t>顺序有关</a:t>
            </a:r>
            <a:r>
              <a:rPr lang="zh-CN" altLang="en-US" dirty="0" smtClean="0">
                <a:latin typeface="+mn-ea"/>
                <a:ea typeface="+mn-ea"/>
              </a:rPr>
              <a:t>。</a:t>
            </a:r>
            <a:endParaRPr lang="en-US" altLang="zh-CN" dirty="0" smtClean="0">
              <a:latin typeface="+mn-ea"/>
              <a:ea typeface="+mn-ea"/>
            </a:endParaRPr>
          </a:p>
          <a:p>
            <a:pPr eaLnBrk="1" hangingPunct="1">
              <a:defRPr/>
            </a:pPr>
            <a:r>
              <a:rPr lang="zh-CN" altLang="en-US" dirty="0" smtClean="0"/>
              <a:t>排列数</a:t>
            </a:r>
            <a:r>
              <a:rPr lang="en-US" altLang="zh-CN" dirty="0" smtClean="0"/>
              <a:t>:</a:t>
            </a:r>
            <a:endParaRPr lang="en-US" altLang="zh-CN" dirty="0" smtClean="0"/>
          </a:p>
          <a:p>
            <a:pPr lvl="1" eaLnBrk="1" hangingPunct="1">
              <a:defRPr/>
            </a:pPr>
            <a:r>
              <a:rPr lang="en-US" altLang="zh-CN" dirty="0" smtClean="0">
                <a:latin typeface="+mn-lt"/>
                <a:ea typeface="+mn-ea"/>
              </a:rPr>
              <a:t>n</a:t>
            </a:r>
            <a:r>
              <a:rPr lang="zh-CN" altLang="en-US" dirty="0" smtClean="0">
                <a:latin typeface="+mn-lt"/>
                <a:ea typeface="+mn-ea"/>
              </a:rPr>
              <a:t>个对象中每次取</a:t>
            </a:r>
            <a:r>
              <a:rPr lang="en-US" altLang="zh-CN" dirty="0" smtClean="0">
                <a:latin typeface="+mn-lt"/>
                <a:ea typeface="+mn-ea"/>
              </a:rPr>
              <a:t>k</a:t>
            </a:r>
            <a:r>
              <a:rPr lang="zh-CN" altLang="en-US" dirty="0" smtClean="0">
                <a:latin typeface="+mn-lt"/>
                <a:ea typeface="+mn-ea"/>
              </a:rPr>
              <a:t>个对象的排列数</a:t>
            </a:r>
            <a:r>
              <a:rPr lang="en-US" altLang="zh-CN" dirty="0" smtClean="0">
                <a:latin typeface="+mn-lt"/>
                <a:ea typeface="+mn-ea"/>
              </a:rPr>
              <a:t>: </a:t>
            </a:r>
            <a:endParaRPr lang="en-US" altLang="zh-CN" dirty="0" smtClean="0">
              <a:latin typeface="+mn-lt"/>
              <a:ea typeface="+mn-ea"/>
            </a:endParaRPr>
          </a:p>
          <a:p>
            <a:pPr lvl="1" eaLnBrk="1" hangingPunct="1">
              <a:buFontTx/>
              <a:buNone/>
              <a:defRPr/>
            </a:pPr>
            <a:r>
              <a:rPr lang="en-US" altLang="zh-CN" dirty="0" smtClean="0">
                <a:latin typeface="+mn-lt"/>
                <a:ea typeface="+mn-ea"/>
              </a:rPr>
              <a:t>                 </a:t>
            </a:r>
            <a:r>
              <a:rPr lang="en-US" altLang="zh-CN" dirty="0" err="1" smtClean="0">
                <a:solidFill>
                  <a:srgbClr val="FF0000"/>
                </a:solidFill>
                <a:latin typeface="+mn-lt"/>
                <a:ea typeface="+mn-ea"/>
              </a:rPr>
              <a:t>P</a:t>
            </a:r>
            <a:r>
              <a:rPr lang="en-US" altLang="zh-CN" baseline="-25000" dirty="0" err="1" smtClean="0">
                <a:solidFill>
                  <a:srgbClr val="FF0000"/>
                </a:solidFill>
                <a:latin typeface="+mn-lt"/>
                <a:ea typeface="+mn-ea"/>
              </a:rPr>
              <a:t>k</a:t>
            </a:r>
            <a:r>
              <a:rPr lang="en-US" altLang="zh-CN" baseline="30000" dirty="0" err="1" smtClean="0">
                <a:solidFill>
                  <a:srgbClr val="FF0000"/>
                </a:solidFill>
                <a:latin typeface="+mn-lt"/>
                <a:ea typeface="+mn-ea"/>
              </a:rPr>
              <a:t>n</a:t>
            </a:r>
            <a:r>
              <a:rPr lang="en-US" altLang="zh-CN" dirty="0" smtClean="0">
                <a:latin typeface="+mn-lt"/>
                <a:ea typeface="+mn-ea"/>
              </a:rPr>
              <a:t>=n(n-1)…(n-k+1)=</a:t>
            </a:r>
            <a:r>
              <a:rPr lang="en-US" dirty="0" smtClean="0"/>
              <a:t> </a:t>
            </a:r>
            <a:r>
              <a:rPr lang="en-US" dirty="0" smtClean="0">
                <a:solidFill>
                  <a:srgbClr val="FF0000"/>
                </a:solidFill>
                <a:latin typeface="+mn-lt"/>
              </a:rPr>
              <a:t>n!/(n-</a:t>
            </a:r>
            <a:r>
              <a:rPr lang="en-US" altLang="zh-CN" dirty="0" smtClean="0">
                <a:solidFill>
                  <a:srgbClr val="FF0000"/>
                </a:solidFill>
                <a:latin typeface="+mn-lt"/>
              </a:rPr>
              <a:t>k</a:t>
            </a:r>
            <a:r>
              <a:rPr lang="en-US" dirty="0" smtClean="0">
                <a:solidFill>
                  <a:srgbClr val="FF0000"/>
                </a:solidFill>
                <a:latin typeface="+mn-lt"/>
              </a:rPr>
              <a:t>)!</a:t>
            </a:r>
            <a:endParaRPr lang="en-US" altLang="zh-CN" dirty="0" smtClean="0">
              <a:solidFill>
                <a:srgbClr val="FF0000"/>
              </a:solidFill>
              <a:latin typeface="+mn-lt"/>
              <a:ea typeface="+mn-ea"/>
            </a:endParaRPr>
          </a:p>
          <a:p>
            <a:pPr lvl="1" eaLnBrk="1" hangingPunct="1">
              <a:defRPr/>
            </a:pPr>
            <a:r>
              <a:rPr lang="en-US" altLang="zh-CN" dirty="0" smtClean="0">
                <a:latin typeface="+mn-lt"/>
                <a:ea typeface="+mn-ea"/>
              </a:rPr>
              <a:t>n</a:t>
            </a:r>
            <a:r>
              <a:rPr lang="zh-CN" altLang="en-US" dirty="0" smtClean="0">
                <a:latin typeface="+mn-lt"/>
                <a:ea typeface="+mn-ea"/>
              </a:rPr>
              <a:t>个对象的排列数</a:t>
            </a:r>
            <a:r>
              <a:rPr lang="en-US" altLang="zh-CN" dirty="0" smtClean="0">
                <a:latin typeface="+mn-lt"/>
                <a:ea typeface="+mn-ea"/>
              </a:rPr>
              <a:t>: </a:t>
            </a:r>
            <a:r>
              <a:rPr lang="en-US" altLang="zh-CN" dirty="0" err="1" smtClean="0">
                <a:latin typeface="+mn-lt"/>
                <a:ea typeface="+mn-ea"/>
              </a:rPr>
              <a:t>P</a:t>
            </a:r>
            <a:r>
              <a:rPr lang="en-US" altLang="zh-CN" baseline="-25000" dirty="0" err="1" smtClean="0">
                <a:latin typeface="+mn-lt"/>
                <a:ea typeface="+mn-ea"/>
              </a:rPr>
              <a:t>n</a:t>
            </a:r>
            <a:r>
              <a:rPr lang="en-US" altLang="zh-CN" baseline="30000" dirty="0" err="1" smtClean="0">
                <a:latin typeface="+mn-lt"/>
                <a:ea typeface="+mn-ea"/>
              </a:rPr>
              <a:t>n</a:t>
            </a:r>
            <a:r>
              <a:rPr lang="en-US" altLang="zh-CN" dirty="0" smtClean="0">
                <a:latin typeface="+mn-lt"/>
                <a:ea typeface="+mn-ea"/>
              </a:rPr>
              <a:t>=1</a:t>
            </a:r>
            <a:r>
              <a:rPr lang="en-US" altLang="zh-CN" dirty="0" smtClean="0">
                <a:latin typeface="+mn-lt"/>
                <a:ea typeface="+mn-ea"/>
                <a:sym typeface="Symbol" panose="05050102010706020507" pitchFamily="18" charset="2"/>
              </a:rPr>
              <a:t>2…</a:t>
            </a:r>
            <a:r>
              <a:rPr lang="en-US" altLang="zh-CN" dirty="0" smtClean="0">
                <a:latin typeface="+mn-lt"/>
                <a:ea typeface="+mn-ea"/>
              </a:rPr>
              <a:t>n</a:t>
            </a:r>
            <a:endParaRPr lang="en-US" altLang="zh-CN" dirty="0" smtClean="0">
              <a:latin typeface="+mn-lt"/>
              <a:ea typeface="+mn-ea"/>
            </a:endParaRPr>
          </a:p>
          <a:p>
            <a:pPr eaLnBrk="1" hangingPunct="1">
              <a:defRPr/>
            </a:pPr>
            <a:r>
              <a:rPr lang="zh-CN" altLang="en-US" dirty="0" smtClean="0"/>
              <a:t>这个量记为</a:t>
            </a:r>
            <a:r>
              <a:rPr lang="en-US" altLang="zh-CN" dirty="0" smtClean="0"/>
              <a:t>: </a:t>
            </a:r>
            <a:r>
              <a:rPr lang="en-US" altLang="zh-CN" dirty="0" smtClean="0">
                <a:solidFill>
                  <a:srgbClr val="FF0000"/>
                </a:solidFill>
              </a:rPr>
              <a:t>n!= 1</a:t>
            </a:r>
            <a:r>
              <a:rPr lang="en-US" altLang="zh-CN" dirty="0" smtClean="0">
                <a:solidFill>
                  <a:srgbClr val="FF0000"/>
                </a:solidFill>
                <a:sym typeface="Symbol" panose="05050102010706020507" pitchFamily="18" charset="2"/>
              </a:rPr>
              <a:t>2…</a:t>
            </a:r>
            <a:r>
              <a:rPr lang="en-US" altLang="zh-CN" dirty="0" smtClean="0">
                <a:solidFill>
                  <a:srgbClr val="FF0000"/>
                </a:solidFill>
              </a:rPr>
              <a:t>n</a:t>
            </a:r>
            <a:endParaRPr lang="en-US" altLang="zh-CN" dirty="0" smtClean="0">
              <a:solidFill>
                <a:srgbClr val="FF0000"/>
              </a:solidFill>
            </a:endParaRPr>
          </a:p>
          <a:p>
            <a:pPr lvl="1" eaLnBrk="1" hangingPunct="1">
              <a:defRPr/>
            </a:pPr>
            <a:r>
              <a:rPr lang="en-US" altLang="zh-CN" dirty="0" smtClean="0">
                <a:latin typeface="+mn-lt"/>
                <a:ea typeface="+mn-ea"/>
              </a:rPr>
              <a:t>0!= 1</a:t>
            </a:r>
            <a:r>
              <a:rPr lang="zh-CN" altLang="en-US" dirty="0" smtClean="0">
                <a:latin typeface="+mn-lt"/>
                <a:ea typeface="+mn-ea"/>
              </a:rPr>
              <a:t>；如果</a:t>
            </a:r>
            <a:r>
              <a:rPr lang="en-US" altLang="zh-CN" sz="2000" dirty="0" smtClean="0"/>
              <a:t>n</a:t>
            </a:r>
            <a:r>
              <a:rPr lang="en-US" altLang="zh-CN" sz="2000" dirty="0" smtClean="0">
                <a:sym typeface="Symbol" panose="05050102010706020507" pitchFamily="18" charset="2"/>
              </a:rPr>
              <a:t>1 </a:t>
            </a:r>
            <a:r>
              <a:rPr lang="zh-CN" altLang="en-US" sz="2000" dirty="0" smtClean="0">
                <a:sym typeface="Symbol" panose="05050102010706020507" pitchFamily="18" charset="2"/>
              </a:rPr>
              <a:t>，</a:t>
            </a:r>
            <a:r>
              <a:rPr lang="zh-CN" altLang="en-US" sz="2400" dirty="0" smtClean="0">
                <a:latin typeface="华文楷体" panose="02010600040101010101" pitchFamily="2" charset="-122"/>
                <a:ea typeface="华文楷体" panose="02010600040101010101" pitchFamily="2" charset="-122"/>
                <a:sym typeface="Symbol" panose="05050102010706020507" pitchFamily="18" charset="2"/>
              </a:rPr>
              <a:t>则</a:t>
            </a:r>
            <a:r>
              <a:rPr lang="en-US" altLang="zh-CN" dirty="0" smtClean="0">
                <a:latin typeface="+mn-lt"/>
                <a:ea typeface="+mn-ea"/>
              </a:rPr>
              <a:t>n!= n(n-1)! </a:t>
            </a:r>
            <a:endParaRPr lang="en-US" altLang="zh-CN" dirty="0" smtClean="0">
              <a:latin typeface="+mn-lt"/>
              <a:ea typeface="+mn-ea"/>
            </a:endParaRPr>
          </a:p>
          <a:p>
            <a:pPr lvl="1" eaLnBrk="1" hangingPunct="1">
              <a:defRPr/>
            </a:pPr>
            <a:r>
              <a:rPr lang="en-US" altLang="zh-CN" sz="2000" dirty="0" smtClean="0"/>
              <a:t>n!</a:t>
            </a:r>
            <a:r>
              <a:rPr lang="zh-CN" altLang="en-US" dirty="0" smtClean="0">
                <a:latin typeface="+mn-lt"/>
                <a:ea typeface="+mn-ea"/>
              </a:rPr>
              <a:t>是一个增长非常快的函数</a:t>
            </a:r>
            <a:endParaRPr lang="en-US" altLang="zh-CN" dirty="0" smtClean="0">
              <a:latin typeface="+mn-lt"/>
              <a:ea typeface="+mn-ea"/>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页脚占位符 5"/>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69635" name="Rectangle 2"/>
          <p:cNvSpPr>
            <a:spLocks noGrp="1" noChangeArrowheads="1"/>
          </p:cNvSpPr>
          <p:nvPr>
            <p:ph type="title"/>
          </p:nvPr>
        </p:nvSpPr>
        <p:spPr/>
        <p:txBody>
          <a:bodyPr/>
          <a:lstStyle/>
          <a:p>
            <a:pPr eaLnBrk="1" hangingPunct="1"/>
            <a:r>
              <a:rPr lang="en-US" altLang="zh-CN" dirty="0">
                <a:solidFill>
                  <a:srgbClr val="333399"/>
                </a:solidFill>
                <a:latin typeface="华文楷体" panose="02010600040101010101" pitchFamily="2" charset="-122"/>
              </a:rPr>
              <a:t>1.3.5 </a:t>
            </a:r>
            <a:r>
              <a:rPr lang="zh-CN" altLang="en-US" dirty="0">
                <a:solidFill>
                  <a:srgbClr val="333399"/>
                </a:solidFill>
                <a:latin typeface="华文楷体" panose="02010600040101010101" pitchFamily="2" charset="-122"/>
              </a:rPr>
              <a:t>阶乘和</a:t>
            </a:r>
            <a:r>
              <a:rPr lang="zh-CN" altLang="en-US" dirty="0">
                <a:solidFill>
                  <a:srgbClr val="FF0000"/>
                </a:solidFill>
                <a:latin typeface="华文楷体" panose="02010600040101010101" pitchFamily="2" charset="-122"/>
              </a:rPr>
              <a:t>二项式系数</a:t>
            </a:r>
            <a:endParaRPr lang="en-US" altLang="zh-CN" dirty="0" smtClean="0">
              <a:solidFill>
                <a:srgbClr val="FF0000"/>
              </a:solidFill>
            </a:endParaRPr>
          </a:p>
        </p:txBody>
      </p:sp>
      <p:sp>
        <p:nvSpPr>
          <p:cNvPr id="69636" name="Rectangle 3"/>
          <p:cNvSpPr>
            <a:spLocks noGrp="1" noChangeArrowheads="1"/>
          </p:cNvSpPr>
          <p:nvPr>
            <p:ph type="body" sz="half" idx="1"/>
          </p:nvPr>
        </p:nvSpPr>
        <p:spPr>
          <a:xfrm>
            <a:off x="925512" y="1196975"/>
            <a:ext cx="8218488" cy="4565650"/>
          </a:xfrm>
        </p:spPr>
        <p:txBody>
          <a:bodyPr/>
          <a:lstStyle/>
          <a:p>
            <a:pPr eaLnBrk="1" hangingPunct="1"/>
            <a:r>
              <a:rPr lang="zh-CN" altLang="en-US" sz="2100" dirty="0" smtClean="0"/>
              <a:t>从</a:t>
            </a:r>
            <a:r>
              <a:rPr lang="en-US" altLang="zh-CN" sz="2100" dirty="0" smtClean="0"/>
              <a:t>n</a:t>
            </a:r>
            <a:r>
              <a:rPr lang="zh-CN" altLang="en-US" sz="2100" dirty="0" smtClean="0"/>
              <a:t>个对象中选取</a:t>
            </a:r>
            <a:r>
              <a:rPr lang="en-US" altLang="zh-CN" sz="2100" dirty="0" smtClean="0"/>
              <a:t>k</a:t>
            </a:r>
            <a:r>
              <a:rPr lang="zh-CN" altLang="en-US" sz="2100" dirty="0" smtClean="0"/>
              <a:t>个对象的可能方法，通常称为从</a:t>
            </a:r>
            <a:r>
              <a:rPr lang="en-US" altLang="zh-CN" sz="2100" dirty="0" smtClean="0"/>
              <a:t>n</a:t>
            </a:r>
            <a:r>
              <a:rPr lang="zh-CN" altLang="en-US" sz="2100" dirty="0" smtClean="0"/>
              <a:t>个对象中一次取出</a:t>
            </a:r>
            <a:r>
              <a:rPr lang="en-US" altLang="zh-CN" sz="2100" dirty="0" smtClean="0"/>
              <a:t>k</a:t>
            </a:r>
            <a:r>
              <a:rPr lang="zh-CN" altLang="en-US" sz="2100" dirty="0" smtClean="0"/>
              <a:t>个对象的</a:t>
            </a:r>
            <a:r>
              <a:rPr lang="zh-CN" altLang="en-US" sz="2100" dirty="0" smtClean="0">
                <a:solidFill>
                  <a:srgbClr val="FF0000"/>
                </a:solidFill>
              </a:rPr>
              <a:t>组合</a:t>
            </a:r>
            <a:r>
              <a:rPr lang="zh-CN" altLang="en-US" sz="2100" dirty="0" smtClean="0"/>
              <a:t>，记做</a:t>
            </a:r>
            <a:r>
              <a:rPr lang="en-US" altLang="zh-CN" sz="2100" dirty="0" err="1" smtClean="0">
                <a:solidFill>
                  <a:srgbClr val="FF0000"/>
                </a:solidFill>
              </a:rPr>
              <a:t>C</a:t>
            </a:r>
            <a:r>
              <a:rPr lang="en-US" altLang="zh-CN" sz="2100" baseline="-25000" dirty="0" err="1" smtClean="0">
                <a:solidFill>
                  <a:srgbClr val="FF0000"/>
                </a:solidFill>
              </a:rPr>
              <a:t>k</a:t>
            </a:r>
            <a:r>
              <a:rPr lang="en-US" altLang="zh-CN" sz="2100" baseline="30000" dirty="0" err="1" smtClean="0">
                <a:solidFill>
                  <a:srgbClr val="FF0000"/>
                </a:solidFill>
              </a:rPr>
              <a:t>n</a:t>
            </a:r>
            <a:r>
              <a:rPr lang="zh-CN" altLang="en-US" sz="2100" dirty="0" smtClean="0"/>
              <a:t>，组合与顺序无关。</a:t>
            </a:r>
            <a:endParaRPr lang="en-US" altLang="zh-CN" sz="2100" dirty="0" smtClean="0"/>
          </a:p>
          <a:p>
            <a:pPr eaLnBrk="1" hangingPunct="1"/>
            <a:r>
              <a:rPr lang="zh-CN" altLang="en-US" sz="2100" dirty="0" smtClean="0"/>
              <a:t>例如从字母</a:t>
            </a:r>
            <a:r>
              <a:rPr lang="en-US" altLang="zh-CN" sz="2100" i="1" dirty="0" err="1" smtClean="0"/>
              <a:t>a,b,c,d</a:t>
            </a:r>
            <a:r>
              <a:rPr lang="zh-CN" altLang="en-US" sz="2100" dirty="0" smtClean="0"/>
              <a:t>中一次取出</a:t>
            </a:r>
            <a:r>
              <a:rPr lang="en-US" altLang="zh-CN" sz="2100" dirty="0" smtClean="0"/>
              <a:t>3</a:t>
            </a:r>
            <a:r>
              <a:rPr lang="zh-CN" altLang="en-US" sz="2100" dirty="0" smtClean="0"/>
              <a:t>个元素的组合有：</a:t>
            </a:r>
            <a:endParaRPr lang="en-US" altLang="zh-CN" sz="2100" dirty="0" smtClean="0"/>
          </a:p>
          <a:p>
            <a:pPr eaLnBrk="1" hangingPunct="1"/>
            <a:r>
              <a:rPr lang="en-US" altLang="zh-CN" sz="2100" dirty="0" smtClean="0"/>
              <a:t>                </a:t>
            </a:r>
            <a:r>
              <a:rPr lang="en-US" altLang="zh-CN" sz="2100" i="1" dirty="0" err="1" smtClean="0"/>
              <a:t>abc</a:t>
            </a:r>
            <a:r>
              <a:rPr lang="en-US" altLang="zh-CN" sz="2100" i="1" dirty="0" smtClean="0"/>
              <a:t>, </a:t>
            </a:r>
            <a:r>
              <a:rPr lang="en-US" altLang="zh-CN" sz="2100" i="1" dirty="0" err="1" smtClean="0"/>
              <a:t>abd</a:t>
            </a:r>
            <a:r>
              <a:rPr lang="en-US" altLang="zh-CN" sz="2100" i="1" dirty="0" smtClean="0"/>
              <a:t>, </a:t>
            </a:r>
            <a:r>
              <a:rPr lang="en-US" altLang="zh-CN" sz="2100" i="1" dirty="0" err="1" smtClean="0"/>
              <a:t>acd</a:t>
            </a:r>
            <a:r>
              <a:rPr lang="en-US" altLang="zh-CN" sz="2100" i="1" dirty="0" smtClean="0"/>
              <a:t>, </a:t>
            </a:r>
            <a:r>
              <a:rPr lang="en-US" altLang="zh-CN" sz="2100" i="1" dirty="0" err="1" smtClean="0"/>
              <a:t>bcd</a:t>
            </a:r>
            <a:r>
              <a:rPr lang="en-US" altLang="zh-CN" sz="2100" i="1" dirty="0" smtClean="0"/>
              <a:t>,</a:t>
            </a:r>
            <a:endParaRPr lang="en-US" altLang="zh-CN" sz="2100" i="1" dirty="0" smtClean="0"/>
          </a:p>
          <a:p>
            <a:pPr eaLnBrk="1" hangingPunct="1"/>
            <a:r>
              <a:rPr lang="zh-CN" altLang="en-US" sz="2100" dirty="0" smtClean="0"/>
              <a:t>由于顺序在这里并不重要，从</a:t>
            </a:r>
            <a:r>
              <a:rPr lang="en-US" altLang="zh-CN" sz="2100" dirty="0" smtClean="0"/>
              <a:t>n</a:t>
            </a:r>
            <a:r>
              <a:rPr lang="zh-CN" altLang="en-US" sz="2100" dirty="0" smtClean="0"/>
              <a:t>个对象中一次取出</a:t>
            </a:r>
            <a:r>
              <a:rPr lang="en-US" altLang="zh-CN" sz="2100" dirty="0" smtClean="0"/>
              <a:t>k</a:t>
            </a:r>
            <a:r>
              <a:rPr lang="zh-CN" altLang="en-US" sz="2100" dirty="0" smtClean="0"/>
              <a:t>个对象的组合数，等于</a:t>
            </a:r>
            <a:r>
              <a:rPr lang="en-US" altLang="zh-CN" sz="2100" dirty="0" smtClean="0"/>
              <a:t>k</a:t>
            </a:r>
            <a:r>
              <a:rPr lang="zh-CN" altLang="en-US" sz="2100" dirty="0" smtClean="0"/>
              <a:t>！去除从</a:t>
            </a:r>
            <a:r>
              <a:rPr lang="en-US" altLang="zh-CN" sz="2100" dirty="0" smtClean="0"/>
              <a:t>n</a:t>
            </a:r>
            <a:r>
              <a:rPr lang="zh-CN" altLang="en-US" sz="2100" dirty="0" smtClean="0"/>
              <a:t>个对象中一次取出</a:t>
            </a:r>
            <a:r>
              <a:rPr lang="en-US" altLang="zh-CN" sz="2100" dirty="0" smtClean="0"/>
              <a:t>k</a:t>
            </a:r>
            <a:r>
              <a:rPr lang="zh-CN" altLang="en-US" sz="2100" dirty="0" smtClean="0"/>
              <a:t>个对象的排列数，即：</a:t>
            </a:r>
            <a:endParaRPr lang="en-US" altLang="zh-CN" sz="2100" dirty="0" smtClean="0"/>
          </a:p>
          <a:p>
            <a:pPr eaLnBrk="1" hangingPunct="1"/>
            <a:endParaRPr lang="en-US" altLang="zh-CN" sz="2100" baseline="30000" dirty="0" smtClean="0"/>
          </a:p>
          <a:p>
            <a:pPr eaLnBrk="1" hangingPunct="1"/>
            <a:endParaRPr lang="en-US" altLang="zh-CN" sz="2100" baseline="30000" dirty="0" smtClean="0"/>
          </a:p>
          <a:p>
            <a:pPr eaLnBrk="1" hangingPunct="1">
              <a:buFontTx/>
              <a:buNone/>
            </a:pPr>
            <a:r>
              <a:rPr lang="en-US" altLang="zh-CN" sz="2100" dirty="0" smtClean="0"/>
              <a:t>   </a:t>
            </a:r>
            <a:endParaRPr lang="en-US" altLang="zh-CN" sz="2100" dirty="0" smtClean="0"/>
          </a:p>
          <a:p>
            <a:pPr eaLnBrk="1" hangingPunct="1">
              <a:buFontTx/>
              <a:buNone/>
            </a:pPr>
            <a:endParaRPr lang="en-US" altLang="zh-CN" sz="2100" dirty="0" smtClean="0"/>
          </a:p>
          <a:p>
            <a:pPr eaLnBrk="1" hangingPunct="1">
              <a:buFontTx/>
              <a:buNone/>
            </a:pPr>
            <a:r>
              <a:rPr lang="en-US" altLang="zh-CN" sz="2100" dirty="0" smtClean="0"/>
              <a:t>     </a:t>
            </a:r>
            <a:r>
              <a:rPr lang="zh-CN" altLang="en-US" sz="2100" dirty="0" smtClean="0"/>
              <a:t>这个量记为         ，读作“</a:t>
            </a:r>
            <a:r>
              <a:rPr lang="en-US" altLang="zh-CN" sz="2100" dirty="0" smtClean="0"/>
              <a:t>n</a:t>
            </a:r>
            <a:r>
              <a:rPr lang="zh-CN" altLang="en-US" sz="2100" dirty="0" smtClean="0"/>
              <a:t>选</a:t>
            </a:r>
            <a:r>
              <a:rPr lang="en-US" altLang="zh-CN" sz="2100" dirty="0" smtClean="0"/>
              <a:t>k</a:t>
            </a:r>
            <a:r>
              <a:rPr lang="zh-CN" altLang="en-US" sz="2100" dirty="0" smtClean="0"/>
              <a:t>”，称为</a:t>
            </a:r>
            <a:r>
              <a:rPr lang="zh-CN" altLang="en-US" sz="2100" dirty="0" smtClean="0">
                <a:solidFill>
                  <a:srgbClr val="FF0000"/>
                </a:solidFill>
              </a:rPr>
              <a:t>二项式系数</a:t>
            </a:r>
            <a:r>
              <a:rPr lang="zh-CN" altLang="en-US" sz="2100" dirty="0" smtClean="0"/>
              <a:t>。</a:t>
            </a:r>
            <a:endParaRPr lang="en-US" altLang="zh-CN" sz="2100" dirty="0" smtClean="0"/>
          </a:p>
          <a:p>
            <a:pPr eaLnBrk="1" hangingPunct="1">
              <a:buFontTx/>
              <a:buNone/>
            </a:pPr>
            <a:r>
              <a:rPr lang="en-US" altLang="zh-CN" sz="2100" dirty="0" smtClean="0"/>
              <a:t>     </a:t>
            </a:r>
            <a:r>
              <a:rPr lang="zh-CN" altLang="en-US" sz="2100" dirty="0" smtClean="0"/>
              <a:t>如：</a:t>
            </a:r>
            <a:endParaRPr lang="en-US" altLang="zh-CN" sz="2100" baseline="30000" dirty="0" smtClean="0"/>
          </a:p>
        </p:txBody>
      </p:sp>
      <p:graphicFrame>
        <p:nvGraphicFramePr>
          <p:cNvPr id="69637" name="Object 4"/>
          <p:cNvGraphicFramePr>
            <a:graphicFrameLocks noGrp="1" noChangeAspect="1"/>
          </p:cNvGraphicFramePr>
          <p:nvPr>
            <p:ph sz="quarter" idx="2"/>
          </p:nvPr>
        </p:nvGraphicFramePr>
        <p:xfrm>
          <a:off x="1714500" y="3465513"/>
          <a:ext cx="6134100" cy="892175"/>
        </p:xfrm>
        <a:graphic>
          <a:graphicData uri="http://schemas.openxmlformats.org/presentationml/2006/ole">
            <mc:AlternateContent xmlns:mc="http://schemas.openxmlformats.org/markup-compatibility/2006">
              <mc:Choice xmlns:v="urn:schemas-microsoft-com:vml" Requires="v">
                <p:oleObj spid="_x0000_s5180" name="公式" r:id="rId1" imgW="3225800" imgH="444500" progId="Equation.3">
                  <p:embed/>
                </p:oleObj>
              </mc:Choice>
              <mc:Fallback>
                <p:oleObj name="公式" r:id="rId1" imgW="3225800" imgH="444500" progId="Equation.3">
                  <p:embed/>
                  <p:pic>
                    <p:nvPicPr>
                      <p:cNvPr id="0" name="Object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14500" y="3465513"/>
                        <a:ext cx="6134100" cy="892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69638" name="Object 6"/>
          <p:cNvGraphicFramePr>
            <a:graphicFrameLocks noGrp="1" noChangeAspect="1"/>
          </p:cNvGraphicFramePr>
          <p:nvPr>
            <p:ph sz="quarter" idx="3"/>
          </p:nvPr>
        </p:nvGraphicFramePr>
        <p:xfrm>
          <a:off x="2633663" y="4429125"/>
          <a:ext cx="438150" cy="790575"/>
        </p:xfrm>
        <a:graphic>
          <a:graphicData uri="http://schemas.openxmlformats.org/presentationml/2006/ole">
            <mc:AlternateContent xmlns:mc="http://schemas.openxmlformats.org/markup-compatibility/2006">
              <mc:Choice xmlns:v="urn:schemas-microsoft-com:vml" Requires="v">
                <p:oleObj spid="_x0000_s5181" name="公式" r:id="rId3" imgW="266700" imgH="457200" progId="Equation.3">
                  <p:embed/>
                </p:oleObj>
              </mc:Choice>
              <mc:Fallback>
                <p:oleObj name="公式" r:id="rId3" imgW="266700" imgH="457200" progId="Equation.3">
                  <p:embed/>
                  <p:pic>
                    <p:nvPicPr>
                      <p:cNvPr id="0" name="Object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633663" y="4429125"/>
                        <a:ext cx="438150" cy="790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69639" name="Picture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938" y="5286375"/>
            <a:ext cx="2533650" cy="785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页脚占位符 5"/>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71683" name="Rectangle 2"/>
          <p:cNvSpPr>
            <a:spLocks noGrp="1" noChangeArrowheads="1"/>
          </p:cNvSpPr>
          <p:nvPr>
            <p:ph type="title"/>
          </p:nvPr>
        </p:nvSpPr>
        <p:spPr/>
        <p:txBody>
          <a:bodyPr/>
          <a:lstStyle/>
          <a:p>
            <a:pPr eaLnBrk="1" hangingPunct="1"/>
            <a:r>
              <a:rPr lang="en-US" altLang="zh-CN" dirty="0">
                <a:solidFill>
                  <a:srgbClr val="333399"/>
                </a:solidFill>
                <a:latin typeface="华文楷体" panose="02010600040101010101" pitchFamily="2" charset="-122"/>
              </a:rPr>
              <a:t>1.3.5 </a:t>
            </a:r>
            <a:r>
              <a:rPr lang="zh-CN" altLang="en-US" dirty="0">
                <a:solidFill>
                  <a:srgbClr val="333399"/>
                </a:solidFill>
                <a:latin typeface="华文楷体" panose="02010600040101010101" pitchFamily="2" charset="-122"/>
              </a:rPr>
              <a:t>阶乘和</a:t>
            </a:r>
            <a:r>
              <a:rPr lang="zh-CN" altLang="en-US" dirty="0">
                <a:solidFill>
                  <a:srgbClr val="FF0000"/>
                </a:solidFill>
                <a:latin typeface="华文楷体" panose="02010600040101010101" pitchFamily="2" charset="-122"/>
              </a:rPr>
              <a:t>二项式系数</a:t>
            </a:r>
            <a:endParaRPr lang="en-US" altLang="zh-CN" dirty="0" smtClean="0"/>
          </a:p>
        </p:txBody>
      </p:sp>
      <p:sp>
        <p:nvSpPr>
          <p:cNvPr id="71684" name="Rectangle 3"/>
          <p:cNvSpPr>
            <a:spLocks noGrp="1" noChangeArrowheads="1"/>
          </p:cNvSpPr>
          <p:nvPr>
            <p:ph type="body" sz="half" idx="1"/>
          </p:nvPr>
        </p:nvSpPr>
        <p:spPr>
          <a:xfrm>
            <a:off x="714375" y="1214438"/>
            <a:ext cx="8218488" cy="4565650"/>
          </a:xfrm>
        </p:spPr>
        <p:txBody>
          <a:bodyPr/>
          <a:lstStyle/>
          <a:p>
            <a:pPr eaLnBrk="1" hangingPunct="1"/>
            <a:r>
              <a:rPr lang="zh-CN" altLang="zh-CN" sz="2000" b="1" dirty="0" smtClean="0"/>
              <a:t>二项式系数</a:t>
            </a:r>
            <a:r>
              <a:rPr lang="zh-CN" altLang="zh-CN" sz="2000" dirty="0" smtClean="0"/>
              <a:t>在数学上是二项式定理中的系数族。其必然为正整数，且能以两个非负整数为参数确定，此两参数通常以</a:t>
            </a:r>
            <a:r>
              <a:rPr lang="zh-CN" altLang="zh-CN" sz="2000" i="1" dirty="0" smtClean="0"/>
              <a:t>n</a:t>
            </a:r>
            <a:r>
              <a:rPr lang="zh-CN" altLang="zh-CN" sz="2000" dirty="0" smtClean="0"/>
              <a:t>和</a:t>
            </a:r>
            <a:r>
              <a:rPr lang="zh-CN" altLang="zh-CN" sz="2000" i="1" dirty="0" smtClean="0"/>
              <a:t>k</a:t>
            </a:r>
            <a:r>
              <a:rPr lang="zh-CN" altLang="zh-CN" sz="2000" dirty="0" smtClean="0"/>
              <a:t>代表，并将二项式系数写作，亦即是</a:t>
            </a:r>
            <a:r>
              <a:rPr lang="zh-CN" altLang="zh-CN" sz="2000" dirty="0" smtClean="0">
                <a:solidFill>
                  <a:srgbClr val="FF0000"/>
                </a:solidFill>
              </a:rPr>
              <a:t>二项式幂(1 + </a:t>
            </a:r>
            <a:r>
              <a:rPr lang="zh-CN" altLang="zh-CN" sz="2000" i="1" dirty="0" smtClean="0">
                <a:solidFill>
                  <a:srgbClr val="FF0000"/>
                </a:solidFill>
              </a:rPr>
              <a:t>x</a:t>
            </a:r>
            <a:r>
              <a:rPr lang="zh-CN" altLang="zh-CN" sz="2000" dirty="0" smtClean="0">
                <a:solidFill>
                  <a:srgbClr val="FF0000"/>
                </a:solidFill>
              </a:rPr>
              <a:t>)</a:t>
            </a:r>
            <a:r>
              <a:rPr lang="zh-CN" altLang="zh-CN" sz="2000" baseline="30000" dirty="0" smtClean="0">
                <a:solidFill>
                  <a:srgbClr val="FF0000"/>
                </a:solidFill>
              </a:rPr>
              <a:t> </a:t>
            </a:r>
            <a:r>
              <a:rPr lang="zh-CN" altLang="zh-CN" sz="2000" i="1" baseline="30000" dirty="0" smtClean="0">
                <a:solidFill>
                  <a:srgbClr val="FF0000"/>
                </a:solidFill>
              </a:rPr>
              <a:t>n</a:t>
            </a:r>
            <a:r>
              <a:rPr lang="zh-CN" altLang="zh-CN" sz="2000" dirty="0" smtClean="0">
                <a:solidFill>
                  <a:srgbClr val="FF0000"/>
                </a:solidFill>
              </a:rPr>
              <a:t>的多项式展式中，</a:t>
            </a:r>
            <a:r>
              <a:rPr lang="zh-CN" altLang="zh-CN" sz="2000" i="1" dirty="0" smtClean="0">
                <a:solidFill>
                  <a:srgbClr val="FF0000"/>
                </a:solidFill>
              </a:rPr>
              <a:t>x</a:t>
            </a:r>
            <a:r>
              <a:rPr lang="zh-CN" altLang="zh-CN" sz="2000" baseline="30000" dirty="0" smtClean="0">
                <a:solidFill>
                  <a:srgbClr val="FF0000"/>
                </a:solidFill>
              </a:rPr>
              <a:t> </a:t>
            </a:r>
            <a:r>
              <a:rPr lang="zh-CN" altLang="zh-CN" sz="2000" i="1" baseline="30000" dirty="0" smtClean="0">
                <a:solidFill>
                  <a:srgbClr val="FF0000"/>
                </a:solidFill>
              </a:rPr>
              <a:t>k</a:t>
            </a:r>
            <a:r>
              <a:rPr lang="zh-CN" altLang="zh-CN" sz="2000" dirty="0" smtClean="0">
                <a:solidFill>
                  <a:srgbClr val="FF0000"/>
                </a:solidFill>
              </a:rPr>
              <a:t>项的系数</a:t>
            </a:r>
            <a:r>
              <a:rPr lang="zh-CN" altLang="zh-CN" sz="2000" dirty="0" smtClean="0"/>
              <a:t>。</a:t>
            </a:r>
            <a:r>
              <a:rPr lang="zh-CN" altLang="en-US" sz="2000" dirty="0" smtClean="0"/>
              <a:t>如下：</a:t>
            </a:r>
            <a:endParaRPr lang="en-US" altLang="zh-CN" sz="2000" dirty="0" smtClean="0"/>
          </a:p>
          <a:p>
            <a:pPr eaLnBrk="1" hangingPunct="1"/>
            <a:endParaRPr lang="en-US" altLang="zh-CN" sz="2400" dirty="0" smtClean="0"/>
          </a:p>
          <a:p>
            <a:pPr eaLnBrk="1" hangingPunct="1"/>
            <a:endParaRPr lang="en-US" altLang="zh-CN" sz="2400" dirty="0" smtClean="0"/>
          </a:p>
          <a:p>
            <a:pPr eaLnBrk="1" hangingPunct="1"/>
            <a:endParaRPr lang="en-US" altLang="zh-CN" sz="2400" dirty="0" smtClean="0"/>
          </a:p>
          <a:p>
            <a:pPr eaLnBrk="1" hangingPunct="1"/>
            <a:endParaRPr lang="en-US" altLang="zh-CN" sz="2000" dirty="0" smtClean="0"/>
          </a:p>
          <a:p>
            <a:pPr eaLnBrk="1" hangingPunct="1"/>
            <a:r>
              <a:rPr lang="zh-CN" altLang="zh-CN" sz="2000" dirty="0" smtClean="0"/>
              <a:t>如将二项式系数的</a:t>
            </a:r>
            <a:r>
              <a:rPr lang="zh-CN" altLang="zh-CN" sz="2000" i="1" dirty="0" smtClean="0"/>
              <a:t>n</a:t>
            </a:r>
            <a:r>
              <a:rPr lang="zh-CN" altLang="zh-CN" sz="2000" dirty="0" smtClean="0"/>
              <a:t>值顺序排列成行，每行为</a:t>
            </a:r>
            <a:r>
              <a:rPr lang="zh-CN" altLang="zh-CN" sz="2000" i="1" dirty="0" smtClean="0"/>
              <a:t>k</a:t>
            </a:r>
            <a:r>
              <a:rPr lang="zh-CN" altLang="zh-CN" sz="2000" dirty="0" smtClean="0"/>
              <a:t>值由0至</a:t>
            </a:r>
            <a:r>
              <a:rPr lang="zh-CN" altLang="zh-CN" sz="2000" i="1" dirty="0" smtClean="0"/>
              <a:t>n</a:t>
            </a:r>
            <a:r>
              <a:rPr lang="zh-CN" altLang="zh-CN" sz="2000" dirty="0" smtClean="0"/>
              <a:t>列出，则构成</a:t>
            </a:r>
            <a:r>
              <a:rPr lang="zh-CN" altLang="zh-CN" sz="2000" dirty="0" smtClean="0">
                <a:solidFill>
                  <a:srgbClr val="FF0000"/>
                </a:solidFill>
              </a:rPr>
              <a:t>帕斯卡三角形</a:t>
            </a:r>
            <a:r>
              <a:rPr lang="zh-CN" altLang="zh-CN" sz="2000" dirty="0" smtClean="0"/>
              <a:t>。</a:t>
            </a:r>
            <a:endParaRPr lang="en-US" altLang="zh-CN" sz="2000" dirty="0" smtClean="0"/>
          </a:p>
          <a:p>
            <a:pPr eaLnBrk="1" hangingPunct="1"/>
            <a:endParaRPr lang="en-US" altLang="zh-CN" sz="2100" baseline="30000" dirty="0" smtClean="0"/>
          </a:p>
        </p:txBody>
      </p:sp>
      <p:sp>
        <p:nvSpPr>
          <p:cNvPr id="10" name="矩形 9"/>
          <p:cNvSpPr/>
          <p:nvPr/>
        </p:nvSpPr>
        <p:spPr>
          <a:xfrm>
            <a:off x="785813" y="2571750"/>
            <a:ext cx="8643937" cy="400050"/>
          </a:xfrm>
          <a:prstGeom prst="rect">
            <a:avLst/>
          </a:prstGeom>
        </p:spPr>
        <p:txBody>
          <a:bodyPr>
            <a:spAutoFit/>
          </a:bodyPr>
          <a:lstStyle/>
          <a:p>
            <a:pPr eaLnBrk="1" hangingPunct="1">
              <a:defRPr/>
            </a:pPr>
            <a:r>
              <a:rPr lang="pt-BR" sz="2000" dirty="0">
                <a:latin typeface="+mn-lt"/>
                <a:ea typeface="宋体" pitchFamily="2" charset="-122"/>
              </a:rPr>
              <a:t>(1+x)</a:t>
            </a:r>
            <a:r>
              <a:rPr lang="pt-BR" sz="2000" baseline="30000" dirty="0">
                <a:latin typeface="+mn-lt"/>
                <a:ea typeface="宋体" pitchFamily="2" charset="-122"/>
              </a:rPr>
              <a:t>n</a:t>
            </a:r>
            <a:r>
              <a:rPr lang="pt-BR" sz="2000" dirty="0">
                <a:latin typeface="+mn-lt"/>
                <a:ea typeface="宋体" pitchFamily="2" charset="-122"/>
              </a:rPr>
              <a:t>=C(n,0)+C(n,1)x+C(n,2)x</a:t>
            </a:r>
            <a:r>
              <a:rPr lang="pt-BR" sz="2000" baseline="30000" dirty="0">
                <a:latin typeface="+mn-lt"/>
                <a:ea typeface="宋体" pitchFamily="2" charset="-122"/>
              </a:rPr>
              <a:t>2</a:t>
            </a:r>
            <a:r>
              <a:rPr lang="pt-BR" sz="2000" dirty="0">
                <a:latin typeface="+mn-lt"/>
                <a:ea typeface="宋体" pitchFamily="2" charset="-122"/>
              </a:rPr>
              <a:t>+......+C(n,k)x</a:t>
            </a:r>
            <a:r>
              <a:rPr lang="en-US" altLang="zh-CN" sz="2000" baseline="30000" dirty="0">
                <a:latin typeface="+mn-lt"/>
                <a:ea typeface="宋体" pitchFamily="2" charset="-122"/>
              </a:rPr>
              <a:t>k</a:t>
            </a:r>
            <a:r>
              <a:rPr lang="pt-BR" sz="2000" dirty="0">
                <a:latin typeface="+mn-lt"/>
                <a:ea typeface="宋体" pitchFamily="2" charset="-122"/>
              </a:rPr>
              <a:t>+.......+C(n,n-1)x</a:t>
            </a:r>
            <a:r>
              <a:rPr lang="pt-BR" sz="2000" baseline="30000" dirty="0">
                <a:latin typeface="+mn-lt"/>
                <a:ea typeface="宋体" pitchFamily="2" charset="-122"/>
              </a:rPr>
              <a:t>(n-1)</a:t>
            </a:r>
            <a:r>
              <a:rPr lang="pt-BR" sz="2000" dirty="0">
                <a:latin typeface="+mn-lt"/>
                <a:ea typeface="宋体" pitchFamily="2" charset="-122"/>
              </a:rPr>
              <a:t>+C(n,n)x</a:t>
            </a:r>
            <a:r>
              <a:rPr lang="pt-BR" sz="2000" baseline="30000" dirty="0">
                <a:latin typeface="+mn-lt"/>
                <a:ea typeface="宋体" pitchFamily="2" charset="-122"/>
              </a:rPr>
              <a:t>n</a:t>
            </a:r>
            <a:r>
              <a:rPr lang="pt-BR" sz="2000" dirty="0">
                <a:latin typeface="+mn-lt"/>
                <a:ea typeface="宋体" pitchFamily="2" charset="-122"/>
              </a:rPr>
              <a:t> </a:t>
            </a:r>
            <a:endParaRPr lang="zh-CN" altLang="en-US" sz="2000" dirty="0">
              <a:latin typeface="+mn-lt"/>
              <a:ea typeface="宋体" pitchFamily="2" charset="-122"/>
            </a:endParaRPr>
          </a:p>
        </p:txBody>
      </p:sp>
      <p:graphicFrame>
        <p:nvGraphicFramePr>
          <p:cNvPr id="71686" name="Object 6"/>
          <p:cNvGraphicFramePr>
            <a:graphicFrameLocks noChangeAspect="1"/>
          </p:cNvGraphicFramePr>
          <p:nvPr/>
        </p:nvGraphicFramePr>
        <p:xfrm>
          <a:off x="1571625" y="2928938"/>
          <a:ext cx="1435100" cy="992187"/>
        </p:xfrm>
        <a:graphic>
          <a:graphicData uri="http://schemas.openxmlformats.org/presentationml/2006/ole">
            <mc:AlternateContent xmlns:mc="http://schemas.openxmlformats.org/markup-compatibility/2006">
              <mc:Choice xmlns:v="urn:schemas-microsoft-com:vml" Requires="v">
                <p:oleObj spid="_x0000_s6175" name="Equation" r:id="rId1" imgW="698500" imgH="457200" progId="Equation.3">
                  <p:embed/>
                </p:oleObj>
              </mc:Choice>
              <mc:Fallback>
                <p:oleObj name="Equation" r:id="rId1" imgW="698500" imgH="457200" progId="Equation.3">
                  <p:embed/>
                  <p:pic>
                    <p:nvPicPr>
                      <p:cNvPr id="0" name="Object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71625" y="2928938"/>
                        <a:ext cx="1435100" cy="992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71687" name="Picture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57563" y="4643438"/>
            <a:ext cx="1933575" cy="1381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页脚占位符 5"/>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73731" name="Rectangle 2"/>
          <p:cNvSpPr>
            <a:spLocks noGrp="1" noChangeArrowheads="1"/>
          </p:cNvSpPr>
          <p:nvPr>
            <p:ph type="title"/>
          </p:nvPr>
        </p:nvSpPr>
        <p:spPr/>
        <p:txBody>
          <a:bodyPr/>
          <a:lstStyle/>
          <a:p>
            <a:pPr eaLnBrk="1" hangingPunct="1"/>
            <a:r>
              <a:rPr lang="en-US" altLang="zh-CN" dirty="0">
                <a:solidFill>
                  <a:srgbClr val="333399"/>
                </a:solidFill>
                <a:latin typeface="华文楷体" panose="02010600040101010101" pitchFamily="2" charset="-122"/>
              </a:rPr>
              <a:t>1.3.5 </a:t>
            </a:r>
            <a:r>
              <a:rPr lang="zh-CN" altLang="en-US" dirty="0">
                <a:solidFill>
                  <a:srgbClr val="333399"/>
                </a:solidFill>
                <a:latin typeface="华文楷体" panose="02010600040101010101" pitchFamily="2" charset="-122"/>
              </a:rPr>
              <a:t>阶乘和</a:t>
            </a:r>
            <a:r>
              <a:rPr lang="zh-CN" altLang="en-US" dirty="0">
                <a:solidFill>
                  <a:srgbClr val="FF0000"/>
                </a:solidFill>
                <a:latin typeface="华文楷体" panose="02010600040101010101" pitchFamily="2" charset="-122"/>
              </a:rPr>
              <a:t>二项式系数</a:t>
            </a:r>
            <a:endParaRPr lang="en-US" altLang="zh-CN" dirty="0" smtClean="0"/>
          </a:p>
        </p:txBody>
      </p:sp>
      <p:sp>
        <p:nvSpPr>
          <p:cNvPr id="117763" name="Rectangle 3"/>
          <p:cNvSpPr>
            <a:spLocks noGrp="1" noChangeArrowheads="1"/>
          </p:cNvSpPr>
          <p:nvPr>
            <p:ph type="body" sz="half" idx="1"/>
          </p:nvPr>
        </p:nvSpPr>
        <p:spPr>
          <a:xfrm>
            <a:off x="889000" y="1196975"/>
            <a:ext cx="8291513" cy="4565650"/>
          </a:xfrm>
        </p:spPr>
        <p:txBody>
          <a:bodyPr/>
          <a:lstStyle/>
          <a:p>
            <a:pPr eaLnBrk="1" hangingPunct="1">
              <a:defRPr/>
            </a:pPr>
            <a:r>
              <a:rPr lang="zh-CN" altLang="en-US" sz="2900" dirty="0" smtClean="0"/>
              <a:t>特点</a:t>
            </a:r>
            <a:r>
              <a:rPr lang="en-US" altLang="zh-CN" sz="2900" dirty="0" smtClean="0"/>
              <a:t>: </a:t>
            </a:r>
            <a:r>
              <a:rPr lang="zh-CN" altLang="en-US" sz="2900" dirty="0" smtClean="0"/>
              <a:t>（</a:t>
            </a:r>
            <a:r>
              <a:rPr lang="en-US" altLang="zh-CN" sz="2900" dirty="0" smtClean="0"/>
              <a:t>P47</a:t>
            </a:r>
            <a:r>
              <a:rPr lang="zh-CN" altLang="en-US" sz="2900" dirty="0" smtClean="0"/>
              <a:t>）</a:t>
            </a:r>
            <a:endParaRPr lang="en-US" altLang="zh-CN" sz="2900" dirty="0" smtClean="0"/>
          </a:p>
          <a:p>
            <a:pPr eaLnBrk="1" hangingPunct="1">
              <a:defRPr/>
            </a:pPr>
            <a:endParaRPr lang="en-US" altLang="zh-CN" sz="2900" dirty="0" smtClean="0"/>
          </a:p>
          <a:p>
            <a:pPr eaLnBrk="1" hangingPunct="1">
              <a:defRPr/>
            </a:pPr>
            <a:endParaRPr lang="en-US" altLang="zh-CN" sz="2100" dirty="0" smtClean="0"/>
          </a:p>
          <a:p>
            <a:pPr eaLnBrk="1" hangingPunct="1">
              <a:defRPr/>
            </a:pPr>
            <a:endParaRPr lang="en-US" altLang="zh-CN" sz="2100" dirty="0" smtClean="0"/>
          </a:p>
          <a:p>
            <a:pPr eaLnBrk="1" hangingPunct="1">
              <a:defRPr/>
            </a:pPr>
            <a:endParaRPr lang="en-US" altLang="zh-CN" sz="2100" dirty="0" smtClean="0"/>
          </a:p>
          <a:p>
            <a:pPr eaLnBrk="1" hangingPunct="1">
              <a:defRPr/>
            </a:pPr>
            <a:r>
              <a:rPr lang="en-US" altLang="zh-CN" sz="2900" dirty="0" smtClean="0"/>
              <a:t> </a:t>
            </a:r>
            <a:r>
              <a:rPr lang="zh-CN" altLang="en-US" sz="2900" dirty="0" smtClean="0"/>
              <a:t>定理</a:t>
            </a:r>
            <a:r>
              <a:rPr lang="en-US" altLang="zh-CN" sz="2900" dirty="0" smtClean="0"/>
              <a:t>2.2 </a:t>
            </a:r>
            <a:endParaRPr lang="en-US" altLang="zh-CN" sz="2900" dirty="0" smtClean="0"/>
          </a:p>
          <a:p>
            <a:pPr lvl="1" eaLnBrk="1" hangingPunct="1">
              <a:defRPr/>
            </a:pPr>
            <a:r>
              <a:rPr lang="zh-CN" altLang="en-US" sz="2400" dirty="0" smtClean="0">
                <a:latin typeface="+mn-ea"/>
                <a:ea typeface="+mn-ea"/>
              </a:rPr>
              <a:t>设</a:t>
            </a:r>
            <a:r>
              <a:rPr lang="en-US" altLang="zh-CN" sz="2400" dirty="0" smtClean="0">
                <a:latin typeface="+mn-ea"/>
                <a:ea typeface="+mn-ea"/>
              </a:rPr>
              <a:t> n </a:t>
            </a:r>
            <a:r>
              <a:rPr lang="zh-CN" altLang="en-US" sz="2400" dirty="0" smtClean="0">
                <a:latin typeface="+mn-ea"/>
                <a:ea typeface="+mn-ea"/>
              </a:rPr>
              <a:t>为正整数，那么：</a:t>
            </a:r>
            <a:endParaRPr lang="en-US" altLang="zh-CN" sz="2400" dirty="0" smtClean="0">
              <a:latin typeface="+mn-ea"/>
              <a:ea typeface="+mn-ea"/>
            </a:endParaRPr>
          </a:p>
          <a:p>
            <a:pPr lvl="1" eaLnBrk="1" hangingPunct="1">
              <a:defRPr/>
            </a:pPr>
            <a:endParaRPr lang="en-US" altLang="zh-CN" sz="2400" dirty="0" smtClean="0"/>
          </a:p>
        </p:txBody>
      </p:sp>
      <p:graphicFrame>
        <p:nvGraphicFramePr>
          <p:cNvPr id="73733" name="Object 4"/>
          <p:cNvGraphicFramePr>
            <a:graphicFrameLocks noGrp="1" noChangeAspect="1"/>
          </p:cNvGraphicFramePr>
          <p:nvPr>
            <p:ph sz="quarter" idx="2"/>
          </p:nvPr>
        </p:nvGraphicFramePr>
        <p:xfrm>
          <a:off x="2773363" y="2019300"/>
          <a:ext cx="3017837" cy="1290638"/>
        </p:xfrm>
        <a:graphic>
          <a:graphicData uri="http://schemas.openxmlformats.org/presentationml/2006/ole">
            <mc:AlternateContent xmlns:mc="http://schemas.openxmlformats.org/markup-compatibility/2006">
              <mc:Choice xmlns:v="urn:schemas-microsoft-com:vml" Requires="v">
                <p:oleObj spid="_x0000_s7228" name="Equation" r:id="rId1" imgW="2197100" imgH="939800" progId="Equation.3">
                  <p:embed/>
                </p:oleObj>
              </mc:Choice>
              <mc:Fallback>
                <p:oleObj name="Equation" r:id="rId1" imgW="2197100" imgH="939800" progId="Equation.3">
                  <p:embed/>
                  <p:pic>
                    <p:nvPicPr>
                      <p:cNvPr id="0" name="Object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73363" y="2019300"/>
                        <a:ext cx="3017837" cy="1290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73734" name="Object 6"/>
          <p:cNvGraphicFramePr>
            <a:graphicFrameLocks noGrp="1" noChangeAspect="1"/>
          </p:cNvGraphicFramePr>
          <p:nvPr>
            <p:ph sz="quarter" idx="3"/>
          </p:nvPr>
        </p:nvGraphicFramePr>
        <p:xfrm>
          <a:off x="2214563" y="4357688"/>
          <a:ext cx="2400300" cy="992187"/>
        </p:xfrm>
        <a:graphic>
          <a:graphicData uri="http://schemas.openxmlformats.org/presentationml/2006/ole">
            <mc:AlternateContent xmlns:mc="http://schemas.openxmlformats.org/markup-compatibility/2006">
              <mc:Choice xmlns:v="urn:schemas-microsoft-com:vml" Requires="v">
                <p:oleObj spid="_x0000_s7229" name="Equation" r:id="rId3" imgW="1168400" imgH="457200" progId="Equation.3">
                  <p:embed/>
                </p:oleObj>
              </mc:Choice>
              <mc:Fallback>
                <p:oleObj name="Equation" r:id="rId3" imgW="1168400" imgH="457200" progId="Equation.3">
                  <p:embed/>
                  <p:pic>
                    <p:nvPicPr>
                      <p:cNvPr id="0" name="Object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14563" y="4357688"/>
                        <a:ext cx="2400300" cy="992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73736" name="Picture 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15000" y="3786188"/>
            <a:ext cx="2657475"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3737" name="Picture 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786438" y="4643438"/>
            <a:ext cx="3143250" cy="581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2" name="直接箭头连接符 11"/>
          <p:cNvCxnSpPr>
            <a:endCxn id="4104" idx="1"/>
          </p:cNvCxnSpPr>
          <p:nvPr/>
        </p:nvCxnSpPr>
        <p:spPr>
          <a:xfrm flipV="1">
            <a:off x="4786313" y="4090988"/>
            <a:ext cx="928687" cy="552450"/>
          </a:xfrm>
          <a:prstGeom prst="straightConnector1">
            <a:avLst/>
          </a:prstGeom>
          <a:ln w="38100">
            <a:tailEnd type="arrow"/>
          </a:ln>
        </p:spPr>
        <p:style>
          <a:lnRef idx="1">
            <a:schemeClr val="accent1"/>
          </a:lnRef>
          <a:fillRef idx="0">
            <a:schemeClr val="accent1"/>
          </a:fillRef>
          <a:effectRef idx="0">
            <a:schemeClr val="accent1"/>
          </a:effectRef>
          <a:fontRef idx="minor">
            <a:schemeClr val="tx1"/>
          </a:fontRef>
        </p:style>
      </p:cxnSp>
      <p:cxnSp>
        <p:nvCxnSpPr>
          <p:cNvPr id="14" name="直接箭头连接符 13"/>
          <p:cNvCxnSpPr>
            <a:endCxn id="4105" idx="1"/>
          </p:cNvCxnSpPr>
          <p:nvPr/>
        </p:nvCxnSpPr>
        <p:spPr>
          <a:xfrm>
            <a:off x="4786313" y="4643438"/>
            <a:ext cx="1000125" cy="290512"/>
          </a:xfrm>
          <a:prstGeom prst="straightConnector1">
            <a:avLst/>
          </a:prstGeom>
          <a:ln w="38100">
            <a:tailEnd type="arrow"/>
          </a:ln>
        </p:spPr>
        <p:style>
          <a:lnRef idx="1">
            <a:schemeClr val="accent1"/>
          </a:lnRef>
          <a:fillRef idx="0">
            <a:schemeClr val="accent1"/>
          </a:fillRef>
          <a:effectRef idx="0">
            <a:schemeClr val="accent1"/>
          </a:effectRef>
          <a:fontRef idx="minor">
            <a:schemeClr val="tx1"/>
          </a:fontRef>
        </p:style>
      </p:cxnSp>
      <p:sp>
        <p:nvSpPr>
          <p:cNvPr id="18" name="矩形 17"/>
          <p:cNvSpPr/>
          <p:nvPr/>
        </p:nvSpPr>
        <p:spPr>
          <a:xfrm>
            <a:off x="4929188" y="4000500"/>
            <a:ext cx="609600" cy="369888"/>
          </a:xfrm>
          <a:prstGeom prst="rect">
            <a:avLst/>
          </a:prstGeom>
        </p:spPr>
        <p:txBody>
          <a:bodyPr wrap="none">
            <a:spAutoFit/>
          </a:bodyPr>
          <a:lstStyle/>
          <a:p>
            <a:pPr eaLnBrk="1" hangingPunct="1">
              <a:defRPr/>
            </a:pPr>
            <a:r>
              <a:rPr lang="en-US" altLang="zh-CN" dirty="0">
                <a:latin typeface="+mn-ea"/>
                <a:ea typeface="宋体" pitchFamily="2" charset="-122"/>
              </a:rPr>
              <a:t>X=1</a:t>
            </a:r>
            <a:endParaRPr lang="zh-CN" altLang="en-US" dirty="0">
              <a:latin typeface="Arial" panose="020B0604020202090204" pitchFamily="34" charset="0"/>
              <a:ea typeface="宋体" pitchFamily="2" charset="-122"/>
            </a:endParaRPr>
          </a:p>
        </p:txBody>
      </p:sp>
      <p:sp>
        <p:nvSpPr>
          <p:cNvPr id="19" name="矩形 18"/>
          <p:cNvSpPr/>
          <p:nvPr/>
        </p:nvSpPr>
        <p:spPr>
          <a:xfrm>
            <a:off x="4929188" y="4857750"/>
            <a:ext cx="681037" cy="369888"/>
          </a:xfrm>
          <a:prstGeom prst="rect">
            <a:avLst/>
          </a:prstGeom>
        </p:spPr>
        <p:txBody>
          <a:bodyPr wrap="none">
            <a:spAutoFit/>
          </a:bodyPr>
          <a:lstStyle/>
          <a:p>
            <a:pPr eaLnBrk="1" hangingPunct="1">
              <a:defRPr/>
            </a:pPr>
            <a:r>
              <a:rPr lang="en-US" altLang="zh-CN" dirty="0">
                <a:latin typeface="+mn-ea"/>
                <a:ea typeface="宋体" pitchFamily="2" charset="-122"/>
              </a:rPr>
              <a:t>X=-1</a:t>
            </a:r>
            <a:endParaRPr lang="zh-CN" altLang="en-US" dirty="0">
              <a:latin typeface="Arial" panose="020B0604020202090204" pitchFamily="34" charset="0"/>
              <a:ea typeface="宋体" pitchFamily="2" charset="-122"/>
            </a:endParaRPr>
          </a:p>
        </p:txBody>
      </p:sp>
      <p:sp>
        <p:nvSpPr>
          <p:cNvPr id="17" name="矩形 16"/>
          <p:cNvSpPr/>
          <p:nvPr/>
        </p:nvSpPr>
        <p:spPr>
          <a:xfrm>
            <a:off x="1227138" y="2714625"/>
            <a:ext cx="1416050" cy="461963"/>
          </a:xfrm>
          <a:prstGeom prst="rect">
            <a:avLst/>
          </a:prstGeom>
        </p:spPr>
        <p:txBody>
          <a:bodyPr wrap="none">
            <a:spAutoFit/>
          </a:bodyPr>
          <a:lstStyle/>
          <a:p>
            <a:pPr eaLnBrk="1" hangingPunct="1">
              <a:defRPr/>
            </a:pPr>
            <a:r>
              <a:rPr lang="zh-CN" altLang="en-US" sz="2400" dirty="0">
                <a:solidFill>
                  <a:schemeClr val="accent2"/>
                </a:solidFill>
                <a:latin typeface="+mn-ea"/>
                <a:ea typeface="+mn-ea"/>
              </a:rPr>
              <a:t>递归公式</a:t>
            </a:r>
            <a:endParaRPr lang="zh-CN" altLang="en-US" sz="2400" dirty="0">
              <a:solidFill>
                <a:schemeClr val="accent2"/>
              </a:solidFill>
              <a:latin typeface="+mn-ea"/>
              <a:ea typeface="+mn-ea"/>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75779" name="Rectangle 2"/>
          <p:cNvSpPr>
            <a:spLocks noGrp="1" noChangeArrowheads="1"/>
          </p:cNvSpPr>
          <p:nvPr>
            <p:ph type="title"/>
          </p:nvPr>
        </p:nvSpPr>
        <p:spPr/>
        <p:txBody>
          <a:bodyPr/>
          <a:lstStyle/>
          <a:p>
            <a:pPr eaLnBrk="1" hangingPunct="1"/>
            <a:r>
              <a:rPr lang="en-US" altLang="zh-CN" dirty="0" smtClean="0">
                <a:solidFill>
                  <a:srgbClr val="333399"/>
                </a:solidFill>
                <a:latin typeface="华文楷体" panose="02010600040101010101" pitchFamily="2" charset="-122"/>
              </a:rPr>
              <a:t>1.3.6 </a:t>
            </a:r>
            <a:r>
              <a:rPr lang="zh-CN" altLang="en-US" dirty="0">
                <a:solidFill>
                  <a:srgbClr val="333399"/>
                </a:solidFill>
                <a:latin typeface="华文楷体" panose="02010600040101010101" pitchFamily="2" charset="-122"/>
              </a:rPr>
              <a:t>鸽巢原理</a:t>
            </a:r>
            <a:endParaRPr lang="en-US" altLang="zh-CN" dirty="0" smtClean="0"/>
          </a:p>
        </p:txBody>
      </p:sp>
      <p:sp>
        <p:nvSpPr>
          <p:cNvPr id="110595" name="Rectangle 3"/>
          <p:cNvSpPr>
            <a:spLocks noGrp="1" noChangeArrowheads="1"/>
          </p:cNvSpPr>
          <p:nvPr>
            <p:ph type="body" idx="1"/>
          </p:nvPr>
        </p:nvSpPr>
        <p:spPr>
          <a:xfrm>
            <a:off x="914400" y="1196975"/>
            <a:ext cx="7834313" cy="4718050"/>
          </a:xfrm>
        </p:spPr>
        <p:txBody>
          <a:bodyPr/>
          <a:lstStyle/>
          <a:p>
            <a:pPr lvl="1" eaLnBrk="1" hangingPunct="1">
              <a:lnSpc>
                <a:spcPct val="90000"/>
              </a:lnSpc>
              <a:buFontTx/>
              <a:buNone/>
              <a:defRPr/>
            </a:pPr>
            <a:r>
              <a:rPr lang="zh-CN" altLang="en-US" sz="2500" dirty="0" smtClean="0">
                <a:latin typeface="+mn-lt"/>
                <a:ea typeface="+mn-ea"/>
                <a:cs typeface="+mn-cs"/>
                <a:sym typeface="Symbol" panose="05050102010706020507" pitchFamily="18" charset="2"/>
              </a:rPr>
              <a:t>组合数学中解决计数问题的一个工具。</a:t>
            </a:r>
            <a:endParaRPr lang="en-US" altLang="zh-CN" sz="2500" dirty="0" smtClean="0">
              <a:latin typeface="+mn-lt"/>
              <a:ea typeface="+mn-ea"/>
              <a:cs typeface="+mn-cs"/>
              <a:sym typeface="Symbol" panose="05050102010706020507" pitchFamily="18" charset="2"/>
            </a:endParaRPr>
          </a:p>
          <a:p>
            <a:pPr eaLnBrk="1" hangingPunct="1">
              <a:lnSpc>
                <a:spcPct val="90000"/>
              </a:lnSpc>
              <a:defRPr/>
            </a:pPr>
            <a:r>
              <a:rPr lang="zh-CN" altLang="en-US" dirty="0" smtClean="0">
                <a:solidFill>
                  <a:srgbClr val="FF0000"/>
                </a:solidFill>
                <a:sym typeface="Symbol" panose="05050102010706020507" pitchFamily="18" charset="2"/>
              </a:rPr>
              <a:t>假定一群鸽子飞入一组巢安歇，如果鸽子比鸽巢多，那么一定至少有一个鸽巢里有两只或两只以上的鸽子。</a:t>
            </a:r>
            <a:endParaRPr lang="en-US" altLang="zh-CN" dirty="0" smtClean="0">
              <a:solidFill>
                <a:srgbClr val="FF0000"/>
              </a:solidFill>
              <a:sym typeface="Symbol" panose="05050102010706020507" pitchFamily="18" charset="2"/>
            </a:endParaRPr>
          </a:p>
          <a:p>
            <a:pPr eaLnBrk="1" hangingPunct="1">
              <a:lnSpc>
                <a:spcPct val="90000"/>
              </a:lnSpc>
              <a:defRPr/>
            </a:pPr>
            <a:endParaRPr lang="en-US" altLang="zh-CN" dirty="0" smtClean="0">
              <a:sym typeface="Symbol" panose="05050102010706020507" pitchFamily="18" charset="2"/>
            </a:endParaRPr>
          </a:p>
          <a:p>
            <a:pPr eaLnBrk="1" hangingPunct="1">
              <a:lnSpc>
                <a:spcPct val="90000"/>
              </a:lnSpc>
              <a:defRPr/>
            </a:pPr>
            <a:r>
              <a:rPr lang="zh-CN" altLang="en-US" dirty="0" smtClean="0">
                <a:sym typeface="Symbol" panose="05050102010706020507" pitchFamily="18" charset="2"/>
              </a:rPr>
              <a:t>这个原理除了鸽子和鸽巢外，也可用于其他对象，因此也称为（狄利克莱，德国，</a:t>
            </a:r>
            <a:r>
              <a:rPr lang="en-US" altLang="zh-CN" dirty="0" smtClean="0">
                <a:sym typeface="Symbol" panose="05050102010706020507" pitchFamily="18" charset="2"/>
              </a:rPr>
              <a:t>19</a:t>
            </a:r>
            <a:r>
              <a:rPr lang="zh-CN" altLang="en-US" dirty="0" smtClean="0">
                <a:sym typeface="Symbol" panose="05050102010706020507" pitchFamily="18" charset="2"/>
              </a:rPr>
              <a:t>世纪）</a:t>
            </a:r>
            <a:r>
              <a:rPr lang="zh-CN" altLang="en-US" dirty="0" smtClean="0">
                <a:solidFill>
                  <a:srgbClr val="FF0000"/>
                </a:solidFill>
                <a:sym typeface="Symbol" panose="05050102010706020507" pitchFamily="18" charset="2"/>
              </a:rPr>
              <a:t>抽屉原理、鞋盒原理</a:t>
            </a:r>
            <a:r>
              <a:rPr lang="zh-CN" altLang="en-US" dirty="0" smtClean="0">
                <a:sym typeface="Symbol" panose="05050102010706020507" pitchFamily="18" charset="2"/>
              </a:rPr>
              <a:t>。</a:t>
            </a:r>
            <a:endParaRPr lang="en-US" altLang="zh-CN" dirty="0" smtClean="0">
              <a:sym typeface="Symbol" panose="05050102010706020507" pitchFamily="18" charset="2"/>
            </a:endParaRPr>
          </a:p>
          <a:p>
            <a:pPr eaLnBrk="1" hangingPunct="1">
              <a:lnSpc>
                <a:spcPct val="90000"/>
              </a:lnSpc>
              <a:defRPr/>
            </a:pPr>
            <a:endParaRPr lang="en-US" altLang="zh-CN" sz="2000" dirty="0" smtClean="0">
              <a:sym typeface="Symbol" panose="05050102010706020507" pitchFamily="18" charset="2"/>
            </a:endParaRPr>
          </a:p>
        </p:txBody>
      </p:sp>
      <p:pic>
        <p:nvPicPr>
          <p:cNvPr id="75781" name="Picture 8"/>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5857875" y="4071938"/>
            <a:ext cx="2066925" cy="1695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矩形 8"/>
          <p:cNvSpPr/>
          <p:nvPr/>
        </p:nvSpPr>
        <p:spPr>
          <a:xfrm>
            <a:off x="1500188" y="4643438"/>
            <a:ext cx="3786187" cy="923925"/>
          </a:xfrm>
          <a:prstGeom prst="rect">
            <a:avLst/>
          </a:prstGeom>
        </p:spPr>
        <p:txBody>
          <a:bodyPr>
            <a:spAutoFit/>
          </a:bodyPr>
          <a:lstStyle/>
          <a:p>
            <a:pPr eaLnBrk="1" hangingPunct="1">
              <a:lnSpc>
                <a:spcPct val="90000"/>
              </a:lnSpc>
              <a:defRPr/>
            </a:pPr>
            <a:r>
              <a:rPr lang="en-US" altLang="zh-CN" sz="2000" dirty="0">
                <a:solidFill>
                  <a:schemeClr val="accent2"/>
                </a:solidFill>
                <a:latin typeface="+mn-lt"/>
                <a:ea typeface="+mn-ea"/>
                <a:sym typeface="Symbol" panose="05050102010706020507" pitchFamily="18" charset="2"/>
              </a:rPr>
              <a:t>10</a:t>
            </a:r>
            <a:r>
              <a:rPr lang="zh-CN" altLang="en-US" sz="2000" dirty="0">
                <a:solidFill>
                  <a:schemeClr val="accent2"/>
                </a:solidFill>
                <a:latin typeface="+mn-lt"/>
                <a:ea typeface="+mn-ea"/>
                <a:sym typeface="Symbol" panose="05050102010706020507" pitchFamily="18" charset="2"/>
              </a:rPr>
              <a:t>只鸽子放进</a:t>
            </a:r>
            <a:r>
              <a:rPr lang="en-US" altLang="zh-CN" sz="2000" dirty="0">
                <a:solidFill>
                  <a:schemeClr val="accent2"/>
                </a:solidFill>
                <a:latin typeface="+mn-lt"/>
                <a:ea typeface="+mn-ea"/>
                <a:sym typeface="Symbol" panose="05050102010706020507" pitchFamily="18" charset="2"/>
              </a:rPr>
              <a:t>9</a:t>
            </a:r>
            <a:r>
              <a:rPr lang="zh-CN" altLang="en-US" sz="2000" dirty="0">
                <a:solidFill>
                  <a:schemeClr val="accent2"/>
                </a:solidFill>
                <a:latin typeface="+mn-lt"/>
                <a:ea typeface="+mn-ea"/>
                <a:sym typeface="Symbol" panose="05050102010706020507" pitchFamily="18" charset="2"/>
              </a:rPr>
              <a:t>个鸽笼，那么一定有一个鸽笼放进了至少两只鸽子</a:t>
            </a:r>
            <a:endParaRPr lang="en-US" altLang="zh-CN" sz="2000" dirty="0">
              <a:solidFill>
                <a:schemeClr val="accent2"/>
              </a:solidFill>
              <a:latin typeface="+mn-lt"/>
              <a:ea typeface="+mn-ea"/>
              <a:sym typeface="Symbol" panose="05050102010706020507" pitchFamily="18" charset="2"/>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77827" name="Rectangle 2"/>
          <p:cNvSpPr>
            <a:spLocks noGrp="1" noChangeArrowheads="1"/>
          </p:cNvSpPr>
          <p:nvPr>
            <p:ph type="title"/>
          </p:nvPr>
        </p:nvSpPr>
        <p:spPr/>
        <p:txBody>
          <a:bodyPr/>
          <a:lstStyle/>
          <a:p>
            <a:pPr eaLnBrk="1" hangingPunct="1"/>
            <a:r>
              <a:rPr lang="en-US" altLang="zh-CN" dirty="0">
                <a:solidFill>
                  <a:srgbClr val="333399"/>
                </a:solidFill>
                <a:latin typeface="华文楷体" panose="02010600040101010101" pitchFamily="2" charset="-122"/>
              </a:rPr>
              <a:t>1.3.6 </a:t>
            </a:r>
            <a:r>
              <a:rPr lang="zh-CN" altLang="en-US" dirty="0">
                <a:solidFill>
                  <a:srgbClr val="333399"/>
                </a:solidFill>
                <a:latin typeface="华文楷体" panose="02010600040101010101" pitchFamily="2" charset="-122"/>
              </a:rPr>
              <a:t>鸽巢原理</a:t>
            </a:r>
            <a:endParaRPr lang="en-US" altLang="zh-CN" dirty="0" smtClean="0"/>
          </a:p>
        </p:txBody>
      </p:sp>
      <p:sp>
        <p:nvSpPr>
          <p:cNvPr id="110595" name="Rectangle 3"/>
          <p:cNvSpPr>
            <a:spLocks noGrp="1" noChangeArrowheads="1"/>
          </p:cNvSpPr>
          <p:nvPr>
            <p:ph type="body" idx="1"/>
          </p:nvPr>
        </p:nvSpPr>
        <p:spPr>
          <a:xfrm>
            <a:off x="735013" y="1303338"/>
            <a:ext cx="8229600" cy="4718050"/>
          </a:xfrm>
        </p:spPr>
        <p:txBody>
          <a:bodyPr/>
          <a:lstStyle/>
          <a:p>
            <a:pPr lvl="1" eaLnBrk="1" hangingPunct="1">
              <a:lnSpc>
                <a:spcPct val="90000"/>
              </a:lnSpc>
              <a:buFontTx/>
              <a:buNone/>
              <a:defRPr/>
            </a:pPr>
            <a:r>
              <a:rPr lang="zh-CN" altLang="en-US" sz="2500" dirty="0" smtClean="0">
                <a:solidFill>
                  <a:srgbClr val="FF0000"/>
                </a:solidFill>
                <a:latin typeface="+mn-lt"/>
                <a:ea typeface="+mn-ea"/>
                <a:cs typeface="+mn-cs"/>
                <a:sym typeface="Symbol" panose="05050102010706020507" pitchFamily="18" charset="2"/>
              </a:rPr>
              <a:t>简单形式</a:t>
            </a:r>
            <a:r>
              <a:rPr lang="zh-CN" altLang="en-US" sz="2500" dirty="0" smtClean="0">
                <a:latin typeface="+mn-lt"/>
                <a:ea typeface="+mn-ea"/>
                <a:cs typeface="+mn-cs"/>
                <a:sym typeface="Symbol" panose="05050102010706020507" pitchFamily="18" charset="2"/>
              </a:rPr>
              <a:t>：如果</a:t>
            </a:r>
            <a:r>
              <a:rPr lang="en-US" altLang="zh-CN" sz="2500" dirty="0" smtClean="0">
                <a:latin typeface="+mn-lt"/>
                <a:ea typeface="+mn-ea"/>
                <a:cs typeface="+mn-cs"/>
                <a:sym typeface="Symbol" panose="05050102010706020507" pitchFamily="18" charset="2"/>
              </a:rPr>
              <a:t>K+1</a:t>
            </a:r>
            <a:r>
              <a:rPr lang="zh-CN" altLang="en-US" sz="2500" dirty="0" smtClean="0">
                <a:latin typeface="+mn-lt"/>
                <a:ea typeface="+mn-ea"/>
                <a:cs typeface="+mn-cs"/>
                <a:sym typeface="Symbol" panose="05050102010706020507" pitchFamily="18" charset="2"/>
              </a:rPr>
              <a:t>个或更多的物体放入</a:t>
            </a:r>
            <a:r>
              <a:rPr lang="en-US" altLang="zh-CN" sz="2500" dirty="0" smtClean="0">
                <a:latin typeface="+mn-lt"/>
                <a:ea typeface="+mn-ea"/>
                <a:cs typeface="+mn-cs"/>
                <a:sym typeface="Symbol" panose="05050102010706020507" pitchFamily="18" charset="2"/>
              </a:rPr>
              <a:t>K</a:t>
            </a:r>
            <a:r>
              <a:rPr lang="zh-CN" altLang="en-US" sz="2500" dirty="0" smtClean="0">
                <a:latin typeface="+mn-lt"/>
                <a:ea typeface="+mn-ea"/>
                <a:cs typeface="+mn-cs"/>
                <a:sym typeface="Symbol" panose="05050102010706020507" pitchFamily="18" charset="2"/>
              </a:rPr>
              <a:t>个盒子，那么至少有一个盒子含</a:t>
            </a:r>
            <a:r>
              <a:rPr lang="en-US" altLang="zh-CN" sz="2500" dirty="0" smtClean="0">
                <a:latin typeface="+mn-lt"/>
                <a:ea typeface="+mn-ea"/>
                <a:cs typeface="+mn-cs"/>
                <a:sym typeface="Symbol" panose="05050102010706020507" pitchFamily="18" charset="2"/>
              </a:rPr>
              <a:t>2</a:t>
            </a:r>
            <a:r>
              <a:rPr lang="zh-CN" altLang="en-US" sz="2500" dirty="0" smtClean="0">
                <a:latin typeface="+mn-lt"/>
                <a:ea typeface="+mn-ea"/>
                <a:cs typeface="+mn-cs"/>
                <a:sym typeface="Symbol" panose="05050102010706020507" pitchFamily="18" charset="2"/>
              </a:rPr>
              <a:t>个或更多的物体。</a:t>
            </a:r>
            <a:endParaRPr lang="en-US" altLang="zh-CN" sz="2500" dirty="0" smtClean="0">
              <a:latin typeface="+mn-lt"/>
              <a:ea typeface="+mn-ea"/>
              <a:cs typeface="+mn-cs"/>
              <a:sym typeface="Symbol" panose="05050102010706020507" pitchFamily="18" charset="2"/>
            </a:endParaRPr>
          </a:p>
          <a:p>
            <a:pPr lvl="1" eaLnBrk="1" hangingPunct="1">
              <a:lnSpc>
                <a:spcPct val="90000"/>
              </a:lnSpc>
              <a:buFontTx/>
              <a:buNone/>
              <a:defRPr/>
            </a:pPr>
            <a:endParaRPr lang="en-US" altLang="zh-CN" sz="2500" dirty="0" smtClean="0">
              <a:latin typeface="+mn-lt"/>
              <a:ea typeface="+mn-ea"/>
              <a:cs typeface="+mn-cs"/>
              <a:sym typeface="Symbol" panose="05050102010706020507" pitchFamily="18" charset="2"/>
            </a:endParaRPr>
          </a:p>
          <a:p>
            <a:pPr lvl="1" eaLnBrk="1" hangingPunct="1">
              <a:lnSpc>
                <a:spcPct val="90000"/>
              </a:lnSpc>
              <a:buFontTx/>
              <a:buNone/>
              <a:defRPr/>
            </a:pPr>
            <a:r>
              <a:rPr lang="zh-CN" altLang="en-US" sz="2500" dirty="0" smtClean="0">
                <a:latin typeface="+mn-lt"/>
                <a:ea typeface="+mn-ea"/>
                <a:cs typeface="+mn-cs"/>
                <a:sym typeface="Symbol" panose="05050102010706020507" pitchFamily="18" charset="2"/>
              </a:rPr>
              <a:t>例</a:t>
            </a:r>
            <a:r>
              <a:rPr lang="en-US" altLang="zh-CN" sz="2500" dirty="0" smtClean="0">
                <a:latin typeface="+mn-lt"/>
                <a:ea typeface="+mn-ea"/>
                <a:cs typeface="+mn-cs"/>
                <a:sym typeface="Symbol" panose="05050102010706020507" pitchFamily="18" charset="2"/>
              </a:rPr>
              <a:t>1</a:t>
            </a:r>
            <a:r>
              <a:rPr lang="zh-CN" altLang="en-US" sz="2500" dirty="0" smtClean="0">
                <a:latin typeface="+mn-lt"/>
                <a:ea typeface="+mn-ea"/>
                <a:cs typeface="+mn-cs"/>
                <a:sym typeface="Symbol" panose="05050102010706020507" pitchFamily="18" charset="2"/>
              </a:rPr>
              <a:t>：在</a:t>
            </a:r>
            <a:r>
              <a:rPr lang="en-US" altLang="zh-CN" sz="2500" dirty="0" smtClean="0">
                <a:latin typeface="+mn-lt"/>
                <a:ea typeface="+mn-ea"/>
                <a:cs typeface="+mn-cs"/>
                <a:sym typeface="Symbol" panose="05050102010706020507" pitchFamily="18" charset="2"/>
              </a:rPr>
              <a:t>13</a:t>
            </a:r>
            <a:r>
              <a:rPr lang="zh-CN" altLang="en-US" sz="2500" dirty="0" smtClean="0">
                <a:latin typeface="+mn-lt"/>
                <a:ea typeface="+mn-ea"/>
                <a:cs typeface="+mn-cs"/>
                <a:sym typeface="Symbol" panose="05050102010706020507" pitchFamily="18" charset="2"/>
              </a:rPr>
              <a:t>个人中存在两个人，他们的生日在同一月份里</a:t>
            </a:r>
            <a:endParaRPr lang="en-US" altLang="zh-CN" sz="2500" dirty="0" smtClean="0">
              <a:latin typeface="+mn-lt"/>
              <a:ea typeface="+mn-ea"/>
              <a:cs typeface="+mn-cs"/>
              <a:sym typeface="Symbol" panose="05050102010706020507" pitchFamily="18" charset="2"/>
            </a:endParaRPr>
          </a:p>
          <a:p>
            <a:pPr lvl="1" eaLnBrk="1" hangingPunct="1">
              <a:lnSpc>
                <a:spcPct val="90000"/>
              </a:lnSpc>
              <a:buFontTx/>
              <a:buNone/>
              <a:defRPr/>
            </a:pPr>
            <a:endParaRPr lang="en-US" altLang="zh-CN" sz="2500" dirty="0" smtClean="0">
              <a:latin typeface="+mn-lt"/>
              <a:ea typeface="+mn-ea"/>
              <a:cs typeface="+mn-cs"/>
              <a:sym typeface="Symbol" panose="05050102010706020507" pitchFamily="18" charset="2"/>
            </a:endParaRPr>
          </a:p>
          <a:p>
            <a:pPr lvl="1" eaLnBrk="1" hangingPunct="1">
              <a:lnSpc>
                <a:spcPct val="90000"/>
              </a:lnSpc>
              <a:buFontTx/>
              <a:buNone/>
              <a:defRPr/>
            </a:pPr>
            <a:r>
              <a:rPr lang="zh-CN" altLang="en-US" sz="2500" dirty="0" smtClean="0">
                <a:latin typeface="+mn-lt"/>
                <a:ea typeface="+mn-ea"/>
                <a:cs typeface="+mn-cs"/>
                <a:sym typeface="Symbol" panose="05050102010706020507" pitchFamily="18" charset="2"/>
              </a:rPr>
              <a:t>例</a:t>
            </a:r>
            <a:r>
              <a:rPr lang="en-US" altLang="zh-CN" sz="2500" dirty="0" smtClean="0">
                <a:latin typeface="+mn-lt"/>
                <a:ea typeface="+mn-ea"/>
                <a:cs typeface="+mn-cs"/>
                <a:sym typeface="Symbol" panose="05050102010706020507" pitchFamily="18" charset="2"/>
              </a:rPr>
              <a:t>2</a:t>
            </a:r>
            <a:r>
              <a:rPr lang="zh-CN" altLang="en-US" sz="2500" dirty="0" smtClean="0">
                <a:latin typeface="+mn-lt"/>
                <a:ea typeface="+mn-ea"/>
                <a:cs typeface="+mn-cs"/>
                <a:sym typeface="Symbol" panose="05050102010706020507" pitchFamily="18" charset="2"/>
              </a:rPr>
              <a:t>：设有</a:t>
            </a:r>
            <a:r>
              <a:rPr lang="en-US" altLang="zh-CN" sz="2500" dirty="0" smtClean="0">
                <a:latin typeface="+mn-lt"/>
                <a:ea typeface="+mn-ea"/>
                <a:cs typeface="+mn-cs"/>
                <a:sym typeface="Symbol" panose="05050102010706020507" pitchFamily="18" charset="2"/>
              </a:rPr>
              <a:t>n</a:t>
            </a:r>
            <a:r>
              <a:rPr lang="zh-CN" altLang="en-US" sz="2500" dirty="0" smtClean="0">
                <a:latin typeface="+mn-lt"/>
                <a:ea typeface="+mn-ea"/>
                <a:cs typeface="+mn-cs"/>
                <a:sym typeface="Symbol" panose="05050102010706020507" pitchFamily="18" charset="2"/>
              </a:rPr>
              <a:t>对已婚夫妇。为保证有一对夫妇被选出，至少要从这</a:t>
            </a:r>
            <a:r>
              <a:rPr lang="en-US" altLang="zh-CN" sz="2500" dirty="0" smtClean="0">
                <a:latin typeface="+mn-lt"/>
                <a:ea typeface="+mn-ea"/>
                <a:cs typeface="+mn-cs"/>
                <a:sym typeface="Symbol" panose="05050102010706020507" pitchFamily="18" charset="2"/>
              </a:rPr>
              <a:t>2n</a:t>
            </a:r>
            <a:r>
              <a:rPr lang="zh-CN" altLang="en-US" sz="2500" dirty="0" smtClean="0">
                <a:latin typeface="+mn-lt"/>
                <a:ea typeface="+mn-ea"/>
                <a:cs typeface="+mn-cs"/>
                <a:sym typeface="Symbol" panose="05050102010706020507" pitchFamily="18" charset="2"/>
              </a:rPr>
              <a:t>个人中选出多少人？（</a:t>
            </a:r>
            <a:r>
              <a:rPr lang="en-US" altLang="zh-CN" sz="2500" dirty="0" smtClean="0">
                <a:latin typeface="+mn-lt"/>
                <a:ea typeface="+mn-ea"/>
                <a:cs typeface="+mn-cs"/>
                <a:sym typeface="Symbol" panose="05050102010706020507" pitchFamily="18" charset="2"/>
              </a:rPr>
              <a:t>n+1</a:t>
            </a:r>
            <a:r>
              <a:rPr lang="zh-CN" altLang="en-US" sz="2500" dirty="0" smtClean="0">
                <a:latin typeface="+mn-lt"/>
                <a:ea typeface="+mn-ea"/>
                <a:cs typeface="+mn-cs"/>
                <a:sym typeface="Symbol" panose="05050102010706020507" pitchFamily="18" charset="2"/>
              </a:rPr>
              <a:t>）</a:t>
            </a:r>
            <a:endParaRPr lang="en-US" altLang="zh-CN" sz="2500" dirty="0" smtClean="0">
              <a:latin typeface="+mn-lt"/>
              <a:ea typeface="+mn-ea"/>
              <a:cs typeface="+mn-cs"/>
              <a:sym typeface="Symbol" panose="05050102010706020507" pitchFamily="18" charset="2"/>
            </a:endParaRPr>
          </a:p>
          <a:p>
            <a:pPr eaLnBrk="1" hangingPunct="1">
              <a:lnSpc>
                <a:spcPct val="90000"/>
              </a:lnSpc>
              <a:defRPr/>
            </a:pPr>
            <a:endParaRPr lang="en-US" altLang="zh-CN" sz="2000" dirty="0" smtClean="0">
              <a:sym typeface="Symbol" panose="05050102010706020507" pitchFamily="18" charset="2"/>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10595">
                                            <p:txEl>
                                              <p:pRg st="2" end="2"/>
                                            </p:txEl>
                                          </p:spTgt>
                                        </p:tgtEl>
                                        <p:attrNameLst>
                                          <p:attrName>style.visibility</p:attrName>
                                        </p:attrNameLst>
                                      </p:cBhvr>
                                      <p:to>
                                        <p:strVal val="visible"/>
                                      </p:to>
                                    </p:set>
                                    <p:anim calcmode="lin" valueType="num">
                                      <p:cBhvr additive="base">
                                        <p:cTn id="7" dur="500" fill="hold"/>
                                        <p:tgtEl>
                                          <p:spTgt spid="110595">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1059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10595">
                                            <p:txEl>
                                              <p:pRg st="4" end="4"/>
                                            </p:txEl>
                                          </p:spTgt>
                                        </p:tgtEl>
                                        <p:attrNameLst>
                                          <p:attrName>style.visibility</p:attrName>
                                        </p:attrNameLst>
                                      </p:cBhvr>
                                      <p:to>
                                        <p:strVal val="visible"/>
                                      </p:to>
                                    </p:set>
                                    <p:anim calcmode="lin" valueType="num">
                                      <p:cBhvr additive="base">
                                        <p:cTn id="13" dur="500" fill="hold"/>
                                        <p:tgtEl>
                                          <p:spTgt spid="110595">
                                            <p:txEl>
                                              <p:pRg st="4" end="4"/>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10595">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79875" name="Rectangle 2"/>
          <p:cNvSpPr>
            <a:spLocks noGrp="1" noChangeArrowheads="1"/>
          </p:cNvSpPr>
          <p:nvPr>
            <p:ph type="title"/>
          </p:nvPr>
        </p:nvSpPr>
        <p:spPr/>
        <p:txBody>
          <a:bodyPr/>
          <a:lstStyle/>
          <a:p>
            <a:pPr eaLnBrk="1" hangingPunct="1"/>
            <a:r>
              <a:rPr lang="en-US" altLang="zh-CN" dirty="0">
                <a:solidFill>
                  <a:srgbClr val="333399"/>
                </a:solidFill>
                <a:latin typeface="华文楷体" panose="02010600040101010101" pitchFamily="2" charset="-122"/>
              </a:rPr>
              <a:t>1.3.6 </a:t>
            </a:r>
            <a:r>
              <a:rPr lang="zh-CN" altLang="en-US" dirty="0">
                <a:solidFill>
                  <a:srgbClr val="333399"/>
                </a:solidFill>
                <a:latin typeface="华文楷体" panose="02010600040101010101" pitchFamily="2" charset="-122"/>
              </a:rPr>
              <a:t>鸽巢原理</a:t>
            </a:r>
            <a:endParaRPr lang="en-US" altLang="zh-CN" dirty="0" smtClean="0"/>
          </a:p>
        </p:txBody>
      </p:sp>
      <p:sp>
        <p:nvSpPr>
          <p:cNvPr id="110595" name="Rectangle 3"/>
          <p:cNvSpPr>
            <a:spLocks noGrp="1" noChangeArrowheads="1"/>
          </p:cNvSpPr>
          <p:nvPr>
            <p:ph type="body" idx="1"/>
          </p:nvPr>
        </p:nvSpPr>
        <p:spPr>
          <a:xfrm>
            <a:off x="914400" y="1272165"/>
            <a:ext cx="8229600" cy="4718050"/>
          </a:xfrm>
        </p:spPr>
        <p:txBody>
          <a:bodyPr/>
          <a:lstStyle/>
          <a:p>
            <a:pPr eaLnBrk="1" hangingPunct="1">
              <a:lnSpc>
                <a:spcPct val="90000"/>
              </a:lnSpc>
              <a:defRPr/>
            </a:pPr>
            <a:r>
              <a:rPr lang="zh-CN" altLang="en-US" dirty="0" smtClean="0"/>
              <a:t>定理</a:t>
            </a:r>
            <a:r>
              <a:rPr lang="en-US" altLang="zh-CN" dirty="0" smtClean="0"/>
              <a:t> 2.3</a:t>
            </a:r>
            <a:r>
              <a:rPr lang="zh-CN" altLang="en-US" dirty="0" smtClean="0"/>
              <a:t>（</a:t>
            </a:r>
            <a:r>
              <a:rPr lang="zh-CN" altLang="en-US" dirty="0" smtClean="0">
                <a:solidFill>
                  <a:srgbClr val="FF0000"/>
                </a:solidFill>
              </a:rPr>
              <a:t>推广的</a:t>
            </a:r>
            <a:r>
              <a:rPr lang="zh-CN" altLang="en-US" dirty="0" smtClean="0"/>
              <a:t>鸽巢原理）</a:t>
            </a:r>
            <a:endParaRPr lang="en-US" altLang="zh-CN" dirty="0" smtClean="0"/>
          </a:p>
          <a:p>
            <a:pPr lvl="1" eaLnBrk="1" hangingPunct="1">
              <a:lnSpc>
                <a:spcPct val="90000"/>
              </a:lnSpc>
              <a:buFontTx/>
              <a:buNone/>
              <a:defRPr/>
            </a:pPr>
            <a:r>
              <a:rPr lang="zh-CN" altLang="en-US" sz="2000" dirty="0">
                <a:latin typeface="+mn-lt"/>
                <a:ea typeface="+mn-ea"/>
              </a:rPr>
              <a:t>如果把</a:t>
            </a:r>
            <a:r>
              <a:rPr lang="en-US" altLang="zh-CN" sz="2000" dirty="0">
                <a:latin typeface="+mn-lt"/>
                <a:ea typeface="+mn-ea"/>
              </a:rPr>
              <a:t>n</a:t>
            </a:r>
            <a:r>
              <a:rPr lang="zh-CN" altLang="en-US" sz="2000" dirty="0">
                <a:latin typeface="+mn-lt"/>
                <a:ea typeface="+mn-ea"/>
              </a:rPr>
              <a:t>个球分别放在</a:t>
            </a:r>
            <a:r>
              <a:rPr lang="en-US" altLang="zh-CN" sz="2000" dirty="0">
                <a:latin typeface="+mn-lt"/>
                <a:ea typeface="+mn-ea"/>
              </a:rPr>
              <a:t>m</a:t>
            </a:r>
            <a:r>
              <a:rPr lang="zh-CN" altLang="en-US" sz="2000" dirty="0">
                <a:latin typeface="+mn-lt"/>
                <a:ea typeface="+mn-ea"/>
              </a:rPr>
              <a:t>个盒子中，那么：</a:t>
            </a:r>
            <a:endParaRPr lang="en-US" altLang="zh-CN" sz="2000" dirty="0">
              <a:latin typeface="+mn-lt"/>
              <a:ea typeface="+mn-ea"/>
            </a:endParaRPr>
          </a:p>
          <a:p>
            <a:pPr lvl="2" eaLnBrk="1" hangingPunct="1">
              <a:lnSpc>
                <a:spcPct val="90000"/>
              </a:lnSpc>
              <a:defRPr/>
            </a:pPr>
            <a:r>
              <a:rPr lang="zh-CN" altLang="en-US" dirty="0" smtClean="0">
                <a:latin typeface="+mn-lt"/>
                <a:ea typeface="+mn-ea"/>
              </a:rPr>
              <a:t>存在一个盒子，必定至少装</a:t>
            </a:r>
            <a:r>
              <a:rPr lang="en-US" altLang="zh-CN" dirty="0" smtClean="0">
                <a:latin typeface="+mn-lt"/>
                <a:ea typeface="+mn-ea"/>
                <a:sym typeface="Symbol" panose="05050102010706020507" pitchFamily="18" charset="2"/>
              </a:rPr>
              <a:t></a:t>
            </a:r>
            <a:r>
              <a:rPr lang="en-US" altLang="zh-CN" i="1" dirty="0" smtClean="0">
                <a:latin typeface="+mn-lt"/>
                <a:ea typeface="+mn-ea"/>
                <a:sym typeface="Symbol" panose="05050102010706020507" pitchFamily="18" charset="2"/>
              </a:rPr>
              <a:t>n/m</a:t>
            </a:r>
            <a:r>
              <a:rPr lang="en-US" altLang="zh-CN" dirty="0" smtClean="0">
                <a:latin typeface="+mn-lt"/>
                <a:ea typeface="+mn-ea"/>
                <a:sym typeface="Symbol" panose="05050102010706020507" pitchFamily="18" charset="2"/>
              </a:rPr>
              <a:t> </a:t>
            </a:r>
            <a:r>
              <a:rPr lang="zh-CN" altLang="en-US" dirty="0" smtClean="0">
                <a:latin typeface="+mn-lt"/>
                <a:ea typeface="+mn-ea"/>
                <a:sym typeface="Symbol" panose="05050102010706020507" pitchFamily="18" charset="2"/>
              </a:rPr>
              <a:t>个球；</a:t>
            </a:r>
            <a:endParaRPr lang="en-US" altLang="zh-CN" dirty="0" smtClean="0">
              <a:latin typeface="+mn-lt"/>
              <a:ea typeface="+mn-ea"/>
              <a:sym typeface="Symbol" panose="05050102010706020507" pitchFamily="18" charset="2"/>
            </a:endParaRPr>
          </a:p>
          <a:p>
            <a:pPr lvl="2" eaLnBrk="1" hangingPunct="1">
              <a:lnSpc>
                <a:spcPct val="90000"/>
              </a:lnSpc>
              <a:defRPr/>
            </a:pPr>
            <a:r>
              <a:rPr lang="zh-CN" altLang="en-US" dirty="0" smtClean="0">
                <a:latin typeface="+mn-lt"/>
                <a:ea typeface="+mn-ea"/>
                <a:sym typeface="Symbol" panose="05050102010706020507" pitchFamily="18" charset="2"/>
              </a:rPr>
              <a:t>存在一个盒子，必定最多装</a:t>
            </a:r>
            <a:r>
              <a:rPr lang="en-US" altLang="zh-CN" dirty="0" smtClean="0">
                <a:latin typeface="+mn-lt"/>
                <a:ea typeface="+mn-ea"/>
                <a:sym typeface="Symbol" panose="05050102010706020507" pitchFamily="18" charset="2"/>
              </a:rPr>
              <a:t></a:t>
            </a:r>
            <a:r>
              <a:rPr lang="en-US" altLang="zh-CN" i="1" dirty="0" smtClean="0">
                <a:latin typeface="+mn-lt"/>
                <a:ea typeface="+mn-ea"/>
                <a:sym typeface="Symbol" panose="05050102010706020507" pitchFamily="18" charset="2"/>
              </a:rPr>
              <a:t>n/m</a:t>
            </a:r>
            <a:r>
              <a:rPr lang="en-US" altLang="zh-CN" dirty="0" smtClean="0">
                <a:latin typeface="+mn-lt"/>
                <a:ea typeface="+mn-ea"/>
                <a:sym typeface="Symbol" panose="05050102010706020507" pitchFamily="18" charset="2"/>
              </a:rPr>
              <a:t> </a:t>
            </a:r>
            <a:r>
              <a:rPr lang="zh-CN" altLang="en-US" dirty="0" smtClean="0">
                <a:latin typeface="+mn-lt"/>
                <a:ea typeface="+mn-ea"/>
                <a:sym typeface="Symbol" panose="05050102010706020507" pitchFamily="18" charset="2"/>
              </a:rPr>
              <a:t>个球。</a:t>
            </a:r>
            <a:endParaRPr lang="en-US" altLang="zh-CN" dirty="0" smtClean="0">
              <a:latin typeface="+mn-lt"/>
              <a:ea typeface="+mn-ea"/>
              <a:sym typeface="Symbol" panose="05050102010706020507" pitchFamily="18" charset="2"/>
            </a:endParaRPr>
          </a:p>
          <a:p>
            <a:pPr lvl="2" eaLnBrk="1" hangingPunct="1">
              <a:lnSpc>
                <a:spcPct val="90000"/>
              </a:lnSpc>
              <a:buFontTx/>
              <a:buNone/>
              <a:defRPr/>
            </a:pPr>
            <a:r>
              <a:rPr lang="zh-CN" altLang="en-US" dirty="0" smtClean="0">
                <a:solidFill>
                  <a:srgbClr val="FF0000"/>
                </a:solidFill>
                <a:latin typeface="+mn-lt"/>
                <a:ea typeface="+mn-ea"/>
                <a:sym typeface="Symbol" panose="05050102010706020507" pitchFamily="18" charset="2"/>
              </a:rPr>
              <a:t>等同于</a:t>
            </a:r>
            <a:r>
              <a:rPr lang="zh-CN" altLang="en-US" dirty="0" smtClean="0">
                <a:latin typeface="+mn-lt"/>
                <a:ea typeface="+mn-ea"/>
                <a:sym typeface="Symbol" panose="05050102010706020507" pitchFamily="18" charset="2"/>
              </a:rPr>
              <a:t>：当盒子仅有</a:t>
            </a:r>
            <a:r>
              <a:rPr lang="en-US" altLang="zh-CN" dirty="0" smtClean="0">
                <a:latin typeface="+mn-lt"/>
                <a:ea typeface="+mn-ea"/>
                <a:sym typeface="Symbol" panose="05050102010706020507" pitchFamily="18" charset="2"/>
              </a:rPr>
              <a:t>n</a:t>
            </a:r>
            <a:r>
              <a:rPr lang="zh-CN" altLang="en-US" dirty="0" smtClean="0">
                <a:latin typeface="+mn-lt"/>
                <a:ea typeface="+mn-ea"/>
                <a:sym typeface="Symbol" panose="05050102010706020507" pitchFamily="18" charset="2"/>
              </a:rPr>
              <a:t>个，而球的数目大于</a:t>
            </a:r>
            <a:r>
              <a:rPr lang="en-US" altLang="zh-CN" dirty="0" smtClean="0">
                <a:latin typeface="+mn-lt"/>
                <a:ea typeface="+mn-ea"/>
                <a:sym typeface="Symbol" panose="05050102010706020507" pitchFamily="18" charset="2"/>
              </a:rPr>
              <a:t>n</a:t>
            </a:r>
            <a:r>
              <a:rPr lang="zh-CN" altLang="en-US" dirty="0" smtClean="0">
                <a:latin typeface="+mn-lt"/>
                <a:ea typeface="+mn-ea"/>
                <a:sym typeface="Symbol" panose="05050102010706020507" pitchFamily="18" charset="2"/>
              </a:rPr>
              <a:t>*</a:t>
            </a:r>
            <a:r>
              <a:rPr lang="en-US" altLang="zh-CN" dirty="0" smtClean="0">
                <a:latin typeface="+mn-lt"/>
                <a:ea typeface="+mn-ea"/>
                <a:sym typeface="Symbol" panose="05050102010706020507" pitchFamily="18" charset="2"/>
              </a:rPr>
              <a:t>m</a:t>
            </a:r>
            <a:r>
              <a:rPr lang="zh-CN" altLang="en-US" dirty="0" smtClean="0">
                <a:latin typeface="+mn-lt"/>
                <a:ea typeface="+mn-ea"/>
                <a:sym typeface="Symbol" panose="05050102010706020507" pitchFamily="18" charset="2"/>
              </a:rPr>
              <a:t>时，则必有一个盒子中至少有</a:t>
            </a:r>
            <a:r>
              <a:rPr lang="en-US" altLang="zh-CN" dirty="0" smtClean="0">
                <a:latin typeface="+mn-lt"/>
                <a:ea typeface="+mn-ea"/>
                <a:sym typeface="Symbol" panose="05050102010706020507" pitchFamily="18" charset="2"/>
              </a:rPr>
              <a:t>m+1</a:t>
            </a:r>
            <a:r>
              <a:rPr lang="zh-CN" altLang="en-US" dirty="0" smtClean="0">
                <a:latin typeface="+mn-lt"/>
                <a:ea typeface="+mn-ea"/>
                <a:sym typeface="Symbol" panose="05050102010706020507" pitchFamily="18" charset="2"/>
              </a:rPr>
              <a:t>或多于</a:t>
            </a:r>
            <a:r>
              <a:rPr lang="en-US" altLang="zh-CN" dirty="0" smtClean="0">
                <a:latin typeface="+mn-lt"/>
                <a:ea typeface="+mn-ea"/>
                <a:sym typeface="Symbol" panose="05050102010706020507" pitchFamily="18" charset="2"/>
              </a:rPr>
              <a:t>m+1</a:t>
            </a:r>
            <a:r>
              <a:rPr lang="zh-CN" altLang="en-US" dirty="0" smtClean="0">
                <a:latin typeface="+mn-lt"/>
                <a:ea typeface="+mn-ea"/>
                <a:sym typeface="Symbol" panose="05050102010706020507" pitchFamily="18" charset="2"/>
              </a:rPr>
              <a:t>个物体。</a:t>
            </a:r>
            <a:endParaRPr lang="en-US" altLang="zh-CN" dirty="0" smtClean="0">
              <a:latin typeface="+mn-lt"/>
              <a:ea typeface="+mn-ea"/>
              <a:sym typeface="Symbol" panose="05050102010706020507" pitchFamily="18" charset="2"/>
            </a:endParaRPr>
          </a:p>
          <a:p>
            <a:pPr lvl="2" eaLnBrk="1" hangingPunct="1">
              <a:lnSpc>
                <a:spcPct val="90000"/>
              </a:lnSpc>
              <a:buFontTx/>
              <a:buNone/>
              <a:defRPr/>
            </a:pPr>
            <a:r>
              <a:rPr lang="zh-CN" altLang="en-US" dirty="0" smtClean="0">
                <a:latin typeface="+mn-lt"/>
                <a:ea typeface="+mn-ea"/>
                <a:sym typeface="Symbol" panose="05050102010706020507" pitchFamily="18" charset="2"/>
              </a:rPr>
              <a:t>例：在</a:t>
            </a:r>
            <a:r>
              <a:rPr lang="en-US" altLang="zh-CN" dirty="0" smtClean="0">
                <a:latin typeface="+mn-lt"/>
                <a:ea typeface="+mn-ea"/>
                <a:sym typeface="Symbol" panose="05050102010706020507" pitchFamily="18" charset="2"/>
              </a:rPr>
              <a:t>100</a:t>
            </a:r>
            <a:r>
              <a:rPr lang="zh-CN" altLang="en-US" dirty="0" smtClean="0">
                <a:latin typeface="+mn-lt"/>
                <a:ea typeface="+mn-ea"/>
                <a:sym typeface="Symbol" panose="05050102010706020507" pitchFamily="18" charset="2"/>
              </a:rPr>
              <a:t>人中至少有</a:t>
            </a:r>
            <a:r>
              <a:rPr lang="en-US" altLang="zh-CN" dirty="0" smtClean="0">
                <a:latin typeface="+mn-lt"/>
                <a:ea typeface="+mn-ea"/>
                <a:sym typeface="Symbol" panose="05050102010706020507" pitchFamily="18" charset="2"/>
              </a:rPr>
              <a:t>100/12 =9</a:t>
            </a:r>
            <a:r>
              <a:rPr lang="zh-CN" altLang="en-US" dirty="0" smtClean="0">
                <a:latin typeface="+mn-lt"/>
                <a:ea typeface="+mn-ea"/>
                <a:sym typeface="Symbol" panose="05050102010706020507" pitchFamily="18" charset="2"/>
              </a:rPr>
              <a:t>个人出生在同一个月。</a:t>
            </a:r>
            <a:endParaRPr lang="en-US" altLang="zh-CN" dirty="0" smtClean="0">
              <a:latin typeface="+mn-lt"/>
              <a:ea typeface="+mn-ea"/>
              <a:sym typeface="Symbol" panose="05050102010706020507" pitchFamily="18" charset="2"/>
            </a:endParaRPr>
          </a:p>
          <a:p>
            <a:pPr lvl="2" eaLnBrk="1" hangingPunct="1">
              <a:lnSpc>
                <a:spcPct val="90000"/>
              </a:lnSpc>
              <a:buFontTx/>
              <a:buNone/>
              <a:defRPr/>
            </a:pPr>
            <a:r>
              <a:rPr lang="en-US" altLang="zh-CN" dirty="0" smtClean="0">
                <a:latin typeface="+mn-lt"/>
                <a:ea typeface="+mn-ea"/>
                <a:sym typeface="Symbol" panose="05050102010706020507" pitchFamily="18" charset="2"/>
              </a:rPr>
              <a:t>         </a:t>
            </a:r>
            <a:r>
              <a:rPr lang="zh-CN" altLang="en-US" dirty="0" smtClean="0">
                <a:latin typeface="+mn-lt"/>
                <a:ea typeface="+mn-ea"/>
                <a:sym typeface="Symbol" panose="05050102010706020507" pitchFamily="18" charset="2"/>
              </a:rPr>
              <a:t>一定有一个月，最多只有</a:t>
            </a:r>
            <a:r>
              <a:rPr lang="en-US" altLang="zh-CN" sz="1600" dirty="0" smtClean="0">
                <a:sym typeface="Symbol" panose="05050102010706020507" pitchFamily="18" charset="2"/>
              </a:rPr>
              <a:t> 100/12  </a:t>
            </a:r>
            <a:r>
              <a:rPr lang="en-US" altLang="zh-CN" sz="1800" dirty="0" smtClean="0">
                <a:sym typeface="Symbol" panose="05050102010706020507" pitchFamily="18" charset="2"/>
              </a:rPr>
              <a:t>=</a:t>
            </a:r>
            <a:r>
              <a:rPr lang="en-US" altLang="zh-CN" dirty="0" smtClean="0">
                <a:latin typeface="+mn-lt"/>
                <a:ea typeface="+mn-ea"/>
                <a:sym typeface="Symbol" panose="05050102010706020507" pitchFamily="18" charset="2"/>
              </a:rPr>
              <a:t>8</a:t>
            </a:r>
            <a:r>
              <a:rPr lang="zh-CN" altLang="en-US" dirty="0" smtClean="0">
                <a:latin typeface="+mn-lt"/>
                <a:ea typeface="+mn-ea"/>
                <a:sym typeface="Symbol" panose="05050102010706020507" pitchFamily="18" charset="2"/>
              </a:rPr>
              <a:t>个人出生。（即不可能每个月都有</a:t>
            </a:r>
            <a:r>
              <a:rPr lang="en-US" altLang="zh-CN" dirty="0" smtClean="0">
                <a:latin typeface="+mn-lt"/>
                <a:ea typeface="+mn-ea"/>
                <a:sym typeface="Symbol" panose="05050102010706020507" pitchFamily="18" charset="2"/>
              </a:rPr>
              <a:t>9</a:t>
            </a:r>
            <a:r>
              <a:rPr lang="zh-CN" altLang="en-US" dirty="0" smtClean="0">
                <a:latin typeface="+mn-lt"/>
                <a:ea typeface="+mn-ea"/>
                <a:sym typeface="Symbol" panose="05050102010706020507" pitchFamily="18" charset="2"/>
              </a:rPr>
              <a:t>个人出生）</a:t>
            </a:r>
            <a:endParaRPr lang="en-US" altLang="zh-CN" dirty="0" smtClean="0">
              <a:latin typeface="+mn-lt"/>
              <a:ea typeface="+mn-ea"/>
              <a:sym typeface="Symbol" panose="05050102010706020507" pitchFamily="18" charset="2"/>
            </a:endParaRPr>
          </a:p>
          <a:p>
            <a:pPr eaLnBrk="1" hangingPunct="1">
              <a:lnSpc>
                <a:spcPct val="90000"/>
              </a:lnSpc>
              <a:defRPr/>
            </a:pPr>
            <a:r>
              <a:rPr lang="zh-CN" altLang="en-US" dirty="0" smtClean="0">
                <a:sym typeface="Symbol" panose="05050102010706020507" pitchFamily="18" charset="2"/>
              </a:rPr>
              <a:t>例子</a:t>
            </a:r>
            <a:endParaRPr lang="en-US" altLang="zh-CN" dirty="0" smtClean="0">
              <a:sym typeface="Symbol" panose="05050102010706020507" pitchFamily="18" charset="2"/>
            </a:endParaRPr>
          </a:p>
          <a:p>
            <a:pPr lvl="1" eaLnBrk="1" hangingPunct="1">
              <a:lnSpc>
                <a:spcPct val="90000"/>
              </a:lnSpc>
              <a:buFontTx/>
              <a:buNone/>
              <a:defRPr/>
            </a:pPr>
            <a:r>
              <a:rPr lang="zh-CN" altLang="en-US" sz="2000" dirty="0" smtClean="0">
                <a:solidFill>
                  <a:srgbClr val="660066"/>
                </a:solidFill>
                <a:latin typeface="+mn-lt"/>
                <a:ea typeface="+mn-ea"/>
                <a:sym typeface="Symbol" panose="05050102010706020507" pitchFamily="18" charset="2"/>
              </a:rPr>
              <a:t>令</a:t>
            </a:r>
            <a:r>
              <a:rPr lang="en-US" altLang="zh-CN" sz="2000" dirty="0" smtClean="0">
                <a:solidFill>
                  <a:srgbClr val="660066"/>
                </a:solidFill>
                <a:latin typeface="+mn-lt"/>
                <a:ea typeface="+mn-ea"/>
                <a:sym typeface="Symbol" panose="05050102010706020507" pitchFamily="18" charset="2"/>
              </a:rPr>
              <a:t> G = (V, E) </a:t>
            </a:r>
            <a:r>
              <a:rPr lang="zh-CN" altLang="en-US" sz="2000" dirty="0" smtClean="0">
                <a:solidFill>
                  <a:srgbClr val="660066"/>
                </a:solidFill>
                <a:latin typeface="+mn-lt"/>
                <a:ea typeface="+mn-ea"/>
                <a:sym typeface="Symbol" panose="05050102010706020507" pitchFamily="18" charset="2"/>
              </a:rPr>
              <a:t>是一个连通的无向图，有</a:t>
            </a:r>
            <a:r>
              <a:rPr lang="en-US" altLang="zh-CN" sz="2000" dirty="0" smtClean="0">
                <a:solidFill>
                  <a:srgbClr val="660066"/>
                </a:solidFill>
                <a:latin typeface="+mn-lt"/>
                <a:ea typeface="+mn-ea"/>
                <a:sym typeface="Symbol" panose="05050102010706020507" pitchFamily="18" charset="2"/>
              </a:rPr>
              <a:t>m</a:t>
            </a:r>
            <a:r>
              <a:rPr lang="zh-CN" altLang="en-US" sz="2000" dirty="0" smtClean="0">
                <a:solidFill>
                  <a:srgbClr val="660066"/>
                </a:solidFill>
                <a:latin typeface="+mn-lt"/>
                <a:ea typeface="+mn-ea"/>
                <a:sym typeface="Symbol" panose="05050102010706020507" pitchFamily="18" charset="2"/>
              </a:rPr>
              <a:t>个顶点。令</a:t>
            </a:r>
            <a:r>
              <a:rPr lang="en-US" altLang="zh-CN" sz="2000" dirty="0" smtClean="0">
                <a:solidFill>
                  <a:srgbClr val="660066"/>
                </a:solidFill>
                <a:latin typeface="+mn-lt"/>
                <a:ea typeface="+mn-ea"/>
                <a:sym typeface="Symbol" panose="05050102010706020507" pitchFamily="18" charset="2"/>
              </a:rPr>
              <a:t>p</a:t>
            </a:r>
            <a:r>
              <a:rPr lang="zh-CN" altLang="en-US" sz="2000" dirty="0" smtClean="0">
                <a:solidFill>
                  <a:srgbClr val="660066"/>
                </a:solidFill>
                <a:latin typeface="+mn-lt"/>
                <a:ea typeface="+mn-ea"/>
                <a:sym typeface="Symbol" panose="05050102010706020507" pitchFamily="18" charset="2"/>
              </a:rPr>
              <a:t>是</a:t>
            </a:r>
            <a:r>
              <a:rPr lang="en-US" altLang="zh-CN" sz="2000" dirty="0" smtClean="0">
                <a:solidFill>
                  <a:srgbClr val="660066"/>
                </a:solidFill>
                <a:latin typeface="+mn-lt"/>
                <a:ea typeface="+mn-ea"/>
                <a:sym typeface="Symbol" panose="05050102010706020507" pitchFamily="18" charset="2"/>
              </a:rPr>
              <a:t>G</a:t>
            </a:r>
            <a:r>
              <a:rPr lang="zh-CN" altLang="en-US" sz="2000" dirty="0" smtClean="0">
                <a:solidFill>
                  <a:srgbClr val="660066"/>
                </a:solidFill>
                <a:latin typeface="+mn-lt"/>
                <a:ea typeface="+mn-ea"/>
                <a:sym typeface="Symbol" panose="05050102010706020507" pitchFamily="18" charset="2"/>
              </a:rPr>
              <a:t>中访问</a:t>
            </a:r>
            <a:r>
              <a:rPr lang="en-US" altLang="zh-CN" sz="2000" dirty="0" smtClean="0">
                <a:solidFill>
                  <a:srgbClr val="660066"/>
                </a:solidFill>
                <a:latin typeface="+mn-lt"/>
                <a:ea typeface="+mn-ea"/>
                <a:sym typeface="Symbol" panose="05050102010706020507" pitchFamily="18" charset="2"/>
              </a:rPr>
              <a:t>n&gt;m </a:t>
            </a:r>
            <a:r>
              <a:rPr lang="zh-CN" altLang="en-US" sz="2000" dirty="0" smtClean="0">
                <a:solidFill>
                  <a:srgbClr val="660066"/>
                </a:solidFill>
                <a:latin typeface="+mn-lt"/>
                <a:ea typeface="+mn-ea"/>
                <a:sym typeface="Symbol" panose="05050102010706020507" pitchFamily="18" charset="2"/>
              </a:rPr>
              <a:t>个顶点的一条路径，那么</a:t>
            </a:r>
            <a:r>
              <a:rPr lang="en-US" altLang="zh-CN" sz="2000" dirty="0" smtClean="0">
                <a:solidFill>
                  <a:srgbClr val="660066"/>
                </a:solidFill>
                <a:latin typeface="+mn-lt"/>
                <a:ea typeface="+mn-ea"/>
                <a:sym typeface="Symbol" panose="05050102010706020507" pitchFamily="18" charset="2"/>
              </a:rPr>
              <a:t>p</a:t>
            </a:r>
            <a:r>
              <a:rPr lang="zh-CN" altLang="en-US" sz="2000" dirty="0" smtClean="0">
                <a:solidFill>
                  <a:srgbClr val="660066"/>
                </a:solidFill>
                <a:latin typeface="+mn-lt"/>
                <a:ea typeface="+mn-ea"/>
                <a:sym typeface="Symbol" panose="05050102010706020507" pitchFamily="18" charset="2"/>
              </a:rPr>
              <a:t>必定包含一条回路。</a:t>
            </a:r>
            <a:endParaRPr lang="en-US" altLang="zh-CN" sz="2000" dirty="0" smtClean="0">
              <a:solidFill>
                <a:srgbClr val="660066"/>
              </a:solidFill>
              <a:latin typeface="+mn-lt"/>
              <a:ea typeface="+mn-ea"/>
              <a:sym typeface="Symbol" panose="05050102010706020507" pitchFamily="18" charset="2"/>
            </a:endParaRPr>
          </a:p>
          <a:p>
            <a:pPr lvl="1" eaLnBrk="1" hangingPunct="1">
              <a:lnSpc>
                <a:spcPct val="90000"/>
              </a:lnSpc>
              <a:buFontTx/>
              <a:buNone/>
              <a:defRPr/>
            </a:pPr>
            <a:r>
              <a:rPr lang="zh-CN" altLang="en-US" sz="2000" dirty="0" smtClean="0">
                <a:latin typeface="+mn-lt"/>
                <a:ea typeface="+mn-ea"/>
                <a:sym typeface="Symbol" panose="05050102010706020507" pitchFamily="18" charset="2"/>
              </a:rPr>
              <a:t>证明：由于</a:t>
            </a:r>
            <a:r>
              <a:rPr lang="en-US" altLang="zh-CN" sz="2000" dirty="0" smtClean="0">
                <a:latin typeface="+mn-lt"/>
                <a:ea typeface="+mn-ea"/>
                <a:sym typeface="Symbol" panose="05050102010706020507" pitchFamily="18" charset="2"/>
              </a:rPr>
              <a:t> </a:t>
            </a:r>
            <a:r>
              <a:rPr lang="en-US" altLang="zh-CN" sz="2000" i="1" dirty="0" smtClean="0">
                <a:latin typeface="+mn-lt"/>
                <a:ea typeface="+mn-ea"/>
                <a:sym typeface="Symbol" panose="05050102010706020507" pitchFamily="18" charset="2"/>
              </a:rPr>
              <a:t>n/m</a:t>
            </a:r>
            <a:r>
              <a:rPr lang="en-US" altLang="zh-CN" sz="2000" dirty="0" smtClean="0">
                <a:latin typeface="+mn-lt"/>
                <a:ea typeface="+mn-ea"/>
                <a:sym typeface="Symbol" panose="05050102010706020507" pitchFamily="18" charset="2"/>
              </a:rPr>
              <a:t> &gt;1, </a:t>
            </a:r>
            <a:r>
              <a:rPr lang="zh-CN" altLang="en-US" sz="2000" dirty="0" smtClean="0">
                <a:latin typeface="+mn-lt"/>
                <a:ea typeface="+mn-ea"/>
                <a:sym typeface="Symbol" panose="05050102010706020507" pitchFamily="18" charset="2"/>
              </a:rPr>
              <a:t>至少有 一顶点，假设是</a:t>
            </a:r>
            <a:r>
              <a:rPr lang="en-US" altLang="zh-CN" sz="2000" dirty="0" smtClean="0">
                <a:latin typeface="+mn-lt"/>
                <a:ea typeface="+mn-ea"/>
                <a:sym typeface="Symbol" panose="05050102010706020507" pitchFamily="18" charset="2"/>
              </a:rPr>
              <a:t> v, </a:t>
            </a:r>
            <a:r>
              <a:rPr lang="zh-CN" altLang="en-US" sz="2000" dirty="0" smtClean="0">
                <a:latin typeface="+mn-lt"/>
                <a:ea typeface="+mn-ea"/>
                <a:sym typeface="Symbol" panose="05050102010706020507" pitchFamily="18" charset="2"/>
              </a:rPr>
              <a:t>它将被</a:t>
            </a:r>
            <a:r>
              <a:rPr lang="en-US" altLang="zh-CN" sz="2000" dirty="0" smtClean="0">
                <a:latin typeface="+mn-lt"/>
                <a:ea typeface="+mn-ea"/>
                <a:sym typeface="Symbol" panose="05050102010706020507" pitchFamily="18" charset="2"/>
              </a:rPr>
              <a:t>p</a:t>
            </a:r>
            <a:r>
              <a:rPr lang="zh-CN" altLang="en-US" sz="2000" dirty="0" smtClean="0">
                <a:latin typeface="+mn-lt"/>
                <a:ea typeface="+mn-ea"/>
                <a:sym typeface="Symbol" panose="05050102010706020507" pitchFamily="18" charset="2"/>
              </a:rPr>
              <a:t>访问超过一次，这样，这条路径以</a:t>
            </a:r>
            <a:r>
              <a:rPr lang="en-US" altLang="zh-CN" sz="2000" dirty="0" smtClean="0">
                <a:latin typeface="+mn-lt"/>
                <a:ea typeface="+mn-ea"/>
                <a:sym typeface="Symbol" panose="05050102010706020507" pitchFamily="18" charset="2"/>
              </a:rPr>
              <a:t>v</a:t>
            </a:r>
            <a:r>
              <a:rPr lang="zh-CN" altLang="en-US" sz="2000" dirty="0" smtClean="0">
                <a:latin typeface="+mn-lt"/>
                <a:ea typeface="+mn-ea"/>
                <a:sym typeface="Symbol" panose="05050102010706020507" pitchFamily="18" charset="2"/>
              </a:rPr>
              <a:t>其实又以</a:t>
            </a:r>
            <a:r>
              <a:rPr lang="en-US" altLang="zh-CN" sz="2000" dirty="0" smtClean="0">
                <a:latin typeface="+mn-lt"/>
                <a:ea typeface="+mn-ea"/>
                <a:sym typeface="Symbol" panose="05050102010706020507" pitchFamily="18" charset="2"/>
              </a:rPr>
              <a:t>v</a:t>
            </a:r>
            <a:r>
              <a:rPr lang="zh-CN" altLang="en-US" sz="2000" dirty="0" smtClean="0">
                <a:latin typeface="+mn-lt"/>
                <a:ea typeface="+mn-ea"/>
                <a:sym typeface="Symbol" panose="05050102010706020507" pitchFamily="18" charset="2"/>
              </a:rPr>
              <a:t>结束的部分形成了一条回路。</a:t>
            </a:r>
            <a:endParaRPr lang="en-US" altLang="zh-CN" sz="2000" dirty="0" smtClean="0">
              <a:latin typeface="+mn-lt"/>
              <a:ea typeface="+mn-ea"/>
              <a:sym typeface="Symbol" panose="05050102010706020507" pitchFamily="18" charset="2"/>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10595">
                                            <p:txEl>
                                              <p:pRg st="4" end="4"/>
                                            </p:txEl>
                                          </p:spTgt>
                                        </p:tgtEl>
                                        <p:attrNameLst>
                                          <p:attrName>style.visibility</p:attrName>
                                        </p:attrNameLst>
                                      </p:cBhvr>
                                      <p:to>
                                        <p:strVal val="visible"/>
                                      </p:to>
                                    </p:set>
                                    <p:anim calcmode="lin" valueType="num">
                                      <p:cBhvr additive="base">
                                        <p:cTn id="7" dur="500" fill="hold"/>
                                        <p:tgtEl>
                                          <p:spTgt spid="110595">
                                            <p:txEl>
                                              <p:pRg st="4" end="4"/>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10595">
                                            <p:txEl>
                                              <p:pRg st="4" end="4"/>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10595">
                                            <p:txEl>
                                              <p:pRg st="5" end="5"/>
                                            </p:txEl>
                                          </p:spTgt>
                                        </p:tgtEl>
                                        <p:attrNameLst>
                                          <p:attrName>style.visibility</p:attrName>
                                        </p:attrNameLst>
                                      </p:cBhvr>
                                      <p:to>
                                        <p:strVal val="visible"/>
                                      </p:to>
                                    </p:set>
                                    <p:anim calcmode="lin" valueType="num">
                                      <p:cBhvr additive="base">
                                        <p:cTn id="11" dur="500" fill="hold"/>
                                        <p:tgtEl>
                                          <p:spTgt spid="110595">
                                            <p:txEl>
                                              <p:pRg st="5" end="5"/>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10595">
                                            <p:txEl>
                                              <p:pRg st="5" end="5"/>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0595">
                                            <p:txEl>
                                              <p:pRg st="6" end="6"/>
                                            </p:txEl>
                                          </p:spTgt>
                                        </p:tgtEl>
                                        <p:attrNameLst>
                                          <p:attrName>style.visibility</p:attrName>
                                        </p:attrNameLst>
                                      </p:cBhvr>
                                      <p:to>
                                        <p:strVal val="visible"/>
                                      </p:to>
                                    </p:set>
                                    <p:anim calcmode="lin" valueType="num">
                                      <p:cBhvr additive="base">
                                        <p:cTn id="15" dur="500" fill="hold"/>
                                        <p:tgtEl>
                                          <p:spTgt spid="110595">
                                            <p:txEl>
                                              <p:pRg st="6" end="6"/>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10595">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nodeType="clickEffect">
                                  <p:stCondLst>
                                    <p:cond delay="0"/>
                                  </p:stCondLst>
                                  <p:childTnLst>
                                    <p:set>
                                      <p:cBhvr>
                                        <p:cTn id="20" dur="1" fill="hold">
                                          <p:stCondLst>
                                            <p:cond delay="0"/>
                                          </p:stCondLst>
                                        </p:cTn>
                                        <p:tgtEl>
                                          <p:spTgt spid="110595">
                                            <p:txEl>
                                              <p:pRg st="7" end="7"/>
                                            </p:txEl>
                                          </p:spTgt>
                                        </p:tgtEl>
                                        <p:attrNameLst>
                                          <p:attrName>style.visibility</p:attrName>
                                        </p:attrNameLst>
                                      </p:cBhvr>
                                      <p:to>
                                        <p:strVal val="visible"/>
                                      </p:to>
                                    </p:set>
                                    <p:anim calcmode="lin" valueType="num">
                                      <p:cBhvr additive="base">
                                        <p:cTn id="21" dur="500" fill="hold"/>
                                        <p:tgtEl>
                                          <p:spTgt spid="110595">
                                            <p:txEl>
                                              <p:pRg st="7" end="7"/>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110595">
                                            <p:txEl>
                                              <p:pRg st="7" end="7"/>
                                            </p:txEl>
                                          </p:spTgt>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0"/>
                                  </p:stCondLst>
                                  <p:childTnLst>
                                    <p:set>
                                      <p:cBhvr>
                                        <p:cTn id="24" dur="1" fill="hold">
                                          <p:stCondLst>
                                            <p:cond delay="0"/>
                                          </p:stCondLst>
                                        </p:cTn>
                                        <p:tgtEl>
                                          <p:spTgt spid="110595">
                                            <p:txEl>
                                              <p:pRg st="8" end="8"/>
                                            </p:txEl>
                                          </p:spTgt>
                                        </p:tgtEl>
                                        <p:attrNameLst>
                                          <p:attrName>style.visibility</p:attrName>
                                        </p:attrNameLst>
                                      </p:cBhvr>
                                      <p:to>
                                        <p:strVal val="visible"/>
                                      </p:to>
                                    </p:set>
                                    <p:anim calcmode="lin" valueType="num">
                                      <p:cBhvr additive="base">
                                        <p:cTn id="25" dur="500" fill="hold"/>
                                        <p:tgtEl>
                                          <p:spTgt spid="110595">
                                            <p:txEl>
                                              <p:pRg st="8" end="8"/>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10595">
                                            <p:txEl>
                                              <p:pRg st="8" end="8"/>
                                            </p:txEl>
                                          </p:spTgt>
                                        </p:tgtEl>
                                        <p:attrNameLst>
                                          <p:attrName>ppt_y</p:attrName>
                                        </p:attrNameLst>
                                      </p:cBhvr>
                                      <p:tavLst>
                                        <p:tav tm="0">
                                          <p:val>
                                            <p:strVal val="1+#ppt_h/2"/>
                                          </p:val>
                                        </p:tav>
                                        <p:tav tm="100000">
                                          <p:val>
                                            <p:strVal val="#ppt_y"/>
                                          </p:val>
                                        </p:tav>
                                      </p:tavLst>
                                    </p:anim>
                                  </p:childTnLst>
                                </p:cTn>
                              </p:par>
                              <p:par>
                                <p:cTn id="27" presetID="2" presetClass="entr" presetSubtype="4" fill="hold" nodeType="withEffect">
                                  <p:stCondLst>
                                    <p:cond delay="0"/>
                                  </p:stCondLst>
                                  <p:childTnLst>
                                    <p:set>
                                      <p:cBhvr>
                                        <p:cTn id="28" dur="1" fill="hold">
                                          <p:stCondLst>
                                            <p:cond delay="0"/>
                                          </p:stCondLst>
                                        </p:cTn>
                                        <p:tgtEl>
                                          <p:spTgt spid="110595">
                                            <p:txEl>
                                              <p:pRg st="9" end="9"/>
                                            </p:txEl>
                                          </p:spTgt>
                                        </p:tgtEl>
                                        <p:attrNameLst>
                                          <p:attrName>style.visibility</p:attrName>
                                        </p:attrNameLst>
                                      </p:cBhvr>
                                      <p:to>
                                        <p:strVal val="visible"/>
                                      </p:to>
                                    </p:set>
                                    <p:anim calcmode="lin" valueType="num">
                                      <p:cBhvr additive="base">
                                        <p:cTn id="29" dur="500" fill="hold"/>
                                        <p:tgtEl>
                                          <p:spTgt spid="110595">
                                            <p:txEl>
                                              <p:pRg st="9" end="9"/>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110595">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81923" name="Text Box 6"/>
          <p:cNvSpPr txBox="1">
            <a:spLocks noChangeArrowheads="1"/>
          </p:cNvSpPr>
          <p:nvPr/>
        </p:nvSpPr>
        <p:spPr bwMode="auto">
          <a:xfrm>
            <a:off x="1331913" y="1412875"/>
            <a:ext cx="6213475" cy="1917700"/>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eaLnBrk="1" hangingPunct="1">
              <a:spcBef>
                <a:spcPct val="0"/>
              </a:spcBef>
              <a:buFontTx/>
              <a:buNone/>
            </a:pPr>
            <a:endParaRPr lang="en-US" altLang="zh-CN" sz="2400">
              <a:solidFill>
                <a:schemeClr val="tx1"/>
              </a:solidFill>
              <a:latin typeface="Arial" panose="020B0604020202090204" pitchFamily="34" charset="0"/>
              <a:ea typeface="宋体" pitchFamily="2" charset="-122"/>
            </a:endParaRPr>
          </a:p>
          <a:p>
            <a:pPr eaLnBrk="1" hangingPunct="1">
              <a:spcBef>
                <a:spcPct val="0"/>
              </a:spcBef>
              <a:buFontTx/>
              <a:buNone/>
            </a:pPr>
            <a:endParaRPr lang="en-US" altLang="zh-CN" sz="2400">
              <a:solidFill>
                <a:schemeClr val="tx1"/>
              </a:solidFill>
              <a:latin typeface="Arial" panose="020B0604020202090204" pitchFamily="34" charset="0"/>
              <a:ea typeface="宋体" pitchFamily="2" charset="-122"/>
            </a:endParaRPr>
          </a:p>
          <a:p>
            <a:pPr eaLnBrk="1" hangingPunct="1">
              <a:spcBef>
                <a:spcPct val="0"/>
              </a:spcBef>
              <a:buFontTx/>
              <a:buNone/>
            </a:pPr>
            <a:endParaRPr lang="en-US" altLang="zh-CN" sz="2400">
              <a:solidFill>
                <a:schemeClr val="tx1"/>
              </a:solidFill>
              <a:latin typeface="Arial" panose="020B0604020202090204" pitchFamily="34" charset="0"/>
              <a:ea typeface="宋体" pitchFamily="2" charset="-122"/>
            </a:endParaRPr>
          </a:p>
          <a:p>
            <a:pPr eaLnBrk="1" hangingPunct="1">
              <a:spcBef>
                <a:spcPct val="0"/>
              </a:spcBef>
              <a:buFontTx/>
              <a:buNone/>
            </a:pPr>
            <a:endParaRPr lang="en-US" altLang="zh-CN" sz="2400">
              <a:solidFill>
                <a:schemeClr val="tx1"/>
              </a:solidFill>
              <a:latin typeface="Arial" panose="020B0604020202090204" pitchFamily="34" charset="0"/>
              <a:ea typeface="宋体" pitchFamily="2" charset="-122"/>
            </a:endParaRPr>
          </a:p>
          <a:p>
            <a:pPr eaLnBrk="1" hangingPunct="1">
              <a:spcBef>
                <a:spcPct val="0"/>
              </a:spcBef>
              <a:buFontTx/>
              <a:buNone/>
            </a:pPr>
            <a:endParaRPr lang="en-US" altLang="zh-CN" sz="2400">
              <a:solidFill>
                <a:schemeClr val="tx1"/>
              </a:solidFill>
              <a:latin typeface="Arial" panose="020B0604020202090204" pitchFamily="34" charset="0"/>
              <a:ea typeface="宋体" pitchFamily="2" charset="-122"/>
            </a:endParaRPr>
          </a:p>
        </p:txBody>
      </p:sp>
      <p:sp>
        <p:nvSpPr>
          <p:cNvPr id="81924" name="Rectangle 2"/>
          <p:cNvSpPr>
            <a:spLocks noGrp="1" noChangeArrowheads="1"/>
          </p:cNvSpPr>
          <p:nvPr>
            <p:ph type="title"/>
          </p:nvPr>
        </p:nvSpPr>
        <p:spPr/>
        <p:txBody>
          <a:bodyPr/>
          <a:lstStyle/>
          <a:p>
            <a:pPr eaLnBrk="1" hangingPunct="1"/>
            <a:r>
              <a:rPr lang="en-US" altLang="zh-CN" dirty="0" smtClean="0">
                <a:solidFill>
                  <a:srgbClr val="333399"/>
                </a:solidFill>
                <a:latin typeface="华文楷体" panose="02010600040101010101" pitchFamily="2" charset="-122"/>
              </a:rPr>
              <a:t>1.3.7 </a:t>
            </a:r>
            <a:r>
              <a:rPr lang="zh-CN" altLang="en-US" dirty="0" smtClean="0">
                <a:solidFill>
                  <a:srgbClr val="333399"/>
                </a:solidFill>
                <a:latin typeface="华文楷体" panose="02010600040101010101" pitchFamily="2" charset="-122"/>
              </a:rPr>
              <a:t>和</a:t>
            </a:r>
            <a:r>
              <a:rPr lang="zh-CN" altLang="en-US" dirty="0">
                <a:solidFill>
                  <a:srgbClr val="333399"/>
                </a:solidFill>
                <a:latin typeface="华文楷体" panose="02010600040101010101" pitchFamily="2" charset="-122"/>
              </a:rPr>
              <a:t>式</a:t>
            </a:r>
            <a:endParaRPr lang="en-US" altLang="zh-CN" dirty="0" smtClean="0"/>
          </a:p>
        </p:txBody>
      </p:sp>
      <p:graphicFrame>
        <p:nvGraphicFramePr>
          <p:cNvPr id="81925" name="Object 4"/>
          <p:cNvGraphicFramePr>
            <a:graphicFrameLocks noGrp="1" noChangeAspect="1"/>
          </p:cNvGraphicFramePr>
          <p:nvPr>
            <p:ph idx="1"/>
          </p:nvPr>
        </p:nvGraphicFramePr>
        <p:xfrm>
          <a:off x="1928813" y="1285875"/>
          <a:ext cx="4679950" cy="2187575"/>
        </p:xfrm>
        <a:graphic>
          <a:graphicData uri="http://schemas.openxmlformats.org/presentationml/2006/ole">
            <mc:AlternateContent xmlns:mc="http://schemas.openxmlformats.org/markup-compatibility/2006">
              <mc:Choice xmlns:v="urn:schemas-microsoft-com:vml" Requires="v">
                <p:oleObj spid="_x0000_s8215" name="公式" r:id="rId1" imgW="1955800" imgH="914400" progId="Equation.3">
                  <p:embed/>
                </p:oleObj>
              </mc:Choice>
              <mc:Fallback>
                <p:oleObj name="公式" r:id="rId1" imgW="1955800" imgH="914400" progId="Equation.3">
                  <p:embed/>
                  <p:pic>
                    <p:nvPicPr>
                      <p:cNvPr id="0" name="Object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28813" y="1285875"/>
                        <a:ext cx="4679950" cy="2187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81926" name="Text Box 7"/>
          <p:cNvSpPr txBox="1">
            <a:spLocks noChangeArrowheads="1"/>
          </p:cNvSpPr>
          <p:nvPr/>
        </p:nvSpPr>
        <p:spPr bwMode="auto">
          <a:xfrm>
            <a:off x="1116013" y="3644900"/>
            <a:ext cx="7334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eaLnBrk="1" hangingPunct="1">
              <a:spcBef>
                <a:spcPct val="0"/>
              </a:spcBef>
              <a:buFontTx/>
              <a:buNone/>
            </a:pPr>
            <a:r>
              <a:rPr lang="en-US" altLang="zh-CN" sz="2400">
                <a:latin typeface="Arial" panose="020B0604020202090204" pitchFamily="34" charset="0"/>
                <a:ea typeface="宋体" pitchFamily="2" charset="-122"/>
              </a:rPr>
              <a:t>P48</a:t>
            </a:r>
            <a:endParaRPr lang="en-US" altLang="zh-CN" sz="2400">
              <a:latin typeface="Arial" panose="020B0604020202090204" pitchFamily="34" charset="0"/>
              <a:ea typeface="宋体"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页脚占位符 5"/>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82947" name="Rectangle 2"/>
          <p:cNvSpPr>
            <a:spLocks noGrp="1" noChangeArrowheads="1"/>
          </p:cNvSpPr>
          <p:nvPr>
            <p:ph type="title"/>
          </p:nvPr>
        </p:nvSpPr>
        <p:spPr>
          <a:xfrm>
            <a:off x="979055" y="271463"/>
            <a:ext cx="7454900" cy="925512"/>
          </a:xfrm>
        </p:spPr>
        <p:txBody>
          <a:bodyPr/>
          <a:lstStyle/>
          <a:p>
            <a:pPr eaLnBrk="1" hangingPunct="1"/>
            <a:r>
              <a:rPr lang="en-US" altLang="zh-CN" dirty="0">
                <a:solidFill>
                  <a:srgbClr val="333399"/>
                </a:solidFill>
                <a:latin typeface="华文楷体" panose="02010600040101010101" pitchFamily="2" charset="-122"/>
              </a:rPr>
              <a:t>1.3.7 </a:t>
            </a:r>
            <a:r>
              <a:rPr lang="zh-CN" altLang="en-US" dirty="0">
                <a:solidFill>
                  <a:srgbClr val="333399"/>
                </a:solidFill>
                <a:latin typeface="华文楷体" panose="02010600040101010101" pitchFamily="2" charset="-122"/>
              </a:rPr>
              <a:t>和式</a:t>
            </a:r>
            <a:endParaRPr lang="en-US" altLang="zh-CN" sz="2800" dirty="0" smtClean="0"/>
          </a:p>
        </p:txBody>
      </p:sp>
      <p:sp>
        <p:nvSpPr>
          <p:cNvPr id="6151" name="Rectangle 3"/>
          <p:cNvSpPr>
            <a:spLocks noGrp="1" noChangeArrowheads="1"/>
          </p:cNvSpPr>
          <p:nvPr>
            <p:ph type="body" sz="half" idx="1"/>
          </p:nvPr>
        </p:nvSpPr>
        <p:spPr>
          <a:xfrm>
            <a:off x="925513" y="1196975"/>
            <a:ext cx="8218487" cy="4565650"/>
          </a:xfrm>
        </p:spPr>
        <p:txBody>
          <a:bodyPr/>
          <a:lstStyle/>
          <a:p>
            <a:pPr eaLnBrk="1" hangingPunct="1">
              <a:defRPr/>
            </a:pPr>
            <a:r>
              <a:rPr lang="zh-CN" altLang="en-US" sz="2400" dirty="0" smtClean="0"/>
              <a:t>令</a:t>
            </a:r>
            <a:r>
              <a:rPr lang="en-US" altLang="zh-CN" sz="2400" dirty="0" smtClean="0"/>
              <a:t> f(x) </a:t>
            </a:r>
            <a:r>
              <a:rPr lang="zh-CN" altLang="en-US" sz="2400" dirty="0" smtClean="0"/>
              <a:t>是一个单调递减或单调递增的连续函数，现在来估算和式的值。</a:t>
            </a:r>
            <a:endParaRPr lang="en-US" altLang="zh-CN" sz="2400" dirty="0" smtClean="0"/>
          </a:p>
          <a:p>
            <a:pPr eaLnBrk="1" hangingPunct="1">
              <a:buFontTx/>
              <a:buNone/>
              <a:defRPr/>
            </a:pPr>
            <a:r>
              <a:rPr lang="en-US" altLang="zh-CN" sz="2000" dirty="0" smtClean="0"/>
              <a:t>    </a:t>
            </a:r>
            <a:endParaRPr lang="en-US" altLang="zh-CN" sz="2000" dirty="0" smtClean="0"/>
          </a:p>
          <a:p>
            <a:pPr eaLnBrk="1" hangingPunct="1">
              <a:buFontTx/>
              <a:buNone/>
              <a:defRPr/>
            </a:pPr>
            <a:r>
              <a:rPr lang="en-US" altLang="zh-CN" sz="2400" dirty="0" smtClean="0"/>
              <a:t>     </a:t>
            </a:r>
            <a:r>
              <a:rPr lang="zh-CN" altLang="en-US" sz="2400" dirty="0" smtClean="0"/>
              <a:t>可以通过积分来近似和式，得出上下界如下：</a:t>
            </a:r>
            <a:endParaRPr lang="en-US" altLang="zh-CN" sz="2400" dirty="0" smtClean="0"/>
          </a:p>
          <a:p>
            <a:pPr lvl="1" eaLnBrk="1" hangingPunct="1">
              <a:defRPr/>
            </a:pPr>
            <a:r>
              <a:rPr lang="zh-CN" altLang="en-US" sz="2000" dirty="0" smtClean="0">
                <a:latin typeface="+mn-lt"/>
                <a:ea typeface="+mn-ea"/>
              </a:rPr>
              <a:t>如果</a:t>
            </a:r>
            <a:r>
              <a:rPr lang="en-US" altLang="zh-CN" sz="2000" dirty="0" smtClean="0">
                <a:latin typeface="+mn-lt"/>
                <a:ea typeface="+mn-ea"/>
              </a:rPr>
              <a:t>f(x) </a:t>
            </a:r>
            <a:r>
              <a:rPr lang="zh-CN" altLang="en-US" sz="2000" dirty="0" smtClean="0">
                <a:latin typeface="+mn-lt"/>
                <a:ea typeface="+mn-ea"/>
              </a:rPr>
              <a:t>是递减的，那么有</a:t>
            </a:r>
            <a:endParaRPr lang="en-US" altLang="zh-CN" sz="2000" dirty="0" smtClean="0">
              <a:latin typeface="+mn-lt"/>
              <a:ea typeface="+mn-ea"/>
            </a:endParaRPr>
          </a:p>
          <a:p>
            <a:pPr lvl="1" eaLnBrk="1" hangingPunct="1">
              <a:defRPr/>
            </a:pPr>
            <a:endParaRPr lang="en-US" altLang="zh-CN" sz="2000" dirty="0" smtClean="0"/>
          </a:p>
          <a:p>
            <a:pPr lvl="1" eaLnBrk="1" hangingPunct="1">
              <a:defRPr/>
            </a:pPr>
            <a:endParaRPr lang="en-US" altLang="zh-CN" sz="2000" dirty="0" smtClean="0"/>
          </a:p>
          <a:p>
            <a:pPr lvl="1" eaLnBrk="1" hangingPunct="1">
              <a:defRPr/>
            </a:pPr>
            <a:r>
              <a:rPr lang="zh-CN" altLang="en-US" sz="2000" dirty="0" smtClean="0">
                <a:latin typeface="+mn-lt"/>
                <a:ea typeface="+mn-ea"/>
              </a:rPr>
              <a:t>如果</a:t>
            </a:r>
            <a:r>
              <a:rPr lang="en-US" altLang="zh-CN" sz="2000" dirty="0" smtClean="0">
                <a:latin typeface="+mn-lt"/>
                <a:ea typeface="+mn-ea"/>
              </a:rPr>
              <a:t>f(x) </a:t>
            </a:r>
            <a:r>
              <a:rPr lang="zh-CN" altLang="en-US" sz="2000" dirty="0" smtClean="0">
                <a:latin typeface="+mn-lt"/>
                <a:ea typeface="+mn-ea"/>
              </a:rPr>
              <a:t>是递增的，那么有</a:t>
            </a:r>
            <a:endParaRPr lang="en-US" altLang="zh-CN" sz="2000" dirty="0" smtClean="0">
              <a:latin typeface="+mn-lt"/>
              <a:ea typeface="+mn-ea"/>
            </a:endParaRPr>
          </a:p>
        </p:txBody>
      </p:sp>
      <p:graphicFrame>
        <p:nvGraphicFramePr>
          <p:cNvPr id="82949" name="Object 4"/>
          <p:cNvGraphicFramePr>
            <a:graphicFrameLocks noGrp="1" noChangeAspect="1"/>
          </p:cNvGraphicFramePr>
          <p:nvPr>
            <p:ph sz="quarter" idx="2"/>
          </p:nvPr>
        </p:nvGraphicFramePr>
        <p:xfrm>
          <a:off x="3369252" y="1491890"/>
          <a:ext cx="1079500" cy="950912"/>
        </p:xfrm>
        <a:graphic>
          <a:graphicData uri="http://schemas.openxmlformats.org/presentationml/2006/ole">
            <mc:AlternateContent xmlns:mc="http://schemas.openxmlformats.org/markup-compatibility/2006">
              <mc:Choice xmlns:v="urn:schemas-microsoft-com:vml" Requires="v">
                <p:oleObj spid="_x0000_s9281" name="公式" r:id="rId1" imgW="533400" imgH="444500" progId="Equation.3">
                  <p:embed/>
                </p:oleObj>
              </mc:Choice>
              <mc:Fallback>
                <p:oleObj name="公式" r:id="rId1" imgW="533400" imgH="444500" progId="Equation.3">
                  <p:embed/>
                  <p:pic>
                    <p:nvPicPr>
                      <p:cNvPr id="0" name="Object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69252" y="1491890"/>
                        <a:ext cx="1079500" cy="950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82950" name="Object 6"/>
          <p:cNvGraphicFramePr>
            <a:graphicFrameLocks noGrp="1" noChangeAspect="1"/>
          </p:cNvGraphicFramePr>
          <p:nvPr>
            <p:ph sz="quarter" idx="3"/>
          </p:nvPr>
        </p:nvGraphicFramePr>
        <p:xfrm>
          <a:off x="1500188" y="3214688"/>
          <a:ext cx="3744912" cy="762000"/>
        </p:xfrm>
        <a:graphic>
          <a:graphicData uri="http://schemas.openxmlformats.org/presentationml/2006/ole">
            <mc:AlternateContent xmlns:mc="http://schemas.openxmlformats.org/markup-compatibility/2006">
              <mc:Choice xmlns:v="urn:schemas-microsoft-com:vml" Requires="v">
                <p:oleObj spid="_x0000_s9282" name="公式" r:id="rId3" imgW="2311400" imgH="444500" progId="Equation.3">
                  <p:embed/>
                </p:oleObj>
              </mc:Choice>
              <mc:Fallback>
                <p:oleObj name="公式" r:id="rId3" imgW="2311400" imgH="444500" progId="Equation.3">
                  <p:embed/>
                  <p:pic>
                    <p:nvPicPr>
                      <p:cNvPr id="0" name="Object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00188" y="3214688"/>
                        <a:ext cx="3744912"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82951" name="Object 8"/>
          <p:cNvGraphicFramePr>
            <a:graphicFrameLocks noChangeAspect="1"/>
          </p:cNvGraphicFramePr>
          <p:nvPr/>
        </p:nvGraphicFramePr>
        <p:xfrm>
          <a:off x="1500188" y="4357688"/>
          <a:ext cx="4006850" cy="769937"/>
        </p:xfrm>
        <a:graphic>
          <a:graphicData uri="http://schemas.openxmlformats.org/presentationml/2006/ole">
            <mc:AlternateContent xmlns:mc="http://schemas.openxmlformats.org/markup-compatibility/2006">
              <mc:Choice xmlns:v="urn:schemas-microsoft-com:vml" Requires="v">
                <p:oleObj spid="_x0000_s9283" name="公式" r:id="rId5" imgW="2311400" imgH="444500" progId="Equation.3">
                  <p:embed/>
                </p:oleObj>
              </mc:Choice>
              <mc:Fallback>
                <p:oleObj name="公式" r:id="rId5" imgW="2311400" imgH="444500" progId="Equation.3">
                  <p:embed/>
                  <p:pic>
                    <p:nvPicPr>
                      <p:cNvPr id="0" name="Object 8"/>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00188" y="4357688"/>
                        <a:ext cx="4006850" cy="769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82952" name="Picture 8"/>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574506" y="2952750"/>
            <a:ext cx="3468688" cy="1285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2953" name="Picture 9"/>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574506" y="4310063"/>
            <a:ext cx="3429000" cy="1209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84995" name="Rectangle 2"/>
          <p:cNvSpPr>
            <a:spLocks noGrp="1" noChangeArrowheads="1"/>
          </p:cNvSpPr>
          <p:nvPr>
            <p:ph type="title"/>
          </p:nvPr>
        </p:nvSpPr>
        <p:spPr/>
        <p:txBody>
          <a:bodyPr/>
          <a:lstStyle/>
          <a:p>
            <a:pPr eaLnBrk="1" hangingPunct="1"/>
            <a:r>
              <a:rPr lang="en-US" altLang="zh-CN" dirty="0" smtClean="0">
                <a:solidFill>
                  <a:srgbClr val="333399"/>
                </a:solidFill>
                <a:latin typeface="华文楷体" panose="02010600040101010101" pitchFamily="2" charset="-122"/>
              </a:rPr>
              <a:t>1.3.8 </a:t>
            </a:r>
            <a:r>
              <a:rPr lang="zh-CN" altLang="en-US" dirty="0" smtClean="0">
                <a:solidFill>
                  <a:srgbClr val="333399"/>
                </a:solidFill>
                <a:latin typeface="华文楷体" panose="02010600040101010101" pitchFamily="2" charset="-122"/>
              </a:rPr>
              <a:t>递</a:t>
            </a:r>
            <a:r>
              <a:rPr lang="zh-CN" altLang="en-US" dirty="0">
                <a:solidFill>
                  <a:srgbClr val="333399"/>
                </a:solidFill>
                <a:latin typeface="华文楷体" panose="02010600040101010101" pitchFamily="2" charset="-122"/>
              </a:rPr>
              <a:t>推</a:t>
            </a:r>
            <a:r>
              <a:rPr lang="zh-CN" altLang="en-US" dirty="0" smtClean="0">
                <a:solidFill>
                  <a:srgbClr val="333399"/>
                </a:solidFill>
                <a:latin typeface="华文楷体" panose="02010600040101010101" pitchFamily="2" charset="-122"/>
              </a:rPr>
              <a:t>关系</a:t>
            </a:r>
            <a:endParaRPr lang="en-US" altLang="zh-CN" dirty="0" smtClean="0"/>
          </a:p>
        </p:txBody>
      </p:sp>
      <p:sp>
        <p:nvSpPr>
          <p:cNvPr id="84996" name="Rectangle 3"/>
          <p:cNvSpPr>
            <a:spLocks noGrp="1" noChangeArrowheads="1"/>
          </p:cNvSpPr>
          <p:nvPr>
            <p:ph type="body" idx="1"/>
          </p:nvPr>
        </p:nvSpPr>
        <p:spPr/>
        <p:txBody>
          <a:bodyPr/>
          <a:lstStyle/>
          <a:p>
            <a:pPr eaLnBrk="1" hangingPunct="1">
              <a:lnSpc>
                <a:spcPct val="90000"/>
              </a:lnSpc>
            </a:pPr>
            <a:r>
              <a:rPr lang="zh-CN" altLang="en-US" smtClean="0"/>
              <a:t>递归公式是用它自身来定义的一个公式，在这种情况下，我们称这个定义为</a:t>
            </a:r>
            <a:r>
              <a:rPr lang="zh-CN" altLang="en-US" smtClean="0">
                <a:solidFill>
                  <a:srgbClr val="FF0000"/>
                </a:solidFill>
              </a:rPr>
              <a:t>递推关系或递推式</a:t>
            </a:r>
            <a:r>
              <a:rPr lang="zh-CN" altLang="en-US" smtClean="0"/>
              <a:t>。例如，</a:t>
            </a:r>
            <a:r>
              <a:rPr lang="zh-CN" altLang="en-US" smtClean="0">
                <a:solidFill>
                  <a:srgbClr val="FF0000"/>
                </a:solidFill>
              </a:rPr>
              <a:t>正奇数序列</a:t>
            </a:r>
            <a:r>
              <a:rPr lang="zh-CN" altLang="en-US" smtClean="0"/>
              <a:t>可以用递推式描述如下：</a:t>
            </a:r>
            <a:endParaRPr lang="en-US" altLang="zh-CN" smtClean="0"/>
          </a:p>
          <a:p>
            <a:pPr eaLnBrk="1" hangingPunct="1">
              <a:lnSpc>
                <a:spcPct val="90000"/>
              </a:lnSpc>
            </a:pPr>
            <a:r>
              <a:rPr lang="en-US" altLang="zh-CN" smtClean="0">
                <a:solidFill>
                  <a:srgbClr val="660066"/>
                </a:solidFill>
              </a:rPr>
              <a:t>            f(n)=f(n-1)+2, if n&gt;1 and f(1)=1.</a:t>
            </a:r>
            <a:endParaRPr lang="en-US" altLang="zh-CN" smtClean="0">
              <a:solidFill>
                <a:srgbClr val="660066"/>
              </a:solidFill>
            </a:endParaRPr>
          </a:p>
          <a:p>
            <a:pPr eaLnBrk="1" hangingPunct="1">
              <a:lnSpc>
                <a:spcPct val="90000"/>
              </a:lnSpc>
            </a:pPr>
            <a:endParaRPr lang="en-US" altLang="zh-CN" smtClean="0">
              <a:solidFill>
                <a:srgbClr val="660066"/>
              </a:solidFill>
            </a:endParaRPr>
          </a:p>
          <a:p>
            <a:pPr eaLnBrk="1" hangingPunct="1">
              <a:lnSpc>
                <a:spcPct val="90000"/>
              </a:lnSpc>
            </a:pPr>
            <a:r>
              <a:rPr lang="en-US" altLang="zh-CN" smtClean="0"/>
              <a:t>A</a:t>
            </a:r>
            <a:r>
              <a:rPr lang="zh-CN" altLang="en-US" smtClean="0"/>
              <a:t>递推关系如果具有如下这种形式，称为</a:t>
            </a:r>
            <a:r>
              <a:rPr lang="zh-CN" altLang="en-US" smtClean="0">
                <a:solidFill>
                  <a:srgbClr val="FF0000"/>
                </a:solidFill>
              </a:rPr>
              <a:t>常系数线性齐次递推式</a:t>
            </a:r>
            <a:endParaRPr lang="en-US" altLang="zh-CN" smtClean="0">
              <a:solidFill>
                <a:srgbClr val="FF0000"/>
              </a:solidFill>
            </a:endParaRPr>
          </a:p>
          <a:p>
            <a:pPr eaLnBrk="1" hangingPunct="1">
              <a:lnSpc>
                <a:spcPct val="90000"/>
              </a:lnSpc>
              <a:buFontTx/>
              <a:buNone/>
            </a:pPr>
            <a:r>
              <a:rPr lang="en-US" altLang="zh-CN" smtClean="0"/>
              <a:t>                 </a:t>
            </a:r>
            <a:r>
              <a:rPr lang="en-US" altLang="zh-CN" smtClean="0">
                <a:solidFill>
                  <a:srgbClr val="660066"/>
                </a:solidFill>
              </a:rPr>
              <a:t>f(n)=a</a:t>
            </a:r>
            <a:r>
              <a:rPr lang="en-US" altLang="zh-CN" baseline="-25000" smtClean="0">
                <a:solidFill>
                  <a:srgbClr val="660066"/>
                </a:solidFill>
              </a:rPr>
              <a:t>1</a:t>
            </a:r>
            <a:r>
              <a:rPr lang="en-US" altLang="zh-CN" smtClean="0">
                <a:solidFill>
                  <a:srgbClr val="660066"/>
                </a:solidFill>
              </a:rPr>
              <a:t>f(n-1)+a</a:t>
            </a:r>
            <a:r>
              <a:rPr lang="en-US" altLang="zh-CN" baseline="-25000" smtClean="0">
                <a:solidFill>
                  <a:srgbClr val="660066"/>
                </a:solidFill>
              </a:rPr>
              <a:t>2</a:t>
            </a:r>
            <a:r>
              <a:rPr lang="en-US" altLang="zh-CN" smtClean="0">
                <a:solidFill>
                  <a:srgbClr val="660066"/>
                </a:solidFill>
              </a:rPr>
              <a:t>f(n-2)+…+a</a:t>
            </a:r>
            <a:r>
              <a:rPr lang="en-US" altLang="zh-CN" baseline="-25000" smtClean="0">
                <a:solidFill>
                  <a:srgbClr val="660066"/>
                </a:solidFill>
              </a:rPr>
              <a:t>k</a:t>
            </a:r>
            <a:r>
              <a:rPr lang="en-US" altLang="zh-CN" smtClean="0">
                <a:solidFill>
                  <a:srgbClr val="660066"/>
                </a:solidFill>
              </a:rPr>
              <a:t>f(n-k). </a:t>
            </a:r>
            <a:endParaRPr lang="en-US" altLang="zh-CN" smtClean="0">
              <a:solidFill>
                <a:srgbClr val="660066"/>
              </a:solidFill>
            </a:endParaRPr>
          </a:p>
          <a:p>
            <a:pPr eaLnBrk="1" hangingPunct="1">
              <a:lnSpc>
                <a:spcPct val="90000"/>
              </a:lnSpc>
              <a:buFontTx/>
              <a:buNone/>
            </a:pPr>
            <a:r>
              <a:rPr lang="en-US" altLang="zh-CN" smtClean="0"/>
              <a:t>    </a:t>
            </a:r>
            <a:r>
              <a:rPr lang="zh-CN" altLang="en-US" smtClean="0"/>
              <a:t>这里，</a:t>
            </a:r>
            <a:r>
              <a:rPr lang="en-US" altLang="zh-CN" smtClean="0"/>
              <a:t>f(n) </a:t>
            </a:r>
            <a:r>
              <a:rPr lang="zh-CN" altLang="en-US" smtClean="0"/>
              <a:t>称为是</a:t>
            </a:r>
            <a:r>
              <a:rPr lang="en-US" altLang="zh-CN" smtClean="0"/>
              <a:t>k</a:t>
            </a:r>
            <a:r>
              <a:rPr lang="zh-CN" altLang="en-US" smtClean="0"/>
              <a:t>次的。当一个附加项包括常量或者</a:t>
            </a:r>
            <a:r>
              <a:rPr lang="en-US" altLang="zh-CN" smtClean="0"/>
              <a:t>n</a:t>
            </a:r>
            <a:r>
              <a:rPr lang="zh-CN" altLang="en-US" smtClean="0"/>
              <a:t>的函数出现在递推中时，那么它就称为</a:t>
            </a:r>
            <a:r>
              <a:rPr lang="zh-CN" altLang="en-US" smtClean="0">
                <a:solidFill>
                  <a:srgbClr val="FF0000"/>
                </a:solidFill>
              </a:rPr>
              <a:t>非齐次</a:t>
            </a:r>
            <a:r>
              <a:rPr lang="zh-CN" altLang="en-US" smtClean="0"/>
              <a:t>的。</a:t>
            </a:r>
            <a:r>
              <a:rPr lang="en-US" altLang="zh-CN" smtClean="0">
                <a:solidFill>
                  <a:srgbClr val="EA0000"/>
                </a:solidFill>
              </a:rPr>
              <a:t>.</a:t>
            </a:r>
            <a:endParaRPr lang="en-US" altLang="zh-CN" smtClean="0">
              <a:solidFill>
                <a:srgbClr val="EA0000"/>
              </a:solidFill>
            </a:endParaRPr>
          </a:p>
        </p:txBody>
      </p:sp>
      <p:pic>
        <p:nvPicPr>
          <p:cNvPr id="84997" name="Picture 4" descr="example"/>
          <p:cNvPicPr>
            <a:picLocks noChangeAspect="1" noChangeArrowheads="1" noCrop="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900113" y="2349500"/>
            <a:ext cx="3429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87043" name="Rectangle 2"/>
          <p:cNvSpPr>
            <a:spLocks noGrp="1" noChangeArrowheads="1"/>
          </p:cNvSpPr>
          <p:nvPr>
            <p:ph type="title"/>
          </p:nvPr>
        </p:nvSpPr>
        <p:spPr/>
        <p:txBody>
          <a:bodyPr/>
          <a:lstStyle/>
          <a:p>
            <a:pPr eaLnBrk="1" hangingPunct="1"/>
            <a:r>
              <a:rPr lang="en-US" altLang="zh-CN" dirty="0">
                <a:solidFill>
                  <a:srgbClr val="333399"/>
                </a:solidFill>
                <a:latin typeface="华文楷体" panose="02010600040101010101" pitchFamily="2" charset="-122"/>
              </a:rPr>
              <a:t>1.3.8 </a:t>
            </a:r>
            <a:r>
              <a:rPr lang="zh-CN" altLang="en-US" dirty="0">
                <a:solidFill>
                  <a:srgbClr val="333399"/>
                </a:solidFill>
                <a:latin typeface="华文楷体" panose="02010600040101010101" pitchFamily="2" charset="-122"/>
              </a:rPr>
              <a:t>递推关系</a:t>
            </a:r>
            <a:endParaRPr lang="en-US" altLang="zh-CN" dirty="0" smtClean="0"/>
          </a:p>
        </p:txBody>
      </p:sp>
      <p:sp>
        <p:nvSpPr>
          <p:cNvPr id="58372" name="Rectangle 3"/>
          <p:cNvSpPr>
            <a:spLocks noGrp="1" noChangeArrowheads="1"/>
          </p:cNvSpPr>
          <p:nvPr>
            <p:ph type="body" idx="1"/>
          </p:nvPr>
        </p:nvSpPr>
        <p:spPr/>
        <p:txBody>
          <a:bodyPr/>
          <a:lstStyle/>
          <a:p>
            <a:pPr algn="just">
              <a:defRPr/>
            </a:pPr>
            <a:r>
              <a:rPr lang="zh-CN" altLang="en-US" sz="2000" dirty="0" smtClean="0">
                <a:latin typeface="+mn-ea"/>
              </a:rPr>
              <a:t>定义：数列{</a:t>
            </a:r>
            <a:r>
              <a:rPr lang="en-US" altLang="zh-CN" sz="2000" dirty="0" smtClean="0">
                <a:latin typeface="+mn-ea"/>
              </a:rPr>
              <a:t>f(n)}</a:t>
            </a:r>
            <a:r>
              <a:rPr lang="zh-CN" altLang="en-US" sz="2000" dirty="0" smtClean="0">
                <a:latin typeface="+mn-ea"/>
              </a:rPr>
              <a:t>满足递推关系</a:t>
            </a:r>
            <a:endParaRPr lang="zh-CN" altLang="en-US" sz="2000" dirty="0" smtClean="0">
              <a:latin typeface="+mn-ea"/>
            </a:endParaRPr>
          </a:p>
          <a:p>
            <a:pPr algn="just">
              <a:defRPr/>
            </a:pPr>
            <a:r>
              <a:rPr lang="en-US" altLang="zh-CN" sz="2000" dirty="0" smtClean="0">
                <a:latin typeface="+mn-ea"/>
              </a:rPr>
              <a:t>f(n)=a</a:t>
            </a:r>
            <a:r>
              <a:rPr lang="en-US" altLang="zh-CN" sz="2000" baseline="-25000" dirty="0" smtClean="0">
                <a:latin typeface="+mn-ea"/>
              </a:rPr>
              <a:t>1</a:t>
            </a:r>
            <a:r>
              <a:rPr lang="en-US" altLang="zh-CN" sz="2000" dirty="0" smtClean="0">
                <a:latin typeface="+mn-ea"/>
              </a:rPr>
              <a:t>f(n-1)+ a</a:t>
            </a:r>
            <a:r>
              <a:rPr lang="en-US" altLang="zh-CN" sz="2000" baseline="-25000" dirty="0" smtClean="0">
                <a:latin typeface="+mn-ea"/>
              </a:rPr>
              <a:t>2</a:t>
            </a:r>
            <a:r>
              <a:rPr lang="en-US" altLang="zh-CN" sz="2000" dirty="0" smtClean="0">
                <a:latin typeface="+mn-ea"/>
              </a:rPr>
              <a:t>f(n-2)+ …+ </a:t>
            </a:r>
            <a:r>
              <a:rPr lang="en-US" altLang="zh-CN" sz="2000" dirty="0" err="1" smtClean="0">
                <a:latin typeface="+mn-ea"/>
              </a:rPr>
              <a:t>a</a:t>
            </a:r>
            <a:r>
              <a:rPr lang="en-US" altLang="zh-CN" sz="2000" baseline="-25000" dirty="0" err="1" smtClean="0">
                <a:latin typeface="+mn-ea"/>
              </a:rPr>
              <a:t>k</a:t>
            </a:r>
            <a:r>
              <a:rPr lang="en-US" altLang="zh-CN" sz="2000" dirty="0" err="1" smtClean="0">
                <a:latin typeface="+mn-ea"/>
              </a:rPr>
              <a:t>f</a:t>
            </a:r>
            <a:r>
              <a:rPr lang="en-US" altLang="zh-CN" sz="2000" dirty="0" smtClean="0">
                <a:latin typeface="+mn-ea"/>
              </a:rPr>
              <a:t>(n-k), </a:t>
            </a:r>
            <a:r>
              <a:rPr lang="en-US" altLang="zh-CN" sz="2000" dirty="0" err="1" smtClean="0">
                <a:latin typeface="+mn-ea"/>
              </a:rPr>
              <a:t>a</a:t>
            </a:r>
            <a:r>
              <a:rPr lang="en-US" altLang="zh-CN" sz="2000" baseline="-25000" dirty="0" err="1" smtClean="0">
                <a:latin typeface="+mn-ea"/>
              </a:rPr>
              <a:t>i</a:t>
            </a:r>
            <a:r>
              <a:rPr lang="zh-CN" altLang="en-US" sz="2000" dirty="0" smtClean="0">
                <a:latin typeface="+mn-ea"/>
              </a:rPr>
              <a:t>为常数,</a:t>
            </a:r>
            <a:r>
              <a:rPr lang="en-US" altLang="zh-CN" sz="2000" dirty="0" err="1" smtClean="0">
                <a:latin typeface="+mn-ea"/>
              </a:rPr>
              <a:t>i</a:t>
            </a:r>
            <a:r>
              <a:rPr lang="en-US" altLang="zh-CN" sz="2000" dirty="0" smtClean="0">
                <a:latin typeface="+mn-ea"/>
              </a:rPr>
              <a:t>=1,2,…,</a:t>
            </a:r>
            <a:r>
              <a:rPr lang="en-US" altLang="zh-CN" sz="2000" dirty="0" err="1" smtClean="0">
                <a:latin typeface="+mn-ea"/>
              </a:rPr>
              <a:t>k,n≥k</a:t>
            </a:r>
            <a:r>
              <a:rPr lang="en-US" altLang="zh-CN" sz="2000" dirty="0" smtClean="0">
                <a:latin typeface="+mn-ea"/>
              </a:rPr>
              <a:t>, a</a:t>
            </a:r>
            <a:r>
              <a:rPr lang="en-US" altLang="zh-CN" sz="2000" baseline="-25000" dirty="0" smtClean="0">
                <a:latin typeface="+mn-ea"/>
              </a:rPr>
              <a:t>k</a:t>
            </a:r>
            <a:r>
              <a:rPr lang="en-US" altLang="zh-CN" sz="2000" dirty="0" smtClean="0">
                <a:latin typeface="+mn-ea"/>
              </a:rPr>
              <a:t>≠0，</a:t>
            </a:r>
            <a:r>
              <a:rPr lang="zh-CN" altLang="en-US" sz="2000" dirty="0" smtClean="0">
                <a:latin typeface="+mn-ea"/>
              </a:rPr>
              <a:t>称该递推关系为</a:t>
            </a:r>
            <a:r>
              <a:rPr lang="en-US" altLang="zh-CN" sz="2000" dirty="0" smtClean="0">
                <a:latin typeface="+mn-ea"/>
              </a:rPr>
              <a:t>f(n)</a:t>
            </a:r>
            <a:r>
              <a:rPr lang="zh-CN" altLang="en-US" sz="2000" dirty="0" smtClean="0">
                <a:latin typeface="+mn-ea"/>
              </a:rPr>
              <a:t>的</a:t>
            </a:r>
            <a:r>
              <a:rPr lang="en-US" altLang="zh-CN" sz="2000" dirty="0" smtClean="0">
                <a:solidFill>
                  <a:srgbClr val="FF0000"/>
                </a:solidFill>
                <a:latin typeface="+mn-ea"/>
              </a:rPr>
              <a:t>k</a:t>
            </a:r>
            <a:r>
              <a:rPr lang="zh-CN" altLang="en-US" sz="2000" dirty="0" smtClean="0">
                <a:solidFill>
                  <a:srgbClr val="FF0000"/>
                </a:solidFill>
                <a:latin typeface="+mn-ea"/>
              </a:rPr>
              <a:t>阶常系数线性齐次递推关系</a:t>
            </a:r>
            <a:r>
              <a:rPr lang="zh-CN" altLang="en-US" sz="2000" dirty="0" smtClean="0">
                <a:latin typeface="+mn-ea"/>
              </a:rPr>
              <a:t>。</a:t>
            </a:r>
            <a:endParaRPr lang="zh-CN" altLang="en-US" sz="2000" dirty="0" smtClean="0">
              <a:latin typeface="+mn-ea"/>
            </a:endParaRPr>
          </a:p>
          <a:p>
            <a:pPr algn="just">
              <a:defRPr/>
            </a:pPr>
            <a:r>
              <a:rPr lang="zh-CN" altLang="en-US" sz="2000" dirty="0" smtClean="0">
                <a:latin typeface="+mn-ea"/>
              </a:rPr>
              <a:t>形如</a:t>
            </a:r>
            <a:endParaRPr lang="zh-CN" altLang="en-US" sz="2000" dirty="0" smtClean="0">
              <a:latin typeface="+mn-ea"/>
            </a:endParaRPr>
          </a:p>
          <a:p>
            <a:pPr algn="just">
              <a:defRPr/>
            </a:pPr>
            <a:r>
              <a:rPr lang="en-US" altLang="zh-CN" sz="2000" dirty="0" smtClean="0">
                <a:latin typeface="+mn-ea"/>
              </a:rPr>
              <a:t>f(n)=a</a:t>
            </a:r>
            <a:r>
              <a:rPr lang="en-US" altLang="zh-CN" sz="2000" baseline="-25000" dirty="0" smtClean="0">
                <a:latin typeface="+mn-ea"/>
              </a:rPr>
              <a:t>1</a:t>
            </a:r>
            <a:r>
              <a:rPr lang="en-US" altLang="zh-CN" sz="2000" dirty="0" smtClean="0">
                <a:latin typeface="+mn-ea"/>
              </a:rPr>
              <a:t>f(n-1)+ a</a:t>
            </a:r>
            <a:r>
              <a:rPr lang="en-US" altLang="zh-CN" sz="2000" baseline="-25000" dirty="0" smtClean="0">
                <a:latin typeface="+mn-ea"/>
              </a:rPr>
              <a:t>2</a:t>
            </a:r>
            <a:r>
              <a:rPr lang="en-US" altLang="zh-CN" sz="2000" dirty="0" smtClean="0">
                <a:latin typeface="+mn-ea"/>
              </a:rPr>
              <a:t>f(n-2)+ …+ </a:t>
            </a:r>
            <a:r>
              <a:rPr lang="en-US" altLang="zh-CN" sz="2000" dirty="0" err="1" smtClean="0">
                <a:latin typeface="+mn-ea"/>
              </a:rPr>
              <a:t>a</a:t>
            </a:r>
            <a:r>
              <a:rPr lang="en-US" altLang="zh-CN" sz="2000" baseline="-25000" dirty="0" err="1" smtClean="0">
                <a:latin typeface="+mn-ea"/>
              </a:rPr>
              <a:t>k</a:t>
            </a:r>
            <a:r>
              <a:rPr lang="en-US" altLang="zh-CN" sz="2000" dirty="0" err="1" smtClean="0">
                <a:latin typeface="+mn-ea"/>
              </a:rPr>
              <a:t>f</a:t>
            </a:r>
            <a:r>
              <a:rPr lang="en-US" altLang="zh-CN" sz="2000" dirty="0" smtClean="0">
                <a:latin typeface="+mn-ea"/>
              </a:rPr>
              <a:t>(n-k)+g(n), </a:t>
            </a:r>
            <a:r>
              <a:rPr lang="en-US" altLang="zh-CN" sz="2000" dirty="0" err="1" smtClean="0">
                <a:latin typeface="+mn-ea"/>
              </a:rPr>
              <a:t>a</a:t>
            </a:r>
            <a:r>
              <a:rPr lang="en-US" altLang="zh-CN" sz="2000" baseline="-25000" dirty="0" err="1" smtClean="0">
                <a:latin typeface="+mn-ea"/>
              </a:rPr>
              <a:t>i</a:t>
            </a:r>
            <a:r>
              <a:rPr lang="zh-CN" altLang="en-US" sz="2000" dirty="0" smtClean="0">
                <a:latin typeface="+mn-ea"/>
              </a:rPr>
              <a:t>为常数,</a:t>
            </a:r>
            <a:r>
              <a:rPr lang="en-US" altLang="zh-CN" sz="2000" dirty="0" err="1" smtClean="0">
                <a:latin typeface="+mn-ea"/>
              </a:rPr>
              <a:t>i</a:t>
            </a:r>
            <a:r>
              <a:rPr lang="en-US" altLang="zh-CN" sz="2000" dirty="0" smtClean="0">
                <a:latin typeface="+mn-ea"/>
              </a:rPr>
              <a:t>=1,2,…,</a:t>
            </a:r>
            <a:r>
              <a:rPr lang="en-US" altLang="zh-CN" sz="2000" dirty="0" err="1" smtClean="0">
                <a:latin typeface="+mn-ea"/>
              </a:rPr>
              <a:t>k,n≥k</a:t>
            </a:r>
            <a:r>
              <a:rPr lang="en-US" altLang="zh-CN" sz="2000" dirty="0" smtClean="0">
                <a:latin typeface="+mn-ea"/>
              </a:rPr>
              <a:t>, a</a:t>
            </a:r>
            <a:r>
              <a:rPr lang="en-US" altLang="zh-CN" sz="2000" baseline="-25000" dirty="0" smtClean="0">
                <a:latin typeface="+mn-ea"/>
              </a:rPr>
              <a:t>k</a:t>
            </a:r>
            <a:r>
              <a:rPr lang="en-US" altLang="zh-CN" sz="2000" dirty="0" smtClean="0">
                <a:latin typeface="+mn-ea"/>
              </a:rPr>
              <a:t>≠0，</a:t>
            </a:r>
            <a:r>
              <a:rPr lang="zh-CN" altLang="en-US" sz="2000" dirty="0" smtClean="0">
                <a:latin typeface="+mn-ea"/>
              </a:rPr>
              <a:t>称该递推关系为</a:t>
            </a:r>
            <a:r>
              <a:rPr lang="en-US" altLang="zh-CN" sz="2000" dirty="0" smtClean="0">
                <a:latin typeface="+mn-ea"/>
              </a:rPr>
              <a:t>f(n)</a:t>
            </a:r>
            <a:r>
              <a:rPr lang="zh-CN" altLang="en-US" sz="2000" dirty="0" smtClean="0">
                <a:latin typeface="+mn-ea"/>
              </a:rPr>
              <a:t>的</a:t>
            </a:r>
            <a:r>
              <a:rPr lang="en-US" altLang="zh-CN" sz="2000" dirty="0" smtClean="0">
                <a:solidFill>
                  <a:srgbClr val="FF0000"/>
                </a:solidFill>
                <a:latin typeface="+mn-ea"/>
              </a:rPr>
              <a:t>k</a:t>
            </a:r>
            <a:r>
              <a:rPr lang="zh-CN" altLang="en-US" sz="2000" dirty="0" smtClean="0">
                <a:solidFill>
                  <a:srgbClr val="FF0000"/>
                </a:solidFill>
                <a:latin typeface="+mn-ea"/>
              </a:rPr>
              <a:t>阶常系数线性非齐次递推关系</a:t>
            </a:r>
            <a:r>
              <a:rPr lang="zh-CN" altLang="en-US" sz="2000" dirty="0" smtClean="0">
                <a:latin typeface="+mn-ea"/>
              </a:rPr>
              <a:t>。</a:t>
            </a:r>
            <a:endParaRPr lang="en-US" altLang="zh-CN" sz="2000" dirty="0" smtClean="0">
              <a:latin typeface="+mn-ea"/>
            </a:endParaRPr>
          </a:p>
          <a:p>
            <a:pPr algn="just">
              <a:defRPr/>
            </a:pPr>
            <a:r>
              <a:rPr lang="zh-CN" altLang="en-US" sz="2000" dirty="0" smtClean="0"/>
              <a:t>方程</a:t>
            </a:r>
            <a:r>
              <a:rPr lang="en-US" altLang="zh-CN" sz="2000" dirty="0" smtClean="0"/>
              <a:t>x</a:t>
            </a:r>
            <a:r>
              <a:rPr lang="en-US" altLang="zh-CN" sz="2000" baseline="30000" dirty="0" smtClean="0"/>
              <a:t>k</a:t>
            </a:r>
            <a:r>
              <a:rPr lang="en-US" altLang="zh-CN" sz="2000" dirty="0" smtClean="0"/>
              <a:t>-a</a:t>
            </a:r>
            <a:r>
              <a:rPr lang="en-US" altLang="zh-CN" sz="2000" baseline="-25000" dirty="0" smtClean="0"/>
              <a:t>1</a:t>
            </a:r>
            <a:r>
              <a:rPr lang="en-US" altLang="zh-CN" sz="2000" dirty="0" smtClean="0"/>
              <a:t>x</a:t>
            </a:r>
            <a:r>
              <a:rPr lang="en-US" altLang="zh-CN" sz="2000" baseline="30000" dirty="0" smtClean="0"/>
              <a:t>k-1</a:t>
            </a:r>
            <a:r>
              <a:rPr lang="en-US" altLang="zh-CN" sz="2000" dirty="0" smtClean="0"/>
              <a:t>-a</a:t>
            </a:r>
            <a:r>
              <a:rPr lang="en-US" altLang="zh-CN" sz="2000" baseline="-25000" dirty="0" smtClean="0"/>
              <a:t>2</a:t>
            </a:r>
            <a:r>
              <a:rPr lang="en-US" altLang="zh-CN" sz="2000" dirty="0" smtClean="0"/>
              <a:t>x</a:t>
            </a:r>
            <a:r>
              <a:rPr lang="en-US" altLang="zh-CN" sz="2000" baseline="30000" dirty="0" smtClean="0"/>
              <a:t>k-2</a:t>
            </a:r>
            <a:r>
              <a:rPr lang="en-US" altLang="zh-CN" sz="2000" dirty="0" smtClean="0"/>
              <a:t>-…-</a:t>
            </a:r>
            <a:r>
              <a:rPr lang="en-US" altLang="zh-CN" sz="2000" dirty="0" err="1" smtClean="0"/>
              <a:t>a</a:t>
            </a:r>
            <a:r>
              <a:rPr lang="en-US" altLang="zh-CN" sz="2000" baseline="-25000" dirty="0" err="1" smtClean="0"/>
              <a:t>k</a:t>
            </a:r>
            <a:r>
              <a:rPr lang="en-US" altLang="zh-CN" sz="2000" dirty="0" smtClean="0"/>
              <a:t>=0</a:t>
            </a:r>
            <a:r>
              <a:rPr lang="zh-CN" altLang="en-US" sz="2000" dirty="0" smtClean="0"/>
              <a:t>称为</a:t>
            </a:r>
            <a:r>
              <a:rPr lang="en-US" altLang="zh-CN" sz="2000" dirty="0" smtClean="0"/>
              <a:t>k</a:t>
            </a:r>
            <a:r>
              <a:rPr lang="zh-CN" altLang="en-US" sz="2000" dirty="0" smtClean="0"/>
              <a:t>阶常系数线性齐次递推关系的</a:t>
            </a:r>
            <a:r>
              <a:rPr lang="zh-CN" altLang="en-US" sz="2000" dirty="0" smtClean="0">
                <a:solidFill>
                  <a:srgbClr val="FF0000"/>
                </a:solidFill>
              </a:rPr>
              <a:t>特征方程</a:t>
            </a:r>
            <a:r>
              <a:rPr lang="zh-CN" altLang="en-US" sz="2000" dirty="0" smtClean="0"/>
              <a:t>,它的</a:t>
            </a:r>
            <a:r>
              <a:rPr lang="en-US" altLang="zh-CN" sz="2000" dirty="0" smtClean="0"/>
              <a:t>k</a:t>
            </a:r>
            <a:r>
              <a:rPr lang="zh-CN" altLang="en-US" sz="2000" dirty="0" smtClean="0"/>
              <a:t>个根 </a:t>
            </a:r>
            <a:r>
              <a:rPr lang="en-US" altLang="zh-CN" sz="2000" dirty="0" smtClean="0"/>
              <a:t>r</a:t>
            </a:r>
            <a:r>
              <a:rPr lang="en-US" altLang="zh-CN" sz="2000" baseline="-25000" dirty="0" smtClean="0"/>
              <a:t>1</a:t>
            </a:r>
            <a:r>
              <a:rPr lang="en-US" altLang="zh-CN" sz="2000" dirty="0" smtClean="0"/>
              <a:t>,r</a:t>
            </a:r>
            <a:r>
              <a:rPr lang="en-US" altLang="zh-CN" sz="2000" baseline="-25000" dirty="0" smtClean="0"/>
              <a:t>2</a:t>
            </a:r>
            <a:r>
              <a:rPr lang="en-US" altLang="zh-CN" sz="2000" dirty="0" smtClean="0"/>
              <a:t>,…,</a:t>
            </a:r>
            <a:r>
              <a:rPr lang="en-US" altLang="zh-CN" sz="2000" dirty="0" err="1" smtClean="0"/>
              <a:t>r</a:t>
            </a:r>
            <a:r>
              <a:rPr lang="en-US" altLang="zh-CN" sz="2000" baseline="-25000" dirty="0" err="1" smtClean="0"/>
              <a:t>k</a:t>
            </a:r>
            <a:r>
              <a:rPr lang="zh-CN" altLang="en-US" sz="2000" dirty="0" smtClean="0"/>
              <a:t>称为该递推关系的</a:t>
            </a:r>
            <a:r>
              <a:rPr lang="zh-CN" altLang="en-US" sz="2000" dirty="0" smtClean="0">
                <a:solidFill>
                  <a:srgbClr val="FF0000"/>
                </a:solidFill>
              </a:rPr>
              <a:t>特征根</a:t>
            </a:r>
            <a:r>
              <a:rPr lang="zh-CN" altLang="en-US" sz="2000" dirty="0" smtClean="0"/>
              <a:t>。</a:t>
            </a:r>
            <a:endParaRPr lang="zh-CN" altLang="en-US" sz="2000" dirty="0" smtClean="0"/>
          </a:p>
          <a:p>
            <a:pPr algn="just">
              <a:defRPr/>
            </a:pPr>
            <a:r>
              <a:rPr lang="zh-CN" altLang="en-US" sz="2000" dirty="0" smtClean="0"/>
              <a:t>若</a:t>
            </a:r>
            <a:r>
              <a:rPr lang="en-US" altLang="zh-CN" sz="2000" dirty="0" smtClean="0"/>
              <a:t>k</a:t>
            </a:r>
            <a:r>
              <a:rPr lang="zh-CN" altLang="en-US" sz="2000" dirty="0" smtClean="0"/>
              <a:t>阶常系数线性齐次递推关系的特征方程有 </a:t>
            </a:r>
            <a:r>
              <a:rPr lang="en-US" altLang="zh-CN" sz="2000" dirty="0" smtClean="0"/>
              <a:t>k </a:t>
            </a:r>
            <a:r>
              <a:rPr lang="zh-CN" altLang="en-US" sz="2000" dirty="0" smtClean="0"/>
              <a:t>个互异的特征根: </a:t>
            </a:r>
            <a:r>
              <a:rPr lang="en-US" altLang="zh-CN" sz="2000" dirty="0" smtClean="0"/>
              <a:t>r</a:t>
            </a:r>
            <a:r>
              <a:rPr lang="en-US" altLang="zh-CN" sz="2000" baseline="-25000" dirty="0" smtClean="0"/>
              <a:t>1</a:t>
            </a:r>
            <a:r>
              <a:rPr lang="en-US" altLang="zh-CN" sz="2000" dirty="0" smtClean="0"/>
              <a:t>,r</a:t>
            </a:r>
            <a:r>
              <a:rPr lang="en-US" altLang="zh-CN" sz="2000" baseline="-25000" dirty="0" smtClean="0"/>
              <a:t>2</a:t>
            </a:r>
            <a:r>
              <a:rPr lang="en-US" altLang="zh-CN" sz="2000" dirty="0" smtClean="0"/>
              <a:t>,…,</a:t>
            </a:r>
            <a:r>
              <a:rPr lang="en-US" altLang="zh-CN" sz="2000" dirty="0" err="1" smtClean="0"/>
              <a:t>r</a:t>
            </a:r>
            <a:r>
              <a:rPr lang="en-US" altLang="zh-CN" sz="2000" baseline="-25000" dirty="0" err="1" smtClean="0"/>
              <a:t>k</a:t>
            </a:r>
            <a:r>
              <a:rPr lang="en-US" altLang="zh-CN" sz="2000" dirty="0" smtClean="0"/>
              <a:t>，</a:t>
            </a:r>
            <a:r>
              <a:rPr lang="zh-CN" altLang="en-US" sz="2000" dirty="0" smtClean="0"/>
              <a:t>则该递推关系的</a:t>
            </a:r>
            <a:r>
              <a:rPr lang="zh-CN" altLang="en-US" sz="2000" dirty="0" smtClean="0">
                <a:solidFill>
                  <a:srgbClr val="FF0000"/>
                </a:solidFill>
              </a:rPr>
              <a:t>通解</a:t>
            </a:r>
            <a:r>
              <a:rPr lang="zh-CN" altLang="en-US" sz="2000" dirty="0" smtClean="0"/>
              <a:t>为: </a:t>
            </a:r>
            <a:r>
              <a:rPr lang="en-US" altLang="zh-CN" sz="2000" dirty="0" smtClean="0">
                <a:solidFill>
                  <a:srgbClr val="FF0000"/>
                </a:solidFill>
              </a:rPr>
              <a:t>f(n)=c</a:t>
            </a:r>
            <a:r>
              <a:rPr lang="en-US" altLang="zh-CN" sz="2000" baseline="-25000" dirty="0" smtClean="0">
                <a:solidFill>
                  <a:srgbClr val="FF0000"/>
                </a:solidFill>
              </a:rPr>
              <a:t>1</a:t>
            </a:r>
            <a:r>
              <a:rPr lang="en-US" altLang="zh-CN" sz="2000" dirty="0" smtClean="0">
                <a:solidFill>
                  <a:srgbClr val="FF0000"/>
                </a:solidFill>
              </a:rPr>
              <a:t>r</a:t>
            </a:r>
            <a:r>
              <a:rPr lang="en-US" altLang="zh-CN" sz="2000" baseline="-25000" dirty="0" smtClean="0">
                <a:solidFill>
                  <a:srgbClr val="FF0000"/>
                </a:solidFill>
              </a:rPr>
              <a:t>1</a:t>
            </a:r>
            <a:r>
              <a:rPr lang="en-US" altLang="zh-CN" sz="2000" baseline="30000" dirty="0" smtClean="0">
                <a:solidFill>
                  <a:srgbClr val="FF0000"/>
                </a:solidFill>
              </a:rPr>
              <a:t>n</a:t>
            </a:r>
            <a:r>
              <a:rPr lang="en-US" altLang="zh-CN" sz="2000" dirty="0" smtClean="0">
                <a:solidFill>
                  <a:srgbClr val="FF0000"/>
                </a:solidFill>
              </a:rPr>
              <a:t>+c</a:t>
            </a:r>
            <a:r>
              <a:rPr lang="en-US" altLang="zh-CN" sz="2000" baseline="-25000" dirty="0" smtClean="0">
                <a:solidFill>
                  <a:srgbClr val="FF0000"/>
                </a:solidFill>
              </a:rPr>
              <a:t>2</a:t>
            </a:r>
            <a:r>
              <a:rPr lang="en-US" altLang="zh-CN" sz="2000" dirty="0" smtClean="0">
                <a:solidFill>
                  <a:srgbClr val="FF0000"/>
                </a:solidFill>
              </a:rPr>
              <a:t>r</a:t>
            </a:r>
            <a:r>
              <a:rPr lang="en-US" altLang="zh-CN" sz="2000" baseline="-25000" dirty="0" smtClean="0">
                <a:solidFill>
                  <a:srgbClr val="FF0000"/>
                </a:solidFill>
              </a:rPr>
              <a:t>2</a:t>
            </a:r>
            <a:r>
              <a:rPr lang="en-US" altLang="zh-CN" sz="2000" baseline="30000" dirty="0" smtClean="0">
                <a:solidFill>
                  <a:srgbClr val="FF0000"/>
                </a:solidFill>
              </a:rPr>
              <a:t>n</a:t>
            </a:r>
            <a:r>
              <a:rPr lang="en-US" altLang="zh-CN" sz="2000" dirty="0" smtClean="0">
                <a:solidFill>
                  <a:srgbClr val="FF0000"/>
                </a:solidFill>
              </a:rPr>
              <a:t>+…+</a:t>
            </a:r>
            <a:r>
              <a:rPr lang="en-US" altLang="zh-CN" sz="2000" dirty="0" err="1" smtClean="0">
                <a:solidFill>
                  <a:srgbClr val="FF0000"/>
                </a:solidFill>
              </a:rPr>
              <a:t>c</a:t>
            </a:r>
            <a:r>
              <a:rPr lang="en-US" altLang="zh-CN" sz="2000" baseline="-25000" dirty="0" err="1" smtClean="0">
                <a:solidFill>
                  <a:srgbClr val="FF0000"/>
                </a:solidFill>
              </a:rPr>
              <a:t>k</a:t>
            </a:r>
            <a:r>
              <a:rPr lang="en-US" altLang="zh-CN" sz="2000" dirty="0" err="1" smtClean="0">
                <a:solidFill>
                  <a:srgbClr val="FF0000"/>
                </a:solidFill>
              </a:rPr>
              <a:t>r</a:t>
            </a:r>
            <a:r>
              <a:rPr lang="en-US" altLang="zh-CN" sz="2000" baseline="-25000" dirty="0" err="1" smtClean="0">
                <a:solidFill>
                  <a:srgbClr val="FF0000"/>
                </a:solidFill>
              </a:rPr>
              <a:t>k</a:t>
            </a:r>
            <a:r>
              <a:rPr lang="en-US" altLang="zh-CN" sz="2000" baseline="30000" dirty="0" err="1" smtClean="0">
                <a:solidFill>
                  <a:srgbClr val="FF0000"/>
                </a:solidFill>
              </a:rPr>
              <a:t>n</a:t>
            </a:r>
            <a:r>
              <a:rPr lang="en-US" altLang="zh-CN" sz="2000" dirty="0" smtClean="0"/>
              <a:t>,</a:t>
            </a:r>
            <a:r>
              <a:rPr lang="zh-CN" altLang="en-US" sz="2000" dirty="0" smtClean="0"/>
              <a:t>其中</a:t>
            </a:r>
            <a:r>
              <a:rPr lang="en-US" altLang="zh-CN" sz="2000" dirty="0" smtClean="0"/>
              <a:t>c</a:t>
            </a:r>
            <a:r>
              <a:rPr lang="en-US" altLang="zh-CN" sz="2000" baseline="-25000" dirty="0" smtClean="0"/>
              <a:t>1</a:t>
            </a:r>
            <a:r>
              <a:rPr lang="en-US" altLang="zh-CN" sz="2000" dirty="0" smtClean="0"/>
              <a:t>,c</a:t>
            </a:r>
            <a:r>
              <a:rPr lang="en-US" altLang="zh-CN" sz="2000" baseline="-25000" dirty="0" smtClean="0"/>
              <a:t>2</a:t>
            </a:r>
            <a:r>
              <a:rPr lang="en-US" altLang="zh-CN" sz="2000" dirty="0" smtClean="0"/>
              <a:t>,…c</a:t>
            </a:r>
            <a:r>
              <a:rPr lang="en-US" altLang="zh-CN" sz="2000" baseline="-25000" dirty="0" smtClean="0"/>
              <a:t>k</a:t>
            </a:r>
            <a:r>
              <a:rPr lang="zh-CN" altLang="en-US" sz="2000" dirty="0" smtClean="0"/>
              <a:t>为任意常数。</a:t>
            </a:r>
            <a:endParaRPr lang="zh-CN" altLang="en-US" sz="2000" dirty="0" smtClean="0"/>
          </a:p>
          <a:p>
            <a:pPr algn="just">
              <a:defRPr/>
            </a:pPr>
            <a:endParaRPr lang="zh-CN" altLang="en-US" sz="2000" dirty="0">
              <a:latin typeface="+mn-ea"/>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89091" name="Rectangle 2"/>
          <p:cNvSpPr>
            <a:spLocks noGrp="1" noChangeArrowheads="1"/>
          </p:cNvSpPr>
          <p:nvPr>
            <p:ph type="title"/>
          </p:nvPr>
        </p:nvSpPr>
        <p:spPr/>
        <p:txBody>
          <a:bodyPr/>
          <a:lstStyle/>
          <a:p>
            <a:pPr eaLnBrk="1" hangingPunct="1"/>
            <a:r>
              <a:rPr lang="en-US" altLang="zh-CN" dirty="0">
                <a:solidFill>
                  <a:srgbClr val="333399"/>
                </a:solidFill>
                <a:latin typeface="华文楷体" panose="02010600040101010101" pitchFamily="2" charset="-122"/>
              </a:rPr>
              <a:t>1.3.8 </a:t>
            </a:r>
            <a:r>
              <a:rPr lang="zh-CN" altLang="en-US" dirty="0">
                <a:solidFill>
                  <a:srgbClr val="333399"/>
                </a:solidFill>
                <a:latin typeface="华文楷体" panose="02010600040101010101" pitchFamily="2" charset="-122"/>
              </a:rPr>
              <a:t>递推关系</a:t>
            </a:r>
            <a:endParaRPr lang="en-US" altLang="zh-CN" dirty="0" smtClean="0"/>
          </a:p>
        </p:txBody>
      </p:sp>
      <p:sp>
        <p:nvSpPr>
          <p:cNvPr id="89092" name="Rectangle 3"/>
          <p:cNvSpPr>
            <a:spLocks noGrp="1" noChangeArrowheads="1"/>
          </p:cNvSpPr>
          <p:nvPr>
            <p:ph type="body" idx="1"/>
          </p:nvPr>
        </p:nvSpPr>
        <p:spPr/>
        <p:txBody>
          <a:bodyPr/>
          <a:lstStyle/>
          <a:p>
            <a:pPr algn="just">
              <a:spcBef>
                <a:spcPct val="0"/>
              </a:spcBef>
            </a:pPr>
            <a:r>
              <a:rPr lang="zh-CN" altLang="en-US" smtClean="0"/>
              <a:t>递推关系是</a:t>
            </a:r>
            <a:r>
              <a:rPr lang="zh-CN" altLang="en-US" smtClean="0">
                <a:solidFill>
                  <a:srgbClr val="FF0000"/>
                </a:solidFill>
              </a:rPr>
              <a:t>离散变量</a:t>
            </a:r>
            <a:r>
              <a:rPr lang="zh-CN" altLang="en-US" smtClean="0"/>
              <a:t>之间变化规律中常见的一种方式，与生成函数一样是解决计数问题的有力工具。</a:t>
            </a:r>
            <a:endParaRPr lang="en-US" altLang="zh-CN" smtClean="0"/>
          </a:p>
          <a:p>
            <a:pPr algn="just">
              <a:spcBef>
                <a:spcPct val="0"/>
              </a:spcBef>
            </a:pPr>
            <a:endParaRPr lang="zh-CN" altLang="en-US" smtClean="0"/>
          </a:p>
          <a:p>
            <a:pPr algn="just">
              <a:spcBef>
                <a:spcPct val="0"/>
              </a:spcBef>
            </a:pPr>
            <a:r>
              <a:rPr lang="zh-CN" altLang="en-US" smtClean="0"/>
              <a:t>数列{</a:t>
            </a:r>
            <a:r>
              <a:rPr lang="en-US" altLang="zh-CN" smtClean="0"/>
              <a:t>f(n)},</a:t>
            </a:r>
            <a:r>
              <a:rPr lang="zh-CN" altLang="en-US" smtClean="0"/>
              <a:t>如从某项后，</a:t>
            </a:r>
            <a:r>
              <a:rPr lang="en-US" altLang="zh-CN" smtClean="0"/>
              <a:t>f(n)</a:t>
            </a:r>
            <a:r>
              <a:rPr lang="zh-CN" altLang="en-US" smtClean="0"/>
              <a:t>前</a:t>
            </a:r>
            <a:r>
              <a:rPr lang="en-US" altLang="zh-CN" smtClean="0"/>
              <a:t>k</a:t>
            </a:r>
            <a:r>
              <a:rPr lang="zh-CN" altLang="en-US" smtClean="0"/>
              <a:t>项可推出</a:t>
            </a:r>
            <a:r>
              <a:rPr lang="en-US" altLang="zh-CN" smtClean="0"/>
              <a:t>f(n)</a:t>
            </a:r>
            <a:r>
              <a:rPr lang="zh-CN" altLang="en-US" smtClean="0"/>
              <a:t>的普遍规律，就称为递推关系。</a:t>
            </a:r>
            <a:endParaRPr lang="en-US" altLang="zh-CN" smtClean="0"/>
          </a:p>
          <a:p>
            <a:pPr algn="just">
              <a:spcBef>
                <a:spcPct val="0"/>
              </a:spcBef>
            </a:pPr>
            <a:endParaRPr lang="zh-CN" altLang="en-US" smtClean="0"/>
          </a:p>
          <a:p>
            <a:pPr algn="just">
              <a:spcBef>
                <a:spcPct val="0"/>
              </a:spcBef>
            </a:pPr>
            <a:r>
              <a:rPr lang="zh-CN" altLang="en-US" smtClean="0"/>
              <a:t>利用递推关系和初值在某些情况下可以求出序列的通项表达式</a:t>
            </a:r>
            <a:r>
              <a:rPr lang="en-US" altLang="zh-CN" smtClean="0"/>
              <a:t>f(n)，</a:t>
            </a:r>
            <a:r>
              <a:rPr lang="zh-CN" altLang="en-US" smtClean="0"/>
              <a:t>称为该</a:t>
            </a:r>
            <a:r>
              <a:rPr lang="zh-CN" altLang="en-US" smtClean="0">
                <a:solidFill>
                  <a:srgbClr val="FF0000"/>
                </a:solidFill>
              </a:rPr>
              <a:t>递推关系的解</a:t>
            </a:r>
            <a:r>
              <a:rPr lang="zh-CN" altLang="en-US" smtClean="0"/>
              <a:t>。</a:t>
            </a:r>
            <a:endParaRPr lang="en-US" altLang="zh-CN" smtClean="0"/>
          </a:p>
          <a:p>
            <a:pPr algn="just">
              <a:spcBef>
                <a:spcPct val="0"/>
              </a:spcBef>
            </a:pPr>
            <a:endParaRPr lang="zh-CN" altLang="en-US" smtClean="0"/>
          </a:p>
          <a:p>
            <a:pPr algn="just">
              <a:spcBef>
                <a:spcPct val="0"/>
              </a:spcBef>
            </a:pPr>
            <a:r>
              <a:rPr lang="zh-CN" altLang="en-US" smtClean="0"/>
              <a:t>不是所有的递推关系都可求出其解，只是</a:t>
            </a:r>
            <a:r>
              <a:rPr lang="zh-CN" altLang="en-US" smtClean="0">
                <a:solidFill>
                  <a:srgbClr val="FF0000"/>
                </a:solidFill>
              </a:rPr>
              <a:t>某些特殊类型有成熟解法</a:t>
            </a:r>
            <a:r>
              <a:rPr lang="zh-CN" altLang="en-US" smtClean="0"/>
              <a:t>。</a:t>
            </a:r>
            <a:endParaRPr lang="zh-CN" altLang="en-US" smtClean="0"/>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91139" name="Rectangle 2"/>
          <p:cNvSpPr>
            <a:spLocks noGrp="1" noChangeArrowheads="1"/>
          </p:cNvSpPr>
          <p:nvPr>
            <p:ph type="title"/>
          </p:nvPr>
        </p:nvSpPr>
        <p:spPr>
          <a:xfrm>
            <a:off x="950913" y="44450"/>
            <a:ext cx="8229600" cy="1139825"/>
          </a:xfrm>
        </p:spPr>
        <p:txBody>
          <a:bodyPr/>
          <a:lstStyle/>
          <a:p>
            <a:pPr eaLnBrk="1" hangingPunct="1"/>
            <a:r>
              <a:rPr lang="en-US" altLang="zh-CN" dirty="0" smtClean="0">
                <a:solidFill>
                  <a:srgbClr val="333399"/>
                </a:solidFill>
                <a:latin typeface="华文楷体" panose="02010600040101010101" pitchFamily="2" charset="-122"/>
              </a:rPr>
              <a:t>1.3.8 </a:t>
            </a:r>
            <a:r>
              <a:rPr lang="zh-CN" altLang="en-US" dirty="0">
                <a:solidFill>
                  <a:srgbClr val="333399"/>
                </a:solidFill>
                <a:latin typeface="华文楷体" panose="02010600040101010101" pitchFamily="2" charset="-122"/>
              </a:rPr>
              <a:t>递推</a:t>
            </a:r>
            <a:r>
              <a:rPr lang="zh-CN" altLang="en-US" dirty="0" smtClean="0">
                <a:solidFill>
                  <a:srgbClr val="333399"/>
                </a:solidFill>
                <a:latin typeface="华文楷体" panose="02010600040101010101" pitchFamily="2" charset="-122"/>
              </a:rPr>
              <a:t>关系</a:t>
            </a:r>
            <a:r>
              <a:rPr lang="en-US" altLang="zh-CN" dirty="0" smtClean="0">
                <a:solidFill>
                  <a:srgbClr val="333399"/>
                </a:solidFill>
                <a:latin typeface="华文楷体" panose="02010600040101010101" pitchFamily="2" charset="-122"/>
              </a:rPr>
              <a:t>——</a:t>
            </a:r>
            <a:r>
              <a:rPr lang="zh-CN" altLang="en-US" dirty="0" smtClean="0"/>
              <a:t>线性齐次递推式的求解</a:t>
            </a:r>
            <a:endParaRPr lang="en-US" altLang="zh-CN" dirty="0" smtClean="0"/>
          </a:p>
        </p:txBody>
      </p:sp>
      <p:sp>
        <p:nvSpPr>
          <p:cNvPr id="91140" name="Rectangle 3"/>
          <p:cNvSpPr>
            <a:spLocks noGrp="1" noChangeArrowheads="1"/>
          </p:cNvSpPr>
          <p:nvPr>
            <p:ph type="body" idx="1"/>
          </p:nvPr>
        </p:nvSpPr>
        <p:spPr>
          <a:xfrm>
            <a:off x="539750" y="1211263"/>
            <a:ext cx="8820150" cy="4789487"/>
          </a:xfrm>
        </p:spPr>
        <p:txBody>
          <a:bodyPr/>
          <a:lstStyle/>
          <a:p>
            <a:pPr eaLnBrk="1" hangingPunct="1">
              <a:lnSpc>
                <a:spcPct val="90000"/>
              </a:lnSpc>
            </a:pPr>
            <a:r>
              <a:rPr lang="en-US" altLang="zh-CN" sz="2300" smtClean="0"/>
              <a:t> </a:t>
            </a:r>
            <a:endParaRPr lang="en-US" altLang="zh-CN" sz="2300" smtClean="0"/>
          </a:p>
        </p:txBody>
      </p:sp>
      <p:pic>
        <p:nvPicPr>
          <p:cNvPr id="91141" name="Picture 5"/>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57188" y="1000125"/>
            <a:ext cx="8572500" cy="4972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142" name="矩形 5"/>
          <p:cNvSpPr>
            <a:spLocks noChangeArrowheads="1"/>
          </p:cNvSpPr>
          <p:nvPr/>
        </p:nvSpPr>
        <p:spPr bwMode="auto">
          <a:xfrm>
            <a:off x="7602249" y="1678285"/>
            <a:ext cx="76335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eaLnBrk="1" hangingPunct="1">
              <a:spcBef>
                <a:spcPct val="0"/>
              </a:spcBef>
              <a:buFontTx/>
              <a:buNone/>
            </a:pPr>
            <a:r>
              <a:rPr lang="en-US" altLang="zh-CN" sz="1800" dirty="0">
                <a:solidFill>
                  <a:srgbClr val="660066"/>
                </a:solidFill>
                <a:latin typeface="Arial" panose="020B0604020202090204" pitchFamily="34" charset="0"/>
                <a:ea typeface="宋体" pitchFamily="2" charset="-122"/>
              </a:rPr>
              <a:t> </a:t>
            </a:r>
            <a:r>
              <a:rPr lang="en-US" altLang="zh-CN" sz="2400" dirty="0" err="1">
                <a:solidFill>
                  <a:srgbClr val="660066"/>
                </a:solidFill>
                <a:latin typeface="Arial" panose="020B0604020202090204" pitchFamily="34" charset="0"/>
                <a:ea typeface="宋体" pitchFamily="2" charset="-122"/>
              </a:rPr>
              <a:t>p53</a:t>
            </a:r>
            <a:endParaRPr lang="zh-CN" altLang="en-US" sz="1800" dirty="0">
              <a:solidFill>
                <a:schemeClr val="tx1"/>
              </a:solidFill>
              <a:latin typeface="Arial" panose="020B0604020202090204" pitchFamily="34" charset="0"/>
              <a:ea typeface="宋体"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标题 1"/>
          <p:cNvSpPr>
            <a:spLocks noGrp="1"/>
          </p:cNvSpPr>
          <p:nvPr>
            <p:ph type="title"/>
          </p:nvPr>
        </p:nvSpPr>
        <p:spPr/>
        <p:txBody>
          <a:bodyPr/>
          <a:lstStyle/>
          <a:p>
            <a:r>
              <a:rPr lang="en-US" altLang="zh-CN" dirty="0">
                <a:solidFill>
                  <a:srgbClr val="333399"/>
                </a:solidFill>
                <a:latin typeface="华文楷体" panose="02010600040101010101" pitchFamily="2" charset="-122"/>
              </a:rPr>
              <a:t>1.3.8 </a:t>
            </a:r>
            <a:r>
              <a:rPr lang="zh-CN" altLang="en-US" dirty="0">
                <a:solidFill>
                  <a:srgbClr val="333399"/>
                </a:solidFill>
                <a:latin typeface="华文楷体" panose="02010600040101010101" pitchFamily="2" charset="-122"/>
              </a:rPr>
              <a:t>递推关系</a:t>
            </a:r>
            <a:r>
              <a:rPr lang="en-US" altLang="zh-CN" dirty="0">
                <a:solidFill>
                  <a:srgbClr val="333399"/>
                </a:solidFill>
                <a:latin typeface="华文楷体" panose="02010600040101010101" pitchFamily="2" charset="-122"/>
              </a:rPr>
              <a:t>——</a:t>
            </a:r>
            <a:r>
              <a:rPr lang="zh-CN" altLang="en-US" dirty="0"/>
              <a:t>线性齐次递推式的求解</a:t>
            </a:r>
            <a:endParaRPr lang="zh-CN" altLang="en-US" dirty="0" smtClean="0"/>
          </a:p>
        </p:txBody>
      </p:sp>
      <p:sp>
        <p:nvSpPr>
          <p:cNvPr id="93187"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pic>
        <p:nvPicPr>
          <p:cNvPr id="93188"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857250" y="1285875"/>
            <a:ext cx="8039100" cy="1800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94211" name="Rectangle 2"/>
          <p:cNvSpPr>
            <a:spLocks noGrp="1" noChangeArrowheads="1"/>
          </p:cNvSpPr>
          <p:nvPr>
            <p:ph type="title"/>
          </p:nvPr>
        </p:nvSpPr>
        <p:spPr/>
        <p:txBody>
          <a:bodyPr/>
          <a:lstStyle/>
          <a:p>
            <a:pPr eaLnBrk="1" hangingPunct="1"/>
            <a:r>
              <a:rPr lang="en-US" altLang="zh-CN" dirty="0">
                <a:solidFill>
                  <a:srgbClr val="333399"/>
                </a:solidFill>
                <a:latin typeface="华文楷体" panose="02010600040101010101" pitchFamily="2" charset="-122"/>
              </a:rPr>
              <a:t>1.3.8 </a:t>
            </a:r>
            <a:r>
              <a:rPr lang="zh-CN" altLang="en-US" dirty="0">
                <a:solidFill>
                  <a:srgbClr val="333399"/>
                </a:solidFill>
                <a:latin typeface="华文楷体" panose="02010600040101010101" pitchFamily="2" charset="-122"/>
              </a:rPr>
              <a:t>递推关系</a:t>
            </a:r>
            <a:endParaRPr lang="en-US" altLang="zh-CN" dirty="0" smtClean="0"/>
          </a:p>
        </p:txBody>
      </p:sp>
      <p:sp>
        <p:nvSpPr>
          <p:cNvPr id="62468" name="Rectangle 3"/>
          <p:cNvSpPr>
            <a:spLocks noGrp="1" noChangeArrowheads="1"/>
          </p:cNvSpPr>
          <p:nvPr>
            <p:ph type="body" idx="1"/>
          </p:nvPr>
        </p:nvSpPr>
        <p:spPr/>
        <p:txBody>
          <a:bodyPr/>
          <a:lstStyle/>
          <a:p>
            <a:pPr algn="just">
              <a:spcBef>
                <a:spcPct val="0"/>
              </a:spcBef>
              <a:buFontTx/>
              <a:buNone/>
            </a:pPr>
            <a:r>
              <a:rPr lang="zh-CN" altLang="en-US" sz="2000" smtClean="0"/>
              <a:t>例：13 世纪初意大利数学家 </a:t>
            </a:r>
            <a:r>
              <a:rPr lang="en-US" altLang="zh-CN" sz="2000" smtClean="0"/>
              <a:t>Fibonacci </a:t>
            </a:r>
            <a:r>
              <a:rPr lang="zh-CN" altLang="en-US" sz="2000" smtClean="0"/>
              <a:t>研究过著名的兔子繁殖数目问题:设一对一雌一雄小兔刚满2个月时，便可繁殖出一雌一雄一对小兔。以后每隔1个月生一对一雌一雄小兔。由一对刚出生的小兔开始饲养到第</a:t>
            </a:r>
            <a:r>
              <a:rPr lang="en-US" altLang="zh-CN" sz="2000" smtClean="0"/>
              <a:t>n</a:t>
            </a:r>
            <a:r>
              <a:rPr lang="zh-CN" altLang="en-US" sz="2000" smtClean="0"/>
              <a:t>个月，有多少对兔子?</a:t>
            </a:r>
            <a:endParaRPr lang="en-US" altLang="zh-CN" sz="2000" smtClean="0"/>
          </a:p>
          <a:p>
            <a:pPr algn="just">
              <a:spcBef>
                <a:spcPct val="0"/>
              </a:spcBef>
              <a:buFontTx/>
              <a:buNone/>
            </a:pPr>
            <a:endParaRPr lang="zh-CN" altLang="en-US" sz="2000" smtClean="0"/>
          </a:p>
          <a:p>
            <a:pPr algn="just">
              <a:spcBef>
                <a:spcPct val="0"/>
              </a:spcBef>
              <a:buFontTx/>
              <a:buNone/>
            </a:pPr>
            <a:r>
              <a:rPr lang="zh-CN" altLang="en-US" sz="2000" smtClean="0"/>
              <a:t>解：设第</a:t>
            </a:r>
            <a:r>
              <a:rPr lang="en-US" altLang="zh-CN" sz="2000" smtClean="0"/>
              <a:t>n</a:t>
            </a:r>
            <a:r>
              <a:rPr lang="zh-CN" altLang="en-US" sz="2000" smtClean="0"/>
              <a:t>个月有</a:t>
            </a:r>
            <a:r>
              <a:rPr lang="en-US" altLang="zh-CN" sz="2000" smtClean="0"/>
              <a:t>F</a:t>
            </a:r>
            <a:r>
              <a:rPr lang="en-US" altLang="zh-CN" sz="2000" baseline="-25000" smtClean="0"/>
              <a:t>n</a:t>
            </a:r>
            <a:r>
              <a:rPr lang="zh-CN" altLang="en-US" sz="2000" smtClean="0"/>
              <a:t>对兔子，它由两部分组成:</a:t>
            </a:r>
            <a:endParaRPr lang="zh-CN" altLang="en-US" sz="2000" smtClean="0"/>
          </a:p>
          <a:p>
            <a:pPr algn="just">
              <a:spcBef>
                <a:spcPct val="0"/>
              </a:spcBef>
              <a:buFontTx/>
              <a:buNone/>
            </a:pPr>
            <a:r>
              <a:rPr lang="zh-CN" altLang="en-US" sz="2000" smtClean="0"/>
              <a:t>(1)新生出的小兔，其数目等于能生小兔的大兔对数目</a:t>
            </a:r>
            <a:endParaRPr lang="zh-CN" altLang="en-US" sz="2000" smtClean="0"/>
          </a:p>
          <a:p>
            <a:pPr algn="just">
              <a:spcBef>
                <a:spcPct val="0"/>
              </a:spcBef>
              <a:buFontTx/>
              <a:buNone/>
            </a:pPr>
            <a:r>
              <a:rPr lang="zh-CN" altLang="en-US" sz="2000" smtClean="0"/>
              <a:t>    小兔满两个月才繁殖，数目为第(</a:t>
            </a:r>
            <a:r>
              <a:rPr lang="en-US" altLang="zh-CN" sz="2000" smtClean="0"/>
              <a:t>n-2)</a:t>
            </a:r>
            <a:r>
              <a:rPr lang="zh-CN" altLang="en-US" sz="2000" smtClean="0"/>
              <a:t>个月时的兔对数目，即为</a:t>
            </a:r>
            <a:r>
              <a:rPr lang="en-US" altLang="zh-CN" sz="2000" smtClean="0"/>
              <a:t>F</a:t>
            </a:r>
            <a:r>
              <a:rPr lang="en-US" altLang="zh-CN" sz="2000" baseline="-25000" smtClean="0"/>
              <a:t>n-2</a:t>
            </a:r>
            <a:r>
              <a:rPr lang="en-US" altLang="zh-CN" sz="2000" smtClean="0"/>
              <a:t>。</a:t>
            </a:r>
            <a:endParaRPr lang="en-US" altLang="zh-CN" sz="2000" smtClean="0"/>
          </a:p>
          <a:p>
            <a:pPr algn="just">
              <a:spcBef>
                <a:spcPct val="0"/>
              </a:spcBef>
              <a:buFontTx/>
              <a:buNone/>
            </a:pPr>
            <a:r>
              <a:rPr lang="en-US" altLang="zh-CN" sz="2000" smtClean="0"/>
              <a:t>(2)</a:t>
            </a:r>
            <a:r>
              <a:rPr lang="zh-CN" altLang="en-US" sz="2000" smtClean="0"/>
              <a:t>原有小兔，其数目等于上月(即第 </a:t>
            </a:r>
            <a:r>
              <a:rPr lang="en-US" altLang="zh-CN" sz="2000" smtClean="0"/>
              <a:t>n-1</a:t>
            </a:r>
            <a:r>
              <a:rPr lang="zh-CN" altLang="en-US" sz="2000" smtClean="0"/>
              <a:t>个月)的兔对数目，即为</a:t>
            </a:r>
            <a:r>
              <a:rPr lang="en-US" altLang="zh-CN" sz="2000" smtClean="0"/>
              <a:t>F</a:t>
            </a:r>
            <a:r>
              <a:rPr lang="en-US" altLang="zh-CN" sz="2000" baseline="-25000" smtClean="0"/>
              <a:t>n-1</a:t>
            </a:r>
            <a:r>
              <a:rPr lang="en-US" altLang="zh-CN" sz="2000" smtClean="0"/>
              <a:t>。</a:t>
            </a:r>
            <a:endParaRPr lang="en-US" altLang="zh-CN" sz="2000" smtClean="0"/>
          </a:p>
          <a:p>
            <a:pPr algn="just">
              <a:spcBef>
                <a:spcPct val="0"/>
              </a:spcBef>
              <a:buFontTx/>
              <a:buNone/>
            </a:pPr>
            <a:r>
              <a:rPr lang="zh-CN" altLang="en-US" sz="2000" smtClean="0"/>
              <a:t>     建立如下递推关系: </a:t>
            </a:r>
            <a:endParaRPr lang="zh-CN" altLang="en-US" sz="2000" smtClean="0"/>
          </a:p>
          <a:p>
            <a:pPr algn="just">
              <a:spcBef>
                <a:spcPct val="0"/>
              </a:spcBef>
              <a:buFontTx/>
              <a:buNone/>
            </a:pPr>
            <a:r>
              <a:rPr lang="en-US" altLang="zh-CN" sz="2000" smtClean="0"/>
              <a:t>     F</a:t>
            </a:r>
            <a:r>
              <a:rPr lang="en-US" altLang="zh-CN" sz="2000" baseline="-25000" smtClean="0"/>
              <a:t>n</a:t>
            </a:r>
            <a:r>
              <a:rPr lang="en-US" altLang="zh-CN" sz="2000" smtClean="0"/>
              <a:t>=F</a:t>
            </a:r>
            <a:r>
              <a:rPr lang="en-US" altLang="zh-CN" sz="2000" baseline="-25000" smtClean="0"/>
              <a:t>n-2</a:t>
            </a:r>
            <a:r>
              <a:rPr lang="en-US" altLang="zh-CN" sz="2000" smtClean="0"/>
              <a:t>+F</a:t>
            </a:r>
            <a:r>
              <a:rPr lang="en-US" altLang="zh-CN" sz="2000" baseline="-25000" smtClean="0"/>
              <a:t>n-1</a:t>
            </a:r>
            <a:r>
              <a:rPr lang="en-US" altLang="zh-CN" sz="2000" smtClean="0"/>
              <a:t>，</a:t>
            </a:r>
            <a:r>
              <a:rPr lang="zh-CN" altLang="en-US" sz="2000" smtClean="0"/>
              <a:t>并有初始条件：</a:t>
            </a:r>
            <a:r>
              <a:rPr lang="en-US" altLang="zh-CN" sz="2000" smtClean="0"/>
              <a:t>F</a:t>
            </a:r>
            <a:r>
              <a:rPr lang="en-US" altLang="zh-CN" sz="2000" baseline="-25000" smtClean="0"/>
              <a:t>1</a:t>
            </a:r>
            <a:r>
              <a:rPr lang="en-US" altLang="zh-CN" sz="2000" smtClean="0"/>
              <a:t>=F</a:t>
            </a:r>
            <a:r>
              <a:rPr lang="en-US" altLang="zh-CN" sz="2000" baseline="-25000" smtClean="0"/>
              <a:t>2</a:t>
            </a:r>
            <a:r>
              <a:rPr lang="en-US" altLang="zh-CN" sz="2000" smtClean="0"/>
              <a:t>=1。</a:t>
            </a:r>
            <a:endParaRPr lang="en-US" altLang="zh-CN" sz="2000" smtClean="0"/>
          </a:p>
          <a:p>
            <a:pPr algn="just">
              <a:spcBef>
                <a:spcPct val="0"/>
              </a:spcBef>
              <a:buFontTx/>
              <a:buNone/>
            </a:pPr>
            <a:r>
              <a:rPr lang="zh-CN" altLang="en-US" sz="2000" smtClean="0"/>
              <a:t>     这是一个带有初值的递推关系。</a:t>
            </a:r>
            <a:endParaRPr lang="zh-CN" altLang="en-US" sz="2000" smtClean="0"/>
          </a:p>
          <a:p>
            <a:pPr algn="just">
              <a:spcBef>
                <a:spcPct val="0"/>
              </a:spcBef>
              <a:buFontTx/>
              <a:buNone/>
            </a:pPr>
            <a:r>
              <a:rPr lang="zh-CN" altLang="en-US" sz="2000" smtClean="0"/>
              <a:t>满足这种递推关系的数列称为</a:t>
            </a:r>
            <a:r>
              <a:rPr lang="en-US" altLang="zh-CN" sz="2000" smtClean="0"/>
              <a:t>Fibonacci</a:t>
            </a:r>
            <a:r>
              <a:rPr lang="zh-CN" altLang="en-US" sz="2000" smtClean="0"/>
              <a:t>数列。</a:t>
            </a:r>
            <a:endParaRPr lang="en-US" altLang="zh-CN" sz="2000" smtClean="0"/>
          </a:p>
          <a:p>
            <a:pPr algn="just">
              <a:spcBef>
                <a:spcPct val="0"/>
              </a:spcBef>
              <a:buFontTx/>
              <a:buNone/>
            </a:pPr>
            <a:r>
              <a:rPr lang="zh-CN" altLang="en-US" sz="2000" smtClean="0"/>
              <a:t>例</a:t>
            </a:r>
            <a:r>
              <a:rPr lang="en-US" altLang="zh-CN" sz="2000" smtClean="0"/>
              <a:t>2.20</a:t>
            </a:r>
            <a:endParaRPr lang="zh-CN" altLang="en-US" sz="2000" smtClean="0"/>
          </a:p>
        </p:txBody>
      </p:sp>
      <p:pic>
        <p:nvPicPr>
          <p:cNvPr id="62469" name="Picture 5"/>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000125" y="2571750"/>
            <a:ext cx="7429500" cy="3473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2468">
                                            <p:txEl>
                                              <p:pRg st="2" end="2"/>
                                            </p:txEl>
                                          </p:spTgt>
                                        </p:tgtEl>
                                        <p:attrNameLst>
                                          <p:attrName>style.visibility</p:attrName>
                                        </p:attrNameLst>
                                      </p:cBhvr>
                                      <p:to>
                                        <p:strVal val="visible"/>
                                      </p:to>
                                    </p:set>
                                    <p:anim calcmode="lin" valueType="num">
                                      <p:cBhvr additive="base">
                                        <p:cTn id="7" dur="500" fill="hold"/>
                                        <p:tgtEl>
                                          <p:spTgt spid="62468">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62468">
                                            <p:txEl>
                                              <p:pRg st="2" end="2"/>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2468">
                                            <p:txEl>
                                              <p:pRg st="3" end="3"/>
                                            </p:txEl>
                                          </p:spTgt>
                                        </p:tgtEl>
                                        <p:attrNameLst>
                                          <p:attrName>style.visibility</p:attrName>
                                        </p:attrNameLst>
                                      </p:cBhvr>
                                      <p:to>
                                        <p:strVal val="visible"/>
                                      </p:to>
                                    </p:set>
                                    <p:anim calcmode="lin" valueType="num">
                                      <p:cBhvr additive="base">
                                        <p:cTn id="11" dur="500" fill="hold"/>
                                        <p:tgtEl>
                                          <p:spTgt spid="62468">
                                            <p:txEl>
                                              <p:pRg st="3" end="3"/>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62468">
                                            <p:txEl>
                                              <p:pRg st="3" end="3"/>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62468">
                                            <p:txEl>
                                              <p:pRg st="4" end="4"/>
                                            </p:txEl>
                                          </p:spTgt>
                                        </p:tgtEl>
                                        <p:attrNameLst>
                                          <p:attrName>style.visibility</p:attrName>
                                        </p:attrNameLst>
                                      </p:cBhvr>
                                      <p:to>
                                        <p:strVal val="visible"/>
                                      </p:to>
                                    </p:set>
                                    <p:anim calcmode="lin" valueType="num">
                                      <p:cBhvr additive="base">
                                        <p:cTn id="15" dur="500" fill="hold"/>
                                        <p:tgtEl>
                                          <p:spTgt spid="62468">
                                            <p:txEl>
                                              <p:pRg st="4" end="4"/>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62468">
                                            <p:txEl>
                                              <p:pRg st="4" end="4"/>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62468">
                                            <p:txEl>
                                              <p:pRg st="5" end="5"/>
                                            </p:txEl>
                                          </p:spTgt>
                                        </p:tgtEl>
                                        <p:attrNameLst>
                                          <p:attrName>style.visibility</p:attrName>
                                        </p:attrNameLst>
                                      </p:cBhvr>
                                      <p:to>
                                        <p:strVal val="visible"/>
                                      </p:to>
                                    </p:set>
                                    <p:anim calcmode="lin" valueType="num">
                                      <p:cBhvr additive="base">
                                        <p:cTn id="19" dur="500" fill="hold"/>
                                        <p:tgtEl>
                                          <p:spTgt spid="62468">
                                            <p:txEl>
                                              <p:pRg st="5" end="5"/>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62468">
                                            <p:txEl>
                                              <p:pRg st="5" end="5"/>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62468">
                                            <p:txEl>
                                              <p:pRg st="6" end="6"/>
                                            </p:txEl>
                                          </p:spTgt>
                                        </p:tgtEl>
                                        <p:attrNameLst>
                                          <p:attrName>style.visibility</p:attrName>
                                        </p:attrNameLst>
                                      </p:cBhvr>
                                      <p:to>
                                        <p:strVal val="visible"/>
                                      </p:to>
                                    </p:set>
                                    <p:anim calcmode="lin" valueType="num">
                                      <p:cBhvr additive="base">
                                        <p:cTn id="23" dur="500" fill="hold"/>
                                        <p:tgtEl>
                                          <p:spTgt spid="62468">
                                            <p:txEl>
                                              <p:pRg st="6" end="6"/>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62468">
                                            <p:txEl>
                                              <p:pRg st="6" end="6"/>
                                            </p:txEl>
                                          </p:spTgt>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62468">
                                            <p:txEl>
                                              <p:pRg st="7" end="7"/>
                                            </p:txEl>
                                          </p:spTgt>
                                        </p:tgtEl>
                                        <p:attrNameLst>
                                          <p:attrName>style.visibility</p:attrName>
                                        </p:attrNameLst>
                                      </p:cBhvr>
                                      <p:to>
                                        <p:strVal val="visible"/>
                                      </p:to>
                                    </p:set>
                                    <p:anim calcmode="lin" valueType="num">
                                      <p:cBhvr additive="base">
                                        <p:cTn id="27" dur="500" fill="hold"/>
                                        <p:tgtEl>
                                          <p:spTgt spid="62468">
                                            <p:txEl>
                                              <p:pRg st="7" end="7"/>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62468">
                                            <p:txEl>
                                              <p:pRg st="7" end="7"/>
                                            </p:txEl>
                                          </p:spTgt>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62468">
                                            <p:txEl>
                                              <p:pRg st="8" end="8"/>
                                            </p:txEl>
                                          </p:spTgt>
                                        </p:tgtEl>
                                        <p:attrNameLst>
                                          <p:attrName>style.visibility</p:attrName>
                                        </p:attrNameLst>
                                      </p:cBhvr>
                                      <p:to>
                                        <p:strVal val="visible"/>
                                      </p:to>
                                    </p:set>
                                    <p:anim calcmode="lin" valueType="num">
                                      <p:cBhvr additive="base">
                                        <p:cTn id="31" dur="500" fill="hold"/>
                                        <p:tgtEl>
                                          <p:spTgt spid="62468">
                                            <p:txEl>
                                              <p:pRg st="8" end="8"/>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62468">
                                            <p:txEl>
                                              <p:pRg st="8" end="8"/>
                                            </p:txEl>
                                          </p:spTgt>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62468">
                                            <p:txEl>
                                              <p:pRg st="9" end="9"/>
                                            </p:txEl>
                                          </p:spTgt>
                                        </p:tgtEl>
                                        <p:attrNameLst>
                                          <p:attrName>style.visibility</p:attrName>
                                        </p:attrNameLst>
                                      </p:cBhvr>
                                      <p:to>
                                        <p:strVal val="visible"/>
                                      </p:to>
                                    </p:set>
                                    <p:anim calcmode="lin" valueType="num">
                                      <p:cBhvr additive="base">
                                        <p:cTn id="35" dur="500" fill="hold"/>
                                        <p:tgtEl>
                                          <p:spTgt spid="62468">
                                            <p:txEl>
                                              <p:pRg st="9" end="9"/>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62468">
                                            <p:txEl>
                                              <p:pRg st="9" end="9"/>
                                            </p:txEl>
                                          </p:spTgt>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0"/>
                                  </p:stCondLst>
                                  <p:childTnLst>
                                    <p:set>
                                      <p:cBhvr>
                                        <p:cTn id="38" dur="1" fill="hold">
                                          <p:stCondLst>
                                            <p:cond delay="0"/>
                                          </p:stCondLst>
                                        </p:cTn>
                                        <p:tgtEl>
                                          <p:spTgt spid="62468">
                                            <p:txEl>
                                              <p:pRg st="10" end="10"/>
                                            </p:txEl>
                                          </p:spTgt>
                                        </p:tgtEl>
                                        <p:attrNameLst>
                                          <p:attrName>style.visibility</p:attrName>
                                        </p:attrNameLst>
                                      </p:cBhvr>
                                      <p:to>
                                        <p:strVal val="visible"/>
                                      </p:to>
                                    </p:set>
                                    <p:anim calcmode="lin" valueType="num">
                                      <p:cBhvr additive="base">
                                        <p:cTn id="39" dur="500" fill="hold"/>
                                        <p:tgtEl>
                                          <p:spTgt spid="62468">
                                            <p:txEl>
                                              <p:pRg st="10" end="10"/>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62468">
                                            <p:txEl>
                                              <p:pRg st="10" end="10"/>
                                            </p:txEl>
                                          </p:spTgt>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nodeType="clickEffect">
                                  <p:stCondLst>
                                    <p:cond delay="0"/>
                                  </p:stCondLst>
                                  <p:childTnLst>
                                    <p:set>
                                      <p:cBhvr>
                                        <p:cTn id="44" dur="1" fill="hold">
                                          <p:stCondLst>
                                            <p:cond delay="0"/>
                                          </p:stCondLst>
                                        </p:cTn>
                                        <p:tgtEl>
                                          <p:spTgt spid="62469"/>
                                        </p:tgtEl>
                                        <p:attrNameLst>
                                          <p:attrName>style.visibility</p:attrName>
                                        </p:attrNameLst>
                                      </p:cBhvr>
                                      <p:to>
                                        <p:strVal val="visible"/>
                                      </p:to>
                                    </p:set>
                                    <p:anim calcmode="lin" valueType="num">
                                      <p:cBhvr additive="base">
                                        <p:cTn id="45" dur="500" fill="hold"/>
                                        <p:tgtEl>
                                          <p:spTgt spid="62469"/>
                                        </p:tgtEl>
                                        <p:attrNameLst>
                                          <p:attrName>ppt_x</p:attrName>
                                        </p:attrNameLst>
                                      </p:cBhvr>
                                      <p:tavLst>
                                        <p:tav tm="0">
                                          <p:val>
                                            <p:strVal val="#ppt_x"/>
                                          </p:val>
                                        </p:tav>
                                        <p:tav tm="100000">
                                          <p:val>
                                            <p:strVal val="#ppt_x"/>
                                          </p:val>
                                        </p:tav>
                                      </p:tavLst>
                                    </p:anim>
                                    <p:anim calcmode="lin" valueType="num">
                                      <p:cBhvr additive="base">
                                        <p:cTn id="46" dur="500" fill="hold"/>
                                        <p:tgtEl>
                                          <p:spTgt spid="6246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96259" name="Rectangle 2"/>
          <p:cNvSpPr>
            <a:spLocks noGrp="1" noChangeArrowheads="1"/>
          </p:cNvSpPr>
          <p:nvPr>
            <p:ph type="title"/>
          </p:nvPr>
        </p:nvSpPr>
        <p:spPr/>
        <p:txBody>
          <a:bodyPr/>
          <a:lstStyle/>
          <a:p>
            <a:pPr eaLnBrk="1" hangingPunct="1"/>
            <a:r>
              <a:rPr lang="en-US" altLang="zh-CN" dirty="0">
                <a:solidFill>
                  <a:srgbClr val="333399"/>
                </a:solidFill>
                <a:latin typeface="华文楷体" panose="02010600040101010101" pitchFamily="2" charset="-122"/>
              </a:rPr>
              <a:t>1.3.8 </a:t>
            </a:r>
            <a:r>
              <a:rPr lang="zh-CN" altLang="en-US" dirty="0">
                <a:solidFill>
                  <a:srgbClr val="333399"/>
                </a:solidFill>
                <a:latin typeface="华文楷体" panose="02010600040101010101" pitchFamily="2" charset="-122"/>
              </a:rPr>
              <a:t>递推</a:t>
            </a:r>
            <a:r>
              <a:rPr lang="zh-CN" altLang="en-US" dirty="0" smtClean="0">
                <a:solidFill>
                  <a:srgbClr val="333399"/>
                </a:solidFill>
                <a:latin typeface="华文楷体" panose="02010600040101010101" pitchFamily="2" charset="-122"/>
              </a:rPr>
              <a:t>关系</a:t>
            </a:r>
            <a:r>
              <a:rPr lang="en-US" altLang="zh-CN" dirty="0" smtClean="0">
                <a:solidFill>
                  <a:srgbClr val="333399"/>
                </a:solidFill>
                <a:latin typeface="华文楷体" panose="02010600040101010101" pitchFamily="2" charset="-122"/>
              </a:rPr>
              <a:t>——</a:t>
            </a:r>
            <a:r>
              <a:rPr lang="en-US" altLang="zh-CN" dirty="0" smtClean="0"/>
              <a:t>Fibonacci</a:t>
            </a:r>
            <a:r>
              <a:rPr lang="zh-CN" altLang="en-US" dirty="0" smtClean="0"/>
              <a:t>序列</a:t>
            </a:r>
            <a:endParaRPr lang="en-US" altLang="zh-CN" dirty="0" smtClean="0"/>
          </a:p>
        </p:txBody>
      </p:sp>
      <p:pic>
        <p:nvPicPr>
          <p:cNvPr id="5"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428625" y="1062038"/>
            <a:ext cx="8324850" cy="5581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页脚占位符 5"/>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98307" name="Rectangle 2"/>
          <p:cNvSpPr>
            <a:spLocks noGrp="1" noChangeArrowheads="1"/>
          </p:cNvSpPr>
          <p:nvPr>
            <p:ph type="title"/>
          </p:nvPr>
        </p:nvSpPr>
        <p:spPr>
          <a:xfrm>
            <a:off x="806450" y="115888"/>
            <a:ext cx="8229600" cy="1139825"/>
          </a:xfrm>
        </p:spPr>
        <p:txBody>
          <a:bodyPr/>
          <a:lstStyle/>
          <a:p>
            <a:pPr eaLnBrk="1" hangingPunct="1"/>
            <a:r>
              <a:rPr lang="en-US" altLang="zh-CN" dirty="0">
                <a:solidFill>
                  <a:srgbClr val="333399"/>
                </a:solidFill>
                <a:latin typeface="华文楷体" panose="02010600040101010101" pitchFamily="2" charset="-122"/>
              </a:rPr>
              <a:t>1.3.8 </a:t>
            </a:r>
            <a:r>
              <a:rPr lang="zh-CN" altLang="en-US" dirty="0">
                <a:solidFill>
                  <a:srgbClr val="333399"/>
                </a:solidFill>
                <a:latin typeface="华文楷体" panose="02010600040101010101" pitchFamily="2" charset="-122"/>
              </a:rPr>
              <a:t>递推</a:t>
            </a:r>
            <a:r>
              <a:rPr lang="zh-CN" altLang="en-US" dirty="0" smtClean="0">
                <a:solidFill>
                  <a:srgbClr val="333399"/>
                </a:solidFill>
                <a:latin typeface="华文楷体" panose="02010600040101010101" pitchFamily="2" charset="-122"/>
              </a:rPr>
              <a:t>关系</a:t>
            </a:r>
            <a:r>
              <a:rPr lang="en-US" altLang="zh-CN" dirty="0" smtClean="0">
                <a:solidFill>
                  <a:srgbClr val="333399"/>
                </a:solidFill>
                <a:latin typeface="华文楷体" panose="02010600040101010101" pitchFamily="2" charset="-122"/>
              </a:rPr>
              <a:t>——</a:t>
            </a:r>
            <a:r>
              <a:rPr lang="zh-CN" altLang="en-US" dirty="0" smtClean="0"/>
              <a:t>非齐次递推关系的解</a:t>
            </a:r>
            <a:endParaRPr lang="en-US" altLang="zh-CN" dirty="0" smtClean="0"/>
          </a:p>
        </p:txBody>
      </p:sp>
      <p:sp>
        <p:nvSpPr>
          <p:cNvPr id="98308" name="Rectangle 3"/>
          <p:cNvSpPr>
            <a:spLocks noGrp="1" noChangeArrowheads="1"/>
          </p:cNvSpPr>
          <p:nvPr>
            <p:ph type="body" sz="half" idx="1"/>
          </p:nvPr>
        </p:nvSpPr>
        <p:spPr>
          <a:xfrm>
            <a:off x="817563" y="1196975"/>
            <a:ext cx="8218487" cy="4565650"/>
          </a:xfrm>
        </p:spPr>
        <p:txBody>
          <a:bodyPr/>
          <a:lstStyle/>
          <a:p>
            <a:pPr eaLnBrk="1" hangingPunct="1"/>
            <a:r>
              <a:rPr lang="zh-CN" altLang="en-US" sz="2100" dirty="0" smtClean="0">
                <a:solidFill>
                  <a:srgbClr val="EA0000"/>
                </a:solidFill>
              </a:rPr>
              <a:t>递推式</a:t>
            </a:r>
            <a:r>
              <a:rPr lang="en-US" altLang="zh-CN" sz="2100" dirty="0" smtClean="0">
                <a:solidFill>
                  <a:srgbClr val="EA0000"/>
                </a:solidFill>
              </a:rPr>
              <a:t>f(n)=f(n-1)+g(n)</a:t>
            </a:r>
            <a:r>
              <a:rPr lang="zh-CN" altLang="en-US" sz="2100" dirty="0" smtClean="0">
                <a:solidFill>
                  <a:srgbClr val="EA0000"/>
                </a:solidFill>
              </a:rPr>
              <a:t>的解</a:t>
            </a:r>
            <a:r>
              <a:rPr lang="en-US" altLang="zh-CN" sz="2100" dirty="0" smtClean="0">
                <a:solidFill>
                  <a:srgbClr val="EA0000"/>
                </a:solidFill>
              </a:rPr>
              <a:t>:</a:t>
            </a:r>
            <a:endParaRPr lang="en-US" altLang="zh-CN" sz="2100" dirty="0" smtClean="0">
              <a:solidFill>
                <a:srgbClr val="EA0000"/>
              </a:solidFill>
            </a:endParaRPr>
          </a:p>
          <a:p>
            <a:pPr eaLnBrk="1" hangingPunct="1"/>
            <a:endParaRPr lang="en-US" altLang="zh-CN" sz="1100" dirty="0" smtClean="0">
              <a:solidFill>
                <a:srgbClr val="EA0000"/>
              </a:solidFill>
            </a:endParaRPr>
          </a:p>
          <a:p>
            <a:pPr eaLnBrk="1" hangingPunct="1"/>
            <a:endParaRPr lang="en-US" altLang="zh-CN" sz="2100" dirty="0" smtClean="0">
              <a:solidFill>
                <a:srgbClr val="EA0000"/>
              </a:solidFill>
            </a:endParaRPr>
          </a:p>
          <a:p>
            <a:pPr eaLnBrk="1" hangingPunct="1"/>
            <a:r>
              <a:rPr lang="zh-CN" altLang="en-US" sz="2100" dirty="0" smtClean="0">
                <a:solidFill>
                  <a:srgbClr val="EA0000"/>
                </a:solidFill>
              </a:rPr>
              <a:t>递推式</a:t>
            </a:r>
            <a:r>
              <a:rPr lang="en-US" altLang="zh-CN" sz="2100" dirty="0" smtClean="0">
                <a:solidFill>
                  <a:srgbClr val="EA0000"/>
                </a:solidFill>
              </a:rPr>
              <a:t>f(n)=g(n)f(n-1), </a:t>
            </a:r>
            <a:r>
              <a:rPr lang="en-US" altLang="zh-CN" sz="2100" dirty="0" err="1" smtClean="0">
                <a:solidFill>
                  <a:srgbClr val="EA0000"/>
                </a:solidFill>
              </a:rPr>
              <a:t>n</a:t>
            </a:r>
            <a:r>
              <a:rPr lang="en-US" altLang="zh-CN" sz="2100" dirty="0" err="1" smtClean="0">
                <a:solidFill>
                  <a:srgbClr val="EA0000"/>
                </a:solidFill>
                <a:sym typeface="Symbol" panose="05050102010706020507" pitchFamily="18" charset="2"/>
              </a:rPr>
              <a:t>1</a:t>
            </a:r>
            <a:r>
              <a:rPr lang="zh-CN" altLang="en-US" sz="2100" dirty="0" smtClean="0">
                <a:solidFill>
                  <a:srgbClr val="EA0000"/>
                </a:solidFill>
                <a:sym typeface="Symbol" panose="05050102010706020507" pitchFamily="18" charset="2"/>
              </a:rPr>
              <a:t>的解</a:t>
            </a:r>
            <a:r>
              <a:rPr lang="en-US" altLang="zh-CN" sz="2100" dirty="0" smtClean="0">
                <a:solidFill>
                  <a:srgbClr val="EA0000"/>
                </a:solidFill>
                <a:sym typeface="Symbol" panose="05050102010706020507" pitchFamily="18" charset="2"/>
              </a:rPr>
              <a:t>:</a:t>
            </a:r>
            <a:endParaRPr lang="en-US" altLang="zh-CN" sz="2100" dirty="0" smtClean="0">
              <a:solidFill>
                <a:srgbClr val="EA0000"/>
              </a:solidFill>
              <a:sym typeface="Symbol" panose="05050102010706020507" pitchFamily="18" charset="2"/>
            </a:endParaRPr>
          </a:p>
          <a:p>
            <a:pPr eaLnBrk="1" hangingPunct="1"/>
            <a:endParaRPr lang="en-US" altLang="zh-CN" sz="1100" dirty="0" smtClean="0">
              <a:solidFill>
                <a:srgbClr val="EA0000"/>
              </a:solidFill>
              <a:sym typeface="Symbol" panose="05050102010706020507" pitchFamily="18" charset="2"/>
            </a:endParaRPr>
          </a:p>
          <a:p>
            <a:pPr eaLnBrk="1" hangingPunct="1"/>
            <a:endParaRPr lang="en-US" altLang="zh-CN" sz="2100" dirty="0" smtClean="0">
              <a:solidFill>
                <a:srgbClr val="EA0000"/>
              </a:solidFill>
              <a:sym typeface="Symbol" panose="05050102010706020507" pitchFamily="18" charset="2"/>
            </a:endParaRPr>
          </a:p>
          <a:p>
            <a:pPr eaLnBrk="1" hangingPunct="1"/>
            <a:r>
              <a:rPr lang="zh-CN" altLang="en-US" sz="2100" dirty="0" smtClean="0">
                <a:solidFill>
                  <a:srgbClr val="EA0000"/>
                </a:solidFill>
                <a:sym typeface="Symbol" panose="05050102010706020507" pitchFamily="18" charset="2"/>
              </a:rPr>
              <a:t>递推式</a:t>
            </a:r>
            <a:r>
              <a:rPr lang="en-US" altLang="zh-CN" sz="2100" dirty="0" smtClean="0">
                <a:solidFill>
                  <a:srgbClr val="EA0000"/>
                </a:solidFill>
                <a:sym typeface="Symbol" panose="05050102010706020507" pitchFamily="18" charset="2"/>
              </a:rPr>
              <a:t>f(n)=g(n)f(n-1)+h(n), </a:t>
            </a:r>
            <a:r>
              <a:rPr lang="en-US" altLang="zh-CN" sz="2100" dirty="0" err="1" smtClean="0">
                <a:solidFill>
                  <a:srgbClr val="EA0000"/>
                </a:solidFill>
                <a:sym typeface="Symbol" panose="05050102010706020507" pitchFamily="18" charset="2"/>
              </a:rPr>
              <a:t>n1</a:t>
            </a:r>
            <a:r>
              <a:rPr lang="zh-CN" altLang="en-US" sz="2100" dirty="0" smtClean="0">
                <a:solidFill>
                  <a:srgbClr val="EA0000"/>
                </a:solidFill>
                <a:sym typeface="Symbol" panose="05050102010706020507" pitchFamily="18" charset="2"/>
              </a:rPr>
              <a:t>的解</a:t>
            </a:r>
            <a:r>
              <a:rPr lang="en-US" altLang="zh-CN" sz="2100" dirty="0" smtClean="0">
                <a:solidFill>
                  <a:srgbClr val="EA0000"/>
                </a:solidFill>
                <a:sym typeface="Symbol" panose="05050102010706020507" pitchFamily="18" charset="2"/>
              </a:rPr>
              <a:t>:</a:t>
            </a:r>
            <a:endParaRPr lang="en-US" altLang="zh-CN" sz="2100" dirty="0" smtClean="0">
              <a:solidFill>
                <a:srgbClr val="EA0000"/>
              </a:solidFill>
              <a:sym typeface="Symbol" panose="05050102010706020507" pitchFamily="18" charset="2"/>
            </a:endParaRPr>
          </a:p>
        </p:txBody>
      </p:sp>
      <p:graphicFrame>
        <p:nvGraphicFramePr>
          <p:cNvPr id="98309" name="Object 4"/>
          <p:cNvGraphicFramePr>
            <a:graphicFrameLocks noGrp="1" noChangeAspect="1"/>
          </p:cNvGraphicFramePr>
          <p:nvPr>
            <p:ph sz="quarter" idx="2"/>
          </p:nvPr>
        </p:nvGraphicFramePr>
        <p:xfrm>
          <a:off x="4754563" y="1071563"/>
          <a:ext cx="1960562" cy="628650"/>
        </p:xfrm>
        <a:graphic>
          <a:graphicData uri="http://schemas.openxmlformats.org/presentationml/2006/ole">
            <mc:AlternateContent xmlns:mc="http://schemas.openxmlformats.org/markup-compatibility/2006">
              <mc:Choice xmlns:v="urn:schemas-microsoft-com:vml" Requires="v">
                <p:oleObj spid="_x0000_s10302" name="公式" r:id="rId1" imgW="1346200" imgH="431800" progId="Equation.3">
                  <p:embed/>
                </p:oleObj>
              </mc:Choice>
              <mc:Fallback>
                <p:oleObj name="公式" r:id="rId1" imgW="1346200" imgH="431800" progId="Equation.3">
                  <p:embed/>
                  <p:pic>
                    <p:nvPicPr>
                      <p:cNvPr id="0" name="Object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54563" y="1071563"/>
                        <a:ext cx="1960562"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98310" name="Object 6"/>
          <p:cNvGraphicFramePr>
            <a:graphicFrameLocks noGrp="1" noChangeAspect="1"/>
          </p:cNvGraphicFramePr>
          <p:nvPr>
            <p:ph sz="quarter" idx="3"/>
          </p:nvPr>
        </p:nvGraphicFramePr>
        <p:xfrm>
          <a:off x="5214938" y="2214563"/>
          <a:ext cx="2794000" cy="301625"/>
        </p:xfrm>
        <a:graphic>
          <a:graphicData uri="http://schemas.openxmlformats.org/presentationml/2006/ole">
            <mc:AlternateContent xmlns:mc="http://schemas.openxmlformats.org/markup-compatibility/2006">
              <mc:Choice xmlns:v="urn:schemas-microsoft-com:vml" Requires="v">
                <p:oleObj spid="_x0000_s10303" name="公式" r:id="rId3" imgW="1879600" imgH="203200" progId="Equation.3">
                  <p:embed/>
                </p:oleObj>
              </mc:Choice>
              <mc:Fallback>
                <p:oleObj name="公式" r:id="rId3" imgW="1879600" imgH="203200" progId="Equation.3">
                  <p:embed/>
                  <p:pic>
                    <p:nvPicPr>
                      <p:cNvPr id="0" name="Object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14938" y="2214563"/>
                        <a:ext cx="2794000" cy="301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98311" name="Object 8"/>
          <p:cNvGraphicFramePr>
            <a:graphicFrameLocks noChangeAspect="1"/>
          </p:cNvGraphicFramePr>
          <p:nvPr/>
        </p:nvGraphicFramePr>
        <p:xfrm>
          <a:off x="1214438" y="3714750"/>
          <a:ext cx="5848350" cy="715963"/>
        </p:xfrm>
        <a:graphic>
          <a:graphicData uri="http://schemas.openxmlformats.org/presentationml/2006/ole">
            <mc:AlternateContent xmlns:mc="http://schemas.openxmlformats.org/markup-compatibility/2006">
              <mc:Choice xmlns:v="urn:schemas-microsoft-com:vml" Requires="v">
                <p:oleObj spid="_x0000_s10304" name="公式" r:id="rId5" imgW="3733800" imgH="457200" progId="Equation.3">
                  <p:embed/>
                </p:oleObj>
              </mc:Choice>
              <mc:Fallback>
                <p:oleObj name="公式" r:id="rId5" imgW="3733800" imgH="457200" progId="Equation.3">
                  <p:embed/>
                  <p:pic>
                    <p:nvPicPr>
                      <p:cNvPr id="0" name="Object 8"/>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214438" y="3714750"/>
                        <a:ext cx="5848350" cy="71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2" name="矩形 1"/>
          <p:cNvSpPr/>
          <p:nvPr/>
        </p:nvSpPr>
        <p:spPr>
          <a:xfrm>
            <a:off x="7660124" y="1071047"/>
            <a:ext cx="869149" cy="461665"/>
          </a:xfrm>
          <a:prstGeom prst="rect">
            <a:avLst/>
          </a:prstGeom>
        </p:spPr>
        <p:txBody>
          <a:bodyPr wrap="none">
            <a:spAutoFit/>
          </a:bodyPr>
          <a:lstStyle/>
          <a:p>
            <a:r>
              <a:rPr lang="en-US" altLang="zh-CN" sz="2400" dirty="0"/>
              <a:t>(</a:t>
            </a:r>
            <a:r>
              <a:rPr lang="en-US" altLang="zh-CN" sz="2400" dirty="0" err="1"/>
              <a:t>P54</a:t>
            </a:r>
            <a:r>
              <a:rPr lang="en-US" altLang="zh-CN" sz="2400" dirty="0"/>
              <a:t>)</a:t>
            </a:r>
            <a:endParaRPr lang="zh-CN" altLang="en-US" sz="2400" dirty="0"/>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4" name="标题 1"/>
          <p:cNvSpPr>
            <a:spLocks noGrp="1"/>
          </p:cNvSpPr>
          <p:nvPr>
            <p:ph type="title"/>
          </p:nvPr>
        </p:nvSpPr>
        <p:spPr/>
        <p:txBody>
          <a:bodyPr/>
          <a:lstStyle/>
          <a:p>
            <a:endParaRPr lang="zh-CN" altLang="en-US" smtClean="0"/>
          </a:p>
        </p:txBody>
      </p:sp>
      <p:sp>
        <p:nvSpPr>
          <p:cNvPr id="100355" name="页脚占位符 5"/>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pic>
        <p:nvPicPr>
          <p:cNvPr id="100356"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81000" y="700088"/>
            <a:ext cx="8620125" cy="5086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标题 1"/>
          <p:cNvSpPr>
            <a:spLocks noGrp="1"/>
          </p:cNvSpPr>
          <p:nvPr>
            <p:ph type="title"/>
          </p:nvPr>
        </p:nvSpPr>
        <p:spPr/>
        <p:txBody>
          <a:bodyPr/>
          <a:lstStyle/>
          <a:p>
            <a:endParaRPr lang="zh-CN" altLang="en-US" smtClean="0"/>
          </a:p>
        </p:txBody>
      </p:sp>
      <p:sp>
        <p:nvSpPr>
          <p:cNvPr id="101379" name="页脚占位符 5"/>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pic>
        <p:nvPicPr>
          <p:cNvPr id="101380"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85750" y="2000250"/>
            <a:ext cx="8448675" cy="3476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138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750" y="1428750"/>
            <a:ext cx="8610600" cy="619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页脚占位符 4"/>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102403" name="Rectangle 2"/>
          <p:cNvSpPr>
            <a:spLocks noGrp="1" noChangeArrowheads="1"/>
          </p:cNvSpPr>
          <p:nvPr>
            <p:ph type="title"/>
          </p:nvPr>
        </p:nvSpPr>
        <p:spPr>
          <a:xfrm>
            <a:off x="900113" y="115888"/>
            <a:ext cx="8229600" cy="1139825"/>
          </a:xfrm>
        </p:spPr>
        <p:txBody>
          <a:bodyPr/>
          <a:lstStyle/>
          <a:p>
            <a:pPr eaLnBrk="1" hangingPunct="1"/>
            <a:r>
              <a:rPr lang="en-US" altLang="zh-CN" dirty="0">
                <a:solidFill>
                  <a:srgbClr val="333399"/>
                </a:solidFill>
                <a:latin typeface="华文楷体" panose="02010600040101010101" pitchFamily="2" charset="-122"/>
              </a:rPr>
              <a:t>1.3.8 </a:t>
            </a:r>
            <a:r>
              <a:rPr lang="zh-CN" altLang="en-US" dirty="0">
                <a:solidFill>
                  <a:srgbClr val="333399"/>
                </a:solidFill>
                <a:latin typeface="华文楷体" panose="02010600040101010101" pitchFamily="2" charset="-122"/>
              </a:rPr>
              <a:t>递推</a:t>
            </a:r>
            <a:r>
              <a:rPr lang="zh-CN" altLang="en-US" dirty="0" smtClean="0">
                <a:solidFill>
                  <a:srgbClr val="333399"/>
                </a:solidFill>
                <a:latin typeface="华文楷体" panose="02010600040101010101" pitchFamily="2" charset="-122"/>
              </a:rPr>
              <a:t>关系</a:t>
            </a:r>
            <a:r>
              <a:rPr lang="en-US" altLang="zh-CN" dirty="0" smtClean="0">
                <a:solidFill>
                  <a:srgbClr val="333399"/>
                </a:solidFill>
                <a:latin typeface="华文楷体" panose="02010600040101010101" pitchFamily="2" charset="-122"/>
              </a:rPr>
              <a:t>——</a:t>
            </a:r>
            <a:r>
              <a:rPr lang="zh-CN" altLang="en-US" dirty="0" smtClean="0"/>
              <a:t>分治递推关系的解</a:t>
            </a:r>
            <a:endParaRPr lang="en-US" altLang="zh-CN" sz="2800" dirty="0" smtClean="0"/>
          </a:p>
        </p:txBody>
      </p:sp>
      <p:sp>
        <p:nvSpPr>
          <p:cNvPr id="132099" name="Rectangle 3"/>
          <p:cNvSpPr>
            <a:spLocks noGrp="1" noChangeArrowheads="1"/>
          </p:cNvSpPr>
          <p:nvPr>
            <p:ph type="body" sz="half" idx="1"/>
          </p:nvPr>
        </p:nvSpPr>
        <p:spPr>
          <a:xfrm>
            <a:off x="746125" y="1196975"/>
            <a:ext cx="8218488" cy="4565650"/>
          </a:xfrm>
        </p:spPr>
        <p:txBody>
          <a:bodyPr/>
          <a:lstStyle/>
          <a:p>
            <a:pPr eaLnBrk="1" hangingPunct="1">
              <a:defRPr/>
            </a:pPr>
            <a:r>
              <a:rPr lang="zh-CN" altLang="en-US" dirty="0" smtClean="0">
                <a:solidFill>
                  <a:srgbClr val="EA0000"/>
                </a:solidFill>
              </a:rPr>
              <a:t>递推式</a:t>
            </a:r>
            <a:r>
              <a:rPr lang="en-US" altLang="zh-CN" dirty="0" smtClean="0">
                <a:solidFill>
                  <a:srgbClr val="EA0000"/>
                </a:solidFill>
              </a:rPr>
              <a:t>:</a:t>
            </a:r>
            <a:endParaRPr lang="en-US" altLang="zh-CN" dirty="0" smtClean="0">
              <a:solidFill>
                <a:srgbClr val="EA0000"/>
              </a:solidFill>
            </a:endParaRPr>
          </a:p>
          <a:p>
            <a:pPr eaLnBrk="1" hangingPunct="1">
              <a:defRPr/>
            </a:pPr>
            <a:endParaRPr lang="en-US" altLang="zh-CN" dirty="0" smtClean="0">
              <a:solidFill>
                <a:srgbClr val="EA0000"/>
              </a:solidFill>
            </a:endParaRPr>
          </a:p>
          <a:p>
            <a:pPr eaLnBrk="1" hangingPunct="1">
              <a:defRPr/>
            </a:pPr>
            <a:endParaRPr lang="en-US" altLang="zh-CN" sz="2100" dirty="0" smtClean="0"/>
          </a:p>
          <a:p>
            <a:pPr eaLnBrk="1" hangingPunct="1">
              <a:defRPr/>
            </a:pPr>
            <a:endParaRPr lang="en-US" altLang="zh-CN" sz="2100" dirty="0" smtClean="0"/>
          </a:p>
          <a:p>
            <a:pPr eaLnBrk="1" hangingPunct="1">
              <a:defRPr/>
            </a:pPr>
            <a:endParaRPr lang="en-US" altLang="zh-CN" sz="2100" dirty="0" smtClean="0"/>
          </a:p>
          <a:p>
            <a:pPr eaLnBrk="1" hangingPunct="1">
              <a:defRPr/>
            </a:pPr>
            <a:endParaRPr lang="en-US" altLang="zh-CN" sz="2100" dirty="0" smtClean="0"/>
          </a:p>
          <a:p>
            <a:pPr eaLnBrk="1" hangingPunct="1">
              <a:defRPr/>
            </a:pPr>
            <a:r>
              <a:rPr lang="zh-CN" altLang="en-US" dirty="0" smtClean="0">
                <a:solidFill>
                  <a:srgbClr val="EA0000"/>
                </a:solidFill>
              </a:rPr>
              <a:t>三种求解分治递推式的技术</a:t>
            </a:r>
            <a:r>
              <a:rPr lang="en-US" altLang="zh-CN" dirty="0" smtClean="0">
                <a:solidFill>
                  <a:srgbClr val="EA0000"/>
                </a:solidFill>
              </a:rPr>
              <a:t>:</a:t>
            </a:r>
            <a:endParaRPr lang="en-US" altLang="zh-CN" dirty="0" smtClean="0">
              <a:solidFill>
                <a:srgbClr val="EA0000"/>
              </a:solidFill>
            </a:endParaRPr>
          </a:p>
          <a:p>
            <a:pPr lvl="1" eaLnBrk="1" hangingPunct="1">
              <a:defRPr/>
            </a:pPr>
            <a:r>
              <a:rPr lang="zh-CN" altLang="en-US" sz="2400" dirty="0" smtClean="0">
                <a:solidFill>
                  <a:srgbClr val="660066"/>
                </a:solidFill>
                <a:latin typeface="+mn-ea"/>
                <a:ea typeface="+mn-ea"/>
              </a:rPr>
              <a:t>展开递推式</a:t>
            </a:r>
            <a:endParaRPr lang="en-US" altLang="zh-CN" sz="2400" dirty="0" smtClean="0">
              <a:solidFill>
                <a:srgbClr val="660066"/>
              </a:solidFill>
              <a:latin typeface="+mn-ea"/>
              <a:ea typeface="+mn-ea"/>
            </a:endParaRPr>
          </a:p>
          <a:p>
            <a:pPr lvl="1" eaLnBrk="1" hangingPunct="1">
              <a:defRPr/>
            </a:pPr>
            <a:r>
              <a:rPr lang="zh-CN" altLang="en-US" sz="2400" dirty="0" smtClean="0">
                <a:solidFill>
                  <a:srgbClr val="660066"/>
                </a:solidFill>
                <a:latin typeface="+mn-ea"/>
                <a:ea typeface="+mn-ea"/>
              </a:rPr>
              <a:t>代入法</a:t>
            </a:r>
            <a:endParaRPr lang="en-US" altLang="zh-CN" sz="2400" dirty="0" smtClean="0">
              <a:solidFill>
                <a:srgbClr val="660066"/>
              </a:solidFill>
              <a:latin typeface="+mn-ea"/>
              <a:ea typeface="+mn-ea"/>
            </a:endParaRPr>
          </a:p>
          <a:p>
            <a:pPr lvl="1" eaLnBrk="1" hangingPunct="1">
              <a:defRPr/>
            </a:pPr>
            <a:r>
              <a:rPr lang="zh-CN" altLang="en-US" sz="2400" dirty="0" smtClean="0">
                <a:solidFill>
                  <a:srgbClr val="660066"/>
                </a:solidFill>
                <a:latin typeface="+mn-ea"/>
                <a:ea typeface="+mn-ea"/>
              </a:rPr>
              <a:t>更换变元</a:t>
            </a:r>
            <a:endParaRPr lang="en-US" altLang="zh-CN" sz="2000" dirty="0" smtClean="0">
              <a:solidFill>
                <a:srgbClr val="660066"/>
              </a:solidFill>
              <a:latin typeface="+mn-ea"/>
              <a:ea typeface="+mn-ea"/>
            </a:endParaRPr>
          </a:p>
        </p:txBody>
      </p:sp>
      <p:graphicFrame>
        <p:nvGraphicFramePr>
          <p:cNvPr id="102405" name="Object 4"/>
          <p:cNvGraphicFramePr>
            <a:graphicFrameLocks noGrp="1" noChangeAspect="1"/>
          </p:cNvGraphicFramePr>
          <p:nvPr>
            <p:ph sz="half" idx="2"/>
          </p:nvPr>
        </p:nvGraphicFramePr>
        <p:xfrm>
          <a:off x="560388" y="1773238"/>
          <a:ext cx="8347075" cy="1501775"/>
        </p:xfrm>
        <a:graphic>
          <a:graphicData uri="http://schemas.openxmlformats.org/presentationml/2006/ole">
            <mc:AlternateContent xmlns:mc="http://schemas.openxmlformats.org/markup-compatibility/2006">
              <mc:Choice xmlns:v="urn:schemas-microsoft-com:vml" Requires="v">
                <p:oleObj spid="_x0000_s11286" name="公式" r:id="rId1" imgW="5435600" imgH="977900" progId="Equation.3">
                  <p:embed/>
                </p:oleObj>
              </mc:Choice>
              <mc:Fallback>
                <p:oleObj name="公式" r:id="rId1" imgW="5435600" imgH="977900" progId="Equation.3">
                  <p:embed/>
                  <p:pic>
                    <p:nvPicPr>
                      <p:cNvPr id="0" name="Object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0388" y="1773238"/>
                        <a:ext cx="8347075" cy="150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102406" name="Picture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8625" y="2643188"/>
            <a:ext cx="8477250" cy="714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50" name="页脚占位符 4"/>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104451" name="Rectangle 2"/>
          <p:cNvSpPr>
            <a:spLocks noGrp="1" noChangeArrowheads="1"/>
          </p:cNvSpPr>
          <p:nvPr>
            <p:ph type="title"/>
          </p:nvPr>
        </p:nvSpPr>
        <p:spPr/>
        <p:txBody>
          <a:bodyPr/>
          <a:lstStyle/>
          <a:p>
            <a:pPr eaLnBrk="1" hangingPunct="1"/>
            <a:r>
              <a:rPr lang="en-US" altLang="zh-CN" dirty="0">
                <a:solidFill>
                  <a:srgbClr val="333399"/>
                </a:solidFill>
                <a:latin typeface="华文楷体" panose="02010600040101010101" pitchFamily="2" charset="-122"/>
              </a:rPr>
              <a:t>1.3.8 </a:t>
            </a:r>
            <a:r>
              <a:rPr lang="zh-CN" altLang="en-US" dirty="0">
                <a:solidFill>
                  <a:srgbClr val="333399"/>
                </a:solidFill>
                <a:latin typeface="华文楷体" panose="02010600040101010101" pitchFamily="2" charset="-122"/>
              </a:rPr>
              <a:t>递推关系</a:t>
            </a:r>
            <a:r>
              <a:rPr lang="en-US" altLang="zh-CN" dirty="0" smtClean="0">
                <a:solidFill>
                  <a:srgbClr val="333399"/>
                </a:solidFill>
                <a:latin typeface="华文楷体" panose="02010600040101010101" pitchFamily="2" charset="-122"/>
              </a:rPr>
              <a:t>——</a:t>
            </a:r>
            <a:r>
              <a:rPr lang="zh-CN" altLang="en-US" dirty="0" smtClean="0"/>
              <a:t>展开递推式</a:t>
            </a:r>
            <a:endParaRPr lang="en-US" altLang="zh-CN" dirty="0" smtClean="0"/>
          </a:p>
        </p:txBody>
      </p:sp>
      <p:sp>
        <p:nvSpPr>
          <p:cNvPr id="134147" name="Rectangle 3"/>
          <p:cNvSpPr>
            <a:spLocks noGrp="1" noChangeArrowheads="1"/>
          </p:cNvSpPr>
          <p:nvPr>
            <p:ph type="body" sz="half" idx="1"/>
          </p:nvPr>
        </p:nvSpPr>
        <p:spPr>
          <a:xfrm>
            <a:off x="817563" y="1125538"/>
            <a:ext cx="8218487" cy="4565650"/>
          </a:xfrm>
        </p:spPr>
        <p:txBody>
          <a:bodyPr/>
          <a:lstStyle/>
          <a:p>
            <a:pPr eaLnBrk="1" hangingPunct="1">
              <a:defRPr/>
            </a:pPr>
            <a:r>
              <a:rPr lang="zh-CN" altLang="en-US" sz="2300" dirty="0" smtClean="0"/>
              <a:t>通过显而易见的方式将其反复展开</a:t>
            </a:r>
            <a:endParaRPr lang="en-US" altLang="zh-CN" sz="800" dirty="0" smtClean="0"/>
          </a:p>
          <a:p>
            <a:pPr eaLnBrk="1" hangingPunct="1">
              <a:defRPr/>
            </a:pPr>
            <a:r>
              <a:rPr lang="zh-CN" altLang="en-US" sz="2300" dirty="0" smtClean="0"/>
              <a:t>这种方法，在函数定义的比率不相等的递归式中，很难使用</a:t>
            </a:r>
            <a:endParaRPr lang="en-US" altLang="zh-CN" sz="2300" dirty="0" smtClean="0"/>
          </a:p>
          <a:p>
            <a:pPr eaLnBrk="1" hangingPunct="1">
              <a:defRPr/>
            </a:pPr>
            <a:endParaRPr lang="en-US" altLang="zh-CN" sz="800" dirty="0" smtClean="0"/>
          </a:p>
          <a:p>
            <a:pPr eaLnBrk="1" hangingPunct="1">
              <a:defRPr/>
            </a:pPr>
            <a:r>
              <a:rPr lang="zh-CN" altLang="en-US" sz="2300" dirty="0" smtClean="0">
                <a:solidFill>
                  <a:schemeClr val="tx2"/>
                </a:solidFill>
              </a:rPr>
              <a:t>例</a:t>
            </a:r>
            <a:r>
              <a:rPr lang="en-US" altLang="zh-CN" sz="2300" dirty="0" smtClean="0">
                <a:solidFill>
                  <a:schemeClr val="tx2"/>
                </a:solidFill>
              </a:rPr>
              <a:t> 2.23</a:t>
            </a:r>
            <a:endParaRPr lang="en-US" altLang="zh-CN" sz="2300" dirty="0" smtClean="0">
              <a:solidFill>
                <a:schemeClr val="tx2"/>
              </a:solidFill>
            </a:endParaRPr>
          </a:p>
          <a:p>
            <a:pPr lvl="1" eaLnBrk="1" hangingPunct="1">
              <a:defRPr/>
            </a:pPr>
            <a:r>
              <a:rPr lang="zh-CN" altLang="en-US" sz="2400" dirty="0" smtClean="0">
                <a:latin typeface="+mn-ea"/>
                <a:ea typeface="+mn-ea"/>
              </a:rPr>
              <a:t>考虑递推式</a:t>
            </a:r>
            <a:endParaRPr lang="en-US" altLang="zh-CN" sz="2400" dirty="0" smtClean="0">
              <a:latin typeface="+mn-ea"/>
              <a:ea typeface="+mn-ea"/>
            </a:endParaRPr>
          </a:p>
          <a:p>
            <a:pPr lvl="1" eaLnBrk="1" hangingPunct="1">
              <a:defRPr/>
            </a:pPr>
            <a:endParaRPr lang="en-US" altLang="zh-CN" sz="2400" dirty="0" smtClean="0">
              <a:latin typeface="+mn-ea"/>
              <a:ea typeface="+mn-ea"/>
            </a:endParaRPr>
          </a:p>
          <a:p>
            <a:pPr lvl="1" eaLnBrk="1" hangingPunct="1">
              <a:defRPr/>
            </a:pPr>
            <a:endParaRPr lang="en-US" altLang="zh-CN" sz="2400" dirty="0" smtClean="0">
              <a:latin typeface="+mn-ea"/>
              <a:ea typeface="+mn-ea"/>
            </a:endParaRPr>
          </a:p>
          <a:p>
            <a:pPr lvl="1" eaLnBrk="1" hangingPunct="1">
              <a:buFontTx/>
              <a:buNone/>
              <a:defRPr/>
            </a:pPr>
            <a:r>
              <a:rPr lang="zh-CN" altLang="en-US" sz="2400" dirty="0" smtClean="0">
                <a:latin typeface="+mn-ea"/>
                <a:ea typeface="+mn-ea"/>
              </a:rPr>
              <a:t>这里</a:t>
            </a:r>
            <a:r>
              <a:rPr lang="en-US" altLang="zh-CN" sz="2400" dirty="0" smtClean="0">
                <a:latin typeface="+mn-ea"/>
                <a:ea typeface="+mn-ea"/>
              </a:rPr>
              <a:t>b</a:t>
            </a:r>
            <a:r>
              <a:rPr lang="zh-CN" altLang="en-US" sz="2400" dirty="0" smtClean="0">
                <a:latin typeface="+mn-ea"/>
                <a:ea typeface="+mn-ea"/>
              </a:rPr>
              <a:t>和</a:t>
            </a:r>
            <a:r>
              <a:rPr lang="en-US" altLang="zh-CN" sz="2400" dirty="0" smtClean="0">
                <a:latin typeface="+mn-ea"/>
                <a:ea typeface="+mn-ea"/>
              </a:rPr>
              <a:t>d</a:t>
            </a:r>
            <a:r>
              <a:rPr lang="zh-CN" altLang="en-US" sz="2400" dirty="0" smtClean="0">
                <a:latin typeface="+mn-ea"/>
                <a:ea typeface="+mn-ea"/>
              </a:rPr>
              <a:t>是非负常数，</a:t>
            </a:r>
            <a:r>
              <a:rPr lang="en-US" altLang="zh-CN" sz="2400" dirty="0" smtClean="0">
                <a:latin typeface="+mn-ea"/>
                <a:ea typeface="+mn-ea"/>
              </a:rPr>
              <a:t>n</a:t>
            </a:r>
            <a:r>
              <a:rPr lang="zh-CN" altLang="en-US" sz="2400" dirty="0" smtClean="0">
                <a:latin typeface="+mn-ea"/>
                <a:ea typeface="+mn-ea"/>
              </a:rPr>
              <a:t>是</a:t>
            </a:r>
            <a:r>
              <a:rPr lang="en-US" altLang="zh-CN" sz="2400" dirty="0" smtClean="0">
                <a:latin typeface="+mn-ea"/>
                <a:ea typeface="+mn-ea"/>
              </a:rPr>
              <a:t>2</a:t>
            </a:r>
            <a:r>
              <a:rPr lang="zh-CN" altLang="en-US" sz="2400" dirty="0" smtClean="0">
                <a:latin typeface="+mn-ea"/>
                <a:ea typeface="+mn-ea"/>
              </a:rPr>
              <a:t>的幂。</a:t>
            </a:r>
            <a:endParaRPr lang="en-US" altLang="zh-CN" sz="2400" dirty="0" smtClean="0">
              <a:latin typeface="+mn-ea"/>
              <a:ea typeface="+mn-ea"/>
            </a:endParaRPr>
          </a:p>
          <a:p>
            <a:pPr lvl="1" eaLnBrk="1" hangingPunct="1">
              <a:buFontTx/>
              <a:buNone/>
              <a:defRPr/>
            </a:pPr>
            <a:r>
              <a:rPr lang="zh-CN" altLang="en-US" sz="2400" dirty="0" smtClean="0">
                <a:latin typeface="+mn-ea"/>
                <a:ea typeface="+mn-ea"/>
              </a:rPr>
              <a:t>见</a:t>
            </a:r>
            <a:r>
              <a:rPr lang="en-US" altLang="zh-CN" sz="2400" dirty="0" smtClean="0">
                <a:latin typeface="+mn-ea"/>
                <a:ea typeface="+mn-ea"/>
              </a:rPr>
              <a:t>p56.</a:t>
            </a:r>
            <a:endParaRPr lang="en-US" altLang="zh-CN" sz="2400" dirty="0" smtClean="0">
              <a:latin typeface="+mn-ea"/>
              <a:ea typeface="+mn-ea"/>
            </a:endParaRPr>
          </a:p>
        </p:txBody>
      </p:sp>
      <p:graphicFrame>
        <p:nvGraphicFramePr>
          <p:cNvPr id="104453" name="Object 4"/>
          <p:cNvGraphicFramePr>
            <a:graphicFrameLocks noGrp="1" noChangeAspect="1"/>
          </p:cNvGraphicFramePr>
          <p:nvPr>
            <p:ph sz="half" idx="2"/>
          </p:nvPr>
        </p:nvGraphicFramePr>
        <p:xfrm>
          <a:off x="2071688" y="3071813"/>
          <a:ext cx="3779837" cy="803275"/>
        </p:xfrm>
        <a:graphic>
          <a:graphicData uri="http://schemas.openxmlformats.org/presentationml/2006/ole">
            <mc:AlternateContent xmlns:mc="http://schemas.openxmlformats.org/markup-compatibility/2006">
              <mc:Choice xmlns:v="urn:schemas-microsoft-com:vml" Requires="v">
                <p:oleObj spid="_x0000_s12310" name="公式" r:id="rId1" imgW="2336800" imgH="469900" progId="Equation.3">
                  <p:embed/>
                </p:oleObj>
              </mc:Choice>
              <mc:Fallback>
                <p:oleObj name="公式" r:id="rId1" imgW="2336800" imgH="469900" progId="Equation.3">
                  <p:embed/>
                  <p:pic>
                    <p:nvPicPr>
                      <p:cNvPr id="0" name="Object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71688" y="3071813"/>
                        <a:ext cx="3779837" cy="803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104454" name="Picture 7" descr="example"/>
          <p:cNvPicPr>
            <a:picLocks noChangeAspect="1" noChangeArrowheads="1" noCrop="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27088" y="2636838"/>
            <a:ext cx="3429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页脚占位符 4"/>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106499" name="Rectangle 2"/>
          <p:cNvSpPr>
            <a:spLocks noGrp="1" noChangeArrowheads="1"/>
          </p:cNvSpPr>
          <p:nvPr>
            <p:ph type="title"/>
          </p:nvPr>
        </p:nvSpPr>
        <p:spPr/>
        <p:txBody>
          <a:bodyPr/>
          <a:lstStyle/>
          <a:p>
            <a:pPr eaLnBrk="1" hangingPunct="1"/>
            <a:r>
              <a:rPr lang="en-US" altLang="zh-CN" dirty="0">
                <a:solidFill>
                  <a:srgbClr val="333399"/>
                </a:solidFill>
                <a:latin typeface="华文楷体" panose="02010600040101010101" pitchFamily="2" charset="-122"/>
              </a:rPr>
              <a:t>1.3.8 </a:t>
            </a:r>
            <a:r>
              <a:rPr lang="zh-CN" altLang="en-US" dirty="0">
                <a:solidFill>
                  <a:srgbClr val="333399"/>
                </a:solidFill>
                <a:latin typeface="华文楷体" panose="02010600040101010101" pitchFamily="2" charset="-122"/>
              </a:rPr>
              <a:t>递推关系</a:t>
            </a:r>
            <a:r>
              <a:rPr lang="en-US" altLang="zh-CN" dirty="0">
                <a:solidFill>
                  <a:srgbClr val="333399"/>
                </a:solidFill>
                <a:latin typeface="华文楷体" panose="02010600040101010101" pitchFamily="2" charset="-122"/>
              </a:rPr>
              <a:t>——</a:t>
            </a:r>
            <a:r>
              <a:rPr lang="zh-CN" altLang="en-US" dirty="0"/>
              <a:t>展开递推式</a:t>
            </a:r>
            <a:endParaRPr lang="en-US" altLang="zh-CN" dirty="0" smtClean="0"/>
          </a:p>
        </p:txBody>
      </p:sp>
      <p:sp>
        <p:nvSpPr>
          <p:cNvPr id="135171" name="Rectangle 3"/>
          <p:cNvSpPr>
            <a:spLocks noGrp="1" noChangeArrowheads="1"/>
          </p:cNvSpPr>
          <p:nvPr>
            <p:ph type="body" sz="half" idx="1"/>
          </p:nvPr>
        </p:nvSpPr>
        <p:spPr>
          <a:xfrm>
            <a:off x="890588" y="1196975"/>
            <a:ext cx="8218487" cy="4565650"/>
          </a:xfrm>
        </p:spPr>
        <p:txBody>
          <a:bodyPr/>
          <a:lstStyle/>
          <a:p>
            <a:pPr eaLnBrk="1" hangingPunct="1">
              <a:buFontTx/>
              <a:buNone/>
              <a:defRPr/>
            </a:pPr>
            <a:r>
              <a:rPr lang="en-US" altLang="zh-CN" sz="2300" dirty="0" smtClean="0"/>
              <a:t>       </a:t>
            </a:r>
            <a:r>
              <a:rPr lang="zh-CN" altLang="en-US" sz="2300" dirty="0" smtClean="0"/>
              <a:t>定理</a:t>
            </a:r>
            <a:r>
              <a:rPr lang="en-US" altLang="zh-CN" dirty="0" smtClean="0"/>
              <a:t> 2.4</a:t>
            </a:r>
            <a:endParaRPr lang="en-US" altLang="zh-CN" dirty="0" smtClean="0"/>
          </a:p>
          <a:p>
            <a:pPr lvl="1" eaLnBrk="1" hangingPunct="1">
              <a:buFontTx/>
              <a:buNone/>
              <a:defRPr/>
            </a:pPr>
            <a:r>
              <a:rPr lang="en-US" altLang="zh-CN" sz="900" dirty="0" smtClean="0"/>
              <a:t>         </a:t>
            </a:r>
            <a:endParaRPr lang="en-US" altLang="zh-CN" sz="900" dirty="0" smtClean="0"/>
          </a:p>
          <a:p>
            <a:pPr lvl="1" eaLnBrk="1" hangingPunct="1">
              <a:defRPr/>
            </a:pPr>
            <a:r>
              <a:rPr lang="zh-CN" altLang="en-US" sz="2400" dirty="0" smtClean="0">
                <a:latin typeface="+mn-ea"/>
                <a:ea typeface="+mn-ea"/>
              </a:rPr>
              <a:t>设</a:t>
            </a:r>
            <a:r>
              <a:rPr lang="en-US" altLang="zh-CN" sz="2400" dirty="0" smtClean="0">
                <a:latin typeface="+mn-ea"/>
                <a:ea typeface="+mn-ea"/>
              </a:rPr>
              <a:t> b </a:t>
            </a:r>
            <a:r>
              <a:rPr lang="zh-CN" altLang="en-US" sz="2400" dirty="0" smtClean="0">
                <a:latin typeface="+mn-ea"/>
                <a:ea typeface="+mn-ea"/>
              </a:rPr>
              <a:t>和</a:t>
            </a:r>
            <a:r>
              <a:rPr lang="en-US" altLang="zh-CN" sz="2400" dirty="0" smtClean="0">
                <a:latin typeface="+mn-ea"/>
                <a:ea typeface="+mn-ea"/>
              </a:rPr>
              <a:t> d </a:t>
            </a:r>
            <a:r>
              <a:rPr lang="zh-CN" altLang="en-US" sz="2400" dirty="0" smtClean="0">
                <a:latin typeface="+mn-ea"/>
                <a:ea typeface="+mn-ea"/>
              </a:rPr>
              <a:t>是非负常数，</a:t>
            </a:r>
            <a:r>
              <a:rPr lang="en-US" altLang="zh-CN" sz="2400" dirty="0" smtClean="0">
                <a:latin typeface="+mn-ea"/>
                <a:ea typeface="+mn-ea"/>
              </a:rPr>
              <a:t>n</a:t>
            </a:r>
            <a:r>
              <a:rPr lang="zh-CN" altLang="en-US" sz="2400" dirty="0" smtClean="0">
                <a:latin typeface="+mn-ea"/>
                <a:ea typeface="+mn-ea"/>
              </a:rPr>
              <a:t>是</a:t>
            </a:r>
            <a:r>
              <a:rPr lang="en-US" altLang="zh-CN" sz="2400" dirty="0" smtClean="0">
                <a:latin typeface="+mn-ea"/>
                <a:ea typeface="+mn-ea"/>
              </a:rPr>
              <a:t>2</a:t>
            </a:r>
            <a:r>
              <a:rPr lang="zh-CN" altLang="en-US" sz="2400" dirty="0" smtClean="0">
                <a:latin typeface="+mn-ea"/>
                <a:ea typeface="+mn-ea"/>
              </a:rPr>
              <a:t>的幂，那么下面的递推式</a:t>
            </a:r>
            <a:endParaRPr lang="en-US" altLang="zh-CN" sz="2400" dirty="0" smtClean="0">
              <a:latin typeface="+mn-ea"/>
              <a:ea typeface="+mn-ea"/>
            </a:endParaRPr>
          </a:p>
          <a:p>
            <a:pPr eaLnBrk="1" hangingPunct="1">
              <a:buFontTx/>
              <a:buNone/>
              <a:defRPr/>
            </a:pPr>
            <a:endParaRPr lang="en-US" altLang="zh-CN" sz="1800" dirty="0" smtClean="0">
              <a:latin typeface="+mn-ea"/>
              <a:sym typeface="Symbol" panose="05050102010706020507" pitchFamily="18" charset="2"/>
            </a:endParaRPr>
          </a:p>
          <a:p>
            <a:pPr eaLnBrk="1" hangingPunct="1">
              <a:buFontTx/>
              <a:buNone/>
              <a:defRPr/>
            </a:pPr>
            <a:endParaRPr lang="en-US" altLang="zh-CN" sz="2300" dirty="0" smtClean="0">
              <a:latin typeface="+mn-ea"/>
              <a:sym typeface="Symbol" panose="05050102010706020507" pitchFamily="18" charset="2"/>
            </a:endParaRPr>
          </a:p>
          <a:p>
            <a:pPr lvl="1" eaLnBrk="1" hangingPunct="1">
              <a:buFontTx/>
              <a:buNone/>
              <a:defRPr/>
            </a:pPr>
            <a:r>
              <a:rPr lang="en-US" altLang="zh-CN" sz="2400" dirty="0" smtClean="0">
                <a:latin typeface="+mn-ea"/>
                <a:ea typeface="+mn-ea"/>
                <a:sym typeface="Symbol" panose="05050102010706020507" pitchFamily="18" charset="2"/>
              </a:rPr>
              <a:t>  </a:t>
            </a:r>
            <a:endParaRPr lang="en-US" altLang="zh-CN" sz="2400" dirty="0" smtClean="0">
              <a:latin typeface="+mn-ea"/>
              <a:ea typeface="+mn-ea"/>
              <a:sym typeface="Symbol" panose="05050102010706020507" pitchFamily="18" charset="2"/>
            </a:endParaRPr>
          </a:p>
          <a:p>
            <a:pPr lvl="1" eaLnBrk="1" hangingPunct="1">
              <a:buFontTx/>
              <a:buNone/>
              <a:defRPr/>
            </a:pPr>
            <a:r>
              <a:rPr lang="en-US" altLang="zh-CN" sz="2400" dirty="0" smtClean="0">
                <a:latin typeface="+mn-ea"/>
                <a:ea typeface="+mn-ea"/>
                <a:sym typeface="Symbol" panose="05050102010706020507" pitchFamily="18" charset="2"/>
              </a:rPr>
              <a:t> </a:t>
            </a:r>
            <a:r>
              <a:rPr lang="zh-CN" altLang="en-US" sz="2400" dirty="0" smtClean="0">
                <a:latin typeface="+mn-ea"/>
                <a:ea typeface="+mn-ea"/>
                <a:sym typeface="Symbol" panose="05050102010706020507" pitchFamily="18" charset="2"/>
              </a:rPr>
              <a:t>的解是</a:t>
            </a:r>
            <a:r>
              <a:rPr lang="en-US" altLang="zh-CN" sz="2000" dirty="0" smtClean="0">
                <a:latin typeface="+mn-ea"/>
                <a:ea typeface="+mn-ea"/>
                <a:sym typeface="Symbol" panose="05050102010706020507" pitchFamily="18" charset="2"/>
              </a:rPr>
              <a:t>               </a:t>
            </a:r>
            <a:endParaRPr lang="en-US" altLang="zh-CN" sz="2000" dirty="0" smtClean="0">
              <a:latin typeface="+mn-ea"/>
              <a:ea typeface="+mn-ea"/>
              <a:sym typeface="Symbol" panose="05050102010706020507" pitchFamily="18" charset="2"/>
            </a:endParaRPr>
          </a:p>
        </p:txBody>
      </p:sp>
      <p:graphicFrame>
        <p:nvGraphicFramePr>
          <p:cNvPr id="106501" name="Object 11"/>
          <p:cNvGraphicFramePr>
            <a:graphicFrameLocks noGrp="1" noChangeAspect="1"/>
          </p:cNvGraphicFramePr>
          <p:nvPr>
            <p:ph sz="half" idx="2"/>
          </p:nvPr>
        </p:nvGraphicFramePr>
        <p:xfrm>
          <a:off x="2268538" y="3789363"/>
          <a:ext cx="2324100" cy="465137"/>
        </p:xfrm>
        <a:graphic>
          <a:graphicData uri="http://schemas.openxmlformats.org/presentationml/2006/ole">
            <mc:AlternateContent xmlns:mc="http://schemas.openxmlformats.org/markup-compatibility/2006">
              <mc:Choice xmlns:v="urn:schemas-microsoft-com:vml" Requires="v">
                <p:oleObj spid="_x0000_s13354" name="公式" r:id="rId1" imgW="1206500" imgH="228600" progId="Equation.3">
                  <p:embed/>
                </p:oleObj>
              </mc:Choice>
              <mc:Fallback>
                <p:oleObj name="公式" r:id="rId1" imgW="1206500" imgH="228600" progId="Equation.3">
                  <p:embed/>
                  <p:pic>
                    <p:nvPicPr>
                      <p:cNvPr id="0" name="Object 1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68538" y="3789363"/>
                        <a:ext cx="2324100" cy="465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06502" name="Object 13"/>
          <p:cNvGraphicFramePr>
            <a:graphicFrameLocks noGrp="1" noChangeAspect="1"/>
          </p:cNvGraphicFramePr>
          <p:nvPr>
            <p:ph sz="quarter" idx="4294967295"/>
          </p:nvPr>
        </p:nvGraphicFramePr>
        <p:xfrm>
          <a:off x="2484438" y="2781300"/>
          <a:ext cx="4222750" cy="696913"/>
        </p:xfrm>
        <a:graphic>
          <a:graphicData uri="http://schemas.openxmlformats.org/presentationml/2006/ole">
            <mc:AlternateContent xmlns:mc="http://schemas.openxmlformats.org/markup-compatibility/2006">
              <mc:Choice xmlns:v="urn:schemas-microsoft-com:vml" Requires="v">
                <p:oleObj spid="_x0000_s13355" name="公式" r:id="rId3" imgW="1625600" imgH="254000" progId="Equation.3">
                  <p:embed/>
                </p:oleObj>
              </mc:Choice>
              <mc:Fallback>
                <p:oleObj name="公式" r:id="rId3" imgW="1625600" imgH="254000" progId="Equation.3">
                  <p:embed/>
                  <p:pic>
                    <p:nvPicPr>
                      <p:cNvPr id="0" name="Object 1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84438" y="2781300"/>
                        <a:ext cx="4222750" cy="696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106503" name="Picture 16" descr="theorem"/>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00113" y="1268413"/>
            <a:ext cx="533400"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Picture 7"/>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85813" y="981075"/>
            <a:ext cx="7886700" cy="5876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4" fill="hold" nodeType="clickEffect">
                                  <p:stCondLst>
                                    <p:cond delay="0"/>
                                  </p:stCondLst>
                                  <p:childTnLst>
                                    <p:anim calcmode="lin" valueType="num">
                                      <p:cBhvr additive="base">
                                        <p:cTn id="6" dur="500"/>
                                        <p:tgtEl>
                                          <p:spTgt spid="8"/>
                                        </p:tgtEl>
                                        <p:attrNameLst>
                                          <p:attrName>ppt_x</p:attrName>
                                        </p:attrNameLst>
                                      </p:cBhvr>
                                      <p:tavLst>
                                        <p:tav tm="0">
                                          <p:val>
                                            <p:strVal val="ppt_x"/>
                                          </p:val>
                                        </p:tav>
                                        <p:tav tm="100000">
                                          <p:val>
                                            <p:strVal val="ppt_x"/>
                                          </p:val>
                                        </p:tav>
                                      </p:tavLst>
                                    </p:anim>
                                    <p:anim calcmode="lin" valueType="num">
                                      <p:cBhvr additive="base">
                                        <p:cTn id="7" dur="500"/>
                                        <p:tgtEl>
                                          <p:spTgt spid="8"/>
                                        </p:tgtEl>
                                        <p:attrNameLst>
                                          <p:attrName>ppt_y</p:attrName>
                                        </p:attrNameLst>
                                      </p:cBhvr>
                                      <p:tavLst>
                                        <p:tav tm="0">
                                          <p:val>
                                            <p:strVal val="ppt_y"/>
                                          </p:val>
                                        </p:tav>
                                        <p:tav tm="100000">
                                          <p:val>
                                            <p:strVal val="1+ppt_h/2"/>
                                          </p:val>
                                        </p:tav>
                                      </p:tavLst>
                                    </p:anim>
                                    <p:set>
                                      <p:cBhvr>
                                        <p:cTn id="8" dur="1" fill="hold">
                                          <p:stCondLst>
                                            <p:cond delay="499"/>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页脚占位符 5"/>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108547" name="Rectangle 2"/>
          <p:cNvSpPr>
            <a:spLocks noGrp="1" noChangeArrowheads="1"/>
          </p:cNvSpPr>
          <p:nvPr>
            <p:ph type="title"/>
          </p:nvPr>
        </p:nvSpPr>
        <p:spPr/>
        <p:txBody>
          <a:bodyPr/>
          <a:lstStyle/>
          <a:p>
            <a:pPr eaLnBrk="1" hangingPunct="1"/>
            <a:r>
              <a:rPr lang="en-US" altLang="zh-CN" dirty="0">
                <a:solidFill>
                  <a:srgbClr val="333399"/>
                </a:solidFill>
                <a:latin typeface="华文楷体" panose="02010600040101010101" pitchFamily="2" charset="-122"/>
              </a:rPr>
              <a:t>1.3.8 </a:t>
            </a:r>
            <a:r>
              <a:rPr lang="zh-CN" altLang="en-US" dirty="0">
                <a:solidFill>
                  <a:srgbClr val="333399"/>
                </a:solidFill>
                <a:latin typeface="华文楷体" panose="02010600040101010101" pitchFamily="2" charset="-122"/>
              </a:rPr>
              <a:t>递推关系</a:t>
            </a:r>
            <a:r>
              <a:rPr lang="en-US" altLang="zh-CN" dirty="0">
                <a:solidFill>
                  <a:srgbClr val="333399"/>
                </a:solidFill>
                <a:latin typeface="华文楷体" panose="02010600040101010101" pitchFamily="2" charset="-122"/>
              </a:rPr>
              <a:t>——</a:t>
            </a:r>
            <a:r>
              <a:rPr lang="zh-CN" altLang="en-US" dirty="0"/>
              <a:t>展开递推式</a:t>
            </a:r>
            <a:endParaRPr lang="en-US" altLang="zh-CN" dirty="0" smtClean="0"/>
          </a:p>
        </p:txBody>
      </p:sp>
      <p:sp>
        <p:nvSpPr>
          <p:cNvPr id="11270" name="Rectangle 3"/>
          <p:cNvSpPr>
            <a:spLocks noGrp="1" noChangeArrowheads="1"/>
          </p:cNvSpPr>
          <p:nvPr>
            <p:ph type="body" sz="half" idx="1"/>
          </p:nvPr>
        </p:nvSpPr>
        <p:spPr>
          <a:xfrm>
            <a:off x="746125" y="1168400"/>
            <a:ext cx="8218488" cy="4565650"/>
          </a:xfrm>
        </p:spPr>
        <p:txBody>
          <a:bodyPr/>
          <a:lstStyle/>
          <a:p>
            <a:pPr eaLnBrk="1" hangingPunct="1">
              <a:defRPr/>
            </a:pPr>
            <a:r>
              <a:rPr lang="zh-CN" altLang="en-US" dirty="0" smtClean="0"/>
              <a:t>引理</a:t>
            </a:r>
            <a:r>
              <a:rPr lang="en-US" altLang="zh-CN" dirty="0" smtClean="0"/>
              <a:t> 2.1</a:t>
            </a:r>
            <a:endParaRPr lang="en-US" altLang="zh-CN" dirty="0" smtClean="0"/>
          </a:p>
          <a:p>
            <a:pPr lvl="1" eaLnBrk="1" hangingPunct="1">
              <a:defRPr/>
            </a:pPr>
            <a:r>
              <a:rPr lang="zh-CN" altLang="en-US" sz="2400" dirty="0" smtClean="0">
                <a:latin typeface="+mn-ea"/>
                <a:ea typeface="+mn-ea"/>
              </a:rPr>
              <a:t>设</a:t>
            </a:r>
            <a:r>
              <a:rPr lang="en-US" altLang="zh-CN" sz="2400" dirty="0" smtClean="0">
                <a:latin typeface="+mn-ea"/>
                <a:ea typeface="+mn-ea"/>
              </a:rPr>
              <a:t>a</a:t>
            </a:r>
            <a:r>
              <a:rPr lang="zh-CN" altLang="en-US" sz="2400" dirty="0" smtClean="0">
                <a:latin typeface="+mn-ea"/>
                <a:ea typeface="+mn-ea"/>
              </a:rPr>
              <a:t>和</a:t>
            </a:r>
            <a:r>
              <a:rPr lang="en-US" altLang="zh-CN" sz="2400" dirty="0" smtClean="0">
                <a:latin typeface="+mn-ea"/>
                <a:ea typeface="+mn-ea"/>
              </a:rPr>
              <a:t>c</a:t>
            </a:r>
            <a:r>
              <a:rPr lang="zh-CN" altLang="en-US" sz="2400" dirty="0" smtClean="0">
                <a:latin typeface="+mn-ea"/>
                <a:ea typeface="+mn-ea"/>
              </a:rPr>
              <a:t>是非负整数，</a:t>
            </a:r>
            <a:r>
              <a:rPr lang="en-US" altLang="zh-CN" sz="2400" dirty="0" err="1" smtClean="0">
                <a:latin typeface="+mn-ea"/>
                <a:ea typeface="+mn-ea"/>
              </a:rPr>
              <a:t>b,d,x</a:t>
            </a:r>
            <a:r>
              <a:rPr lang="zh-CN" altLang="en-US" sz="2400" dirty="0" smtClean="0">
                <a:latin typeface="+mn-ea"/>
                <a:ea typeface="+mn-ea"/>
              </a:rPr>
              <a:t>是非负常数，并且对于某个非负整数</a:t>
            </a:r>
            <a:r>
              <a:rPr lang="en-US" altLang="zh-CN" sz="2400" dirty="0" smtClean="0">
                <a:latin typeface="+mn-ea"/>
                <a:ea typeface="+mn-ea"/>
              </a:rPr>
              <a:t>k</a:t>
            </a:r>
            <a:r>
              <a:rPr lang="zh-CN" altLang="en-US" sz="2400" dirty="0" smtClean="0">
                <a:latin typeface="+mn-ea"/>
                <a:ea typeface="+mn-ea"/>
              </a:rPr>
              <a:t>，令</a:t>
            </a:r>
            <a:r>
              <a:rPr lang="en-US" altLang="zh-CN" sz="2400" dirty="0" smtClean="0">
                <a:latin typeface="+mn-ea"/>
                <a:ea typeface="+mn-ea"/>
              </a:rPr>
              <a:t>n=c</a:t>
            </a:r>
            <a:r>
              <a:rPr lang="en-US" altLang="zh-CN" sz="2400" baseline="30000" dirty="0" smtClean="0">
                <a:latin typeface="+mn-ea"/>
                <a:ea typeface="+mn-ea"/>
              </a:rPr>
              <a:t>k</a:t>
            </a:r>
            <a:r>
              <a:rPr lang="en-US" altLang="zh-CN" sz="2400" dirty="0" smtClean="0">
                <a:latin typeface="+mn-ea"/>
                <a:ea typeface="+mn-ea"/>
              </a:rPr>
              <a:t>, </a:t>
            </a:r>
            <a:r>
              <a:rPr lang="zh-CN" altLang="en-US" sz="2400" dirty="0" smtClean="0">
                <a:latin typeface="+mn-ea"/>
                <a:ea typeface="+mn-ea"/>
              </a:rPr>
              <a:t>那么，下面递推式</a:t>
            </a:r>
            <a:endParaRPr lang="en-US" altLang="zh-CN" sz="2400" dirty="0" smtClean="0">
              <a:latin typeface="+mn-ea"/>
              <a:ea typeface="+mn-ea"/>
            </a:endParaRPr>
          </a:p>
          <a:p>
            <a:pPr eaLnBrk="1" hangingPunct="1">
              <a:buFontTx/>
              <a:buNone/>
              <a:defRPr/>
            </a:pPr>
            <a:r>
              <a:rPr lang="en-US" altLang="zh-CN" sz="1800" dirty="0" smtClean="0">
                <a:latin typeface="+mn-ea"/>
              </a:rPr>
              <a:t>                   </a:t>
            </a:r>
            <a:r>
              <a:rPr lang="en-US" altLang="zh-CN" sz="1800" i="1" dirty="0" smtClean="0">
                <a:latin typeface="+mn-ea"/>
                <a:sym typeface="Symbol" panose="05050102010706020507" pitchFamily="18" charset="2"/>
              </a:rPr>
              <a:t>    </a:t>
            </a:r>
            <a:endParaRPr lang="en-US" altLang="zh-CN" sz="1800" i="1" dirty="0" smtClean="0">
              <a:latin typeface="+mn-ea"/>
              <a:sym typeface="Symbol" panose="05050102010706020507" pitchFamily="18" charset="2"/>
            </a:endParaRPr>
          </a:p>
          <a:p>
            <a:pPr eaLnBrk="1" hangingPunct="1">
              <a:buFontTx/>
              <a:buNone/>
              <a:defRPr/>
            </a:pPr>
            <a:endParaRPr lang="en-US" altLang="zh-CN" sz="1800" dirty="0" smtClean="0">
              <a:latin typeface="+mn-ea"/>
              <a:sym typeface="Symbol" panose="05050102010706020507" pitchFamily="18" charset="2"/>
            </a:endParaRPr>
          </a:p>
          <a:p>
            <a:pPr lvl="1" eaLnBrk="1" hangingPunct="1">
              <a:buFontTx/>
              <a:buNone/>
              <a:defRPr/>
            </a:pPr>
            <a:r>
              <a:rPr lang="en-US" altLang="zh-CN" sz="2400" dirty="0" smtClean="0">
                <a:latin typeface="+mn-ea"/>
                <a:ea typeface="+mn-ea"/>
                <a:sym typeface="Symbol" panose="05050102010706020507" pitchFamily="18" charset="2"/>
              </a:rPr>
              <a:t>    </a:t>
            </a:r>
            <a:endParaRPr lang="en-US" altLang="zh-CN" sz="2400" dirty="0" smtClean="0">
              <a:latin typeface="+mn-ea"/>
              <a:ea typeface="+mn-ea"/>
              <a:sym typeface="Symbol" panose="05050102010706020507" pitchFamily="18" charset="2"/>
            </a:endParaRPr>
          </a:p>
          <a:p>
            <a:pPr lvl="1" eaLnBrk="1" hangingPunct="1">
              <a:buFontTx/>
              <a:buNone/>
              <a:defRPr/>
            </a:pPr>
            <a:r>
              <a:rPr lang="en-US" altLang="zh-CN" sz="2400" dirty="0" smtClean="0">
                <a:latin typeface="+mn-ea"/>
                <a:ea typeface="+mn-ea"/>
                <a:sym typeface="Symbol" panose="05050102010706020507" pitchFamily="18" charset="2"/>
              </a:rPr>
              <a:t>     </a:t>
            </a:r>
            <a:r>
              <a:rPr lang="zh-CN" altLang="en-US" sz="2400" dirty="0" smtClean="0">
                <a:latin typeface="+mn-ea"/>
                <a:ea typeface="+mn-ea"/>
                <a:sym typeface="Symbol" panose="05050102010706020507" pitchFamily="18" charset="2"/>
              </a:rPr>
              <a:t>的解是</a:t>
            </a:r>
            <a:r>
              <a:rPr lang="en-US" altLang="zh-CN" sz="2400" dirty="0" smtClean="0">
                <a:latin typeface="+mn-ea"/>
                <a:ea typeface="+mn-ea"/>
                <a:sym typeface="Symbol" panose="05050102010706020507" pitchFamily="18" charset="2"/>
              </a:rPr>
              <a:t> </a:t>
            </a:r>
            <a:endParaRPr lang="en-US" altLang="zh-CN" sz="2400" dirty="0" smtClean="0">
              <a:latin typeface="+mn-ea"/>
              <a:ea typeface="+mn-ea"/>
              <a:sym typeface="Symbol" panose="05050102010706020507" pitchFamily="18" charset="2"/>
            </a:endParaRPr>
          </a:p>
          <a:p>
            <a:pPr eaLnBrk="1" hangingPunct="1">
              <a:buFontTx/>
              <a:buNone/>
              <a:defRPr/>
            </a:pPr>
            <a:r>
              <a:rPr lang="en-US" altLang="zh-CN" sz="2100" dirty="0" smtClean="0">
                <a:sym typeface="Symbol" panose="05050102010706020507" pitchFamily="18" charset="2"/>
              </a:rPr>
              <a:t>                                                                 </a:t>
            </a:r>
            <a:endParaRPr lang="en-US" altLang="zh-CN" sz="2100" i="1" dirty="0" smtClean="0">
              <a:latin typeface="Garamond" pitchFamily="18" charset="0"/>
              <a:sym typeface="Symbol" panose="05050102010706020507" pitchFamily="18" charset="2"/>
            </a:endParaRPr>
          </a:p>
        </p:txBody>
      </p:sp>
      <p:graphicFrame>
        <p:nvGraphicFramePr>
          <p:cNvPr id="108549" name="Object 5"/>
          <p:cNvGraphicFramePr>
            <a:graphicFrameLocks noGrp="1" noChangeAspect="1"/>
          </p:cNvGraphicFramePr>
          <p:nvPr>
            <p:ph sz="quarter" idx="2"/>
          </p:nvPr>
        </p:nvGraphicFramePr>
        <p:xfrm>
          <a:off x="1763713" y="4292600"/>
          <a:ext cx="5570537" cy="1374775"/>
        </p:xfrm>
        <a:graphic>
          <a:graphicData uri="http://schemas.openxmlformats.org/presentationml/2006/ole">
            <mc:AlternateContent xmlns:mc="http://schemas.openxmlformats.org/markup-compatibility/2006">
              <mc:Choice xmlns:v="urn:schemas-microsoft-com:vml" Requires="v">
                <p:oleObj spid="_x0000_s14378" name="公式" r:id="rId1" imgW="3263900" imgH="762000" progId="Equation.3">
                  <p:embed/>
                </p:oleObj>
              </mc:Choice>
              <mc:Fallback>
                <p:oleObj name="公式" r:id="rId1" imgW="3263900" imgH="762000" progId="Equation.3">
                  <p:embed/>
                  <p:pic>
                    <p:nvPicPr>
                      <p:cNvPr id="0" name="Object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63713" y="4292600"/>
                        <a:ext cx="5570537" cy="137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08550" name="Object 10"/>
          <p:cNvGraphicFramePr>
            <a:graphicFrameLocks noGrp="1" noChangeAspect="1"/>
          </p:cNvGraphicFramePr>
          <p:nvPr>
            <p:ph sz="quarter" idx="3"/>
          </p:nvPr>
        </p:nvGraphicFramePr>
        <p:xfrm>
          <a:off x="2071688" y="2571750"/>
          <a:ext cx="4495800" cy="969963"/>
        </p:xfrm>
        <a:graphic>
          <a:graphicData uri="http://schemas.openxmlformats.org/presentationml/2006/ole">
            <mc:AlternateContent xmlns:mc="http://schemas.openxmlformats.org/markup-compatibility/2006">
              <mc:Choice xmlns:v="urn:schemas-microsoft-com:vml" Requires="v">
                <p:oleObj spid="_x0000_s14379" name="Equation" r:id="rId3" imgW="1397000" imgH="279400" progId="Equation.3">
                  <p:embed/>
                </p:oleObj>
              </mc:Choice>
              <mc:Fallback>
                <p:oleObj name="Equation" r:id="rId3" imgW="1397000" imgH="279400" progId="Equation.3">
                  <p:embed/>
                  <p:pic>
                    <p:nvPicPr>
                      <p:cNvPr id="0" name="Object 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71688" y="2571750"/>
                        <a:ext cx="4495800" cy="969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108551" name="Picture 13" descr="lemma"/>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27088" y="1270000"/>
            <a:ext cx="358775" cy="358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4" name="页脚占位符 5"/>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110595" name="Rectangle 2"/>
          <p:cNvSpPr>
            <a:spLocks noGrp="1" noChangeArrowheads="1"/>
          </p:cNvSpPr>
          <p:nvPr>
            <p:ph type="title"/>
          </p:nvPr>
        </p:nvSpPr>
        <p:spPr/>
        <p:txBody>
          <a:bodyPr/>
          <a:lstStyle/>
          <a:p>
            <a:pPr eaLnBrk="1" hangingPunct="1"/>
            <a:r>
              <a:rPr lang="en-US" altLang="zh-CN" dirty="0">
                <a:solidFill>
                  <a:srgbClr val="333399"/>
                </a:solidFill>
                <a:latin typeface="华文楷体" panose="02010600040101010101" pitchFamily="2" charset="-122"/>
              </a:rPr>
              <a:t>1.3.8 </a:t>
            </a:r>
            <a:r>
              <a:rPr lang="zh-CN" altLang="en-US" dirty="0">
                <a:solidFill>
                  <a:srgbClr val="333399"/>
                </a:solidFill>
                <a:latin typeface="华文楷体" panose="02010600040101010101" pitchFamily="2" charset="-122"/>
              </a:rPr>
              <a:t>递推关系</a:t>
            </a:r>
            <a:r>
              <a:rPr lang="en-US" altLang="zh-CN" dirty="0">
                <a:solidFill>
                  <a:srgbClr val="333399"/>
                </a:solidFill>
                <a:latin typeface="华文楷体" panose="02010600040101010101" pitchFamily="2" charset="-122"/>
              </a:rPr>
              <a:t>——</a:t>
            </a:r>
            <a:r>
              <a:rPr lang="zh-CN" altLang="en-US" dirty="0"/>
              <a:t>展开递推式</a:t>
            </a:r>
            <a:endParaRPr lang="en-US" altLang="zh-CN" dirty="0" smtClean="0"/>
          </a:p>
        </p:txBody>
      </p:sp>
      <p:sp>
        <p:nvSpPr>
          <p:cNvPr id="12294" name="Rectangle 3"/>
          <p:cNvSpPr>
            <a:spLocks noGrp="1" noChangeArrowheads="1"/>
          </p:cNvSpPr>
          <p:nvPr>
            <p:ph type="body" sz="half" idx="1"/>
          </p:nvPr>
        </p:nvSpPr>
        <p:spPr>
          <a:xfrm>
            <a:off x="890588" y="1239838"/>
            <a:ext cx="8218487" cy="4565650"/>
          </a:xfrm>
        </p:spPr>
        <p:txBody>
          <a:bodyPr/>
          <a:lstStyle/>
          <a:p>
            <a:pPr eaLnBrk="1" hangingPunct="1">
              <a:defRPr/>
            </a:pPr>
            <a:r>
              <a:rPr lang="zh-CN" altLang="en-US" dirty="0" smtClean="0"/>
              <a:t>推论</a:t>
            </a:r>
            <a:r>
              <a:rPr lang="en-US" altLang="zh-CN" dirty="0" smtClean="0"/>
              <a:t> 2.1</a:t>
            </a:r>
            <a:endParaRPr lang="en-US" altLang="zh-CN" dirty="0" smtClean="0"/>
          </a:p>
          <a:p>
            <a:pPr lvl="1" eaLnBrk="1" hangingPunct="1">
              <a:defRPr/>
            </a:pPr>
            <a:r>
              <a:rPr lang="zh-CN" altLang="en-US" sz="2400" dirty="0" smtClean="0">
                <a:latin typeface="+mn-ea"/>
                <a:ea typeface="+mn-ea"/>
              </a:rPr>
              <a:t>设</a:t>
            </a:r>
            <a:r>
              <a:rPr lang="en-US" altLang="zh-CN" sz="2400" dirty="0" smtClean="0">
                <a:latin typeface="+mn-ea"/>
                <a:ea typeface="+mn-ea"/>
              </a:rPr>
              <a:t>a</a:t>
            </a:r>
            <a:r>
              <a:rPr lang="zh-CN" altLang="en-US" sz="2400" dirty="0" smtClean="0">
                <a:latin typeface="+mn-ea"/>
                <a:ea typeface="+mn-ea"/>
              </a:rPr>
              <a:t>和</a:t>
            </a:r>
            <a:r>
              <a:rPr lang="en-US" altLang="zh-CN" sz="2400" dirty="0" smtClean="0">
                <a:latin typeface="+mn-ea"/>
                <a:ea typeface="+mn-ea"/>
              </a:rPr>
              <a:t>c</a:t>
            </a:r>
            <a:r>
              <a:rPr lang="zh-CN" altLang="en-US" sz="2400" dirty="0" smtClean="0">
                <a:latin typeface="+mn-ea"/>
                <a:ea typeface="+mn-ea"/>
              </a:rPr>
              <a:t>是非负整数，</a:t>
            </a:r>
            <a:r>
              <a:rPr lang="en-US" altLang="zh-CN" sz="2400" dirty="0" err="1" smtClean="0">
                <a:latin typeface="+mn-ea"/>
                <a:ea typeface="+mn-ea"/>
              </a:rPr>
              <a:t>b,d,x</a:t>
            </a:r>
            <a:r>
              <a:rPr lang="zh-CN" altLang="en-US" sz="2400" dirty="0" smtClean="0">
                <a:latin typeface="+mn-ea"/>
                <a:ea typeface="+mn-ea"/>
              </a:rPr>
              <a:t>是非负常数，并且对于某个非负整数</a:t>
            </a:r>
            <a:r>
              <a:rPr lang="en-US" altLang="zh-CN" sz="2400" dirty="0" smtClean="0">
                <a:latin typeface="+mn-ea"/>
                <a:ea typeface="+mn-ea"/>
              </a:rPr>
              <a:t>k</a:t>
            </a:r>
            <a:r>
              <a:rPr lang="zh-CN" altLang="en-US" sz="2400" dirty="0" smtClean="0">
                <a:latin typeface="+mn-ea"/>
                <a:ea typeface="+mn-ea"/>
              </a:rPr>
              <a:t>，令</a:t>
            </a:r>
            <a:r>
              <a:rPr lang="en-US" altLang="zh-CN" sz="2400" dirty="0" smtClean="0">
                <a:latin typeface="+mn-ea"/>
                <a:ea typeface="+mn-ea"/>
              </a:rPr>
              <a:t>n=c</a:t>
            </a:r>
            <a:r>
              <a:rPr lang="en-US" altLang="zh-CN" sz="2400" baseline="30000" dirty="0" smtClean="0">
                <a:latin typeface="+mn-ea"/>
                <a:ea typeface="+mn-ea"/>
              </a:rPr>
              <a:t>k</a:t>
            </a:r>
            <a:r>
              <a:rPr lang="en-US" altLang="zh-CN" sz="2400" dirty="0" smtClean="0">
                <a:latin typeface="+mn-ea"/>
                <a:ea typeface="+mn-ea"/>
              </a:rPr>
              <a:t>, </a:t>
            </a:r>
            <a:r>
              <a:rPr lang="zh-CN" altLang="en-US" sz="2400" dirty="0" smtClean="0">
                <a:latin typeface="+mn-ea"/>
                <a:ea typeface="+mn-ea"/>
              </a:rPr>
              <a:t>那么，下面递推式</a:t>
            </a:r>
            <a:endParaRPr lang="en-US" altLang="zh-CN" sz="2400" dirty="0" smtClean="0">
              <a:latin typeface="+mn-ea"/>
              <a:ea typeface="+mn-ea"/>
            </a:endParaRPr>
          </a:p>
          <a:p>
            <a:pPr eaLnBrk="1" hangingPunct="1">
              <a:buFontTx/>
              <a:buNone/>
              <a:defRPr/>
            </a:pPr>
            <a:r>
              <a:rPr lang="en-US" altLang="zh-CN" sz="1800" dirty="0" smtClean="0"/>
              <a:t>                  </a:t>
            </a:r>
            <a:endParaRPr lang="en-US" altLang="zh-CN" sz="1800" dirty="0" smtClean="0"/>
          </a:p>
          <a:p>
            <a:pPr eaLnBrk="1" hangingPunct="1">
              <a:buFontTx/>
              <a:buNone/>
              <a:defRPr/>
            </a:pPr>
            <a:endParaRPr lang="en-US" altLang="zh-CN" sz="1800" dirty="0" smtClean="0"/>
          </a:p>
          <a:p>
            <a:pPr eaLnBrk="1" hangingPunct="1">
              <a:buFontTx/>
              <a:buNone/>
              <a:defRPr/>
            </a:pPr>
            <a:endParaRPr lang="en-US" altLang="zh-CN" sz="1800" dirty="0" smtClean="0"/>
          </a:p>
          <a:p>
            <a:pPr eaLnBrk="1" hangingPunct="1">
              <a:buFontTx/>
              <a:buNone/>
              <a:defRPr/>
            </a:pPr>
            <a:r>
              <a:rPr lang="en-US" altLang="zh-CN" sz="2100" dirty="0" smtClean="0">
                <a:solidFill>
                  <a:srgbClr val="EA0000"/>
                </a:solidFill>
              </a:rPr>
              <a:t>     </a:t>
            </a:r>
            <a:r>
              <a:rPr lang="zh-CN" altLang="en-US" sz="2100" dirty="0" smtClean="0">
                <a:solidFill>
                  <a:srgbClr val="EA0000"/>
                </a:solidFill>
              </a:rPr>
              <a:t>的解满足</a:t>
            </a:r>
            <a:endParaRPr lang="en-US" altLang="zh-CN" sz="2100" dirty="0" smtClean="0">
              <a:solidFill>
                <a:srgbClr val="EA0000"/>
              </a:solidFill>
            </a:endParaRPr>
          </a:p>
          <a:p>
            <a:pPr eaLnBrk="1" hangingPunct="1">
              <a:buFontTx/>
              <a:buNone/>
              <a:defRPr/>
            </a:pPr>
            <a:r>
              <a:rPr lang="en-US" altLang="zh-CN" sz="1800" dirty="0" smtClean="0"/>
              <a:t>                                                                      </a:t>
            </a:r>
            <a:endParaRPr lang="en-US" altLang="zh-CN" sz="1800" dirty="0" smtClean="0"/>
          </a:p>
        </p:txBody>
      </p:sp>
      <p:graphicFrame>
        <p:nvGraphicFramePr>
          <p:cNvPr id="110597" name="Object 5"/>
          <p:cNvGraphicFramePr>
            <a:graphicFrameLocks noGrp="1" noChangeAspect="1"/>
          </p:cNvGraphicFramePr>
          <p:nvPr>
            <p:ph sz="quarter" idx="2"/>
          </p:nvPr>
        </p:nvGraphicFramePr>
        <p:xfrm>
          <a:off x="2484438" y="3860800"/>
          <a:ext cx="4319587" cy="1724025"/>
        </p:xfrm>
        <a:graphic>
          <a:graphicData uri="http://schemas.openxmlformats.org/presentationml/2006/ole">
            <mc:AlternateContent xmlns:mc="http://schemas.openxmlformats.org/markup-compatibility/2006">
              <mc:Choice xmlns:v="urn:schemas-microsoft-com:vml" Requires="v">
                <p:oleObj spid="_x0000_s15402" name="公式" r:id="rId1" imgW="2768600" imgH="1104900" progId="Equation.3">
                  <p:embed/>
                </p:oleObj>
              </mc:Choice>
              <mc:Fallback>
                <p:oleObj name="公式" r:id="rId1" imgW="2768600" imgH="1104900" progId="Equation.3">
                  <p:embed/>
                  <p:pic>
                    <p:nvPicPr>
                      <p:cNvPr id="0" name="Object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4438" y="3860800"/>
                        <a:ext cx="4319587" cy="1724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10598" name="Object 7"/>
          <p:cNvGraphicFramePr>
            <a:graphicFrameLocks noGrp="1" noChangeAspect="1"/>
          </p:cNvGraphicFramePr>
          <p:nvPr>
            <p:ph sz="quarter" idx="3"/>
          </p:nvPr>
        </p:nvGraphicFramePr>
        <p:xfrm>
          <a:off x="2136775" y="2960688"/>
          <a:ext cx="3106738" cy="592137"/>
        </p:xfrm>
        <a:graphic>
          <a:graphicData uri="http://schemas.openxmlformats.org/presentationml/2006/ole">
            <mc:AlternateContent xmlns:mc="http://schemas.openxmlformats.org/markup-compatibility/2006">
              <mc:Choice xmlns:v="urn:schemas-microsoft-com:vml" Requires="v">
                <p:oleObj spid="_x0000_s15403" name="公式" r:id="rId3" imgW="1549400" imgH="279400" progId="Equation.3">
                  <p:embed/>
                </p:oleObj>
              </mc:Choice>
              <mc:Fallback>
                <p:oleObj name="公式" r:id="rId3" imgW="1549400" imgH="279400" progId="Equation.3">
                  <p:embed/>
                  <p:pic>
                    <p:nvPicPr>
                      <p:cNvPr id="0" name="Object 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36775" y="2960688"/>
                        <a:ext cx="3106738" cy="592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110599" name="Picture 9" descr="crollary"/>
          <p:cNvPicPr>
            <a:picLocks noChangeAspect="1" noChangeArrowheads="1" noCrop="1"/>
          </p:cNvPicPr>
          <p:nvPr/>
        </p:nvPicPr>
        <p:blipFill>
          <a:blip r:embed="rId5">
            <a:extLst>
              <a:ext uri="{28A0092B-C50C-407E-A947-70E740481C1C}">
                <a14:useLocalDpi xmlns:a14="http://schemas.microsoft.com/office/drawing/2010/main" val="0"/>
              </a:ext>
            </a:extLst>
          </a:blip>
          <a:srcRect/>
          <a:stretch>
            <a:fillRect/>
          </a:stretch>
        </p:blipFill>
        <p:spPr bwMode="auto">
          <a:xfrm flipH="1">
            <a:off x="900113" y="1268413"/>
            <a:ext cx="373062" cy="433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页脚占位符 5"/>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112643" name="Rectangle 2"/>
          <p:cNvSpPr>
            <a:spLocks noGrp="1" noChangeArrowheads="1"/>
          </p:cNvSpPr>
          <p:nvPr>
            <p:ph type="title"/>
          </p:nvPr>
        </p:nvSpPr>
        <p:spPr/>
        <p:txBody>
          <a:bodyPr/>
          <a:lstStyle/>
          <a:p>
            <a:pPr eaLnBrk="1" hangingPunct="1"/>
            <a:r>
              <a:rPr lang="en-US" altLang="zh-CN" dirty="0">
                <a:solidFill>
                  <a:srgbClr val="333399"/>
                </a:solidFill>
                <a:latin typeface="华文楷体" panose="02010600040101010101" pitchFamily="2" charset="-122"/>
              </a:rPr>
              <a:t>1.3.8 </a:t>
            </a:r>
            <a:r>
              <a:rPr lang="zh-CN" altLang="en-US" dirty="0">
                <a:solidFill>
                  <a:srgbClr val="333399"/>
                </a:solidFill>
                <a:latin typeface="华文楷体" panose="02010600040101010101" pitchFamily="2" charset="-122"/>
              </a:rPr>
              <a:t>递推关系</a:t>
            </a:r>
            <a:r>
              <a:rPr lang="en-US" altLang="zh-CN" dirty="0">
                <a:solidFill>
                  <a:srgbClr val="333399"/>
                </a:solidFill>
                <a:latin typeface="华文楷体" panose="02010600040101010101" pitchFamily="2" charset="-122"/>
              </a:rPr>
              <a:t>——</a:t>
            </a:r>
            <a:r>
              <a:rPr lang="zh-CN" altLang="en-US" dirty="0"/>
              <a:t>展开递推式</a:t>
            </a:r>
            <a:endParaRPr lang="en-US" altLang="zh-CN" dirty="0" smtClean="0"/>
          </a:p>
        </p:txBody>
      </p:sp>
      <p:sp>
        <p:nvSpPr>
          <p:cNvPr id="13318" name="Rectangle 3"/>
          <p:cNvSpPr>
            <a:spLocks noGrp="1" noChangeArrowheads="1"/>
          </p:cNvSpPr>
          <p:nvPr>
            <p:ph type="body" sz="half" idx="1"/>
          </p:nvPr>
        </p:nvSpPr>
        <p:spPr>
          <a:xfrm>
            <a:off x="890588" y="1239838"/>
            <a:ext cx="8218487" cy="4565650"/>
          </a:xfrm>
        </p:spPr>
        <p:txBody>
          <a:bodyPr/>
          <a:lstStyle/>
          <a:p>
            <a:pPr eaLnBrk="1" hangingPunct="1">
              <a:defRPr/>
            </a:pPr>
            <a:r>
              <a:rPr lang="zh-CN" altLang="en-US" dirty="0" smtClean="0"/>
              <a:t>推论</a:t>
            </a:r>
            <a:r>
              <a:rPr lang="en-US" altLang="zh-CN" dirty="0" smtClean="0"/>
              <a:t>2.2</a:t>
            </a:r>
            <a:endParaRPr lang="en-US" altLang="zh-CN" dirty="0" smtClean="0"/>
          </a:p>
          <a:p>
            <a:pPr lvl="1" eaLnBrk="1" hangingPunct="1">
              <a:defRPr/>
            </a:pPr>
            <a:r>
              <a:rPr lang="zh-CN" altLang="en-US" sz="2400" dirty="0" smtClean="0">
                <a:latin typeface="+mn-ea"/>
                <a:ea typeface="+mn-ea"/>
              </a:rPr>
              <a:t>设</a:t>
            </a:r>
            <a:r>
              <a:rPr lang="en-US" altLang="zh-CN" sz="2400" dirty="0" smtClean="0">
                <a:latin typeface="+mn-ea"/>
                <a:ea typeface="+mn-ea"/>
              </a:rPr>
              <a:t>a</a:t>
            </a:r>
            <a:r>
              <a:rPr lang="zh-CN" altLang="en-US" sz="2400" dirty="0" smtClean="0">
                <a:latin typeface="+mn-ea"/>
                <a:ea typeface="+mn-ea"/>
              </a:rPr>
              <a:t>和</a:t>
            </a:r>
            <a:r>
              <a:rPr lang="en-US" altLang="zh-CN" sz="2400" dirty="0" smtClean="0">
                <a:latin typeface="+mn-ea"/>
                <a:ea typeface="+mn-ea"/>
              </a:rPr>
              <a:t>c</a:t>
            </a:r>
            <a:r>
              <a:rPr lang="zh-CN" altLang="en-US" sz="2400" dirty="0" smtClean="0">
                <a:latin typeface="+mn-ea"/>
                <a:ea typeface="+mn-ea"/>
              </a:rPr>
              <a:t>是非负整数，</a:t>
            </a:r>
            <a:r>
              <a:rPr lang="en-US" altLang="zh-CN" sz="2400" dirty="0" err="1" smtClean="0">
                <a:latin typeface="+mn-ea"/>
                <a:ea typeface="+mn-ea"/>
              </a:rPr>
              <a:t>b,d,x</a:t>
            </a:r>
            <a:r>
              <a:rPr lang="zh-CN" altLang="en-US" sz="2400" dirty="0" smtClean="0">
                <a:latin typeface="+mn-ea"/>
                <a:ea typeface="+mn-ea"/>
              </a:rPr>
              <a:t>是非负常数，并且对于某个非负整数</a:t>
            </a:r>
            <a:r>
              <a:rPr lang="en-US" altLang="zh-CN" sz="2400" dirty="0" smtClean="0">
                <a:latin typeface="+mn-ea"/>
                <a:ea typeface="+mn-ea"/>
              </a:rPr>
              <a:t>k</a:t>
            </a:r>
            <a:r>
              <a:rPr lang="zh-CN" altLang="en-US" sz="2400" dirty="0" smtClean="0">
                <a:latin typeface="+mn-ea"/>
                <a:ea typeface="+mn-ea"/>
              </a:rPr>
              <a:t>，令</a:t>
            </a:r>
            <a:r>
              <a:rPr lang="en-US" altLang="zh-CN" sz="2400" dirty="0" smtClean="0">
                <a:latin typeface="+mn-ea"/>
                <a:ea typeface="+mn-ea"/>
              </a:rPr>
              <a:t>n=c</a:t>
            </a:r>
            <a:r>
              <a:rPr lang="en-US" altLang="zh-CN" sz="2400" baseline="30000" dirty="0" smtClean="0">
                <a:latin typeface="+mn-ea"/>
                <a:ea typeface="+mn-ea"/>
              </a:rPr>
              <a:t>k</a:t>
            </a:r>
            <a:r>
              <a:rPr lang="en-US" altLang="zh-CN" sz="2400" dirty="0" smtClean="0">
                <a:latin typeface="+mn-ea"/>
                <a:ea typeface="+mn-ea"/>
              </a:rPr>
              <a:t>, </a:t>
            </a:r>
            <a:r>
              <a:rPr lang="zh-CN" altLang="en-US" sz="2400" dirty="0" smtClean="0">
                <a:latin typeface="+mn-ea"/>
                <a:ea typeface="+mn-ea"/>
              </a:rPr>
              <a:t>那么，下面递推式</a:t>
            </a:r>
            <a:endParaRPr lang="en-US" altLang="zh-CN" sz="2400" dirty="0" smtClean="0">
              <a:latin typeface="+mn-ea"/>
              <a:ea typeface="+mn-ea"/>
              <a:sym typeface="Symbol" panose="05050102010706020507" pitchFamily="18" charset="2"/>
            </a:endParaRPr>
          </a:p>
          <a:p>
            <a:pPr eaLnBrk="1" hangingPunct="1">
              <a:buFontTx/>
              <a:buNone/>
              <a:defRPr/>
            </a:pPr>
            <a:endParaRPr lang="en-US" altLang="zh-CN" sz="1800" dirty="0" smtClean="0">
              <a:sym typeface="Symbol" panose="05050102010706020507" pitchFamily="18" charset="2"/>
            </a:endParaRPr>
          </a:p>
          <a:p>
            <a:pPr eaLnBrk="1" hangingPunct="1">
              <a:buFontTx/>
              <a:buNone/>
              <a:defRPr/>
            </a:pPr>
            <a:endParaRPr lang="en-US" altLang="zh-CN" sz="1800" dirty="0" smtClean="0">
              <a:sym typeface="Symbol" panose="05050102010706020507" pitchFamily="18" charset="2"/>
            </a:endParaRPr>
          </a:p>
          <a:p>
            <a:pPr eaLnBrk="1" hangingPunct="1">
              <a:buFontTx/>
              <a:buNone/>
              <a:defRPr/>
            </a:pPr>
            <a:r>
              <a:rPr lang="en-US" altLang="zh-CN" sz="1800" dirty="0" smtClean="0">
                <a:sym typeface="Symbol" panose="05050102010706020507" pitchFamily="18" charset="2"/>
              </a:rPr>
              <a:t>         </a:t>
            </a:r>
            <a:endParaRPr lang="en-US" altLang="zh-CN" sz="1800" dirty="0" smtClean="0">
              <a:sym typeface="Symbol" panose="05050102010706020507" pitchFamily="18" charset="2"/>
            </a:endParaRPr>
          </a:p>
          <a:p>
            <a:pPr eaLnBrk="1" hangingPunct="1">
              <a:buFontTx/>
              <a:buNone/>
              <a:defRPr/>
            </a:pPr>
            <a:r>
              <a:rPr lang="en-US" altLang="zh-CN" sz="2100" dirty="0" smtClean="0">
                <a:solidFill>
                  <a:srgbClr val="EA0000"/>
                </a:solidFill>
                <a:sym typeface="Symbol" panose="05050102010706020507" pitchFamily="18" charset="2"/>
              </a:rPr>
              <a:t>           </a:t>
            </a:r>
            <a:r>
              <a:rPr lang="zh-CN" altLang="en-US" sz="2100" dirty="0" smtClean="0">
                <a:solidFill>
                  <a:srgbClr val="EA0000"/>
                </a:solidFill>
                <a:sym typeface="Symbol" panose="05050102010706020507" pitchFamily="18" charset="2"/>
              </a:rPr>
              <a:t>的解是</a:t>
            </a:r>
            <a:endParaRPr lang="en-US" altLang="zh-CN" sz="2100" dirty="0" smtClean="0">
              <a:solidFill>
                <a:srgbClr val="EA0000"/>
              </a:solidFill>
              <a:latin typeface="Garamond" pitchFamily="18" charset="0"/>
              <a:sym typeface="Symbol" panose="05050102010706020507" pitchFamily="18" charset="2"/>
            </a:endParaRPr>
          </a:p>
          <a:p>
            <a:pPr eaLnBrk="1" hangingPunct="1">
              <a:buFontTx/>
              <a:buNone/>
              <a:defRPr/>
            </a:pPr>
            <a:endParaRPr lang="en-US" altLang="zh-CN" sz="2100" dirty="0" smtClean="0">
              <a:solidFill>
                <a:srgbClr val="EA0000"/>
              </a:solidFill>
              <a:latin typeface="Garamond" pitchFamily="18" charset="0"/>
              <a:sym typeface="Symbol" panose="05050102010706020507" pitchFamily="18" charset="2"/>
            </a:endParaRPr>
          </a:p>
          <a:p>
            <a:pPr eaLnBrk="1" hangingPunct="1">
              <a:buFontTx/>
              <a:buNone/>
              <a:defRPr/>
            </a:pPr>
            <a:endParaRPr lang="en-US" altLang="zh-CN" sz="2100" dirty="0" smtClean="0">
              <a:solidFill>
                <a:srgbClr val="EA0000"/>
              </a:solidFill>
            </a:endParaRPr>
          </a:p>
        </p:txBody>
      </p:sp>
      <p:graphicFrame>
        <p:nvGraphicFramePr>
          <p:cNvPr id="112645" name="Object 5"/>
          <p:cNvGraphicFramePr>
            <a:graphicFrameLocks noGrp="1" noChangeAspect="1"/>
          </p:cNvGraphicFramePr>
          <p:nvPr>
            <p:ph sz="quarter" idx="2"/>
          </p:nvPr>
        </p:nvGraphicFramePr>
        <p:xfrm>
          <a:off x="2555875" y="4149725"/>
          <a:ext cx="4565650" cy="965200"/>
        </p:xfrm>
        <a:graphic>
          <a:graphicData uri="http://schemas.openxmlformats.org/presentationml/2006/ole">
            <mc:AlternateContent xmlns:mc="http://schemas.openxmlformats.org/markup-compatibility/2006">
              <mc:Choice xmlns:v="urn:schemas-microsoft-com:vml" Requires="v">
                <p:oleObj spid="_x0000_s16426" name="公式" r:id="rId1" imgW="3175000" imgH="635000" progId="Equation.3">
                  <p:embed/>
                </p:oleObj>
              </mc:Choice>
              <mc:Fallback>
                <p:oleObj name="公式" r:id="rId1" imgW="3175000" imgH="635000" progId="Equation.3">
                  <p:embed/>
                  <p:pic>
                    <p:nvPicPr>
                      <p:cNvPr id="0" name="Object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55875" y="4149725"/>
                        <a:ext cx="4565650" cy="965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12646" name="Object 10"/>
          <p:cNvGraphicFramePr>
            <a:graphicFrameLocks noGrp="1" noChangeAspect="1"/>
          </p:cNvGraphicFramePr>
          <p:nvPr>
            <p:ph sz="quarter" idx="3"/>
          </p:nvPr>
        </p:nvGraphicFramePr>
        <p:xfrm>
          <a:off x="2627313" y="3003550"/>
          <a:ext cx="3359150" cy="627063"/>
        </p:xfrm>
        <a:graphic>
          <a:graphicData uri="http://schemas.openxmlformats.org/presentationml/2006/ole">
            <mc:AlternateContent xmlns:mc="http://schemas.openxmlformats.org/markup-compatibility/2006">
              <mc:Choice xmlns:v="urn:schemas-microsoft-com:vml" Requires="v">
                <p:oleObj spid="_x0000_s16427" name="Equation" r:id="rId3" imgW="1498600" imgH="279400" progId="Equation.3">
                  <p:embed/>
                </p:oleObj>
              </mc:Choice>
              <mc:Fallback>
                <p:oleObj name="Equation" r:id="rId3" imgW="1498600" imgH="279400" progId="Equation.3">
                  <p:embed/>
                  <p:pic>
                    <p:nvPicPr>
                      <p:cNvPr id="0" name="Object 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627313" y="3003550"/>
                        <a:ext cx="3359150" cy="627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112647" name="Picture 12" descr="crollary"/>
          <p:cNvPicPr>
            <a:picLocks noChangeAspect="1" noChangeArrowheads="1" noCrop="1"/>
          </p:cNvPicPr>
          <p:nvPr/>
        </p:nvPicPr>
        <p:blipFill>
          <a:blip r:embed="rId5">
            <a:extLst>
              <a:ext uri="{28A0092B-C50C-407E-A947-70E740481C1C}">
                <a14:useLocalDpi xmlns:a14="http://schemas.microsoft.com/office/drawing/2010/main" val="0"/>
              </a:ext>
            </a:extLst>
          </a:blip>
          <a:srcRect/>
          <a:stretch>
            <a:fillRect/>
          </a:stretch>
        </p:blipFill>
        <p:spPr bwMode="auto">
          <a:xfrm flipH="1">
            <a:off x="900113" y="1268413"/>
            <a:ext cx="373062" cy="433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690" name="页脚占位符 5"/>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114691" name="Rectangle 2"/>
          <p:cNvSpPr>
            <a:spLocks noGrp="1" noChangeArrowheads="1"/>
          </p:cNvSpPr>
          <p:nvPr>
            <p:ph type="title"/>
          </p:nvPr>
        </p:nvSpPr>
        <p:spPr/>
        <p:txBody>
          <a:bodyPr/>
          <a:lstStyle/>
          <a:p>
            <a:pPr eaLnBrk="1" hangingPunct="1"/>
            <a:r>
              <a:rPr lang="en-US" altLang="zh-CN" dirty="0">
                <a:solidFill>
                  <a:srgbClr val="333399"/>
                </a:solidFill>
                <a:latin typeface="华文楷体" panose="02010600040101010101" pitchFamily="2" charset="-122"/>
              </a:rPr>
              <a:t>1.3.8 </a:t>
            </a:r>
            <a:r>
              <a:rPr lang="zh-CN" altLang="en-US" dirty="0">
                <a:solidFill>
                  <a:srgbClr val="333399"/>
                </a:solidFill>
                <a:latin typeface="华文楷体" panose="02010600040101010101" pitchFamily="2" charset="-122"/>
              </a:rPr>
              <a:t>递推关系</a:t>
            </a:r>
            <a:r>
              <a:rPr lang="en-US" altLang="zh-CN" dirty="0">
                <a:solidFill>
                  <a:srgbClr val="333399"/>
                </a:solidFill>
                <a:latin typeface="华文楷体" panose="02010600040101010101" pitchFamily="2" charset="-122"/>
              </a:rPr>
              <a:t>——</a:t>
            </a:r>
            <a:r>
              <a:rPr lang="zh-CN" altLang="en-US" dirty="0"/>
              <a:t>展开递推式</a:t>
            </a:r>
            <a:endParaRPr lang="en-US" altLang="zh-CN" dirty="0" smtClean="0"/>
          </a:p>
        </p:txBody>
      </p:sp>
      <p:sp>
        <p:nvSpPr>
          <p:cNvPr id="14343" name="Rectangle 3"/>
          <p:cNvSpPr>
            <a:spLocks noGrp="1" noChangeArrowheads="1"/>
          </p:cNvSpPr>
          <p:nvPr>
            <p:ph type="body" sz="half" idx="1"/>
          </p:nvPr>
        </p:nvSpPr>
        <p:spPr>
          <a:xfrm>
            <a:off x="889000" y="1196975"/>
            <a:ext cx="8291513" cy="4897438"/>
          </a:xfrm>
        </p:spPr>
        <p:txBody>
          <a:bodyPr/>
          <a:lstStyle/>
          <a:p>
            <a:pPr eaLnBrk="1" hangingPunct="1">
              <a:buFontTx/>
              <a:buNone/>
              <a:defRPr/>
            </a:pPr>
            <a:r>
              <a:rPr lang="en-US" altLang="zh-CN" dirty="0" smtClean="0"/>
              <a:t>       </a:t>
            </a:r>
            <a:r>
              <a:rPr lang="zh-CN" altLang="en-US" dirty="0" smtClean="0"/>
              <a:t>定理</a:t>
            </a:r>
            <a:r>
              <a:rPr lang="en-US" altLang="zh-CN" dirty="0" smtClean="0"/>
              <a:t> 2.5</a:t>
            </a:r>
            <a:endParaRPr lang="en-US" altLang="zh-CN" dirty="0" smtClean="0"/>
          </a:p>
          <a:p>
            <a:pPr lvl="1" eaLnBrk="1" hangingPunct="1">
              <a:defRPr/>
            </a:pPr>
            <a:r>
              <a:rPr lang="zh-CN" altLang="en-US" sz="2400" dirty="0" smtClean="0">
                <a:latin typeface="+mn-ea"/>
                <a:ea typeface="+mn-ea"/>
              </a:rPr>
              <a:t>设</a:t>
            </a:r>
            <a:r>
              <a:rPr lang="en-US" altLang="zh-CN" sz="2400" dirty="0" smtClean="0">
                <a:latin typeface="+mn-ea"/>
                <a:ea typeface="+mn-ea"/>
              </a:rPr>
              <a:t>a</a:t>
            </a:r>
            <a:r>
              <a:rPr lang="zh-CN" altLang="en-US" sz="2400" dirty="0" smtClean="0">
                <a:latin typeface="+mn-ea"/>
                <a:ea typeface="+mn-ea"/>
              </a:rPr>
              <a:t>和</a:t>
            </a:r>
            <a:r>
              <a:rPr lang="en-US" altLang="zh-CN" sz="2400" dirty="0" smtClean="0">
                <a:latin typeface="+mn-ea"/>
                <a:ea typeface="+mn-ea"/>
              </a:rPr>
              <a:t>c</a:t>
            </a:r>
            <a:r>
              <a:rPr lang="zh-CN" altLang="en-US" sz="2400" dirty="0" smtClean="0">
                <a:latin typeface="+mn-ea"/>
                <a:ea typeface="+mn-ea"/>
              </a:rPr>
              <a:t>是非负整数，</a:t>
            </a:r>
            <a:r>
              <a:rPr lang="en-US" altLang="zh-CN" sz="2400" dirty="0" err="1" smtClean="0">
                <a:latin typeface="+mn-ea"/>
                <a:ea typeface="+mn-ea"/>
              </a:rPr>
              <a:t>b,d,x</a:t>
            </a:r>
            <a:r>
              <a:rPr lang="zh-CN" altLang="en-US" sz="2400" dirty="0" smtClean="0">
                <a:latin typeface="+mn-ea"/>
                <a:ea typeface="+mn-ea"/>
              </a:rPr>
              <a:t>是非负常数，并且对于某个非负整数</a:t>
            </a:r>
            <a:r>
              <a:rPr lang="en-US" altLang="zh-CN" sz="2400" dirty="0" smtClean="0">
                <a:latin typeface="+mn-ea"/>
                <a:ea typeface="+mn-ea"/>
              </a:rPr>
              <a:t>k</a:t>
            </a:r>
            <a:r>
              <a:rPr lang="zh-CN" altLang="en-US" sz="2400" dirty="0" smtClean="0">
                <a:latin typeface="+mn-ea"/>
                <a:ea typeface="+mn-ea"/>
              </a:rPr>
              <a:t>，令</a:t>
            </a:r>
            <a:r>
              <a:rPr lang="en-US" altLang="zh-CN" sz="2400" dirty="0" smtClean="0">
                <a:latin typeface="+mn-ea"/>
                <a:ea typeface="+mn-ea"/>
              </a:rPr>
              <a:t>n=c</a:t>
            </a:r>
            <a:r>
              <a:rPr lang="en-US" altLang="zh-CN" sz="2400" baseline="30000" dirty="0" smtClean="0">
                <a:latin typeface="+mn-ea"/>
                <a:ea typeface="+mn-ea"/>
              </a:rPr>
              <a:t>k</a:t>
            </a:r>
            <a:r>
              <a:rPr lang="en-US" altLang="zh-CN" sz="2400" dirty="0" smtClean="0">
                <a:latin typeface="+mn-ea"/>
                <a:ea typeface="+mn-ea"/>
              </a:rPr>
              <a:t>, </a:t>
            </a:r>
            <a:r>
              <a:rPr lang="zh-CN" altLang="en-US" sz="2400" dirty="0" smtClean="0">
                <a:latin typeface="+mn-ea"/>
                <a:ea typeface="+mn-ea"/>
              </a:rPr>
              <a:t>那么，下面递推式</a:t>
            </a:r>
            <a:endParaRPr lang="en-US" altLang="zh-CN" sz="2400" dirty="0" smtClean="0">
              <a:latin typeface="+mn-ea"/>
              <a:ea typeface="+mn-ea"/>
              <a:sym typeface="Symbol" panose="05050102010706020507" pitchFamily="18" charset="2"/>
            </a:endParaRPr>
          </a:p>
          <a:p>
            <a:pPr eaLnBrk="1" hangingPunct="1">
              <a:buFontTx/>
              <a:buNone/>
              <a:defRPr/>
            </a:pPr>
            <a:endParaRPr lang="en-US" altLang="zh-CN" sz="2200" dirty="0" smtClean="0"/>
          </a:p>
          <a:p>
            <a:pPr eaLnBrk="1" hangingPunct="1">
              <a:buFontTx/>
              <a:buNone/>
              <a:defRPr/>
            </a:pPr>
            <a:r>
              <a:rPr lang="en-US" altLang="zh-CN" sz="600" dirty="0" smtClean="0"/>
              <a:t>     </a:t>
            </a:r>
            <a:endParaRPr lang="en-US" altLang="zh-CN" sz="600" dirty="0" smtClean="0"/>
          </a:p>
          <a:p>
            <a:pPr eaLnBrk="1" hangingPunct="1">
              <a:buFontTx/>
              <a:buNone/>
              <a:defRPr/>
            </a:pPr>
            <a:r>
              <a:rPr lang="en-US" altLang="zh-CN" sz="2100" dirty="0" smtClean="0">
                <a:solidFill>
                  <a:srgbClr val="EA0000"/>
                </a:solidFill>
              </a:rPr>
              <a:t>         </a:t>
            </a:r>
            <a:r>
              <a:rPr lang="zh-CN" altLang="en-US" sz="2100" dirty="0" smtClean="0">
                <a:solidFill>
                  <a:srgbClr val="EA0000"/>
                </a:solidFill>
              </a:rPr>
              <a:t>的解是</a:t>
            </a:r>
            <a:endParaRPr lang="en-US" altLang="zh-CN" sz="1800" dirty="0" smtClean="0"/>
          </a:p>
          <a:p>
            <a:pPr eaLnBrk="1" hangingPunct="1">
              <a:buFontTx/>
              <a:buNone/>
              <a:defRPr/>
            </a:pPr>
            <a:endParaRPr lang="en-US" altLang="zh-CN" sz="1800" dirty="0" smtClean="0"/>
          </a:p>
          <a:p>
            <a:pPr eaLnBrk="1" hangingPunct="1">
              <a:buFontTx/>
              <a:buNone/>
              <a:defRPr/>
            </a:pPr>
            <a:endParaRPr lang="en-US" altLang="zh-CN" sz="1800" dirty="0" smtClean="0"/>
          </a:p>
          <a:p>
            <a:pPr eaLnBrk="1" hangingPunct="1">
              <a:buFontTx/>
              <a:buNone/>
              <a:defRPr/>
            </a:pPr>
            <a:endParaRPr lang="en-US" altLang="zh-CN" sz="1800" dirty="0" smtClean="0"/>
          </a:p>
          <a:p>
            <a:pPr eaLnBrk="1" hangingPunct="1">
              <a:buFontTx/>
              <a:buNone/>
              <a:defRPr/>
            </a:pPr>
            <a:r>
              <a:rPr lang="en-US" altLang="zh-CN" sz="1800" dirty="0" smtClean="0"/>
              <a:t>        </a:t>
            </a:r>
            <a:r>
              <a:rPr lang="zh-CN" altLang="en-US" sz="2100" dirty="0" smtClean="0">
                <a:solidFill>
                  <a:srgbClr val="EA0000"/>
                </a:solidFill>
              </a:rPr>
              <a:t>特别的，如果</a:t>
            </a:r>
            <a:r>
              <a:rPr lang="en-US" altLang="zh-CN" sz="2100" dirty="0" smtClean="0">
                <a:solidFill>
                  <a:srgbClr val="EA0000"/>
                </a:solidFill>
              </a:rPr>
              <a:t> x=1, </a:t>
            </a:r>
            <a:r>
              <a:rPr lang="zh-CN" altLang="en-US" sz="2100" dirty="0" smtClean="0">
                <a:solidFill>
                  <a:srgbClr val="EA0000"/>
                </a:solidFill>
              </a:rPr>
              <a:t>那么</a:t>
            </a:r>
            <a:r>
              <a:rPr lang="en-US" altLang="zh-CN" sz="2100" dirty="0" smtClean="0">
                <a:solidFill>
                  <a:srgbClr val="EA0000"/>
                </a:solidFill>
              </a:rPr>
              <a:t> </a:t>
            </a:r>
            <a:endParaRPr lang="en-US" altLang="zh-CN" sz="2100" dirty="0" smtClean="0">
              <a:solidFill>
                <a:srgbClr val="EA0000"/>
              </a:solidFill>
            </a:endParaRPr>
          </a:p>
          <a:p>
            <a:pPr eaLnBrk="1" hangingPunct="1">
              <a:buFontTx/>
              <a:buNone/>
              <a:defRPr/>
            </a:pPr>
            <a:endParaRPr lang="en-US" altLang="zh-CN" sz="2100" dirty="0" smtClean="0">
              <a:solidFill>
                <a:srgbClr val="EA0000"/>
              </a:solidFill>
            </a:endParaRPr>
          </a:p>
          <a:p>
            <a:pPr eaLnBrk="1" hangingPunct="1">
              <a:buFontTx/>
              <a:buNone/>
              <a:defRPr/>
            </a:pPr>
            <a:endParaRPr lang="en-US" altLang="zh-CN" sz="1800" dirty="0" smtClean="0"/>
          </a:p>
        </p:txBody>
      </p:sp>
      <p:graphicFrame>
        <p:nvGraphicFramePr>
          <p:cNvPr id="114693" name="Object 4"/>
          <p:cNvGraphicFramePr>
            <a:graphicFrameLocks noGrp="1" noChangeAspect="1"/>
          </p:cNvGraphicFramePr>
          <p:nvPr>
            <p:ph sz="quarter" idx="2"/>
          </p:nvPr>
        </p:nvGraphicFramePr>
        <p:xfrm>
          <a:off x="3429000" y="2428875"/>
          <a:ext cx="3135313" cy="596900"/>
        </p:xfrm>
        <a:graphic>
          <a:graphicData uri="http://schemas.openxmlformats.org/presentationml/2006/ole">
            <mc:AlternateContent xmlns:mc="http://schemas.openxmlformats.org/markup-compatibility/2006">
              <mc:Choice xmlns:v="urn:schemas-microsoft-com:vml" Requires="v">
                <p:oleObj spid="_x0000_s17470" name="Equation" r:id="rId1" imgW="1549400" imgH="279400" progId="Equation.3">
                  <p:embed/>
                </p:oleObj>
              </mc:Choice>
              <mc:Fallback>
                <p:oleObj name="Equation" r:id="rId1" imgW="1549400" imgH="279400" progId="Equation.3">
                  <p:embed/>
                  <p:pic>
                    <p:nvPicPr>
                      <p:cNvPr id="0" name="Object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29000" y="2428875"/>
                        <a:ext cx="3135313" cy="596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14694" name="Object 6"/>
          <p:cNvGraphicFramePr>
            <a:graphicFrameLocks noGrp="1" noChangeAspect="1"/>
          </p:cNvGraphicFramePr>
          <p:nvPr>
            <p:ph sz="quarter" idx="3"/>
          </p:nvPr>
        </p:nvGraphicFramePr>
        <p:xfrm>
          <a:off x="2714625" y="3143250"/>
          <a:ext cx="3024188" cy="1174750"/>
        </p:xfrm>
        <a:graphic>
          <a:graphicData uri="http://schemas.openxmlformats.org/presentationml/2006/ole">
            <mc:AlternateContent xmlns:mc="http://schemas.openxmlformats.org/markup-compatibility/2006">
              <mc:Choice xmlns:v="urn:schemas-microsoft-com:vml" Requires="v">
                <p:oleObj spid="_x0000_s17471" name="公式" r:id="rId3" imgW="2108200" imgH="774700" progId="Equation.3">
                  <p:embed/>
                </p:oleObj>
              </mc:Choice>
              <mc:Fallback>
                <p:oleObj name="公式" r:id="rId3" imgW="2108200" imgH="774700" progId="Equation.3">
                  <p:embed/>
                  <p:pic>
                    <p:nvPicPr>
                      <p:cNvPr id="0" name="Object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714625" y="3143250"/>
                        <a:ext cx="3024188" cy="1174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14695" name="Object 8"/>
          <p:cNvGraphicFramePr>
            <a:graphicFrameLocks noChangeAspect="1"/>
          </p:cNvGraphicFramePr>
          <p:nvPr/>
        </p:nvGraphicFramePr>
        <p:xfrm>
          <a:off x="4859338" y="4365625"/>
          <a:ext cx="3087687" cy="1219200"/>
        </p:xfrm>
        <a:graphic>
          <a:graphicData uri="http://schemas.openxmlformats.org/presentationml/2006/ole">
            <mc:AlternateContent xmlns:mc="http://schemas.openxmlformats.org/markup-compatibility/2006">
              <mc:Choice xmlns:v="urn:schemas-microsoft-com:vml" Requires="v">
                <p:oleObj spid="_x0000_s17472" name="公式" r:id="rId5" imgW="1866900" imgH="736600" progId="Equation.3">
                  <p:embed/>
                </p:oleObj>
              </mc:Choice>
              <mc:Fallback>
                <p:oleObj name="公式" r:id="rId5" imgW="1866900" imgH="736600" progId="Equation.3">
                  <p:embed/>
                  <p:pic>
                    <p:nvPicPr>
                      <p:cNvPr id="0" name="Object 8"/>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859338" y="4365625"/>
                        <a:ext cx="3087687" cy="121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114696" name="Picture 11" descr="theorem"/>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00113" y="1268413"/>
            <a:ext cx="533400"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116739" name="Rectangle 2"/>
          <p:cNvSpPr>
            <a:spLocks noGrp="1" noChangeArrowheads="1"/>
          </p:cNvSpPr>
          <p:nvPr>
            <p:ph type="title"/>
          </p:nvPr>
        </p:nvSpPr>
        <p:spPr/>
        <p:txBody>
          <a:bodyPr/>
          <a:lstStyle/>
          <a:p>
            <a:pPr eaLnBrk="1" hangingPunct="1"/>
            <a:r>
              <a:rPr lang="en-US" altLang="zh-CN" dirty="0">
                <a:solidFill>
                  <a:srgbClr val="333399"/>
                </a:solidFill>
                <a:latin typeface="华文楷体" panose="02010600040101010101" pitchFamily="2" charset="-122"/>
              </a:rPr>
              <a:t>1.3.8 </a:t>
            </a:r>
            <a:r>
              <a:rPr lang="zh-CN" altLang="en-US" dirty="0">
                <a:solidFill>
                  <a:srgbClr val="333399"/>
                </a:solidFill>
                <a:latin typeface="华文楷体" panose="02010600040101010101" pitchFamily="2" charset="-122"/>
              </a:rPr>
              <a:t>递推关系</a:t>
            </a:r>
            <a:r>
              <a:rPr lang="en-US" altLang="zh-CN" dirty="0" smtClean="0">
                <a:solidFill>
                  <a:srgbClr val="333399"/>
                </a:solidFill>
                <a:latin typeface="华文楷体" panose="02010600040101010101" pitchFamily="2" charset="-122"/>
              </a:rPr>
              <a:t>——</a:t>
            </a:r>
            <a:r>
              <a:rPr lang="zh-CN" altLang="en-US" dirty="0" smtClean="0"/>
              <a:t>代入法</a:t>
            </a:r>
            <a:endParaRPr lang="en-US" altLang="zh-CN" dirty="0" smtClean="0"/>
          </a:p>
        </p:txBody>
      </p:sp>
      <p:sp>
        <p:nvSpPr>
          <p:cNvPr id="116740" name="Rectangle 3"/>
          <p:cNvSpPr>
            <a:spLocks noGrp="1" noChangeArrowheads="1"/>
          </p:cNvSpPr>
          <p:nvPr>
            <p:ph type="body" idx="1"/>
          </p:nvPr>
        </p:nvSpPr>
        <p:spPr/>
        <p:txBody>
          <a:bodyPr/>
          <a:lstStyle/>
          <a:p>
            <a:pPr eaLnBrk="1" hangingPunct="1">
              <a:lnSpc>
                <a:spcPct val="90000"/>
              </a:lnSpc>
            </a:pPr>
            <a:r>
              <a:rPr lang="zh-CN" altLang="en-US" sz="2400" smtClean="0"/>
              <a:t>这种方法通常用来证明上下界，它也能用来证明精确解。</a:t>
            </a:r>
            <a:endParaRPr lang="en-US" altLang="zh-CN" sz="2400" smtClean="0"/>
          </a:p>
          <a:p>
            <a:pPr eaLnBrk="1" hangingPunct="1">
              <a:lnSpc>
                <a:spcPct val="90000"/>
              </a:lnSpc>
            </a:pPr>
            <a:endParaRPr lang="en-US" altLang="zh-CN" sz="2400" smtClean="0"/>
          </a:p>
          <a:p>
            <a:pPr eaLnBrk="1" hangingPunct="1">
              <a:lnSpc>
                <a:spcPct val="90000"/>
              </a:lnSpc>
            </a:pPr>
            <a:r>
              <a:rPr lang="zh-CN" altLang="en-US" sz="2400" smtClean="0"/>
              <a:t>在这种方法中，我们猜想一个解，并尝试用数学归纳法来证明，与在归纳法证明中常用的做法不同的是，这里我们先证明带有一个或多个常量的归纳步，当</a:t>
            </a:r>
            <a:r>
              <a:rPr lang="en-US" altLang="zh-CN" sz="2400" smtClean="0"/>
              <a:t>n</a:t>
            </a:r>
            <a:r>
              <a:rPr lang="zh-CN" altLang="en-US" sz="2400" smtClean="0"/>
              <a:t>为任意值时，一旦对</a:t>
            </a:r>
            <a:r>
              <a:rPr lang="en-US" altLang="zh-CN" sz="2400" smtClean="0"/>
              <a:t>f(n)</a:t>
            </a:r>
            <a:r>
              <a:rPr lang="zh-CN" altLang="en-US" sz="2400" smtClean="0"/>
              <a:t>的断言成立，为了使解适用于一个和多个边界条件，如果需要的话，我们再来调整常量。</a:t>
            </a:r>
            <a:endParaRPr lang="en-US" altLang="zh-CN" sz="2400" smtClean="0"/>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页脚占位符 4"/>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118787" name="Rectangle 2"/>
          <p:cNvSpPr>
            <a:spLocks noGrp="1" noChangeArrowheads="1"/>
          </p:cNvSpPr>
          <p:nvPr>
            <p:ph type="title"/>
          </p:nvPr>
        </p:nvSpPr>
        <p:spPr/>
        <p:txBody>
          <a:bodyPr/>
          <a:lstStyle/>
          <a:p>
            <a:pPr eaLnBrk="1" hangingPunct="1"/>
            <a:r>
              <a:rPr lang="en-US" altLang="zh-CN" dirty="0">
                <a:solidFill>
                  <a:srgbClr val="333399"/>
                </a:solidFill>
                <a:latin typeface="华文楷体" panose="02010600040101010101" pitchFamily="2" charset="-122"/>
              </a:rPr>
              <a:t>1.3.8 </a:t>
            </a:r>
            <a:r>
              <a:rPr lang="zh-CN" altLang="en-US" dirty="0">
                <a:solidFill>
                  <a:srgbClr val="333399"/>
                </a:solidFill>
                <a:latin typeface="华文楷体" panose="02010600040101010101" pitchFamily="2" charset="-122"/>
              </a:rPr>
              <a:t>递推关系</a:t>
            </a:r>
            <a:r>
              <a:rPr lang="en-US" altLang="zh-CN" dirty="0">
                <a:solidFill>
                  <a:srgbClr val="333399"/>
                </a:solidFill>
                <a:latin typeface="华文楷体" panose="02010600040101010101" pitchFamily="2" charset="-122"/>
              </a:rPr>
              <a:t>——</a:t>
            </a:r>
            <a:r>
              <a:rPr lang="zh-CN" altLang="en-US" dirty="0"/>
              <a:t>代入法</a:t>
            </a:r>
            <a:endParaRPr lang="en-US" altLang="zh-CN" dirty="0" smtClean="0"/>
          </a:p>
        </p:txBody>
      </p:sp>
      <p:sp>
        <p:nvSpPr>
          <p:cNvPr id="15365" name="Rectangle 3"/>
          <p:cNvSpPr>
            <a:spLocks noGrp="1" noChangeArrowheads="1"/>
          </p:cNvSpPr>
          <p:nvPr>
            <p:ph type="body" sz="half" idx="1"/>
          </p:nvPr>
        </p:nvSpPr>
        <p:spPr>
          <a:xfrm>
            <a:off x="746125" y="1196975"/>
            <a:ext cx="8218488" cy="4565650"/>
          </a:xfrm>
        </p:spPr>
        <p:txBody>
          <a:bodyPr/>
          <a:lstStyle/>
          <a:p>
            <a:pPr lvl="0" eaLnBrk="1" hangingPunct="1">
              <a:lnSpc>
                <a:spcPct val="90000"/>
              </a:lnSpc>
              <a:defRPr/>
            </a:pPr>
            <a:r>
              <a:rPr lang="zh-CN" altLang="en-US" dirty="0">
                <a:solidFill>
                  <a:srgbClr val="333399"/>
                </a:solidFill>
                <a:sym typeface="Symbol" panose="05050102010706020507" pitchFamily="18" charset="2"/>
              </a:rPr>
              <a:t>例子</a:t>
            </a:r>
            <a:endParaRPr lang="en-US" altLang="zh-CN" dirty="0">
              <a:solidFill>
                <a:srgbClr val="333399"/>
              </a:solidFill>
              <a:sym typeface="Symbol" panose="05050102010706020507" pitchFamily="18" charset="2"/>
            </a:endParaRPr>
          </a:p>
          <a:p>
            <a:pPr lvl="1" eaLnBrk="1" hangingPunct="1">
              <a:defRPr/>
            </a:pPr>
            <a:r>
              <a:rPr lang="zh-CN" altLang="en-US" dirty="0" smtClean="0">
                <a:latin typeface="+mn-lt"/>
                <a:ea typeface="+mn-ea"/>
              </a:rPr>
              <a:t>考虑下面递推式</a:t>
            </a:r>
            <a:endParaRPr lang="en-US" altLang="zh-CN" dirty="0" smtClean="0">
              <a:latin typeface="+mn-lt"/>
              <a:ea typeface="+mn-ea"/>
            </a:endParaRPr>
          </a:p>
          <a:p>
            <a:pPr lvl="1" eaLnBrk="1" hangingPunct="1">
              <a:defRPr/>
            </a:pPr>
            <a:endParaRPr lang="en-US" altLang="zh-CN" dirty="0" smtClean="0">
              <a:latin typeface="+mn-lt"/>
              <a:ea typeface="+mn-ea"/>
            </a:endParaRPr>
          </a:p>
          <a:p>
            <a:pPr lvl="1" eaLnBrk="1" hangingPunct="1">
              <a:buFontTx/>
              <a:buNone/>
              <a:defRPr/>
            </a:pPr>
            <a:r>
              <a:rPr lang="zh-CN" altLang="en-US" dirty="0" smtClean="0">
                <a:latin typeface="+mn-lt"/>
                <a:ea typeface="+mn-ea"/>
              </a:rPr>
              <a:t>其中</a:t>
            </a:r>
            <a:r>
              <a:rPr lang="en-US" altLang="zh-CN" dirty="0" err="1" smtClean="0">
                <a:latin typeface="+mn-lt"/>
                <a:ea typeface="+mn-ea"/>
              </a:rPr>
              <a:t>b,d</a:t>
            </a:r>
            <a:r>
              <a:rPr lang="zh-CN" altLang="en-US" dirty="0" smtClean="0">
                <a:latin typeface="+mn-lt"/>
                <a:ea typeface="+mn-ea"/>
              </a:rPr>
              <a:t>是非负常数。当</a:t>
            </a:r>
            <a:r>
              <a:rPr lang="en-US" altLang="zh-CN" dirty="0" smtClean="0">
                <a:latin typeface="+mn-lt"/>
                <a:ea typeface="+mn-ea"/>
              </a:rPr>
              <a:t>n</a:t>
            </a:r>
            <a:r>
              <a:rPr lang="zh-CN" altLang="en-US" dirty="0" smtClean="0">
                <a:latin typeface="+mn-lt"/>
                <a:ea typeface="+mn-ea"/>
              </a:rPr>
              <a:t>是</a:t>
            </a:r>
            <a:r>
              <a:rPr lang="en-US" altLang="zh-CN" dirty="0" smtClean="0">
                <a:latin typeface="+mn-lt"/>
                <a:ea typeface="+mn-ea"/>
              </a:rPr>
              <a:t>2</a:t>
            </a:r>
            <a:r>
              <a:rPr lang="zh-CN" altLang="en-US" dirty="0" smtClean="0">
                <a:latin typeface="+mn-lt"/>
                <a:ea typeface="+mn-ea"/>
              </a:rPr>
              <a:t>的幂时，递推式可以简化为</a:t>
            </a:r>
            <a:endParaRPr lang="en-US" altLang="zh-CN" dirty="0" smtClean="0">
              <a:latin typeface="+mn-lt"/>
              <a:ea typeface="+mn-ea"/>
            </a:endParaRPr>
          </a:p>
          <a:p>
            <a:pPr lvl="1" eaLnBrk="1" hangingPunct="1">
              <a:buFontTx/>
              <a:buNone/>
              <a:defRPr/>
            </a:pPr>
            <a:r>
              <a:rPr lang="en-US" altLang="zh-CN" dirty="0" smtClean="0">
                <a:solidFill>
                  <a:srgbClr val="660066"/>
                </a:solidFill>
                <a:latin typeface="+mn-lt"/>
                <a:ea typeface="+mn-ea"/>
              </a:rPr>
              <a:t>                                  f(n)=2f(n/2)+</a:t>
            </a:r>
            <a:r>
              <a:rPr lang="en-US" altLang="zh-CN" dirty="0" err="1" smtClean="0">
                <a:solidFill>
                  <a:srgbClr val="660066"/>
                </a:solidFill>
                <a:latin typeface="+mn-lt"/>
                <a:ea typeface="+mn-ea"/>
              </a:rPr>
              <a:t>bn</a:t>
            </a:r>
            <a:r>
              <a:rPr lang="en-US" altLang="zh-CN" dirty="0" smtClean="0">
                <a:solidFill>
                  <a:srgbClr val="660066"/>
                </a:solidFill>
                <a:latin typeface="+mn-lt"/>
                <a:ea typeface="+mn-ea"/>
              </a:rPr>
              <a:t>, </a:t>
            </a:r>
            <a:endParaRPr lang="en-US" altLang="zh-CN" dirty="0" smtClean="0">
              <a:solidFill>
                <a:srgbClr val="660066"/>
              </a:solidFill>
              <a:latin typeface="+mn-lt"/>
              <a:ea typeface="+mn-ea"/>
            </a:endParaRPr>
          </a:p>
          <a:p>
            <a:pPr lvl="1" eaLnBrk="1" hangingPunct="1">
              <a:buFontTx/>
              <a:buNone/>
              <a:defRPr/>
            </a:pPr>
            <a:r>
              <a:rPr lang="zh-CN" altLang="en-US" dirty="0" smtClean="0">
                <a:latin typeface="+mn-lt"/>
                <a:ea typeface="+mn-ea"/>
              </a:rPr>
              <a:t>由推论</a:t>
            </a:r>
            <a:r>
              <a:rPr lang="en-US" altLang="zh-CN" dirty="0" smtClean="0">
                <a:latin typeface="+mn-lt"/>
                <a:ea typeface="+mn-ea"/>
              </a:rPr>
              <a:t>2.2</a:t>
            </a:r>
            <a:r>
              <a:rPr lang="zh-CN" altLang="en-US" dirty="0" smtClean="0">
                <a:latin typeface="+mn-lt"/>
                <a:ea typeface="+mn-ea"/>
              </a:rPr>
              <a:t>，它的解是</a:t>
            </a:r>
            <a:r>
              <a:rPr lang="en-US" altLang="zh-CN" dirty="0" err="1" smtClean="0">
                <a:latin typeface="+mn-lt"/>
                <a:ea typeface="+mn-ea"/>
              </a:rPr>
              <a:t>bnlogn+dn</a:t>
            </a:r>
            <a:r>
              <a:rPr lang="en-US" altLang="zh-CN" dirty="0" smtClean="0">
                <a:latin typeface="+mn-lt"/>
                <a:ea typeface="+mn-ea"/>
              </a:rPr>
              <a:t>.</a:t>
            </a:r>
            <a:r>
              <a:rPr lang="zh-CN" altLang="en-US" dirty="0" smtClean="0">
                <a:latin typeface="+mn-lt"/>
                <a:ea typeface="+mn-ea"/>
              </a:rPr>
              <a:t>，因此，我们做一个猜测，对于某个常数</a:t>
            </a:r>
            <a:r>
              <a:rPr lang="en-US" altLang="zh-CN" dirty="0" smtClean="0">
                <a:latin typeface="+mn-lt"/>
                <a:ea typeface="+mn-ea"/>
              </a:rPr>
              <a:t>c&gt;0</a:t>
            </a:r>
            <a:r>
              <a:rPr lang="zh-CN" altLang="en-US" dirty="0" smtClean="0">
                <a:latin typeface="+mn-lt"/>
                <a:ea typeface="+mn-ea"/>
              </a:rPr>
              <a:t>，</a:t>
            </a:r>
            <a:r>
              <a:rPr lang="en-US" altLang="zh-CN" dirty="0" smtClean="0">
                <a:latin typeface="+mn-lt"/>
                <a:ea typeface="+mn-ea"/>
              </a:rPr>
              <a:t>f(n)</a:t>
            </a:r>
            <a:r>
              <a:rPr lang="en-US" altLang="zh-CN" dirty="0" smtClean="0">
                <a:latin typeface="+mn-lt"/>
                <a:ea typeface="+mn-ea"/>
                <a:sym typeface="Symbol" panose="05050102010706020507" pitchFamily="18" charset="2"/>
              </a:rPr>
              <a:t></a:t>
            </a:r>
            <a:r>
              <a:rPr lang="en-US" altLang="zh-CN" dirty="0" err="1" smtClean="0">
                <a:latin typeface="+mn-lt"/>
                <a:ea typeface="+mn-ea"/>
                <a:sym typeface="Symbol" panose="05050102010706020507" pitchFamily="18" charset="2"/>
              </a:rPr>
              <a:t>cbnlogn+dn</a:t>
            </a:r>
            <a:r>
              <a:rPr lang="en-US" altLang="zh-CN" dirty="0" smtClean="0">
                <a:latin typeface="+mn-lt"/>
                <a:ea typeface="+mn-ea"/>
                <a:sym typeface="Symbol" panose="05050102010706020507" pitchFamily="18" charset="2"/>
              </a:rPr>
              <a:t> </a:t>
            </a:r>
            <a:r>
              <a:rPr lang="zh-CN" altLang="en-US" dirty="0" smtClean="0">
                <a:latin typeface="+mn-lt"/>
                <a:ea typeface="+mn-ea"/>
                <a:sym typeface="Symbol" panose="05050102010706020507" pitchFamily="18" charset="2"/>
              </a:rPr>
              <a:t>，后面再来确定</a:t>
            </a:r>
            <a:r>
              <a:rPr lang="en-US" altLang="zh-CN" dirty="0" smtClean="0">
                <a:latin typeface="+mn-lt"/>
                <a:ea typeface="+mn-ea"/>
                <a:sym typeface="Symbol" panose="05050102010706020507" pitchFamily="18" charset="2"/>
              </a:rPr>
              <a:t>c</a:t>
            </a:r>
            <a:r>
              <a:rPr lang="zh-CN" altLang="en-US" dirty="0" smtClean="0">
                <a:latin typeface="+mn-lt"/>
                <a:ea typeface="+mn-ea"/>
                <a:sym typeface="Symbol" panose="05050102010706020507" pitchFamily="18" charset="2"/>
              </a:rPr>
              <a:t>的值。</a:t>
            </a:r>
            <a:endParaRPr lang="en-US" altLang="zh-CN" dirty="0" smtClean="0">
              <a:latin typeface="+mn-lt"/>
              <a:ea typeface="+mn-ea"/>
              <a:sym typeface="Symbol" panose="05050102010706020507" pitchFamily="18" charset="2"/>
            </a:endParaRPr>
          </a:p>
          <a:p>
            <a:pPr lvl="1" eaLnBrk="1" hangingPunct="1">
              <a:buFontTx/>
              <a:buNone/>
              <a:defRPr/>
            </a:pPr>
            <a:endParaRPr lang="en-US" altLang="zh-CN" dirty="0" smtClean="0">
              <a:latin typeface="+mn-lt"/>
              <a:ea typeface="+mn-ea"/>
              <a:sym typeface="Symbol" panose="05050102010706020507" pitchFamily="18" charset="2"/>
            </a:endParaRPr>
          </a:p>
          <a:p>
            <a:pPr lvl="1" eaLnBrk="1" hangingPunct="1">
              <a:buFontTx/>
              <a:buNone/>
              <a:defRPr/>
            </a:pPr>
            <a:r>
              <a:rPr lang="en-US" altLang="zh-CN" sz="2400" dirty="0" smtClean="0">
                <a:latin typeface="+mn-lt"/>
                <a:ea typeface="+mn-ea"/>
                <a:sym typeface="Symbol" panose="05050102010706020507" pitchFamily="18" charset="2"/>
              </a:rPr>
              <a:t> </a:t>
            </a:r>
            <a:r>
              <a:rPr lang="zh-CN" altLang="en-US" sz="2400" dirty="0" smtClean="0">
                <a:latin typeface="+mn-lt"/>
                <a:ea typeface="+mn-ea"/>
                <a:sym typeface="Symbol" panose="05050102010706020507" pitchFamily="18" charset="2"/>
              </a:rPr>
              <a:t>见</a:t>
            </a:r>
            <a:r>
              <a:rPr lang="en-US" altLang="zh-CN" sz="2400" dirty="0" smtClean="0">
                <a:latin typeface="+mn-lt"/>
                <a:ea typeface="+mn-ea"/>
                <a:sym typeface="Symbol" panose="05050102010706020507" pitchFamily="18" charset="2"/>
              </a:rPr>
              <a:t> P59. </a:t>
            </a:r>
            <a:endParaRPr lang="en-US" altLang="zh-CN" sz="2400" dirty="0" smtClean="0">
              <a:latin typeface="+mn-lt"/>
              <a:ea typeface="+mn-ea"/>
              <a:sym typeface="Symbol" panose="05050102010706020507" pitchFamily="18" charset="2"/>
            </a:endParaRPr>
          </a:p>
        </p:txBody>
      </p:sp>
      <p:graphicFrame>
        <p:nvGraphicFramePr>
          <p:cNvPr id="118789" name="Object 4"/>
          <p:cNvGraphicFramePr>
            <a:graphicFrameLocks noGrp="1" noChangeAspect="1"/>
          </p:cNvGraphicFramePr>
          <p:nvPr>
            <p:ph sz="half" idx="2"/>
          </p:nvPr>
        </p:nvGraphicFramePr>
        <p:xfrm>
          <a:off x="3714750" y="1643063"/>
          <a:ext cx="3821113" cy="673100"/>
        </p:xfrm>
        <a:graphic>
          <a:graphicData uri="http://schemas.openxmlformats.org/presentationml/2006/ole">
            <mc:AlternateContent xmlns:mc="http://schemas.openxmlformats.org/markup-compatibility/2006">
              <mc:Choice xmlns:v="urn:schemas-microsoft-com:vml" Requires="v">
                <p:oleObj spid="_x0000_s18454" name="公式" r:id="rId1" imgW="2819400" imgH="469900" progId="Equation.3">
                  <p:embed/>
                </p:oleObj>
              </mc:Choice>
              <mc:Fallback>
                <p:oleObj name="公式" r:id="rId1" imgW="2819400" imgH="469900" progId="Equation.3">
                  <p:embed/>
                  <p:pic>
                    <p:nvPicPr>
                      <p:cNvPr id="0" name="Object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14750" y="1643063"/>
                        <a:ext cx="3821113" cy="673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标题 1"/>
          <p:cNvSpPr>
            <a:spLocks noGrp="1"/>
          </p:cNvSpPr>
          <p:nvPr>
            <p:ph type="title"/>
          </p:nvPr>
        </p:nvSpPr>
        <p:spPr/>
        <p:txBody>
          <a:bodyPr/>
          <a:lstStyle/>
          <a:p>
            <a:endParaRPr lang="zh-CN" altLang="en-US" smtClean="0"/>
          </a:p>
        </p:txBody>
      </p:sp>
      <p:sp>
        <p:nvSpPr>
          <p:cNvPr id="120835" name="页脚占位符 4"/>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pic>
        <p:nvPicPr>
          <p:cNvPr id="120836"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500063" y="285750"/>
            <a:ext cx="8277225" cy="5962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页脚占位符 5"/>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121859" name="Rectangle 2"/>
          <p:cNvSpPr>
            <a:spLocks noGrp="1" noChangeArrowheads="1"/>
          </p:cNvSpPr>
          <p:nvPr>
            <p:ph type="title"/>
          </p:nvPr>
        </p:nvSpPr>
        <p:spPr/>
        <p:txBody>
          <a:bodyPr/>
          <a:lstStyle/>
          <a:p>
            <a:pPr eaLnBrk="1" hangingPunct="1"/>
            <a:r>
              <a:rPr lang="en-US" altLang="zh-CN" dirty="0">
                <a:solidFill>
                  <a:srgbClr val="333399"/>
                </a:solidFill>
                <a:latin typeface="华文楷体" panose="02010600040101010101" pitchFamily="2" charset="-122"/>
              </a:rPr>
              <a:t>1.3.8 </a:t>
            </a:r>
            <a:r>
              <a:rPr lang="zh-CN" altLang="en-US" dirty="0">
                <a:solidFill>
                  <a:srgbClr val="333399"/>
                </a:solidFill>
                <a:latin typeface="华文楷体" panose="02010600040101010101" pitchFamily="2" charset="-122"/>
              </a:rPr>
              <a:t>递推关系</a:t>
            </a:r>
            <a:r>
              <a:rPr lang="en-US" altLang="zh-CN" dirty="0">
                <a:solidFill>
                  <a:srgbClr val="333399"/>
                </a:solidFill>
                <a:latin typeface="华文楷体" panose="02010600040101010101" pitchFamily="2" charset="-122"/>
              </a:rPr>
              <a:t>——</a:t>
            </a:r>
            <a:r>
              <a:rPr lang="zh-CN" altLang="en-US" dirty="0"/>
              <a:t>代入法</a:t>
            </a:r>
            <a:endParaRPr lang="en-US" altLang="zh-CN" dirty="0" smtClean="0"/>
          </a:p>
        </p:txBody>
      </p:sp>
      <p:sp>
        <p:nvSpPr>
          <p:cNvPr id="121860" name="Rectangle 3"/>
          <p:cNvSpPr>
            <a:spLocks noGrp="1" noChangeArrowheads="1"/>
          </p:cNvSpPr>
          <p:nvPr>
            <p:ph type="body" sz="half" idx="1"/>
          </p:nvPr>
        </p:nvSpPr>
        <p:spPr>
          <a:xfrm>
            <a:off x="968375" y="1196975"/>
            <a:ext cx="7707313" cy="4387850"/>
          </a:xfrm>
        </p:spPr>
        <p:txBody>
          <a:bodyPr/>
          <a:lstStyle/>
          <a:p>
            <a:pPr eaLnBrk="1" hangingPunct="1">
              <a:buFontTx/>
              <a:buNone/>
            </a:pPr>
            <a:r>
              <a:rPr lang="en-US" altLang="zh-CN" smtClean="0"/>
              <a:t>     </a:t>
            </a:r>
            <a:r>
              <a:rPr lang="zh-CN" altLang="en-US" smtClean="0"/>
              <a:t>定理</a:t>
            </a:r>
            <a:r>
              <a:rPr lang="en-US" altLang="zh-CN" smtClean="0"/>
              <a:t> 2.6 </a:t>
            </a:r>
            <a:endParaRPr lang="en-US" altLang="zh-CN" smtClean="0"/>
          </a:p>
          <a:p>
            <a:pPr lvl="1" eaLnBrk="1" hangingPunct="1"/>
            <a:r>
              <a:rPr lang="zh-CN" altLang="en-US" smtClean="0">
                <a:latin typeface="Arial" panose="020B0604020202090204" pitchFamily="34" charset="0"/>
              </a:rPr>
              <a:t>设</a:t>
            </a:r>
            <a:r>
              <a:rPr lang="en-US" altLang="zh-CN" smtClean="0">
                <a:latin typeface="Arial" panose="020B0604020202090204" pitchFamily="34" charset="0"/>
              </a:rPr>
              <a:t> </a:t>
            </a:r>
            <a:endParaRPr lang="en-US" altLang="zh-CN" smtClean="0">
              <a:latin typeface="Arial" panose="020B0604020202090204" pitchFamily="34" charset="0"/>
            </a:endParaRPr>
          </a:p>
          <a:p>
            <a:pPr eaLnBrk="1" hangingPunct="1">
              <a:buFontTx/>
              <a:buNone/>
            </a:pPr>
            <a:endParaRPr lang="en-US" altLang="zh-CN" sz="2200" smtClean="0"/>
          </a:p>
          <a:p>
            <a:pPr eaLnBrk="1" hangingPunct="1">
              <a:buFontTx/>
              <a:buNone/>
            </a:pPr>
            <a:r>
              <a:rPr lang="en-US" altLang="zh-CN" sz="1800" smtClean="0"/>
              <a:t>          </a:t>
            </a:r>
            <a:endParaRPr lang="en-US" altLang="zh-CN" sz="1800" smtClean="0"/>
          </a:p>
          <a:p>
            <a:pPr eaLnBrk="1" hangingPunct="1">
              <a:buFontTx/>
              <a:buNone/>
            </a:pPr>
            <a:r>
              <a:rPr lang="en-US" altLang="zh-CN" sz="1800" smtClean="0"/>
              <a:t>         </a:t>
            </a:r>
            <a:endParaRPr lang="en-US" altLang="zh-CN" sz="1800" smtClean="0"/>
          </a:p>
          <a:p>
            <a:pPr eaLnBrk="1" hangingPunct="1">
              <a:buFontTx/>
              <a:buNone/>
            </a:pPr>
            <a:r>
              <a:rPr lang="en-US" altLang="zh-CN" sz="2200" smtClean="0"/>
              <a:t>                b </a:t>
            </a:r>
            <a:r>
              <a:rPr lang="zh-CN" altLang="en-US" sz="2200" smtClean="0"/>
              <a:t>和</a:t>
            </a:r>
            <a:r>
              <a:rPr lang="en-US" altLang="zh-CN" sz="2200" smtClean="0"/>
              <a:t> d</a:t>
            </a:r>
            <a:r>
              <a:rPr lang="zh-CN" altLang="en-US" sz="2200" smtClean="0"/>
              <a:t>是非负常数</a:t>
            </a:r>
            <a:r>
              <a:rPr lang="en-US" altLang="zh-CN" sz="2200" smtClean="0"/>
              <a:t>.</a:t>
            </a:r>
            <a:r>
              <a:rPr lang="zh-CN" altLang="en-US" sz="2200" smtClean="0"/>
              <a:t>，那么</a:t>
            </a:r>
            <a:endParaRPr lang="en-US" altLang="zh-CN" sz="2200" smtClean="0"/>
          </a:p>
          <a:p>
            <a:pPr eaLnBrk="1" hangingPunct="1">
              <a:buFontTx/>
              <a:buNone/>
            </a:pPr>
            <a:endParaRPr lang="en-US" altLang="zh-CN" sz="2200" smtClean="0"/>
          </a:p>
          <a:p>
            <a:pPr eaLnBrk="1" hangingPunct="1">
              <a:buFontTx/>
              <a:buNone/>
            </a:pPr>
            <a:endParaRPr lang="en-US" altLang="zh-CN" sz="2100" smtClean="0"/>
          </a:p>
        </p:txBody>
      </p:sp>
      <p:graphicFrame>
        <p:nvGraphicFramePr>
          <p:cNvPr id="121861" name="Object 4"/>
          <p:cNvGraphicFramePr>
            <a:graphicFrameLocks noGrp="1" noChangeAspect="1"/>
          </p:cNvGraphicFramePr>
          <p:nvPr>
            <p:ph sz="quarter" idx="2"/>
          </p:nvPr>
        </p:nvGraphicFramePr>
        <p:xfrm>
          <a:off x="1908175" y="2133600"/>
          <a:ext cx="5041900" cy="900113"/>
        </p:xfrm>
        <a:graphic>
          <a:graphicData uri="http://schemas.openxmlformats.org/presentationml/2006/ole">
            <mc:AlternateContent xmlns:mc="http://schemas.openxmlformats.org/markup-compatibility/2006">
              <mc:Choice xmlns:v="urn:schemas-microsoft-com:vml" Requires="v">
                <p:oleObj spid="_x0000_s19498" name="公式" r:id="rId1" imgW="1803400" imgH="304800" progId="Equation.3">
                  <p:embed/>
                </p:oleObj>
              </mc:Choice>
              <mc:Fallback>
                <p:oleObj name="公式" r:id="rId1" imgW="1803400" imgH="304800" progId="Equation.3">
                  <p:embed/>
                  <p:pic>
                    <p:nvPicPr>
                      <p:cNvPr id="0" name="Object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8175" y="2133600"/>
                        <a:ext cx="5041900" cy="900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21862" name="Object 6"/>
          <p:cNvGraphicFramePr>
            <a:graphicFrameLocks noGrp="1" noChangeAspect="1"/>
          </p:cNvGraphicFramePr>
          <p:nvPr>
            <p:ph sz="quarter" idx="3"/>
          </p:nvPr>
        </p:nvGraphicFramePr>
        <p:xfrm>
          <a:off x="2195513" y="3644900"/>
          <a:ext cx="3108325" cy="603250"/>
        </p:xfrm>
        <a:graphic>
          <a:graphicData uri="http://schemas.openxmlformats.org/presentationml/2006/ole">
            <mc:AlternateContent xmlns:mc="http://schemas.openxmlformats.org/markup-compatibility/2006">
              <mc:Choice xmlns:v="urn:schemas-microsoft-com:vml" Requires="v">
                <p:oleObj spid="_x0000_s19499" name="公式" r:id="rId3" imgW="1104900" imgH="203200" progId="Equation.3">
                  <p:embed/>
                </p:oleObj>
              </mc:Choice>
              <mc:Fallback>
                <p:oleObj name="公式" r:id="rId3" imgW="1104900" imgH="203200" progId="Equation.3">
                  <p:embed/>
                  <p:pic>
                    <p:nvPicPr>
                      <p:cNvPr id="0" name="Object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95513" y="3644900"/>
                        <a:ext cx="3108325" cy="603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121863" name="Picture 9" descr="theorem"/>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00113" y="1268413"/>
            <a:ext cx="533400"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6" name="页脚占位符 5"/>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123907" name="Rectangle 2"/>
          <p:cNvSpPr>
            <a:spLocks noGrp="1" noChangeArrowheads="1"/>
          </p:cNvSpPr>
          <p:nvPr>
            <p:ph type="title"/>
          </p:nvPr>
        </p:nvSpPr>
        <p:spPr/>
        <p:txBody>
          <a:bodyPr/>
          <a:lstStyle/>
          <a:p>
            <a:pPr eaLnBrk="1" hangingPunct="1"/>
            <a:r>
              <a:rPr lang="en-US" altLang="zh-CN" dirty="0">
                <a:solidFill>
                  <a:srgbClr val="333399"/>
                </a:solidFill>
                <a:latin typeface="华文楷体" panose="02010600040101010101" pitchFamily="2" charset="-122"/>
              </a:rPr>
              <a:t>1.3.8 </a:t>
            </a:r>
            <a:r>
              <a:rPr lang="zh-CN" altLang="en-US" dirty="0">
                <a:solidFill>
                  <a:srgbClr val="333399"/>
                </a:solidFill>
                <a:latin typeface="华文楷体" panose="02010600040101010101" pitchFamily="2" charset="-122"/>
              </a:rPr>
              <a:t>递推关系</a:t>
            </a:r>
            <a:r>
              <a:rPr lang="en-US" altLang="zh-CN" dirty="0">
                <a:solidFill>
                  <a:srgbClr val="333399"/>
                </a:solidFill>
                <a:latin typeface="华文楷体" panose="02010600040101010101" pitchFamily="2" charset="-122"/>
              </a:rPr>
              <a:t>——</a:t>
            </a:r>
            <a:r>
              <a:rPr lang="zh-CN" altLang="en-US" dirty="0"/>
              <a:t>代入法</a:t>
            </a:r>
            <a:endParaRPr lang="en-US" altLang="zh-CN" dirty="0" smtClean="0"/>
          </a:p>
        </p:txBody>
      </p:sp>
      <p:sp>
        <p:nvSpPr>
          <p:cNvPr id="17414" name="Rectangle 3"/>
          <p:cNvSpPr>
            <a:spLocks noGrp="1" noChangeArrowheads="1"/>
          </p:cNvSpPr>
          <p:nvPr>
            <p:ph type="body" sz="half" idx="1"/>
          </p:nvPr>
        </p:nvSpPr>
        <p:spPr>
          <a:xfrm>
            <a:off x="746125" y="1239838"/>
            <a:ext cx="8218488" cy="4565650"/>
          </a:xfrm>
        </p:spPr>
        <p:txBody>
          <a:bodyPr/>
          <a:lstStyle/>
          <a:p>
            <a:pPr lvl="0" eaLnBrk="1" hangingPunct="1">
              <a:lnSpc>
                <a:spcPct val="90000"/>
              </a:lnSpc>
              <a:defRPr/>
            </a:pPr>
            <a:r>
              <a:rPr lang="zh-CN" altLang="en-US" dirty="0">
                <a:solidFill>
                  <a:srgbClr val="333399"/>
                </a:solidFill>
                <a:sym typeface="Symbol" panose="05050102010706020507" pitchFamily="18" charset="2"/>
              </a:rPr>
              <a:t>例子</a:t>
            </a:r>
            <a:endParaRPr lang="en-US" altLang="zh-CN" dirty="0">
              <a:solidFill>
                <a:srgbClr val="333399"/>
              </a:solidFill>
              <a:sym typeface="Symbol" panose="05050102010706020507" pitchFamily="18" charset="2"/>
            </a:endParaRPr>
          </a:p>
          <a:p>
            <a:pPr lvl="1" eaLnBrk="1" hangingPunct="1">
              <a:lnSpc>
                <a:spcPct val="90000"/>
              </a:lnSpc>
              <a:defRPr/>
            </a:pPr>
            <a:r>
              <a:rPr lang="zh-CN" altLang="en-US" dirty="0" smtClean="0">
                <a:latin typeface="+mn-lt"/>
                <a:ea typeface="+mn-ea"/>
              </a:rPr>
              <a:t>考虑下面的递推式</a:t>
            </a:r>
            <a:endParaRPr lang="en-US" altLang="zh-CN" dirty="0" smtClean="0">
              <a:latin typeface="+mn-lt"/>
              <a:ea typeface="+mn-ea"/>
            </a:endParaRPr>
          </a:p>
          <a:p>
            <a:pPr lvl="1" eaLnBrk="1" hangingPunct="1">
              <a:lnSpc>
                <a:spcPct val="90000"/>
              </a:lnSpc>
              <a:defRPr/>
            </a:pPr>
            <a:endParaRPr lang="en-US" altLang="zh-CN" dirty="0" smtClean="0">
              <a:latin typeface="+mn-lt"/>
              <a:ea typeface="+mn-ea"/>
            </a:endParaRPr>
          </a:p>
          <a:p>
            <a:pPr lvl="1" eaLnBrk="1" hangingPunct="1">
              <a:lnSpc>
                <a:spcPct val="90000"/>
              </a:lnSpc>
              <a:buFontTx/>
              <a:buNone/>
              <a:defRPr/>
            </a:pPr>
            <a:endParaRPr lang="en-US" altLang="zh-CN" dirty="0" smtClean="0">
              <a:latin typeface="+mn-lt"/>
              <a:ea typeface="+mn-ea"/>
            </a:endParaRPr>
          </a:p>
          <a:p>
            <a:pPr lvl="1" eaLnBrk="1" hangingPunct="1">
              <a:lnSpc>
                <a:spcPct val="90000"/>
              </a:lnSpc>
              <a:buFontTx/>
              <a:buNone/>
              <a:defRPr/>
            </a:pPr>
            <a:r>
              <a:rPr lang="zh-CN" altLang="en-US" dirty="0" smtClean="0">
                <a:latin typeface="+mn-lt"/>
                <a:ea typeface="+mn-ea"/>
              </a:rPr>
              <a:t>其中</a:t>
            </a:r>
            <a:r>
              <a:rPr lang="en-US" altLang="zh-CN" dirty="0" smtClean="0">
                <a:latin typeface="+mn-lt"/>
                <a:ea typeface="+mn-ea"/>
              </a:rPr>
              <a:t>b, c</a:t>
            </a:r>
            <a:r>
              <a:rPr lang="en-US" altLang="zh-CN" baseline="-25000" dirty="0" smtClean="0">
                <a:latin typeface="+mn-lt"/>
                <a:ea typeface="+mn-ea"/>
              </a:rPr>
              <a:t>1</a:t>
            </a:r>
            <a:r>
              <a:rPr lang="en-US" altLang="zh-CN" dirty="0" smtClean="0">
                <a:latin typeface="+mn-lt"/>
                <a:ea typeface="+mn-ea"/>
              </a:rPr>
              <a:t> </a:t>
            </a:r>
            <a:r>
              <a:rPr lang="zh-CN" altLang="en-US" dirty="0" smtClean="0">
                <a:latin typeface="+mn-lt"/>
                <a:ea typeface="+mn-ea"/>
              </a:rPr>
              <a:t>，</a:t>
            </a:r>
            <a:r>
              <a:rPr lang="en-US" altLang="zh-CN" dirty="0" smtClean="0">
                <a:latin typeface="+mn-lt"/>
                <a:ea typeface="+mn-ea"/>
              </a:rPr>
              <a:t>c2 </a:t>
            </a:r>
            <a:r>
              <a:rPr lang="zh-CN" altLang="en-US" dirty="0" smtClean="0">
                <a:latin typeface="+mn-lt"/>
                <a:ea typeface="+mn-ea"/>
              </a:rPr>
              <a:t>是正常数，且</a:t>
            </a:r>
            <a:r>
              <a:rPr lang="en-US" altLang="zh-CN" dirty="0" smtClean="0">
                <a:latin typeface="+mn-lt"/>
                <a:ea typeface="+mn-ea"/>
              </a:rPr>
              <a:t>c</a:t>
            </a:r>
            <a:r>
              <a:rPr lang="en-US" altLang="zh-CN" baseline="-25000" dirty="0" smtClean="0">
                <a:latin typeface="+mn-lt"/>
                <a:ea typeface="+mn-ea"/>
              </a:rPr>
              <a:t>1</a:t>
            </a:r>
            <a:r>
              <a:rPr lang="en-US" altLang="zh-CN" dirty="0" smtClean="0">
                <a:latin typeface="+mn-lt"/>
                <a:ea typeface="+mn-ea"/>
              </a:rPr>
              <a:t>+c</a:t>
            </a:r>
            <a:r>
              <a:rPr lang="en-US" altLang="zh-CN" baseline="-25000" dirty="0" smtClean="0">
                <a:latin typeface="+mn-lt"/>
                <a:ea typeface="+mn-ea"/>
              </a:rPr>
              <a:t>2</a:t>
            </a:r>
            <a:r>
              <a:rPr lang="en-US" altLang="zh-CN" dirty="0" smtClean="0">
                <a:latin typeface="+mn-lt"/>
                <a:ea typeface="+mn-ea"/>
              </a:rPr>
              <a:t>=1</a:t>
            </a:r>
            <a:r>
              <a:rPr lang="zh-CN" altLang="en-US" dirty="0" smtClean="0">
                <a:latin typeface="+mn-lt"/>
                <a:ea typeface="+mn-ea"/>
              </a:rPr>
              <a:t>，当</a:t>
            </a:r>
            <a:r>
              <a:rPr lang="en-US" altLang="zh-CN" dirty="0" smtClean="0">
                <a:latin typeface="+mn-lt"/>
                <a:ea typeface="+mn-ea"/>
              </a:rPr>
              <a:t>c</a:t>
            </a:r>
            <a:r>
              <a:rPr lang="en-US" altLang="zh-CN" baseline="-25000" dirty="0" smtClean="0">
                <a:latin typeface="+mn-lt"/>
                <a:ea typeface="+mn-ea"/>
              </a:rPr>
              <a:t>1</a:t>
            </a:r>
            <a:r>
              <a:rPr lang="en-US" altLang="zh-CN" dirty="0" smtClean="0">
                <a:latin typeface="+mn-lt"/>
                <a:ea typeface="+mn-ea"/>
              </a:rPr>
              <a:t>=c</a:t>
            </a:r>
            <a:r>
              <a:rPr lang="en-US" altLang="zh-CN" baseline="-25000" dirty="0" smtClean="0">
                <a:latin typeface="+mn-lt"/>
                <a:ea typeface="+mn-ea"/>
              </a:rPr>
              <a:t>2</a:t>
            </a:r>
            <a:r>
              <a:rPr lang="en-US" altLang="zh-CN" dirty="0" smtClean="0">
                <a:latin typeface="+mn-lt"/>
                <a:ea typeface="+mn-ea"/>
              </a:rPr>
              <a:t>=1/2, n </a:t>
            </a:r>
            <a:r>
              <a:rPr lang="zh-CN" altLang="en-US" dirty="0" smtClean="0">
                <a:latin typeface="+mn-lt"/>
                <a:ea typeface="+mn-ea"/>
              </a:rPr>
              <a:t>是</a:t>
            </a:r>
            <a:r>
              <a:rPr lang="en-US" altLang="zh-CN" dirty="0" smtClean="0">
                <a:latin typeface="+mn-lt"/>
                <a:ea typeface="+mn-ea"/>
              </a:rPr>
              <a:t>2</a:t>
            </a:r>
            <a:r>
              <a:rPr lang="zh-CN" altLang="en-US" dirty="0" smtClean="0">
                <a:latin typeface="+mn-lt"/>
                <a:ea typeface="+mn-ea"/>
              </a:rPr>
              <a:t>的幂时，上述递推式可以化简为</a:t>
            </a:r>
            <a:endParaRPr lang="en-US" altLang="zh-CN" dirty="0" smtClean="0">
              <a:latin typeface="+mn-lt"/>
              <a:ea typeface="+mn-ea"/>
            </a:endParaRPr>
          </a:p>
          <a:p>
            <a:pPr lvl="1" eaLnBrk="1" hangingPunct="1">
              <a:lnSpc>
                <a:spcPct val="90000"/>
              </a:lnSpc>
              <a:buFontTx/>
              <a:buNone/>
              <a:defRPr/>
            </a:pPr>
            <a:endParaRPr lang="en-US" altLang="zh-CN" dirty="0" smtClean="0">
              <a:latin typeface="+mn-lt"/>
              <a:ea typeface="+mn-ea"/>
            </a:endParaRPr>
          </a:p>
          <a:p>
            <a:pPr lvl="1" eaLnBrk="1" hangingPunct="1">
              <a:lnSpc>
                <a:spcPct val="90000"/>
              </a:lnSpc>
              <a:buFontTx/>
              <a:buNone/>
              <a:defRPr/>
            </a:pPr>
            <a:endParaRPr lang="en-US" altLang="zh-CN" sz="1000" dirty="0" smtClean="0">
              <a:latin typeface="+mn-lt"/>
              <a:ea typeface="+mn-ea"/>
            </a:endParaRPr>
          </a:p>
          <a:p>
            <a:pPr lvl="1" eaLnBrk="1" hangingPunct="1">
              <a:lnSpc>
                <a:spcPct val="90000"/>
              </a:lnSpc>
              <a:buFontTx/>
              <a:buNone/>
              <a:defRPr/>
            </a:pPr>
            <a:r>
              <a:rPr lang="zh-CN" altLang="en-US" dirty="0" smtClean="0">
                <a:latin typeface="+mn-lt"/>
                <a:ea typeface="+mn-ea"/>
              </a:rPr>
              <a:t>由推论</a:t>
            </a:r>
            <a:r>
              <a:rPr lang="en-US" altLang="zh-CN" dirty="0" smtClean="0">
                <a:latin typeface="+mn-lt"/>
                <a:ea typeface="+mn-ea"/>
              </a:rPr>
              <a:t>2.2</a:t>
            </a:r>
            <a:r>
              <a:rPr lang="zh-CN" altLang="en-US" dirty="0" smtClean="0">
                <a:latin typeface="+mn-lt"/>
                <a:ea typeface="+mn-ea"/>
              </a:rPr>
              <a:t>，它的解是</a:t>
            </a:r>
            <a:r>
              <a:rPr lang="en-US" altLang="zh-CN" dirty="0" err="1" smtClean="0">
                <a:latin typeface="+mn-lt"/>
                <a:ea typeface="+mn-ea"/>
              </a:rPr>
              <a:t>bnlogn+bn</a:t>
            </a:r>
            <a:r>
              <a:rPr lang="zh-CN" altLang="en-US" dirty="0" smtClean="0">
                <a:latin typeface="+mn-lt"/>
                <a:ea typeface="+mn-ea"/>
              </a:rPr>
              <a:t>，因此我们可以猜测，对于某个常数</a:t>
            </a:r>
            <a:r>
              <a:rPr lang="en-US" altLang="zh-CN" dirty="0" smtClean="0">
                <a:latin typeface="+mn-lt"/>
                <a:ea typeface="+mn-ea"/>
                <a:sym typeface="Symbol" panose="05050102010706020507" pitchFamily="18" charset="2"/>
              </a:rPr>
              <a:t>c&gt;0 </a:t>
            </a:r>
            <a:r>
              <a:rPr lang="zh-CN" altLang="en-US" dirty="0" smtClean="0">
                <a:latin typeface="+mn-lt"/>
                <a:ea typeface="+mn-ea"/>
                <a:sym typeface="Symbol" panose="05050102010706020507" pitchFamily="18" charset="2"/>
              </a:rPr>
              <a:t>，</a:t>
            </a:r>
            <a:r>
              <a:rPr lang="en-US" altLang="zh-CN" dirty="0" smtClean="0">
                <a:latin typeface="+mn-lt"/>
                <a:ea typeface="+mn-ea"/>
              </a:rPr>
              <a:t>f(n)</a:t>
            </a:r>
            <a:r>
              <a:rPr lang="en-US" altLang="zh-CN" dirty="0" smtClean="0">
                <a:latin typeface="+mn-lt"/>
                <a:ea typeface="+mn-ea"/>
                <a:sym typeface="Symbol" panose="05050102010706020507" pitchFamily="18" charset="2"/>
              </a:rPr>
              <a:t></a:t>
            </a:r>
            <a:r>
              <a:rPr lang="en-US" altLang="zh-CN" dirty="0" err="1" smtClean="0">
                <a:latin typeface="+mn-lt"/>
                <a:ea typeface="+mn-ea"/>
                <a:sym typeface="Symbol" panose="05050102010706020507" pitchFamily="18" charset="2"/>
              </a:rPr>
              <a:t>cbnlogn+bn</a:t>
            </a:r>
            <a:r>
              <a:rPr lang="zh-CN" altLang="en-US" dirty="0" smtClean="0">
                <a:latin typeface="+mn-lt"/>
                <a:ea typeface="+mn-ea"/>
                <a:sym typeface="Symbol" panose="05050102010706020507" pitchFamily="18" charset="2"/>
              </a:rPr>
              <a:t>，</a:t>
            </a:r>
            <a:r>
              <a:rPr lang="en-US" altLang="zh-CN" dirty="0" smtClean="0">
                <a:latin typeface="+mn-lt"/>
                <a:ea typeface="+mn-ea"/>
                <a:sym typeface="Symbol" panose="05050102010706020507" pitchFamily="18" charset="2"/>
              </a:rPr>
              <a:t>c</a:t>
            </a:r>
            <a:r>
              <a:rPr lang="zh-CN" altLang="en-US" dirty="0" smtClean="0">
                <a:latin typeface="+mn-lt"/>
                <a:ea typeface="+mn-ea"/>
                <a:sym typeface="Symbol" panose="05050102010706020507" pitchFamily="18" charset="2"/>
              </a:rPr>
              <a:t>的值后面来确定</a:t>
            </a:r>
            <a:r>
              <a:rPr lang="en-US" altLang="zh-CN" dirty="0" smtClean="0">
                <a:latin typeface="+mn-lt"/>
                <a:ea typeface="+mn-ea"/>
                <a:sym typeface="Symbol" panose="05050102010706020507" pitchFamily="18" charset="2"/>
              </a:rPr>
              <a:t>.</a:t>
            </a:r>
            <a:endParaRPr lang="en-US" altLang="zh-CN" dirty="0" smtClean="0">
              <a:latin typeface="+mn-lt"/>
              <a:ea typeface="+mn-ea"/>
              <a:sym typeface="Symbol" panose="05050102010706020507" pitchFamily="18" charset="2"/>
            </a:endParaRPr>
          </a:p>
          <a:p>
            <a:pPr lvl="1" eaLnBrk="1" hangingPunct="1">
              <a:lnSpc>
                <a:spcPct val="90000"/>
              </a:lnSpc>
              <a:buFontTx/>
              <a:buNone/>
              <a:defRPr/>
            </a:pPr>
            <a:r>
              <a:rPr lang="en-US" altLang="zh-CN" sz="2400" dirty="0" smtClean="0">
                <a:sym typeface="Symbol" panose="05050102010706020507" pitchFamily="18" charset="2"/>
              </a:rPr>
              <a:t>  </a:t>
            </a:r>
            <a:r>
              <a:rPr lang="zh-CN" altLang="en-US" sz="2400" dirty="0" smtClean="0">
                <a:sym typeface="Symbol" panose="05050102010706020507" pitchFamily="18" charset="2"/>
              </a:rPr>
              <a:t>见</a:t>
            </a:r>
            <a:r>
              <a:rPr lang="en-US" altLang="zh-CN" sz="2400" dirty="0" smtClean="0">
                <a:sym typeface="Symbol" panose="05050102010706020507" pitchFamily="18" charset="2"/>
              </a:rPr>
              <a:t>p56. </a:t>
            </a:r>
            <a:endParaRPr lang="en-US" altLang="zh-CN" sz="2400" dirty="0" smtClean="0">
              <a:sym typeface="Symbol" panose="05050102010706020507" pitchFamily="18" charset="2"/>
            </a:endParaRPr>
          </a:p>
          <a:p>
            <a:pPr lvl="1" eaLnBrk="1" hangingPunct="1">
              <a:lnSpc>
                <a:spcPct val="90000"/>
              </a:lnSpc>
              <a:buFontTx/>
              <a:buNone/>
              <a:defRPr/>
            </a:pPr>
            <a:endParaRPr lang="en-US" altLang="zh-CN" sz="2400" dirty="0" smtClean="0"/>
          </a:p>
        </p:txBody>
      </p:sp>
      <p:graphicFrame>
        <p:nvGraphicFramePr>
          <p:cNvPr id="123909" name="Object 4"/>
          <p:cNvGraphicFramePr>
            <a:graphicFrameLocks noGrp="1" noChangeAspect="1"/>
          </p:cNvGraphicFramePr>
          <p:nvPr>
            <p:ph sz="quarter" idx="2"/>
          </p:nvPr>
        </p:nvGraphicFramePr>
        <p:xfrm>
          <a:off x="4143375" y="1785938"/>
          <a:ext cx="3338513" cy="866775"/>
        </p:xfrm>
        <a:graphic>
          <a:graphicData uri="http://schemas.openxmlformats.org/presentationml/2006/ole">
            <mc:AlternateContent xmlns:mc="http://schemas.openxmlformats.org/markup-compatibility/2006">
              <mc:Choice xmlns:v="urn:schemas-microsoft-com:vml" Requires="v">
                <p:oleObj spid="_x0000_s20522" name="公式" r:id="rId1" imgW="2844800" imgH="698500" progId="Equation.3">
                  <p:embed/>
                </p:oleObj>
              </mc:Choice>
              <mc:Fallback>
                <p:oleObj name="公式" r:id="rId1" imgW="2844800" imgH="698500" progId="Equation.3">
                  <p:embed/>
                  <p:pic>
                    <p:nvPicPr>
                      <p:cNvPr id="0" name="Object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43375" y="1785938"/>
                        <a:ext cx="3338513" cy="866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23910" name="Object 6"/>
          <p:cNvGraphicFramePr>
            <a:graphicFrameLocks noGrp="1" noChangeAspect="1"/>
          </p:cNvGraphicFramePr>
          <p:nvPr>
            <p:ph sz="quarter" idx="3"/>
          </p:nvPr>
        </p:nvGraphicFramePr>
        <p:xfrm>
          <a:off x="4572000" y="3357563"/>
          <a:ext cx="2566988" cy="590550"/>
        </p:xfrm>
        <a:graphic>
          <a:graphicData uri="http://schemas.openxmlformats.org/presentationml/2006/ole">
            <mc:AlternateContent xmlns:mc="http://schemas.openxmlformats.org/markup-compatibility/2006">
              <mc:Choice xmlns:v="urn:schemas-microsoft-com:vml" Requires="v">
                <p:oleObj spid="_x0000_s20523" name="公式" r:id="rId3" imgW="2159000" imgH="469900" progId="Equation.3">
                  <p:embed/>
                </p:oleObj>
              </mc:Choice>
              <mc:Fallback>
                <p:oleObj name="公式" r:id="rId3" imgW="2159000" imgH="469900" progId="Equation.3">
                  <p:embed/>
                  <p:pic>
                    <p:nvPicPr>
                      <p:cNvPr id="0" name="Object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2000" y="3357563"/>
                        <a:ext cx="2566988" cy="590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4" name="页脚占位符 5"/>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125955" name="Rectangle 2"/>
          <p:cNvSpPr>
            <a:spLocks noGrp="1" noChangeArrowheads="1"/>
          </p:cNvSpPr>
          <p:nvPr>
            <p:ph type="title"/>
          </p:nvPr>
        </p:nvSpPr>
        <p:spPr/>
        <p:txBody>
          <a:bodyPr/>
          <a:lstStyle/>
          <a:p>
            <a:pPr eaLnBrk="1" hangingPunct="1"/>
            <a:r>
              <a:rPr lang="en-US" altLang="zh-CN" dirty="0">
                <a:solidFill>
                  <a:srgbClr val="333399"/>
                </a:solidFill>
                <a:latin typeface="华文楷体" panose="02010600040101010101" pitchFamily="2" charset="-122"/>
              </a:rPr>
              <a:t>1.3.8 </a:t>
            </a:r>
            <a:r>
              <a:rPr lang="zh-CN" altLang="en-US" dirty="0">
                <a:solidFill>
                  <a:srgbClr val="333399"/>
                </a:solidFill>
                <a:latin typeface="华文楷体" panose="02010600040101010101" pitchFamily="2" charset="-122"/>
              </a:rPr>
              <a:t>递推关系</a:t>
            </a:r>
            <a:r>
              <a:rPr lang="en-US" altLang="zh-CN" dirty="0">
                <a:solidFill>
                  <a:srgbClr val="333399"/>
                </a:solidFill>
                <a:latin typeface="华文楷体" panose="02010600040101010101" pitchFamily="2" charset="-122"/>
              </a:rPr>
              <a:t>——</a:t>
            </a:r>
            <a:r>
              <a:rPr lang="zh-CN" altLang="en-US" dirty="0"/>
              <a:t>代入法</a:t>
            </a:r>
            <a:endParaRPr lang="en-US" altLang="zh-CN" dirty="0" smtClean="0"/>
          </a:p>
        </p:txBody>
      </p:sp>
      <p:sp>
        <p:nvSpPr>
          <p:cNvPr id="125956" name="Rectangle 3"/>
          <p:cNvSpPr>
            <a:spLocks noGrp="1" noChangeArrowheads="1"/>
          </p:cNvSpPr>
          <p:nvPr>
            <p:ph type="body" sz="half" idx="1"/>
          </p:nvPr>
        </p:nvSpPr>
        <p:spPr>
          <a:xfrm>
            <a:off x="817563" y="1196975"/>
            <a:ext cx="8218487" cy="4565650"/>
          </a:xfrm>
        </p:spPr>
        <p:txBody>
          <a:bodyPr/>
          <a:lstStyle/>
          <a:p>
            <a:pPr eaLnBrk="1" hangingPunct="1"/>
            <a:r>
              <a:rPr lang="en-US" altLang="zh-CN" dirty="0" smtClean="0"/>
              <a:t>   </a:t>
            </a:r>
            <a:r>
              <a:rPr lang="zh-CN" altLang="en-US" dirty="0" smtClean="0"/>
              <a:t>定理</a:t>
            </a:r>
            <a:r>
              <a:rPr lang="en-US" altLang="zh-CN" dirty="0" smtClean="0"/>
              <a:t> 2.7</a:t>
            </a:r>
            <a:endParaRPr lang="en-US" altLang="zh-CN" dirty="0" smtClean="0"/>
          </a:p>
          <a:p>
            <a:pPr eaLnBrk="1" hangingPunct="1"/>
            <a:endParaRPr lang="en-US" altLang="zh-CN" sz="800" dirty="0" smtClean="0"/>
          </a:p>
          <a:p>
            <a:pPr lvl="1" eaLnBrk="1" hangingPunct="1"/>
            <a:r>
              <a:rPr lang="zh-CN" altLang="en-US" dirty="0">
                <a:latin typeface="+mn-lt"/>
                <a:ea typeface="+mn-ea"/>
              </a:rPr>
              <a:t>设</a:t>
            </a:r>
            <a:r>
              <a:rPr lang="en-US" altLang="zh-CN" dirty="0">
                <a:latin typeface="+mn-lt"/>
                <a:ea typeface="+mn-ea"/>
              </a:rPr>
              <a:t> </a:t>
            </a:r>
            <a:r>
              <a:rPr lang="en-US" altLang="zh-CN" dirty="0" err="1">
                <a:latin typeface="+mn-lt"/>
                <a:ea typeface="+mn-ea"/>
              </a:rPr>
              <a:t>b,c1</a:t>
            </a:r>
            <a:r>
              <a:rPr lang="en-US" altLang="zh-CN" dirty="0">
                <a:latin typeface="+mn-lt"/>
                <a:ea typeface="+mn-ea"/>
              </a:rPr>
              <a:t> ,</a:t>
            </a:r>
            <a:r>
              <a:rPr lang="en-US" altLang="zh-CN" dirty="0" err="1">
                <a:latin typeface="+mn-lt"/>
                <a:ea typeface="+mn-ea"/>
              </a:rPr>
              <a:t>c2</a:t>
            </a:r>
            <a:r>
              <a:rPr lang="en-US" altLang="zh-CN" dirty="0">
                <a:latin typeface="+mn-lt"/>
                <a:ea typeface="+mn-ea"/>
              </a:rPr>
              <a:t> </a:t>
            </a:r>
            <a:r>
              <a:rPr lang="zh-CN" altLang="en-US" dirty="0">
                <a:latin typeface="+mn-lt"/>
                <a:ea typeface="+mn-ea"/>
              </a:rPr>
              <a:t>是非负常数，那么递推式</a:t>
            </a:r>
            <a:endParaRPr lang="en-US" altLang="zh-CN" dirty="0">
              <a:latin typeface="+mn-lt"/>
              <a:ea typeface="+mn-ea"/>
            </a:endParaRPr>
          </a:p>
          <a:p>
            <a:pPr eaLnBrk="1" hangingPunct="1">
              <a:buFontTx/>
              <a:buNone/>
            </a:pPr>
            <a:endParaRPr lang="en-US" altLang="zh-CN" sz="2200" dirty="0" smtClean="0"/>
          </a:p>
          <a:p>
            <a:pPr eaLnBrk="1" hangingPunct="1">
              <a:buFontTx/>
              <a:buNone/>
            </a:pPr>
            <a:endParaRPr lang="en-US" altLang="zh-CN" sz="1800" dirty="0" smtClean="0"/>
          </a:p>
          <a:p>
            <a:pPr eaLnBrk="1" hangingPunct="1">
              <a:buFontTx/>
              <a:buNone/>
            </a:pPr>
            <a:r>
              <a:rPr lang="en-US" altLang="zh-CN" sz="1800" dirty="0" smtClean="0"/>
              <a:t>  </a:t>
            </a:r>
            <a:endParaRPr lang="en-US" altLang="zh-CN" sz="1800" dirty="0" smtClean="0"/>
          </a:p>
          <a:p>
            <a:pPr eaLnBrk="1" hangingPunct="1">
              <a:buFontTx/>
              <a:buNone/>
            </a:pPr>
            <a:r>
              <a:rPr lang="en-US" altLang="zh-CN" sz="2100" dirty="0" smtClean="0">
                <a:solidFill>
                  <a:srgbClr val="EA0000"/>
                </a:solidFill>
              </a:rPr>
              <a:t>        </a:t>
            </a:r>
            <a:r>
              <a:rPr lang="zh-CN" altLang="en-US" sz="2100" dirty="0" smtClean="0">
                <a:solidFill>
                  <a:srgbClr val="EA0000"/>
                </a:solidFill>
              </a:rPr>
              <a:t>的解是</a:t>
            </a:r>
            <a:r>
              <a:rPr lang="en-US" altLang="zh-CN" sz="2100" dirty="0" smtClean="0">
                <a:solidFill>
                  <a:srgbClr val="EA0000"/>
                </a:solidFill>
              </a:rPr>
              <a:t> </a:t>
            </a:r>
            <a:endParaRPr lang="en-US" altLang="zh-CN" sz="2100" dirty="0" smtClean="0">
              <a:solidFill>
                <a:srgbClr val="EA0000"/>
              </a:solidFill>
            </a:endParaRPr>
          </a:p>
          <a:p>
            <a:pPr eaLnBrk="1" hangingPunct="1">
              <a:buFontTx/>
              <a:buNone/>
            </a:pPr>
            <a:endParaRPr lang="en-US" altLang="zh-CN" sz="2100" dirty="0" smtClean="0">
              <a:solidFill>
                <a:srgbClr val="EA0000"/>
              </a:solidFill>
            </a:endParaRPr>
          </a:p>
          <a:p>
            <a:pPr eaLnBrk="1" hangingPunct="1">
              <a:buFontTx/>
              <a:buNone/>
            </a:pPr>
            <a:endParaRPr lang="en-US" altLang="zh-CN" sz="2100" dirty="0" smtClean="0"/>
          </a:p>
        </p:txBody>
      </p:sp>
      <p:graphicFrame>
        <p:nvGraphicFramePr>
          <p:cNvPr id="125957" name="Object 4"/>
          <p:cNvGraphicFramePr>
            <a:graphicFrameLocks noGrp="1" noChangeAspect="1"/>
          </p:cNvGraphicFramePr>
          <p:nvPr>
            <p:ph sz="quarter" idx="2"/>
          </p:nvPr>
        </p:nvGraphicFramePr>
        <p:xfrm>
          <a:off x="2143125" y="2214563"/>
          <a:ext cx="4113213" cy="1096962"/>
        </p:xfrm>
        <a:graphic>
          <a:graphicData uri="http://schemas.openxmlformats.org/presentationml/2006/ole">
            <mc:AlternateContent xmlns:mc="http://schemas.openxmlformats.org/markup-compatibility/2006">
              <mc:Choice xmlns:v="urn:schemas-microsoft-com:vml" Requires="v">
                <p:oleObj spid="_x0000_s21546" name="公式" r:id="rId1" imgW="2768600" imgH="698500" progId="Equation.3">
                  <p:embed/>
                </p:oleObj>
              </mc:Choice>
              <mc:Fallback>
                <p:oleObj name="公式" r:id="rId1" imgW="2768600" imgH="698500" progId="Equation.3">
                  <p:embed/>
                  <p:pic>
                    <p:nvPicPr>
                      <p:cNvPr id="0" name="Object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43125" y="2214563"/>
                        <a:ext cx="4113213" cy="1096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25958" name="Object 6"/>
          <p:cNvGraphicFramePr>
            <a:graphicFrameLocks noGrp="1" noChangeAspect="1"/>
          </p:cNvGraphicFramePr>
          <p:nvPr>
            <p:ph sz="quarter" idx="3"/>
          </p:nvPr>
        </p:nvGraphicFramePr>
        <p:xfrm>
          <a:off x="2051050" y="4005263"/>
          <a:ext cx="4900613" cy="836612"/>
        </p:xfrm>
        <a:graphic>
          <a:graphicData uri="http://schemas.openxmlformats.org/presentationml/2006/ole">
            <mc:AlternateContent xmlns:mc="http://schemas.openxmlformats.org/markup-compatibility/2006">
              <mc:Choice xmlns:v="urn:schemas-microsoft-com:vml" Requires="v">
                <p:oleObj spid="_x0000_s21547" name="公式" r:id="rId3" imgW="1651000" imgH="266700" progId="Equation.3">
                  <p:embed/>
                </p:oleObj>
              </mc:Choice>
              <mc:Fallback>
                <p:oleObj name="公式" r:id="rId3" imgW="1651000" imgH="266700" progId="Equation.3">
                  <p:embed/>
                  <p:pic>
                    <p:nvPicPr>
                      <p:cNvPr id="0" name="Object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51050" y="4005263"/>
                        <a:ext cx="4900613" cy="836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125959" name="Picture 9" descr="theorem"/>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00113" y="1268413"/>
            <a:ext cx="533400"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002"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128003" name="Rectangle 2"/>
          <p:cNvSpPr>
            <a:spLocks noGrp="1" noChangeArrowheads="1"/>
          </p:cNvSpPr>
          <p:nvPr>
            <p:ph type="title"/>
          </p:nvPr>
        </p:nvSpPr>
        <p:spPr/>
        <p:txBody>
          <a:bodyPr/>
          <a:lstStyle/>
          <a:p>
            <a:pPr eaLnBrk="1" hangingPunct="1"/>
            <a:r>
              <a:rPr lang="en-US" altLang="zh-CN" dirty="0">
                <a:solidFill>
                  <a:srgbClr val="333399"/>
                </a:solidFill>
                <a:latin typeface="华文楷体" panose="02010600040101010101" pitchFamily="2" charset="-122"/>
              </a:rPr>
              <a:t>1.3.8 </a:t>
            </a:r>
            <a:r>
              <a:rPr lang="zh-CN" altLang="en-US" dirty="0">
                <a:solidFill>
                  <a:srgbClr val="333399"/>
                </a:solidFill>
                <a:latin typeface="华文楷体" panose="02010600040101010101" pitchFamily="2" charset="-122"/>
              </a:rPr>
              <a:t>递推关系</a:t>
            </a:r>
            <a:r>
              <a:rPr lang="en-US" altLang="zh-CN" dirty="0" smtClean="0">
                <a:solidFill>
                  <a:srgbClr val="333399"/>
                </a:solidFill>
                <a:latin typeface="华文楷体" panose="02010600040101010101" pitchFamily="2" charset="-122"/>
              </a:rPr>
              <a:t>——</a:t>
            </a:r>
            <a:r>
              <a:rPr lang="zh-CN" altLang="en-US" dirty="0" smtClean="0"/>
              <a:t>更换变元</a:t>
            </a:r>
            <a:endParaRPr lang="en-US" altLang="zh-CN" dirty="0" smtClean="0"/>
          </a:p>
        </p:txBody>
      </p:sp>
      <p:sp>
        <p:nvSpPr>
          <p:cNvPr id="128004" name="Rectangle 3"/>
          <p:cNvSpPr>
            <a:spLocks noGrp="1" noChangeArrowheads="1"/>
          </p:cNvSpPr>
          <p:nvPr>
            <p:ph type="body" idx="1"/>
          </p:nvPr>
        </p:nvSpPr>
        <p:spPr/>
        <p:txBody>
          <a:bodyPr/>
          <a:lstStyle/>
          <a:p>
            <a:pPr eaLnBrk="1" hangingPunct="1"/>
            <a:endParaRPr lang="en-US" altLang="zh-CN" sz="2800" smtClean="0"/>
          </a:p>
          <a:p>
            <a:pPr eaLnBrk="1" hangingPunct="1"/>
            <a:r>
              <a:rPr lang="zh-CN" altLang="en-US" sz="2800" smtClean="0"/>
              <a:t>在有些递推式中，如果改变函数的定义域，在新的定义域中定义一个新的易于求解的递推关系，这样会更加方便。</a:t>
            </a:r>
            <a:endParaRPr lang="en-US" altLang="zh-CN" sz="2800" smtClean="0"/>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50" name="页脚占位符 4"/>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130051" name="Rectangle 2"/>
          <p:cNvSpPr>
            <a:spLocks noGrp="1" noChangeArrowheads="1"/>
          </p:cNvSpPr>
          <p:nvPr>
            <p:ph type="title"/>
          </p:nvPr>
        </p:nvSpPr>
        <p:spPr/>
        <p:txBody>
          <a:bodyPr/>
          <a:lstStyle/>
          <a:p>
            <a:pPr eaLnBrk="1" hangingPunct="1"/>
            <a:r>
              <a:rPr lang="en-US" altLang="zh-CN" dirty="0">
                <a:solidFill>
                  <a:srgbClr val="333399"/>
                </a:solidFill>
                <a:latin typeface="华文楷体" panose="02010600040101010101" pitchFamily="2" charset="-122"/>
              </a:rPr>
              <a:t>1.3.8 </a:t>
            </a:r>
            <a:r>
              <a:rPr lang="zh-CN" altLang="en-US" dirty="0">
                <a:solidFill>
                  <a:srgbClr val="333399"/>
                </a:solidFill>
                <a:latin typeface="华文楷体" panose="02010600040101010101" pitchFamily="2" charset="-122"/>
              </a:rPr>
              <a:t>递推关系</a:t>
            </a:r>
            <a:r>
              <a:rPr lang="en-US" altLang="zh-CN" dirty="0">
                <a:solidFill>
                  <a:srgbClr val="333399"/>
                </a:solidFill>
                <a:latin typeface="华文楷体" panose="02010600040101010101" pitchFamily="2" charset="-122"/>
              </a:rPr>
              <a:t>——</a:t>
            </a:r>
            <a:r>
              <a:rPr lang="zh-CN" altLang="en-US" dirty="0"/>
              <a:t>更换变元</a:t>
            </a:r>
            <a:endParaRPr lang="en-US" altLang="zh-CN" dirty="0" smtClean="0"/>
          </a:p>
        </p:txBody>
      </p:sp>
      <p:sp>
        <p:nvSpPr>
          <p:cNvPr id="130052" name="Rectangle 3"/>
          <p:cNvSpPr>
            <a:spLocks noGrp="1" noChangeArrowheads="1"/>
          </p:cNvSpPr>
          <p:nvPr>
            <p:ph type="body" sz="half" idx="1"/>
          </p:nvPr>
        </p:nvSpPr>
        <p:spPr>
          <a:xfrm>
            <a:off x="890588" y="1196975"/>
            <a:ext cx="8218487" cy="4565650"/>
          </a:xfrm>
        </p:spPr>
        <p:txBody>
          <a:bodyPr/>
          <a:lstStyle/>
          <a:p>
            <a:pPr lvl="0" eaLnBrk="1" hangingPunct="1">
              <a:lnSpc>
                <a:spcPct val="90000"/>
              </a:lnSpc>
              <a:defRPr/>
            </a:pPr>
            <a:r>
              <a:rPr lang="zh-CN" altLang="en-US" dirty="0">
                <a:solidFill>
                  <a:srgbClr val="333399"/>
                </a:solidFill>
                <a:sym typeface="Symbol" panose="05050102010706020507" pitchFamily="18" charset="2"/>
              </a:rPr>
              <a:t>例子</a:t>
            </a:r>
            <a:endParaRPr lang="en-US" altLang="zh-CN" dirty="0">
              <a:solidFill>
                <a:srgbClr val="333399"/>
              </a:solidFill>
              <a:sym typeface="Symbol" panose="05050102010706020507" pitchFamily="18" charset="2"/>
            </a:endParaRPr>
          </a:p>
          <a:p>
            <a:pPr lvl="1" eaLnBrk="1" hangingPunct="1"/>
            <a:r>
              <a:rPr lang="zh-CN" altLang="en-US" dirty="0">
                <a:latin typeface="+mn-lt"/>
                <a:ea typeface="+mn-ea"/>
              </a:rPr>
              <a:t>考虑递推式</a:t>
            </a:r>
            <a:endParaRPr lang="en-US" altLang="zh-CN" dirty="0">
              <a:latin typeface="+mn-lt"/>
              <a:ea typeface="+mn-ea"/>
            </a:endParaRPr>
          </a:p>
          <a:p>
            <a:pPr lvl="1" eaLnBrk="1" hangingPunct="1"/>
            <a:endParaRPr lang="en-US" altLang="zh-CN" sz="2400" dirty="0" smtClean="0">
              <a:latin typeface="Arial" panose="020B0604020202090204" pitchFamily="34" charset="0"/>
            </a:endParaRPr>
          </a:p>
          <a:p>
            <a:pPr lvl="1" eaLnBrk="1" hangingPunct="1"/>
            <a:endParaRPr lang="en-US" altLang="zh-CN" sz="2400" dirty="0" smtClean="0">
              <a:latin typeface="Arial" panose="020B0604020202090204" pitchFamily="34" charset="0"/>
            </a:endParaRPr>
          </a:p>
          <a:p>
            <a:pPr lvl="1" eaLnBrk="1" hangingPunct="1"/>
            <a:endParaRPr lang="en-US" altLang="zh-CN" sz="2400" dirty="0" smtClean="0">
              <a:latin typeface="Arial" panose="020B0604020202090204" pitchFamily="34" charset="0"/>
            </a:endParaRPr>
          </a:p>
          <a:p>
            <a:pPr lvl="1" eaLnBrk="1" hangingPunct="1">
              <a:buFontTx/>
              <a:buNone/>
            </a:pPr>
            <a:endParaRPr lang="en-US" altLang="zh-CN" sz="2400" dirty="0" smtClean="0">
              <a:latin typeface="Arial" panose="020B0604020202090204" pitchFamily="34" charset="0"/>
            </a:endParaRPr>
          </a:p>
          <a:p>
            <a:pPr lvl="1" eaLnBrk="1" hangingPunct="1">
              <a:buFontTx/>
              <a:buNone/>
            </a:pPr>
            <a:r>
              <a:rPr lang="en-US" altLang="zh-CN" dirty="0">
                <a:latin typeface="+mn-lt"/>
                <a:ea typeface="+mn-ea"/>
              </a:rPr>
              <a:t>n </a:t>
            </a:r>
            <a:r>
              <a:rPr lang="zh-CN" altLang="en-US" dirty="0">
                <a:latin typeface="+mn-lt"/>
                <a:ea typeface="+mn-ea"/>
              </a:rPr>
              <a:t>是</a:t>
            </a:r>
            <a:r>
              <a:rPr lang="en-US" altLang="zh-CN" dirty="0">
                <a:latin typeface="+mn-lt"/>
                <a:ea typeface="+mn-ea"/>
              </a:rPr>
              <a:t>2</a:t>
            </a:r>
            <a:r>
              <a:rPr lang="zh-CN" altLang="en-US" dirty="0">
                <a:latin typeface="+mn-lt"/>
                <a:ea typeface="+mn-ea"/>
              </a:rPr>
              <a:t>的幂</a:t>
            </a:r>
            <a:endParaRPr lang="en-US" altLang="zh-CN" dirty="0">
              <a:latin typeface="+mn-lt"/>
              <a:ea typeface="+mn-ea"/>
            </a:endParaRPr>
          </a:p>
          <a:p>
            <a:pPr lvl="1" eaLnBrk="1" hangingPunct="1">
              <a:buFontTx/>
              <a:buNone/>
            </a:pPr>
            <a:endParaRPr lang="en-US" altLang="zh-CN" sz="2400" dirty="0" smtClean="0">
              <a:latin typeface="Arial" panose="020B0604020202090204" pitchFamily="34" charset="0"/>
            </a:endParaRPr>
          </a:p>
          <a:p>
            <a:pPr lvl="1" eaLnBrk="1" hangingPunct="1">
              <a:buFontTx/>
              <a:buNone/>
            </a:pPr>
            <a:r>
              <a:rPr lang="zh-CN" altLang="en-US" dirty="0">
                <a:latin typeface="+mn-lt"/>
                <a:ea typeface="+mn-ea"/>
              </a:rPr>
              <a:t>见</a:t>
            </a:r>
            <a:r>
              <a:rPr lang="en-US" altLang="zh-CN" dirty="0" err="1">
                <a:latin typeface="+mn-lt"/>
                <a:ea typeface="+mn-ea"/>
              </a:rPr>
              <a:t>P62</a:t>
            </a:r>
            <a:r>
              <a:rPr lang="en-US" altLang="zh-CN" dirty="0">
                <a:latin typeface="+mn-lt"/>
                <a:ea typeface="+mn-ea"/>
                <a:hlinkClick r:id="rId1" action="ppaction://hlinkfile"/>
              </a:rPr>
              <a:t> </a:t>
            </a:r>
            <a:endParaRPr lang="en-US" altLang="zh-CN" dirty="0">
              <a:latin typeface="+mn-lt"/>
              <a:ea typeface="+mn-ea"/>
            </a:endParaRPr>
          </a:p>
          <a:p>
            <a:pPr lvl="1" eaLnBrk="1" hangingPunct="1"/>
            <a:endParaRPr lang="en-US" altLang="zh-CN" sz="2400" dirty="0" smtClean="0">
              <a:latin typeface="Arial" panose="020B0604020202090204" pitchFamily="34" charset="0"/>
            </a:endParaRPr>
          </a:p>
          <a:p>
            <a:pPr lvl="2" eaLnBrk="1" hangingPunct="1">
              <a:buFontTx/>
              <a:buNone/>
            </a:pPr>
            <a:r>
              <a:rPr lang="en-US" altLang="zh-CN" sz="1800" dirty="0" smtClean="0">
                <a:latin typeface="Arial" panose="020B0604020202090204" pitchFamily="34" charset="0"/>
              </a:rPr>
              <a:t>   </a:t>
            </a:r>
            <a:endParaRPr lang="en-US" altLang="zh-CN" sz="1800" dirty="0" smtClean="0">
              <a:latin typeface="Arial" panose="020B0604020202090204" pitchFamily="34" charset="0"/>
            </a:endParaRPr>
          </a:p>
        </p:txBody>
      </p:sp>
      <p:graphicFrame>
        <p:nvGraphicFramePr>
          <p:cNvPr id="130053" name="Object 10"/>
          <p:cNvGraphicFramePr>
            <a:graphicFrameLocks noGrp="1" noChangeAspect="1"/>
          </p:cNvGraphicFramePr>
          <p:nvPr>
            <p:ph sz="half" idx="2"/>
          </p:nvPr>
        </p:nvGraphicFramePr>
        <p:xfrm>
          <a:off x="2000250" y="2481263"/>
          <a:ext cx="3821113" cy="1262062"/>
        </p:xfrm>
        <a:graphic>
          <a:graphicData uri="http://schemas.openxmlformats.org/presentationml/2006/ole">
            <mc:AlternateContent xmlns:mc="http://schemas.openxmlformats.org/markup-compatibility/2006">
              <mc:Choice xmlns:v="urn:schemas-microsoft-com:vml" Requires="v">
                <p:oleObj spid="_x0000_s22550" name="公式" r:id="rId2" imgW="2235200" imgH="698500" progId="Equation.3">
                  <p:embed/>
                </p:oleObj>
              </mc:Choice>
              <mc:Fallback>
                <p:oleObj name="公式" r:id="rId2" imgW="2235200" imgH="698500" progId="Equation.3">
                  <p:embed/>
                  <p:pic>
                    <p:nvPicPr>
                      <p:cNvPr id="0" name="Object 1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00250" y="2481263"/>
                        <a:ext cx="3821113" cy="12620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pic>
        <p:nvPicPr>
          <p:cNvPr id="130055" name="Picture 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28938" y="3914775"/>
            <a:ext cx="5876925" cy="2371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8" name="标题 1"/>
          <p:cNvSpPr>
            <a:spLocks noGrp="1"/>
          </p:cNvSpPr>
          <p:nvPr>
            <p:ph type="title"/>
          </p:nvPr>
        </p:nvSpPr>
        <p:spPr/>
        <p:txBody>
          <a:bodyPr/>
          <a:lstStyle/>
          <a:p>
            <a:endParaRPr lang="zh-CN" altLang="en-US" smtClean="0"/>
          </a:p>
        </p:txBody>
      </p:sp>
      <p:sp>
        <p:nvSpPr>
          <p:cNvPr id="132099" name="页脚占位符 4"/>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pic>
        <p:nvPicPr>
          <p:cNvPr id="132100"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785813" y="642938"/>
            <a:ext cx="8086725" cy="5495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2" name="标题 1"/>
          <p:cNvSpPr>
            <a:spLocks noGrp="1"/>
          </p:cNvSpPr>
          <p:nvPr>
            <p:ph type="title"/>
          </p:nvPr>
        </p:nvSpPr>
        <p:spPr/>
        <p:txBody>
          <a:bodyPr/>
          <a:lstStyle/>
          <a:p>
            <a:endParaRPr lang="zh-CN" altLang="en-US" dirty="0" smtClean="0"/>
          </a:p>
        </p:txBody>
      </p:sp>
      <p:sp>
        <p:nvSpPr>
          <p:cNvPr id="133123" name="页脚占位符 4"/>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pic>
        <p:nvPicPr>
          <p:cNvPr id="133124"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928688" y="1285875"/>
            <a:ext cx="7697787" cy="2357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2500">
                <a:solidFill>
                  <a:schemeClr val="accent2"/>
                </a:solidFill>
                <a:latin typeface="Times New Roman" panose="02020503050405090304" pitchFamily="18" charset="0"/>
                <a:ea typeface="华文楷体" panose="02010600040101010101" pitchFamily="2" charset="-122"/>
              </a:defRPr>
            </a:lvl1pPr>
            <a:lvl2pPr marL="742950" indent="-285750">
              <a:spcBef>
                <a:spcPct val="20000"/>
              </a:spcBef>
              <a:buChar char="•"/>
              <a:defRPr sz="2200">
                <a:solidFill>
                  <a:schemeClr val="accent2"/>
                </a:solidFill>
                <a:latin typeface="Arial" panose="020B0604020202090204" pitchFamily="34" charset="0"/>
                <a:ea typeface="华文行楷" pitchFamily="2" charset="-122"/>
              </a:defRPr>
            </a:lvl2pPr>
            <a:lvl3pPr marL="1143000" indent="-228600">
              <a:spcBef>
                <a:spcPct val="20000"/>
              </a:spcBef>
              <a:buChar char="•"/>
              <a:defRPr sz="2000">
                <a:solidFill>
                  <a:schemeClr val="accent2"/>
                </a:solidFill>
                <a:latin typeface="Arial" panose="020B0604020202090204" pitchFamily="34" charset="0"/>
                <a:ea typeface="宋体" pitchFamily="2" charset="-122"/>
              </a:defRPr>
            </a:lvl3pPr>
            <a:lvl4pPr marL="1600200" indent="-228600">
              <a:spcBef>
                <a:spcPct val="20000"/>
              </a:spcBef>
              <a:buChar char="•"/>
              <a:defRPr sz="2000">
                <a:solidFill>
                  <a:schemeClr val="tx1"/>
                </a:solidFill>
                <a:latin typeface="Arial" panose="020B0604020202090204" pitchFamily="34" charset="0"/>
                <a:ea typeface="宋体" pitchFamily="2" charset="-122"/>
              </a:defRPr>
            </a:lvl4pPr>
            <a:lvl5pPr marL="2057400" indent="-228600">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a:spcBef>
                <a:spcPct val="0"/>
              </a:spcBef>
              <a:buFontTx/>
              <a:buNone/>
            </a:pPr>
            <a:r>
              <a:rPr lang="en-US" altLang="zh-CN" sz="1400" smtClean="0">
                <a:solidFill>
                  <a:schemeClr val="tx1"/>
                </a:solidFill>
                <a:latin typeface="Arial" panose="020B0604020202090204" pitchFamily="34" charset="0"/>
                <a:ea typeface="宋体" pitchFamily="2" charset="-122"/>
              </a:rPr>
              <a:t>Algorithms Design Techniques and Analysis</a:t>
            </a:r>
            <a:endParaRPr lang="en-US" altLang="zh-CN" sz="1400" smtClean="0">
              <a:solidFill>
                <a:schemeClr val="tx1"/>
              </a:solidFill>
              <a:latin typeface="Arial" panose="020B0604020202090204" pitchFamily="34" charset="0"/>
              <a:ea typeface="宋体" pitchFamily="2" charset="-122"/>
            </a:endParaRPr>
          </a:p>
        </p:txBody>
      </p:sp>
      <p:sp>
        <p:nvSpPr>
          <p:cNvPr id="11267" name="Rectangle 2"/>
          <p:cNvSpPr>
            <a:spLocks noGrp="1" noChangeArrowheads="1"/>
          </p:cNvSpPr>
          <p:nvPr>
            <p:ph type="title"/>
          </p:nvPr>
        </p:nvSpPr>
        <p:spPr/>
        <p:txBody>
          <a:bodyPr/>
          <a:lstStyle/>
          <a:p>
            <a:pPr eaLnBrk="1" hangingPunct="1"/>
            <a:r>
              <a:rPr lang="zh-CN" altLang="en-US" b="0" smtClean="0"/>
              <a:t>主要内容</a:t>
            </a:r>
            <a:endParaRPr lang="en-US" altLang="zh-CN" b="0" smtClean="0"/>
          </a:p>
        </p:txBody>
      </p:sp>
      <p:sp>
        <p:nvSpPr>
          <p:cNvPr id="8196" name="Rectangle 3"/>
          <p:cNvSpPr>
            <a:spLocks noGrp="1" noChangeArrowheads="1"/>
          </p:cNvSpPr>
          <p:nvPr>
            <p:ph type="body" idx="1"/>
          </p:nvPr>
        </p:nvSpPr>
        <p:spPr>
          <a:xfrm>
            <a:off x="962026" y="1883206"/>
            <a:ext cx="6210299" cy="2520117"/>
          </a:xfrm>
        </p:spPr>
        <p:txBody>
          <a:bodyPr/>
          <a:lstStyle/>
          <a:p>
            <a:pPr marL="0" lvl="1" indent="-419100" eaLnBrk="1" hangingPunct="1">
              <a:buFontTx/>
              <a:buNone/>
              <a:defRPr/>
            </a:pPr>
            <a:r>
              <a:rPr lang="en-US" altLang="zh-CN" sz="2400" dirty="0" smtClean="0">
                <a:latin typeface="+mn-ea"/>
                <a:ea typeface="+mn-ea"/>
              </a:rPr>
              <a:t>1.1</a:t>
            </a:r>
            <a:r>
              <a:rPr lang="zh-CN" altLang="en-US" sz="2400" dirty="0" smtClean="0">
                <a:latin typeface="+mn-ea"/>
                <a:ea typeface="+mn-ea"/>
              </a:rPr>
              <a:t>算法的基本概念</a:t>
            </a:r>
            <a:endParaRPr lang="en-US" altLang="zh-CN" sz="2400" dirty="0" smtClean="0">
              <a:latin typeface="+mn-ea"/>
              <a:ea typeface="+mn-ea"/>
            </a:endParaRPr>
          </a:p>
          <a:p>
            <a:pPr marL="0" lvl="1" indent="-419100" eaLnBrk="1" hangingPunct="1">
              <a:buNone/>
              <a:defRPr/>
            </a:pPr>
            <a:r>
              <a:rPr lang="en-US" altLang="zh-CN" sz="2400" dirty="0">
                <a:latin typeface="+mn-ea"/>
                <a:ea typeface="+mn-ea"/>
              </a:rPr>
              <a:t>1.2</a:t>
            </a:r>
            <a:r>
              <a:rPr lang="zh-CN" altLang="en-US" sz="2400" dirty="0">
                <a:latin typeface="+mn-ea"/>
                <a:ea typeface="+mn-ea"/>
              </a:rPr>
              <a:t>算法分析基础</a:t>
            </a:r>
            <a:endParaRPr lang="en-US" altLang="zh-CN" sz="2400" dirty="0">
              <a:latin typeface="+mn-ea"/>
              <a:ea typeface="+mn-ea"/>
            </a:endParaRPr>
          </a:p>
          <a:p>
            <a:pPr marL="0" lvl="1" indent="-419100" eaLnBrk="1" hangingPunct="1">
              <a:buNone/>
              <a:defRPr/>
            </a:pPr>
            <a:r>
              <a:rPr lang="en-US" altLang="zh-CN" sz="2400" dirty="0">
                <a:latin typeface="+mn-ea"/>
                <a:ea typeface="+mn-ea"/>
              </a:rPr>
              <a:t>1.3</a:t>
            </a:r>
            <a:r>
              <a:rPr lang="zh-CN" altLang="en-US" sz="2400" dirty="0">
                <a:latin typeface="+mn-ea"/>
                <a:ea typeface="+mn-ea"/>
              </a:rPr>
              <a:t>算法分析常用的数学知识</a:t>
            </a:r>
            <a:endParaRPr lang="en-US" altLang="zh-CN" sz="2400" dirty="0">
              <a:latin typeface="+mn-ea"/>
              <a:ea typeface="+mn-ea"/>
            </a:endParaRPr>
          </a:p>
          <a:p>
            <a:pPr marL="0" lvl="1" indent="-419100" eaLnBrk="1" hangingPunct="1">
              <a:buNone/>
              <a:defRPr/>
            </a:pPr>
            <a:r>
              <a:rPr lang="en-US" altLang="zh-CN" sz="2800" b="1" u="sng" dirty="0">
                <a:latin typeface="+mn-ea"/>
                <a:ea typeface="+mn-ea"/>
              </a:rPr>
              <a:t>1.4</a:t>
            </a:r>
            <a:r>
              <a:rPr lang="zh-CN" altLang="en-US" sz="2800" b="1" u="sng" dirty="0">
                <a:latin typeface="+mn-ea"/>
                <a:ea typeface="+mn-ea"/>
              </a:rPr>
              <a:t>数据结构的表示、操作算法及分析</a:t>
            </a:r>
            <a:endParaRPr lang="zh-CN" altLang="en-US" sz="2800" b="1" u="sng" dirty="0">
              <a:latin typeface="+mn-ea"/>
              <a:ea typeface="+mn-ea"/>
            </a:endParaRPr>
          </a:p>
        </p:txBody>
      </p:sp>
      <p:pic>
        <p:nvPicPr>
          <p:cNvPr id="11269" name="Picture 4" descr="j0195384"/>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5940425" y="260350"/>
            <a:ext cx="1231900" cy="1257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38915" name="Rectangle 2"/>
          <p:cNvSpPr>
            <a:spLocks noGrp="1" noChangeArrowheads="1"/>
          </p:cNvSpPr>
          <p:nvPr>
            <p:ph type="title"/>
          </p:nvPr>
        </p:nvSpPr>
        <p:spPr/>
        <p:txBody>
          <a:bodyPr/>
          <a:lstStyle/>
          <a:p>
            <a:pPr eaLnBrk="1" hangingPunct="1"/>
            <a:r>
              <a:rPr lang="zh-CN" altLang="en-US" b="1" dirty="0" smtClean="0"/>
              <a:t>本章内容</a:t>
            </a:r>
            <a:endParaRPr lang="en-US" altLang="zh-CN" b="1" dirty="0" smtClean="0"/>
          </a:p>
        </p:txBody>
      </p:sp>
      <p:sp>
        <p:nvSpPr>
          <p:cNvPr id="169987" name="Rectangle 3"/>
          <p:cNvSpPr>
            <a:spLocks noGrp="1" noChangeArrowheads="1"/>
          </p:cNvSpPr>
          <p:nvPr>
            <p:ph type="body" idx="1"/>
          </p:nvPr>
        </p:nvSpPr>
        <p:spPr>
          <a:xfrm>
            <a:off x="879475" y="1231674"/>
            <a:ext cx="7786687" cy="4525962"/>
          </a:xfrm>
        </p:spPr>
        <p:txBody>
          <a:bodyPr/>
          <a:lstStyle/>
          <a:p>
            <a:pPr marL="0" lvl="1" indent="-419100" eaLnBrk="1" hangingPunct="1">
              <a:buNone/>
              <a:defRPr/>
            </a:pPr>
            <a:r>
              <a:rPr lang="en-US" altLang="zh-CN" sz="2400" dirty="0" smtClean="0">
                <a:solidFill>
                  <a:srgbClr val="333399"/>
                </a:solidFill>
                <a:latin typeface="华文楷体" panose="02010600040101010101" pitchFamily="2" charset="-122"/>
                <a:ea typeface="华文楷体" panose="02010600040101010101" pitchFamily="2" charset="-122"/>
              </a:rPr>
              <a:t>1.4 </a:t>
            </a:r>
            <a:r>
              <a:rPr lang="zh-CN" altLang="en-US" sz="2400" dirty="0" smtClean="0">
                <a:solidFill>
                  <a:srgbClr val="333399"/>
                </a:solidFill>
                <a:latin typeface="华文楷体" panose="02010600040101010101" pitchFamily="2" charset="-122"/>
                <a:ea typeface="华文楷体" panose="02010600040101010101" pitchFamily="2" charset="-122"/>
              </a:rPr>
              <a:t>数据结构</a:t>
            </a:r>
            <a:endParaRPr lang="en-US" altLang="zh-CN" sz="2400" dirty="0" smtClean="0">
              <a:solidFill>
                <a:srgbClr val="333399"/>
              </a:solidFill>
              <a:latin typeface="华文楷体" panose="02010600040101010101" pitchFamily="2" charset="-122"/>
              <a:ea typeface="华文楷体" panose="02010600040101010101" pitchFamily="2" charset="-122"/>
            </a:endParaRPr>
          </a:p>
          <a:p>
            <a:pPr marL="0" lvl="1" indent="417830" eaLnBrk="1" hangingPunct="1">
              <a:lnSpc>
                <a:spcPct val="90000"/>
              </a:lnSpc>
              <a:buNone/>
              <a:defRPr/>
            </a:pPr>
            <a:r>
              <a:rPr lang="en-US" altLang="zh-CN" sz="2400" dirty="0">
                <a:latin typeface="+mn-ea"/>
                <a:ea typeface="+mn-ea"/>
              </a:rPr>
              <a:t>1.4.1 </a:t>
            </a:r>
            <a:r>
              <a:rPr lang="zh-CN" altLang="en-US" sz="2400" dirty="0">
                <a:latin typeface="+mn-ea"/>
                <a:ea typeface="+mn-ea"/>
              </a:rPr>
              <a:t>基本概念和术语</a:t>
            </a:r>
            <a:endParaRPr lang="zh-CN" altLang="en-US" sz="2400" dirty="0">
              <a:latin typeface="+mn-ea"/>
              <a:ea typeface="+mn-ea"/>
            </a:endParaRPr>
          </a:p>
          <a:p>
            <a:pPr marL="0" lvl="1" indent="417830" eaLnBrk="1" hangingPunct="1">
              <a:lnSpc>
                <a:spcPct val="90000"/>
              </a:lnSpc>
              <a:buNone/>
              <a:defRPr/>
            </a:pPr>
            <a:r>
              <a:rPr lang="en-US" altLang="zh-CN" sz="2400" dirty="0">
                <a:latin typeface="+mn-ea"/>
                <a:ea typeface="+mn-ea"/>
              </a:rPr>
              <a:t>1.4.2 </a:t>
            </a:r>
            <a:r>
              <a:rPr lang="zh-CN" altLang="en-US" sz="2400" dirty="0">
                <a:latin typeface="+mn-ea"/>
                <a:ea typeface="+mn-ea"/>
              </a:rPr>
              <a:t>逻辑结构和存储结构</a:t>
            </a:r>
            <a:endParaRPr lang="zh-CN" altLang="en-US" sz="2400" dirty="0">
              <a:latin typeface="+mn-ea"/>
              <a:ea typeface="+mn-ea"/>
            </a:endParaRPr>
          </a:p>
          <a:p>
            <a:pPr marL="0" lvl="1" indent="417830" eaLnBrk="1" hangingPunct="1">
              <a:lnSpc>
                <a:spcPct val="90000"/>
              </a:lnSpc>
              <a:buNone/>
              <a:defRPr/>
            </a:pPr>
            <a:r>
              <a:rPr lang="en-US" altLang="zh-CN" sz="2400" dirty="0">
                <a:latin typeface="+mn-ea"/>
                <a:ea typeface="+mn-ea"/>
              </a:rPr>
              <a:t>1.4.3 </a:t>
            </a:r>
            <a:r>
              <a:rPr lang="zh-CN" altLang="en-US" sz="2400" dirty="0">
                <a:latin typeface="+mn-ea"/>
                <a:ea typeface="+mn-ea"/>
              </a:rPr>
              <a:t>链表</a:t>
            </a:r>
            <a:endParaRPr lang="zh-CN" altLang="en-US" sz="2400" dirty="0">
              <a:latin typeface="+mn-ea"/>
              <a:ea typeface="+mn-ea"/>
            </a:endParaRPr>
          </a:p>
          <a:p>
            <a:pPr marL="0" lvl="1" indent="417830" eaLnBrk="1" hangingPunct="1">
              <a:lnSpc>
                <a:spcPct val="90000"/>
              </a:lnSpc>
              <a:buNone/>
              <a:defRPr/>
            </a:pPr>
            <a:r>
              <a:rPr lang="en-US" altLang="zh-CN" sz="2400" dirty="0">
                <a:latin typeface="+mn-ea"/>
                <a:ea typeface="+mn-ea"/>
              </a:rPr>
              <a:t>1.4.4 </a:t>
            </a:r>
            <a:r>
              <a:rPr lang="zh-CN" altLang="en-US" sz="2400" dirty="0">
                <a:latin typeface="+mn-ea"/>
                <a:ea typeface="+mn-ea"/>
              </a:rPr>
              <a:t>堆栈和队列</a:t>
            </a:r>
            <a:endParaRPr lang="zh-CN" altLang="en-US" sz="2400" dirty="0">
              <a:latin typeface="+mn-ea"/>
              <a:ea typeface="+mn-ea"/>
            </a:endParaRPr>
          </a:p>
          <a:p>
            <a:pPr marL="0" lvl="1" indent="417830" eaLnBrk="1" hangingPunct="1">
              <a:lnSpc>
                <a:spcPct val="90000"/>
              </a:lnSpc>
              <a:buNone/>
              <a:defRPr/>
            </a:pPr>
            <a:r>
              <a:rPr lang="en-US" altLang="zh-CN" sz="2400" dirty="0">
                <a:latin typeface="+mn-ea"/>
                <a:ea typeface="+mn-ea"/>
              </a:rPr>
              <a:t>1.4.5 </a:t>
            </a:r>
            <a:r>
              <a:rPr lang="zh-CN" altLang="en-US" sz="2400" dirty="0">
                <a:latin typeface="+mn-ea"/>
                <a:ea typeface="+mn-ea"/>
              </a:rPr>
              <a:t>图</a:t>
            </a:r>
            <a:endParaRPr lang="zh-CN" altLang="en-US" sz="2400" dirty="0">
              <a:latin typeface="+mn-ea"/>
              <a:ea typeface="+mn-ea"/>
            </a:endParaRPr>
          </a:p>
          <a:p>
            <a:pPr marL="0" lvl="1" indent="417830" eaLnBrk="1" hangingPunct="1">
              <a:lnSpc>
                <a:spcPct val="90000"/>
              </a:lnSpc>
              <a:buNone/>
              <a:defRPr/>
            </a:pPr>
            <a:r>
              <a:rPr lang="en-US" altLang="zh-CN" sz="2400" dirty="0">
                <a:latin typeface="+mn-ea"/>
                <a:ea typeface="+mn-ea"/>
              </a:rPr>
              <a:t>1.4.6 </a:t>
            </a:r>
            <a:r>
              <a:rPr lang="zh-CN" altLang="en-US" sz="2400" dirty="0">
                <a:latin typeface="+mn-ea"/>
                <a:ea typeface="+mn-ea"/>
              </a:rPr>
              <a:t>树、根树、二叉树</a:t>
            </a:r>
            <a:endParaRPr lang="zh-CN" altLang="en-US" sz="2400" dirty="0">
              <a:latin typeface="+mn-ea"/>
              <a:ea typeface="+mn-ea"/>
            </a:endParaRPr>
          </a:p>
          <a:p>
            <a:pPr marL="0" lvl="1" indent="417830" eaLnBrk="1" hangingPunct="1">
              <a:lnSpc>
                <a:spcPct val="90000"/>
              </a:lnSpc>
              <a:buNone/>
              <a:defRPr/>
            </a:pPr>
            <a:r>
              <a:rPr lang="en-US" altLang="zh-CN" sz="2400" dirty="0">
                <a:latin typeface="+mn-ea"/>
                <a:ea typeface="+mn-ea"/>
              </a:rPr>
              <a:t>1.4.7 </a:t>
            </a:r>
            <a:r>
              <a:rPr lang="zh-CN" altLang="en-US" sz="2400" dirty="0">
                <a:latin typeface="+mn-ea"/>
                <a:ea typeface="+mn-ea"/>
              </a:rPr>
              <a:t>赫夫曼树及其应用</a:t>
            </a:r>
            <a:endParaRPr lang="zh-CN" altLang="en-US" sz="2400" dirty="0">
              <a:latin typeface="+mn-ea"/>
              <a:ea typeface="+mn-ea"/>
            </a:endParaRPr>
          </a:p>
          <a:p>
            <a:pPr marL="0" lvl="1" indent="417830" eaLnBrk="1" hangingPunct="1">
              <a:lnSpc>
                <a:spcPct val="90000"/>
              </a:lnSpc>
              <a:buNone/>
              <a:defRPr/>
            </a:pPr>
            <a:r>
              <a:rPr lang="en-US" altLang="zh-CN" sz="2400" dirty="0">
                <a:latin typeface="+mn-ea"/>
                <a:ea typeface="+mn-ea"/>
              </a:rPr>
              <a:t>1.4.8 </a:t>
            </a:r>
            <a:r>
              <a:rPr lang="zh-CN" altLang="en-US" sz="2400" dirty="0">
                <a:latin typeface="+mn-ea"/>
                <a:ea typeface="+mn-ea"/>
              </a:rPr>
              <a:t>最短路径</a:t>
            </a:r>
            <a:endParaRPr lang="en-US" altLang="zh-CN" sz="2400" dirty="0">
              <a:latin typeface="+mn-ea"/>
              <a:ea typeface="+mn-ea"/>
            </a:endParaRPr>
          </a:p>
        </p:txBody>
      </p:sp>
      <p:pic>
        <p:nvPicPr>
          <p:cNvPr id="38917" name="Picture 5" descr="j0195384"/>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6076950" y="115888"/>
            <a:ext cx="1231900" cy="1257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random/>
  </p:transition>
  <p:timing>
    <p:tnLst>
      <p:par>
        <p:cTn id="1" dur="indefinite" restart="never" nodeType="tmRoot"/>
      </p:par>
    </p:tnLst>
  </p:timing>
</p:sld>
</file>

<file path=ppt/slides/slide13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2" name="矩形 11"/>
          <p:cNvSpPr/>
          <p:nvPr/>
        </p:nvSpPr>
        <p:spPr>
          <a:xfrm>
            <a:off x="683568" y="3309938"/>
            <a:ext cx="7858125" cy="3071812"/>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272386" name="Rectangle 2"/>
          <p:cNvSpPr>
            <a:spLocks noGrp="1" noChangeArrowheads="1"/>
          </p:cNvSpPr>
          <p:nvPr>
            <p:ph type="body" idx="1"/>
          </p:nvPr>
        </p:nvSpPr>
        <p:spPr>
          <a:xfrm>
            <a:off x="899592" y="1339117"/>
            <a:ext cx="7994206" cy="3055937"/>
          </a:xfrm>
        </p:spPr>
        <p:txBody>
          <a:bodyPr/>
          <a:lstStyle/>
          <a:p>
            <a:pPr>
              <a:lnSpc>
                <a:spcPct val="105000"/>
              </a:lnSpc>
            </a:pPr>
            <a:r>
              <a:rPr lang="zh-CN" altLang="en-US" sz="2000" dirty="0" smtClean="0">
                <a:solidFill>
                  <a:srgbClr val="FF0000"/>
                </a:solidFill>
              </a:rPr>
              <a:t>数据</a:t>
            </a:r>
            <a:r>
              <a:rPr lang="en-US" altLang="zh-CN" sz="2000" dirty="0" smtClean="0">
                <a:solidFill>
                  <a:srgbClr val="FF0000"/>
                </a:solidFill>
              </a:rPr>
              <a:t>(Data):</a:t>
            </a:r>
            <a:r>
              <a:rPr lang="zh-CN" altLang="en-US" sz="2000" dirty="0" smtClean="0"/>
              <a:t>是对客观事物的符号表示。在计算机科学中是指所有能输入到计算机中并被计算机程序处理的符号的总称。</a:t>
            </a:r>
            <a:endParaRPr lang="zh-CN" altLang="en-US" sz="2000" dirty="0" smtClean="0"/>
          </a:p>
          <a:p>
            <a:pPr>
              <a:lnSpc>
                <a:spcPct val="105000"/>
              </a:lnSpc>
            </a:pPr>
            <a:r>
              <a:rPr lang="zh-CN" altLang="en-US" sz="2000" dirty="0" smtClean="0">
                <a:solidFill>
                  <a:srgbClr val="FF0000"/>
                </a:solidFill>
              </a:rPr>
              <a:t>数据元素</a:t>
            </a:r>
            <a:r>
              <a:rPr lang="en-US" altLang="zh-CN" sz="2000" dirty="0" smtClean="0">
                <a:solidFill>
                  <a:srgbClr val="FF0000"/>
                </a:solidFill>
              </a:rPr>
              <a:t>(Data Element):</a:t>
            </a:r>
            <a:r>
              <a:rPr lang="zh-CN" altLang="en-US" sz="2000" dirty="0" smtClean="0"/>
              <a:t>数据的基本单位。在计算机程序中通常作为一个整体进行考虑和处理。 一个数据元素可由若干个数据项组成。数据项是数据的不可分割的最小单位</a:t>
            </a:r>
            <a:r>
              <a:rPr lang="zh-CN" altLang="en-US" sz="2000" b="1" dirty="0" smtClean="0"/>
              <a:t>。</a:t>
            </a:r>
            <a:endParaRPr lang="zh-CN" altLang="en-US" sz="2000" b="1" dirty="0" smtClean="0"/>
          </a:p>
        </p:txBody>
      </p:sp>
      <p:graphicFrame>
        <p:nvGraphicFramePr>
          <p:cNvPr id="272387" name="Object 2"/>
          <p:cNvGraphicFramePr>
            <a:graphicFrameLocks noChangeAspect="1"/>
          </p:cNvGraphicFramePr>
          <p:nvPr/>
        </p:nvGraphicFramePr>
        <p:xfrm>
          <a:off x="1060450" y="4303713"/>
          <a:ext cx="6680200" cy="2057400"/>
        </p:xfrm>
        <a:graphic>
          <a:graphicData uri="http://schemas.openxmlformats.org/presentationml/2006/ole">
            <mc:AlternateContent xmlns:mc="http://schemas.openxmlformats.org/markup-compatibility/2006">
              <mc:Choice xmlns:v="urn:schemas-microsoft-com:vml" Requires="v">
                <p:oleObj spid="_x0000_s23562" name="Document" r:id="rId1" imgW="7324090" imgH="2204720" progId="Word.Document.8">
                  <p:embed/>
                </p:oleObj>
              </mc:Choice>
              <mc:Fallback>
                <p:oleObj name="Document" r:id="rId1" imgW="7324090" imgH="2204720" progId="Word.Document.8">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450" y="4303713"/>
                        <a:ext cx="6680200" cy="20574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72388" name="Rectangle 4"/>
          <p:cNvSpPr>
            <a:spLocks noChangeArrowheads="1"/>
          </p:cNvSpPr>
          <p:nvPr/>
        </p:nvSpPr>
        <p:spPr bwMode="auto">
          <a:xfrm>
            <a:off x="1042988" y="4292600"/>
            <a:ext cx="5845175" cy="395288"/>
          </a:xfrm>
          <a:prstGeom prst="rect">
            <a:avLst/>
          </a:prstGeom>
          <a:noFill/>
          <a:ln w="38100">
            <a:solidFill>
              <a:srgbClr val="FF9900"/>
            </a:solidFill>
            <a:miter lim="800000"/>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sp>
        <p:nvSpPr>
          <p:cNvPr id="272389" name="Line 5"/>
          <p:cNvSpPr>
            <a:spLocks noChangeShapeType="1"/>
          </p:cNvSpPr>
          <p:nvPr/>
        </p:nvSpPr>
        <p:spPr bwMode="auto">
          <a:xfrm flipV="1">
            <a:off x="6913563" y="3983038"/>
            <a:ext cx="530225" cy="322262"/>
          </a:xfrm>
          <a:prstGeom prst="line">
            <a:avLst/>
          </a:prstGeom>
          <a:noFill/>
          <a:ln w="38100">
            <a:solidFill>
              <a:srgbClr val="FFFFFF"/>
            </a:solidFill>
            <a:round/>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272390" name="Text Box 6"/>
          <p:cNvSpPr txBox="1">
            <a:spLocks noChangeArrowheads="1"/>
          </p:cNvSpPr>
          <p:nvPr/>
        </p:nvSpPr>
        <p:spPr bwMode="auto">
          <a:xfrm>
            <a:off x="6711950" y="3411538"/>
            <a:ext cx="1606550" cy="519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zh-CN" altLang="en-US" sz="2800">
                <a:solidFill>
                  <a:schemeClr val="bg1"/>
                </a:solidFill>
              </a:rPr>
              <a:t>数据元素</a:t>
            </a:r>
            <a:endParaRPr lang="zh-CN" altLang="en-US" sz="2800">
              <a:solidFill>
                <a:schemeClr val="bg1"/>
              </a:solidFill>
            </a:endParaRPr>
          </a:p>
        </p:txBody>
      </p:sp>
      <p:sp>
        <p:nvSpPr>
          <p:cNvPr id="272391" name="Rectangle 7"/>
          <p:cNvSpPr>
            <a:spLocks noChangeArrowheads="1"/>
          </p:cNvSpPr>
          <p:nvPr/>
        </p:nvSpPr>
        <p:spPr bwMode="auto">
          <a:xfrm>
            <a:off x="2514600" y="4316413"/>
            <a:ext cx="1457325" cy="1668462"/>
          </a:xfrm>
          <a:prstGeom prst="rect">
            <a:avLst/>
          </a:prstGeom>
          <a:noFill/>
          <a:ln w="38100">
            <a:solidFill>
              <a:srgbClr val="00FFFF"/>
            </a:solidFill>
            <a:miter lim="800000"/>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sp>
        <p:nvSpPr>
          <p:cNvPr id="272392" name="Line 8"/>
          <p:cNvSpPr>
            <a:spLocks noChangeShapeType="1"/>
          </p:cNvSpPr>
          <p:nvPr/>
        </p:nvSpPr>
        <p:spPr bwMode="auto">
          <a:xfrm flipV="1">
            <a:off x="3255963" y="3959225"/>
            <a:ext cx="530225" cy="322263"/>
          </a:xfrm>
          <a:prstGeom prst="line">
            <a:avLst/>
          </a:prstGeom>
          <a:noFill/>
          <a:ln w="38100">
            <a:solidFill>
              <a:srgbClr val="FFFFFF"/>
            </a:solidFill>
            <a:round/>
            <a:tailEnd type="triangle" w="med" len="med"/>
          </a:ln>
          <a:extLst>
            <a:ext uri="{909E8E84-426E-40DD-AFC4-6F175D3DCCD1}">
              <a14:hiddenFill xmlns:a14="http://schemas.microsoft.com/office/drawing/2010/main">
                <a:noFill/>
              </a14:hiddenFill>
            </a:ext>
          </a:extLst>
        </p:spPr>
        <p:txBody>
          <a:bodyPr/>
          <a:lstStyle/>
          <a:p>
            <a:endParaRPr lang="zh-CN" altLang="en-US"/>
          </a:p>
        </p:txBody>
      </p:sp>
      <p:sp>
        <p:nvSpPr>
          <p:cNvPr id="272393" name="Text Box 9"/>
          <p:cNvSpPr txBox="1">
            <a:spLocks noChangeArrowheads="1"/>
          </p:cNvSpPr>
          <p:nvPr/>
        </p:nvSpPr>
        <p:spPr bwMode="auto">
          <a:xfrm>
            <a:off x="3756025" y="3651250"/>
            <a:ext cx="1185863"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solidFill>
                  <a:srgbClr val="000000"/>
                </a:solidFill>
                <a:miter lim="800000"/>
                <a:headEnd/>
                <a:tailEnd/>
              </a14:hiddenLine>
            </a:ext>
          </a:extLst>
        </p:spPr>
        <p:txBody>
          <a:bodyP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zh-CN" altLang="en-US" sz="2400">
                <a:solidFill>
                  <a:schemeClr val="bg1"/>
                </a:solidFill>
              </a:rPr>
              <a:t>数据项</a:t>
            </a:r>
            <a:endParaRPr lang="zh-CN" altLang="en-US" sz="2400">
              <a:solidFill>
                <a:schemeClr val="bg1"/>
              </a:solidFill>
            </a:endParaRPr>
          </a:p>
        </p:txBody>
      </p:sp>
      <p:sp>
        <p:nvSpPr>
          <p:cNvPr id="2059" name="Rectangle 10"/>
          <p:cNvSpPr>
            <a:spLocks noGrp="1" noChangeArrowheads="1"/>
          </p:cNvSpPr>
          <p:nvPr>
            <p:ph type="title"/>
          </p:nvPr>
        </p:nvSpPr>
        <p:spPr>
          <a:xfrm>
            <a:off x="899592" y="332656"/>
            <a:ext cx="7772400" cy="720725"/>
          </a:xfrm>
        </p:spPr>
        <p:txBody>
          <a:bodyPr/>
          <a:lstStyle/>
          <a:p>
            <a:r>
              <a:rPr lang="en-US" altLang="zh-CN" dirty="0" smtClean="0"/>
              <a:t> 1.4.1 </a:t>
            </a:r>
            <a:r>
              <a:rPr lang="zh-CN" altLang="en-US" dirty="0" smtClean="0"/>
              <a:t>基本概念和术语</a:t>
            </a:r>
            <a:endParaRPr lang="zh-CN" altLang="en-US" dirty="0" smtClean="0"/>
          </a:p>
        </p:txBody>
      </p:sp>
      <p:sp>
        <p:nvSpPr>
          <p:cNvPr id="2060"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Tree>
  </p:cSld>
  <p:clrMapOvr>
    <a:masterClrMapping/>
  </p:clrMapOvr>
  <p:transition spd="med">
    <p:wipe dir="d"/>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72386">
                                            <p:txEl>
                                              <p:pRg st="0" end="0"/>
                                            </p:txEl>
                                          </p:spTgt>
                                        </p:tgtEl>
                                        <p:attrNameLst>
                                          <p:attrName>style.visibility</p:attrName>
                                        </p:attrNameLst>
                                      </p:cBhvr>
                                      <p:to>
                                        <p:strVal val="visible"/>
                                      </p:to>
                                    </p:set>
                                    <p:anim calcmode="lin" valueType="num">
                                      <p:cBhvr additive="base">
                                        <p:cTn id="7" dur="500" fill="hold"/>
                                        <p:tgtEl>
                                          <p:spTgt spid="272386">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72386">
                                            <p:txEl>
                                              <p:pRg st="0" end="0"/>
                                            </p:txEl>
                                          </p:spTgt>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5"/>
                                            </p:cond>
                                          </p:stCondLst>
                                          <p:endCondLst>
                                            <p:cond evt="onStopAudio" delay="0">
                                              <p:tgtEl>
                                                <p:sldTgt/>
                                              </p:tgtEl>
                                            </p:cond>
                                          </p:endCondLst>
                                        </p:cTn>
                                        <p:tgtEl>
                                          <p:sndTgt r:embed="rId3" name="CAMERA.WAV"/>
                                        </p:tgtEl>
                                      </p:cMediaNode>
                                    </p:audio>
                                  </p:sub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272386">
                                            <p:txEl>
                                              <p:pRg st="1" end="1"/>
                                            </p:txEl>
                                          </p:spTgt>
                                        </p:tgtEl>
                                        <p:attrNameLst>
                                          <p:attrName>style.visibility</p:attrName>
                                        </p:attrNameLst>
                                      </p:cBhvr>
                                      <p:to>
                                        <p:strVal val="visible"/>
                                      </p:to>
                                    </p:set>
                                    <p:anim calcmode="lin" valueType="num">
                                      <p:cBhvr additive="base">
                                        <p:cTn id="13" dur="500" fill="hold"/>
                                        <p:tgtEl>
                                          <p:spTgt spid="272386">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272386">
                                            <p:txEl>
                                              <p:pRg st="1" end="1"/>
                                            </p:txEl>
                                          </p:spTgt>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11"/>
                                            </p:cond>
                                          </p:stCondLst>
                                          <p:endCondLst>
                                            <p:cond evt="onStopAudio" delay="0">
                                              <p:tgtEl>
                                                <p:sldTgt/>
                                              </p:tgtEl>
                                            </p:cond>
                                          </p:endCondLst>
                                        </p:cTn>
                                        <p:tgtEl>
                                          <p:sndTgt r:embed="rId3" name="CAMERA.WAV"/>
                                        </p:tgtEl>
                                      </p:cMediaNode>
                                    </p:audio>
                                  </p:subTnLst>
                                </p:cTn>
                              </p:par>
                            </p:childTnLst>
                          </p:cTn>
                        </p:par>
                      </p:childTnLst>
                    </p:cTn>
                  </p:par>
                  <p:par>
                    <p:cTn id="15" fill="hold">
                      <p:stCondLst>
                        <p:cond delay="indefinite"/>
                      </p:stCondLst>
                      <p:childTnLst>
                        <p:par>
                          <p:cTn id="16" fill="hold">
                            <p:stCondLst>
                              <p:cond delay="0"/>
                            </p:stCondLst>
                            <p:childTnLst>
                              <p:par>
                                <p:cTn id="17" presetID="23" presetClass="entr" presetSubtype="16" fill="hold" nodeType="clickEffect">
                                  <p:stCondLst>
                                    <p:cond delay="0"/>
                                  </p:stCondLst>
                                  <p:childTnLst>
                                    <p:set>
                                      <p:cBhvr>
                                        <p:cTn id="18" dur="1" fill="hold">
                                          <p:stCondLst>
                                            <p:cond delay="0"/>
                                          </p:stCondLst>
                                        </p:cTn>
                                        <p:tgtEl>
                                          <p:spTgt spid="272387"/>
                                        </p:tgtEl>
                                        <p:attrNameLst>
                                          <p:attrName>style.visibility</p:attrName>
                                        </p:attrNameLst>
                                      </p:cBhvr>
                                      <p:to>
                                        <p:strVal val="visible"/>
                                      </p:to>
                                    </p:set>
                                    <p:anim calcmode="lin" valueType="num">
                                      <p:cBhvr>
                                        <p:cTn id="19" dur="500" fill="hold"/>
                                        <p:tgtEl>
                                          <p:spTgt spid="272387"/>
                                        </p:tgtEl>
                                        <p:attrNameLst>
                                          <p:attrName>ppt_w</p:attrName>
                                        </p:attrNameLst>
                                      </p:cBhvr>
                                      <p:tavLst>
                                        <p:tav tm="0">
                                          <p:val>
                                            <p:fltVal val="0"/>
                                          </p:val>
                                        </p:tav>
                                        <p:tav tm="100000">
                                          <p:val>
                                            <p:strVal val="#ppt_w"/>
                                          </p:val>
                                        </p:tav>
                                      </p:tavLst>
                                    </p:anim>
                                    <p:anim calcmode="lin" valueType="num">
                                      <p:cBhvr>
                                        <p:cTn id="20" dur="500" fill="hold"/>
                                        <p:tgtEl>
                                          <p:spTgt spid="272387"/>
                                        </p:tgtEl>
                                        <p:attrNameLst>
                                          <p:attrName>ppt_h</p:attrName>
                                        </p:attrNameLst>
                                      </p:cBhvr>
                                      <p:tavLst>
                                        <p:tav tm="0">
                                          <p:val>
                                            <p:fltVal val="0"/>
                                          </p:val>
                                        </p:tav>
                                        <p:tav tm="100000">
                                          <p:val>
                                            <p:strVal val="#ppt_h"/>
                                          </p:val>
                                        </p:tav>
                                      </p:tavLst>
                                    </p:anim>
                                  </p:childTnLst>
                                  <p:subTnLst>
                                    <p:audio>
                                      <p:cMediaNode>
                                        <p:cTn display="0" masterRel="sameClick">
                                          <p:stCondLst>
                                            <p:cond evt="begin" delay="0">
                                              <p:tn val="17"/>
                                            </p:cond>
                                          </p:stCondLst>
                                          <p:endCondLst>
                                            <p:cond evt="onStopAudio" delay="0">
                                              <p:tgtEl>
                                                <p:sldTgt/>
                                              </p:tgtEl>
                                            </p:cond>
                                          </p:endCondLst>
                                        </p:cTn>
                                        <p:tgtEl>
                                          <p:sndTgt r:embed="rId4" name="chimes.wav"/>
                                        </p:tgtEl>
                                      </p:cMediaNode>
                                    </p:audio>
                                  </p:subTnLst>
                                </p:cTn>
                              </p:par>
                            </p:childTnLst>
                          </p:cTn>
                        </p:par>
                      </p:childTnLst>
                    </p:cTn>
                  </p:par>
                  <p:par>
                    <p:cTn id="21" fill="hold">
                      <p:stCondLst>
                        <p:cond delay="indefinite"/>
                      </p:stCondLst>
                      <p:childTnLst>
                        <p:par>
                          <p:cTn id="22" fill="hold">
                            <p:stCondLst>
                              <p:cond delay="0"/>
                            </p:stCondLst>
                            <p:childTnLst>
                              <p:par>
                                <p:cTn id="23" presetID="16" presetClass="entr" presetSubtype="26" fill="hold" grpId="0" nodeType="clickEffect">
                                  <p:stCondLst>
                                    <p:cond delay="0"/>
                                  </p:stCondLst>
                                  <p:childTnLst>
                                    <p:set>
                                      <p:cBhvr>
                                        <p:cTn id="24" dur="1" fill="hold">
                                          <p:stCondLst>
                                            <p:cond delay="0"/>
                                          </p:stCondLst>
                                        </p:cTn>
                                        <p:tgtEl>
                                          <p:spTgt spid="272388"/>
                                        </p:tgtEl>
                                        <p:attrNameLst>
                                          <p:attrName>style.visibility</p:attrName>
                                        </p:attrNameLst>
                                      </p:cBhvr>
                                      <p:to>
                                        <p:strVal val="visible"/>
                                      </p:to>
                                    </p:set>
                                    <p:animEffect transition="in" filter="barn(inHorizontal)">
                                      <p:cBhvr>
                                        <p:cTn id="25" dur="500"/>
                                        <p:tgtEl>
                                          <p:spTgt spid="27238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272389"/>
                                        </p:tgtEl>
                                        <p:attrNameLst>
                                          <p:attrName>style.visibility</p:attrName>
                                        </p:attrNameLst>
                                      </p:cBhvr>
                                      <p:to>
                                        <p:strVal val="visible"/>
                                      </p:to>
                                    </p:set>
                                    <p:animEffect transition="in" filter="wipe(left)">
                                      <p:cBhvr>
                                        <p:cTn id="30" dur="500"/>
                                        <p:tgtEl>
                                          <p:spTgt spid="272389"/>
                                        </p:tgtEl>
                                      </p:cBhvr>
                                    </p:animEffect>
                                  </p:childTnLst>
                                  <p:subTnLst>
                                    <p:audio>
                                      <p:cMediaNode>
                                        <p:cTn display="0" masterRel="sameClick">
                                          <p:stCondLst>
                                            <p:cond evt="begin" delay="0">
                                              <p:tn val="28"/>
                                            </p:cond>
                                          </p:stCondLst>
                                          <p:endCondLst>
                                            <p:cond evt="onStopAudio" delay="0">
                                              <p:tgtEl>
                                                <p:sldTgt/>
                                              </p:tgtEl>
                                            </p:cond>
                                          </p:endCondLst>
                                        </p:cTn>
                                        <p:tgtEl>
                                          <p:sndTgt r:embed="rId5" name="WHOOSH.WAV"/>
                                        </p:tgtEl>
                                      </p:cMediaNode>
                                    </p:audio>
                                  </p:subTnLst>
                                </p:cTn>
                              </p:par>
                            </p:childTnLst>
                          </p:cTn>
                        </p:par>
                      </p:childTnLst>
                    </p:cTn>
                  </p:par>
                  <p:par>
                    <p:cTn id="31" fill="hold">
                      <p:stCondLst>
                        <p:cond delay="indefinite"/>
                      </p:stCondLst>
                      <p:childTnLst>
                        <p:par>
                          <p:cTn id="32" fill="hold">
                            <p:stCondLst>
                              <p:cond delay="0"/>
                            </p:stCondLst>
                            <p:childTnLst>
                              <p:par>
                                <p:cTn id="33" presetID="23" presetClass="entr" presetSubtype="16" fill="hold" grpId="0" nodeType="clickEffect">
                                  <p:stCondLst>
                                    <p:cond delay="0"/>
                                  </p:stCondLst>
                                  <p:childTnLst>
                                    <p:set>
                                      <p:cBhvr>
                                        <p:cTn id="34" dur="1" fill="hold">
                                          <p:stCondLst>
                                            <p:cond delay="0"/>
                                          </p:stCondLst>
                                        </p:cTn>
                                        <p:tgtEl>
                                          <p:spTgt spid="272390"/>
                                        </p:tgtEl>
                                        <p:attrNameLst>
                                          <p:attrName>style.visibility</p:attrName>
                                        </p:attrNameLst>
                                      </p:cBhvr>
                                      <p:to>
                                        <p:strVal val="visible"/>
                                      </p:to>
                                    </p:set>
                                    <p:anim calcmode="lin" valueType="num">
                                      <p:cBhvr>
                                        <p:cTn id="35" dur="500" fill="hold"/>
                                        <p:tgtEl>
                                          <p:spTgt spid="272390"/>
                                        </p:tgtEl>
                                        <p:attrNameLst>
                                          <p:attrName>ppt_w</p:attrName>
                                        </p:attrNameLst>
                                      </p:cBhvr>
                                      <p:tavLst>
                                        <p:tav tm="0">
                                          <p:val>
                                            <p:fltVal val="0"/>
                                          </p:val>
                                        </p:tav>
                                        <p:tav tm="100000">
                                          <p:val>
                                            <p:strVal val="#ppt_w"/>
                                          </p:val>
                                        </p:tav>
                                      </p:tavLst>
                                    </p:anim>
                                    <p:anim calcmode="lin" valueType="num">
                                      <p:cBhvr>
                                        <p:cTn id="36" dur="500" fill="hold"/>
                                        <p:tgtEl>
                                          <p:spTgt spid="272390"/>
                                        </p:tgtEl>
                                        <p:attrNameLst>
                                          <p:attrName>ppt_h</p:attrName>
                                        </p:attrNameLst>
                                      </p:cBhvr>
                                      <p:tavLst>
                                        <p:tav tm="0">
                                          <p:val>
                                            <p:fltVal val="0"/>
                                          </p:val>
                                        </p:tav>
                                        <p:tav tm="100000">
                                          <p:val>
                                            <p:strVal val="#ppt_h"/>
                                          </p:val>
                                        </p:tav>
                                      </p:tavLst>
                                    </p:anim>
                                  </p:childTnLst>
                                  <p:subTnLst>
                                    <p:audio>
                                      <p:cMediaNode>
                                        <p:cTn display="0" masterRel="sameClick">
                                          <p:stCondLst>
                                            <p:cond evt="begin" delay="0">
                                              <p:tn val="33"/>
                                            </p:cond>
                                          </p:stCondLst>
                                          <p:endCondLst>
                                            <p:cond evt="onStopAudio" delay="0">
                                              <p:tgtEl>
                                                <p:sldTgt/>
                                              </p:tgtEl>
                                            </p:cond>
                                          </p:endCondLst>
                                        </p:cTn>
                                        <p:tgtEl>
                                          <p:sndTgt r:embed="rId4" name="chimes.wav"/>
                                        </p:tgtEl>
                                      </p:cMediaNode>
                                    </p:audio>
                                  </p:subTnLst>
                                </p:cTn>
                              </p:par>
                            </p:childTnLst>
                          </p:cTn>
                        </p:par>
                      </p:childTnLst>
                    </p:cTn>
                  </p:par>
                  <p:par>
                    <p:cTn id="37" fill="hold">
                      <p:stCondLst>
                        <p:cond delay="indefinite"/>
                      </p:stCondLst>
                      <p:childTnLst>
                        <p:par>
                          <p:cTn id="38" fill="hold">
                            <p:stCondLst>
                              <p:cond delay="0"/>
                            </p:stCondLst>
                            <p:childTnLst>
                              <p:par>
                                <p:cTn id="39" presetID="16" presetClass="entr" presetSubtype="26" fill="hold" grpId="0" nodeType="clickEffect">
                                  <p:stCondLst>
                                    <p:cond delay="0"/>
                                  </p:stCondLst>
                                  <p:childTnLst>
                                    <p:set>
                                      <p:cBhvr>
                                        <p:cTn id="40" dur="1" fill="hold">
                                          <p:stCondLst>
                                            <p:cond delay="0"/>
                                          </p:stCondLst>
                                        </p:cTn>
                                        <p:tgtEl>
                                          <p:spTgt spid="272391"/>
                                        </p:tgtEl>
                                        <p:attrNameLst>
                                          <p:attrName>style.visibility</p:attrName>
                                        </p:attrNameLst>
                                      </p:cBhvr>
                                      <p:to>
                                        <p:strVal val="visible"/>
                                      </p:to>
                                    </p:set>
                                    <p:animEffect transition="in" filter="barn(inHorizontal)">
                                      <p:cBhvr>
                                        <p:cTn id="41" dur="500"/>
                                        <p:tgtEl>
                                          <p:spTgt spid="272391"/>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nodeType="clickEffect">
                                  <p:stCondLst>
                                    <p:cond delay="0"/>
                                  </p:stCondLst>
                                  <p:childTnLst>
                                    <p:set>
                                      <p:cBhvr>
                                        <p:cTn id="45" dur="1" fill="hold">
                                          <p:stCondLst>
                                            <p:cond delay="0"/>
                                          </p:stCondLst>
                                        </p:cTn>
                                        <p:tgtEl>
                                          <p:spTgt spid="272392"/>
                                        </p:tgtEl>
                                        <p:attrNameLst>
                                          <p:attrName>style.visibility</p:attrName>
                                        </p:attrNameLst>
                                      </p:cBhvr>
                                      <p:to>
                                        <p:strVal val="visible"/>
                                      </p:to>
                                    </p:set>
                                    <p:animEffect transition="in" filter="wipe(left)">
                                      <p:cBhvr>
                                        <p:cTn id="46" dur="500"/>
                                        <p:tgtEl>
                                          <p:spTgt spid="272392"/>
                                        </p:tgtEl>
                                      </p:cBhvr>
                                    </p:animEffect>
                                  </p:childTnLst>
                                  <p:subTnLst>
                                    <p:audio>
                                      <p:cMediaNode>
                                        <p:cTn display="0" masterRel="sameClick">
                                          <p:stCondLst>
                                            <p:cond evt="begin" delay="0">
                                              <p:tn val="44"/>
                                            </p:cond>
                                          </p:stCondLst>
                                          <p:endCondLst>
                                            <p:cond evt="onStopAudio" delay="0">
                                              <p:tgtEl>
                                                <p:sldTgt/>
                                              </p:tgtEl>
                                            </p:cond>
                                          </p:endCondLst>
                                        </p:cTn>
                                        <p:tgtEl>
                                          <p:sndTgt r:embed="rId5" name="WHOOSH.WAV"/>
                                        </p:tgtEl>
                                      </p:cMediaNode>
                                    </p:audio>
                                  </p:subTnLst>
                                </p:cTn>
                              </p:par>
                            </p:childTnLst>
                          </p:cTn>
                        </p:par>
                      </p:childTnLst>
                    </p:cTn>
                  </p:par>
                  <p:par>
                    <p:cTn id="47" fill="hold">
                      <p:stCondLst>
                        <p:cond delay="indefinite"/>
                      </p:stCondLst>
                      <p:childTnLst>
                        <p:par>
                          <p:cTn id="48" fill="hold">
                            <p:stCondLst>
                              <p:cond delay="0"/>
                            </p:stCondLst>
                            <p:childTnLst>
                              <p:par>
                                <p:cTn id="49" presetID="23" presetClass="entr" presetSubtype="16" fill="hold" grpId="0" nodeType="clickEffect">
                                  <p:stCondLst>
                                    <p:cond delay="0"/>
                                  </p:stCondLst>
                                  <p:childTnLst>
                                    <p:set>
                                      <p:cBhvr>
                                        <p:cTn id="50" dur="1" fill="hold">
                                          <p:stCondLst>
                                            <p:cond delay="0"/>
                                          </p:stCondLst>
                                        </p:cTn>
                                        <p:tgtEl>
                                          <p:spTgt spid="272393"/>
                                        </p:tgtEl>
                                        <p:attrNameLst>
                                          <p:attrName>style.visibility</p:attrName>
                                        </p:attrNameLst>
                                      </p:cBhvr>
                                      <p:to>
                                        <p:strVal val="visible"/>
                                      </p:to>
                                    </p:set>
                                    <p:anim calcmode="lin" valueType="num">
                                      <p:cBhvr>
                                        <p:cTn id="51" dur="500" fill="hold"/>
                                        <p:tgtEl>
                                          <p:spTgt spid="272393"/>
                                        </p:tgtEl>
                                        <p:attrNameLst>
                                          <p:attrName>ppt_w</p:attrName>
                                        </p:attrNameLst>
                                      </p:cBhvr>
                                      <p:tavLst>
                                        <p:tav tm="0">
                                          <p:val>
                                            <p:fltVal val="0"/>
                                          </p:val>
                                        </p:tav>
                                        <p:tav tm="100000">
                                          <p:val>
                                            <p:strVal val="#ppt_w"/>
                                          </p:val>
                                        </p:tav>
                                      </p:tavLst>
                                    </p:anim>
                                    <p:anim calcmode="lin" valueType="num">
                                      <p:cBhvr>
                                        <p:cTn id="52" dur="500" fill="hold"/>
                                        <p:tgtEl>
                                          <p:spTgt spid="272393"/>
                                        </p:tgtEl>
                                        <p:attrNameLst>
                                          <p:attrName>ppt_h</p:attrName>
                                        </p:attrNameLst>
                                      </p:cBhvr>
                                      <p:tavLst>
                                        <p:tav tm="0">
                                          <p:val>
                                            <p:fltVal val="0"/>
                                          </p:val>
                                        </p:tav>
                                        <p:tav tm="100000">
                                          <p:val>
                                            <p:strVal val="#ppt_h"/>
                                          </p:val>
                                        </p:tav>
                                      </p:tavLst>
                                    </p:anim>
                                  </p:childTnLst>
                                  <p:subTnLst>
                                    <p:audio>
                                      <p:cMediaNode>
                                        <p:cTn display="0" masterRel="sameClick">
                                          <p:stCondLst>
                                            <p:cond evt="begin" delay="0">
                                              <p:tn val="49"/>
                                            </p:cond>
                                          </p:stCondLst>
                                          <p:endCondLst>
                                            <p:cond evt="onStopAudio" delay="0">
                                              <p:tgtEl>
                                                <p:sldTgt/>
                                              </p:tgtEl>
                                            </p:cond>
                                          </p:endCondLst>
                                        </p:cTn>
                                        <p:tgtEl>
                                          <p:sndTgt r:embed="rId4" name="chimes.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2386" grpId="0" bldLvl="5" autoUpdateAnimBg="0" build="p"/>
      <p:bldP spid="272388" grpId="0" animBg="1"/>
      <p:bldP spid="272390" grpId="0"/>
      <p:bldP spid="272391" grpId="0" animBg="1"/>
      <p:bldP spid="272393"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body" idx="1"/>
          </p:nvPr>
        </p:nvSpPr>
        <p:spPr>
          <a:xfrm>
            <a:off x="764541" y="1255424"/>
            <a:ext cx="7907451" cy="1998499"/>
          </a:xfrm>
        </p:spPr>
        <p:txBody>
          <a:bodyPr/>
          <a:lstStyle/>
          <a:p>
            <a:pPr indent="-179705">
              <a:lnSpc>
                <a:spcPct val="110000"/>
              </a:lnSpc>
            </a:pPr>
            <a:r>
              <a:rPr lang="zh-CN" altLang="en-US" sz="2000" dirty="0" smtClean="0">
                <a:solidFill>
                  <a:srgbClr val="FF0000"/>
                </a:solidFill>
              </a:rPr>
              <a:t>数据对象</a:t>
            </a:r>
            <a:r>
              <a:rPr lang="en-US" altLang="zh-CN" sz="2000" dirty="0" smtClean="0">
                <a:solidFill>
                  <a:srgbClr val="FF0000"/>
                </a:solidFill>
              </a:rPr>
              <a:t>(Data Object)</a:t>
            </a:r>
            <a:r>
              <a:rPr lang="zh-CN" altLang="en-US" sz="2000" dirty="0" smtClean="0"/>
              <a:t>：是性质相同的数据元素的集合。是数据的一个子集。</a:t>
            </a:r>
            <a:endParaRPr lang="zh-CN" altLang="en-US" sz="2000" dirty="0" smtClean="0"/>
          </a:p>
          <a:p>
            <a:pPr indent="-179705">
              <a:lnSpc>
                <a:spcPct val="110000"/>
              </a:lnSpc>
            </a:pPr>
            <a:r>
              <a:rPr lang="zh-CN" altLang="en-US" sz="2000" dirty="0" smtClean="0">
                <a:solidFill>
                  <a:srgbClr val="FF0000"/>
                </a:solidFill>
              </a:rPr>
              <a:t>数据结构</a:t>
            </a:r>
            <a:r>
              <a:rPr lang="en-US" altLang="zh-CN" sz="2000" dirty="0" smtClean="0">
                <a:solidFill>
                  <a:srgbClr val="FF0000"/>
                </a:solidFill>
              </a:rPr>
              <a:t>(Data Structure)</a:t>
            </a:r>
            <a:r>
              <a:rPr lang="zh-CN" altLang="en-US" sz="2000" dirty="0" smtClean="0"/>
              <a:t>：是相互之间存在一种或多种特定关系的数据元素的集合。</a:t>
            </a:r>
            <a:endParaRPr lang="en-US" altLang="zh-CN" sz="2000" dirty="0" smtClean="0"/>
          </a:p>
          <a:p>
            <a:pPr indent="-179705">
              <a:lnSpc>
                <a:spcPct val="110000"/>
              </a:lnSpc>
              <a:buFontTx/>
              <a:buNone/>
            </a:pPr>
            <a:r>
              <a:rPr lang="en-US" altLang="zh-CN" sz="2000" dirty="0" smtClean="0"/>
              <a:t>     </a:t>
            </a:r>
            <a:r>
              <a:rPr lang="zh-CN" altLang="en-US" sz="2000" dirty="0" smtClean="0"/>
              <a:t>数据结构包括逻辑结构、物理结构和施加在数据上的运算。</a:t>
            </a:r>
            <a:endParaRPr lang="zh-CN" altLang="en-US" sz="2000" dirty="0" smtClean="0"/>
          </a:p>
        </p:txBody>
      </p:sp>
      <p:grpSp>
        <p:nvGrpSpPr>
          <p:cNvPr id="2" name="Group 3"/>
          <p:cNvGrpSpPr/>
          <p:nvPr/>
        </p:nvGrpSpPr>
        <p:grpSpPr bwMode="auto">
          <a:xfrm>
            <a:off x="915541" y="3253923"/>
            <a:ext cx="8059737" cy="1948461"/>
            <a:chOff x="192" y="1700"/>
            <a:chExt cx="5376" cy="2325"/>
          </a:xfrm>
        </p:grpSpPr>
        <p:sp>
          <p:nvSpPr>
            <p:cNvPr id="41989" name="Text Box 4"/>
            <p:cNvSpPr txBox="1">
              <a:spLocks noChangeArrowheads="1"/>
            </p:cNvSpPr>
            <p:nvPr/>
          </p:nvSpPr>
          <p:spPr bwMode="auto">
            <a:xfrm>
              <a:off x="518" y="2047"/>
              <a:ext cx="3378" cy="4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z="2000" dirty="0">
                  <a:solidFill>
                    <a:schemeClr val="accent2"/>
                  </a:solidFill>
                  <a:latin typeface="+mn-lt"/>
                  <a:ea typeface="+mn-ea"/>
                </a:rPr>
                <a:t>3214,6587,9345 ─ </a:t>
              </a:r>
              <a:r>
                <a:rPr lang="en-US" altLang="zh-CN" sz="2000" dirty="0" err="1">
                  <a:solidFill>
                    <a:schemeClr val="accent2"/>
                  </a:solidFill>
                  <a:latin typeface="+mn-lt"/>
                  <a:ea typeface="+mn-ea"/>
                </a:rPr>
                <a:t>a1</a:t>
              </a:r>
              <a:r>
                <a:rPr lang="en-US" altLang="zh-CN" sz="2000" dirty="0">
                  <a:solidFill>
                    <a:schemeClr val="accent2"/>
                  </a:solidFill>
                  <a:latin typeface="+mn-lt"/>
                  <a:ea typeface="+mn-ea"/>
                </a:rPr>
                <a:t>(3214),</a:t>
              </a:r>
              <a:r>
                <a:rPr lang="en-US" altLang="zh-CN" sz="2000" dirty="0" err="1">
                  <a:solidFill>
                    <a:schemeClr val="accent2"/>
                  </a:solidFill>
                  <a:latin typeface="+mn-lt"/>
                  <a:ea typeface="+mn-ea"/>
                </a:rPr>
                <a:t>a2</a:t>
              </a:r>
              <a:r>
                <a:rPr lang="en-US" altLang="zh-CN" sz="2000" dirty="0">
                  <a:solidFill>
                    <a:schemeClr val="accent2"/>
                  </a:solidFill>
                  <a:latin typeface="+mn-lt"/>
                  <a:ea typeface="+mn-ea"/>
                </a:rPr>
                <a:t>(6587),</a:t>
              </a:r>
              <a:r>
                <a:rPr lang="en-US" altLang="zh-CN" sz="2000" dirty="0" err="1">
                  <a:solidFill>
                    <a:schemeClr val="accent2"/>
                  </a:solidFill>
                  <a:latin typeface="+mn-lt"/>
                  <a:ea typeface="+mn-ea"/>
                </a:rPr>
                <a:t>a3</a:t>
              </a:r>
              <a:r>
                <a:rPr lang="en-US" altLang="zh-CN" sz="2000" dirty="0">
                  <a:solidFill>
                    <a:schemeClr val="accent2"/>
                  </a:solidFill>
                  <a:latin typeface="+mn-lt"/>
                  <a:ea typeface="+mn-ea"/>
                </a:rPr>
                <a:t>(9345)</a:t>
              </a:r>
              <a:endParaRPr lang="en-US" altLang="zh-CN" sz="2000" dirty="0">
                <a:solidFill>
                  <a:schemeClr val="accent2"/>
                </a:solidFill>
                <a:latin typeface="+mn-lt"/>
                <a:ea typeface="+mn-ea"/>
              </a:endParaRPr>
            </a:p>
          </p:txBody>
        </p:sp>
        <p:sp>
          <p:nvSpPr>
            <p:cNvPr id="41990" name="Text Box 5"/>
            <p:cNvSpPr txBox="1">
              <a:spLocks noChangeArrowheads="1"/>
            </p:cNvSpPr>
            <p:nvPr/>
          </p:nvSpPr>
          <p:spPr bwMode="auto">
            <a:xfrm>
              <a:off x="241" y="2448"/>
              <a:ext cx="5327" cy="5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lnSpc>
                  <a:spcPct val="125000"/>
                </a:lnSpc>
              </a:pPr>
              <a:r>
                <a:rPr lang="zh-CN" altLang="en-US" sz="2000" dirty="0">
                  <a:solidFill>
                    <a:schemeClr val="accent2"/>
                  </a:solidFill>
                  <a:latin typeface="+mn-lt"/>
                  <a:ea typeface="+mn-ea"/>
                </a:rPr>
                <a:t>则在数据元素 </a:t>
              </a:r>
              <a:r>
                <a:rPr lang="en-US" altLang="zh-CN" sz="2000" dirty="0" err="1">
                  <a:solidFill>
                    <a:schemeClr val="accent2"/>
                  </a:solidFill>
                  <a:latin typeface="+mn-lt"/>
                  <a:ea typeface="+mn-ea"/>
                </a:rPr>
                <a:t>a1</a:t>
              </a:r>
              <a:r>
                <a:rPr lang="zh-CN" altLang="en-US" sz="2000" dirty="0">
                  <a:solidFill>
                    <a:schemeClr val="accent2"/>
                  </a:solidFill>
                  <a:latin typeface="+mn-lt"/>
                  <a:ea typeface="+mn-ea"/>
                </a:rPr>
                <a:t>、</a:t>
              </a:r>
              <a:r>
                <a:rPr lang="en-US" altLang="zh-CN" sz="2000" dirty="0" err="1">
                  <a:solidFill>
                    <a:schemeClr val="accent2"/>
                  </a:solidFill>
                  <a:latin typeface="+mn-lt"/>
                  <a:ea typeface="+mn-ea"/>
                </a:rPr>
                <a:t>a2</a:t>
              </a:r>
              <a:r>
                <a:rPr lang="en-US" altLang="zh-CN" sz="2000" dirty="0">
                  <a:solidFill>
                    <a:schemeClr val="accent2"/>
                  </a:solidFill>
                  <a:latin typeface="+mn-lt"/>
                  <a:ea typeface="+mn-ea"/>
                </a:rPr>
                <a:t> </a:t>
              </a:r>
              <a:r>
                <a:rPr lang="zh-CN" altLang="en-US" sz="2000" dirty="0">
                  <a:solidFill>
                    <a:schemeClr val="accent2"/>
                  </a:solidFill>
                  <a:latin typeface="+mn-lt"/>
                  <a:ea typeface="+mn-ea"/>
                </a:rPr>
                <a:t>和 </a:t>
              </a:r>
              <a:r>
                <a:rPr lang="en-US" altLang="zh-CN" sz="2000" dirty="0" err="1">
                  <a:solidFill>
                    <a:schemeClr val="accent2"/>
                  </a:solidFill>
                  <a:latin typeface="+mn-lt"/>
                  <a:ea typeface="+mn-ea"/>
                </a:rPr>
                <a:t>a3</a:t>
              </a:r>
              <a:r>
                <a:rPr lang="en-US" altLang="zh-CN" sz="2000" dirty="0">
                  <a:solidFill>
                    <a:schemeClr val="accent2"/>
                  </a:solidFill>
                  <a:latin typeface="+mn-lt"/>
                  <a:ea typeface="+mn-ea"/>
                </a:rPr>
                <a:t> </a:t>
              </a:r>
              <a:r>
                <a:rPr lang="zh-CN" altLang="en-US" sz="2000" dirty="0">
                  <a:solidFill>
                    <a:schemeClr val="accent2"/>
                  </a:solidFill>
                  <a:latin typeface="+mn-lt"/>
                  <a:ea typeface="+mn-ea"/>
                </a:rPr>
                <a:t>之间存在着“次序”关系 </a:t>
              </a:r>
              <a:r>
                <a:rPr lang="zh-CN" altLang="en-US" sz="2000" dirty="0">
                  <a:solidFill>
                    <a:schemeClr val="accent2"/>
                  </a:solidFill>
                  <a:latin typeface="+mn-lt"/>
                  <a:ea typeface="+mn-ea"/>
                  <a:sym typeface="Symbol" panose="05050102010706020507" pitchFamily="18" charset="2"/>
                </a:rPr>
                <a:t></a:t>
              </a:r>
              <a:r>
                <a:rPr lang="en-US" altLang="zh-CN" sz="2000" dirty="0" err="1">
                  <a:solidFill>
                    <a:schemeClr val="accent2"/>
                  </a:solidFill>
                  <a:latin typeface="+mn-lt"/>
                  <a:ea typeface="+mn-ea"/>
                </a:rPr>
                <a:t>a1,a2</a:t>
              </a:r>
              <a:r>
                <a:rPr lang="en-US" altLang="zh-CN" sz="2000" dirty="0">
                  <a:solidFill>
                    <a:schemeClr val="accent2"/>
                  </a:solidFill>
                  <a:latin typeface="+mn-lt"/>
                  <a:ea typeface="+mn-ea"/>
                  <a:sym typeface="Symbol" panose="05050102010706020507" pitchFamily="18" charset="2"/>
                </a:rPr>
                <a:t></a:t>
              </a:r>
              <a:r>
                <a:rPr lang="zh-CN" altLang="en-US" sz="2000" dirty="0">
                  <a:solidFill>
                    <a:schemeClr val="accent2"/>
                  </a:solidFill>
                  <a:latin typeface="+mn-lt"/>
                  <a:ea typeface="+mn-ea"/>
                </a:rPr>
                <a:t>、</a:t>
              </a:r>
              <a:r>
                <a:rPr lang="zh-CN" altLang="en-US" sz="2000" dirty="0">
                  <a:solidFill>
                    <a:schemeClr val="accent2"/>
                  </a:solidFill>
                  <a:latin typeface="+mn-lt"/>
                  <a:ea typeface="+mn-ea"/>
                  <a:sym typeface="Symbol" panose="05050102010706020507" pitchFamily="18" charset="2"/>
                </a:rPr>
                <a:t></a:t>
              </a:r>
              <a:r>
                <a:rPr lang="en-US" altLang="zh-CN" sz="2000" dirty="0" err="1">
                  <a:solidFill>
                    <a:schemeClr val="accent2"/>
                  </a:solidFill>
                  <a:latin typeface="+mn-lt"/>
                  <a:ea typeface="+mn-ea"/>
                </a:rPr>
                <a:t>a2,a3</a:t>
              </a:r>
              <a:r>
                <a:rPr lang="en-US" altLang="zh-CN" sz="2000" dirty="0">
                  <a:solidFill>
                    <a:schemeClr val="accent2"/>
                  </a:solidFill>
                  <a:latin typeface="+mn-lt"/>
                  <a:ea typeface="+mn-ea"/>
                  <a:sym typeface="Symbol" panose="05050102010706020507" pitchFamily="18" charset="2"/>
                </a:rPr>
                <a:t></a:t>
              </a:r>
              <a:endParaRPr lang="en-US" altLang="zh-CN" sz="2000" dirty="0">
                <a:solidFill>
                  <a:schemeClr val="accent2"/>
                </a:solidFill>
                <a:latin typeface="+mn-lt"/>
                <a:ea typeface="+mn-ea"/>
                <a:sym typeface="Symbol" panose="05050102010706020507" pitchFamily="18" charset="2"/>
              </a:endParaRPr>
            </a:p>
          </p:txBody>
        </p:sp>
        <p:sp>
          <p:nvSpPr>
            <p:cNvPr id="41991" name="Text Box 6"/>
            <p:cNvSpPr txBox="1">
              <a:spLocks noChangeArrowheads="1"/>
            </p:cNvSpPr>
            <p:nvPr/>
          </p:nvSpPr>
          <p:spPr bwMode="auto">
            <a:xfrm>
              <a:off x="682" y="3125"/>
              <a:ext cx="1535" cy="8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z="2000" dirty="0">
                  <a:solidFill>
                    <a:schemeClr val="accent2"/>
                  </a:solidFill>
                  <a:latin typeface="+mn-lt"/>
                  <a:ea typeface="+mn-ea"/>
                </a:rPr>
                <a:t>3214</a:t>
              </a:r>
              <a:r>
                <a:rPr lang="zh-CN" altLang="en-US" sz="2000" dirty="0">
                  <a:solidFill>
                    <a:schemeClr val="accent2"/>
                  </a:solidFill>
                  <a:latin typeface="+mn-lt"/>
                  <a:ea typeface="+mn-ea"/>
                </a:rPr>
                <a:t>，</a:t>
              </a:r>
              <a:r>
                <a:rPr lang="en-US" altLang="zh-CN" sz="2000" dirty="0">
                  <a:solidFill>
                    <a:schemeClr val="accent2"/>
                  </a:solidFill>
                  <a:latin typeface="+mn-lt"/>
                  <a:ea typeface="+mn-ea"/>
                </a:rPr>
                <a:t>6587</a:t>
              </a:r>
              <a:r>
                <a:rPr lang="zh-CN" altLang="en-US" sz="2000" dirty="0">
                  <a:solidFill>
                    <a:schemeClr val="accent2"/>
                  </a:solidFill>
                  <a:latin typeface="+mn-lt"/>
                  <a:ea typeface="+mn-ea"/>
                </a:rPr>
                <a:t>，</a:t>
              </a:r>
              <a:r>
                <a:rPr lang="en-US" altLang="zh-CN" sz="2000" dirty="0">
                  <a:solidFill>
                    <a:schemeClr val="accent2"/>
                  </a:solidFill>
                  <a:latin typeface="+mn-lt"/>
                  <a:ea typeface="+mn-ea"/>
                </a:rPr>
                <a:t>9345 </a:t>
              </a:r>
              <a:endParaRPr lang="en-US" altLang="zh-CN" sz="2000" dirty="0">
                <a:solidFill>
                  <a:schemeClr val="accent2"/>
                </a:solidFill>
                <a:latin typeface="+mn-lt"/>
                <a:ea typeface="+mn-ea"/>
              </a:endParaRPr>
            </a:p>
            <a:p>
              <a:pPr eaLnBrk="1" hangingPunct="1"/>
              <a:r>
                <a:rPr lang="en-US" altLang="zh-CN" sz="2000" dirty="0">
                  <a:solidFill>
                    <a:schemeClr val="accent2"/>
                  </a:solidFill>
                  <a:latin typeface="+mn-lt"/>
                  <a:ea typeface="+mn-ea"/>
                </a:rPr>
                <a:t>  </a:t>
              </a:r>
              <a:r>
                <a:rPr lang="en-US" altLang="zh-CN" sz="2000" dirty="0" err="1">
                  <a:solidFill>
                    <a:schemeClr val="accent2"/>
                  </a:solidFill>
                  <a:latin typeface="+mn-lt"/>
                  <a:ea typeface="+mn-ea"/>
                </a:rPr>
                <a:t>a1</a:t>
              </a:r>
              <a:r>
                <a:rPr lang="en-US" altLang="zh-CN" sz="2000" dirty="0">
                  <a:solidFill>
                    <a:schemeClr val="accent2"/>
                  </a:solidFill>
                  <a:latin typeface="+mn-lt"/>
                  <a:ea typeface="+mn-ea"/>
                </a:rPr>
                <a:t>         </a:t>
              </a:r>
              <a:r>
                <a:rPr lang="en-US" altLang="zh-CN" sz="2000" dirty="0" err="1">
                  <a:solidFill>
                    <a:schemeClr val="accent2"/>
                  </a:solidFill>
                  <a:latin typeface="+mn-lt"/>
                  <a:ea typeface="+mn-ea"/>
                </a:rPr>
                <a:t>a2</a:t>
              </a:r>
              <a:r>
                <a:rPr lang="en-US" altLang="zh-CN" sz="2000" dirty="0">
                  <a:solidFill>
                    <a:schemeClr val="accent2"/>
                  </a:solidFill>
                  <a:latin typeface="+mn-lt"/>
                  <a:ea typeface="+mn-ea"/>
                </a:rPr>
                <a:t>        </a:t>
              </a:r>
              <a:r>
                <a:rPr lang="en-US" altLang="zh-CN" sz="2000" dirty="0" err="1">
                  <a:solidFill>
                    <a:schemeClr val="accent2"/>
                  </a:solidFill>
                  <a:latin typeface="+mn-lt"/>
                  <a:ea typeface="+mn-ea"/>
                </a:rPr>
                <a:t>a3</a:t>
              </a:r>
              <a:r>
                <a:rPr lang="en-US" altLang="zh-CN" sz="2000" dirty="0">
                  <a:solidFill>
                    <a:schemeClr val="accent2"/>
                  </a:solidFill>
                  <a:latin typeface="+mn-lt"/>
                  <a:ea typeface="+mn-ea"/>
                </a:rPr>
                <a:t> </a:t>
              </a:r>
              <a:endParaRPr lang="en-US" altLang="zh-CN" sz="2000" dirty="0">
                <a:solidFill>
                  <a:schemeClr val="accent2"/>
                </a:solidFill>
                <a:latin typeface="+mn-lt"/>
                <a:ea typeface="+mn-ea"/>
              </a:endParaRPr>
            </a:p>
          </p:txBody>
        </p:sp>
        <p:sp>
          <p:nvSpPr>
            <p:cNvPr id="41992" name="Text Box 7"/>
            <p:cNvSpPr txBox="1">
              <a:spLocks noChangeArrowheads="1"/>
            </p:cNvSpPr>
            <p:nvPr/>
          </p:nvSpPr>
          <p:spPr bwMode="auto">
            <a:xfrm>
              <a:off x="2476" y="3033"/>
              <a:ext cx="1644" cy="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lnSpc>
                  <a:spcPct val="120000"/>
                </a:lnSpc>
              </a:pPr>
              <a:r>
                <a:rPr lang="en-US" altLang="zh-CN" sz="2000" dirty="0">
                  <a:solidFill>
                    <a:schemeClr val="accent2"/>
                  </a:solidFill>
                  <a:latin typeface="+mn-lt"/>
                  <a:ea typeface="+mn-ea"/>
                </a:rPr>
                <a:t>6587</a:t>
              </a:r>
              <a:r>
                <a:rPr lang="zh-CN" altLang="en-US" sz="2000" dirty="0">
                  <a:solidFill>
                    <a:schemeClr val="accent2"/>
                  </a:solidFill>
                  <a:latin typeface="+mn-lt"/>
                  <a:ea typeface="+mn-ea"/>
                </a:rPr>
                <a:t>，</a:t>
              </a:r>
              <a:r>
                <a:rPr lang="en-US" altLang="zh-CN" sz="2000" dirty="0">
                  <a:solidFill>
                    <a:schemeClr val="accent2"/>
                  </a:solidFill>
                  <a:latin typeface="+mn-lt"/>
                  <a:ea typeface="+mn-ea"/>
                </a:rPr>
                <a:t>3214</a:t>
              </a:r>
              <a:r>
                <a:rPr lang="zh-CN" altLang="en-US" sz="2000" dirty="0">
                  <a:solidFill>
                    <a:schemeClr val="accent2"/>
                  </a:solidFill>
                  <a:latin typeface="+mn-lt"/>
                  <a:ea typeface="+mn-ea"/>
                </a:rPr>
                <a:t>，</a:t>
              </a:r>
              <a:r>
                <a:rPr lang="en-US" altLang="zh-CN" sz="2000" dirty="0">
                  <a:solidFill>
                    <a:schemeClr val="accent2"/>
                  </a:solidFill>
                  <a:latin typeface="+mn-lt"/>
                  <a:ea typeface="+mn-ea"/>
                </a:rPr>
                <a:t>9345</a:t>
              </a:r>
              <a:endParaRPr lang="en-US" altLang="zh-CN" sz="2000" dirty="0">
                <a:solidFill>
                  <a:schemeClr val="accent2"/>
                </a:solidFill>
                <a:latin typeface="+mn-lt"/>
                <a:ea typeface="+mn-ea"/>
              </a:endParaRPr>
            </a:p>
            <a:p>
              <a:pPr eaLnBrk="1" hangingPunct="1">
                <a:lnSpc>
                  <a:spcPct val="120000"/>
                </a:lnSpc>
              </a:pPr>
              <a:r>
                <a:rPr lang="en-US" altLang="zh-CN" sz="2000" dirty="0">
                  <a:solidFill>
                    <a:schemeClr val="accent2"/>
                  </a:solidFill>
                  <a:latin typeface="+mn-lt"/>
                  <a:ea typeface="+mn-ea"/>
                </a:rPr>
                <a:t>  </a:t>
              </a:r>
              <a:r>
                <a:rPr lang="en-US" altLang="zh-CN" sz="2000" dirty="0" err="1">
                  <a:solidFill>
                    <a:schemeClr val="accent2"/>
                  </a:solidFill>
                  <a:latin typeface="+mn-lt"/>
                  <a:ea typeface="+mn-ea"/>
                </a:rPr>
                <a:t>a2</a:t>
              </a:r>
              <a:r>
                <a:rPr lang="en-US" altLang="zh-CN" sz="2000" dirty="0">
                  <a:solidFill>
                    <a:schemeClr val="accent2"/>
                  </a:solidFill>
                  <a:latin typeface="+mn-lt"/>
                  <a:ea typeface="+mn-ea"/>
                </a:rPr>
                <a:t>         </a:t>
              </a:r>
              <a:r>
                <a:rPr lang="en-US" altLang="zh-CN" sz="2000" dirty="0" err="1">
                  <a:solidFill>
                    <a:schemeClr val="accent2"/>
                  </a:solidFill>
                  <a:latin typeface="+mn-lt"/>
                  <a:ea typeface="+mn-ea"/>
                </a:rPr>
                <a:t>a1</a:t>
              </a:r>
              <a:r>
                <a:rPr lang="en-US" altLang="zh-CN" sz="2000" dirty="0">
                  <a:solidFill>
                    <a:schemeClr val="accent2"/>
                  </a:solidFill>
                  <a:latin typeface="+mn-lt"/>
                  <a:ea typeface="+mn-ea"/>
                </a:rPr>
                <a:t>        </a:t>
              </a:r>
              <a:r>
                <a:rPr lang="en-US" altLang="zh-CN" sz="2000" dirty="0" err="1">
                  <a:solidFill>
                    <a:schemeClr val="accent2"/>
                  </a:solidFill>
                  <a:latin typeface="+mn-lt"/>
                  <a:ea typeface="+mn-ea"/>
                </a:rPr>
                <a:t>a3</a:t>
              </a:r>
              <a:endParaRPr lang="en-US" altLang="zh-CN" sz="2000" dirty="0">
                <a:solidFill>
                  <a:schemeClr val="accent2"/>
                </a:solidFill>
                <a:latin typeface="+mn-lt"/>
                <a:ea typeface="+mn-ea"/>
              </a:endParaRPr>
            </a:p>
          </p:txBody>
        </p:sp>
        <p:sp>
          <p:nvSpPr>
            <p:cNvPr id="41993" name="Text Box 8"/>
            <p:cNvSpPr txBox="1">
              <a:spLocks noChangeArrowheads="1"/>
            </p:cNvSpPr>
            <p:nvPr/>
          </p:nvSpPr>
          <p:spPr bwMode="auto">
            <a:xfrm>
              <a:off x="2219" y="3254"/>
              <a:ext cx="257" cy="5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z="2400" dirty="0">
                  <a:solidFill>
                    <a:schemeClr val="accent2"/>
                  </a:solidFill>
                  <a:latin typeface="+mn-lt"/>
                  <a:ea typeface="+mn-ea"/>
                </a:rPr>
                <a:t>≠</a:t>
              </a:r>
              <a:endParaRPr lang="en-US" altLang="zh-CN" sz="2400" dirty="0">
                <a:solidFill>
                  <a:schemeClr val="accent2"/>
                </a:solidFill>
                <a:latin typeface="+mn-lt"/>
                <a:ea typeface="+mn-ea"/>
              </a:endParaRPr>
            </a:p>
          </p:txBody>
        </p:sp>
        <p:sp>
          <p:nvSpPr>
            <p:cNvPr id="41994" name="Rectangle 9"/>
            <p:cNvSpPr>
              <a:spLocks noChangeArrowheads="1"/>
            </p:cNvSpPr>
            <p:nvPr/>
          </p:nvSpPr>
          <p:spPr bwMode="auto">
            <a:xfrm>
              <a:off x="192" y="1700"/>
              <a:ext cx="512" cy="4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zh-CN" altLang="en-US" sz="2000" dirty="0">
                  <a:solidFill>
                    <a:schemeClr val="accent2"/>
                  </a:solidFill>
                  <a:latin typeface="+mn-lt"/>
                  <a:ea typeface="+mn-ea"/>
                </a:rPr>
                <a:t>例如</a:t>
              </a:r>
              <a:r>
                <a:rPr lang="en-US" altLang="zh-CN" sz="2000" dirty="0">
                  <a:solidFill>
                    <a:schemeClr val="accent2"/>
                  </a:solidFill>
                  <a:latin typeface="+mn-lt"/>
                  <a:ea typeface="+mn-ea"/>
                </a:rPr>
                <a:t>:</a:t>
              </a:r>
              <a:endParaRPr lang="en-US" altLang="zh-CN" sz="2000" dirty="0">
                <a:solidFill>
                  <a:schemeClr val="accent2"/>
                </a:solidFill>
                <a:latin typeface="+mn-lt"/>
                <a:ea typeface="+mn-ea"/>
              </a:endParaRPr>
            </a:p>
          </p:txBody>
        </p:sp>
      </p:grpSp>
      <p:sp>
        <p:nvSpPr>
          <p:cNvPr id="41988"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11" name="Rectangle 10"/>
          <p:cNvSpPr>
            <a:spLocks noGrp="1" noChangeArrowheads="1"/>
          </p:cNvSpPr>
          <p:nvPr>
            <p:ph type="title"/>
          </p:nvPr>
        </p:nvSpPr>
        <p:spPr>
          <a:xfrm>
            <a:off x="899592" y="332656"/>
            <a:ext cx="7772400" cy="720725"/>
          </a:xfrm>
        </p:spPr>
        <p:txBody>
          <a:bodyPr/>
          <a:lstStyle/>
          <a:p>
            <a:r>
              <a:rPr lang="en-US" altLang="zh-CN" dirty="0" smtClean="0"/>
              <a:t> 1.4.1 </a:t>
            </a:r>
            <a:r>
              <a:rPr lang="zh-CN" altLang="en-US" dirty="0" smtClean="0"/>
              <a:t>基本概念和术语</a:t>
            </a:r>
            <a:endParaRPr lang="zh-CN" altLang="en-US" dirty="0" smtClean="0"/>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3010" name="Group 2"/>
          <p:cNvGrpSpPr/>
          <p:nvPr/>
        </p:nvGrpSpPr>
        <p:grpSpPr bwMode="auto">
          <a:xfrm>
            <a:off x="460375" y="428625"/>
            <a:ext cx="7907338" cy="4905375"/>
            <a:chOff x="495" y="262"/>
            <a:chExt cx="4981" cy="3090"/>
          </a:xfrm>
        </p:grpSpPr>
        <p:grpSp>
          <p:nvGrpSpPr>
            <p:cNvPr id="43012" name="Group 3"/>
            <p:cNvGrpSpPr/>
            <p:nvPr/>
          </p:nvGrpSpPr>
          <p:grpSpPr bwMode="auto">
            <a:xfrm>
              <a:off x="495" y="415"/>
              <a:ext cx="4981" cy="2937"/>
              <a:chOff x="495" y="415"/>
              <a:chExt cx="4981" cy="2937"/>
            </a:xfrm>
          </p:grpSpPr>
          <p:sp>
            <p:nvSpPr>
              <p:cNvPr id="43014" name="Text Box 4"/>
              <p:cNvSpPr txBox="1">
                <a:spLocks noChangeArrowheads="1"/>
              </p:cNvSpPr>
              <p:nvPr/>
            </p:nvSpPr>
            <p:spPr bwMode="auto">
              <a:xfrm>
                <a:off x="495" y="1792"/>
                <a:ext cx="2160"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50000"/>
                  </a:spcBef>
                </a:pPr>
                <a:endParaRPr lang="zh-CN" altLang="zh-CN" sz="2400" b="1">
                  <a:latin typeface="宋体" pitchFamily="2" charset="-122"/>
                </a:endParaRPr>
              </a:p>
            </p:txBody>
          </p:sp>
          <p:sp>
            <p:nvSpPr>
              <p:cNvPr id="43015" name="Text Box 5"/>
              <p:cNvSpPr txBox="1">
                <a:spLocks noChangeArrowheads="1"/>
              </p:cNvSpPr>
              <p:nvPr/>
            </p:nvSpPr>
            <p:spPr bwMode="auto">
              <a:xfrm>
                <a:off x="762" y="1640"/>
                <a:ext cx="2029"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50000"/>
                  </a:spcBef>
                </a:pPr>
                <a:endParaRPr lang="zh-CN" altLang="zh-CN" sz="2400" b="1">
                  <a:latin typeface="宋体" pitchFamily="2" charset="-122"/>
                </a:endParaRPr>
              </a:p>
            </p:txBody>
          </p:sp>
          <p:sp>
            <p:nvSpPr>
              <p:cNvPr id="277510" name="AutoShape 6"/>
              <p:cNvSpPr/>
              <p:nvPr/>
            </p:nvSpPr>
            <p:spPr bwMode="auto">
              <a:xfrm>
                <a:off x="807" y="1183"/>
                <a:ext cx="316" cy="2169"/>
              </a:xfrm>
              <a:prstGeom prst="leftBrace">
                <a:avLst>
                  <a:gd name="adj1" fmla="val 57199"/>
                  <a:gd name="adj2" fmla="val 50000"/>
                </a:avLst>
              </a:prstGeom>
              <a:noFill/>
              <a:ln w="38100">
                <a:solidFill>
                  <a:schemeClr val="accent6">
                    <a:lumMod val="75000"/>
                  </a:schemeClr>
                </a:solidFill>
                <a:round/>
              </a:ln>
              <a:effectLst/>
            </p:spPr>
            <p:txBody>
              <a:bodyPr/>
              <a:lstStyle/>
              <a:p>
                <a:pPr>
                  <a:defRPr/>
                </a:pPr>
                <a:endParaRPr lang="zh-CN" altLang="en-US">
                  <a:latin typeface="Arial" panose="020B0604020202090204" pitchFamily="34" charset="0"/>
                </a:endParaRPr>
              </a:p>
            </p:txBody>
          </p:sp>
          <p:sp>
            <p:nvSpPr>
              <p:cNvPr id="43017" name="Text Box 7" descr="花岗岩"/>
              <p:cNvSpPr txBox="1">
                <a:spLocks noChangeArrowheads="1"/>
              </p:cNvSpPr>
              <p:nvPr/>
            </p:nvSpPr>
            <p:spPr bwMode="auto">
              <a:xfrm>
                <a:off x="1058" y="1247"/>
                <a:ext cx="1661"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50000"/>
                  </a:spcBef>
                </a:pPr>
                <a:r>
                  <a:rPr lang="en-US" altLang="zh-CN" sz="2400" b="1">
                    <a:latin typeface="宋体" pitchFamily="2" charset="-122"/>
                  </a:rPr>
                  <a:t> </a:t>
                </a:r>
                <a:r>
                  <a:rPr lang="zh-CN" altLang="en-US" sz="2400" b="1">
                    <a:latin typeface="宋体" pitchFamily="2" charset="-122"/>
                  </a:rPr>
                  <a:t>数据的逻辑结构 </a:t>
                </a:r>
                <a:endParaRPr lang="zh-CN" altLang="en-US" sz="2400" b="1">
                  <a:latin typeface="宋体" pitchFamily="2" charset="-122"/>
                </a:endParaRPr>
              </a:p>
            </p:txBody>
          </p:sp>
          <p:sp>
            <p:nvSpPr>
              <p:cNvPr id="43018" name="Text Box 8" descr="花岗岩"/>
              <p:cNvSpPr txBox="1">
                <a:spLocks noChangeArrowheads="1"/>
              </p:cNvSpPr>
              <p:nvPr/>
            </p:nvSpPr>
            <p:spPr bwMode="auto">
              <a:xfrm>
                <a:off x="1058" y="2359"/>
                <a:ext cx="1661"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50000"/>
                  </a:spcBef>
                </a:pPr>
                <a:r>
                  <a:rPr lang="en-US" altLang="zh-CN" sz="2400" b="1">
                    <a:latin typeface="宋体" pitchFamily="2" charset="-122"/>
                  </a:rPr>
                  <a:t> </a:t>
                </a:r>
                <a:r>
                  <a:rPr lang="zh-CN" altLang="en-US" sz="2400" b="1">
                    <a:latin typeface="宋体" pitchFamily="2" charset="-122"/>
                  </a:rPr>
                  <a:t>数据的存储结构 </a:t>
                </a:r>
                <a:endParaRPr lang="zh-CN" altLang="en-US" sz="2400" b="1">
                  <a:latin typeface="宋体" pitchFamily="2" charset="-122"/>
                </a:endParaRPr>
              </a:p>
            </p:txBody>
          </p:sp>
          <p:sp>
            <p:nvSpPr>
              <p:cNvPr id="43019" name="Text Box 9" descr="花岗岩"/>
              <p:cNvSpPr txBox="1">
                <a:spLocks noChangeArrowheads="1"/>
              </p:cNvSpPr>
              <p:nvPr/>
            </p:nvSpPr>
            <p:spPr bwMode="auto">
              <a:xfrm>
                <a:off x="1210" y="3024"/>
                <a:ext cx="4266"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50000"/>
                  </a:spcBef>
                </a:pPr>
                <a:r>
                  <a:rPr lang="zh-CN" altLang="en-US" sz="2400" b="1">
                    <a:latin typeface="宋体" pitchFamily="2" charset="-122"/>
                  </a:rPr>
                  <a:t>数据的运算：检索、排序、插入、删除、修改等 </a:t>
                </a:r>
                <a:endParaRPr lang="zh-CN" altLang="en-US" sz="2400" b="1">
                  <a:latin typeface="宋体" pitchFamily="2" charset="-122"/>
                </a:endParaRPr>
              </a:p>
            </p:txBody>
          </p:sp>
          <p:sp>
            <p:nvSpPr>
              <p:cNvPr id="277514" name="AutoShape 10"/>
              <p:cNvSpPr/>
              <p:nvPr/>
            </p:nvSpPr>
            <p:spPr bwMode="auto">
              <a:xfrm>
                <a:off x="2791" y="2228"/>
                <a:ext cx="68" cy="595"/>
              </a:xfrm>
              <a:prstGeom prst="leftBrace">
                <a:avLst>
                  <a:gd name="adj1" fmla="val 72917"/>
                  <a:gd name="adj2" fmla="val 50000"/>
                </a:avLst>
              </a:prstGeom>
              <a:noFill/>
              <a:ln w="38100">
                <a:solidFill>
                  <a:schemeClr val="accent6">
                    <a:lumMod val="75000"/>
                  </a:schemeClr>
                </a:solidFill>
                <a:round/>
              </a:ln>
              <a:effectLst/>
            </p:spPr>
            <p:txBody>
              <a:bodyPr/>
              <a:lstStyle/>
              <a:p>
                <a:pPr>
                  <a:defRPr/>
                </a:pPr>
                <a:endParaRPr lang="zh-CN" altLang="en-US">
                  <a:latin typeface="Arial" panose="020B0604020202090204" pitchFamily="34" charset="0"/>
                </a:endParaRPr>
              </a:p>
            </p:txBody>
          </p:sp>
          <p:sp>
            <p:nvSpPr>
              <p:cNvPr id="277515" name="AutoShape 11"/>
              <p:cNvSpPr/>
              <p:nvPr/>
            </p:nvSpPr>
            <p:spPr bwMode="auto">
              <a:xfrm>
                <a:off x="2701" y="847"/>
                <a:ext cx="270" cy="1118"/>
              </a:xfrm>
              <a:prstGeom prst="leftBrace">
                <a:avLst>
                  <a:gd name="adj1" fmla="val 21681"/>
                  <a:gd name="adj2" fmla="val 49282"/>
                </a:avLst>
              </a:prstGeom>
              <a:noFill/>
              <a:ln w="38100">
                <a:solidFill>
                  <a:schemeClr val="accent6">
                    <a:lumMod val="75000"/>
                  </a:schemeClr>
                </a:solidFill>
                <a:round/>
              </a:ln>
              <a:effectLst/>
            </p:spPr>
            <p:txBody>
              <a:bodyPr/>
              <a:lstStyle/>
              <a:p>
                <a:pPr>
                  <a:defRPr/>
                </a:pPr>
                <a:endParaRPr lang="zh-CN" altLang="en-US">
                  <a:latin typeface="Arial" panose="020B0604020202090204" pitchFamily="34" charset="0"/>
                </a:endParaRPr>
              </a:p>
            </p:txBody>
          </p:sp>
          <p:sp>
            <p:nvSpPr>
              <p:cNvPr id="277516" name="AutoShape 12"/>
              <p:cNvSpPr/>
              <p:nvPr/>
            </p:nvSpPr>
            <p:spPr bwMode="auto">
              <a:xfrm>
                <a:off x="4121" y="463"/>
                <a:ext cx="90" cy="857"/>
              </a:xfrm>
              <a:prstGeom prst="leftBrace">
                <a:avLst>
                  <a:gd name="adj1" fmla="val 79352"/>
                  <a:gd name="adj2" fmla="val 50000"/>
                </a:avLst>
              </a:prstGeom>
              <a:noFill/>
              <a:ln w="38100">
                <a:solidFill>
                  <a:schemeClr val="accent6">
                    <a:lumMod val="75000"/>
                  </a:schemeClr>
                </a:solidFill>
                <a:round/>
              </a:ln>
              <a:effectLst/>
            </p:spPr>
            <p:txBody>
              <a:bodyPr/>
              <a:lstStyle/>
              <a:p>
                <a:pPr>
                  <a:defRPr/>
                </a:pPr>
                <a:endParaRPr lang="zh-CN" altLang="en-US">
                  <a:latin typeface="Arial" panose="020B0604020202090204" pitchFamily="34" charset="0"/>
                </a:endParaRPr>
              </a:p>
            </p:txBody>
          </p:sp>
          <p:sp>
            <p:nvSpPr>
              <p:cNvPr id="277517" name="AutoShape 13"/>
              <p:cNvSpPr/>
              <p:nvPr/>
            </p:nvSpPr>
            <p:spPr bwMode="auto">
              <a:xfrm>
                <a:off x="4143" y="1471"/>
                <a:ext cx="68" cy="595"/>
              </a:xfrm>
              <a:prstGeom prst="leftBrace">
                <a:avLst>
                  <a:gd name="adj1" fmla="val 72917"/>
                  <a:gd name="adj2" fmla="val 50000"/>
                </a:avLst>
              </a:prstGeom>
              <a:noFill/>
              <a:ln w="38100">
                <a:solidFill>
                  <a:schemeClr val="accent6">
                    <a:lumMod val="75000"/>
                  </a:schemeClr>
                </a:solidFill>
                <a:round/>
              </a:ln>
              <a:effectLst/>
            </p:spPr>
            <p:txBody>
              <a:bodyPr/>
              <a:lstStyle/>
              <a:p>
                <a:pPr>
                  <a:defRPr/>
                </a:pPr>
                <a:endParaRPr lang="zh-CN" altLang="en-US">
                  <a:latin typeface="Arial" panose="020B0604020202090204" pitchFamily="34" charset="0"/>
                </a:endParaRPr>
              </a:p>
            </p:txBody>
          </p:sp>
          <p:sp>
            <p:nvSpPr>
              <p:cNvPr id="43024" name="Text Box 14" descr="花岗岩"/>
              <p:cNvSpPr txBox="1">
                <a:spLocks noChangeArrowheads="1"/>
              </p:cNvSpPr>
              <p:nvPr/>
            </p:nvSpPr>
            <p:spPr bwMode="auto">
              <a:xfrm>
                <a:off x="2927" y="790"/>
                <a:ext cx="108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50000"/>
                  </a:spcBef>
                </a:pPr>
                <a:r>
                  <a:rPr lang="en-US" altLang="zh-CN" sz="2400" b="1">
                    <a:latin typeface="宋体" pitchFamily="2" charset="-122"/>
                  </a:rPr>
                  <a:t> </a:t>
                </a:r>
                <a:r>
                  <a:rPr lang="zh-CN" altLang="en-US" sz="2400" b="1">
                    <a:latin typeface="宋体" pitchFamily="2" charset="-122"/>
                  </a:rPr>
                  <a:t>线性结构 </a:t>
                </a:r>
                <a:endParaRPr lang="zh-CN" altLang="en-US" sz="2400" b="1">
                  <a:latin typeface="宋体" pitchFamily="2" charset="-122"/>
                </a:endParaRPr>
              </a:p>
            </p:txBody>
          </p:sp>
          <p:sp>
            <p:nvSpPr>
              <p:cNvPr id="43025" name="Text Box 15" descr="花岗岩"/>
              <p:cNvSpPr txBox="1">
                <a:spLocks noChangeArrowheads="1"/>
              </p:cNvSpPr>
              <p:nvPr/>
            </p:nvSpPr>
            <p:spPr bwMode="auto">
              <a:xfrm>
                <a:off x="2958" y="1615"/>
                <a:ext cx="1178"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50000"/>
                  </a:spcBef>
                </a:pPr>
                <a:r>
                  <a:rPr lang="en-US" altLang="zh-CN" sz="2400" b="1">
                    <a:latin typeface="宋体" pitchFamily="2" charset="-122"/>
                  </a:rPr>
                  <a:t> </a:t>
                </a:r>
                <a:r>
                  <a:rPr lang="zh-CN" altLang="en-US" sz="2400" b="1">
                    <a:latin typeface="宋体" pitchFamily="2" charset="-122"/>
                  </a:rPr>
                  <a:t>非线性结构</a:t>
                </a:r>
                <a:endParaRPr lang="zh-CN" altLang="en-US" sz="2400" b="1">
                  <a:latin typeface="宋体" pitchFamily="2" charset="-122"/>
                </a:endParaRPr>
              </a:p>
            </p:txBody>
          </p:sp>
          <p:sp>
            <p:nvSpPr>
              <p:cNvPr id="43026" name="Text Box 16" descr="花岗岩"/>
              <p:cNvSpPr txBox="1">
                <a:spLocks noChangeArrowheads="1"/>
              </p:cNvSpPr>
              <p:nvPr/>
            </p:nvSpPr>
            <p:spPr bwMode="auto">
              <a:xfrm>
                <a:off x="2907" y="2203"/>
                <a:ext cx="985"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50000"/>
                  </a:spcBef>
                </a:pPr>
                <a:r>
                  <a:rPr lang="en-US" altLang="zh-CN" sz="2400" b="1">
                    <a:latin typeface="宋体" pitchFamily="2" charset="-122"/>
                  </a:rPr>
                  <a:t> </a:t>
                </a:r>
                <a:r>
                  <a:rPr lang="zh-CN" altLang="en-US" sz="2400" b="1">
                    <a:latin typeface="宋体" pitchFamily="2" charset="-122"/>
                  </a:rPr>
                  <a:t>顺序存储</a:t>
                </a:r>
                <a:endParaRPr lang="zh-CN" altLang="en-US" sz="2400" b="1">
                  <a:latin typeface="宋体" pitchFamily="2" charset="-122"/>
                </a:endParaRPr>
              </a:p>
            </p:txBody>
          </p:sp>
          <p:sp>
            <p:nvSpPr>
              <p:cNvPr id="43027" name="Text Box 17" descr="花岗岩"/>
              <p:cNvSpPr txBox="1">
                <a:spLocks noChangeArrowheads="1"/>
              </p:cNvSpPr>
              <p:nvPr/>
            </p:nvSpPr>
            <p:spPr bwMode="auto">
              <a:xfrm>
                <a:off x="2812" y="2539"/>
                <a:ext cx="1179"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50000"/>
                  </a:spcBef>
                </a:pPr>
                <a:r>
                  <a:rPr lang="en-US" altLang="zh-CN" sz="2400" b="1">
                    <a:latin typeface="宋体" pitchFamily="2" charset="-122"/>
                  </a:rPr>
                  <a:t>  </a:t>
                </a:r>
                <a:r>
                  <a:rPr lang="zh-CN" altLang="en-US" sz="2400" b="1">
                    <a:latin typeface="宋体" pitchFamily="2" charset="-122"/>
                  </a:rPr>
                  <a:t>链式存储 </a:t>
                </a:r>
                <a:endParaRPr lang="zh-CN" altLang="en-US" sz="2400" b="1">
                  <a:latin typeface="宋体" pitchFamily="2" charset="-122"/>
                </a:endParaRPr>
              </a:p>
            </p:txBody>
          </p:sp>
          <p:sp>
            <p:nvSpPr>
              <p:cNvPr id="43028" name="Text Box 18" descr="花岗岩"/>
              <p:cNvSpPr txBox="1">
                <a:spLocks noChangeArrowheads="1"/>
              </p:cNvSpPr>
              <p:nvPr/>
            </p:nvSpPr>
            <p:spPr bwMode="auto">
              <a:xfrm>
                <a:off x="4280" y="415"/>
                <a:ext cx="695"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50000"/>
                  </a:spcBef>
                </a:pPr>
                <a:r>
                  <a:rPr lang="zh-CN" altLang="en-US" sz="2400" b="1">
                    <a:latin typeface="宋体" pitchFamily="2" charset="-122"/>
                  </a:rPr>
                  <a:t>线性表</a:t>
                </a:r>
                <a:endParaRPr lang="zh-CN" altLang="en-US" sz="2400" b="1">
                  <a:latin typeface="宋体" pitchFamily="2" charset="-122"/>
                </a:endParaRPr>
              </a:p>
            </p:txBody>
          </p:sp>
          <p:sp>
            <p:nvSpPr>
              <p:cNvPr id="43029" name="Text Box 19" descr="花岗岩"/>
              <p:cNvSpPr txBox="1">
                <a:spLocks noChangeArrowheads="1"/>
              </p:cNvSpPr>
              <p:nvPr/>
            </p:nvSpPr>
            <p:spPr bwMode="auto">
              <a:xfrm>
                <a:off x="4261" y="742"/>
                <a:ext cx="309"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50000"/>
                  </a:spcBef>
                </a:pPr>
                <a:r>
                  <a:rPr lang="zh-CN" altLang="en-US" sz="2400" b="1">
                    <a:latin typeface="宋体" pitchFamily="2" charset="-122"/>
                  </a:rPr>
                  <a:t>栈</a:t>
                </a:r>
                <a:endParaRPr lang="zh-CN" altLang="en-US" sz="2400" b="1">
                  <a:latin typeface="宋体" pitchFamily="2" charset="-122"/>
                </a:endParaRPr>
              </a:p>
            </p:txBody>
          </p:sp>
          <p:sp>
            <p:nvSpPr>
              <p:cNvPr id="43030" name="Text Box 20" descr="花岗岩"/>
              <p:cNvSpPr txBox="1">
                <a:spLocks noChangeArrowheads="1"/>
              </p:cNvSpPr>
              <p:nvPr/>
            </p:nvSpPr>
            <p:spPr bwMode="auto">
              <a:xfrm>
                <a:off x="4293" y="1101"/>
                <a:ext cx="50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50000"/>
                  </a:spcBef>
                </a:pPr>
                <a:r>
                  <a:rPr lang="zh-CN" altLang="en-US" sz="2400" b="1">
                    <a:latin typeface="宋体" pitchFamily="2" charset="-122"/>
                  </a:rPr>
                  <a:t>队列</a:t>
                </a:r>
                <a:endParaRPr lang="zh-CN" altLang="en-US" sz="2400" b="1">
                  <a:latin typeface="宋体" pitchFamily="2" charset="-122"/>
                </a:endParaRPr>
              </a:p>
            </p:txBody>
          </p:sp>
          <p:sp>
            <p:nvSpPr>
              <p:cNvPr id="43031" name="Text Box 21" descr="花岗岩"/>
              <p:cNvSpPr txBox="1">
                <a:spLocks noChangeArrowheads="1"/>
              </p:cNvSpPr>
              <p:nvPr/>
            </p:nvSpPr>
            <p:spPr bwMode="auto">
              <a:xfrm>
                <a:off x="4264" y="1471"/>
                <a:ext cx="888"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50000"/>
                  </a:spcBef>
                </a:pPr>
                <a:r>
                  <a:rPr lang="zh-CN" altLang="en-US" sz="2400" b="1">
                    <a:latin typeface="宋体" pitchFamily="2" charset="-122"/>
                  </a:rPr>
                  <a:t>树形结构</a:t>
                </a:r>
                <a:endParaRPr lang="zh-CN" altLang="en-US" sz="2400" b="1">
                  <a:latin typeface="宋体" pitchFamily="2" charset="-122"/>
                </a:endParaRPr>
              </a:p>
            </p:txBody>
          </p:sp>
          <p:sp>
            <p:nvSpPr>
              <p:cNvPr id="43032" name="Text Box 22" descr="花岗岩"/>
              <p:cNvSpPr txBox="1">
                <a:spLocks noChangeArrowheads="1"/>
              </p:cNvSpPr>
              <p:nvPr/>
            </p:nvSpPr>
            <p:spPr bwMode="auto">
              <a:xfrm>
                <a:off x="4265" y="1807"/>
                <a:ext cx="888"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50000"/>
                  </a:spcBef>
                </a:pPr>
                <a:r>
                  <a:rPr lang="zh-CN" altLang="en-US" sz="2400" b="1">
                    <a:latin typeface="宋体" pitchFamily="2" charset="-122"/>
                  </a:rPr>
                  <a:t>图状结构</a:t>
                </a:r>
                <a:endParaRPr lang="zh-CN" altLang="en-US" sz="2400" b="1">
                  <a:latin typeface="宋体" pitchFamily="2" charset="-122"/>
                </a:endParaRPr>
              </a:p>
            </p:txBody>
          </p:sp>
        </p:grpSp>
        <p:sp>
          <p:nvSpPr>
            <p:cNvPr id="277527" name="Text Box 23" descr="花岗岩"/>
            <p:cNvSpPr txBox="1">
              <a:spLocks noChangeArrowheads="1"/>
            </p:cNvSpPr>
            <p:nvPr/>
          </p:nvSpPr>
          <p:spPr bwMode="auto">
            <a:xfrm>
              <a:off x="745" y="262"/>
              <a:ext cx="2958" cy="288"/>
            </a:xfrm>
            <a:prstGeom prst="rect">
              <a:avLst/>
            </a:prstGeom>
            <a:noFill/>
            <a:ln w="9525">
              <a:noFill/>
              <a:miter lim="800000"/>
            </a:ln>
            <a:effectLst/>
          </p:spPr>
          <p:txBody>
            <a:bodyPr>
              <a:spAutoFit/>
            </a:bodyPr>
            <a:lstStyle/>
            <a:p>
              <a:pPr>
                <a:spcBef>
                  <a:spcPct val="50000"/>
                </a:spcBef>
                <a:defRPr/>
              </a:pPr>
              <a:r>
                <a:rPr lang="zh-CN" altLang="en-US" sz="2400" dirty="0">
                  <a:solidFill>
                    <a:schemeClr val="accent2"/>
                  </a:solidFill>
                  <a:latin typeface="+mn-lt"/>
                  <a:ea typeface="+mn-ea"/>
                </a:rPr>
                <a:t>数据结构的三个方面：</a:t>
              </a:r>
              <a:endParaRPr lang="zh-CN" altLang="en-US" sz="2400" dirty="0">
                <a:solidFill>
                  <a:schemeClr val="accent2"/>
                </a:solidFill>
                <a:latin typeface="+mn-lt"/>
                <a:ea typeface="+mn-ea"/>
              </a:endParaRPr>
            </a:p>
          </p:txBody>
        </p:sp>
      </p:grpSp>
      <p:sp>
        <p:nvSpPr>
          <p:cNvPr id="43011"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Tree>
  </p:cSld>
  <p:clrMapOvr>
    <a:masterClrMapping/>
  </p:clrMapOvr>
  <p:transition/>
  <p:timing>
    <p:tnLst>
      <p:par>
        <p:cTn id="1" dur="indefinite" restart="never" nodeType="tmRoot"/>
      </p:par>
    </p:tn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4434" name="Text Box 2"/>
          <p:cNvSpPr txBox="1">
            <a:spLocks noChangeArrowheads="1"/>
          </p:cNvSpPr>
          <p:nvPr/>
        </p:nvSpPr>
        <p:spPr bwMode="auto">
          <a:xfrm>
            <a:off x="1074738" y="4131723"/>
            <a:ext cx="80581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zh-CN" altLang="en-US" sz="2400" dirty="0">
                <a:solidFill>
                  <a:schemeClr val="accent2"/>
                </a:solidFill>
                <a:latin typeface="+mn-lt"/>
                <a:ea typeface="+mn-ea"/>
              </a:rPr>
              <a:t>图状</a:t>
            </a:r>
            <a:r>
              <a:rPr lang="zh-CN" altLang="en-US" sz="2400" dirty="0" smtClean="0">
                <a:solidFill>
                  <a:schemeClr val="accent2"/>
                </a:solidFill>
                <a:latin typeface="+mn-lt"/>
                <a:ea typeface="+mn-ea"/>
              </a:rPr>
              <a:t>结构</a:t>
            </a:r>
            <a:r>
              <a:rPr lang="en-US" altLang="zh-CN" sz="2400" dirty="0" smtClean="0">
                <a:solidFill>
                  <a:schemeClr val="accent2"/>
                </a:solidFill>
                <a:latin typeface="+mn-lt"/>
                <a:ea typeface="+mn-ea"/>
              </a:rPr>
              <a:t>—</a:t>
            </a:r>
            <a:r>
              <a:rPr lang="zh-CN" altLang="en-US" sz="2000" dirty="0">
                <a:solidFill>
                  <a:schemeClr val="accent2"/>
                </a:solidFill>
                <a:latin typeface="+mn-lt"/>
                <a:ea typeface="+mn-ea"/>
              </a:rPr>
              <a:t>数据元素之间存在多对多的关系，如图。</a:t>
            </a:r>
            <a:endParaRPr lang="zh-CN" altLang="en-US" sz="2000" dirty="0">
              <a:solidFill>
                <a:schemeClr val="accent2"/>
              </a:solidFill>
              <a:latin typeface="+mn-lt"/>
              <a:ea typeface="+mn-ea"/>
            </a:endParaRPr>
          </a:p>
        </p:txBody>
      </p:sp>
      <p:sp>
        <p:nvSpPr>
          <p:cNvPr id="44035" name="AutoShape 3"/>
          <p:cNvSpPr/>
          <p:nvPr/>
        </p:nvSpPr>
        <p:spPr bwMode="auto">
          <a:xfrm>
            <a:off x="893764" y="2152650"/>
            <a:ext cx="146050" cy="2322513"/>
          </a:xfrm>
          <a:prstGeom prst="leftBrace">
            <a:avLst>
              <a:gd name="adj1" fmla="val 132756"/>
              <a:gd name="adj2" fmla="val 50000"/>
            </a:avLst>
          </a:prstGeom>
          <a:noFill/>
          <a:ln w="3810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grpSp>
        <p:nvGrpSpPr>
          <p:cNvPr id="2" name="Group 4"/>
          <p:cNvGrpSpPr/>
          <p:nvPr/>
        </p:nvGrpSpPr>
        <p:grpSpPr bwMode="auto">
          <a:xfrm>
            <a:off x="2320925" y="5318125"/>
            <a:ext cx="2268538" cy="211138"/>
            <a:chOff x="3056" y="2100"/>
            <a:chExt cx="1429" cy="133"/>
          </a:xfrm>
        </p:grpSpPr>
        <p:sp>
          <p:nvSpPr>
            <p:cNvPr id="44075" name="Oval 5"/>
            <p:cNvSpPr>
              <a:spLocks noChangeArrowheads="1"/>
            </p:cNvSpPr>
            <p:nvPr/>
          </p:nvSpPr>
          <p:spPr bwMode="auto">
            <a:xfrm>
              <a:off x="3056" y="2100"/>
              <a:ext cx="144" cy="133"/>
            </a:xfrm>
            <a:prstGeom prst="ellipse">
              <a:avLst/>
            </a:prstGeom>
            <a:noFill/>
            <a:ln w="38100">
              <a:solidFill>
                <a:srgbClr val="00FFFF"/>
              </a:solidFill>
              <a:round/>
            </a:ln>
            <a:extLst>
              <a:ext uri="{909E8E84-426E-40DD-AFC4-6F175D3DCCD1}">
                <a14:hiddenFill xmlns:a14="http://schemas.microsoft.com/office/drawing/2010/main">
                  <a:solidFill>
                    <a:srgbClr val="FFFFFF"/>
                  </a:solidFill>
                </a14:hiddenFill>
              </a:ext>
            </a:extLst>
          </p:spPr>
          <p:txBody>
            <a:bodyPr wrap="none"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sp>
          <p:nvSpPr>
            <p:cNvPr id="44076" name="Oval 6"/>
            <p:cNvSpPr>
              <a:spLocks noChangeArrowheads="1"/>
            </p:cNvSpPr>
            <p:nvPr/>
          </p:nvSpPr>
          <p:spPr bwMode="auto">
            <a:xfrm>
              <a:off x="3474" y="2100"/>
              <a:ext cx="144" cy="133"/>
            </a:xfrm>
            <a:prstGeom prst="ellipse">
              <a:avLst/>
            </a:prstGeom>
            <a:noFill/>
            <a:ln w="38100">
              <a:solidFill>
                <a:srgbClr val="00FFFF"/>
              </a:solidFill>
              <a:round/>
            </a:ln>
            <a:extLst>
              <a:ext uri="{909E8E84-426E-40DD-AFC4-6F175D3DCCD1}">
                <a14:hiddenFill xmlns:a14="http://schemas.microsoft.com/office/drawing/2010/main">
                  <a:solidFill>
                    <a:srgbClr val="FFFFFF"/>
                  </a:solidFill>
                </a14:hiddenFill>
              </a:ext>
            </a:extLst>
          </p:spPr>
          <p:txBody>
            <a:bodyPr wrap="none"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sp>
          <p:nvSpPr>
            <p:cNvPr id="44077" name="Oval 7"/>
            <p:cNvSpPr>
              <a:spLocks noChangeArrowheads="1"/>
            </p:cNvSpPr>
            <p:nvPr/>
          </p:nvSpPr>
          <p:spPr bwMode="auto">
            <a:xfrm>
              <a:off x="3919" y="2100"/>
              <a:ext cx="144" cy="133"/>
            </a:xfrm>
            <a:prstGeom prst="ellipse">
              <a:avLst/>
            </a:prstGeom>
            <a:noFill/>
            <a:ln w="38100">
              <a:solidFill>
                <a:srgbClr val="00FFFF"/>
              </a:solidFill>
              <a:round/>
            </a:ln>
            <a:extLst>
              <a:ext uri="{909E8E84-426E-40DD-AFC4-6F175D3DCCD1}">
                <a14:hiddenFill xmlns:a14="http://schemas.microsoft.com/office/drawing/2010/main">
                  <a:solidFill>
                    <a:srgbClr val="FFFFFF"/>
                  </a:solidFill>
                </a14:hiddenFill>
              </a:ext>
            </a:extLst>
          </p:spPr>
          <p:txBody>
            <a:bodyPr wrap="none"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sp>
          <p:nvSpPr>
            <p:cNvPr id="44078" name="Oval 8"/>
            <p:cNvSpPr>
              <a:spLocks noChangeArrowheads="1"/>
            </p:cNvSpPr>
            <p:nvPr/>
          </p:nvSpPr>
          <p:spPr bwMode="auto">
            <a:xfrm>
              <a:off x="4341" y="2100"/>
              <a:ext cx="144" cy="133"/>
            </a:xfrm>
            <a:prstGeom prst="ellipse">
              <a:avLst/>
            </a:prstGeom>
            <a:noFill/>
            <a:ln w="38100">
              <a:solidFill>
                <a:srgbClr val="00FFFF"/>
              </a:solidFill>
              <a:round/>
            </a:ln>
            <a:extLst>
              <a:ext uri="{909E8E84-426E-40DD-AFC4-6F175D3DCCD1}">
                <a14:hiddenFill xmlns:a14="http://schemas.microsoft.com/office/drawing/2010/main">
                  <a:solidFill>
                    <a:srgbClr val="FFFFFF"/>
                  </a:solidFill>
                </a14:hiddenFill>
              </a:ext>
            </a:extLst>
          </p:spPr>
          <p:txBody>
            <a:bodyPr wrap="none"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sp>
          <p:nvSpPr>
            <p:cNvPr id="44079" name="Line 9"/>
            <p:cNvSpPr>
              <a:spLocks noChangeShapeType="1"/>
            </p:cNvSpPr>
            <p:nvPr/>
          </p:nvSpPr>
          <p:spPr bwMode="auto">
            <a:xfrm>
              <a:off x="3200" y="2166"/>
              <a:ext cx="267" cy="0"/>
            </a:xfrm>
            <a:prstGeom prst="line">
              <a:avLst/>
            </a:prstGeom>
            <a:noFill/>
            <a:ln w="38100">
              <a:solidFill>
                <a:srgbClr val="00FFFF"/>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44080" name="Line 10"/>
            <p:cNvSpPr>
              <a:spLocks noChangeShapeType="1"/>
            </p:cNvSpPr>
            <p:nvPr/>
          </p:nvSpPr>
          <p:spPr bwMode="auto">
            <a:xfrm>
              <a:off x="3612" y="2166"/>
              <a:ext cx="311" cy="0"/>
            </a:xfrm>
            <a:prstGeom prst="line">
              <a:avLst/>
            </a:prstGeom>
            <a:noFill/>
            <a:ln w="38100">
              <a:solidFill>
                <a:srgbClr val="00FFFF"/>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44081" name="Line 11"/>
            <p:cNvSpPr>
              <a:spLocks noChangeShapeType="1"/>
            </p:cNvSpPr>
            <p:nvPr/>
          </p:nvSpPr>
          <p:spPr bwMode="auto">
            <a:xfrm>
              <a:off x="4078" y="2166"/>
              <a:ext cx="256" cy="0"/>
            </a:xfrm>
            <a:prstGeom prst="line">
              <a:avLst/>
            </a:prstGeom>
            <a:noFill/>
            <a:ln w="38100">
              <a:solidFill>
                <a:srgbClr val="00FFFF"/>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grpSp>
      <p:grpSp>
        <p:nvGrpSpPr>
          <p:cNvPr id="3" name="Group 12"/>
          <p:cNvGrpSpPr/>
          <p:nvPr/>
        </p:nvGrpSpPr>
        <p:grpSpPr bwMode="auto">
          <a:xfrm>
            <a:off x="5043488" y="4786313"/>
            <a:ext cx="1941512" cy="1000125"/>
            <a:chOff x="4185" y="2055"/>
            <a:chExt cx="1223" cy="630"/>
          </a:xfrm>
        </p:grpSpPr>
        <p:grpSp>
          <p:nvGrpSpPr>
            <p:cNvPr id="44063" name="Group 13"/>
            <p:cNvGrpSpPr/>
            <p:nvPr/>
          </p:nvGrpSpPr>
          <p:grpSpPr bwMode="auto">
            <a:xfrm>
              <a:off x="4185" y="2055"/>
              <a:ext cx="629" cy="336"/>
              <a:chOff x="2474" y="2489"/>
              <a:chExt cx="629" cy="336"/>
            </a:xfrm>
          </p:grpSpPr>
          <p:sp>
            <p:nvSpPr>
              <p:cNvPr id="44072" name="Oval 14"/>
              <p:cNvSpPr>
                <a:spLocks noChangeArrowheads="1"/>
              </p:cNvSpPr>
              <p:nvPr/>
            </p:nvSpPr>
            <p:spPr bwMode="auto">
              <a:xfrm>
                <a:off x="2711" y="2489"/>
                <a:ext cx="156" cy="144"/>
              </a:xfrm>
              <a:prstGeom prst="ellipse">
                <a:avLst/>
              </a:prstGeom>
              <a:noFill/>
              <a:ln w="38100">
                <a:solidFill>
                  <a:schemeClr val="tx2"/>
                </a:solidFill>
                <a:round/>
              </a:ln>
              <a:extLst>
                <a:ext uri="{909E8E84-426E-40DD-AFC4-6F175D3DCCD1}">
                  <a14:hiddenFill xmlns:a14="http://schemas.microsoft.com/office/drawing/2010/main">
                    <a:solidFill>
                      <a:srgbClr val="FFFFFF"/>
                    </a:solidFill>
                  </a14:hiddenFill>
                </a:ext>
              </a:extLst>
            </p:spPr>
            <p:txBody>
              <a:bodyPr wrap="none"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sp>
            <p:nvSpPr>
              <p:cNvPr id="44073" name="Oval 15"/>
              <p:cNvSpPr>
                <a:spLocks noChangeArrowheads="1"/>
              </p:cNvSpPr>
              <p:nvPr/>
            </p:nvSpPr>
            <p:spPr bwMode="auto">
              <a:xfrm>
                <a:off x="2474" y="2674"/>
                <a:ext cx="156" cy="144"/>
              </a:xfrm>
              <a:prstGeom prst="ellipse">
                <a:avLst/>
              </a:prstGeom>
              <a:noFill/>
              <a:ln w="38100">
                <a:solidFill>
                  <a:schemeClr val="tx2"/>
                </a:solidFill>
                <a:round/>
              </a:ln>
              <a:extLst>
                <a:ext uri="{909E8E84-426E-40DD-AFC4-6F175D3DCCD1}">
                  <a14:hiddenFill xmlns:a14="http://schemas.microsoft.com/office/drawing/2010/main">
                    <a:solidFill>
                      <a:srgbClr val="FFFFFF"/>
                    </a:solidFill>
                  </a14:hiddenFill>
                </a:ext>
              </a:extLst>
            </p:spPr>
            <p:txBody>
              <a:bodyPr wrap="none"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sp>
            <p:nvSpPr>
              <p:cNvPr id="44074" name="Oval 16"/>
              <p:cNvSpPr>
                <a:spLocks noChangeArrowheads="1"/>
              </p:cNvSpPr>
              <p:nvPr/>
            </p:nvSpPr>
            <p:spPr bwMode="auto">
              <a:xfrm>
                <a:off x="2947" y="2681"/>
                <a:ext cx="156" cy="144"/>
              </a:xfrm>
              <a:prstGeom prst="ellipse">
                <a:avLst/>
              </a:prstGeom>
              <a:noFill/>
              <a:ln w="38100">
                <a:solidFill>
                  <a:schemeClr val="tx2"/>
                </a:solidFill>
                <a:round/>
              </a:ln>
              <a:extLst>
                <a:ext uri="{909E8E84-426E-40DD-AFC4-6F175D3DCCD1}">
                  <a14:hiddenFill xmlns:a14="http://schemas.microsoft.com/office/drawing/2010/main">
                    <a:solidFill>
                      <a:srgbClr val="FFFFFF"/>
                    </a:solidFill>
                  </a14:hiddenFill>
                </a:ext>
              </a:extLst>
            </p:spPr>
            <p:txBody>
              <a:bodyPr wrap="none"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grpSp>
        <p:sp>
          <p:nvSpPr>
            <p:cNvPr id="44064" name="Oval 17"/>
            <p:cNvSpPr>
              <a:spLocks noChangeArrowheads="1"/>
            </p:cNvSpPr>
            <p:nvPr/>
          </p:nvSpPr>
          <p:spPr bwMode="auto">
            <a:xfrm>
              <a:off x="4374" y="2519"/>
              <a:ext cx="156" cy="144"/>
            </a:xfrm>
            <a:prstGeom prst="ellipse">
              <a:avLst/>
            </a:prstGeom>
            <a:noFill/>
            <a:ln w="38100">
              <a:solidFill>
                <a:schemeClr val="tx2"/>
              </a:solidFill>
              <a:round/>
            </a:ln>
            <a:extLst>
              <a:ext uri="{909E8E84-426E-40DD-AFC4-6F175D3DCCD1}">
                <a14:hiddenFill xmlns:a14="http://schemas.microsoft.com/office/drawing/2010/main">
                  <a:solidFill>
                    <a:srgbClr val="FFFFFF"/>
                  </a:solidFill>
                </a14:hiddenFill>
              </a:ext>
            </a:extLst>
          </p:spPr>
          <p:txBody>
            <a:bodyPr wrap="none"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sp>
          <p:nvSpPr>
            <p:cNvPr id="44065" name="Oval 18"/>
            <p:cNvSpPr>
              <a:spLocks noChangeArrowheads="1"/>
            </p:cNvSpPr>
            <p:nvPr/>
          </p:nvSpPr>
          <p:spPr bwMode="auto">
            <a:xfrm>
              <a:off x="4897" y="2530"/>
              <a:ext cx="156" cy="144"/>
            </a:xfrm>
            <a:prstGeom prst="ellipse">
              <a:avLst/>
            </a:prstGeom>
            <a:noFill/>
            <a:ln w="38100">
              <a:solidFill>
                <a:schemeClr val="tx2"/>
              </a:solidFill>
              <a:round/>
            </a:ln>
            <a:extLst>
              <a:ext uri="{909E8E84-426E-40DD-AFC4-6F175D3DCCD1}">
                <a14:hiddenFill xmlns:a14="http://schemas.microsoft.com/office/drawing/2010/main">
                  <a:solidFill>
                    <a:srgbClr val="FFFFFF"/>
                  </a:solidFill>
                </a14:hiddenFill>
              </a:ext>
            </a:extLst>
          </p:spPr>
          <p:txBody>
            <a:bodyPr wrap="none"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sp>
          <p:nvSpPr>
            <p:cNvPr id="44066" name="Oval 19"/>
            <p:cNvSpPr>
              <a:spLocks noChangeArrowheads="1"/>
            </p:cNvSpPr>
            <p:nvPr/>
          </p:nvSpPr>
          <p:spPr bwMode="auto">
            <a:xfrm>
              <a:off x="5252" y="2541"/>
              <a:ext cx="156" cy="144"/>
            </a:xfrm>
            <a:prstGeom prst="ellipse">
              <a:avLst/>
            </a:prstGeom>
            <a:noFill/>
            <a:ln w="38100">
              <a:solidFill>
                <a:schemeClr val="tx2"/>
              </a:solidFill>
              <a:round/>
            </a:ln>
            <a:extLst>
              <a:ext uri="{909E8E84-426E-40DD-AFC4-6F175D3DCCD1}">
                <a14:hiddenFill xmlns:a14="http://schemas.microsoft.com/office/drawing/2010/main">
                  <a:solidFill>
                    <a:srgbClr val="FFFFFF"/>
                  </a:solidFill>
                </a14:hiddenFill>
              </a:ext>
            </a:extLst>
          </p:spPr>
          <p:txBody>
            <a:bodyPr wrap="none"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sp>
          <p:nvSpPr>
            <p:cNvPr id="44067" name="Line 20"/>
            <p:cNvSpPr>
              <a:spLocks noChangeShapeType="1"/>
            </p:cNvSpPr>
            <p:nvPr/>
          </p:nvSpPr>
          <p:spPr bwMode="auto">
            <a:xfrm flipH="1">
              <a:off x="4334" y="2189"/>
              <a:ext cx="111" cy="111"/>
            </a:xfrm>
            <a:prstGeom prst="line">
              <a:avLst/>
            </a:prstGeom>
            <a:noFill/>
            <a:ln w="38100">
              <a:solidFill>
                <a:schemeClr val="tx2"/>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44068" name="Line 21"/>
            <p:cNvSpPr>
              <a:spLocks noChangeShapeType="1"/>
            </p:cNvSpPr>
            <p:nvPr/>
          </p:nvSpPr>
          <p:spPr bwMode="auto">
            <a:xfrm flipH="1">
              <a:off x="4501" y="2378"/>
              <a:ext cx="166" cy="166"/>
            </a:xfrm>
            <a:prstGeom prst="line">
              <a:avLst/>
            </a:prstGeom>
            <a:noFill/>
            <a:ln w="38100">
              <a:solidFill>
                <a:schemeClr val="tx2"/>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44069" name="Line 22"/>
            <p:cNvSpPr>
              <a:spLocks noChangeShapeType="1"/>
            </p:cNvSpPr>
            <p:nvPr/>
          </p:nvSpPr>
          <p:spPr bwMode="auto">
            <a:xfrm>
              <a:off x="4534" y="2178"/>
              <a:ext cx="122" cy="122"/>
            </a:xfrm>
            <a:prstGeom prst="line">
              <a:avLst/>
            </a:prstGeom>
            <a:noFill/>
            <a:ln w="38100">
              <a:solidFill>
                <a:schemeClr val="tx2"/>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44070" name="Line 23"/>
            <p:cNvSpPr>
              <a:spLocks noChangeShapeType="1"/>
            </p:cNvSpPr>
            <p:nvPr/>
          </p:nvSpPr>
          <p:spPr bwMode="auto">
            <a:xfrm>
              <a:off x="4778" y="2366"/>
              <a:ext cx="178" cy="178"/>
            </a:xfrm>
            <a:prstGeom prst="line">
              <a:avLst/>
            </a:prstGeom>
            <a:noFill/>
            <a:ln w="38100">
              <a:solidFill>
                <a:schemeClr val="tx2"/>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44071" name="Line 24"/>
            <p:cNvSpPr>
              <a:spLocks noChangeShapeType="1"/>
            </p:cNvSpPr>
            <p:nvPr/>
          </p:nvSpPr>
          <p:spPr bwMode="auto">
            <a:xfrm>
              <a:off x="4812" y="2333"/>
              <a:ext cx="466" cy="233"/>
            </a:xfrm>
            <a:prstGeom prst="line">
              <a:avLst/>
            </a:prstGeom>
            <a:noFill/>
            <a:ln w="38100">
              <a:solidFill>
                <a:schemeClr val="tx2"/>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grpSp>
      <p:grpSp>
        <p:nvGrpSpPr>
          <p:cNvPr id="5" name="Group 25"/>
          <p:cNvGrpSpPr/>
          <p:nvPr/>
        </p:nvGrpSpPr>
        <p:grpSpPr bwMode="auto">
          <a:xfrm>
            <a:off x="7127875" y="4892675"/>
            <a:ext cx="1658938" cy="882650"/>
            <a:chOff x="4363" y="2073"/>
            <a:chExt cx="1045" cy="556"/>
          </a:xfrm>
        </p:grpSpPr>
        <p:sp>
          <p:nvSpPr>
            <p:cNvPr id="44052" name="Oval 26"/>
            <p:cNvSpPr>
              <a:spLocks noChangeArrowheads="1"/>
            </p:cNvSpPr>
            <p:nvPr/>
          </p:nvSpPr>
          <p:spPr bwMode="auto">
            <a:xfrm>
              <a:off x="4819" y="2073"/>
              <a:ext cx="156" cy="144"/>
            </a:xfrm>
            <a:prstGeom prst="ellipse">
              <a:avLst/>
            </a:prstGeom>
            <a:noFill/>
            <a:ln w="38100">
              <a:solidFill>
                <a:srgbClr val="FF9900"/>
              </a:solidFill>
              <a:round/>
            </a:ln>
            <a:extLst>
              <a:ext uri="{909E8E84-426E-40DD-AFC4-6F175D3DCCD1}">
                <a14:hiddenFill xmlns:a14="http://schemas.microsoft.com/office/drawing/2010/main">
                  <a:solidFill>
                    <a:srgbClr val="FFFFFF"/>
                  </a:solidFill>
                </a14:hiddenFill>
              </a:ext>
            </a:extLst>
          </p:spPr>
          <p:txBody>
            <a:bodyPr wrap="none"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sp>
          <p:nvSpPr>
            <p:cNvPr id="44053" name="Oval 27"/>
            <p:cNvSpPr>
              <a:spLocks noChangeArrowheads="1"/>
            </p:cNvSpPr>
            <p:nvPr/>
          </p:nvSpPr>
          <p:spPr bwMode="auto">
            <a:xfrm>
              <a:off x="4385" y="2485"/>
              <a:ext cx="156" cy="144"/>
            </a:xfrm>
            <a:prstGeom prst="ellipse">
              <a:avLst/>
            </a:prstGeom>
            <a:noFill/>
            <a:ln w="38100">
              <a:solidFill>
                <a:srgbClr val="FF9900"/>
              </a:solidFill>
              <a:round/>
            </a:ln>
            <a:extLst>
              <a:ext uri="{909E8E84-426E-40DD-AFC4-6F175D3DCCD1}">
                <a14:hiddenFill xmlns:a14="http://schemas.microsoft.com/office/drawing/2010/main">
                  <a:solidFill>
                    <a:srgbClr val="FFFFFF"/>
                  </a:solidFill>
                </a14:hiddenFill>
              </a:ext>
            </a:extLst>
          </p:spPr>
          <p:txBody>
            <a:bodyPr wrap="none"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sp>
          <p:nvSpPr>
            <p:cNvPr id="44054" name="Oval 28"/>
            <p:cNvSpPr>
              <a:spLocks noChangeArrowheads="1"/>
            </p:cNvSpPr>
            <p:nvPr/>
          </p:nvSpPr>
          <p:spPr bwMode="auto">
            <a:xfrm>
              <a:off x="4841" y="2474"/>
              <a:ext cx="156" cy="144"/>
            </a:xfrm>
            <a:prstGeom prst="ellipse">
              <a:avLst/>
            </a:prstGeom>
            <a:noFill/>
            <a:ln w="38100">
              <a:solidFill>
                <a:srgbClr val="FF9900"/>
              </a:solidFill>
              <a:round/>
            </a:ln>
            <a:extLst>
              <a:ext uri="{909E8E84-426E-40DD-AFC4-6F175D3DCCD1}">
                <a14:hiddenFill xmlns:a14="http://schemas.microsoft.com/office/drawing/2010/main">
                  <a:solidFill>
                    <a:srgbClr val="FFFFFF"/>
                  </a:solidFill>
                </a14:hiddenFill>
              </a:ext>
            </a:extLst>
          </p:spPr>
          <p:txBody>
            <a:bodyPr wrap="none"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sp>
          <p:nvSpPr>
            <p:cNvPr id="44055" name="Oval 29"/>
            <p:cNvSpPr>
              <a:spLocks noChangeArrowheads="1"/>
            </p:cNvSpPr>
            <p:nvPr/>
          </p:nvSpPr>
          <p:spPr bwMode="auto">
            <a:xfrm>
              <a:off x="5252" y="2252"/>
              <a:ext cx="156" cy="144"/>
            </a:xfrm>
            <a:prstGeom prst="ellipse">
              <a:avLst/>
            </a:prstGeom>
            <a:noFill/>
            <a:ln w="38100">
              <a:solidFill>
                <a:srgbClr val="FF9900"/>
              </a:solidFill>
              <a:round/>
            </a:ln>
            <a:extLst>
              <a:ext uri="{909E8E84-426E-40DD-AFC4-6F175D3DCCD1}">
                <a14:hiddenFill xmlns:a14="http://schemas.microsoft.com/office/drawing/2010/main">
                  <a:solidFill>
                    <a:srgbClr val="FFFFFF"/>
                  </a:solidFill>
                </a14:hiddenFill>
              </a:ext>
            </a:extLst>
          </p:spPr>
          <p:txBody>
            <a:bodyPr wrap="none"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sp>
          <p:nvSpPr>
            <p:cNvPr id="44056" name="Oval 30"/>
            <p:cNvSpPr>
              <a:spLocks noChangeArrowheads="1"/>
            </p:cNvSpPr>
            <p:nvPr/>
          </p:nvSpPr>
          <p:spPr bwMode="auto">
            <a:xfrm>
              <a:off x="4363" y="2107"/>
              <a:ext cx="156" cy="144"/>
            </a:xfrm>
            <a:prstGeom prst="ellipse">
              <a:avLst/>
            </a:prstGeom>
            <a:noFill/>
            <a:ln w="38100">
              <a:solidFill>
                <a:srgbClr val="FF9900"/>
              </a:solidFill>
              <a:round/>
            </a:ln>
            <a:extLst>
              <a:ext uri="{909E8E84-426E-40DD-AFC4-6F175D3DCCD1}">
                <a14:hiddenFill xmlns:a14="http://schemas.microsoft.com/office/drawing/2010/main">
                  <a:solidFill>
                    <a:srgbClr val="FFFFFF"/>
                  </a:solidFill>
                </a14:hiddenFill>
              </a:ext>
            </a:extLst>
          </p:spPr>
          <p:txBody>
            <a:bodyPr wrap="none"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sp>
          <p:nvSpPr>
            <p:cNvPr id="44057" name="Line 31"/>
            <p:cNvSpPr>
              <a:spLocks noChangeShapeType="1"/>
            </p:cNvSpPr>
            <p:nvPr/>
          </p:nvSpPr>
          <p:spPr bwMode="auto">
            <a:xfrm>
              <a:off x="4445" y="2266"/>
              <a:ext cx="0" cy="245"/>
            </a:xfrm>
            <a:prstGeom prst="line">
              <a:avLst/>
            </a:prstGeom>
            <a:noFill/>
            <a:ln w="38100">
              <a:solidFill>
                <a:srgbClr val="FF99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44058" name="Line 32"/>
            <p:cNvSpPr>
              <a:spLocks noChangeShapeType="1"/>
            </p:cNvSpPr>
            <p:nvPr/>
          </p:nvSpPr>
          <p:spPr bwMode="auto">
            <a:xfrm>
              <a:off x="4512" y="2211"/>
              <a:ext cx="366" cy="289"/>
            </a:xfrm>
            <a:prstGeom prst="line">
              <a:avLst/>
            </a:prstGeom>
            <a:noFill/>
            <a:ln w="38100">
              <a:solidFill>
                <a:srgbClr val="FF99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44059" name="Line 33"/>
            <p:cNvSpPr>
              <a:spLocks noChangeShapeType="1"/>
            </p:cNvSpPr>
            <p:nvPr/>
          </p:nvSpPr>
          <p:spPr bwMode="auto">
            <a:xfrm>
              <a:off x="4967" y="2189"/>
              <a:ext cx="300" cy="133"/>
            </a:xfrm>
            <a:prstGeom prst="line">
              <a:avLst/>
            </a:prstGeom>
            <a:noFill/>
            <a:ln w="38100">
              <a:solidFill>
                <a:srgbClr val="FF99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44060" name="Line 34"/>
            <p:cNvSpPr>
              <a:spLocks noChangeShapeType="1"/>
            </p:cNvSpPr>
            <p:nvPr/>
          </p:nvSpPr>
          <p:spPr bwMode="auto">
            <a:xfrm flipH="1">
              <a:off x="4523" y="2200"/>
              <a:ext cx="322" cy="322"/>
            </a:xfrm>
            <a:prstGeom prst="line">
              <a:avLst/>
            </a:prstGeom>
            <a:noFill/>
            <a:ln w="38100">
              <a:solidFill>
                <a:srgbClr val="FF99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44061" name="Line 35"/>
            <p:cNvSpPr>
              <a:spLocks noChangeShapeType="1"/>
            </p:cNvSpPr>
            <p:nvPr/>
          </p:nvSpPr>
          <p:spPr bwMode="auto">
            <a:xfrm flipH="1">
              <a:off x="5001" y="2400"/>
              <a:ext cx="277" cy="144"/>
            </a:xfrm>
            <a:prstGeom prst="line">
              <a:avLst/>
            </a:prstGeom>
            <a:noFill/>
            <a:ln w="38100">
              <a:solidFill>
                <a:srgbClr val="FF99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44062" name="Line 36"/>
            <p:cNvSpPr>
              <a:spLocks noChangeShapeType="1"/>
            </p:cNvSpPr>
            <p:nvPr/>
          </p:nvSpPr>
          <p:spPr bwMode="auto">
            <a:xfrm>
              <a:off x="4512" y="2144"/>
              <a:ext cx="311" cy="0"/>
            </a:xfrm>
            <a:prstGeom prst="line">
              <a:avLst/>
            </a:prstGeom>
            <a:noFill/>
            <a:ln w="38100">
              <a:solidFill>
                <a:srgbClr val="FF99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grpSp>
      <p:sp>
        <p:nvSpPr>
          <p:cNvPr id="274469" name="Rectangle 37"/>
          <p:cNvSpPr>
            <a:spLocks noChangeArrowheads="1"/>
          </p:cNvSpPr>
          <p:nvPr/>
        </p:nvSpPr>
        <p:spPr bwMode="auto">
          <a:xfrm>
            <a:off x="823119" y="404813"/>
            <a:ext cx="8516938" cy="579437"/>
          </a:xfrm>
          <a:prstGeom prst="rect">
            <a:avLst/>
          </a:prstGeom>
          <a:noFill/>
          <a:ln w="9525">
            <a:noFill/>
            <a:miter lim="800000"/>
          </a:ln>
          <a:effectLst/>
        </p:spPr>
        <p:txBody>
          <a:bodyPr/>
          <a:lstStyle/>
          <a:p>
            <a:pPr marL="609600" indent="-609600">
              <a:spcBef>
                <a:spcPct val="20000"/>
              </a:spcBef>
              <a:defRPr/>
            </a:pPr>
            <a:r>
              <a:rPr lang="en-US" altLang="zh-CN" sz="3200" kern="0" dirty="0" smtClean="0">
                <a:solidFill>
                  <a:srgbClr val="333399"/>
                </a:solidFill>
                <a:latin typeface="Garamond"/>
                <a:ea typeface="宋体"/>
                <a:cs typeface="+mj-cs"/>
              </a:rPr>
              <a:t> 1.4.2 </a:t>
            </a:r>
            <a:r>
              <a:rPr lang="zh-CN" altLang="en-US" sz="3200" b="1" u="sng" kern="0" dirty="0" smtClean="0">
                <a:solidFill>
                  <a:srgbClr val="333399"/>
                </a:solidFill>
                <a:latin typeface="Garamond"/>
                <a:ea typeface="宋体"/>
                <a:cs typeface="+mj-cs"/>
              </a:rPr>
              <a:t>逻辑结构</a:t>
            </a:r>
            <a:r>
              <a:rPr lang="zh-CN" altLang="en-US" sz="3200" kern="0" dirty="0">
                <a:solidFill>
                  <a:srgbClr val="333399"/>
                </a:solidFill>
                <a:latin typeface="Garamond"/>
                <a:ea typeface="宋体"/>
                <a:cs typeface="+mj-cs"/>
              </a:rPr>
              <a:t>和存储</a:t>
            </a:r>
            <a:r>
              <a:rPr lang="zh-CN" altLang="en-US" sz="3200" kern="0" dirty="0" smtClean="0">
                <a:solidFill>
                  <a:srgbClr val="333399"/>
                </a:solidFill>
                <a:latin typeface="Garamond"/>
                <a:ea typeface="宋体"/>
                <a:cs typeface="+mj-cs"/>
              </a:rPr>
              <a:t>结构</a:t>
            </a:r>
            <a:endParaRPr lang="en-US" altLang="zh-CN" sz="3200" kern="0" dirty="0" smtClean="0">
              <a:solidFill>
                <a:srgbClr val="333399"/>
              </a:solidFill>
              <a:latin typeface="Garamond"/>
              <a:ea typeface="宋体"/>
              <a:cs typeface="+mj-cs"/>
            </a:endParaRPr>
          </a:p>
          <a:p>
            <a:pPr marL="609600" indent="-609600">
              <a:spcBef>
                <a:spcPct val="20000"/>
              </a:spcBef>
              <a:defRPr/>
            </a:pPr>
            <a:endParaRPr lang="zh-CN" altLang="en-US" sz="2400" b="1" dirty="0">
              <a:latin typeface="宋体" pitchFamily="2" charset="-122"/>
            </a:endParaRPr>
          </a:p>
        </p:txBody>
      </p:sp>
      <p:sp>
        <p:nvSpPr>
          <p:cNvPr id="274470" name="Rectangle 38"/>
          <p:cNvSpPr>
            <a:spLocks noChangeArrowheads="1"/>
          </p:cNvSpPr>
          <p:nvPr/>
        </p:nvSpPr>
        <p:spPr bwMode="auto">
          <a:xfrm>
            <a:off x="1039813" y="2701523"/>
            <a:ext cx="81280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zh-CN" altLang="en-US" sz="2400" dirty="0">
                <a:solidFill>
                  <a:schemeClr val="accent2"/>
                </a:solidFill>
                <a:latin typeface="+mn-lt"/>
                <a:ea typeface="+mn-ea"/>
              </a:rPr>
              <a:t>线性</a:t>
            </a:r>
            <a:r>
              <a:rPr lang="zh-CN" altLang="en-US" sz="2400" dirty="0" smtClean="0">
                <a:solidFill>
                  <a:schemeClr val="accent2"/>
                </a:solidFill>
                <a:latin typeface="+mn-lt"/>
                <a:ea typeface="+mn-ea"/>
              </a:rPr>
              <a:t>结构</a:t>
            </a:r>
            <a:r>
              <a:rPr lang="en-US" altLang="zh-CN" sz="2400" dirty="0" smtClean="0">
                <a:solidFill>
                  <a:schemeClr val="accent2"/>
                </a:solidFill>
                <a:latin typeface="+mn-lt"/>
                <a:ea typeface="+mn-ea"/>
              </a:rPr>
              <a:t>—</a:t>
            </a:r>
            <a:r>
              <a:rPr lang="zh-CN" altLang="en-US" sz="2000" dirty="0">
                <a:solidFill>
                  <a:schemeClr val="accent2"/>
                </a:solidFill>
                <a:latin typeface="+mn-lt"/>
                <a:ea typeface="+mn-ea"/>
              </a:rPr>
              <a:t>数据元素之间存在一对一的关系。如线性表</a:t>
            </a:r>
            <a:r>
              <a:rPr lang="zh-CN" altLang="en-US" sz="2000" dirty="0" smtClean="0">
                <a:solidFill>
                  <a:schemeClr val="accent2"/>
                </a:solidFill>
                <a:latin typeface="+mn-lt"/>
                <a:ea typeface="+mn-ea"/>
              </a:rPr>
              <a:t>、栈</a:t>
            </a:r>
            <a:r>
              <a:rPr lang="zh-CN" altLang="en-US" sz="2000" dirty="0">
                <a:solidFill>
                  <a:schemeClr val="accent2"/>
                </a:solidFill>
                <a:latin typeface="+mn-lt"/>
                <a:ea typeface="+mn-ea"/>
              </a:rPr>
              <a:t>、队列。</a:t>
            </a:r>
            <a:endParaRPr lang="zh-CN" altLang="en-US" sz="2000" dirty="0">
              <a:solidFill>
                <a:schemeClr val="accent2"/>
              </a:solidFill>
              <a:latin typeface="+mn-lt"/>
              <a:ea typeface="+mn-ea"/>
            </a:endParaRPr>
          </a:p>
        </p:txBody>
      </p:sp>
      <p:sp>
        <p:nvSpPr>
          <p:cNvPr id="274471" name="Rectangle 39"/>
          <p:cNvSpPr>
            <a:spLocks noChangeArrowheads="1"/>
          </p:cNvSpPr>
          <p:nvPr/>
        </p:nvSpPr>
        <p:spPr bwMode="auto">
          <a:xfrm>
            <a:off x="1048065" y="3387968"/>
            <a:ext cx="797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zh-CN" altLang="en-US" sz="2400" dirty="0">
                <a:solidFill>
                  <a:schemeClr val="accent2"/>
                </a:solidFill>
                <a:latin typeface="+mn-lt"/>
                <a:ea typeface="+mn-ea"/>
              </a:rPr>
              <a:t>树形</a:t>
            </a:r>
            <a:r>
              <a:rPr lang="zh-CN" altLang="en-US" sz="2400" dirty="0" smtClean="0">
                <a:solidFill>
                  <a:schemeClr val="accent2"/>
                </a:solidFill>
                <a:latin typeface="+mn-lt"/>
                <a:ea typeface="+mn-ea"/>
              </a:rPr>
              <a:t>结构</a:t>
            </a:r>
            <a:r>
              <a:rPr lang="en-US" altLang="zh-CN" sz="2400" dirty="0" smtClean="0">
                <a:solidFill>
                  <a:schemeClr val="accent2"/>
                </a:solidFill>
                <a:latin typeface="+mn-lt"/>
                <a:ea typeface="+mn-ea"/>
              </a:rPr>
              <a:t>—</a:t>
            </a:r>
            <a:r>
              <a:rPr lang="zh-CN" altLang="en-US" sz="2000" dirty="0">
                <a:solidFill>
                  <a:schemeClr val="accent2"/>
                </a:solidFill>
                <a:latin typeface="+mn-lt"/>
                <a:ea typeface="+mn-ea"/>
              </a:rPr>
              <a:t>数据元素之间存在一对多的关系。如树。</a:t>
            </a:r>
            <a:endParaRPr lang="zh-CN" altLang="en-US" sz="2000" dirty="0">
              <a:solidFill>
                <a:schemeClr val="accent2"/>
              </a:solidFill>
              <a:latin typeface="+mn-lt"/>
              <a:ea typeface="+mn-ea"/>
            </a:endParaRPr>
          </a:p>
        </p:txBody>
      </p:sp>
      <p:sp>
        <p:nvSpPr>
          <p:cNvPr id="274472" name="Rectangle 40"/>
          <p:cNvSpPr>
            <a:spLocks noChangeArrowheads="1"/>
          </p:cNvSpPr>
          <p:nvPr/>
        </p:nvSpPr>
        <p:spPr bwMode="auto">
          <a:xfrm>
            <a:off x="900112" y="1143000"/>
            <a:ext cx="7902575" cy="854075"/>
          </a:xfrm>
          <a:prstGeom prst="rect">
            <a:avLst/>
          </a:prstGeom>
          <a:noFill/>
          <a:ln w="9525">
            <a:noFill/>
            <a:miter lim="800000"/>
          </a:ln>
          <a:effectLst/>
        </p:spPr>
        <p:txBody>
          <a:bodyPr/>
          <a:lstStyle/>
          <a:p>
            <a:pPr indent="-179705">
              <a:spcBef>
                <a:spcPts val="0"/>
              </a:spcBef>
              <a:buFont typeface="Arial" panose="020B0604020202090204" pitchFamily="34" charset="0"/>
              <a:buChar char="•"/>
              <a:defRPr/>
            </a:pPr>
            <a:r>
              <a:rPr lang="zh-CN" altLang="en-US" sz="2400" kern="0" dirty="0" smtClean="0">
                <a:solidFill>
                  <a:srgbClr val="FF0000"/>
                </a:solidFill>
                <a:latin typeface="Times New Roman" panose="02020503050405090304"/>
                <a:ea typeface="华文楷体" panose="02010600040101010101" pitchFamily="2" charset="-122"/>
              </a:rPr>
              <a:t>逻辑结构：</a:t>
            </a:r>
            <a:r>
              <a:rPr lang="zh-CN" altLang="en-US" sz="2400" dirty="0" smtClean="0">
                <a:solidFill>
                  <a:schemeClr val="accent2"/>
                </a:solidFill>
                <a:latin typeface="+mn-lt"/>
                <a:ea typeface="+mn-ea"/>
              </a:rPr>
              <a:t>是</a:t>
            </a:r>
            <a:r>
              <a:rPr lang="zh-CN" altLang="en-US" sz="2400" dirty="0">
                <a:solidFill>
                  <a:schemeClr val="accent2"/>
                </a:solidFill>
                <a:latin typeface="+mn-lt"/>
                <a:ea typeface="+mn-ea"/>
              </a:rPr>
              <a:t>对数据元素之间逻辑关系的描述。根据数据元素</a:t>
            </a:r>
            <a:r>
              <a:rPr lang="zh-CN" altLang="en-US" sz="2400" dirty="0" smtClean="0">
                <a:solidFill>
                  <a:schemeClr val="accent2"/>
                </a:solidFill>
                <a:latin typeface="+mn-lt"/>
                <a:ea typeface="+mn-ea"/>
              </a:rPr>
              <a:t>之间的逻辑</a:t>
            </a:r>
            <a:r>
              <a:rPr lang="zh-CN" altLang="en-US" sz="2400" dirty="0">
                <a:solidFill>
                  <a:schemeClr val="accent2"/>
                </a:solidFill>
                <a:latin typeface="+mn-lt"/>
                <a:ea typeface="+mn-ea"/>
              </a:rPr>
              <a:t>结构可将数据结构分为四类：</a:t>
            </a:r>
            <a:endParaRPr lang="zh-CN" altLang="en-US" sz="2400" dirty="0">
              <a:solidFill>
                <a:schemeClr val="accent2"/>
              </a:solidFill>
              <a:latin typeface="+mn-lt"/>
              <a:ea typeface="+mn-ea"/>
            </a:endParaRPr>
          </a:p>
          <a:p>
            <a:pPr marL="609600" indent="-609600">
              <a:spcBef>
                <a:spcPct val="20000"/>
              </a:spcBef>
              <a:defRPr/>
            </a:pPr>
            <a:endParaRPr lang="zh-CN" altLang="en-US" sz="2400" dirty="0">
              <a:latin typeface="黑体" panose="02010609060101010101" pitchFamily="49" charset="-122"/>
              <a:ea typeface="黑体" panose="02010609060101010101" pitchFamily="49" charset="-122"/>
            </a:endParaRPr>
          </a:p>
        </p:txBody>
      </p:sp>
      <p:sp>
        <p:nvSpPr>
          <p:cNvPr id="274473" name="Text Box 41"/>
          <p:cNvSpPr txBox="1">
            <a:spLocks noChangeArrowheads="1"/>
          </p:cNvSpPr>
          <p:nvPr/>
        </p:nvSpPr>
        <p:spPr bwMode="auto">
          <a:xfrm>
            <a:off x="1058069" y="1984375"/>
            <a:ext cx="797083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zh-CN" altLang="en-US" sz="2400" dirty="0">
                <a:solidFill>
                  <a:schemeClr val="accent2"/>
                </a:solidFill>
                <a:latin typeface="+mn-lt"/>
                <a:ea typeface="+mn-ea"/>
              </a:rPr>
              <a:t>集合 </a:t>
            </a:r>
            <a:r>
              <a:rPr lang="en-US" altLang="zh-CN" sz="2400" dirty="0" smtClean="0">
                <a:solidFill>
                  <a:schemeClr val="accent2"/>
                </a:solidFill>
                <a:latin typeface="+mn-lt"/>
                <a:ea typeface="+mn-ea"/>
              </a:rPr>
              <a:t>—</a:t>
            </a:r>
            <a:r>
              <a:rPr lang="zh-CN" altLang="en-US" sz="2000" dirty="0">
                <a:solidFill>
                  <a:schemeClr val="accent2"/>
                </a:solidFill>
                <a:latin typeface="+mn-lt"/>
                <a:ea typeface="+mn-ea"/>
              </a:rPr>
              <a:t>数据元素除了同属于一种类型外，别无其它关系。</a:t>
            </a:r>
            <a:endParaRPr lang="zh-CN" altLang="en-US" sz="2000" dirty="0">
              <a:solidFill>
                <a:schemeClr val="accent2"/>
              </a:solidFill>
              <a:latin typeface="+mn-lt"/>
              <a:ea typeface="+mn-ea"/>
            </a:endParaRPr>
          </a:p>
        </p:txBody>
      </p:sp>
      <p:grpSp>
        <p:nvGrpSpPr>
          <p:cNvPr id="6" name="Group 42"/>
          <p:cNvGrpSpPr/>
          <p:nvPr/>
        </p:nvGrpSpPr>
        <p:grpSpPr bwMode="auto">
          <a:xfrm>
            <a:off x="900113" y="4795838"/>
            <a:ext cx="892175" cy="815975"/>
            <a:chOff x="429" y="3142"/>
            <a:chExt cx="562" cy="514"/>
          </a:xfrm>
        </p:grpSpPr>
        <p:sp>
          <p:nvSpPr>
            <p:cNvPr id="44046" name="Oval 43"/>
            <p:cNvSpPr>
              <a:spLocks noChangeArrowheads="1"/>
            </p:cNvSpPr>
            <p:nvPr/>
          </p:nvSpPr>
          <p:spPr bwMode="auto">
            <a:xfrm>
              <a:off x="720" y="3523"/>
              <a:ext cx="144" cy="133"/>
            </a:xfrm>
            <a:prstGeom prst="ellipse">
              <a:avLst/>
            </a:prstGeom>
            <a:noFill/>
            <a:ln w="38100">
              <a:solidFill>
                <a:srgbClr val="FF00FF"/>
              </a:solidFill>
              <a:round/>
            </a:ln>
            <a:extLst>
              <a:ext uri="{909E8E84-426E-40DD-AFC4-6F175D3DCCD1}">
                <a14:hiddenFill xmlns:a14="http://schemas.microsoft.com/office/drawing/2010/main">
                  <a:solidFill>
                    <a:srgbClr val="FFFFFF"/>
                  </a:solidFill>
                </a14:hiddenFill>
              </a:ext>
            </a:extLst>
          </p:spPr>
          <p:txBody>
            <a:bodyPr wrap="none"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grpSp>
          <p:nvGrpSpPr>
            <p:cNvPr id="44047" name="Group 44"/>
            <p:cNvGrpSpPr/>
            <p:nvPr/>
          </p:nvGrpSpPr>
          <p:grpSpPr bwMode="auto">
            <a:xfrm>
              <a:off x="429" y="3142"/>
              <a:ext cx="562" cy="468"/>
              <a:chOff x="429" y="3142"/>
              <a:chExt cx="562" cy="468"/>
            </a:xfrm>
          </p:grpSpPr>
          <p:sp>
            <p:nvSpPr>
              <p:cNvPr id="44048" name="Oval 45"/>
              <p:cNvSpPr>
                <a:spLocks noChangeArrowheads="1"/>
              </p:cNvSpPr>
              <p:nvPr/>
            </p:nvSpPr>
            <p:spPr bwMode="auto">
              <a:xfrm>
                <a:off x="429" y="3142"/>
                <a:ext cx="144" cy="133"/>
              </a:xfrm>
              <a:prstGeom prst="ellipse">
                <a:avLst/>
              </a:prstGeom>
              <a:noFill/>
              <a:ln w="38100">
                <a:solidFill>
                  <a:srgbClr val="FF00FF"/>
                </a:solidFill>
                <a:round/>
              </a:ln>
              <a:extLst>
                <a:ext uri="{909E8E84-426E-40DD-AFC4-6F175D3DCCD1}">
                  <a14:hiddenFill xmlns:a14="http://schemas.microsoft.com/office/drawing/2010/main">
                    <a:solidFill>
                      <a:srgbClr val="FFFFFF"/>
                    </a:solidFill>
                  </a14:hiddenFill>
                </a:ext>
              </a:extLst>
            </p:spPr>
            <p:txBody>
              <a:bodyPr wrap="none"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sp>
            <p:nvSpPr>
              <p:cNvPr id="44049" name="Oval 46"/>
              <p:cNvSpPr>
                <a:spLocks noChangeArrowheads="1"/>
              </p:cNvSpPr>
              <p:nvPr/>
            </p:nvSpPr>
            <p:spPr bwMode="auto">
              <a:xfrm>
                <a:off x="847" y="3142"/>
                <a:ext cx="144" cy="133"/>
              </a:xfrm>
              <a:prstGeom prst="ellipse">
                <a:avLst/>
              </a:prstGeom>
              <a:noFill/>
              <a:ln w="38100">
                <a:solidFill>
                  <a:srgbClr val="FF00FF"/>
                </a:solidFill>
                <a:round/>
              </a:ln>
              <a:extLst>
                <a:ext uri="{909E8E84-426E-40DD-AFC4-6F175D3DCCD1}">
                  <a14:hiddenFill xmlns:a14="http://schemas.microsoft.com/office/drawing/2010/main">
                    <a:solidFill>
                      <a:srgbClr val="FFFFFF"/>
                    </a:solidFill>
                  </a14:hiddenFill>
                </a:ext>
              </a:extLst>
            </p:spPr>
            <p:txBody>
              <a:bodyPr wrap="none"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sp>
            <p:nvSpPr>
              <p:cNvPr id="44050" name="Oval 47"/>
              <p:cNvSpPr>
                <a:spLocks noChangeArrowheads="1"/>
              </p:cNvSpPr>
              <p:nvPr/>
            </p:nvSpPr>
            <p:spPr bwMode="auto">
              <a:xfrm>
                <a:off x="465" y="3477"/>
                <a:ext cx="144" cy="133"/>
              </a:xfrm>
              <a:prstGeom prst="ellipse">
                <a:avLst/>
              </a:prstGeom>
              <a:noFill/>
              <a:ln w="38100">
                <a:solidFill>
                  <a:srgbClr val="FF00FF"/>
                </a:solidFill>
                <a:round/>
              </a:ln>
              <a:extLst>
                <a:ext uri="{909E8E84-426E-40DD-AFC4-6F175D3DCCD1}">
                  <a14:hiddenFill xmlns:a14="http://schemas.microsoft.com/office/drawing/2010/main">
                    <a:solidFill>
                      <a:srgbClr val="FFFFFF"/>
                    </a:solidFill>
                  </a14:hiddenFill>
                </a:ext>
              </a:extLst>
            </p:spPr>
            <p:txBody>
              <a:bodyPr wrap="none"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sp>
            <p:nvSpPr>
              <p:cNvPr id="44051" name="Oval 48"/>
              <p:cNvSpPr>
                <a:spLocks noChangeArrowheads="1"/>
              </p:cNvSpPr>
              <p:nvPr/>
            </p:nvSpPr>
            <p:spPr bwMode="auto">
              <a:xfrm>
                <a:off x="648" y="3316"/>
                <a:ext cx="144" cy="133"/>
              </a:xfrm>
              <a:prstGeom prst="ellipse">
                <a:avLst/>
              </a:prstGeom>
              <a:noFill/>
              <a:ln w="38100">
                <a:solidFill>
                  <a:srgbClr val="FF00FF"/>
                </a:solidFill>
                <a:round/>
              </a:ln>
              <a:extLst>
                <a:ext uri="{909E8E84-426E-40DD-AFC4-6F175D3DCCD1}">
                  <a14:hiddenFill xmlns:a14="http://schemas.microsoft.com/office/drawing/2010/main">
                    <a:solidFill>
                      <a:srgbClr val="FFFFFF"/>
                    </a:solidFill>
                  </a14:hiddenFill>
                </a:ext>
              </a:extLst>
            </p:spPr>
            <p:txBody>
              <a:bodyPr wrap="none"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grpSp>
      </p:grpSp>
      <p:sp>
        <p:nvSpPr>
          <p:cNvPr id="44045"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7" presetClass="entr" presetSubtype="8" fill="hold" grpId="0" nodeType="clickEffect">
                                  <p:stCondLst>
                                    <p:cond delay="0"/>
                                  </p:stCondLst>
                                  <p:childTnLst>
                                    <p:set>
                                      <p:cBhvr>
                                        <p:cTn id="6" dur="1" fill="hold">
                                          <p:stCondLst>
                                            <p:cond delay="0"/>
                                          </p:stCondLst>
                                        </p:cTn>
                                        <p:tgtEl>
                                          <p:spTgt spid="274473"/>
                                        </p:tgtEl>
                                        <p:attrNameLst>
                                          <p:attrName>style.visibility</p:attrName>
                                        </p:attrNameLst>
                                      </p:cBhvr>
                                      <p:to>
                                        <p:strVal val="visible"/>
                                      </p:to>
                                    </p:set>
                                    <p:anim calcmode="lin" valueType="num">
                                      <p:cBhvr>
                                        <p:cTn id="7" dur="500" fill="hold"/>
                                        <p:tgtEl>
                                          <p:spTgt spid="274473"/>
                                        </p:tgtEl>
                                        <p:attrNameLst>
                                          <p:attrName>ppt_x</p:attrName>
                                        </p:attrNameLst>
                                      </p:cBhvr>
                                      <p:tavLst>
                                        <p:tav tm="0">
                                          <p:val>
                                            <p:strVal val="#ppt_x-#ppt_w/2"/>
                                          </p:val>
                                        </p:tav>
                                        <p:tav tm="100000">
                                          <p:val>
                                            <p:strVal val="#ppt_x"/>
                                          </p:val>
                                        </p:tav>
                                      </p:tavLst>
                                    </p:anim>
                                    <p:anim calcmode="lin" valueType="num">
                                      <p:cBhvr>
                                        <p:cTn id="8" dur="500" fill="hold"/>
                                        <p:tgtEl>
                                          <p:spTgt spid="274473"/>
                                        </p:tgtEl>
                                        <p:attrNameLst>
                                          <p:attrName>ppt_y</p:attrName>
                                        </p:attrNameLst>
                                      </p:cBhvr>
                                      <p:tavLst>
                                        <p:tav tm="0">
                                          <p:val>
                                            <p:strVal val="#ppt_y"/>
                                          </p:val>
                                        </p:tav>
                                        <p:tav tm="100000">
                                          <p:val>
                                            <p:strVal val="#ppt_y"/>
                                          </p:val>
                                        </p:tav>
                                      </p:tavLst>
                                    </p:anim>
                                    <p:anim calcmode="lin" valueType="num">
                                      <p:cBhvr>
                                        <p:cTn id="9" dur="500" fill="hold"/>
                                        <p:tgtEl>
                                          <p:spTgt spid="274473"/>
                                        </p:tgtEl>
                                        <p:attrNameLst>
                                          <p:attrName>ppt_w</p:attrName>
                                        </p:attrNameLst>
                                      </p:cBhvr>
                                      <p:tavLst>
                                        <p:tav tm="0">
                                          <p:val>
                                            <p:fltVal val="0"/>
                                          </p:val>
                                        </p:tav>
                                        <p:tav tm="100000">
                                          <p:val>
                                            <p:strVal val="#ppt_w"/>
                                          </p:val>
                                        </p:tav>
                                      </p:tavLst>
                                    </p:anim>
                                    <p:anim calcmode="lin" valueType="num">
                                      <p:cBhvr>
                                        <p:cTn id="10" dur="500" fill="hold"/>
                                        <p:tgtEl>
                                          <p:spTgt spid="274473"/>
                                        </p:tgtEl>
                                        <p:attrNameLst>
                                          <p:attrName>ppt_h</p:attrName>
                                        </p:attrNameLst>
                                      </p:cBhvr>
                                      <p:tavLst>
                                        <p:tav tm="0">
                                          <p:val>
                                            <p:strVal val="#ppt_h"/>
                                          </p:val>
                                        </p:tav>
                                        <p:tav tm="100000">
                                          <p:val>
                                            <p:strVal val="#ppt_h"/>
                                          </p:val>
                                        </p:tav>
                                      </p:tavLst>
                                    </p:anim>
                                  </p:childTnLst>
                                  <p:subTnLst>
                                    <p:audio>
                                      <p:cMediaNode>
                                        <p:cTn display="0" masterRel="sameClick">
                                          <p:stCondLst>
                                            <p:cond evt="begin" delay="0">
                                              <p:tn val="5"/>
                                            </p:cond>
                                          </p:stCondLst>
                                          <p:endCondLst>
                                            <p:cond evt="onStopAudio" delay="0">
                                              <p:tgtEl>
                                                <p:sldTgt/>
                                              </p:tgtEl>
                                            </p:cond>
                                          </p:endCondLst>
                                        </p:cTn>
                                        <p:tgtEl>
                                          <p:sndTgt r:embed="rId1" name="CAMERA.WAV"/>
                                        </p:tgtEl>
                                      </p:cMediaNode>
                                    </p:audio>
                                  </p:sub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anim calcmode="lin" valueType="num">
                                      <p:cBhvr additive="base">
                                        <p:cTn id="15" dur="500" fill="hold"/>
                                        <p:tgtEl>
                                          <p:spTgt spid="6"/>
                                        </p:tgtEl>
                                        <p:attrNameLst>
                                          <p:attrName>ppt_x</p:attrName>
                                        </p:attrNameLst>
                                      </p:cBhvr>
                                      <p:tavLst>
                                        <p:tav tm="0">
                                          <p:val>
                                            <p:strVal val="#ppt_x"/>
                                          </p:val>
                                        </p:tav>
                                        <p:tav tm="100000">
                                          <p:val>
                                            <p:strVal val="#ppt_x"/>
                                          </p:val>
                                        </p:tav>
                                      </p:tavLst>
                                    </p:anim>
                                    <p:anim calcmode="lin" valueType="num">
                                      <p:cBhvr additive="base">
                                        <p:cTn id="16"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7" presetClass="entr" presetSubtype="8" fill="hold" grpId="0" nodeType="clickEffect">
                                  <p:stCondLst>
                                    <p:cond delay="0"/>
                                  </p:stCondLst>
                                  <p:childTnLst>
                                    <p:set>
                                      <p:cBhvr>
                                        <p:cTn id="20" dur="1" fill="hold">
                                          <p:stCondLst>
                                            <p:cond delay="0"/>
                                          </p:stCondLst>
                                        </p:cTn>
                                        <p:tgtEl>
                                          <p:spTgt spid="274470"/>
                                        </p:tgtEl>
                                        <p:attrNameLst>
                                          <p:attrName>style.visibility</p:attrName>
                                        </p:attrNameLst>
                                      </p:cBhvr>
                                      <p:to>
                                        <p:strVal val="visible"/>
                                      </p:to>
                                    </p:set>
                                    <p:anim calcmode="lin" valueType="num">
                                      <p:cBhvr>
                                        <p:cTn id="21" dur="500" fill="hold"/>
                                        <p:tgtEl>
                                          <p:spTgt spid="274470"/>
                                        </p:tgtEl>
                                        <p:attrNameLst>
                                          <p:attrName>ppt_x</p:attrName>
                                        </p:attrNameLst>
                                      </p:cBhvr>
                                      <p:tavLst>
                                        <p:tav tm="0">
                                          <p:val>
                                            <p:strVal val="#ppt_x-#ppt_w/2"/>
                                          </p:val>
                                        </p:tav>
                                        <p:tav tm="100000">
                                          <p:val>
                                            <p:strVal val="#ppt_x"/>
                                          </p:val>
                                        </p:tav>
                                      </p:tavLst>
                                    </p:anim>
                                    <p:anim calcmode="lin" valueType="num">
                                      <p:cBhvr>
                                        <p:cTn id="22" dur="500" fill="hold"/>
                                        <p:tgtEl>
                                          <p:spTgt spid="274470"/>
                                        </p:tgtEl>
                                        <p:attrNameLst>
                                          <p:attrName>ppt_y</p:attrName>
                                        </p:attrNameLst>
                                      </p:cBhvr>
                                      <p:tavLst>
                                        <p:tav tm="0">
                                          <p:val>
                                            <p:strVal val="#ppt_y"/>
                                          </p:val>
                                        </p:tav>
                                        <p:tav tm="100000">
                                          <p:val>
                                            <p:strVal val="#ppt_y"/>
                                          </p:val>
                                        </p:tav>
                                      </p:tavLst>
                                    </p:anim>
                                    <p:anim calcmode="lin" valueType="num">
                                      <p:cBhvr>
                                        <p:cTn id="23" dur="500" fill="hold"/>
                                        <p:tgtEl>
                                          <p:spTgt spid="274470"/>
                                        </p:tgtEl>
                                        <p:attrNameLst>
                                          <p:attrName>ppt_w</p:attrName>
                                        </p:attrNameLst>
                                      </p:cBhvr>
                                      <p:tavLst>
                                        <p:tav tm="0">
                                          <p:val>
                                            <p:fltVal val="0"/>
                                          </p:val>
                                        </p:tav>
                                        <p:tav tm="100000">
                                          <p:val>
                                            <p:strVal val="#ppt_w"/>
                                          </p:val>
                                        </p:tav>
                                      </p:tavLst>
                                    </p:anim>
                                    <p:anim calcmode="lin" valueType="num">
                                      <p:cBhvr>
                                        <p:cTn id="24" dur="500" fill="hold"/>
                                        <p:tgtEl>
                                          <p:spTgt spid="274470"/>
                                        </p:tgtEl>
                                        <p:attrNameLst>
                                          <p:attrName>ppt_h</p:attrName>
                                        </p:attrNameLst>
                                      </p:cBhvr>
                                      <p:tavLst>
                                        <p:tav tm="0">
                                          <p:val>
                                            <p:strVal val="#ppt_h"/>
                                          </p:val>
                                        </p:tav>
                                        <p:tav tm="100000">
                                          <p:val>
                                            <p:strVal val="#ppt_h"/>
                                          </p:val>
                                        </p:tav>
                                      </p:tavLst>
                                    </p:anim>
                                  </p:childTnLst>
                                  <p:subTnLst>
                                    <p:audio>
                                      <p:cMediaNode>
                                        <p:cTn display="0" masterRel="sameClick">
                                          <p:stCondLst>
                                            <p:cond evt="begin" delay="0">
                                              <p:tn val="19"/>
                                            </p:cond>
                                          </p:stCondLst>
                                          <p:endCondLst>
                                            <p:cond evt="onStopAudio" delay="0">
                                              <p:tgtEl>
                                                <p:sldTgt/>
                                              </p:tgtEl>
                                            </p:cond>
                                          </p:endCondLst>
                                        </p:cTn>
                                        <p:tgtEl>
                                          <p:sndTgt r:embed="rId1" name="CAMERA.WAV"/>
                                        </p:tgtEl>
                                      </p:cMediaNode>
                                    </p:audio>
                                  </p:subTnLst>
                                </p:cTn>
                              </p:par>
                            </p:childTnLst>
                          </p:cTn>
                        </p:par>
                      </p:childTnLst>
                    </p:cTn>
                  </p:par>
                  <p:par>
                    <p:cTn id="25" fill="hold">
                      <p:stCondLst>
                        <p:cond delay="indefinite"/>
                      </p:stCondLst>
                      <p:childTnLst>
                        <p:par>
                          <p:cTn id="26" fill="hold">
                            <p:stCondLst>
                              <p:cond delay="0"/>
                            </p:stCondLst>
                            <p:childTnLst>
                              <p:par>
                                <p:cTn id="27" presetID="23" presetClass="entr" presetSubtype="16" fill="hold" nodeType="clickEffect">
                                  <p:stCondLst>
                                    <p:cond delay="0"/>
                                  </p:stCondLst>
                                  <p:childTnLst>
                                    <p:set>
                                      <p:cBhvr>
                                        <p:cTn id="28" dur="1" fill="hold">
                                          <p:stCondLst>
                                            <p:cond delay="0"/>
                                          </p:stCondLst>
                                        </p:cTn>
                                        <p:tgtEl>
                                          <p:spTgt spid="2"/>
                                        </p:tgtEl>
                                        <p:attrNameLst>
                                          <p:attrName>style.visibility</p:attrName>
                                        </p:attrNameLst>
                                      </p:cBhvr>
                                      <p:to>
                                        <p:strVal val="visible"/>
                                      </p:to>
                                    </p:set>
                                    <p:anim calcmode="lin" valueType="num">
                                      <p:cBhvr>
                                        <p:cTn id="29" dur="500" fill="hold"/>
                                        <p:tgtEl>
                                          <p:spTgt spid="2"/>
                                        </p:tgtEl>
                                        <p:attrNameLst>
                                          <p:attrName>ppt_w</p:attrName>
                                        </p:attrNameLst>
                                      </p:cBhvr>
                                      <p:tavLst>
                                        <p:tav tm="0">
                                          <p:val>
                                            <p:fltVal val="0"/>
                                          </p:val>
                                        </p:tav>
                                        <p:tav tm="100000">
                                          <p:val>
                                            <p:strVal val="#ppt_w"/>
                                          </p:val>
                                        </p:tav>
                                      </p:tavLst>
                                    </p:anim>
                                    <p:anim calcmode="lin" valueType="num">
                                      <p:cBhvr>
                                        <p:cTn id="30" dur="500" fill="hold"/>
                                        <p:tgtEl>
                                          <p:spTgt spid="2"/>
                                        </p:tgtEl>
                                        <p:attrNameLst>
                                          <p:attrName>ppt_h</p:attrName>
                                        </p:attrNameLst>
                                      </p:cBhvr>
                                      <p:tavLst>
                                        <p:tav tm="0">
                                          <p:val>
                                            <p:fltVal val="0"/>
                                          </p:val>
                                        </p:tav>
                                        <p:tav tm="100000">
                                          <p:val>
                                            <p:strVal val="#ppt_h"/>
                                          </p:val>
                                        </p:tav>
                                      </p:tavLst>
                                    </p:anim>
                                  </p:childTnLst>
                                  <p:subTnLst>
                                    <p:audio>
                                      <p:cMediaNode>
                                        <p:cTn display="0" masterRel="sameClick">
                                          <p:stCondLst>
                                            <p:cond evt="begin" delay="0">
                                              <p:tn val="27"/>
                                            </p:cond>
                                          </p:stCondLst>
                                          <p:endCondLst>
                                            <p:cond evt="onStopAudio" delay="0">
                                              <p:tgtEl>
                                                <p:sldTgt/>
                                              </p:tgtEl>
                                            </p:cond>
                                          </p:endCondLst>
                                        </p:cTn>
                                        <p:tgtEl>
                                          <p:sndTgt r:embed="rId2" name="chimes.wav"/>
                                        </p:tgtEl>
                                      </p:cMediaNode>
                                    </p:audio>
                                  </p:subTnLst>
                                </p:cTn>
                              </p:par>
                            </p:childTnLst>
                          </p:cTn>
                        </p:par>
                      </p:childTnLst>
                    </p:cTn>
                  </p:par>
                  <p:par>
                    <p:cTn id="31" fill="hold">
                      <p:stCondLst>
                        <p:cond delay="indefinite"/>
                      </p:stCondLst>
                      <p:childTnLst>
                        <p:par>
                          <p:cTn id="32" fill="hold">
                            <p:stCondLst>
                              <p:cond delay="0"/>
                            </p:stCondLst>
                            <p:childTnLst>
                              <p:par>
                                <p:cTn id="33" presetID="17" presetClass="entr" presetSubtype="8" fill="hold" grpId="0" nodeType="clickEffect">
                                  <p:stCondLst>
                                    <p:cond delay="0"/>
                                  </p:stCondLst>
                                  <p:childTnLst>
                                    <p:set>
                                      <p:cBhvr>
                                        <p:cTn id="34" dur="1" fill="hold">
                                          <p:stCondLst>
                                            <p:cond delay="0"/>
                                          </p:stCondLst>
                                        </p:cTn>
                                        <p:tgtEl>
                                          <p:spTgt spid="274471"/>
                                        </p:tgtEl>
                                        <p:attrNameLst>
                                          <p:attrName>style.visibility</p:attrName>
                                        </p:attrNameLst>
                                      </p:cBhvr>
                                      <p:to>
                                        <p:strVal val="visible"/>
                                      </p:to>
                                    </p:set>
                                    <p:anim calcmode="lin" valueType="num">
                                      <p:cBhvr>
                                        <p:cTn id="35" dur="500" fill="hold"/>
                                        <p:tgtEl>
                                          <p:spTgt spid="274471"/>
                                        </p:tgtEl>
                                        <p:attrNameLst>
                                          <p:attrName>ppt_x</p:attrName>
                                        </p:attrNameLst>
                                      </p:cBhvr>
                                      <p:tavLst>
                                        <p:tav tm="0">
                                          <p:val>
                                            <p:strVal val="#ppt_x-#ppt_w/2"/>
                                          </p:val>
                                        </p:tav>
                                        <p:tav tm="100000">
                                          <p:val>
                                            <p:strVal val="#ppt_x"/>
                                          </p:val>
                                        </p:tav>
                                      </p:tavLst>
                                    </p:anim>
                                    <p:anim calcmode="lin" valueType="num">
                                      <p:cBhvr>
                                        <p:cTn id="36" dur="500" fill="hold"/>
                                        <p:tgtEl>
                                          <p:spTgt spid="274471"/>
                                        </p:tgtEl>
                                        <p:attrNameLst>
                                          <p:attrName>ppt_y</p:attrName>
                                        </p:attrNameLst>
                                      </p:cBhvr>
                                      <p:tavLst>
                                        <p:tav tm="0">
                                          <p:val>
                                            <p:strVal val="#ppt_y"/>
                                          </p:val>
                                        </p:tav>
                                        <p:tav tm="100000">
                                          <p:val>
                                            <p:strVal val="#ppt_y"/>
                                          </p:val>
                                        </p:tav>
                                      </p:tavLst>
                                    </p:anim>
                                    <p:anim calcmode="lin" valueType="num">
                                      <p:cBhvr>
                                        <p:cTn id="37" dur="500" fill="hold"/>
                                        <p:tgtEl>
                                          <p:spTgt spid="274471"/>
                                        </p:tgtEl>
                                        <p:attrNameLst>
                                          <p:attrName>ppt_w</p:attrName>
                                        </p:attrNameLst>
                                      </p:cBhvr>
                                      <p:tavLst>
                                        <p:tav tm="0">
                                          <p:val>
                                            <p:fltVal val="0"/>
                                          </p:val>
                                        </p:tav>
                                        <p:tav tm="100000">
                                          <p:val>
                                            <p:strVal val="#ppt_w"/>
                                          </p:val>
                                        </p:tav>
                                      </p:tavLst>
                                    </p:anim>
                                    <p:anim calcmode="lin" valueType="num">
                                      <p:cBhvr>
                                        <p:cTn id="38" dur="500" fill="hold"/>
                                        <p:tgtEl>
                                          <p:spTgt spid="274471"/>
                                        </p:tgtEl>
                                        <p:attrNameLst>
                                          <p:attrName>ppt_h</p:attrName>
                                        </p:attrNameLst>
                                      </p:cBhvr>
                                      <p:tavLst>
                                        <p:tav tm="0">
                                          <p:val>
                                            <p:strVal val="#ppt_h"/>
                                          </p:val>
                                        </p:tav>
                                        <p:tav tm="100000">
                                          <p:val>
                                            <p:strVal val="#ppt_h"/>
                                          </p:val>
                                        </p:tav>
                                      </p:tavLst>
                                    </p:anim>
                                  </p:childTnLst>
                                  <p:subTnLst>
                                    <p:audio>
                                      <p:cMediaNode>
                                        <p:cTn display="0" masterRel="sameClick">
                                          <p:stCondLst>
                                            <p:cond evt="begin" delay="0">
                                              <p:tn val="33"/>
                                            </p:cond>
                                          </p:stCondLst>
                                          <p:endCondLst>
                                            <p:cond evt="onStopAudio" delay="0">
                                              <p:tgtEl>
                                                <p:sldTgt/>
                                              </p:tgtEl>
                                            </p:cond>
                                          </p:endCondLst>
                                        </p:cTn>
                                        <p:tgtEl>
                                          <p:sndTgt r:embed="rId1" name="CAMERA.WAV"/>
                                        </p:tgtEl>
                                      </p:cMediaNode>
                                    </p:audio>
                                  </p:subTnLst>
                                </p:cTn>
                              </p:par>
                            </p:childTnLst>
                          </p:cTn>
                        </p:par>
                      </p:childTnLst>
                    </p:cTn>
                  </p:par>
                  <p:par>
                    <p:cTn id="39" fill="hold">
                      <p:stCondLst>
                        <p:cond delay="indefinite"/>
                      </p:stCondLst>
                      <p:childTnLst>
                        <p:par>
                          <p:cTn id="40" fill="hold">
                            <p:stCondLst>
                              <p:cond delay="0"/>
                            </p:stCondLst>
                            <p:childTnLst>
                              <p:par>
                                <p:cTn id="41" presetID="23" presetClass="entr" presetSubtype="16" fill="hold" nodeType="clickEffect">
                                  <p:stCondLst>
                                    <p:cond delay="0"/>
                                  </p:stCondLst>
                                  <p:childTnLst>
                                    <p:set>
                                      <p:cBhvr>
                                        <p:cTn id="42" dur="1" fill="hold">
                                          <p:stCondLst>
                                            <p:cond delay="0"/>
                                          </p:stCondLst>
                                        </p:cTn>
                                        <p:tgtEl>
                                          <p:spTgt spid="3"/>
                                        </p:tgtEl>
                                        <p:attrNameLst>
                                          <p:attrName>style.visibility</p:attrName>
                                        </p:attrNameLst>
                                      </p:cBhvr>
                                      <p:to>
                                        <p:strVal val="visible"/>
                                      </p:to>
                                    </p:set>
                                    <p:anim calcmode="lin" valueType="num">
                                      <p:cBhvr>
                                        <p:cTn id="43" dur="500" fill="hold"/>
                                        <p:tgtEl>
                                          <p:spTgt spid="3"/>
                                        </p:tgtEl>
                                        <p:attrNameLst>
                                          <p:attrName>ppt_w</p:attrName>
                                        </p:attrNameLst>
                                      </p:cBhvr>
                                      <p:tavLst>
                                        <p:tav tm="0">
                                          <p:val>
                                            <p:fltVal val="0"/>
                                          </p:val>
                                        </p:tav>
                                        <p:tav tm="100000">
                                          <p:val>
                                            <p:strVal val="#ppt_w"/>
                                          </p:val>
                                        </p:tav>
                                      </p:tavLst>
                                    </p:anim>
                                    <p:anim calcmode="lin" valueType="num">
                                      <p:cBhvr>
                                        <p:cTn id="44" dur="500" fill="hold"/>
                                        <p:tgtEl>
                                          <p:spTgt spid="3"/>
                                        </p:tgtEl>
                                        <p:attrNameLst>
                                          <p:attrName>ppt_h</p:attrName>
                                        </p:attrNameLst>
                                      </p:cBhvr>
                                      <p:tavLst>
                                        <p:tav tm="0">
                                          <p:val>
                                            <p:fltVal val="0"/>
                                          </p:val>
                                        </p:tav>
                                        <p:tav tm="100000">
                                          <p:val>
                                            <p:strVal val="#ppt_h"/>
                                          </p:val>
                                        </p:tav>
                                      </p:tavLst>
                                    </p:anim>
                                  </p:childTnLst>
                                  <p:subTnLst>
                                    <p:audio>
                                      <p:cMediaNode>
                                        <p:cTn display="0" masterRel="sameClick">
                                          <p:stCondLst>
                                            <p:cond evt="begin" delay="0">
                                              <p:tn val="41"/>
                                            </p:cond>
                                          </p:stCondLst>
                                          <p:endCondLst>
                                            <p:cond evt="onStopAudio" delay="0">
                                              <p:tgtEl>
                                                <p:sldTgt/>
                                              </p:tgtEl>
                                            </p:cond>
                                          </p:endCondLst>
                                        </p:cTn>
                                        <p:tgtEl>
                                          <p:sndTgt r:embed="rId2" name="chimes.wav"/>
                                        </p:tgtEl>
                                      </p:cMediaNode>
                                    </p:audio>
                                  </p:subTnLst>
                                </p:cTn>
                              </p:par>
                            </p:childTnLst>
                          </p:cTn>
                        </p:par>
                      </p:childTnLst>
                    </p:cTn>
                  </p:par>
                  <p:par>
                    <p:cTn id="45" fill="hold">
                      <p:stCondLst>
                        <p:cond delay="indefinite"/>
                      </p:stCondLst>
                      <p:childTnLst>
                        <p:par>
                          <p:cTn id="46" fill="hold">
                            <p:stCondLst>
                              <p:cond delay="0"/>
                            </p:stCondLst>
                            <p:childTnLst>
                              <p:par>
                                <p:cTn id="47" presetID="17" presetClass="entr" presetSubtype="8" fill="hold" grpId="0" nodeType="clickEffect">
                                  <p:stCondLst>
                                    <p:cond delay="0"/>
                                  </p:stCondLst>
                                  <p:childTnLst>
                                    <p:set>
                                      <p:cBhvr>
                                        <p:cTn id="48" dur="1" fill="hold">
                                          <p:stCondLst>
                                            <p:cond delay="0"/>
                                          </p:stCondLst>
                                        </p:cTn>
                                        <p:tgtEl>
                                          <p:spTgt spid="274434"/>
                                        </p:tgtEl>
                                        <p:attrNameLst>
                                          <p:attrName>style.visibility</p:attrName>
                                        </p:attrNameLst>
                                      </p:cBhvr>
                                      <p:to>
                                        <p:strVal val="visible"/>
                                      </p:to>
                                    </p:set>
                                    <p:anim calcmode="lin" valueType="num">
                                      <p:cBhvr>
                                        <p:cTn id="49" dur="500" fill="hold"/>
                                        <p:tgtEl>
                                          <p:spTgt spid="274434"/>
                                        </p:tgtEl>
                                        <p:attrNameLst>
                                          <p:attrName>ppt_x</p:attrName>
                                        </p:attrNameLst>
                                      </p:cBhvr>
                                      <p:tavLst>
                                        <p:tav tm="0">
                                          <p:val>
                                            <p:strVal val="#ppt_x-#ppt_w/2"/>
                                          </p:val>
                                        </p:tav>
                                        <p:tav tm="100000">
                                          <p:val>
                                            <p:strVal val="#ppt_x"/>
                                          </p:val>
                                        </p:tav>
                                      </p:tavLst>
                                    </p:anim>
                                    <p:anim calcmode="lin" valueType="num">
                                      <p:cBhvr>
                                        <p:cTn id="50" dur="500" fill="hold"/>
                                        <p:tgtEl>
                                          <p:spTgt spid="274434"/>
                                        </p:tgtEl>
                                        <p:attrNameLst>
                                          <p:attrName>ppt_y</p:attrName>
                                        </p:attrNameLst>
                                      </p:cBhvr>
                                      <p:tavLst>
                                        <p:tav tm="0">
                                          <p:val>
                                            <p:strVal val="#ppt_y"/>
                                          </p:val>
                                        </p:tav>
                                        <p:tav tm="100000">
                                          <p:val>
                                            <p:strVal val="#ppt_y"/>
                                          </p:val>
                                        </p:tav>
                                      </p:tavLst>
                                    </p:anim>
                                    <p:anim calcmode="lin" valueType="num">
                                      <p:cBhvr>
                                        <p:cTn id="51" dur="500" fill="hold"/>
                                        <p:tgtEl>
                                          <p:spTgt spid="274434"/>
                                        </p:tgtEl>
                                        <p:attrNameLst>
                                          <p:attrName>ppt_w</p:attrName>
                                        </p:attrNameLst>
                                      </p:cBhvr>
                                      <p:tavLst>
                                        <p:tav tm="0">
                                          <p:val>
                                            <p:fltVal val="0"/>
                                          </p:val>
                                        </p:tav>
                                        <p:tav tm="100000">
                                          <p:val>
                                            <p:strVal val="#ppt_w"/>
                                          </p:val>
                                        </p:tav>
                                      </p:tavLst>
                                    </p:anim>
                                    <p:anim calcmode="lin" valueType="num">
                                      <p:cBhvr>
                                        <p:cTn id="52" dur="500" fill="hold"/>
                                        <p:tgtEl>
                                          <p:spTgt spid="274434"/>
                                        </p:tgtEl>
                                        <p:attrNameLst>
                                          <p:attrName>ppt_h</p:attrName>
                                        </p:attrNameLst>
                                      </p:cBhvr>
                                      <p:tavLst>
                                        <p:tav tm="0">
                                          <p:val>
                                            <p:strVal val="#ppt_h"/>
                                          </p:val>
                                        </p:tav>
                                        <p:tav tm="100000">
                                          <p:val>
                                            <p:strVal val="#ppt_h"/>
                                          </p:val>
                                        </p:tav>
                                      </p:tavLst>
                                    </p:anim>
                                  </p:childTnLst>
                                  <p:subTnLst>
                                    <p:audio>
                                      <p:cMediaNode>
                                        <p:cTn display="0" masterRel="sameClick">
                                          <p:stCondLst>
                                            <p:cond evt="begin" delay="0">
                                              <p:tn val="47"/>
                                            </p:cond>
                                          </p:stCondLst>
                                          <p:endCondLst>
                                            <p:cond evt="onStopAudio" delay="0">
                                              <p:tgtEl>
                                                <p:sldTgt/>
                                              </p:tgtEl>
                                            </p:cond>
                                          </p:endCondLst>
                                        </p:cTn>
                                        <p:tgtEl>
                                          <p:sndTgt r:embed="rId1" name="CAMERA.WAV"/>
                                        </p:tgtEl>
                                      </p:cMediaNode>
                                    </p:audio>
                                  </p:subTnLst>
                                </p:cTn>
                              </p:par>
                            </p:childTnLst>
                          </p:cTn>
                        </p:par>
                      </p:childTnLst>
                    </p:cTn>
                  </p:par>
                  <p:par>
                    <p:cTn id="53" fill="hold">
                      <p:stCondLst>
                        <p:cond delay="indefinite"/>
                      </p:stCondLst>
                      <p:childTnLst>
                        <p:par>
                          <p:cTn id="54" fill="hold">
                            <p:stCondLst>
                              <p:cond delay="0"/>
                            </p:stCondLst>
                            <p:childTnLst>
                              <p:par>
                                <p:cTn id="55" presetID="23" presetClass="entr" presetSubtype="16" fill="hold" nodeType="clickEffect">
                                  <p:stCondLst>
                                    <p:cond delay="0"/>
                                  </p:stCondLst>
                                  <p:childTnLst>
                                    <p:set>
                                      <p:cBhvr>
                                        <p:cTn id="56" dur="1" fill="hold">
                                          <p:stCondLst>
                                            <p:cond delay="0"/>
                                          </p:stCondLst>
                                        </p:cTn>
                                        <p:tgtEl>
                                          <p:spTgt spid="5"/>
                                        </p:tgtEl>
                                        <p:attrNameLst>
                                          <p:attrName>style.visibility</p:attrName>
                                        </p:attrNameLst>
                                      </p:cBhvr>
                                      <p:to>
                                        <p:strVal val="visible"/>
                                      </p:to>
                                    </p:set>
                                    <p:anim calcmode="lin" valueType="num">
                                      <p:cBhvr>
                                        <p:cTn id="57" dur="500" fill="hold"/>
                                        <p:tgtEl>
                                          <p:spTgt spid="5"/>
                                        </p:tgtEl>
                                        <p:attrNameLst>
                                          <p:attrName>ppt_w</p:attrName>
                                        </p:attrNameLst>
                                      </p:cBhvr>
                                      <p:tavLst>
                                        <p:tav tm="0">
                                          <p:val>
                                            <p:fltVal val="0"/>
                                          </p:val>
                                        </p:tav>
                                        <p:tav tm="100000">
                                          <p:val>
                                            <p:strVal val="#ppt_w"/>
                                          </p:val>
                                        </p:tav>
                                      </p:tavLst>
                                    </p:anim>
                                    <p:anim calcmode="lin" valueType="num">
                                      <p:cBhvr>
                                        <p:cTn id="58" dur="500" fill="hold"/>
                                        <p:tgtEl>
                                          <p:spTgt spid="5"/>
                                        </p:tgtEl>
                                        <p:attrNameLst>
                                          <p:attrName>ppt_h</p:attrName>
                                        </p:attrNameLst>
                                      </p:cBhvr>
                                      <p:tavLst>
                                        <p:tav tm="0">
                                          <p:val>
                                            <p:fltVal val="0"/>
                                          </p:val>
                                        </p:tav>
                                        <p:tav tm="100000">
                                          <p:val>
                                            <p:strVal val="#ppt_h"/>
                                          </p:val>
                                        </p:tav>
                                      </p:tavLst>
                                    </p:anim>
                                  </p:childTnLst>
                                  <p:subTnLst>
                                    <p:audio>
                                      <p:cMediaNode>
                                        <p:cTn display="0" masterRel="sameClick">
                                          <p:stCondLst>
                                            <p:cond evt="begin" delay="0">
                                              <p:tn val="55"/>
                                            </p:cond>
                                          </p:stCondLst>
                                          <p:endCondLst>
                                            <p:cond evt="onStopAudio" delay="0">
                                              <p:tgtEl>
                                                <p:sldTgt/>
                                              </p:tgtEl>
                                            </p:cond>
                                          </p:endCondLst>
                                        </p:cTn>
                                        <p:tgtEl>
                                          <p:sndTgt r:embed="rId2" name="chimes.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4434" grpId="0" autoUpdateAnimBg="0"/>
      <p:bldP spid="274470" grpId="0" autoUpdateAnimBg="0"/>
      <p:bldP spid="274471" grpId="0" autoUpdateAnimBg="0"/>
      <p:bldP spid="274473" grpId="0" autoUpdateAnimBg="0"/>
    </p:bldLst>
  </p:timing>
</p:sld>
</file>

<file path=ppt/slides/slide13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76482" name="Rectangle 2"/>
          <p:cNvSpPr>
            <a:spLocks noGrp="1" noChangeArrowheads="1"/>
          </p:cNvSpPr>
          <p:nvPr>
            <p:ph type="body" idx="1"/>
          </p:nvPr>
        </p:nvSpPr>
        <p:spPr>
          <a:xfrm>
            <a:off x="500063" y="1285875"/>
            <a:ext cx="9332912" cy="1009650"/>
          </a:xfrm>
        </p:spPr>
        <p:txBody>
          <a:bodyPr/>
          <a:lstStyle/>
          <a:p>
            <a:pPr marL="542925" lvl="1" indent="-254000">
              <a:lnSpc>
                <a:spcPct val="105000"/>
              </a:lnSpc>
              <a:buFontTx/>
              <a:buNone/>
              <a:defRPr/>
            </a:pPr>
            <a:r>
              <a:rPr lang="zh-CN" altLang="en-US" sz="2400" kern="1200" dirty="0" smtClean="0">
                <a:latin typeface="+mn-lt"/>
                <a:ea typeface="+mn-ea"/>
                <a:cs typeface="+mn-cs"/>
              </a:rPr>
              <a:t>数据元素之间的关系在计算机中有两种不同的表示方法：</a:t>
            </a:r>
            <a:endParaRPr lang="en-US" altLang="zh-CN" sz="2400" kern="1200" dirty="0" smtClean="0">
              <a:latin typeface="+mn-lt"/>
              <a:ea typeface="+mn-ea"/>
              <a:cs typeface="+mn-cs"/>
            </a:endParaRPr>
          </a:p>
          <a:p>
            <a:pPr marL="542925" lvl="1" indent="-254000">
              <a:lnSpc>
                <a:spcPct val="105000"/>
              </a:lnSpc>
              <a:buFontTx/>
              <a:buNone/>
              <a:defRPr/>
            </a:pPr>
            <a:r>
              <a:rPr lang="en-US" altLang="zh-CN" sz="2400" kern="1200" dirty="0" smtClean="0">
                <a:latin typeface="+mn-lt"/>
                <a:ea typeface="+mn-ea"/>
                <a:cs typeface="+mn-cs"/>
              </a:rPr>
              <a:t>       </a:t>
            </a:r>
            <a:r>
              <a:rPr lang="zh-CN" altLang="en-US" sz="2400" kern="1200" dirty="0" smtClean="0">
                <a:solidFill>
                  <a:srgbClr val="FF0000"/>
                </a:solidFill>
                <a:latin typeface="+mn-lt"/>
                <a:ea typeface="+mn-ea"/>
                <a:cs typeface="+mn-cs"/>
              </a:rPr>
              <a:t>顺序映像和非顺序映像</a:t>
            </a:r>
            <a:r>
              <a:rPr lang="zh-CN" altLang="en-US" sz="2400" kern="1200" dirty="0" smtClean="0">
                <a:latin typeface="+mn-lt"/>
                <a:ea typeface="+mn-ea"/>
                <a:cs typeface="+mn-cs"/>
              </a:rPr>
              <a:t>。分别对应两种存储结构：</a:t>
            </a:r>
            <a:endParaRPr lang="zh-CN" altLang="en-US" sz="2400" kern="1200" dirty="0" smtClean="0">
              <a:latin typeface="+mn-lt"/>
              <a:ea typeface="+mn-ea"/>
              <a:cs typeface="+mn-cs"/>
            </a:endParaRPr>
          </a:p>
          <a:p>
            <a:pPr marL="542925" lvl="1" indent="-254000">
              <a:lnSpc>
                <a:spcPct val="105000"/>
              </a:lnSpc>
              <a:buFontTx/>
              <a:buNone/>
              <a:defRPr/>
            </a:pPr>
            <a:endParaRPr lang="en-US" altLang="zh-CN" sz="2400" dirty="0">
              <a:latin typeface="宋体" pitchFamily="2" charset="-122"/>
            </a:endParaRPr>
          </a:p>
        </p:txBody>
      </p:sp>
      <p:sp>
        <p:nvSpPr>
          <p:cNvPr id="45059" name="Text Box 3"/>
          <p:cNvSpPr txBox="1">
            <a:spLocks noChangeArrowheads="1"/>
          </p:cNvSpPr>
          <p:nvPr/>
        </p:nvSpPr>
        <p:spPr bwMode="auto">
          <a:xfrm>
            <a:off x="1357313" y="4929188"/>
            <a:ext cx="7058025" cy="1004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50000"/>
              </a:spcBef>
            </a:pPr>
            <a:r>
              <a:rPr lang="en-US" altLang="zh-CN" sz="2400">
                <a:latin typeface="黑体" panose="02010609060101010101" pitchFamily="49" charset="-122"/>
                <a:ea typeface="黑体" panose="02010609060101010101" pitchFamily="49" charset="-122"/>
              </a:rPr>
              <a:t>	</a:t>
            </a:r>
            <a:r>
              <a:rPr lang="zh-CN" altLang="en-US" sz="2400" b="1">
                <a:latin typeface="宋体" pitchFamily="2" charset="-122"/>
              </a:rPr>
              <a:t>算法设计	  逻辑结构</a:t>
            </a:r>
            <a:endParaRPr lang="zh-CN" altLang="en-US" sz="2400" b="1">
              <a:latin typeface="宋体" pitchFamily="2" charset="-122"/>
            </a:endParaRPr>
          </a:p>
          <a:p>
            <a:pPr eaLnBrk="1" hangingPunct="1">
              <a:spcBef>
                <a:spcPct val="50000"/>
              </a:spcBef>
            </a:pPr>
            <a:r>
              <a:rPr lang="zh-CN" altLang="en-US" sz="2400" b="1">
                <a:latin typeface="宋体" pitchFamily="2" charset="-122"/>
              </a:rPr>
              <a:t>	算法实现	  存储结构</a:t>
            </a:r>
            <a:r>
              <a:rPr lang="zh-CN" altLang="en-US" sz="2400">
                <a:latin typeface="黑体" panose="02010609060101010101" pitchFamily="49" charset="-122"/>
                <a:ea typeface="黑体" panose="02010609060101010101" pitchFamily="49" charset="-122"/>
              </a:rPr>
              <a:t>	</a:t>
            </a:r>
            <a:endParaRPr lang="zh-CN" altLang="en-US" sz="2400">
              <a:latin typeface="黑体" panose="02010609060101010101" pitchFamily="49" charset="-122"/>
              <a:ea typeface="黑体" panose="02010609060101010101" pitchFamily="49" charset="-122"/>
            </a:endParaRPr>
          </a:p>
        </p:txBody>
      </p:sp>
      <p:sp>
        <p:nvSpPr>
          <p:cNvPr id="45060" name="Line 4"/>
          <p:cNvSpPr>
            <a:spLocks noChangeShapeType="1"/>
          </p:cNvSpPr>
          <p:nvPr/>
        </p:nvSpPr>
        <p:spPr bwMode="auto">
          <a:xfrm>
            <a:off x="3714750" y="5715000"/>
            <a:ext cx="741363" cy="0"/>
          </a:xfrm>
          <a:prstGeom prst="line">
            <a:avLst/>
          </a:prstGeom>
          <a:noFill/>
          <a:ln w="38100">
            <a:solidFill>
              <a:schemeClr val="tx1"/>
            </a:solidFill>
            <a:round/>
            <a:tailEnd type="triangle" w="med" len="me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61" name="Line 5"/>
          <p:cNvSpPr>
            <a:spLocks noChangeShapeType="1"/>
          </p:cNvSpPr>
          <p:nvPr/>
        </p:nvSpPr>
        <p:spPr bwMode="auto">
          <a:xfrm>
            <a:off x="3714750" y="5143500"/>
            <a:ext cx="741363" cy="0"/>
          </a:xfrm>
          <a:prstGeom prst="line">
            <a:avLst/>
          </a:prstGeom>
          <a:noFill/>
          <a:ln w="38100">
            <a:solidFill>
              <a:schemeClr val="tx1"/>
            </a:solidFill>
            <a:round/>
            <a:tailEnd type="triangle" w="med" len="me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45062" name="Text Box 6"/>
          <p:cNvSpPr txBox="1">
            <a:spLocks noChangeArrowheads="1"/>
          </p:cNvSpPr>
          <p:nvPr/>
        </p:nvSpPr>
        <p:spPr bwMode="auto">
          <a:xfrm>
            <a:off x="1277938" y="3386138"/>
            <a:ext cx="7794625" cy="822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lnSpc>
                <a:spcPct val="105000"/>
              </a:lnSpc>
            </a:pPr>
            <a:r>
              <a:rPr lang="zh-CN" altLang="en-US" sz="2400" b="1">
                <a:solidFill>
                  <a:srgbClr val="FF0000"/>
                </a:solidFill>
                <a:latin typeface="宋体" pitchFamily="2" charset="-122"/>
              </a:rPr>
              <a:t>链式存储结构</a:t>
            </a:r>
            <a:r>
              <a:rPr lang="zh-CN" altLang="en-US" sz="2400" b="1">
                <a:latin typeface="宋体" pitchFamily="2" charset="-122"/>
              </a:rPr>
              <a:t>：借助指示元素存储地址的指针表示数据元素间的逻辑关系。</a:t>
            </a:r>
            <a:endParaRPr lang="zh-CN" altLang="en-US" sz="2400" b="1">
              <a:latin typeface="宋体" pitchFamily="2" charset="-122"/>
            </a:endParaRPr>
          </a:p>
        </p:txBody>
      </p:sp>
      <p:sp>
        <p:nvSpPr>
          <p:cNvPr id="45063" name="AutoShape 7"/>
          <p:cNvSpPr/>
          <p:nvPr/>
        </p:nvSpPr>
        <p:spPr bwMode="auto">
          <a:xfrm>
            <a:off x="919163" y="2413000"/>
            <a:ext cx="301625" cy="1506538"/>
          </a:xfrm>
          <a:prstGeom prst="leftBrace">
            <a:avLst>
              <a:gd name="adj1" fmla="val 41623"/>
              <a:gd name="adj2" fmla="val 50000"/>
            </a:avLst>
          </a:prstGeom>
          <a:noFill/>
          <a:ln w="38100">
            <a:solidFill>
              <a:schemeClr val="tx1"/>
            </a:solidFill>
            <a:rou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sp>
        <p:nvSpPr>
          <p:cNvPr id="45064" name="Rectangle 8"/>
          <p:cNvSpPr>
            <a:spLocks noChangeArrowheads="1"/>
          </p:cNvSpPr>
          <p:nvPr/>
        </p:nvSpPr>
        <p:spPr bwMode="auto">
          <a:xfrm>
            <a:off x="1292225" y="2201863"/>
            <a:ext cx="7664450" cy="822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lnSpc>
                <a:spcPct val="105000"/>
              </a:lnSpc>
              <a:spcBef>
                <a:spcPct val="50000"/>
              </a:spcBef>
            </a:pPr>
            <a:r>
              <a:rPr lang="zh-CN" altLang="en-US" sz="2400" b="1">
                <a:solidFill>
                  <a:srgbClr val="FF0000"/>
                </a:solidFill>
                <a:latin typeface="宋体" pitchFamily="2" charset="-122"/>
              </a:rPr>
              <a:t>顺序存储结构</a:t>
            </a:r>
            <a:r>
              <a:rPr lang="zh-CN" altLang="en-US" sz="2400" b="1">
                <a:latin typeface="宋体" pitchFamily="2" charset="-122"/>
              </a:rPr>
              <a:t>：借助元素在存储器中的相对位置来表示数据元素间的逻辑关系。</a:t>
            </a:r>
            <a:endParaRPr lang="zh-CN" altLang="en-US" sz="2400" b="1">
              <a:latin typeface="宋体" pitchFamily="2" charset="-122"/>
            </a:endParaRPr>
          </a:p>
        </p:txBody>
      </p:sp>
      <p:sp>
        <p:nvSpPr>
          <p:cNvPr id="45065" name="Rectangle 9"/>
          <p:cNvSpPr>
            <a:spLocks noChangeArrowheads="1"/>
          </p:cNvSpPr>
          <p:nvPr/>
        </p:nvSpPr>
        <p:spPr bwMode="auto">
          <a:xfrm>
            <a:off x="1285875" y="4429125"/>
            <a:ext cx="539273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50000"/>
              </a:spcBef>
            </a:pPr>
            <a:r>
              <a:rPr lang="zh-CN" altLang="en-US" sz="2400" b="1">
                <a:latin typeface="宋体" pitchFamily="2" charset="-122"/>
              </a:rPr>
              <a:t>数据的逻辑结构与存储结构密切相关：</a:t>
            </a:r>
            <a:endParaRPr lang="zh-CN" altLang="en-US" sz="2400" b="1">
              <a:latin typeface="宋体" pitchFamily="2" charset="-122"/>
            </a:endParaRPr>
          </a:p>
        </p:txBody>
      </p:sp>
      <p:sp>
        <p:nvSpPr>
          <p:cNvPr id="45066"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3" name="矩形 2"/>
          <p:cNvSpPr/>
          <p:nvPr/>
        </p:nvSpPr>
        <p:spPr>
          <a:xfrm>
            <a:off x="828674" y="466930"/>
            <a:ext cx="7127701" cy="1027974"/>
          </a:xfrm>
          <a:prstGeom prst="rect">
            <a:avLst/>
          </a:prstGeom>
        </p:spPr>
        <p:txBody>
          <a:bodyPr wrap="square">
            <a:spAutoFit/>
          </a:bodyPr>
          <a:lstStyle/>
          <a:p>
            <a:pPr marL="609600" lvl="0" indent="-609600">
              <a:spcBef>
                <a:spcPct val="20000"/>
              </a:spcBef>
              <a:defRPr/>
            </a:pPr>
            <a:r>
              <a:rPr lang="en-US" altLang="zh-CN" sz="3200" kern="0" dirty="0">
                <a:solidFill>
                  <a:srgbClr val="333399"/>
                </a:solidFill>
                <a:latin typeface="Garamond"/>
                <a:ea typeface="宋体"/>
              </a:rPr>
              <a:t> 1.4.2 </a:t>
            </a:r>
            <a:r>
              <a:rPr lang="zh-CN" altLang="en-US" sz="3200" kern="0" dirty="0">
                <a:solidFill>
                  <a:srgbClr val="333399"/>
                </a:solidFill>
                <a:latin typeface="Garamond"/>
                <a:ea typeface="宋体"/>
              </a:rPr>
              <a:t>逻辑结构和</a:t>
            </a:r>
            <a:r>
              <a:rPr lang="zh-CN" altLang="en-US" sz="3200" b="1" u="sng" kern="0" dirty="0">
                <a:solidFill>
                  <a:srgbClr val="333399"/>
                </a:solidFill>
                <a:latin typeface="Garamond"/>
                <a:ea typeface="宋体"/>
              </a:rPr>
              <a:t>存储结构</a:t>
            </a:r>
            <a:endParaRPr lang="en-US" altLang="zh-CN" sz="3200" b="1" u="sng" kern="0" dirty="0">
              <a:solidFill>
                <a:srgbClr val="333399"/>
              </a:solidFill>
              <a:latin typeface="Garamond"/>
              <a:ea typeface="宋体"/>
            </a:endParaRPr>
          </a:p>
          <a:p>
            <a:pPr marL="609600" lvl="0" indent="-609600">
              <a:spcBef>
                <a:spcPct val="20000"/>
              </a:spcBef>
              <a:defRPr/>
            </a:pPr>
            <a:endParaRPr lang="zh-CN" altLang="en-US" sz="2400" b="1" dirty="0">
              <a:solidFill>
                <a:srgbClr val="000000"/>
              </a:solidFill>
              <a:latin typeface="宋体" pitchFamily="2" charset="-122"/>
            </a:endParaRPr>
          </a:p>
        </p:txBody>
      </p:sp>
    </p:spTree>
  </p:cSld>
  <p:clrMapOvr>
    <a:masterClrMapping/>
  </p:clrMapOvr>
  <p:transition spd="med">
    <p:wipe dir="d"/>
  </p:transition>
  <p:timing>
    <p:tnLst>
      <p:par>
        <p:cTn id="1" dur="indefinite" restart="never" nodeType="tmRoot"/>
      </p:par>
    </p:tn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3076" name="Rectangle 2"/>
          <p:cNvSpPr>
            <a:spLocks noGrp="1" noChangeArrowheads="1"/>
          </p:cNvSpPr>
          <p:nvPr>
            <p:ph type="title"/>
          </p:nvPr>
        </p:nvSpPr>
        <p:spPr>
          <a:xfrm>
            <a:off x="900113" y="476672"/>
            <a:ext cx="6788869" cy="638845"/>
          </a:xfrm>
        </p:spPr>
        <p:txBody>
          <a:bodyPr/>
          <a:lstStyle/>
          <a:p>
            <a:pPr eaLnBrk="1" hangingPunct="1"/>
            <a:r>
              <a:rPr lang="en-US" altLang="zh-CN" dirty="0" smtClean="0">
                <a:solidFill>
                  <a:srgbClr val="333399"/>
                </a:solidFill>
              </a:rPr>
              <a:t>1.4.3 </a:t>
            </a:r>
            <a:r>
              <a:rPr lang="zh-CN" altLang="en-US" dirty="0" smtClean="0"/>
              <a:t>链表</a:t>
            </a:r>
            <a:endParaRPr lang="en-US" altLang="zh-CN" dirty="0" smtClean="0"/>
          </a:p>
        </p:txBody>
      </p:sp>
      <p:sp>
        <p:nvSpPr>
          <p:cNvPr id="3077" name="Rectangle 3"/>
          <p:cNvSpPr>
            <a:spLocks noGrp="1" noChangeArrowheads="1"/>
          </p:cNvSpPr>
          <p:nvPr>
            <p:ph type="body" idx="1"/>
          </p:nvPr>
        </p:nvSpPr>
        <p:spPr/>
        <p:txBody>
          <a:bodyPr/>
          <a:lstStyle/>
          <a:p>
            <a:pPr eaLnBrk="1" hangingPunct="1"/>
            <a:r>
              <a:rPr lang="zh-CN" altLang="en-US" smtClean="0">
                <a:solidFill>
                  <a:srgbClr val="FF0000"/>
                </a:solidFill>
              </a:rPr>
              <a:t>链表</a:t>
            </a:r>
            <a:r>
              <a:rPr lang="zh-CN" altLang="en-US" smtClean="0"/>
              <a:t>由有限的元素或节点序列组成，节点包含信息和到另一个节点的链。</a:t>
            </a:r>
            <a:endParaRPr lang="en-US" altLang="zh-CN" smtClean="0"/>
          </a:p>
          <a:p>
            <a:pPr eaLnBrk="1" hangingPunct="1"/>
            <a:endParaRPr lang="en-US" altLang="zh-CN" smtClean="0"/>
          </a:p>
          <a:p>
            <a:pPr eaLnBrk="1" hangingPunct="1"/>
            <a:r>
              <a:rPr lang="zh-CN" altLang="en-US" smtClean="0"/>
              <a:t>如果节点</a:t>
            </a:r>
            <a:r>
              <a:rPr lang="en-US" altLang="zh-CN" smtClean="0"/>
              <a:t>x</a:t>
            </a:r>
            <a:r>
              <a:rPr lang="zh-CN" altLang="en-US" smtClean="0"/>
              <a:t>指向节点</a:t>
            </a:r>
            <a:r>
              <a:rPr lang="en-US" altLang="zh-CN" smtClean="0"/>
              <a:t>y</a:t>
            </a:r>
            <a:r>
              <a:rPr lang="zh-CN" altLang="en-US" smtClean="0"/>
              <a:t>，那么</a:t>
            </a:r>
            <a:r>
              <a:rPr lang="en-US" altLang="zh-CN" smtClean="0"/>
              <a:t>x</a:t>
            </a:r>
            <a:r>
              <a:rPr lang="zh-CN" altLang="en-US" smtClean="0"/>
              <a:t>称为</a:t>
            </a:r>
            <a:r>
              <a:rPr lang="en-US" altLang="zh-CN" smtClean="0"/>
              <a:t>y</a:t>
            </a:r>
            <a:r>
              <a:rPr lang="zh-CN" altLang="en-US" smtClean="0"/>
              <a:t>的</a:t>
            </a:r>
            <a:r>
              <a:rPr lang="zh-CN" altLang="en-US" smtClean="0">
                <a:solidFill>
                  <a:srgbClr val="FF0000"/>
                </a:solidFill>
              </a:rPr>
              <a:t>前驱节点</a:t>
            </a:r>
            <a:r>
              <a:rPr lang="zh-CN" altLang="en-US" smtClean="0"/>
              <a:t>，</a:t>
            </a:r>
            <a:r>
              <a:rPr lang="en-US" altLang="zh-CN" smtClean="0"/>
              <a:t>y</a:t>
            </a:r>
            <a:r>
              <a:rPr lang="zh-CN" altLang="en-US" smtClean="0"/>
              <a:t>称为</a:t>
            </a:r>
            <a:r>
              <a:rPr lang="en-US" altLang="zh-CN" smtClean="0"/>
              <a:t>x</a:t>
            </a:r>
            <a:r>
              <a:rPr lang="zh-CN" altLang="en-US" smtClean="0"/>
              <a:t>的</a:t>
            </a:r>
            <a:r>
              <a:rPr lang="zh-CN" altLang="en-US" smtClean="0">
                <a:solidFill>
                  <a:srgbClr val="FF0000"/>
                </a:solidFill>
              </a:rPr>
              <a:t>后续节点</a:t>
            </a:r>
            <a:r>
              <a:rPr lang="zh-CN" altLang="en-US" smtClean="0"/>
              <a:t>。</a:t>
            </a:r>
            <a:endParaRPr lang="en-US" altLang="zh-CN" smtClean="0"/>
          </a:p>
          <a:p>
            <a:pPr eaLnBrk="1" hangingPunct="1">
              <a:buFontTx/>
              <a:buNone/>
            </a:pPr>
            <a:endParaRPr lang="en-US" altLang="zh-CN" smtClean="0"/>
          </a:p>
          <a:p>
            <a:pPr eaLnBrk="1" hangingPunct="1"/>
            <a:r>
              <a:rPr lang="zh-CN" altLang="en-US" smtClean="0"/>
              <a:t>指向第一个元素的链称为</a:t>
            </a:r>
            <a:r>
              <a:rPr lang="zh-CN" altLang="en-US" smtClean="0">
                <a:solidFill>
                  <a:srgbClr val="FF0000"/>
                </a:solidFill>
              </a:rPr>
              <a:t>表头</a:t>
            </a:r>
            <a:endParaRPr lang="en-US" altLang="zh-CN" smtClean="0"/>
          </a:p>
        </p:txBody>
      </p:sp>
      <p:graphicFrame>
        <p:nvGraphicFramePr>
          <p:cNvPr id="3074" name="Object 1"/>
          <p:cNvGraphicFramePr>
            <a:graphicFrameLocks noChangeAspect="1"/>
          </p:cNvGraphicFramePr>
          <p:nvPr/>
        </p:nvGraphicFramePr>
        <p:xfrm>
          <a:off x="1066800" y="4500563"/>
          <a:ext cx="7572375" cy="571500"/>
        </p:xfrm>
        <a:graphic>
          <a:graphicData uri="http://schemas.openxmlformats.org/presentationml/2006/ole">
            <mc:AlternateContent xmlns:mc="http://schemas.openxmlformats.org/markup-compatibility/2006">
              <mc:Choice xmlns:v="urn:schemas-microsoft-com:vml" Requires="v">
                <p:oleObj spid="_x0000_s24586" name="" r:id="rId1" imgW="3738880" imgH="281305" progId="Visio.Drawing.11">
                  <p:embed/>
                </p:oleObj>
              </mc:Choice>
              <mc:Fallback>
                <p:oleObj name="" r:id="rId1" imgW="3738880" imgH="281305" progId="Visio.Drawing.11">
                  <p:embed/>
                  <p:pic>
                    <p:nvPicPr>
                      <p:cNvPr id="0" name="Object 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6800" y="4500563"/>
                        <a:ext cx="7572375" cy="5715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timing>
    <p:tnLst>
      <p:par>
        <p:cTn id="1" dur="indefinite" restart="never" nodeType="tmRoot"/>
      </p:par>
    </p:tn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Text Box 2"/>
          <p:cNvSpPr txBox="1">
            <a:spLocks noChangeArrowheads="1"/>
          </p:cNvSpPr>
          <p:nvPr/>
        </p:nvSpPr>
        <p:spPr bwMode="auto">
          <a:xfrm>
            <a:off x="1066800" y="1116013"/>
            <a:ext cx="7239000" cy="4494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eaLnBrk="1" hangingPunct="1">
              <a:spcBef>
                <a:spcPct val="50000"/>
              </a:spcBef>
            </a:pPr>
            <a:r>
              <a:rPr kumimoji="1" lang="zh-CN" altLang="en-US" sz="2800" b="1" dirty="0">
                <a:solidFill>
                  <a:srgbClr val="000000"/>
                </a:solidFill>
                <a:latin typeface="Times New Roman" panose="02020503050405090304" pitchFamily="18" charset="0"/>
                <a:ea typeface="楷体_GB2312" pitchFamily="49" charset="-122"/>
              </a:rPr>
              <a:t>存放学生表的结构体数组</a:t>
            </a:r>
            <a:r>
              <a:rPr kumimoji="1" lang="en-US" altLang="zh-CN" sz="2800" b="1" dirty="0">
                <a:solidFill>
                  <a:srgbClr val="000000"/>
                </a:solidFill>
                <a:latin typeface="Times New Roman" panose="02020503050405090304" pitchFamily="18" charset="0"/>
                <a:ea typeface="楷体_GB2312" pitchFamily="49" charset="-122"/>
              </a:rPr>
              <a:t>Stud</a:t>
            </a:r>
            <a:r>
              <a:rPr kumimoji="1" lang="zh-CN" altLang="en-US" sz="2800" b="1" dirty="0">
                <a:solidFill>
                  <a:srgbClr val="000000"/>
                </a:solidFill>
                <a:latin typeface="Times New Roman" panose="02020503050405090304" pitchFamily="18" charset="0"/>
                <a:ea typeface="楷体_GB2312" pitchFamily="49" charset="-122"/>
              </a:rPr>
              <a:t>定义为：</a:t>
            </a:r>
            <a:endParaRPr kumimoji="1" lang="zh-CN" altLang="en-US" sz="2800" b="1" dirty="0">
              <a:solidFill>
                <a:srgbClr val="000000"/>
              </a:solidFill>
              <a:latin typeface="Times New Roman" panose="02020503050405090304" pitchFamily="18" charset="0"/>
              <a:ea typeface="楷体_GB2312" pitchFamily="49" charset="-122"/>
            </a:endParaRPr>
          </a:p>
          <a:p>
            <a:pPr algn="just" eaLnBrk="1" hangingPunct="1">
              <a:spcBef>
                <a:spcPct val="50000"/>
              </a:spcBef>
            </a:pPr>
            <a:r>
              <a:rPr kumimoji="1" lang="zh-CN" altLang="en-US" sz="2800" b="1" dirty="0">
                <a:solidFill>
                  <a:srgbClr val="000000"/>
                </a:solidFill>
                <a:latin typeface="Times New Roman" panose="02020503050405090304" pitchFamily="18" charset="0"/>
                <a:ea typeface="楷体_GB2312" pitchFamily="49" charset="-122"/>
              </a:rPr>
              <a:t>  </a:t>
            </a:r>
            <a:r>
              <a:rPr kumimoji="1" lang="en-US" altLang="zh-CN" sz="2400" b="1" dirty="0" err="1">
                <a:solidFill>
                  <a:srgbClr val="000000"/>
                </a:solidFill>
                <a:latin typeface="Times New Roman" panose="02020503050405090304" pitchFamily="18" charset="0"/>
                <a:ea typeface="楷体_GB2312" pitchFamily="49" charset="-122"/>
              </a:rPr>
              <a:t>struct</a:t>
            </a:r>
            <a:r>
              <a:rPr kumimoji="1" lang="en-US" altLang="zh-CN" sz="2400" b="1" dirty="0">
                <a:solidFill>
                  <a:srgbClr val="000000"/>
                </a:solidFill>
                <a:latin typeface="Times New Roman" panose="02020503050405090304" pitchFamily="18" charset="0"/>
                <a:ea typeface="楷体_GB2312" pitchFamily="49" charset="-122"/>
              </a:rPr>
              <a:t>   </a:t>
            </a:r>
            <a:endParaRPr kumimoji="1" lang="en-US" altLang="zh-CN" sz="2400" b="1" dirty="0">
              <a:solidFill>
                <a:srgbClr val="000000"/>
              </a:solidFill>
              <a:latin typeface="Times New Roman" panose="02020503050405090304" pitchFamily="18" charset="0"/>
              <a:ea typeface="楷体_GB2312" pitchFamily="49" charset="-122"/>
            </a:endParaRPr>
          </a:p>
          <a:p>
            <a:pPr algn="just" eaLnBrk="1" hangingPunct="1">
              <a:spcBef>
                <a:spcPct val="50000"/>
              </a:spcBef>
            </a:pPr>
            <a:r>
              <a:rPr kumimoji="1" lang="en-US" altLang="zh-CN" sz="2400" b="1" dirty="0">
                <a:solidFill>
                  <a:srgbClr val="000000"/>
                </a:solidFill>
                <a:latin typeface="Times New Roman" panose="02020503050405090304" pitchFamily="18" charset="0"/>
                <a:ea typeface="楷体_GB2312" pitchFamily="49" charset="-122"/>
              </a:rPr>
              <a:t>  {	</a:t>
            </a:r>
            <a:r>
              <a:rPr kumimoji="1" lang="en-US" altLang="zh-CN" sz="2400" b="1" dirty="0" err="1">
                <a:solidFill>
                  <a:srgbClr val="000000"/>
                </a:solidFill>
                <a:latin typeface="Times New Roman" panose="02020503050405090304" pitchFamily="18" charset="0"/>
                <a:ea typeface="楷体_GB2312" pitchFamily="49" charset="-122"/>
              </a:rPr>
              <a:t>int</a:t>
            </a:r>
            <a:r>
              <a:rPr kumimoji="1" lang="en-US" altLang="zh-CN" sz="2400" b="1" dirty="0">
                <a:solidFill>
                  <a:srgbClr val="000000"/>
                </a:solidFill>
                <a:latin typeface="Times New Roman" panose="02020503050405090304" pitchFamily="18" charset="0"/>
                <a:ea typeface="楷体_GB2312" pitchFamily="49" charset="-122"/>
              </a:rPr>
              <a:t> no;                 /*</a:t>
            </a:r>
            <a:r>
              <a:rPr kumimoji="1" lang="zh-CN" altLang="en-US" sz="2400" b="1" dirty="0">
                <a:solidFill>
                  <a:srgbClr val="000000"/>
                </a:solidFill>
                <a:latin typeface="Times New Roman" panose="02020503050405090304" pitchFamily="18" charset="0"/>
                <a:ea typeface="楷体_GB2312" pitchFamily="49" charset="-122"/>
              </a:rPr>
              <a:t>存储学号*</a:t>
            </a:r>
            <a:r>
              <a:rPr kumimoji="1" lang="en-US" altLang="zh-CN" sz="2400" b="1" dirty="0">
                <a:solidFill>
                  <a:srgbClr val="000000"/>
                </a:solidFill>
                <a:latin typeface="Times New Roman" panose="02020503050405090304" pitchFamily="18" charset="0"/>
                <a:ea typeface="楷体_GB2312" pitchFamily="49" charset="-122"/>
              </a:rPr>
              <a:t>/</a:t>
            </a:r>
            <a:endParaRPr kumimoji="1" lang="en-US" altLang="zh-CN" sz="2400" b="1" dirty="0">
              <a:solidFill>
                <a:srgbClr val="000000"/>
              </a:solidFill>
              <a:latin typeface="Times New Roman" panose="02020503050405090304" pitchFamily="18" charset="0"/>
              <a:ea typeface="楷体_GB2312" pitchFamily="49" charset="-122"/>
            </a:endParaRPr>
          </a:p>
          <a:p>
            <a:pPr algn="just" eaLnBrk="1" hangingPunct="1">
              <a:spcBef>
                <a:spcPct val="50000"/>
              </a:spcBef>
            </a:pPr>
            <a:r>
              <a:rPr kumimoji="1" lang="en-US" altLang="zh-CN" sz="2400" b="1" dirty="0">
                <a:solidFill>
                  <a:srgbClr val="000000"/>
                </a:solidFill>
                <a:latin typeface="Times New Roman" panose="02020503050405090304" pitchFamily="18" charset="0"/>
                <a:ea typeface="楷体_GB2312" pitchFamily="49" charset="-122"/>
              </a:rPr>
              <a:t>  	char name[8];    /*</a:t>
            </a:r>
            <a:r>
              <a:rPr kumimoji="1" lang="zh-CN" altLang="en-US" sz="2400" b="1" dirty="0">
                <a:solidFill>
                  <a:srgbClr val="000000"/>
                </a:solidFill>
                <a:latin typeface="Times New Roman" panose="02020503050405090304" pitchFamily="18" charset="0"/>
                <a:ea typeface="楷体_GB2312" pitchFamily="49" charset="-122"/>
              </a:rPr>
              <a:t>存储姓名*</a:t>
            </a:r>
            <a:r>
              <a:rPr kumimoji="1" lang="en-US" altLang="zh-CN" sz="2400" b="1" dirty="0">
                <a:solidFill>
                  <a:srgbClr val="000000"/>
                </a:solidFill>
                <a:latin typeface="Times New Roman" panose="02020503050405090304" pitchFamily="18" charset="0"/>
                <a:ea typeface="楷体_GB2312" pitchFamily="49" charset="-122"/>
              </a:rPr>
              <a:t>/</a:t>
            </a:r>
            <a:endParaRPr kumimoji="1" lang="en-US" altLang="zh-CN" sz="2400" b="1" dirty="0">
              <a:solidFill>
                <a:srgbClr val="000000"/>
              </a:solidFill>
              <a:latin typeface="Times New Roman" panose="02020503050405090304" pitchFamily="18" charset="0"/>
              <a:ea typeface="楷体_GB2312" pitchFamily="49" charset="-122"/>
            </a:endParaRPr>
          </a:p>
          <a:p>
            <a:pPr algn="just" eaLnBrk="1" hangingPunct="1">
              <a:spcBef>
                <a:spcPct val="50000"/>
              </a:spcBef>
            </a:pPr>
            <a:r>
              <a:rPr kumimoji="1" lang="en-US" altLang="zh-CN" sz="2400" b="1" dirty="0">
                <a:solidFill>
                  <a:srgbClr val="000000"/>
                </a:solidFill>
                <a:latin typeface="Times New Roman" panose="02020503050405090304" pitchFamily="18" charset="0"/>
                <a:ea typeface="楷体_GB2312" pitchFamily="49" charset="-122"/>
              </a:rPr>
              <a:t> 	char sex[2];       /*</a:t>
            </a:r>
            <a:r>
              <a:rPr kumimoji="1" lang="zh-CN" altLang="en-US" sz="2400" b="1" dirty="0">
                <a:solidFill>
                  <a:srgbClr val="000000"/>
                </a:solidFill>
                <a:latin typeface="Times New Roman" panose="02020503050405090304" pitchFamily="18" charset="0"/>
                <a:ea typeface="楷体_GB2312" pitchFamily="49" charset="-122"/>
              </a:rPr>
              <a:t>存储性别*</a:t>
            </a:r>
            <a:r>
              <a:rPr kumimoji="1" lang="en-US" altLang="zh-CN" sz="2400" b="1" dirty="0">
                <a:solidFill>
                  <a:srgbClr val="000000"/>
                </a:solidFill>
                <a:latin typeface="Times New Roman" panose="02020503050405090304" pitchFamily="18" charset="0"/>
                <a:ea typeface="楷体_GB2312" pitchFamily="49" charset="-122"/>
              </a:rPr>
              <a:t>/</a:t>
            </a:r>
            <a:endParaRPr kumimoji="1" lang="en-US" altLang="zh-CN" sz="2400" b="1" dirty="0">
              <a:solidFill>
                <a:srgbClr val="000000"/>
              </a:solidFill>
              <a:latin typeface="Times New Roman" panose="02020503050405090304" pitchFamily="18" charset="0"/>
              <a:ea typeface="楷体_GB2312" pitchFamily="49" charset="-122"/>
            </a:endParaRPr>
          </a:p>
          <a:p>
            <a:pPr algn="just" eaLnBrk="1" hangingPunct="1">
              <a:spcBef>
                <a:spcPct val="50000"/>
              </a:spcBef>
            </a:pPr>
            <a:r>
              <a:rPr kumimoji="1" lang="en-US" altLang="zh-CN" sz="2400" b="1" dirty="0">
                <a:solidFill>
                  <a:srgbClr val="000000"/>
                </a:solidFill>
                <a:latin typeface="Times New Roman" panose="02020503050405090304" pitchFamily="18" charset="0"/>
                <a:ea typeface="楷体_GB2312" pitchFamily="49" charset="-122"/>
              </a:rPr>
              <a:t> 	char class[4];    /*</a:t>
            </a:r>
            <a:r>
              <a:rPr kumimoji="1" lang="zh-CN" altLang="en-US" sz="2400" b="1" dirty="0">
                <a:solidFill>
                  <a:srgbClr val="000000"/>
                </a:solidFill>
                <a:latin typeface="Times New Roman" panose="02020503050405090304" pitchFamily="18" charset="0"/>
                <a:ea typeface="楷体_GB2312" pitchFamily="49" charset="-122"/>
              </a:rPr>
              <a:t>存储班号*</a:t>
            </a:r>
            <a:r>
              <a:rPr kumimoji="1" lang="en-US" altLang="zh-CN" sz="2400" b="1" dirty="0">
                <a:solidFill>
                  <a:srgbClr val="000000"/>
                </a:solidFill>
                <a:latin typeface="Times New Roman" panose="02020503050405090304" pitchFamily="18" charset="0"/>
                <a:ea typeface="楷体_GB2312" pitchFamily="49" charset="-122"/>
              </a:rPr>
              <a:t>/</a:t>
            </a:r>
            <a:endParaRPr kumimoji="1" lang="en-US" altLang="zh-CN" sz="2400" b="1" dirty="0">
              <a:solidFill>
                <a:srgbClr val="000000"/>
              </a:solidFill>
              <a:latin typeface="Times New Roman" panose="02020503050405090304" pitchFamily="18" charset="0"/>
              <a:ea typeface="楷体_GB2312" pitchFamily="49" charset="-122"/>
            </a:endParaRPr>
          </a:p>
          <a:p>
            <a:pPr algn="just" eaLnBrk="1" hangingPunct="1">
              <a:spcBef>
                <a:spcPct val="50000"/>
              </a:spcBef>
            </a:pPr>
            <a:r>
              <a:rPr kumimoji="1" lang="en-US" altLang="zh-CN" sz="2400" b="1" dirty="0">
                <a:solidFill>
                  <a:srgbClr val="000000"/>
                </a:solidFill>
                <a:latin typeface="Times New Roman" panose="02020503050405090304" pitchFamily="18" charset="0"/>
                <a:ea typeface="楷体_GB2312" pitchFamily="49" charset="-122"/>
              </a:rPr>
              <a:t>  }  Stud[7]={{1,“</a:t>
            </a:r>
            <a:r>
              <a:rPr kumimoji="1" lang="zh-CN" altLang="en-US" sz="2400" b="1" dirty="0">
                <a:solidFill>
                  <a:srgbClr val="000000"/>
                </a:solidFill>
                <a:latin typeface="Times New Roman" panose="02020503050405090304" pitchFamily="18" charset="0"/>
                <a:ea typeface="楷体_GB2312" pitchFamily="49" charset="-122"/>
              </a:rPr>
              <a:t>张斌”</a:t>
            </a:r>
            <a:r>
              <a:rPr kumimoji="1" lang="en-US" altLang="zh-CN" sz="2400" b="1" dirty="0">
                <a:solidFill>
                  <a:srgbClr val="000000"/>
                </a:solidFill>
                <a:latin typeface="Times New Roman" panose="02020503050405090304" pitchFamily="18" charset="0"/>
                <a:ea typeface="楷体_GB2312" pitchFamily="49" charset="-122"/>
              </a:rPr>
              <a:t>,“</a:t>
            </a:r>
            <a:r>
              <a:rPr kumimoji="1" lang="zh-CN" altLang="en-US" sz="2400" b="1" dirty="0">
                <a:solidFill>
                  <a:srgbClr val="000000"/>
                </a:solidFill>
                <a:latin typeface="Times New Roman" panose="02020503050405090304" pitchFamily="18" charset="0"/>
                <a:ea typeface="楷体_GB2312" pitchFamily="49" charset="-122"/>
              </a:rPr>
              <a:t>男”</a:t>
            </a:r>
            <a:r>
              <a:rPr kumimoji="1" lang="en-US" altLang="zh-CN" sz="2400" b="1" dirty="0">
                <a:solidFill>
                  <a:srgbClr val="000000"/>
                </a:solidFill>
                <a:latin typeface="Times New Roman" panose="02020503050405090304" pitchFamily="18" charset="0"/>
                <a:ea typeface="楷体_GB2312" pitchFamily="49" charset="-122"/>
              </a:rPr>
              <a:t>,“9901”},…,</a:t>
            </a:r>
            <a:endParaRPr kumimoji="1" lang="en-US" altLang="zh-CN" sz="2400" b="1" dirty="0">
              <a:solidFill>
                <a:srgbClr val="000000"/>
              </a:solidFill>
              <a:latin typeface="Times New Roman" panose="02020503050405090304" pitchFamily="18" charset="0"/>
              <a:ea typeface="楷体_GB2312" pitchFamily="49" charset="-122"/>
            </a:endParaRPr>
          </a:p>
          <a:p>
            <a:pPr algn="just" eaLnBrk="1" hangingPunct="1">
              <a:spcBef>
                <a:spcPct val="50000"/>
              </a:spcBef>
            </a:pPr>
            <a:r>
              <a:rPr kumimoji="1" lang="en-US" altLang="zh-CN" sz="2400" b="1" dirty="0">
                <a:solidFill>
                  <a:srgbClr val="000000"/>
                </a:solidFill>
                <a:latin typeface="Times New Roman" panose="02020503050405090304" pitchFamily="18" charset="0"/>
                <a:ea typeface="楷体_GB2312" pitchFamily="49" charset="-122"/>
              </a:rPr>
              <a:t>                                         {5,"</a:t>
            </a:r>
            <a:r>
              <a:rPr kumimoji="1" lang="zh-CN" altLang="en-US" sz="2400" b="1" dirty="0">
                <a:solidFill>
                  <a:srgbClr val="000000"/>
                </a:solidFill>
                <a:latin typeface="Times New Roman" panose="02020503050405090304" pitchFamily="18" charset="0"/>
                <a:ea typeface="楷体_GB2312" pitchFamily="49" charset="-122"/>
              </a:rPr>
              <a:t>王萍</a:t>
            </a:r>
            <a:r>
              <a:rPr kumimoji="1" lang="en-US" altLang="zh-CN" sz="2400" b="1" dirty="0">
                <a:solidFill>
                  <a:srgbClr val="000000"/>
                </a:solidFill>
                <a:latin typeface="Times New Roman" panose="02020503050405090304" pitchFamily="18" charset="0"/>
                <a:ea typeface="楷体_GB2312" pitchFamily="49" charset="-122"/>
              </a:rPr>
              <a:t>","</a:t>
            </a:r>
            <a:r>
              <a:rPr kumimoji="1" lang="zh-CN" altLang="en-US" sz="2400" b="1" dirty="0">
                <a:solidFill>
                  <a:srgbClr val="000000"/>
                </a:solidFill>
                <a:latin typeface="Times New Roman" panose="02020503050405090304" pitchFamily="18" charset="0"/>
                <a:ea typeface="楷体_GB2312" pitchFamily="49" charset="-122"/>
              </a:rPr>
              <a:t>女</a:t>
            </a:r>
            <a:r>
              <a:rPr kumimoji="1" lang="en-US" altLang="zh-CN" sz="2400" b="1" dirty="0">
                <a:solidFill>
                  <a:srgbClr val="000000"/>
                </a:solidFill>
                <a:latin typeface="Times New Roman" panose="02020503050405090304" pitchFamily="18" charset="0"/>
                <a:ea typeface="楷体_GB2312" pitchFamily="49" charset="-122"/>
              </a:rPr>
              <a:t>","9901"}};</a:t>
            </a:r>
            <a:endParaRPr kumimoji="1" lang="en-US" altLang="zh-CN" sz="2400" b="1" dirty="0">
              <a:solidFill>
                <a:srgbClr val="000000"/>
              </a:solidFill>
              <a:latin typeface="Times New Roman" panose="02020503050405090304" pitchFamily="18" charset="0"/>
              <a:ea typeface="楷体_GB2312" pitchFamily="49" charset="-122"/>
            </a:endParaRPr>
          </a:p>
        </p:txBody>
      </p:sp>
      <p:sp>
        <p:nvSpPr>
          <p:cNvPr id="46083" name="灯片编号占位符 4"/>
          <p:cNvSpPr>
            <a:spLocks noGrp="1"/>
          </p:cNvSpPr>
          <p:nvPr>
            <p:ph type="sldNum" sz="quarter" idx="4294967295"/>
          </p:nvPr>
        </p:nvSpPr>
        <p:spPr bwMode="auto">
          <a:xfrm>
            <a:off x="7956550" y="6356350"/>
            <a:ext cx="730250" cy="3651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F2C82D84-109B-4E03-A2CB-990B54A7A87F}" type="slidenum">
              <a:rPr lang="en-US" altLang="zh-CN"/>
            </a:fld>
            <a:endParaRPr lang="en-US" altLang="zh-CN"/>
          </a:p>
        </p:txBody>
      </p:sp>
      <p:sp>
        <p:nvSpPr>
          <p:cNvPr id="46084"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6" name="Rectangle 2"/>
          <p:cNvSpPr txBox="1">
            <a:spLocks noChangeArrowheads="1"/>
          </p:cNvSpPr>
          <p:nvPr/>
        </p:nvSpPr>
        <p:spPr>
          <a:xfrm>
            <a:off x="900113" y="476672"/>
            <a:ext cx="6788869" cy="638845"/>
          </a:xfrm>
          <a:prstGeom prst="rect">
            <a:avLst/>
          </a:prstGeom>
        </p:spPr>
        <p:txBody>
          <a:bodyPr/>
          <a:lstStyle>
            <a:lvl1pPr algn="l" rtl="0" eaLnBrk="0" fontAlgn="base" hangingPunct="0">
              <a:spcBef>
                <a:spcPct val="0"/>
              </a:spcBef>
              <a:spcAft>
                <a:spcPct val="0"/>
              </a:spcAft>
              <a:defRPr sz="3200">
                <a:solidFill>
                  <a:schemeClr val="accent2"/>
                </a:solidFill>
                <a:latin typeface="+mj-lt"/>
                <a:ea typeface="+mj-ea"/>
                <a:cs typeface="+mj-cs"/>
              </a:defRPr>
            </a:lvl1pPr>
            <a:lvl2pPr algn="l" rtl="0" eaLnBrk="0" fontAlgn="base" hangingPunct="0">
              <a:spcBef>
                <a:spcPct val="0"/>
              </a:spcBef>
              <a:spcAft>
                <a:spcPct val="0"/>
              </a:spcAft>
              <a:defRPr sz="3200">
                <a:solidFill>
                  <a:schemeClr val="accent2"/>
                </a:solidFill>
                <a:latin typeface="Garamond" pitchFamily="18" charset="0"/>
                <a:ea typeface="宋体" pitchFamily="2" charset="-122"/>
              </a:defRPr>
            </a:lvl2pPr>
            <a:lvl3pPr algn="l" rtl="0" eaLnBrk="0" fontAlgn="base" hangingPunct="0">
              <a:spcBef>
                <a:spcPct val="0"/>
              </a:spcBef>
              <a:spcAft>
                <a:spcPct val="0"/>
              </a:spcAft>
              <a:defRPr sz="3200">
                <a:solidFill>
                  <a:schemeClr val="accent2"/>
                </a:solidFill>
                <a:latin typeface="Garamond" pitchFamily="18" charset="0"/>
                <a:ea typeface="宋体" pitchFamily="2" charset="-122"/>
              </a:defRPr>
            </a:lvl3pPr>
            <a:lvl4pPr algn="l" rtl="0" eaLnBrk="0" fontAlgn="base" hangingPunct="0">
              <a:spcBef>
                <a:spcPct val="0"/>
              </a:spcBef>
              <a:spcAft>
                <a:spcPct val="0"/>
              </a:spcAft>
              <a:defRPr sz="3200">
                <a:solidFill>
                  <a:schemeClr val="accent2"/>
                </a:solidFill>
                <a:latin typeface="Garamond" pitchFamily="18" charset="0"/>
                <a:ea typeface="宋体" pitchFamily="2" charset="-122"/>
              </a:defRPr>
            </a:lvl4pPr>
            <a:lvl5pPr algn="l" rtl="0" eaLnBrk="0" fontAlgn="base" hangingPunct="0">
              <a:spcBef>
                <a:spcPct val="0"/>
              </a:spcBef>
              <a:spcAft>
                <a:spcPct val="0"/>
              </a:spcAft>
              <a:defRPr sz="3200">
                <a:solidFill>
                  <a:schemeClr val="accent2"/>
                </a:solidFill>
                <a:latin typeface="Garamond" pitchFamily="18" charset="0"/>
                <a:ea typeface="宋体" pitchFamily="2" charset="-122"/>
              </a:defRPr>
            </a:lvl5pPr>
            <a:lvl6pPr marL="457200" algn="l" rtl="0" fontAlgn="base">
              <a:spcBef>
                <a:spcPct val="0"/>
              </a:spcBef>
              <a:spcAft>
                <a:spcPct val="0"/>
              </a:spcAft>
              <a:defRPr sz="3200">
                <a:solidFill>
                  <a:schemeClr val="accent2"/>
                </a:solidFill>
                <a:latin typeface="Garamond" pitchFamily="18" charset="0"/>
                <a:ea typeface="宋体" pitchFamily="2" charset="-122"/>
              </a:defRPr>
            </a:lvl6pPr>
            <a:lvl7pPr marL="914400" algn="l" rtl="0" fontAlgn="base">
              <a:spcBef>
                <a:spcPct val="0"/>
              </a:spcBef>
              <a:spcAft>
                <a:spcPct val="0"/>
              </a:spcAft>
              <a:defRPr sz="3200">
                <a:solidFill>
                  <a:schemeClr val="accent2"/>
                </a:solidFill>
                <a:latin typeface="Garamond" pitchFamily="18" charset="0"/>
                <a:ea typeface="宋体" pitchFamily="2" charset="-122"/>
              </a:defRPr>
            </a:lvl7pPr>
            <a:lvl8pPr marL="1371600" algn="l" rtl="0" fontAlgn="base">
              <a:spcBef>
                <a:spcPct val="0"/>
              </a:spcBef>
              <a:spcAft>
                <a:spcPct val="0"/>
              </a:spcAft>
              <a:defRPr sz="3200">
                <a:solidFill>
                  <a:schemeClr val="accent2"/>
                </a:solidFill>
                <a:latin typeface="Garamond" pitchFamily="18" charset="0"/>
                <a:ea typeface="宋体" pitchFamily="2" charset="-122"/>
              </a:defRPr>
            </a:lvl8pPr>
            <a:lvl9pPr marL="1828800" algn="l" rtl="0" fontAlgn="base">
              <a:spcBef>
                <a:spcPct val="0"/>
              </a:spcBef>
              <a:spcAft>
                <a:spcPct val="0"/>
              </a:spcAft>
              <a:defRPr sz="3200">
                <a:solidFill>
                  <a:schemeClr val="accent2"/>
                </a:solidFill>
                <a:latin typeface="Garamond" pitchFamily="18" charset="0"/>
                <a:ea typeface="宋体" pitchFamily="2" charset="-122"/>
              </a:defRPr>
            </a:lvl9pPr>
          </a:lstStyle>
          <a:p>
            <a:pPr eaLnBrk="1" hangingPunct="1"/>
            <a:r>
              <a:rPr lang="en-US" altLang="zh-CN" kern="0" smtClean="0">
                <a:solidFill>
                  <a:srgbClr val="333399"/>
                </a:solidFill>
              </a:rPr>
              <a:t>1.4.3 </a:t>
            </a:r>
            <a:r>
              <a:rPr lang="zh-CN" altLang="en-US" kern="0" smtClean="0"/>
              <a:t>链表</a:t>
            </a:r>
            <a:endParaRPr lang="en-US" altLang="zh-CN" kern="0" dirty="0" smtClean="0"/>
          </a:p>
        </p:txBody>
      </p:sp>
    </p:spTree>
  </p:cSld>
  <p:clrMapOvr>
    <a:masterClrMapping/>
  </p:clrMapOvr>
  <p:timing>
    <p:tnLst>
      <p:par>
        <p:cTn id="1" dur="indefinite" restart="never" nodeType="tmRoot"/>
      </p:par>
    </p:tn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Text Box 2"/>
          <p:cNvSpPr txBox="1">
            <a:spLocks noChangeArrowheads="1"/>
          </p:cNvSpPr>
          <p:nvPr/>
        </p:nvSpPr>
        <p:spPr bwMode="auto">
          <a:xfrm>
            <a:off x="762000" y="1125538"/>
            <a:ext cx="7696200" cy="2314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lnSpc>
                <a:spcPct val="130000"/>
              </a:lnSpc>
              <a:spcBef>
                <a:spcPct val="50000"/>
              </a:spcBef>
            </a:pPr>
            <a:r>
              <a:rPr kumimoji="1" lang="en-US" altLang="zh-CN" sz="2800" b="1">
                <a:solidFill>
                  <a:srgbClr val="000000"/>
                </a:solidFill>
                <a:latin typeface="Times New Roman" panose="02020503050405090304" pitchFamily="18" charset="0"/>
                <a:ea typeface="楷体_GB2312" pitchFamily="49" charset="-122"/>
              </a:rPr>
              <a:t>      </a:t>
            </a:r>
            <a:r>
              <a:rPr kumimoji="1" lang="zh-CN" altLang="en-US" sz="2800" b="1">
                <a:solidFill>
                  <a:srgbClr val="000000"/>
                </a:solidFill>
                <a:latin typeface="Times New Roman" panose="02020503050405090304" pitchFamily="18" charset="0"/>
                <a:ea typeface="楷体_GB2312" pitchFamily="49" charset="-122"/>
              </a:rPr>
              <a:t>结构体数组</a:t>
            </a:r>
            <a:r>
              <a:rPr kumimoji="1" lang="en-US" altLang="zh-CN" sz="2800" b="1">
                <a:solidFill>
                  <a:srgbClr val="000000"/>
                </a:solidFill>
                <a:latin typeface="Times New Roman" panose="02020503050405090304" pitchFamily="18" charset="0"/>
                <a:ea typeface="楷体_GB2312" pitchFamily="49" charset="-122"/>
              </a:rPr>
              <a:t>Stud</a:t>
            </a:r>
            <a:r>
              <a:rPr kumimoji="1" lang="zh-CN" altLang="en-US" sz="2800" b="1">
                <a:solidFill>
                  <a:srgbClr val="000000"/>
                </a:solidFill>
                <a:latin typeface="Times New Roman" panose="02020503050405090304" pitchFamily="18" charset="0"/>
                <a:ea typeface="楷体_GB2312" pitchFamily="49" charset="-122"/>
              </a:rPr>
              <a:t>各元素在内存中顺序存放</a:t>
            </a:r>
            <a:r>
              <a:rPr kumimoji="1" lang="en-US" altLang="zh-CN" sz="2800" b="1">
                <a:solidFill>
                  <a:srgbClr val="000000"/>
                </a:solidFill>
                <a:latin typeface="Times New Roman" panose="02020503050405090304" pitchFamily="18" charset="0"/>
                <a:ea typeface="楷体_GB2312" pitchFamily="49" charset="-122"/>
              </a:rPr>
              <a:t>,</a:t>
            </a:r>
            <a:r>
              <a:rPr kumimoji="1" lang="zh-CN" altLang="en-US" sz="2800" b="1">
                <a:solidFill>
                  <a:srgbClr val="000000"/>
                </a:solidFill>
                <a:latin typeface="Times New Roman" panose="02020503050405090304" pitchFamily="18" charset="0"/>
                <a:ea typeface="楷体_GB2312" pitchFamily="49" charset="-122"/>
              </a:rPr>
              <a:t>即第</a:t>
            </a:r>
            <a:r>
              <a:rPr kumimoji="1" lang="en-US" altLang="zh-CN" sz="2800" b="1">
                <a:solidFill>
                  <a:srgbClr val="000000"/>
                </a:solidFill>
                <a:latin typeface="Times New Roman" panose="02020503050405090304" pitchFamily="18" charset="0"/>
                <a:ea typeface="楷体_GB2312" pitchFamily="49" charset="-122"/>
              </a:rPr>
              <a:t>i(1≤i≤6)</a:t>
            </a:r>
            <a:r>
              <a:rPr kumimoji="1" lang="zh-CN" altLang="en-US" sz="2800" b="1">
                <a:solidFill>
                  <a:srgbClr val="000000"/>
                </a:solidFill>
                <a:latin typeface="Times New Roman" panose="02020503050405090304" pitchFamily="18" charset="0"/>
                <a:ea typeface="楷体_GB2312" pitchFamily="49" charset="-122"/>
              </a:rPr>
              <a:t>个学生对应的元素</a:t>
            </a:r>
            <a:r>
              <a:rPr kumimoji="1" lang="en-US" altLang="zh-CN" sz="2800" b="1">
                <a:solidFill>
                  <a:srgbClr val="000000"/>
                </a:solidFill>
                <a:latin typeface="Times New Roman" panose="02020503050405090304" pitchFamily="18" charset="0"/>
                <a:ea typeface="楷体_GB2312" pitchFamily="49" charset="-122"/>
              </a:rPr>
              <a:t>Stud[i]</a:t>
            </a:r>
            <a:r>
              <a:rPr kumimoji="1" lang="zh-CN" altLang="en-US" sz="2800" b="1">
                <a:solidFill>
                  <a:srgbClr val="000000"/>
                </a:solidFill>
                <a:latin typeface="Times New Roman" panose="02020503050405090304" pitchFamily="18" charset="0"/>
                <a:ea typeface="楷体_GB2312" pitchFamily="49" charset="-122"/>
              </a:rPr>
              <a:t>存放在第</a:t>
            </a:r>
            <a:r>
              <a:rPr kumimoji="1" lang="en-US" altLang="zh-CN" sz="2800" b="1">
                <a:solidFill>
                  <a:srgbClr val="000000"/>
                </a:solidFill>
                <a:latin typeface="Times New Roman" panose="02020503050405090304" pitchFamily="18" charset="0"/>
                <a:ea typeface="楷体_GB2312" pitchFamily="49" charset="-122"/>
              </a:rPr>
              <a:t>i+1</a:t>
            </a:r>
            <a:r>
              <a:rPr kumimoji="1" lang="zh-CN" altLang="en-US" sz="2800" b="1">
                <a:solidFill>
                  <a:srgbClr val="000000"/>
                </a:solidFill>
                <a:latin typeface="Times New Roman" panose="02020503050405090304" pitchFamily="18" charset="0"/>
                <a:ea typeface="楷体_GB2312" pitchFamily="49" charset="-122"/>
              </a:rPr>
              <a:t>个学生对应的元素</a:t>
            </a:r>
            <a:r>
              <a:rPr kumimoji="1" lang="en-US" altLang="zh-CN" sz="2800" b="1">
                <a:solidFill>
                  <a:srgbClr val="000000"/>
                </a:solidFill>
                <a:latin typeface="Times New Roman" panose="02020503050405090304" pitchFamily="18" charset="0"/>
                <a:ea typeface="楷体_GB2312" pitchFamily="49" charset="-122"/>
              </a:rPr>
              <a:t>Stud[i+1]</a:t>
            </a:r>
            <a:r>
              <a:rPr kumimoji="1" lang="zh-CN" altLang="en-US" sz="2800" b="1">
                <a:solidFill>
                  <a:srgbClr val="000000"/>
                </a:solidFill>
                <a:latin typeface="Times New Roman" panose="02020503050405090304" pitchFamily="18" charset="0"/>
                <a:ea typeface="楷体_GB2312" pitchFamily="49" charset="-122"/>
              </a:rPr>
              <a:t>之前</a:t>
            </a:r>
            <a:r>
              <a:rPr kumimoji="1" lang="en-US" altLang="zh-CN" sz="2800" b="1">
                <a:solidFill>
                  <a:srgbClr val="000000"/>
                </a:solidFill>
                <a:latin typeface="Times New Roman" panose="02020503050405090304" pitchFamily="18" charset="0"/>
                <a:ea typeface="楷体_GB2312" pitchFamily="49" charset="-122"/>
              </a:rPr>
              <a:t>,Stud[i+1]</a:t>
            </a:r>
            <a:r>
              <a:rPr kumimoji="1" lang="zh-CN" altLang="en-US" sz="2800" b="1">
                <a:solidFill>
                  <a:srgbClr val="000000"/>
                </a:solidFill>
                <a:latin typeface="Times New Roman" panose="02020503050405090304" pitchFamily="18" charset="0"/>
                <a:ea typeface="楷体_GB2312" pitchFamily="49" charset="-122"/>
              </a:rPr>
              <a:t>正好在</a:t>
            </a:r>
            <a:r>
              <a:rPr kumimoji="1" lang="en-US" altLang="zh-CN" sz="2800" b="1">
                <a:solidFill>
                  <a:srgbClr val="000000"/>
                </a:solidFill>
                <a:latin typeface="Times New Roman" panose="02020503050405090304" pitchFamily="18" charset="0"/>
                <a:ea typeface="楷体_GB2312" pitchFamily="49" charset="-122"/>
              </a:rPr>
              <a:t>Stud[i]</a:t>
            </a:r>
            <a:r>
              <a:rPr kumimoji="1" lang="zh-CN" altLang="en-US" sz="2800" b="1">
                <a:solidFill>
                  <a:srgbClr val="000000"/>
                </a:solidFill>
                <a:latin typeface="Times New Roman" panose="02020503050405090304" pitchFamily="18" charset="0"/>
                <a:ea typeface="楷体_GB2312" pitchFamily="49" charset="-122"/>
              </a:rPr>
              <a:t>之后。</a:t>
            </a:r>
            <a:endParaRPr kumimoji="1" lang="zh-CN" altLang="en-US" sz="2800" b="1">
              <a:solidFill>
                <a:srgbClr val="000000"/>
              </a:solidFill>
              <a:latin typeface="Times New Roman" panose="02020503050405090304" pitchFamily="18" charset="0"/>
              <a:ea typeface="楷体_GB2312" pitchFamily="49" charset="-122"/>
            </a:endParaRPr>
          </a:p>
        </p:txBody>
      </p:sp>
      <p:grpSp>
        <p:nvGrpSpPr>
          <p:cNvPr id="2" name="Group 38"/>
          <p:cNvGrpSpPr/>
          <p:nvPr/>
        </p:nvGrpSpPr>
        <p:grpSpPr bwMode="auto">
          <a:xfrm>
            <a:off x="714375" y="3571875"/>
            <a:ext cx="7818438" cy="2312988"/>
            <a:chOff x="451" y="2256"/>
            <a:chExt cx="4925" cy="1457"/>
          </a:xfrm>
        </p:grpSpPr>
        <p:sp>
          <p:nvSpPr>
            <p:cNvPr id="47110" name="Rectangle 12"/>
            <p:cNvSpPr>
              <a:spLocks noChangeArrowheads="1"/>
            </p:cNvSpPr>
            <p:nvPr/>
          </p:nvSpPr>
          <p:spPr bwMode="auto">
            <a:xfrm>
              <a:off x="4837" y="2832"/>
              <a:ext cx="539" cy="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20000"/>
                </a:spcBef>
              </a:pPr>
              <a:r>
                <a:rPr lang="en-US" altLang="zh-CN" sz="2400">
                  <a:solidFill>
                    <a:srgbClr val="0033CC"/>
                  </a:solidFill>
                  <a:latin typeface="宋体" pitchFamily="2" charset="-122"/>
                </a:rPr>
                <a:t>9901</a:t>
              </a:r>
              <a:endParaRPr lang="en-US" altLang="zh-CN" sz="2400">
                <a:solidFill>
                  <a:srgbClr val="0033CC"/>
                </a:solidFill>
                <a:latin typeface="宋体" pitchFamily="2" charset="-122"/>
              </a:endParaRPr>
            </a:p>
          </p:txBody>
        </p:sp>
        <p:sp>
          <p:nvSpPr>
            <p:cNvPr id="47111" name="Rectangle 11"/>
            <p:cNvSpPr>
              <a:spLocks noChangeArrowheads="1"/>
            </p:cNvSpPr>
            <p:nvPr/>
          </p:nvSpPr>
          <p:spPr bwMode="auto">
            <a:xfrm>
              <a:off x="4299" y="2832"/>
              <a:ext cx="538" cy="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20000"/>
                </a:spcBef>
              </a:pPr>
              <a:r>
                <a:rPr lang="zh-CN" altLang="en-US" sz="2400">
                  <a:solidFill>
                    <a:srgbClr val="0033CC"/>
                  </a:solidFill>
                  <a:latin typeface="宋体" pitchFamily="2" charset="-122"/>
                </a:rPr>
                <a:t>女</a:t>
              </a:r>
              <a:endParaRPr lang="zh-CN" altLang="en-US" sz="2400">
                <a:solidFill>
                  <a:srgbClr val="0033CC"/>
                </a:solidFill>
                <a:latin typeface="宋体" pitchFamily="2" charset="-122"/>
              </a:endParaRPr>
            </a:p>
          </p:txBody>
        </p:sp>
        <p:sp>
          <p:nvSpPr>
            <p:cNvPr id="47112" name="Rectangle 10"/>
            <p:cNvSpPr>
              <a:spLocks noChangeArrowheads="1"/>
            </p:cNvSpPr>
            <p:nvPr/>
          </p:nvSpPr>
          <p:spPr bwMode="auto">
            <a:xfrm>
              <a:off x="3760" y="2832"/>
              <a:ext cx="539" cy="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20000"/>
                </a:spcBef>
              </a:pPr>
              <a:r>
                <a:rPr lang="zh-CN" altLang="en-US" sz="2400">
                  <a:solidFill>
                    <a:srgbClr val="0033CC"/>
                  </a:solidFill>
                  <a:latin typeface="宋体" pitchFamily="2" charset="-122"/>
                </a:rPr>
                <a:t>王萍</a:t>
              </a:r>
              <a:endParaRPr lang="zh-CN" altLang="en-US" sz="2400">
                <a:solidFill>
                  <a:srgbClr val="0033CC"/>
                </a:solidFill>
                <a:latin typeface="宋体" pitchFamily="2" charset="-122"/>
              </a:endParaRPr>
            </a:p>
          </p:txBody>
        </p:sp>
        <p:sp>
          <p:nvSpPr>
            <p:cNvPr id="47113" name="Rectangle 9"/>
            <p:cNvSpPr>
              <a:spLocks noChangeArrowheads="1"/>
            </p:cNvSpPr>
            <p:nvPr/>
          </p:nvSpPr>
          <p:spPr bwMode="auto">
            <a:xfrm>
              <a:off x="3221" y="2832"/>
              <a:ext cx="539" cy="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20000"/>
                </a:spcBef>
              </a:pPr>
              <a:r>
                <a:rPr lang="en-US" altLang="zh-CN" sz="2400">
                  <a:solidFill>
                    <a:srgbClr val="0033CC"/>
                  </a:solidFill>
                  <a:latin typeface="宋体" pitchFamily="2" charset="-122"/>
                </a:rPr>
                <a:t>5</a:t>
              </a:r>
              <a:endParaRPr lang="en-US" altLang="zh-CN" sz="2400">
                <a:solidFill>
                  <a:srgbClr val="0033CC"/>
                </a:solidFill>
                <a:latin typeface="宋体" pitchFamily="2" charset="-122"/>
              </a:endParaRPr>
            </a:p>
          </p:txBody>
        </p:sp>
        <p:sp>
          <p:nvSpPr>
            <p:cNvPr id="47114" name="Rectangle 8"/>
            <p:cNvSpPr>
              <a:spLocks noChangeArrowheads="1"/>
            </p:cNvSpPr>
            <p:nvPr/>
          </p:nvSpPr>
          <p:spPr bwMode="auto">
            <a:xfrm>
              <a:off x="2683" y="2832"/>
              <a:ext cx="538" cy="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20000"/>
                </a:spcBef>
              </a:pPr>
              <a:r>
                <a:rPr lang="en-US" altLang="zh-CN" sz="2400" b="1">
                  <a:solidFill>
                    <a:srgbClr val="0033CC"/>
                  </a:solidFill>
                </a:rPr>
                <a:t>…</a:t>
              </a:r>
              <a:endParaRPr lang="en-US" altLang="zh-CN" sz="2400" b="1">
                <a:solidFill>
                  <a:srgbClr val="0033CC"/>
                </a:solidFill>
                <a:latin typeface="宋体" pitchFamily="2" charset="-122"/>
              </a:endParaRPr>
            </a:p>
          </p:txBody>
        </p:sp>
        <p:sp>
          <p:nvSpPr>
            <p:cNvPr id="47115" name="Rectangle 7"/>
            <p:cNvSpPr>
              <a:spLocks noChangeArrowheads="1"/>
            </p:cNvSpPr>
            <p:nvPr/>
          </p:nvSpPr>
          <p:spPr bwMode="auto">
            <a:xfrm>
              <a:off x="2144" y="2832"/>
              <a:ext cx="539" cy="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20000"/>
                </a:spcBef>
              </a:pPr>
              <a:r>
                <a:rPr lang="en-US" altLang="zh-CN" sz="2400">
                  <a:solidFill>
                    <a:srgbClr val="0033CC"/>
                  </a:solidFill>
                  <a:latin typeface="宋体" pitchFamily="2" charset="-122"/>
                </a:rPr>
                <a:t>9901</a:t>
              </a:r>
              <a:endParaRPr lang="en-US" altLang="zh-CN" sz="2400">
                <a:solidFill>
                  <a:srgbClr val="0033CC"/>
                </a:solidFill>
                <a:latin typeface="宋体" pitchFamily="2" charset="-122"/>
              </a:endParaRPr>
            </a:p>
          </p:txBody>
        </p:sp>
        <p:sp>
          <p:nvSpPr>
            <p:cNvPr id="47116" name="Rectangle 6"/>
            <p:cNvSpPr>
              <a:spLocks noChangeArrowheads="1"/>
            </p:cNvSpPr>
            <p:nvPr/>
          </p:nvSpPr>
          <p:spPr bwMode="auto">
            <a:xfrm>
              <a:off x="1605" y="2832"/>
              <a:ext cx="539" cy="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20000"/>
                </a:spcBef>
              </a:pPr>
              <a:r>
                <a:rPr lang="zh-CN" altLang="en-US" sz="2400">
                  <a:solidFill>
                    <a:srgbClr val="0033CC"/>
                  </a:solidFill>
                  <a:latin typeface="宋体" pitchFamily="2" charset="-122"/>
                </a:rPr>
                <a:t>男</a:t>
              </a:r>
              <a:endParaRPr lang="zh-CN" altLang="en-US" sz="2400">
                <a:solidFill>
                  <a:srgbClr val="0033CC"/>
                </a:solidFill>
                <a:latin typeface="宋体" pitchFamily="2" charset="-122"/>
              </a:endParaRPr>
            </a:p>
          </p:txBody>
        </p:sp>
        <p:sp>
          <p:nvSpPr>
            <p:cNvPr id="47117" name="Rectangle 5"/>
            <p:cNvSpPr>
              <a:spLocks noChangeArrowheads="1"/>
            </p:cNvSpPr>
            <p:nvPr/>
          </p:nvSpPr>
          <p:spPr bwMode="auto">
            <a:xfrm>
              <a:off x="1067" y="2832"/>
              <a:ext cx="538" cy="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20000"/>
                </a:spcBef>
              </a:pPr>
              <a:r>
                <a:rPr lang="zh-CN" altLang="en-US" sz="2400" b="1">
                  <a:solidFill>
                    <a:srgbClr val="0033CC"/>
                  </a:solidFill>
                  <a:latin typeface="宋体" pitchFamily="2" charset="-122"/>
                </a:rPr>
                <a:t>张斌</a:t>
              </a:r>
              <a:endParaRPr lang="zh-CN" altLang="en-US" sz="2400" b="1">
                <a:solidFill>
                  <a:srgbClr val="0033CC"/>
                </a:solidFill>
                <a:latin typeface="宋体" pitchFamily="2" charset="-122"/>
              </a:endParaRPr>
            </a:p>
          </p:txBody>
        </p:sp>
        <p:sp>
          <p:nvSpPr>
            <p:cNvPr id="47118" name="Rectangle 4"/>
            <p:cNvSpPr>
              <a:spLocks noChangeArrowheads="1"/>
            </p:cNvSpPr>
            <p:nvPr/>
          </p:nvSpPr>
          <p:spPr bwMode="auto">
            <a:xfrm>
              <a:off x="528" y="2832"/>
              <a:ext cx="539" cy="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20000"/>
                </a:spcBef>
              </a:pPr>
              <a:r>
                <a:rPr lang="en-US" altLang="zh-CN" sz="2400">
                  <a:solidFill>
                    <a:srgbClr val="0033CC"/>
                  </a:solidFill>
                  <a:latin typeface="宋体" pitchFamily="2" charset="-122"/>
                </a:rPr>
                <a:t>1</a:t>
              </a:r>
              <a:endParaRPr lang="en-US" altLang="zh-CN" sz="2400">
                <a:solidFill>
                  <a:srgbClr val="0033CC"/>
                </a:solidFill>
                <a:latin typeface="宋体" pitchFamily="2" charset="-122"/>
              </a:endParaRPr>
            </a:p>
          </p:txBody>
        </p:sp>
        <p:sp>
          <p:nvSpPr>
            <p:cNvPr id="47119" name="Line 13"/>
            <p:cNvSpPr>
              <a:spLocks noChangeShapeType="1"/>
            </p:cNvSpPr>
            <p:nvPr/>
          </p:nvSpPr>
          <p:spPr bwMode="auto">
            <a:xfrm>
              <a:off x="528" y="2832"/>
              <a:ext cx="4848" cy="0"/>
            </a:xfrm>
            <a:prstGeom prst="line">
              <a:avLst/>
            </a:prstGeom>
            <a:noFill/>
            <a:ln w="28575" cap="sq">
              <a:solidFill>
                <a:srgbClr val="000000"/>
              </a:solidFill>
              <a:miter lim="800000"/>
            </a:ln>
            <a:extLst>
              <a:ext uri="{909E8E84-426E-40DD-AFC4-6F175D3DCCD1}">
                <a14:hiddenFill xmlns:a14="http://schemas.microsoft.com/office/drawing/2010/main">
                  <a:noFill/>
                </a14:hiddenFill>
              </a:ext>
            </a:extLst>
          </p:spPr>
          <p:txBody>
            <a:bodyPr wrap="none"/>
            <a:lstStyle/>
            <a:p>
              <a:endParaRPr lang="zh-CN" altLang="en-US"/>
            </a:p>
          </p:txBody>
        </p:sp>
        <p:sp>
          <p:nvSpPr>
            <p:cNvPr id="47120" name="Line 14"/>
            <p:cNvSpPr>
              <a:spLocks noChangeShapeType="1"/>
            </p:cNvSpPr>
            <p:nvPr/>
          </p:nvSpPr>
          <p:spPr bwMode="auto">
            <a:xfrm>
              <a:off x="528" y="3152"/>
              <a:ext cx="4848" cy="0"/>
            </a:xfrm>
            <a:prstGeom prst="line">
              <a:avLst/>
            </a:prstGeom>
            <a:noFill/>
            <a:ln w="28575" cap="sq">
              <a:solidFill>
                <a:srgbClr val="000000"/>
              </a:solidFill>
              <a:miter lim="800000"/>
            </a:ln>
            <a:extLst>
              <a:ext uri="{909E8E84-426E-40DD-AFC4-6F175D3DCCD1}">
                <a14:hiddenFill xmlns:a14="http://schemas.microsoft.com/office/drawing/2010/main">
                  <a:noFill/>
                </a14:hiddenFill>
              </a:ext>
            </a:extLst>
          </p:spPr>
          <p:txBody>
            <a:bodyPr wrap="none"/>
            <a:lstStyle/>
            <a:p>
              <a:endParaRPr lang="zh-CN" altLang="en-US"/>
            </a:p>
          </p:txBody>
        </p:sp>
        <p:sp>
          <p:nvSpPr>
            <p:cNvPr id="47121" name="Line 15"/>
            <p:cNvSpPr>
              <a:spLocks noChangeShapeType="1"/>
            </p:cNvSpPr>
            <p:nvPr/>
          </p:nvSpPr>
          <p:spPr bwMode="auto">
            <a:xfrm>
              <a:off x="528" y="2832"/>
              <a:ext cx="0" cy="320"/>
            </a:xfrm>
            <a:prstGeom prst="line">
              <a:avLst/>
            </a:prstGeom>
            <a:noFill/>
            <a:ln w="28575" cap="sq">
              <a:solidFill>
                <a:srgbClr val="0033CC"/>
              </a:solidFill>
              <a:miter lim="800000"/>
            </a:ln>
            <a:extLst>
              <a:ext uri="{909E8E84-426E-40DD-AFC4-6F175D3DCCD1}">
                <a14:hiddenFill xmlns:a14="http://schemas.microsoft.com/office/drawing/2010/main">
                  <a:noFill/>
                </a14:hiddenFill>
              </a:ext>
            </a:extLst>
          </p:spPr>
          <p:txBody>
            <a:bodyPr wrap="none"/>
            <a:lstStyle/>
            <a:p>
              <a:endParaRPr lang="zh-CN" altLang="en-US"/>
            </a:p>
          </p:txBody>
        </p:sp>
        <p:sp>
          <p:nvSpPr>
            <p:cNvPr id="47122" name="Line 16"/>
            <p:cNvSpPr>
              <a:spLocks noChangeShapeType="1"/>
            </p:cNvSpPr>
            <p:nvPr/>
          </p:nvSpPr>
          <p:spPr bwMode="auto">
            <a:xfrm>
              <a:off x="1067" y="2832"/>
              <a:ext cx="0" cy="320"/>
            </a:xfrm>
            <a:prstGeom prst="line">
              <a:avLst/>
            </a:prstGeom>
            <a:noFill/>
            <a:ln w="12700">
              <a:solidFill>
                <a:srgbClr val="0033CC"/>
              </a:solidFill>
              <a:miter lim="800000"/>
            </a:ln>
            <a:extLst>
              <a:ext uri="{909E8E84-426E-40DD-AFC4-6F175D3DCCD1}">
                <a14:hiddenFill xmlns:a14="http://schemas.microsoft.com/office/drawing/2010/main">
                  <a:noFill/>
                </a14:hiddenFill>
              </a:ext>
            </a:extLst>
          </p:spPr>
          <p:txBody>
            <a:bodyPr wrap="none"/>
            <a:lstStyle/>
            <a:p>
              <a:endParaRPr lang="zh-CN" altLang="en-US"/>
            </a:p>
          </p:txBody>
        </p:sp>
        <p:sp>
          <p:nvSpPr>
            <p:cNvPr id="47123" name="Line 17"/>
            <p:cNvSpPr>
              <a:spLocks noChangeShapeType="1"/>
            </p:cNvSpPr>
            <p:nvPr/>
          </p:nvSpPr>
          <p:spPr bwMode="auto">
            <a:xfrm>
              <a:off x="1605" y="2832"/>
              <a:ext cx="0" cy="320"/>
            </a:xfrm>
            <a:prstGeom prst="line">
              <a:avLst/>
            </a:prstGeom>
            <a:noFill/>
            <a:ln w="12700">
              <a:solidFill>
                <a:srgbClr val="0033CC"/>
              </a:solidFill>
              <a:miter lim="800000"/>
            </a:ln>
            <a:extLst>
              <a:ext uri="{909E8E84-426E-40DD-AFC4-6F175D3DCCD1}">
                <a14:hiddenFill xmlns:a14="http://schemas.microsoft.com/office/drawing/2010/main">
                  <a:noFill/>
                </a14:hiddenFill>
              </a:ext>
            </a:extLst>
          </p:spPr>
          <p:txBody>
            <a:bodyPr wrap="none"/>
            <a:lstStyle/>
            <a:p>
              <a:endParaRPr lang="zh-CN" altLang="en-US"/>
            </a:p>
          </p:txBody>
        </p:sp>
        <p:sp>
          <p:nvSpPr>
            <p:cNvPr id="47124" name="Line 18"/>
            <p:cNvSpPr>
              <a:spLocks noChangeShapeType="1"/>
            </p:cNvSpPr>
            <p:nvPr/>
          </p:nvSpPr>
          <p:spPr bwMode="auto">
            <a:xfrm>
              <a:off x="2144" y="2832"/>
              <a:ext cx="0" cy="320"/>
            </a:xfrm>
            <a:prstGeom prst="line">
              <a:avLst/>
            </a:prstGeom>
            <a:noFill/>
            <a:ln w="12700">
              <a:solidFill>
                <a:srgbClr val="0033CC"/>
              </a:solidFill>
              <a:miter lim="800000"/>
            </a:ln>
            <a:extLst>
              <a:ext uri="{909E8E84-426E-40DD-AFC4-6F175D3DCCD1}">
                <a14:hiddenFill xmlns:a14="http://schemas.microsoft.com/office/drawing/2010/main">
                  <a:noFill/>
                </a14:hiddenFill>
              </a:ext>
            </a:extLst>
          </p:spPr>
          <p:txBody>
            <a:bodyPr wrap="none"/>
            <a:lstStyle/>
            <a:p>
              <a:endParaRPr lang="zh-CN" altLang="en-US"/>
            </a:p>
          </p:txBody>
        </p:sp>
        <p:sp>
          <p:nvSpPr>
            <p:cNvPr id="47125" name="Line 19"/>
            <p:cNvSpPr>
              <a:spLocks noChangeShapeType="1"/>
            </p:cNvSpPr>
            <p:nvPr/>
          </p:nvSpPr>
          <p:spPr bwMode="auto">
            <a:xfrm>
              <a:off x="2683" y="2832"/>
              <a:ext cx="0" cy="320"/>
            </a:xfrm>
            <a:prstGeom prst="line">
              <a:avLst/>
            </a:prstGeom>
            <a:noFill/>
            <a:ln w="12700">
              <a:solidFill>
                <a:srgbClr val="0033CC"/>
              </a:solidFill>
              <a:miter lim="800000"/>
            </a:ln>
            <a:extLst>
              <a:ext uri="{909E8E84-426E-40DD-AFC4-6F175D3DCCD1}">
                <a14:hiddenFill xmlns:a14="http://schemas.microsoft.com/office/drawing/2010/main">
                  <a:noFill/>
                </a14:hiddenFill>
              </a:ext>
            </a:extLst>
          </p:spPr>
          <p:txBody>
            <a:bodyPr wrap="none"/>
            <a:lstStyle/>
            <a:p>
              <a:endParaRPr lang="zh-CN" altLang="en-US"/>
            </a:p>
          </p:txBody>
        </p:sp>
        <p:sp>
          <p:nvSpPr>
            <p:cNvPr id="47126" name="Line 20"/>
            <p:cNvSpPr>
              <a:spLocks noChangeShapeType="1"/>
            </p:cNvSpPr>
            <p:nvPr/>
          </p:nvSpPr>
          <p:spPr bwMode="auto">
            <a:xfrm>
              <a:off x="3221" y="2832"/>
              <a:ext cx="0" cy="320"/>
            </a:xfrm>
            <a:prstGeom prst="line">
              <a:avLst/>
            </a:prstGeom>
            <a:noFill/>
            <a:ln w="12700">
              <a:solidFill>
                <a:srgbClr val="0033CC"/>
              </a:solidFill>
              <a:miter lim="800000"/>
            </a:ln>
            <a:extLst>
              <a:ext uri="{909E8E84-426E-40DD-AFC4-6F175D3DCCD1}">
                <a14:hiddenFill xmlns:a14="http://schemas.microsoft.com/office/drawing/2010/main">
                  <a:noFill/>
                </a14:hiddenFill>
              </a:ext>
            </a:extLst>
          </p:spPr>
          <p:txBody>
            <a:bodyPr wrap="none"/>
            <a:lstStyle/>
            <a:p>
              <a:endParaRPr lang="zh-CN" altLang="en-US"/>
            </a:p>
          </p:txBody>
        </p:sp>
        <p:sp>
          <p:nvSpPr>
            <p:cNvPr id="47127" name="Line 21"/>
            <p:cNvSpPr>
              <a:spLocks noChangeShapeType="1"/>
            </p:cNvSpPr>
            <p:nvPr/>
          </p:nvSpPr>
          <p:spPr bwMode="auto">
            <a:xfrm>
              <a:off x="3760" y="2832"/>
              <a:ext cx="0" cy="320"/>
            </a:xfrm>
            <a:prstGeom prst="line">
              <a:avLst/>
            </a:prstGeom>
            <a:noFill/>
            <a:ln w="12700">
              <a:solidFill>
                <a:srgbClr val="0033CC"/>
              </a:solidFill>
              <a:miter lim="800000"/>
            </a:ln>
            <a:extLst>
              <a:ext uri="{909E8E84-426E-40DD-AFC4-6F175D3DCCD1}">
                <a14:hiddenFill xmlns:a14="http://schemas.microsoft.com/office/drawing/2010/main">
                  <a:noFill/>
                </a14:hiddenFill>
              </a:ext>
            </a:extLst>
          </p:spPr>
          <p:txBody>
            <a:bodyPr wrap="none"/>
            <a:lstStyle/>
            <a:p>
              <a:endParaRPr lang="zh-CN" altLang="en-US"/>
            </a:p>
          </p:txBody>
        </p:sp>
        <p:sp>
          <p:nvSpPr>
            <p:cNvPr id="47128" name="Line 22"/>
            <p:cNvSpPr>
              <a:spLocks noChangeShapeType="1"/>
            </p:cNvSpPr>
            <p:nvPr/>
          </p:nvSpPr>
          <p:spPr bwMode="auto">
            <a:xfrm>
              <a:off x="4299" y="2832"/>
              <a:ext cx="0" cy="320"/>
            </a:xfrm>
            <a:prstGeom prst="line">
              <a:avLst/>
            </a:prstGeom>
            <a:noFill/>
            <a:ln w="12700">
              <a:solidFill>
                <a:srgbClr val="0033CC"/>
              </a:solidFill>
              <a:miter lim="800000"/>
            </a:ln>
            <a:extLst>
              <a:ext uri="{909E8E84-426E-40DD-AFC4-6F175D3DCCD1}">
                <a14:hiddenFill xmlns:a14="http://schemas.microsoft.com/office/drawing/2010/main">
                  <a:noFill/>
                </a14:hiddenFill>
              </a:ext>
            </a:extLst>
          </p:spPr>
          <p:txBody>
            <a:bodyPr wrap="none"/>
            <a:lstStyle/>
            <a:p>
              <a:endParaRPr lang="zh-CN" altLang="en-US"/>
            </a:p>
          </p:txBody>
        </p:sp>
        <p:sp>
          <p:nvSpPr>
            <p:cNvPr id="47129" name="Line 23"/>
            <p:cNvSpPr>
              <a:spLocks noChangeShapeType="1"/>
            </p:cNvSpPr>
            <p:nvPr/>
          </p:nvSpPr>
          <p:spPr bwMode="auto">
            <a:xfrm>
              <a:off x="4837" y="2832"/>
              <a:ext cx="0" cy="320"/>
            </a:xfrm>
            <a:prstGeom prst="line">
              <a:avLst/>
            </a:prstGeom>
            <a:noFill/>
            <a:ln w="12700">
              <a:solidFill>
                <a:srgbClr val="0033CC"/>
              </a:solidFill>
              <a:miter lim="800000"/>
            </a:ln>
            <a:extLst>
              <a:ext uri="{909E8E84-426E-40DD-AFC4-6F175D3DCCD1}">
                <a14:hiddenFill xmlns:a14="http://schemas.microsoft.com/office/drawing/2010/main">
                  <a:noFill/>
                </a14:hiddenFill>
              </a:ext>
            </a:extLst>
          </p:spPr>
          <p:txBody>
            <a:bodyPr wrap="none"/>
            <a:lstStyle/>
            <a:p>
              <a:endParaRPr lang="zh-CN" altLang="en-US"/>
            </a:p>
          </p:txBody>
        </p:sp>
        <p:sp>
          <p:nvSpPr>
            <p:cNvPr id="47130" name="Line 24"/>
            <p:cNvSpPr>
              <a:spLocks noChangeShapeType="1"/>
            </p:cNvSpPr>
            <p:nvPr/>
          </p:nvSpPr>
          <p:spPr bwMode="auto">
            <a:xfrm>
              <a:off x="5376" y="2832"/>
              <a:ext cx="0" cy="320"/>
            </a:xfrm>
            <a:prstGeom prst="line">
              <a:avLst/>
            </a:prstGeom>
            <a:noFill/>
            <a:ln w="28575" cap="sq">
              <a:solidFill>
                <a:srgbClr val="0033CC"/>
              </a:solidFill>
              <a:miter lim="800000"/>
            </a:ln>
            <a:extLst>
              <a:ext uri="{909E8E84-426E-40DD-AFC4-6F175D3DCCD1}">
                <a14:hiddenFill xmlns:a14="http://schemas.microsoft.com/office/drawing/2010/main">
                  <a:noFill/>
                </a14:hiddenFill>
              </a:ext>
            </a:extLst>
          </p:spPr>
          <p:txBody>
            <a:bodyPr wrap="none"/>
            <a:lstStyle/>
            <a:p>
              <a:endParaRPr lang="zh-CN" altLang="en-US"/>
            </a:p>
          </p:txBody>
        </p:sp>
        <p:sp>
          <p:nvSpPr>
            <p:cNvPr id="47131" name="AutoShape 31"/>
            <p:cNvSpPr/>
            <p:nvPr/>
          </p:nvSpPr>
          <p:spPr bwMode="auto">
            <a:xfrm rot="5400000">
              <a:off x="1579" y="1859"/>
              <a:ext cx="157" cy="1587"/>
            </a:xfrm>
            <a:prstGeom prst="leftBrace">
              <a:avLst>
                <a:gd name="adj1" fmla="val 0"/>
                <a:gd name="adj2" fmla="val 50000"/>
              </a:avLst>
            </a:prstGeom>
            <a:noFill/>
            <a:ln w="38100">
              <a:solidFill>
                <a:srgbClr val="0033CC"/>
              </a:solidFill>
              <a:miter lim="800000"/>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solidFill>
                  <a:srgbClr val="0033CC"/>
                </a:solidFill>
              </a:endParaRPr>
            </a:p>
          </p:txBody>
        </p:sp>
        <p:sp>
          <p:nvSpPr>
            <p:cNvPr id="47132" name="Text Box 32"/>
            <p:cNvSpPr txBox="1">
              <a:spLocks noChangeArrowheads="1"/>
            </p:cNvSpPr>
            <p:nvPr/>
          </p:nvSpPr>
          <p:spPr bwMode="auto">
            <a:xfrm>
              <a:off x="1248" y="2256"/>
              <a:ext cx="768"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50000"/>
                </a:spcBef>
              </a:pPr>
              <a:r>
                <a:rPr kumimoji="1" lang="en-US" altLang="zh-CN" sz="2400" b="1">
                  <a:solidFill>
                    <a:srgbClr val="0033CC"/>
                  </a:solidFill>
                  <a:latin typeface="Times New Roman" panose="02020503050405090304" pitchFamily="18" charset="0"/>
                </a:rPr>
                <a:t>Stud[0]</a:t>
              </a:r>
              <a:endParaRPr kumimoji="1" lang="en-US" altLang="zh-CN" sz="2400" b="1">
                <a:solidFill>
                  <a:srgbClr val="0033CC"/>
                </a:solidFill>
                <a:latin typeface="Times New Roman" panose="02020503050405090304" pitchFamily="18" charset="0"/>
              </a:endParaRPr>
            </a:p>
          </p:txBody>
        </p:sp>
        <p:sp>
          <p:nvSpPr>
            <p:cNvPr id="47133" name="AutoShape 33"/>
            <p:cNvSpPr/>
            <p:nvPr/>
          </p:nvSpPr>
          <p:spPr bwMode="auto">
            <a:xfrm rot="5400000">
              <a:off x="4297" y="1892"/>
              <a:ext cx="91" cy="1587"/>
            </a:xfrm>
            <a:prstGeom prst="leftBrace">
              <a:avLst>
                <a:gd name="adj1" fmla="val 0"/>
                <a:gd name="adj2" fmla="val 50000"/>
              </a:avLst>
            </a:prstGeom>
            <a:noFill/>
            <a:ln w="38100">
              <a:solidFill>
                <a:srgbClr val="0033CC"/>
              </a:solidFill>
              <a:miter lim="800000"/>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solidFill>
                  <a:srgbClr val="0033CC"/>
                </a:solidFill>
              </a:endParaRPr>
            </a:p>
          </p:txBody>
        </p:sp>
        <p:sp>
          <p:nvSpPr>
            <p:cNvPr id="47134" name="Text Box 34"/>
            <p:cNvSpPr txBox="1">
              <a:spLocks noChangeArrowheads="1"/>
            </p:cNvSpPr>
            <p:nvPr/>
          </p:nvSpPr>
          <p:spPr bwMode="auto">
            <a:xfrm>
              <a:off x="3933" y="2256"/>
              <a:ext cx="768"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50000"/>
                </a:spcBef>
              </a:pPr>
              <a:r>
                <a:rPr kumimoji="1" lang="en-US" altLang="zh-CN" sz="2400" b="1">
                  <a:solidFill>
                    <a:srgbClr val="0033CC"/>
                  </a:solidFill>
                  <a:latin typeface="Times New Roman" panose="02020503050405090304" pitchFamily="18" charset="0"/>
                </a:rPr>
                <a:t>Stud[6]</a:t>
              </a:r>
              <a:endParaRPr kumimoji="1" lang="en-US" altLang="zh-CN" sz="2400" b="1">
                <a:solidFill>
                  <a:srgbClr val="0033CC"/>
                </a:solidFill>
                <a:latin typeface="Times New Roman" panose="02020503050405090304" pitchFamily="18" charset="0"/>
              </a:endParaRPr>
            </a:p>
          </p:txBody>
        </p:sp>
        <p:sp>
          <p:nvSpPr>
            <p:cNvPr id="47135" name="Line 35"/>
            <p:cNvSpPr>
              <a:spLocks noChangeShapeType="1"/>
            </p:cNvSpPr>
            <p:nvPr/>
          </p:nvSpPr>
          <p:spPr bwMode="auto">
            <a:xfrm flipV="1">
              <a:off x="528" y="3216"/>
              <a:ext cx="0" cy="240"/>
            </a:xfrm>
            <a:prstGeom prst="line">
              <a:avLst/>
            </a:prstGeom>
            <a:noFill/>
            <a:ln w="38100">
              <a:solidFill>
                <a:srgbClr val="000000"/>
              </a:solidFill>
              <a:miter lim="800000"/>
              <a:tailEnd type="triangle" w="med" len="med"/>
            </a:ln>
            <a:extLst>
              <a:ext uri="{909E8E84-426E-40DD-AFC4-6F175D3DCCD1}">
                <a14:hiddenFill xmlns:a14="http://schemas.microsoft.com/office/drawing/2010/main">
                  <a:noFill/>
                </a14:hiddenFill>
              </a:ext>
            </a:extLst>
          </p:spPr>
          <p:txBody>
            <a:bodyPr wrap="none"/>
            <a:lstStyle/>
            <a:p>
              <a:endParaRPr lang="zh-CN" altLang="en-US"/>
            </a:p>
          </p:txBody>
        </p:sp>
        <p:sp>
          <p:nvSpPr>
            <p:cNvPr id="47136" name="Text Box 36"/>
            <p:cNvSpPr txBox="1">
              <a:spLocks noChangeArrowheads="1"/>
            </p:cNvSpPr>
            <p:nvPr/>
          </p:nvSpPr>
          <p:spPr bwMode="auto">
            <a:xfrm>
              <a:off x="451" y="3425"/>
              <a:ext cx="1728"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50000"/>
                </a:spcBef>
              </a:pPr>
              <a:r>
                <a:rPr kumimoji="1" lang="en-US" altLang="zh-CN" sz="2400" b="1">
                  <a:solidFill>
                    <a:srgbClr val="0033CC"/>
                  </a:solidFill>
                  <a:latin typeface="Times New Roman" panose="02020503050405090304" pitchFamily="18" charset="0"/>
                </a:rPr>
                <a:t>Stud</a:t>
              </a:r>
              <a:r>
                <a:rPr kumimoji="1" lang="zh-CN" altLang="en-US" sz="2400" b="1">
                  <a:solidFill>
                    <a:srgbClr val="0033CC"/>
                  </a:solidFill>
                  <a:latin typeface="Times New Roman" panose="02020503050405090304" pitchFamily="18" charset="0"/>
                </a:rPr>
                <a:t>数组起始地址</a:t>
              </a:r>
              <a:endParaRPr kumimoji="1" lang="zh-CN" altLang="en-US" sz="2400" b="1">
                <a:solidFill>
                  <a:srgbClr val="0033CC"/>
                </a:solidFill>
                <a:latin typeface="Times New Roman" panose="02020503050405090304" pitchFamily="18" charset="0"/>
              </a:endParaRPr>
            </a:p>
          </p:txBody>
        </p:sp>
      </p:grpSp>
      <p:sp>
        <p:nvSpPr>
          <p:cNvPr id="47108" name="灯片编号占位符 32"/>
          <p:cNvSpPr>
            <a:spLocks noGrp="1"/>
          </p:cNvSpPr>
          <p:nvPr>
            <p:ph type="sldNum" sz="quarter" idx="4294967295"/>
          </p:nvPr>
        </p:nvSpPr>
        <p:spPr bwMode="auto">
          <a:xfrm>
            <a:off x="7956550" y="6356350"/>
            <a:ext cx="730250" cy="3651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3650A001-FAD5-4B9E-A77B-6E4E01E85F8E}" type="slidenum">
              <a:rPr lang="en-US" altLang="zh-CN"/>
            </a:fld>
            <a:endParaRPr lang="en-US" altLang="zh-CN"/>
          </a:p>
        </p:txBody>
      </p:sp>
      <p:sp>
        <p:nvSpPr>
          <p:cNvPr id="47109"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33" name="Rectangle 2"/>
          <p:cNvSpPr txBox="1">
            <a:spLocks noChangeArrowheads="1"/>
          </p:cNvSpPr>
          <p:nvPr/>
        </p:nvSpPr>
        <p:spPr>
          <a:xfrm>
            <a:off x="900113" y="476672"/>
            <a:ext cx="6788869" cy="638845"/>
          </a:xfrm>
          <a:prstGeom prst="rect">
            <a:avLst/>
          </a:prstGeom>
        </p:spPr>
        <p:txBody>
          <a:bodyPr/>
          <a:lstStyle>
            <a:lvl1pPr algn="l" rtl="0" eaLnBrk="0" fontAlgn="base" hangingPunct="0">
              <a:spcBef>
                <a:spcPct val="0"/>
              </a:spcBef>
              <a:spcAft>
                <a:spcPct val="0"/>
              </a:spcAft>
              <a:defRPr sz="3200">
                <a:solidFill>
                  <a:schemeClr val="accent2"/>
                </a:solidFill>
                <a:latin typeface="+mj-lt"/>
                <a:ea typeface="+mj-ea"/>
                <a:cs typeface="+mj-cs"/>
              </a:defRPr>
            </a:lvl1pPr>
            <a:lvl2pPr algn="l" rtl="0" eaLnBrk="0" fontAlgn="base" hangingPunct="0">
              <a:spcBef>
                <a:spcPct val="0"/>
              </a:spcBef>
              <a:spcAft>
                <a:spcPct val="0"/>
              </a:spcAft>
              <a:defRPr sz="3200">
                <a:solidFill>
                  <a:schemeClr val="accent2"/>
                </a:solidFill>
                <a:latin typeface="Garamond" pitchFamily="18" charset="0"/>
                <a:ea typeface="宋体" pitchFamily="2" charset="-122"/>
              </a:defRPr>
            </a:lvl2pPr>
            <a:lvl3pPr algn="l" rtl="0" eaLnBrk="0" fontAlgn="base" hangingPunct="0">
              <a:spcBef>
                <a:spcPct val="0"/>
              </a:spcBef>
              <a:spcAft>
                <a:spcPct val="0"/>
              </a:spcAft>
              <a:defRPr sz="3200">
                <a:solidFill>
                  <a:schemeClr val="accent2"/>
                </a:solidFill>
                <a:latin typeface="Garamond" pitchFamily="18" charset="0"/>
                <a:ea typeface="宋体" pitchFamily="2" charset="-122"/>
              </a:defRPr>
            </a:lvl3pPr>
            <a:lvl4pPr algn="l" rtl="0" eaLnBrk="0" fontAlgn="base" hangingPunct="0">
              <a:spcBef>
                <a:spcPct val="0"/>
              </a:spcBef>
              <a:spcAft>
                <a:spcPct val="0"/>
              </a:spcAft>
              <a:defRPr sz="3200">
                <a:solidFill>
                  <a:schemeClr val="accent2"/>
                </a:solidFill>
                <a:latin typeface="Garamond" pitchFamily="18" charset="0"/>
                <a:ea typeface="宋体" pitchFamily="2" charset="-122"/>
              </a:defRPr>
            </a:lvl4pPr>
            <a:lvl5pPr algn="l" rtl="0" eaLnBrk="0" fontAlgn="base" hangingPunct="0">
              <a:spcBef>
                <a:spcPct val="0"/>
              </a:spcBef>
              <a:spcAft>
                <a:spcPct val="0"/>
              </a:spcAft>
              <a:defRPr sz="3200">
                <a:solidFill>
                  <a:schemeClr val="accent2"/>
                </a:solidFill>
                <a:latin typeface="Garamond" pitchFamily="18" charset="0"/>
                <a:ea typeface="宋体" pitchFamily="2" charset="-122"/>
              </a:defRPr>
            </a:lvl5pPr>
            <a:lvl6pPr marL="457200" algn="l" rtl="0" fontAlgn="base">
              <a:spcBef>
                <a:spcPct val="0"/>
              </a:spcBef>
              <a:spcAft>
                <a:spcPct val="0"/>
              </a:spcAft>
              <a:defRPr sz="3200">
                <a:solidFill>
                  <a:schemeClr val="accent2"/>
                </a:solidFill>
                <a:latin typeface="Garamond" pitchFamily="18" charset="0"/>
                <a:ea typeface="宋体" pitchFamily="2" charset="-122"/>
              </a:defRPr>
            </a:lvl6pPr>
            <a:lvl7pPr marL="914400" algn="l" rtl="0" fontAlgn="base">
              <a:spcBef>
                <a:spcPct val="0"/>
              </a:spcBef>
              <a:spcAft>
                <a:spcPct val="0"/>
              </a:spcAft>
              <a:defRPr sz="3200">
                <a:solidFill>
                  <a:schemeClr val="accent2"/>
                </a:solidFill>
                <a:latin typeface="Garamond" pitchFamily="18" charset="0"/>
                <a:ea typeface="宋体" pitchFamily="2" charset="-122"/>
              </a:defRPr>
            </a:lvl7pPr>
            <a:lvl8pPr marL="1371600" algn="l" rtl="0" fontAlgn="base">
              <a:spcBef>
                <a:spcPct val="0"/>
              </a:spcBef>
              <a:spcAft>
                <a:spcPct val="0"/>
              </a:spcAft>
              <a:defRPr sz="3200">
                <a:solidFill>
                  <a:schemeClr val="accent2"/>
                </a:solidFill>
                <a:latin typeface="Garamond" pitchFamily="18" charset="0"/>
                <a:ea typeface="宋体" pitchFamily="2" charset="-122"/>
              </a:defRPr>
            </a:lvl8pPr>
            <a:lvl9pPr marL="1828800" algn="l" rtl="0" fontAlgn="base">
              <a:spcBef>
                <a:spcPct val="0"/>
              </a:spcBef>
              <a:spcAft>
                <a:spcPct val="0"/>
              </a:spcAft>
              <a:defRPr sz="3200">
                <a:solidFill>
                  <a:schemeClr val="accent2"/>
                </a:solidFill>
                <a:latin typeface="Garamond" pitchFamily="18" charset="0"/>
                <a:ea typeface="宋体" pitchFamily="2" charset="-122"/>
              </a:defRPr>
            </a:lvl9pPr>
          </a:lstStyle>
          <a:p>
            <a:pPr eaLnBrk="1" hangingPunct="1"/>
            <a:r>
              <a:rPr lang="en-US" altLang="zh-CN" kern="0" smtClean="0">
                <a:solidFill>
                  <a:srgbClr val="333399"/>
                </a:solidFill>
              </a:rPr>
              <a:t>1.4.3 </a:t>
            </a:r>
            <a:r>
              <a:rPr lang="zh-CN" altLang="en-US" kern="0" smtClean="0"/>
              <a:t>链表</a:t>
            </a:r>
            <a:endParaRPr lang="en-US" altLang="zh-CN" kern="0" dirty="0" smtClean="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Text Box 2"/>
          <p:cNvSpPr txBox="1">
            <a:spLocks noChangeArrowheads="1"/>
          </p:cNvSpPr>
          <p:nvPr/>
        </p:nvSpPr>
        <p:spPr bwMode="auto">
          <a:xfrm>
            <a:off x="304800" y="1341438"/>
            <a:ext cx="8534400" cy="408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eaLnBrk="1" hangingPunct="1">
              <a:spcBef>
                <a:spcPct val="50000"/>
              </a:spcBef>
            </a:pPr>
            <a:r>
              <a:rPr kumimoji="1" lang="en-US" altLang="zh-CN" sz="3600">
                <a:solidFill>
                  <a:srgbClr val="000000"/>
                </a:solidFill>
                <a:latin typeface="楷体_GB2312" pitchFamily="49" charset="-122"/>
                <a:ea typeface="楷体_GB2312" pitchFamily="49" charset="-122"/>
              </a:rPr>
              <a:t>  </a:t>
            </a:r>
            <a:r>
              <a:rPr kumimoji="1" lang="zh-CN" altLang="en-US" sz="2800" b="1">
                <a:solidFill>
                  <a:srgbClr val="000000"/>
                </a:solidFill>
                <a:latin typeface="Times New Roman" panose="02020503050405090304" pitchFamily="18" charset="0"/>
                <a:ea typeface="楷体_GB2312" pitchFamily="49" charset="-122"/>
              </a:rPr>
              <a:t>存放学生表的链表的结点类型</a:t>
            </a:r>
            <a:r>
              <a:rPr kumimoji="1" lang="en-US" altLang="zh-CN" sz="2800" b="1">
                <a:solidFill>
                  <a:srgbClr val="000000"/>
                </a:solidFill>
                <a:latin typeface="Times New Roman" panose="02020503050405090304" pitchFamily="18" charset="0"/>
                <a:ea typeface="楷体_GB2312" pitchFamily="49" charset="-122"/>
              </a:rPr>
              <a:t>StudType</a:t>
            </a:r>
            <a:r>
              <a:rPr kumimoji="1" lang="zh-CN" altLang="en-US" sz="2800" b="1">
                <a:solidFill>
                  <a:srgbClr val="000000"/>
                </a:solidFill>
                <a:latin typeface="Times New Roman" panose="02020503050405090304" pitchFamily="18" charset="0"/>
                <a:ea typeface="楷体_GB2312" pitchFamily="49" charset="-122"/>
              </a:rPr>
              <a:t>定义为：</a:t>
            </a:r>
            <a:endParaRPr kumimoji="1" lang="zh-CN" altLang="en-US" sz="2800" b="1">
              <a:solidFill>
                <a:srgbClr val="000000"/>
              </a:solidFill>
              <a:latin typeface="Times New Roman" panose="02020503050405090304" pitchFamily="18" charset="0"/>
              <a:ea typeface="楷体_GB2312" pitchFamily="49" charset="-122"/>
            </a:endParaRPr>
          </a:p>
          <a:p>
            <a:pPr algn="just" eaLnBrk="1" hangingPunct="1">
              <a:lnSpc>
                <a:spcPct val="80000"/>
              </a:lnSpc>
              <a:spcBef>
                <a:spcPct val="50000"/>
              </a:spcBef>
            </a:pPr>
            <a:r>
              <a:rPr kumimoji="1" lang="zh-CN" altLang="en-US" sz="2800" b="1">
                <a:solidFill>
                  <a:srgbClr val="000000"/>
                </a:solidFill>
                <a:latin typeface="Times New Roman" panose="02020503050405090304" pitchFamily="18" charset="0"/>
                <a:ea typeface="楷体_GB2312" pitchFamily="49" charset="-122"/>
              </a:rPr>
              <a:t>     </a:t>
            </a:r>
            <a:r>
              <a:rPr kumimoji="1" lang="en-US" altLang="zh-CN" sz="2400" b="1">
                <a:solidFill>
                  <a:srgbClr val="000000"/>
                </a:solidFill>
                <a:latin typeface="Times New Roman" panose="02020503050405090304" pitchFamily="18" charset="0"/>
                <a:ea typeface="楷体_GB2312" pitchFamily="49" charset="-122"/>
              </a:rPr>
              <a:t>typedef struct studnode</a:t>
            </a:r>
            <a:endParaRPr kumimoji="1" lang="en-US" altLang="zh-CN" sz="2400" b="1">
              <a:solidFill>
                <a:srgbClr val="000000"/>
              </a:solidFill>
              <a:latin typeface="Times New Roman" panose="02020503050405090304" pitchFamily="18" charset="0"/>
              <a:ea typeface="楷体_GB2312" pitchFamily="49" charset="-122"/>
            </a:endParaRPr>
          </a:p>
          <a:p>
            <a:pPr algn="just" eaLnBrk="1" hangingPunct="1">
              <a:lnSpc>
                <a:spcPct val="80000"/>
              </a:lnSpc>
              <a:spcBef>
                <a:spcPct val="50000"/>
              </a:spcBef>
            </a:pPr>
            <a:r>
              <a:rPr kumimoji="1" lang="en-US" altLang="zh-CN" sz="2400" b="1">
                <a:solidFill>
                  <a:srgbClr val="000000"/>
                </a:solidFill>
                <a:latin typeface="Times New Roman" panose="02020503050405090304" pitchFamily="18" charset="0"/>
                <a:ea typeface="楷体_GB2312" pitchFamily="49" charset="-122"/>
              </a:rPr>
              <a:t>     {	int no; 		/*</a:t>
            </a:r>
            <a:r>
              <a:rPr kumimoji="1" lang="zh-CN" altLang="en-US" sz="2400" b="1">
                <a:solidFill>
                  <a:srgbClr val="000000"/>
                </a:solidFill>
                <a:latin typeface="Times New Roman" panose="02020503050405090304" pitchFamily="18" charset="0"/>
                <a:ea typeface="楷体_GB2312" pitchFamily="49" charset="-122"/>
              </a:rPr>
              <a:t>存储学号*</a:t>
            </a:r>
            <a:r>
              <a:rPr kumimoji="1" lang="en-US" altLang="zh-CN" sz="2400" b="1">
                <a:solidFill>
                  <a:srgbClr val="000000"/>
                </a:solidFill>
                <a:latin typeface="Times New Roman" panose="02020503050405090304" pitchFamily="18" charset="0"/>
                <a:ea typeface="楷体_GB2312" pitchFamily="49" charset="-122"/>
              </a:rPr>
              <a:t>/</a:t>
            </a:r>
            <a:endParaRPr kumimoji="1" lang="en-US" altLang="zh-CN" sz="2400" b="1">
              <a:solidFill>
                <a:srgbClr val="000000"/>
              </a:solidFill>
              <a:latin typeface="Times New Roman" panose="02020503050405090304" pitchFamily="18" charset="0"/>
              <a:ea typeface="楷体_GB2312" pitchFamily="49" charset="-122"/>
            </a:endParaRPr>
          </a:p>
          <a:p>
            <a:pPr algn="just" eaLnBrk="1" hangingPunct="1">
              <a:lnSpc>
                <a:spcPct val="80000"/>
              </a:lnSpc>
              <a:spcBef>
                <a:spcPct val="50000"/>
              </a:spcBef>
            </a:pPr>
            <a:r>
              <a:rPr kumimoji="1" lang="en-US" altLang="zh-CN" sz="2400" b="1">
                <a:solidFill>
                  <a:srgbClr val="000000"/>
                </a:solidFill>
                <a:latin typeface="Times New Roman" panose="02020503050405090304" pitchFamily="18" charset="0"/>
                <a:ea typeface="楷体_GB2312" pitchFamily="49" charset="-122"/>
              </a:rPr>
              <a:t>  	char name[8];      	/*</a:t>
            </a:r>
            <a:r>
              <a:rPr kumimoji="1" lang="zh-CN" altLang="en-US" sz="2400" b="1">
                <a:solidFill>
                  <a:srgbClr val="000000"/>
                </a:solidFill>
                <a:latin typeface="Times New Roman" panose="02020503050405090304" pitchFamily="18" charset="0"/>
                <a:ea typeface="楷体_GB2312" pitchFamily="49" charset="-122"/>
              </a:rPr>
              <a:t>存储姓名*</a:t>
            </a:r>
            <a:r>
              <a:rPr kumimoji="1" lang="en-US" altLang="zh-CN" sz="2400" b="1">
                <a:solidFill>
                  <a:srgbClr val="000000"/>
                </a:solidFill>
                <a:latin typeface="Times New Roman" panose="02020503050405090304" pitchFamily="18" charset="0"/>
                <a:ea typeface="楷体_GB2312" pitchFamily="49" charset="-122"/>
              </a:rPr>
              <a:t>/</a:t>
            </a:r>
            <a:endParaRPr kumimoji="1" lang="en-US" altLang="zh-CN" sz="2400" b="1">
              <a:solidFill>
                <a:srgbClr val="000000"/>
              </a:solidFill>
              <a:latin typeface="Times New Roman" panose="02020503050405090304" pitchFamily="18" charset="0"/>
              <a:ea typeface="楷体_GB2312" pitchFamily="49" charset="-122"/>
            </a:endParaRPr>
          </a:p>
          <a:p>
            <a:pPr algn="just" eaLnBrk="1" hangingPunct="1">
              <a:lnSpc>
                <a:spcPct val="80000"/>
              </a:lnSpc>
              <a:spcBef>
                <a:spcPct val="50000"/>
              </a:spcBef>
            </a:pPr>
            <a:r>
              <a:rPr kumimoji="1" lang="en-US" altLang="zh-CN" sz="2400" b="1">
                <a:solidFill>
                  <a:srgbClr val="000000"/>
                </a:solidFill>
                <a:latin typeface="Times New Roman" panose="02020503050405090304" pitchFamily="18" charset="0"/>
                <a:ea typeface="楷体_GB2312" pitchFamily="49" charset="-122"/>
              </a:rPr>
              <a:t>  	char sex[2];          	/*</a:t>
            </a:r>
            <a:r>
              <a:rPr kumimoji="1" lang="zh-CN" altLang="en-US" sz="2400" b="1">
                <a:solidFill>
                  <a:srgbClr val="000000"/>
                </a:solidFill>
                <a:latin typeface="Times New Roman" panose="02020503050405090304" pitchFamily="18" charset="0"/>
                <a:ea typeface="楷体_GB2312" pitchFamily="49" charset="-122"/>
              </a:rPr>
              <a:t>存储性别*</a:t>
            </a:r>
            <a:r>
              <a:rPr kumimoji="1" lang="en-US" altLang="zh-CN" sz="2400" b="1">
                <a:solidFill>
                  <a:srgbClr val="000000"/>
                </a:solidFill>
                <a:latin typeface="Times New Roman" panose="02020503050405090304" pitchFamily="18" charset="0"/>
                <a:ea typeface="楷体_GB2312" pitchFamily="49" charset="-122"/>
              </a:rPr>
              <a:t>/</a:t>
            </a:r>
            <a:endParaRPr kumimoji="1" lang="en-US" altLang="zh-CN" sz="2400" b="1">
              <a:solidFill>
                <a:srgbClr val="000000"/>
              </a:solidFill>
              <a:latin typeface="Times New Roman" panose="02020503050405090304" pitchFamily="18" charset="0"/>
              <a:ea typeface="楷体_GB2312" pitchFamily="49" charset="-122"/>
            </a:endParaRPr>
          </a:p>
          <a:p>
            <a:pPr algn="just" eaLnBrk="1" hangingPunct="1">
              <a:lnSpc>
                <a:spcPct val="80000"/>
              </a:lnSpc>
              <a:spcBef>
                <a:spcPct val="50000"/>
              </a:spcBef>
            </a:pPr>
            <a:r>
              <a:rPr kumimoji="1" lang="en-US" altLang="zh-CN" sz="2400" b="1">
                <a:solidFill>
                  <a:srgbClr val="000000"/>
                </a:solidFill>
                <a:latin typeface="Times New Roman" panose="02020503050405090304" pitchFamily="18" charset="0"/>
                <a:ea typeface="楷体_GB2312" pitchFamily="49" charset="-122"/>
              </a:rPr>
              <a:t>  	char class[4];       	/*</a:t>
            </a:r>
            <a:r>
              <a:rPr kumimoji="1" lang="zh-CN" altLang="en-US" sz="2400" b="1">
                <a:solidFill>
                  <a:srgbClr val="000000"/>
                </a:solidFill>
                <a:latin typeface="Times New Roman" panose="02020503050405090304" pitchFamily="18" charset="0"/>
                <a:ea typeface="楷体_GB2312" pitchFamily="49" charset="-122"/>
              </a:rPr>
              <a:t>存储班号*</a:t>
            </a:r>
            <a:r>
              <a:rPr kumimoji="1" lang="en-US" altLang="zh-CN" sz="2400" b="1">
                <a:solidFill>
                  <a:srgbClr val="000000"/>
                </a:solidFill>
                <a:latin typeface="Times New Roman" panose="02020503050405090304" pitchFamily="18" charset="0"/>
                <a:ea typeface="楷体_GB2312" pitchFamily="49" charset="-122"/>
              </a:rPr>
              <a:t>/</a:t>
            </a:r>
            <a:endParaRPr kumimoji="1" lang="en-US" altLang="zh-CN" sz="2400" b="1">
              <a:solidFill>
                <a:srgbClr val="000000"/>
              </a:solidFill>
              <a:latin typeface="Times New Roman" panose="02020503050405090304" pitchFamily="18" charset="0"/>
              <a:ea typeface="楷体_GB2312" pitchFamily="49" charset="-122"/>
            </a:endParaRPr>
          </a:p>
          <a:p>
            <a:pPr algn="just" eaLnBrk="1" hangingPunct="1">
              <a:lnSpc>
                <a:spcPct val="80000"/>
              </a:lnSpc>
              <a:spcBef>
                <a:spcPct val="50000"/>
              </a:spcBef>
            </a:pPr>
            <a:r>
              <a:rPr kumimoji="1" lang="en-US" altLang="zh-CN" sz="2400" b="1">
                <a:solidFill>
                  <a:srgbClr val="000000"/>
                </a:solidFill>
                <a:latin typeface="Times New Roman" panose="02020503050405090304" pitchFamily="18" charset="0"/>
                <a:ea typeface="楷体_GB2312" pitchFamily="49" charset="-122"/>
              </a:rPr>
              <a:t>  	struct studnode *next;   /*</a:t>
            </a:r>
            <a:r>
              <a:rPr kumimoji="1" lang="zh-CN" altLang="en-US" sz="2400" b="1">
                <a:solidFill>
                  <a:srgbClr val="000000"/>
                </a:solidFill>
                <a:latin typeface="Times New Roman" panose="02020503050405090304" pitchFamily="18" charset="0"/>
                <a:ea typeface="楷体_GB2312" pitchFamily="49" charset="-122"/>
              </a:rPr>
              <a:t>存储指向下一个学生的指针*</a:t>
            </a:r>
            <a:r>
              <a:rPr kumimoji="1" lang="en-US" altLang="zh-CN" sz="2400" b="1">
                <a:solidFill>
                  <a:srgbClr val="000000"/>
                </a:solidFill>
                <a:latin typeface="Times New Roman" panose="02020503050405090304" pitchFamily="18" charset="0"/>
                <a:ea typeface="楷体_GB2312" pitchFamily="49" charset="-122"/>
              </a:rPr>
              <a:t>/</a:t>
            </a:r>
            <a:endParaRPr kumimoji="1" lang="en-US" altLang="zh-CN" sz="2400" b="1">
              <a:solidFill>
                <a:srgbClr val="000000"/>
              </a:solidFill>
              <a:latin typeface="Times New Roman" panose="02020503050405090304" pitchFamily="18" charset="0"/>
              <a:ea typeface="楷体_GB2312" pitchFamily="49" charset="-122"/>
            </a:endParaRPr>
          </a:p>
          <a:p>
            <a:pPr algn="just" eaLnBrk="1" hangingPunct="1">
              <a:lnSpc>
                <a:spcPct val="80000"/>
              </a:lnSpc>
              <a:spcBef>
                <a:spcPct val="50000"/>
              </a:spcBef>
            </a:pPr>
            <a:r>
              <a:rPr kumimoji="1" lang="en-US" altLang="zh-CN" sz="2400" b="1">
                <a:solidFill>
                  <a:srgbClr val="000000"/>
                </a:solidFill>
                <a:latin typeface="Times New Roman" panose="02020503050405090304" pitchFamily="18" charset="0"/>
                <a:ea typeface="楷体_GB2312" pitchFamily="49" charset="-122"/>
              </a:rPr>
              <a:t>     }   StudType</a:t>
            </a:r>
            <a:r>
              <a:rPr kumimoji="1" lang="zh-CN" altLang="en-US" sz="2400" b="1">
                <a:solidFill>
                  <a:srgbClr val="000000"/>
                </a:solidFill>
                <a:latin typeface="Times New Roman" panose="02020503050405090304" pitchFamily="18" charset="0"/>
                <a:ea typeface="楷体_GB2312" pitchFamily="49" charset="-122"/>
              </a:rPr>
              <a:t>；</a:t>
            </a:r>
            <a:endParaRPr kumimoji="1" lang="zh-CN" altLang="en-US" sz="2400" b="1">
              <a:solidFill>
                <a:srgbClr val="000000"/>
              </a:solidFill>
              <a:latin typeface="Times New Roman" panose="02020503050405090304" pitchFamily="18" charset="0"/>
              <a:ea typeface="楷体_GB2312" pitchFamily="49" charset="-122"/>
            </a:endParaRPr>
          </a:p>
        </p:txBody>
      </p:sp>
      <p:sp>
        <p:nvSpPr>
          <p:cNvPr id="48131" name="灯片编号占位符 4"/>
          <p:cNvSpPr>
            <a:spLocks noGrp="1"/>
          </p:cNvSpPr>
          <p:nvPr>
            <p:ph type="sldNum" sz="quarter" idx="4294967295"/>
          </p:nvPr>
        </p:nvSpPr>
        <p:spPr bwMode="auto">
          <a:xfrm>
            <a:off x="7956550" y="6356350"/>
            <a:ext cx="730250" cy="3651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ADFA751C-DD00-4902-A5CC-046E561227B7}" type="slidenum">
              <a:rPr lang="en-US" altLang="zh-CN"/>
            </a:fld>
            <a:endParaRPr lang="en-US" altLang="zh-CN"/>
          </a:p>
        </p:txBody>
      </p:sp>
      <p:sp>
        <p:nvSpPr>
          <p:cNvPr id="48132"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5" name="Rectangle 2"/>
          <p:cNvSpPr txBox="1">
            <a:spLocks noChangeArrowheads="1"/>
          </p:cNvSpPr>
          <p:nvPr/>
        </p:nvSpPr>
        <p:spPr>
          <a:xfrm>
            <a:off x="900113" y="476672"/>
            <a:ext cx="6788869" cy="638845"/>
          </a:xfrm>
          <a:prstGeom prst="rect">
            <a:avLst/>
          </a:prstGeom>
        </p:spPr>
        <p:txBody>
          <a:bodyPr/>
          <a:lstStyle>
            <a:lvl1pPr algn="l" rtl="0" eaLnBrk="0" fontAlgn="base" hangingPunct="0">
              <a:spcBef>
                <a:spcPct val="0"/>
              </a:spcBef>
              <a:spcAft>
                <a:spcPct val="0"/>
              </a:spcAft>
              <a:defRPr sz="3200">
                <a:solidFill>
                  <a:schemeClr val="accent2"/>
                </a:solidFill>
                <a:latin typeface="+mj-lt"/>
                <a:ea typeface="+mj-ea"/>
                <a:cs typeface="+mj-cs"/>
              </a:defRPr>
            </a:lvl1pPr>
            <a:lvl2pPr algn="l" rtl="0" eaLnBrk="0" fontAlgn="base" hangingPunct="0">
              <a:spcBef>
                <a:spcPct val="0"/>
              </a:spcBef>
              <a:spcAft>
                <a:spcPct val="0"/>
              </a:spcAft>
              <a:defRPr sz="3200">
                <a:solidFill>
                  <a:schemeClr val="accent2"/>
                </a:solidFill>
                <a:latin typeface="Garamond" pitchFamily="18" charset="0"/>
                <a:ea typeface="宋体" pitchFamily="2" charset="-122"/>
              </a:defRPr>
            </a:lvl2pPr>
            <a:lvl3pPr algn="l" rtl="0" eaLnBrk="0" fontAlgn="base" hangingPunct="0">
              <a:spcBef>
                <a:spcPct val="0"/>
              </a:spcBef>
              <a:spcAft>
                <a:spcPct val="0"/>
              </a:spcAft>
              <a:defRPr sz="3200">
                <a:solidFill>
                  <a:schemeClr val="accent2"/>
                </a:solidFill>
                <a:latin typeface="Garamond" pitchFamily="18" charset="0"/>
                <a:ea typeface="宋体" pitchFamily="2" charset="-122"/>
              </a:defRPr>
            </a:lvl3pPr>
            <a:lvl4pPr algn="l" rtl="0" eaLnBrk="0" fontAlgn="base" hangingPunct="0">
              <a:spcBef>
                <a:spcPct val="0"/>
              </a:spcBef>
              <a:spcAft>
                <a:spcPct val="0"/>
              </a:spcAft>
              <a:defRPr sz="3200">
                <a:solidFill>
                  <a:schemeClr val="accent2"/>
                </a:solidFill>
                <a:latin typeface="Garamond" pitchFamily="18" charset="0"/>
                <a:ea typeface="宋体" pitchFamily="2" charset="-122"/>
              </a:defRPr>
            </a:lvl4pPr>
            <a:lvl5pPr algn="l" rtl="0" eaLnBrk="0" fontAlgn="base" hangingPunct="0">
              <a:spcBef>
                <a:spcPct val="0"/>
              </a:spcBef>
              <a:spcAft>
                <a:spcPct val="0"/>
              </a:spcAft>
              <a:defRPr sz="3200">
                <a:solidFill>
                  <a:schemeClr val="accent2"/>
                </a:solidFill>
                <a:latin typeface="Garamond" pitchFamily="18" charset="0"/>
                <a:ea typeface="宋体" pitchFamily="2" charset="-122"/>
              </a:defRPr>
            </a:lvl5pPr>
            <a:lvl6pPr marL="457200" algn="l" rtl="0" fontAlgn="base">
              <a:spcBef>
                <a:spcPct val="0"/>
              </a:spcBef>
              <a:spcAft>
                <a:spcPct val="0"/>
              </a:spcAft>
              <a:defRPr sz="3200">
                <a:solidFill>
                  <a:schemeClr val="accent2"/>
                </a:solidFill>
                <a:latin typeface="Garamond" pitchFamily="18" charset="0"/>
                <a:ea typeface="宋体" pitchFamily="2" charset="-122"/>
              </a:defRPr>
            </a:lvl6pPr>
            <a:lvl7pPr marL="914400" algn="l" rtl="0" fontAlgn="base">
              <a:spcBef>
                <a:spcPct val="0"/>
              </a:spcBef>
              <a:spcAft>
                <a:spcPct val="0"/>
              </a:spcAft>
              <a:defRPr sz="3200">
                <a:solidFill>
                  <a:schemeClr val="accent2"/>
                </a:solidFill>
                <a:latin typeface="Garamond" pitchFamily="18" charset="0"/>
                <a:ea typeface="宋体" pitchFamily="2" charset="-122"/>
              </a:defRPr>
            </a:lvl7pPr>
            <a:lvl8pPr marL="1371600" algn="l" rtl="0" fontAlgn="base">
              <a:spcBef>
                <a:spcPct val="0"/>
              </a:spcBef>
              <a:spcAft>
                <a:spcPct val="0"/>
              </a:spcAft>
              <a:defRPr sz="3200">
                <a:solidFill>
                  <a:schemeClr val="accent2"/>
                </a:solidFill>
                <a:latin typeface="Garamond" pitchFamily="18" charset="0"/>
                <a:ea typeface="宋体" pitchFamily="2" charset="-122"/>
              </a:defRPr>
            </a:lvl8pPr>
            <a:lvl9pPr marL="1828800" algn="l" rtl="0" fontAlgn="base">
              <a:spcBef>
                <a:spcPct val="0"/>
              </a:spcBef>
              <a:spcAft>
                <a:spcPct val="0"/>
              </a:spcAft>
              <a:defRPr sz="3200">
                <a:solidFill>
                  <a:schemeClr val="accent2"/>
                </a:solidFill>
                <a:latin typeface="Garamond" pitchFamily="18" charset="0"/>
                <a:ea typeface="宋体" pitchFamily="2" charset="-122"/>
              </a:defRPr>
            </a:lvl9pPr>
          </a:lstStyle>
          <a:p>
            <a:pPr eaLnBrk="1" hangingPunct="1"/>
            <a:r>
              <a:rPr lang="en-US" altLang="zh-CN" kern="0" smtClean="0">
                <a:solidFill>
                  <a:srgbClr val="333399"/>
                </a:solidFill>
              </a:rPr>
              <a:t>1.4.3 </a:t>
            </a:r>
            <a:r>
              <a:rPr lang="zh-CN" altLang="en-US" kern="0" smtClean="0"/>
              <a:t>链表</a:t>
            </a:r>
            <a:endParaRPr lang="en-US" altLang="zh-CN" kern="0" dirty="0" smtClean="0"/>
          </a:p>
        </p:txBody>
      </p:sp>
    </p:spTree>
  </p:cSld>
  <p:clrMapOvr>
    <a:masterClrMapping/>
  </p:clrMapOvr>
  <p:timing>
    <p:tnLst>
      <p:par>
        <p:cTn id="1" dur="indefinite" restart="never" nodeType="tmRoot"/>
      </p:par>
    </p:tn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3"/>
          <p:cNvSpPr>
            <a:spLocks noChangeArrowheads="1"/>
          </p:cNvSpPr>
          <p:nvPr/>
        </p:nvSpPr>
        <p:spPr bwMode="auto">
          <a:xfrm>
            <a:off x="1908175" y="1196975"/>
            <a:ext cx="280828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5875">
                <a:solidFill>
                  <a:srgbClr val="000000"/>
                </a:solidFill>
                <a:miter lim="800000"/>
                <a:headEnd/>
                <a:tailEnd type="none" w="sm" len="sm"/>
              </a14:hiddenLine>
            </a:ext>
          </a:extLst>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r>
              <a:rPr lang="zh-CN" altLang="en-US" sz="2000" b="1">
                <a:solidFill>
                  <a:srgbClr val="0033CC"/>
                </a:solidFill>
                <a:latin typeface="楷体_GB2312" pitchFamily="49" charset="-122"/>
                <a:ea typeface="楷体_GB2312" pitchFamily="49" charset="-122"/>
              </a:rPr>
              <a:t>链表首结点地址</a:t>
            </a:r>
            <a:r>
              <a:rPr lang="zh-CN" altLang="en-US" sz="2000" b="1">
                <a:solidFill>
                  <a:srgbClr val="0033CC"/>
                </a:solidFill>
                <a:latin typeface="Times New Roman" panose="02020503050405090304" pitchFamily="18" charset="0"/>
                <a:ea typeface="楷体_GB2312" pitchFamily="49" charset="-122"/>
                <a:cs typeface="Times New Roman" panose="02020503050405090304" pitchFamily="18" charset="0"/>
              </a:rPr>
              <a:t> </a:t>
            </a:r>
            <a:r>
              <a:rPr lang="en-US" altLang="zh-CN" sz="2000" b="1">
                <a:solidFill>
                  <a:srgbClr val="0033CC"/>
                </a:solidFill>
                <a:latin typeface="Times New Roman" panose="02020503050405090304" pitchFamily="18" charset="0"/>
                <a:ea typeface="楷体_GB2312" pitchFamily="49" charset="-122"/>
                <a:cs typeface="Times New Roman" panose="02020503050405090304" pitchFamily="18" charset="0"/>
              </a:rPr>
              <a:t>head</a:t>
            </a:r>
            <a:endParaRPr lang="en-US" altLang="zh-CN" sz="2000" b="1">
              <a:solidFill>
                <a:srgbClr val="0033CC"/>
              </a:solidFill>
              <a:latin typeface="Times New Roman" panose="02020503050405090304" pitchFamily="18" charset="0"/>
              <a:ea typeface="楷体_GB2312" pitchFamily="49" charset="-122"/>
              <a:cs typeface="Times New Roman" panose="02020503050405090304" pitchFamily="18" charset="0"/>
            </a:endParaRPr>
          </a:p>
          <a:p>
            <a:pPr algn="just">
              <a:lnSpc>
                <a:spcPct val="112000"/>
              </a:lnSpc>
            </a:pPr>
            <a:endParaRPr lang="en-US" altLang="zh-CN" sz="1000">
              <a:solidFill>
                <a:srgbClr val="0033CC"/>
              </a:solidFill>
              <a:latin typeface="楷体_GB2312" pitchFamily="49" charset="-122"/>
              <a:ea typeface="楷体_GB2312" pitchFamily="49" charset="-122"/>
            </a:endParaRPr>
          </a:p>
        </p:txBody>
      </p:sp>
      <p:sp>
        <p:nvSpPr>
          <p:cNvPr id="49155" name="Rectangle 4"/>
          <p:cNvSpPr>
            <a:spLocks noChangeArrowheads="1"/>
          </p:cNvSpPr>
          <p:nvPr/>
        </p:nvSpPr>
        <p:spPr bwMode="auto">
          <a:xfrm>
            <a:off x="4924425" y="1143000"/>
            <a:ext cx="485775"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r>
              <a:rPr lang="en-US" altLang="zh-CN" sz="2000" b="1">
                <a:latin typeface="Times New Roman" panose="02020503050405090304" pitchFamily="18" charset="0"/>
              </a:rPr>
              <a:t>1</a:t>
            </a:r>
            <a:endParaRPr lang="en-US" altLang="zh-CN" sz="2000" b="1">
              <a:latin typeface="Times New Roman" panose="02020503050405090304" pitchFamily="18" charset="0"/>
            </a:endParaRPr>
          </a:p>
        </p:txBody>
      </p:sp>
      <p:sp>
        <p:nvSpPr>
          <p:cNvPr id="49156" name="Rectangle 5"/>
          <p:cNvSpPr>
            <a:spLocks noChangeArrowheads="1"/>
          </p:cNvSpPr>
          <p:nvPr/>
        </p:nvSpPr>
        <p:spPr bwMode="auto">
          <a:xfrm>
            <a:off x="5353050" y="1143000"/>
            <a:ext cx="790575"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r>
              <a:rPr lang="zh-CN" altLang="en-US" sz="2000" b="1">
                <a:latin typeface="Times New Roman" panose="02020503050405090304" pitchFamily="18" charset="0"/>
              </a:rPr>
              <a:t>张斌</a:t>
            </a:r>
            <a:endParaRPr lang="zh-CN" altLang="en-US" sz="2000" b="1">
              <a:latin typeface="Times New Roman" panose="02020503050405090304" pitchFamily="18" charset="0"/>
            </a:endParaRPr>
          </a:p>
        </p:txBody>
      </p:sp>
      <p:sp>
        <p:nvSpPr>
          <p:cNvPr id="49157" name="Rectangle 6"/>
          <p:cNvSpPr>
            <a:spLocks noChangeArrowheads="1"/>
          </p:cNvSpPr>
          <p:nvPr/>
        </p:nvSpPr>
        <p:spPr bwMode="auto">
          <a:xfrm>
            <a:off x="6115050" y="1143000"/>
            <a:ext cx="457200"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r>
              <a:rPr lang="zh-CN" altLang="en-US" sz="2000" b="1">
                <a:latin typeface="Times New Roman" panose="02020503050405090304" pitchFamily="18" charset="0"/>
              </a:rPr>
              <a:t>男</a:t>
            </a:r>
            <a:endParaRPr lang="zh-CN" altLang="en-US" sz="2000" b="1">
              <a:latin typeface="Times New Roman" panose="02020503050405090304" pitchFamily="18" charset="0"/>
            </a:endParaRPr>
          </a:p>
        </p:txBody>
      </p:sp>
      <p:sp>
        <p:nvSpPr>
          <p:cNvPr id="49158" name="Rectangle 7"/>
          <p:cNvSpPr>
            <a:spLocks noChangeArrowheads="1"/>
          </p:cNvSpPr>
          <p:nvPr/>
        </p:nvSpPr>
        <p:spPr bwMode="auto">
          <a:xfrm>
            <a:off x="6543675" y="1143000"/>
            <a:ext cx="714375"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r>
              <a:rPr lang="en-US" altLang="zh-CN" sz="2000">
                <a:latin typeface="Times New Roman" panose="02020503050405090304" pitchFamily="18" charset="0"/>
              </a:rPr>
              <a:t>9901</a:t>
            </a:r>
            <a:endParaRPr lang="en-US" altLang="zh-CN" sz="2000">
              <a:latin typeface="Times New Roman" panose="02020503050405090304" pitchFamily="18" charset="0"/>
            </a:endParaRPr>
          </a:p>
        </p:txBody>
      </p:sp>
      <p:sp>
        <p:nvSpPr>
          <p:cNvPr id="49159" name="Rectangle 8"/>
          <p:cNvSpPr>
            <a:spLocks noChangeArrowheads="1"/>
          </p:cNvSpPr>
          <p:nvPr/>
        </p:nvSpPr>
        <p:spPr bwMode="auto">
          <a:xfrm>
            <a:off x="7258050" y="1143000"/>
            <a:ext cx="485775"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endParaRPr lang="en-US" altLang="zh-CN" sz="900">
              <a:latin typeface="Times New Roman" panose="02020503050405090304" pitchFamily="18" charset="0"/>
            </a:endParaRPr>
          </a:p>
          <a:p>
            <a:pPr algn="just">
              <a:lnSpc>
                <a:spcPct val="112000"/>
              </a:lnSpc>
            </a:pPr>
            <a:endParaRPr lang="en-US" altLang="zh-CN" sz="900">
              <a:latin typeface="Times New Roman" panose="02020503050405090304" pitchFamily="18" charset="0"/>
            </a:endParaRPr>
          </a:p>
        </p:txBody>
      </p:sp>
      <p:sp>
        <p:nvSpPr>
          <p:cNvPr id="49160" name="Line 18"/>
          <p:cNvSpPr>
            <a:spLocks noChangeShapeType="1"/>
          </p:cNvSpPr>
          <p:nvPr/>
        </p:nvSpPr>
        <p:spPr bwMode="auto">
          <a:xfrm>
            <a:off x="4495800" y="1341438"/>
            <a:ext cx="403225" cy="0"/>
          </a:xfrm>
          <a:prstGeom prst="line">
            <a:avLst/>
          </a:prstGeom>
          <a:noFill/>
          <a:ln w="19050">
            <a:solidFill>
              <a:srgbClr val="000000"/>
            </a:solidFill>
            <a:round/>
            <a:tailEnd type="triangle" w="sm" len="sm"/>
          </a:ln>
          <a:extLst>
            <a:ext uri="{909E8E84-426E-40DD-AFC4-6F175D3DCCD1}">
              <a14:hiddenFill xmlns:a14="http://schemas.microsoft.com/office/drawing/2010/main">
                <a:noFill/>
              </a14:hiddenFill>
            </a:ext>
          </a:extLst>
        </p:spPr>
        <p:txBody>
          <a:bodyPr/>
          <a:lstStyle/>
          <a:p>
            <a:endParaRPr lang="zh-CN" altLang="en-US"/>
          </a:p>
        </p:txBody>
      </p:sp>
      <p:sp>
        <p:nvSpPr>
          <p:cNvPr id="49161" name="Rectangle 64"/>
          <p:cNvSpPr>
            <a:spLocks noChangeArrowheads="1"/>
          </p:cNvSpPr>
          <p:nvPr/>
        </p:nvSpPr>
        <p:spPr bwMode="auto">
          <a:xfrm>
            <a:off x="4913313" y="1752600"/>
            <a:ext cx="485775"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r>
              <a:rPr lang="en-US" altLang="zh-CN" sz="2000" b="1">
                <a:latin typeface="Times New Roman" panose="02020503050405090304" pitchFamily="18" charset="0"/>
              </a:rPr>
              <a:t>8</a:t>
            </a:r>
            <a:endParaRPr lang="en-US" altLang="zh-CN" sz="2000" b="1">
              <a:latin typeface="Times New Roman" panose="02020503050405090304" pitchFamily="18" charset="0"/>
            </a:endParaRPr>
          </a:p>
        </p:txBody>
      </p:sp>
      <p:sp>
        <p:nvSpPr>
          <p:cNvPr id="49162" name="Rectangle 65"/>
          <p:cNvSpPr>
            <a:spLocks noChangeArrowheads="1"/>
          </p:cNvSpPr>
          <p:nvPr/>
        </p:nvSpPr>
        <p:spPr bwMode="auto">
          <a:xfrm>
            <a:off x="5353050" y="1752600"/>
            <a:ext cx="790575"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r>
              <a:rPr lang="zh-CN" altLang="en-US" sz="2000" b="1">
                <a:latin typeface="Times New Roman" panose="02020503050405090304" pitchFamily="18" charset="0"/>
              </a:rPr>
              <a:t>刘丽</a:t>
            </a:r>
            <a:endParaRPr lang="zh-CN" altLang="en-US" sz="2000" b="1">
              <a:latin typeface="Times New Roman" panose="02020503050405090304" pitchFamily="18" charset="0"/>
            </a:endParaRPr>
          </a:p>
        </p:txBody>
      </p:sp>
      <p:sp>
        <p:nvSpPr>
          <p:cNvPr id="49163" name="Rectangle 66"/>
          <p:cNvSpPr>
            <a:spLocks noChangeArrowheads="1"/>
          </p:cNvSpPr>
          <p:nvPr/>
        </p:nvSpPr>
        <p:spPr bwMode="auto">
          <a:xfrm>
            <a:off x="6115050" y="1752600"/>
            <a:ext cx="457200"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r>
              <a:rPr lang="zh-CN" altLang="en-US" sz="2000" b="1">
                <a:latin typeface="Times New Roman" panose="02020503050405090304" pitchFamily="18" charset="0"/>
              </a:rPr>
              <a:t>女</a:t>
            </a:r>
            <a:endParaRPr lang="zh-CN" altLang="en-US" sz="2000" b="1">
              <a:latin typeface="Times New Roman" panose="02020503050405090304" pitchFamily="18" charset="0"/>
            </a:endParaRPr>
          </a:p>
        </p:txBody>
      </p:sp>
      <p:sp>
        <p:nvSpPr>
          <p:cNvPr id="49164" name="Rectangle 67"/>
          <p:cNvSpPr>
            <a:spLocks noChangeArrowheads="1"/>
          </p:cNvSpPr>
          <p:nvPr/>
        </p:nvSpPr>
        <p:spPr bwMode="auto">
          <a:xfrm>
            <a:off x="6543675" y="1752600"/>
            <a:ext cx="714375"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r>
              <a:rPr lang="en-US" altLang="zh-CN" sz="2000">
                <a:latin typeface="Times New Roman" panose="02020503050405090304" pitchFamily="18" charset="0"/>
              </a:rPr>
              <a:t>9902</a:t>
            </a:r>
            <a:endParaRPr lang="en-US" altLang="zh-CN" sz="2000">
              <a:latin typeface="Times New Roman" panose="02020503050405090304" pitchFamily="18" charset="0"/>
            </a:endParaRPr>
          </a:p>
        </p:txBody>
      </p:sp>
      <p:sp>
        <p:nvSpPr>
          <p:cNvPr id="49165" name="Rectangle 68"/>
          <p:cNvSpPr>
            <a:spLocks noChangeArrowheads="1"/>
          </p:cNvSpPr>
          <p:nvPr/>
        </p:nvSpPr>
        <p:spPr bwMode="auto">
          <a:xfrm>
            <a:off x="7258050" y="1752600"/>
            <a:ext cx="485775"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endParaRPr lang="en-US" altLang="zh-CN" sz="900">
              <a:latin typeface="Times New Roman" panose="02020503050405090304" pitchFamily="18" charset="0"/>
            </a:endParaRPr>
          </a:p>
          <a:p>
            <a:pPr algn="just">
              <a:lnSpc>
                <a:spcPct val="112000"/>
              </a:lnSpc>
            </a:pPr>
            <a:endParaRPr lang="en-US" altLang="zh-CN" sz="900">
              <a:latin typeface="Times New Roman" panose="02020503050405090304" pitchFamily="18" charset="0"/>
            </a:endParaRPr>
          </a:p>
        </p:txBody>
      </p:sp>
      <p:sp>
        <p:nvSpPr>
          <p:cNvPr id="49166" name="Rectangle 70"/>
          <p:cNvSpPr>
            <a:spLocks noChangeArrowheads="1"/>
          </p:cNvSpPr>
          <p:nvPr/>
        </p:nvSpPr>
        <p:spPr bwMode="auto">
          <a:xfrm>
            <a:off x="4905375" y="2438400"/>
            <a:ext cx="485775"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r>
              <a:rPr lang="en-US" altLang="zh-CN" sz="2000" b="1">
                <a:latin typeface="Times New Roman" panose="02020503050405090304" pitchFamily="18" charset="0"/>
              </a:rPr>
              <a:t>34</a:t>
            </a:r>
            <a:endParaRPr lang="en-US" altLang="zh-CN" sz="2000" b="1">
              <a:latin typeface="Times New Roman" panose="02020503050405090304" pitchFamily="18" charset="0"/>
            </a:endParaRPr>
          </a:p>
        </p:txBody>
      </p:sp>
      <p:sp>
        <p:nvSpPr>
          <p:cNvPr id="49167" name="Rectangle 71"/>
          <p:cNvSpPr>
            <a:spLocks noChangeArrowheads="1"/>
          </p:cNvSpPr>
          <p:nvPr/>
        </p:nvSpPr>
        <p:spPr bwMode="auto">
          <a:xfrm>
            <a:off x="5367338" y="2438400"/>
            <a:ext cx="790575"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r>
              <a:rPr lang="zh-CN" altLang="en-US" sz="2000" b="1">
                <a:latin typeface="Times New Roman" panose="02020503050405090304" pitchFamily="18" charset="0"/>
              </a:rPr>
              <a:t>李英</a:t>
            </a:r>
            <a:endParaRPr lang="zh-CN" altLang="en-US" sz="2000" b="1">
              <a:latin typeface="Times New Roman" panose="02020503050405090304" pitchFamily="18" charset="0"/>
            </a:endParaRPr>
          </a:p>
        </p:txBody>
      </p:sp>
      <p:sp>
        <p:nvSpPr>
          <p:cNvPr id="49168" name="Rectangle 72"/>
          <p:cNvSpPr>
            <a:spLocks noChangeArrowheads="1"/>
          </p:cNvSpPr>
          <p:nvPr/>
        </p:nvSpPr>
        <p:spPr bwMode="auto">
          <a:xfrm>
            <a:off x="6129338" y="2438400"/>
            <a:ext cx="457200"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r>
              <a:rPr lang="zh-CN" altLang="en-US" sz="2000" b="1">
                <a:latin typeface="Times New Roman" panose="02020503050405090304" pitchFamily="18" charset="0"/>
              </a:rPr>
              <a:t>女</a:t>
            </a:r>
            <a:endParaRPr lang="zh-CN" altLang="en-US" sz="2000" b="1">
              <a:latin typeface="Times New Roman" panose="02020503050405090304" pitchFamily="18" charset="0"/>
            </a:endParaRPr>
          </a:p>
        </p:txBody>
      </p:sp>
      <p:sp>
        <p:nvSpPr>
          <p:cNvPr id="49169" name="Rectangle 73"/>
          <p:cNvSpPr>
            <a:spLocks noChangeArrowheads="1"/>
          </p:cNvSpPr>
          <p:nvPr/>
        </p:nvSpPr>
        <p:spPr bwMode="auto">
          <a:xfrm>
            <a:off x="6557963" y="2438400"/>
            <a:ext cx="714375"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r>
              <a:rPr lang="en-US" altLang="zh-CN" sz="2000">
                <a:latin typeface="Times New Roman" panose="02020503050405090304" pitchFamily="18" charset="0"/>
              </a:rPr>
              <a:t>9901</a:t>
            </a:r>
            <a:endParaRPr lang="en-US" altLang="zh-CN" sz="2000">
              <a:latin typeface="Times New Roman" panose="02020503050405090304" pitchFamily="18" charset="0"/>
            </a:endParaRPr>
          </a:p>
        </p:txBody>
      </p:sp>
      <p:sp>
        <p:nvSpPr>
          <p:cNvPr id="49170" name="Rectangle 74"/>
          <p:cNvSpPr>
            <a:spLocks noChangeArrowheads="1"/>
          </p:cNvSpPr>
          <p:nvPr/>
        </p:nvSpPr>
        <p:spPr bwMode="auto">
          <a:xfrm>
            <a:off x="7272338" y="2438400"/>
            <a:ext cx="485775"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endParaRPr lang="en-US" altLang="zh-CN" sz="900">
              <a:latin typeface="Times New Roman" panose="02020503050405090304" pitchFamily="18" charset="0"/>
            </a:endParaRPr>
          </a:p>
          <a:p>
            <a:pPr algn="just">
              <a:lnSpc>
                <a:spcPct val="112000"/>
              </a:lnSpc>
            </a:pPr>
            <a:endParaRPr lang="en-US" altLang="zh-CN" sz="900">
              <a:latin typeface="Times New Roman" panose="02020503050405090304" pitchFamily="18" charset="0"/>
            </a:endParaRPr>
          </a:p>
        </p:txBody>
      </p:sp>
      <p:sp>
        <p:nvSpPr>
          <p:cNvPr id="49171" name="Line 76"/>
          <p:cNvSpPr>
            <a:spLocks noChangeShapeType="1"/>
          </p:cNvSpPr>
          <p:nvPr/>
        </p:nvSpPr>
        <p:spPr bwMode="auto">
          <a:xfrm>
            <a:off x="7502525" y="1371600"/>
            <a:ext cx="0" cy="381000"/>
          </a:xfrm>
          <a:prstGeom prst="line">
            <a:avLst/>
          </a:prstGeom>
          <a:noFill/>
          <a:ln w="15875">
            <a:solidFill>
              <a:schemeClr val="tx1"/>
            </a:solidFill>
            <a:miter lim="800000"/>
            <a:tailEnd type="triangle" w="med" len="med"/>
          </a:ln>
          <a:extLst>
            <a:ext uri="{909E8E84-426E-40DD-AFC4-6F175D3DCCD1}">
              <a14:hiddenFill xmlns:a14="http://schemas.microsoft.com/office/drawing/2010/main">
                <a:noFill/>
              </a14:hiddenFill>
            </a:ext>
          </a:extLst>
        </p:spPr>
        <p:txBody>
          <a:bodyPr wrap="none"/>
          <a:lstStyle/>
          <a:p>
            <a:endParaRPr lang="zh-CN" altLang="en-US"/>
          </a:p>
        </p:txBody>
      </p:sp>
      <p:sp>
        <p:nvSpPr>
          <p:cNvPr id="49172" name="Rectangle 77"/>
          <p:cNvSpPr>
            <a:spLocks noChangeArrowheads="1"/>
          </p:cNvSpPr>
          <p:nvPr/>
        </p:nvSpPr>
        <p:spPr bwMode="auto">
          <a:xfrm>
            <a:off x="4905375" y="3124200"/>
            <a:ext cx="485775"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r>
              <a:rPr lang="en-US" altLang="zh-CN" sz="2000" b="1">
                <a:latin typeface="Times New Roman" panose="02020503050405090304" pitchFamily="18" charset="0"/>
              </a:rPr>
              <a:t>20</a:t>
            </a:r>
            <a:endParaRPr lang="en-US" altLang="zh-CN" sz="2000" b="1">
              <a:latin typeface="Times New Roman" panose="02020503050405090304" pitchFamily="18" charset="0"/>
            </a:endParaRPr>
          </a:p>
        </p:txBody>
      </p:sp>
      <p:sp>
        <p:nvSpPr>
          <p:cNvPr id="49173" name="Rectangle 78"/>
          <p:cNvSpPr>
            <a:spLocks noChangeArrowheads="1"/>
          </p:cNvSpPr>
          <p:nvPr/>
        </p:nvSpPr>
        <p:spPr bwMode="auto">
          <a:xfrm>
            <a:off x="5367338" y="3124200"/>
            <a:ext cx="790575"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r>
              <a:rPr lang="zh-CN" altLang="en-US" sz="2000" b="1">
                <a:latin typeface="Times New Roman" panose="02020503050405090304" pitchFamily="18" charset="0"/>
              </a:rPr>
              <a:t>陈华</a:t>
            </a:r>
            <a:endParaRPr lang="zh-CN" altLang="en-US" sz="2000" b="1">
              <a:latin typeface="Times New Roman" panose="02020503050405090304" pitchFamily="18" charset="0"/>
            </a:endParaRPr>
          </a:p>
        </p:txBody>
      </p:sp>
      <p:sp>
        <p:nvSpPr>
          <p:cNvPr id="49174" name="Rectangle 79"/>
          <p:cNvSpPr>
            <a:spLocks noChangeArrowheads="1"/>
          </p:cNvSpPr>
          <p:nvPr/>
        </p:nvSpPr>
        <p:spPr bwMode="auto">
          <a:xfrm>
            <a:off x="6129338" y="3124200"/>
            <a:ext cx="457200"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r>
              <a:rPr lang="zh-CN" altLang="en-US" sz="2000" b="1">
                <a:latin typeface="Times New Roman" panose="02020503050405090304" pitchFamily="18" charset="0"/>
              </a:rPr>
              <a:t>男</a:t>
            </a:r>
            <a:endParaRPr lang="zh-CN" altLang="en-US" sz="2000" b="1">
              <a:latin typeface="Times New Roman" panose="02020503050405090304" pitchFamily="18" charset="0"/>
            </a:endParaRPr>
          </a:p>
        </p:txBody>
      </p:sp>
      <p:sp>
        <p:nvSpPr>
          <p:cNvPr id="49175" name="Rectangle 80"/>
          <p:cNvSpPr>
            <a:spLocks noChangeArrowheads="1"/>
          </p:cNvSpPr>
          <p:nvPr/>
        </p:nvSpPr>
        <p:spPr bwMode="auto">
          <a:xfrm>
            <a:off x="6557963" y="3124200"/>
            <a:ext cx="714375"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r>
              <a:rPr lang="en-US" altLang="zh-CN" sz="2000">
                <a:latin typeface="Times New Roman" panose="02020503050405090304" pitchFamily="18" charset="0"/>
              </a:rPr>
              <a:t>9902</a:t>
            </a:r>
            <a:endParaRPr lang="en-US" altLang="zh-CN" sz="2000">
              <a:latin typeface="Times New Roman" panose="02020503050405090304" pitchFamily="18" charset="0"/>
            </a:endParaRPr>
          </a:p>
        </p:txBody>
      </p:sp>
      <p:sp>
        <p:nvSpPr>
          <p:cNvPr id="49176" name="Rectangle 81"/>
          <p:cNvSpPr>
            <a:spLocks noChangeArrowheads="1"/>
          </p:cNvSpPr>
          <p:nvPr/>
        </p:nvSpPr>
        <p:spPr bwMode="auto">
          <a:xfrm>
            <a:off x="7272338" y="3124200"/>
            <a:ext cx="485775"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endParaRPr lang="en-US" altLang="zh-CN" sz="900">
              <a:latin typeface="Times New Roman" panose="02020503050405090304" pitchFamily="18" charset="0"/>
            </a:endParaRPr>
          </a:p>
          <a:p>
            <a:pPr algn="just">
              <a:lnSpc>
                <a:spcPct val="112000"/>
              </a:lnSpc>
            </a:pPr>
            <a:endParaRPr lang="en-US" altLang="zh-CN" sz="900">
              <a:latin typeface="Times New Roman" panose="02020503050405090304" pitchFamily="18" charset="0"/>
            </a:endParaRPr>
          </a:p>
        </p:txBody>
      </p:sp>
      <p:sp>
        <p:nvSpPr>
          <p:cNvPr id="49177" name="Rectangle 88"/>
          <p:cNvSpPr>
            <a:spLocks noChangeArrowheads="1"/>
          </p:cNvSpPr>
          <p:nvPr/>
        </p:nvSpPr>
        <p:spPr bwMode="auto">
          <a:xfrm>
            <a:off x="4905375" y="3810000"/>
            <a:ext cx="485775"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r>
              <a:rPr lang="en-US" altLang="zh-CN" sz="2000" b="1">
                <a:latin typeface="Times New Roman" panose="02020503050405090304" pitchFamily="18" charset="0"/>
              </a:rPr>
              <a:t>12</a:t>
            </a:r>
            <a:endParaRPr lang="en-US" altLang="zh-CN" sz="2000" b="1">
              <a:latin typeface="Times New Roman" panose="02020503050405090304" pitchFamily="18" charset="0"/>
            </a:endParaRPr>
          </a:p>
        </p:txBody>
      </p:sp>
      <p:sp>
        <p:nvSpPr>
          <p:cNvPr id="49178" name="Rectangle 89"/>
          <p:cNvSpPr>
            <a:spLocks noChangeArrowheads="1"/>
          </p:cNvSpPr>
          <p:nvPr/>
        </p:nvSpPr>
        <p:spPr bwMode="auto">
          <a:xfrm>
            <a:off x="5367338" y="3810000"/>
            <a:ext cx="790575"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r>
              <a:rPr lang="zh-CN" altLang="en-US" sz="2000" b="1">
                <a:latin typeface="Times New Roman" panose="02020503050405090304" pitchFamily="18" charset="0"/>
              </a:rPr>
              <a:t>王奇</a:t>
            </a:r>
            <a:endParaRPr lang="zh-CN" altLang="en-US" sz="2000" b="1">
              <a:latin typeface="Times New Roman" panose="02020503050405090304" pitchFamily="18" charset="0"/>
            </a:endParaRPr>
          </a:p>
        </p:txBody>
      </p:sp>
      <p:sp>
        <p:nvSpPr>
          <p:cNvPr id="49179" name="Rectangle 90"/>
          <p:cNvSpPr>
            <a:spLocks noChangeArrowheads="1"/>
          </p:cNvSpPr>
          <p:nvPr/>
        </p:nvSpPr>
        <p:spPr bwMode="auto">
          <a:xfrm>
            <a:off x="6129338" y="3810000"/>
            <a:ext cx="457200"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r>
              <a:rPr lang="zh-CN" altLang="en-US" sz="2000" b="1">
                <a:latin typeface="Times New Roman" panose="02020503050405090304" pitchFamily="18" charset="0"/>
              </a:rPr>
              <a:t>男</a:t>
            </a:r>
            <a:endParaRPr lang="zh-CN" altLang="en-US" sz="2000" b="1">
              <a:latin typeface="Times New Roman" panose="02020503050405090304" pitchFamily="18" charset="0"/>
            </a:endParaRPr>
          </a:p>
        </p:txBody>
      </p:sp>
      <p:sp>
        <p:nvSpPr>
          <p:cNvPr id="49180" name="Rectangle 91"/>
          <p:cNvSpPr>
            <a:spLocks noChangeArrowheads="1"/>
          </p:cNvSpPr>
          <p:nvPr/>
        </p:nvSpPr>
        <p:spPr bwMode="auto">
          <a:xfrm>
            <a:off x="6557963" y="3810000"/>
            <a:ext cx="714375"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r>
              <a:rPr lang="en-US" altLang="zh-CN" sz="2000">
                <a:latin typeface="Times New Roman" panose="02020503050405090304" pitchFamily="18" charset="0"/>
              </a:rPr>
              <a:t>9901</a:t>
            </a:r>
            <a:endParaRPr lang="en-US" altLang="zh-CN" sz="2000">
              <a:latin typeface="Times New Roman" panose="02020503050405090304" pitchFamily="18" charset="0"/>
            </a:endParaRPr>
          </a:p>
        </p:txBody>
      </p:sp>
      <p:sp>
        <p:nvSpPr>
          <p:cNvPr id="49181" name="Rectangle 92"/>
          <p:cNvSpPr>
            <a:spLocks noChangeArrowheads="1"/>
          </p:cNvSpPr>
          <p:nvPr/>
        </p:nvSpPr>
        <p:spPr bwMode="auto">
          <a:xfrm>
            <a:off x="7272338" y="3810000"/>
            <a:ext cx="485775"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endParaRPr lang="en-US" altLang="zh-CN" sz="900">
              <a:latin typeface="Times New Roman" panose="02020503050405090304" pitchFamily="18" charset="0"/>
            </a:endParaRPr>
          </a:p>
          <a:p>
            <a:pPr algn="just">
              <a:lnSpc>
                <a:spcPct val="112000"/>
              </a:lnSpc>
            </a:pPr>
            <a:endParaRPr lang="en-US" altLang="zh-CN" sz="900">
              <a:latin typeface="Times New Roman" panose="02020503050405090304" pitchFamily="18" charset="0"/>
            </a:endParaRPr>
          </a:p>
        </p:txBody>
      </p:sp>
      <p:sp>
        <p:nvSpPr>
          <p:cNvPr id="49182" name="Rectangle 93"/>
          <p:cNvSpPr>
            <a:spLocks noChangeArrowheads="1"/>
          </p:cNvSpPr>
          <p:nvPr/>
        </p:nvSpPr>
        <p:spPr bwMode="auto">
          <a:xfrm>
            <a:off x="4919663" y="4435475"/>
            <a:ext cx="485775"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r>
              <a:rPr lang="en-US" altLang="zh-CN" sz="2000" b="1">
                <a:latin typeface="Times New Roman" panose="02020503050405090304" pitchFamily="18" charset="0"/>
              </a:rPr>
              <a:t>26</a:t>
            </a:r>
            <a:endParaRPr lang="en-US" altLang="zh-CN" sz="2000" b="1">
              <a:latin typeface="Times New Roman" panose="02020503050405090304" pitchFamily="18" charset="0"/>
            </a:endParaRPr>
          </a:p>
        </p:txBody>
      </p:sp>
      <p:sp>
        <p:nvSpPr>
          <p:cNvPr id="49183" name="Rectangle 94"/>
          <p:cNvSpPr>
            <a:spLocks noChangeArrowheads="1"/>
          </p:cNvSpPr>
          <p:nvPr/>
        </p:nvSpPr>
        <p:spPr bwMode="auto">
          <a:xfrm>
            <a:off x="5381625" y="4435475"/>
            <a:ext cx="790575"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r>
              <a:rPr lang="zh-CN" altLang="en-US" sz="2000" b="1">
                <a:latin typeface="Times New Roman" panose="02020503050405090304" pitchFamily="18" charset="0"/>
              </a:rPr>
              <a:t>董强</a:t>
            </a:r>
            <a:endParaRPr lang="zh-CN" altLang="en-US" sz="2000" b="1">
              <a:latin typeface="Times New Roman" panose="02020503050405090304" pitchFamily="18" charset="0"/>
            </a:endParaRPr>
          </a:p>
        </p:txBody>
      </p:sp>
      <p:sp>
        <p:nvSpPr>
          <p:cNvPr id="49184" name="Rectangle 95"/>
          <p:cNvSpPr>
            <a:spLocks noChangeArrowheads="1"/>
          </p:cNvSpPr>
          <p:nvPr/>
        </p:nvSpPr>
        <p:spPr bwMode="auto">
          <a:xfrm>
            <a:off x="6143625" y="4435475"/>
            <a:ext cx="457200"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r>
              <a:rPr lang="zh-CN" altLang="en-US" sz="2000" b="1">
                <a:latin typeface="Times New Roman" panose="02020503050405090304" pitchFamily="18" charset="0"/>
              </a:rPr>
              <a:t>男</a:t>
            </a:r>
            <a:endParaRPr lang="zh-CN" altLang="en-US" sz="2000" b="1">
              <a:latin typeface="Times New Roman" panose="02020503050405090304" pitchFamily="18" charset="0"/>
            </a:endParaRPr>
          </a:p>
        </p:txBody>
      </p:sp>
      <p:sp>
        <p:nvSpPr>
          <p:cNvPr id="49185" name="Rectangle 96"/>
          <p:cNvSpPr>
            <a:spLocks noChangeArrowheads="1"/>
          </p:cNvSpPr>
          <p:nvPr/>
        </p:nvSpPr>
        <p:spPr bwMode="auto">
          <a:xfrm>
            <a:off x="6572250" y="4435475"/>
            <a:ext cx="714375"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r>
              <a:rPr lang="en-US" altLang="zh-CN" sz="2000">
                <a:latin typeface="Times New Roman" panose="02020503050405090304" pitchFamily="18" charset="0"/>
              </a:rPr>
              <a:t>9902</a:t>
            </a:r>
            <a:endParaRPr lang="en-US" altLang="zh-CN" sz="2000">
              <a:latin typeface="Times New Roman" panose="02020503050405090304" pitchFamily="18" charset="0"/>
            </a:endParaRPr>
          </a:p>
        </p:txBody>
      </p:sp>
      <p:sp>
        <p:nvSpPr>
          <p:cNvPr id="49186" name="Rectangle 97"/>
          <p:cNvSpPr>
            <a:spLocks noChangeArrowheads="1"/>
          </p:cNvSpPr>
          <p:nvPr/>
        </p:nvSpPr>
        <p:spPr bwMode="auto">
          <a:xfrm>
            <a:off x="7286625" y="4435475"/>
            <a:ext cx="485775"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endParaRPr lang="en-US" altLang="zh-CN" sz="900">
              <a:latin typeface="Times New Roman" panose="02020503050405090304" pitchFamily="18" charset="0"/>
            </a:endParaRPr>
          </a:p>
          <a:p>
            <a:pPr algn="just">
              <a:lnSpc>
                <a:spcPct val="112000"/>
              </a:lnSpc>
            </a:pPr>
            <a:endParaRPr lang="en-US" altLang="zh-CN" sz="900">
              <a:latin typeface="Times New Roman" panose="02020503050405090304" pitchFamily="18" charset="0"/>
            </a:endParaRPr>
          </a:p>
        </p:txBody>
      </p:sp>
      <p:sp>
        <p:nvSpPr>
          <p:cNvPr id="49187" name="Rectangle 98"/>
          <p:cNvSpPr>
            <a:spLocks noChangeArrowheads="1"/>
          </p:cNvSpPr>
          <p:nvPr/>
        </p:nvSpPr>
        <p:spPr bwMode="auto">
          <a:xfrm>
            <a:off x="4919663" y="5029200"/>
            <a:ext cx="485775"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r>
              <a:rPr lang="en-US" altLang="zh-CN" sz="2000" b="1">
                <a:latin typeface="Times New Roman" panose="02020503050405090304" pitchFamily="18" charset="0"/>
              </a:rPr>
              <a:t>5</a:t>
            </a:r>
            <a:endParaRPr lang="en-US" altLang="zh-CN" sz="2000" b="1">
              <a:latin typeface="Times New Roman" panose="02020503050405090304" pitchFamily="18" charset="0"/>
            </a:endParaRPr>
          </a:p>
        </p:txBody>
      </p:sp>
      <p:sp>
        <p:nvSpPr>
          <p:cNvPr id="49188" name="Rectangle 99"/>
          <p:cNvSpPr>
            <a:spLocks noChangeArrowheads="1"/>
          </p:cNvSpPr>
          <p:nvPr/>
        </p:nvSpPr>
        <p:spPr bwMode="auto">
          <a:xfrm>
            <a:off x="5381625" y="5029200"/>
            <a:ext cx="790575"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r>
              <a:rPr lang="zh-CN" altLang="en-US" sz="2000" b="1">
                <a:latin typeface="Times New Roman" panose="02020503050405090304" pitchFamily="18" charset="0"/>
              </a:rPr>
              <a:t>王萍</a:t>
            </a:r>
            <a:endParaRPr lang="zh-CN" altLang="en-US" sz="2000" b="1">
              <a:latin typeface="Times New Roman" panose="02020503050405090304" pitchFamily="18" charset="0"/>
            </a:endParaRPr>
          </a:p>
        </p:txBody>
      </p:sp>
      <p:sp>
        <p:nvSpPr>
          <p:cNvPr id="49189" name="Rectangle 100"/>
          <p:cNvSpPr>
            <a:spLocks noChangeArrowheads="1"/>
          </p:cNvSpPr>
          <p:nvPr/>
        </p:nvSpPr>
        <p:spPr bwMode="auto">
          <a:xfrm>
            <a:off x="6143625" y="5029200"/>
            <a:ext cx="457200"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r>
              <a:rPr lang="zh-CN" altLang="en-US" sz="2000" b="1">
                <a:latin typeface="Times New Roman" panose="02020503050405090304" pitchFamily="18" charset="0"/>
              </a:rPr>
              <a:t>女</a:t>
            </a:r>
            <a:endParaRPr lang="zh-CN" altLang="en-US" sz="2000" b="1">
              <a:latin typeface="Times New Roman" panose="02020503050405090304" pitchFamily="18" charset="0"/>
            </a:endParaRPr>
          </a:p>
        </p:txBody>
      </p:sp>
      <p:sp>
        <p:nvSpPr>
          <p:cNvPr id="49190" name="Rectangle 101"/>
          <p:cNvSpPr>
            <a:spLocks noChangeArrowheads="1"/>
          </p:cNvSpPr>
          <p:nvPr/>
        </p:nvSpPr>
        <p:spPr bwMode="auto">
          <a:xfrm>
            <a:off x="6572250" y="5029200"/>
            <a:ext cx="714375"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lnSpc>
                <a:spcPct val="112000"/>
              </a:lnSpc>
            </a:pPr>
            <a:r>
              <a:rPr lang="en-US" altLang="zh-CN" sz="2000">
                <a:latin typeface="Times New Roman" panose="02020503050405090304" pitchFamily="18" charset="0"/>
              </a:rPr>
              <a:t>9901</a:t>
            </a:r>
            <a:endParaRPr lang="en-US" altLang="zh-CN" sz="2000">
              <a:latin typeface="Times New Roman" panose="02020503050405090304" pitchFamily="18" charset="0"/>
            </a:endParaRPr>
          </a:p>
        </p:txBody>
      </p:sp>
      <p:sp>
        <p:nvSpPr>
          <p:cNvPr id="49191" name="Rectangle 102"/>
          <p:cNvSpPr>
            <a:spLocks noChangeArrowheads="1"/>
          </p:cNvSpPr>
          <p:nvPr/>
        </p:nvSpPr>
        <p:spPr bwMode="auto">
          <a:xfrm>
            <a:off x="7286625" y="5029200"/>
            <a:ext cx="485775" cy="396875"/>
          </a:xfrm>
          <a:prstGeom prst="rect">
            <a:avLst/>
          </a:prstGeom>
          <a:solidFill>
            <a:srgbClr val="FFFFFF"/>
          </a:solidFill>
          <a:ln w="15875">
            <a:solidFill>
              <a:srgbClr val="000000"/>
            </a:solidFill>
            <a:miter lim="800000"/>
            <a:tailEnd type="none" w="sm" len="sm"/>
          </a:ln>
        </p:spPr>
        <p:txBody>
          <a:bodyPr tIns="0" bIns="0"/>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r>
              <a:rPr lang="en-US" altLang="zh-CN" sz="2000" b="1">
                <a:latin typeface="宋体" pitchFamily="2" charset="-122"/>
              </a:rPr>
              <a:t>∧</a:t>
            </a:r>
            <a:endParaRPr lang="en-US" altLang="zh-CN" sz="2000" b="1">
              <a:latin typeface="宋体" pitchFamily="2" charset="-122"/>
            </a:endParaRPr>
          </a:p>
        </p:txBody>
      </p:sp>
      <p:sp>
        <p:nvSpPr>
          <p:cNvPr id="49192" name="Line 103"/>
          <p:cNvSpPr>
            <a:spLocks noChangeShapeType="1"/>
          </p:cNvSpPr>
          <p:nvPr/>
        </p:nvSpPr>
        <p:spPr bwMode="auto">
          <a:xfrm>
            <a:off x="7502525" y="1905000"/>
            <a:ext cx="0" cy="533400"/>
          </a:xfrm>
          <a:prstGeom prst="line">
            <a:avLst/>
          </a:prstGeom>
          <a:noFill/>
          <a:ln w="15875">
            <a:solidFill>
              <a:schemeClr val="tx1"/>
            </a:solidFill>
            <a:miter lim="800000"/>
            <a:tailEnd type="triangle" w="med" len="med"/>
          </a:ln>
          <a:extLst>
            <a:ext uri="{909E8E84-426E-40DD-AFC4-6F175D3DCCD1}">
              <a14:hiddenFill xmlns:a14="http://schemas.microsoft.com/office/drawing/2010/main">
                <a:noFill/>
              </a14:hiddenFill>
            </a:ext>
          </a:extLst>
        </p:spPr>
        <p:txBody>
          <a:bodyPr wrap="none"/>
          <a:lstStyle/>
          <a:p>
            <a:endParaRPr lang="zh-CN" altLang="en-US"/>
          </a:p>
        </p:txBody>
      </p:sp>
      <p:sp>
        <p:nvSpPr>
          <p:cNvPr id="49193" name="Line 104"/>
          <p:cNvSpPr>
            <a:spLocks noChangeShapeType="1"/>
          </p:cNvSpPr>
          <p:nvPr/>
        </p:nvSpPr>
        <p:spPr bwMode="auto">
          <a:xfrm>
            <a:off x="7489825" y="2667000"/>
            <a:ext cx="0" cy="457200"/>
          </a:xfrm>
          <a:prstGeom prst="line">
            <a:avLst/>
          </a:prstGeom>
          <a:noFill/>
          <a:ln w="15875">
            <a:solidFill>
              <a:schemeClr val="tx1"/>
            </a:solidFill>
            <a:miter lim="800000"/>
            <a:tailEnd type="triangle" w="med" len="med"/>
          </a:ln>
          <a:extLst>
            <a:ext uri="{909E8E84-426E-40DD-AFC4-6F175D3DCCD1}">
              <a14:hiddenFill xmlns:a14="http://schemas.microsoft.com/office/drawing/2010/main">
                <a:noFill/>
              </a14:hiddenFill>
            </a:ext>
          </a:extLst>
        </p:spPr>
        <p:txBody>
          <a:bodyPr wrap="none"/>
          <a:lstStyle/>
          <a:p>
            <a:endParaRPr lang="zh-CN" altLang="en-US"/>
          </a:p>
        </p:txBody>
      </p:sp>
      <p:sp>
        <p:nvSpPr>
          <p:cNvPr id="49194" name="Line 105"/>
          <p:cNvSpPr>
            <a:spLocks noChangeShapeType="1"/>
          </p:cNvSpPr>
          <p:nvPr/>
        </p:nvSpPr>
        <p:spPr bwMode="auto">
          <a:xfrm>
            <a:off x="7489825" y="3352800"/>
            <a:ext cx="0" cy="457200"/>
          </a:xfrm>
          <a:prstGeom prst="line">
            <a:avLst/>
          </a:prstGeom>
          <a:noFill/>
          <a:ln w="15875">
            <a:solidFill>
              <a:schemeClr val="tx1"/>
            </a:solidFill>
            <a:miter lim="800000"/>
            <a:tailEnd type="triangle" w="med" len="med"/>
          </a:ln>
          <a:extLst>
            <a:ext uri="{909E8E84-426E-40DD-AFC4-6F175D3DCCD1}">
              <a14:hiddenFill xmlns:a14="http://schemas.microsoft.com/office/drawing/2010/main">
                <a:noFill/>
              </a14:hiddenFill>
            </a:ext>
          </a:extLst>
        </p:spPr>
        <p:txBody>
          <a:bodyPr wrap="none"/>
          <a:lstStyle/>
          <a:p>
            <a:endParaRPr lang="zh-CN" altLang="en-US"/>
          </a:p>
        </p:txBody>
      </p:sp>
      <p:sp>
        <p:nvSpPr>
          <p:cNvPr id="49195" name="Line 106"/>
          <p:cNvSpPr>
            <a:spLocks noChangeShapeType="1"/>
          </p:cNvSpPr>
          <p:nvPr/>
        </p:nvSpPr>
        <p:spPr bwMode="auto">
          <a:xfrm>
            <a:off x="7489825" y="4038600"/>
            <a:ext cx="0" cy="381000"/>
          </a:xfrm>
          <a:prstGeom prst="line">
            <a:avLst/>
          </a:prstGeom>
          <a:noFill/>
          <a:ln w="15875">
            <a:solidFill>
              <a:schemeClr val="tx1"/>
            </a:solidFill>
            <a:miter lim="800000"/>
            <a:tailEnd type="triangle" w="med" len="med"/>
          </a:ln>
          <a:extLst>
            <a:ext uri="{909E8E84-426E-40DD-AFC4-6F175D3DCCD1}">
              <a14:hiddenFill xmlns:a14="http://schemas.microsoft.com/office/drawing/2010/main">
                <a:noFill/>
              </a14:hiddenFill>
            </a:ext>
          </a:extLst>
        </p:spPr>
        <p:txBody>
          <a:bodyPr wrap="none"/>
          <a:lstStyle/>
          <a:p>
            <a:endParaRPr lang="zh-CN" altLang="en-US"/>
          </a:p>
        </p:txBody>
      </p:sp>
      <p:sp>
        <p:nvSpPr>
          <p:cNvPr id="49196" name="Line 107"/>
          <p:cNvSpPr>
            <a:spLocks noChangeShapeType="1"/>
          </p:cNvSpPr>
          <p:nvPr/>
        </p:nvSpPr>
        <p:spPr bwMode="auto">
          <a:xfrm>
            <a:off x="7489825" y="4648200"/>
            <a:ext cx="0" cy="381000"/>
          </a:xfrm>
          <a:prstGeom prst="line">
            <a:avLst/>
          </a:prstGeom>
          <a:noFill/>
          <a:ln w="15875">
            <a:solidFill>
              <a:schemeClr val="tx1"/>
            </a:solidFill>
            <a:miter lim="800000"/>
            <a:tailEnd type="triangle" w="med" len="med"/>
          </a:ln>
          <a:extLst>
            <a:ext uri="{909E8E84-426E-40DD-AFC4-6F175D3DCCD1}">
              <a14:hiddenFill xmlns:a14="http://schemas.microsoft.com/office/drawing/2010/main">
                <a:noFill/>
              </a14:hiddenFill>
            </a:ext>
          </a:extLst>
        </p:spPr>
        <p:txBody>
          <a:bodyPr wrap="none"/>
          <a:lstStyle/>
          <a:p>
            <a:endParaRPr lang="zh-CN" altLang="en-US"/>
          </a:p>
        </p:txBody>
      </p:sp>
      <p:sp>
        <p:nvSpPr>
          <p:cNvPr id="49197" name="Text Box 108"/>
          <p:cNvSpPr txBox="1">
            <a:spLocks noChangeArrowheads="1"/>
          </p:cNvSpPr>
          <p:nvPr/>
        </p:nvSpPr>
        <p:spPr bwMode="auto">
          <a:xfrm>
            <a:off x="609600" y="1966913"/>
            <a:ext cx="3200400" cy="22145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lnSpc>
                <a:spcPct val="120000"/>
              </a:lnSpc>
              <a:spcBef>
                <a:spcPct val="50000"/>
              </a:spcBef>
            </a:pPr>
            <a:r>
              <a:rPr kumimoji="1" lang="en-US" altLang="zh-CN" sz="3200" b="1">
                <a:latin typeface="楷体_GB2312" pitchFamily="49" charset="-122"/>
                <a:ea typeface="楷体_GB2312" pitchFamily="49" charset="-122"/>
              </a:rPr>
              <a:t>   </a:t>
            </a:r>
            <a:r>
              <a:rPr kumimoji="1" lang="zh-CN" altLang="en-US" sz="2800" b="1">
                <a:latin typeface="Times New Roman" panose="02020503050405090304" pitchFamily="18" charset="0"/>
                <a:ea typeface="楷体_GB2312" pitchFamily="49" charset="-122"/>
              </a:rPr>
              <a:t>学生表构成的链表如右图所示。其中的</a:t>
            </a:r>
            <a:r>
              <a:rPr kumimoji="1" lang="en-US" altLang="zh-CN" sz="2800" b="1">
                <a:latin typeface="Times New Roman" panose="02020503050405090304" pitchFamily="18" charset="0"/>
                <a:ea typeface="楷体_GB2312" pitchFamily="49" charset="-122"/>
              </a:rPr>
              <a:t>head</a:t>
            </a:r>
            <a:r>
              <a:rPr kumimoji="1" lang="zh-CN" altLang="en-US" sz="2800" b="1">
                <a:latin typeface="Times New Roman" panose="02020503050405090304" pitchFamily="18" charset="0"/>
                <a:ea typeface="楷体_GB2312" pitchFamily="49" charset="-122"/>
              </a:rPr>
              <a:t>为第一个数据元素的指针。</a:t>
            </a:r>
            <a:endParaRPr kumimoji="1" lang="zh-CN" altLang="en-US" sz="2800" b="1">
              <a:latin typeface="Times New Roman" panose="02020503050405090304" pitchFamily="18" charset="0"/>
              <a:ea typeface="楷体_GB2312" pitchFamily="49" charset="-122"/>
            </a:endParaRPr>
          </a:p>
        </p:txBody>
      </p:sp>
      <p:sp>
        <p:nvSpPr>
          <p:cNvPr id="49198" name="Text Box 109"/>
          <p:cNvSpPr txBox="1">
            <a:spLocks noChangeArrowheads="1"/>
          </p:cNvSpPr>
          <p:nvPr/>
        </p:nvSpPr>
        <p:spPr bwMode="auto">
          <a:xfrm>
            <a:off x="4648200" y="5791200"/>
            <a:ext cx="39624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50000"/>
              </a:spcBef>
            </a:pPr>
            <a:r>
              <a:rPr kumimoji="1" lang="en-US" altLang="zh-CN" sz="2400" b="1">
                <a:solidFill>
                  <a:schemeClr val="bg1"/>
                </a:solidFill>
                <a:latin typeface="楷体_GB2312" pitchFamily="49" charset="-122"/>
                <a:ea typeface="楷体_GB2312" pitchFamily="49" charset="-122"/>
              </a:rPr>
              <a:t>  </a:t>
            </a:r>
            <a:r>
              <a:rPr kumimoji="1" lang="zh-CN" altLang="en-US" sz="2400" b="1">
                <a:solidFill>
                  <a:schemeClr val="bg1"/>
                </a:solidFill>
                <a:latin typeface="楷体_GB2312" pitchFamily="49" charset="-122"/>
                <a:ea typeface="楷体_GB2312" pitchFamily="49" charset="-122"/>
              </a:rPr>
              <a:t>学生表构成的链表</a:t>
            </a:r>
            <a:endParaRPr kumimoji="1" lang="zh-CN" altLang="en-US" sz="2400" b="1">
              <a:solidFill>
                <a:schemeClr val="bg1"/>
              </a:solidFill>
              <a:latin typeface="楷体_GB2312" pitchFamily="49" charset="-122"/>
              <a:ea typeface="楷体_GB2312" pitchFamily="49" charset="-122"/>
            </a:endParaRPr>
          </a:p>
        </p:txBody>
      </p:sp>
      <p:sp>
        <p:nvSpPr>
          <p:cNvPr id="49199" name="灯片编号占位符 48"/>
          <p:cNvSpPr>
            <a:spLocks noGrp="1"/>
          </p:cNvSpPr>
          <p:nvPr>
            <p:ph type="sldNum" sz="quarter" idx="4294967295"/>
          </p:nvPr>
        </p:nvSpPr>
        <p:spPr bwMode="auto">
          <a:xfrm>
            <a:off x="7956550" y="6356350"/>
            <a:ext cx="730250" cy="3651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E5FF968F-C44A-4645-B2D7-0C8EA8F143BC}" type="slidenum">
              <a:rPr lang="en-US" altLang="zh-CN"/>
            </a:fld>
            <a:endParaRPr lang="en-US" altLang="zh-CN"/>
          </a:p>
        </p:txBody>
      </p:sp>
      <p:sp>
        <p:nvSpPr>
          <p:cNvPr id="49200"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49" name="Rectangle 2"/>
          <p:cNvSpPr txBox="1">
            <a:spLocks noChangeArrowheads="1"/>
          </p:cNvSpPr>
          <p:nvPr/>
        </p:nvSpPr>
        <p:spPr>
          <a:xfrm>
            <a:off x="900113" y="476672"/>
            <a:ext cx="6788869" cy="638845"/>
          </a:xfrm>
          <a:prstGeom prst="rect">
            <a:avLst/>
          </a:prstGeom>
        </p:spPr>
        <p:txBody>
          <a:bodyPr/>
          <a:lstStyle>
            <a:lvl1pPr algn="l" rtl="0" eaLnBrk="0" fontAlgn="base" hangingPunct="0">
              <a:spcBef>
                <a:spcPct val="0"/>
              </a:spcBef>
              <a:spcAft>
                <a:spcPct val="0"/>
              </a:spcAft>
              <a:defRPr sz="3200">
                <a:solidFill>
                  <a:schemeClr val="accent2"/>
                </a:solidFill>
                <a:latin typeface="+mj-lt"/>
                <a:ea typeface="+mj-ea"/>
                <a:cs typeface="+mj-cs"/>
              </a:defRPr>
            </a:lvl1pPr>
            <a:lvl2pPr algn="l" rtl="0" eaLnBrk="0" fontAlgn="base" hangingPunct="0">
              <a:spcBef>
                <a:spcPct val="0"/>
              </a:spcBef>
              <a:spcAft>
                <a:spcPct val="0"/>
              </a:spcAft>
              <a:defRPr sz="3200">
                <a:solidFill>
                  <a:schemeClr val="accent2"/>
                </a:solidFill>
                <a:latin typeface="Garamond" pitchFamily="18" charset="0"/>
                <a:ea typeface="宋体" pitchFamily="2" charset="-122"/>
              </a:defRPr>
            </a:lvl2pPr>
            <a:lvl3pPr algn="l" rtl="0" eaLnBrk="0" fontAlgn="base" hangingPunct="0">
              <a:spcBef>
                <a:spcPct val="0"/>
              </a:spcBef>
              <a:spcAft>
                <a:spcPct val="0"/>
              </a:spcAft>
              <a:defRPr sz="3200">
                <a:solidFill>
                  <a:schemeClr val="accent2"/>
                </a:solidFill>
                <a:latin typeface="Garamond" pitchFamily="18" charset="0"/>
                <a:ea typeface="宋体" pitchFamily="2" charset="-122"/>
              </a:defRPr>
            </a:lvl3pPr>
            <a:lvl4pPr algn="l" rtl="0" eaLnBrk="0" fontAlgn="base" hangingPunct="0">
              <a:spcBef>
                <a:spcPct val="0"/>
              </a:spcBef>
              <a:spcAft>
                <a:spcPct val="0"/>
              </a:spcAft>
              <a:defRPr sz="3200">
                <a:solidFill>
                  <a:schemeClr val="accent2"/>
                </a:solidFill>
                <a:latin typeface="Garamond" pitchFamily="18" charset="0"/>
                <a:ea typeface="宋体" pitchFamily="2" charset="-122"/>
              </a:defRPr>
            </a:lvl4pPr>
            <a:lvl5pPr algn="l" rtl="0" eaLnBrk="0" fontAlgn="base" hangingPunct="0">
              <a:spcBef>
                <a:spcPct val="0"/>
              </a:spcBef>
              <a:spcAft>
                <a:spcPct val="0"/>
              </a:spcAft>
              <a:defRPr sz="3200">
                <a:solidFill>
                  <a:schemeClr val="accent2"/>
                </a:solidFill>
                <a:latin typeface="Garamond" pitchFamily="18" charset="0"/>
                <a:ea typeface="宋体" pitchFamily="2" charset="-122"/>
              </a:defRPr>
            </a:lvl5pPr>
            <a:lvl6pPr marL="457200" algn="l" rtl="0" fontAlgn="base">
              <a:spcBef>
                <a:spcPct val="0"/>
              </a:spcBef>
              <a:spcAft>
                <a:spcPct val="0"/>
              </a:spcAft>
              <a:defRPr sz="3200">
                <a:solidFill>
                  <a:schemeClr val="accent2"/>
                </a:solidFill>
                <a:latin typeface="Garamond" pitchFamily="18" charset="0"/>
                <a:ea typeface="宋体" pitchFamily="2" charset="-122"/>
              </a:defRPr>
            </a:lvl6pPr>
            <a:lvl7pPr marL="914400" algn="l" rtl="0" fontAlgn="base">
              <a:spcBef>
                <a:spcPct val="0"/>
              </a:spcBef>
              <a:spcAft>
                <a:spcPct val="0"/>
              </a:spcAft>
              <a:defRPr sz="3200">
                <a:solidFill>
                  <a:schemeClr val="accent2"/>
                </a:solidFill>
                <a:latin typeface="Garamond" pitchFamily="18" charset="0"/>
                <a:ea typeface="宋体" pitchFamily="2" charset="-122"/>
              </a:defRPr>
            </a:lvl7pPr>
            <a:lvl8pPr marL="1371600" algn="l" rtl="0" fontAlgn="base">
              <a:spcBef>
                <a:spcPct val="0"/>
              </a:spcBef>
              <a:spcAft>
                <a:spcPct val="0"/>
              </a:spcAft>
              <a:defRPr sz="3200">
                <a:solidFill>
                  <a:schemeClr val="accent2"/>
                </a:solidFill>
                <a:latin typeface="Garamond" pitchFamily="18" charset="0"/>
                <a:ea typeface="宋体" pitchFamily="2" charset="-122"/>
              </a:defRPr>
            </a:lvl8pPr>
            <a:lvl9pPr marL="1828800" algn="l" rtl="0" fontAlgn="base">
              <a:spcBef>
                <a:spcPct val="0"/>
              </a:spcBef>
              <a:spcAft>
                <a:spcPct val="0"/>
              </a:spcAft>
              <a:defRPr sz="3200">
                <a:solidFill>
                  <a:schemeClr val="accent2"/>
                </a:solidFill>
                <a:latin typeface="Garamond" pitchFamily="18" charset="0"/>
                <a:ea typeface="宋体" pitchFamily="2" charset="-122"/>
              </a:defRPr>
            </a:lvl9pPr>
          </a:lstStyle>
          <a:p>
            <a:pPr eaLnBrk="1" hangingPunct="1"/>
            <a:r>
              <a:rPr lang="en-US" altLang="zh-CN" kern="0" smtClean="0">
                <a:solidFill>
                  <a:srgbClr val="333399"/>
                </a:solidFill>
              </a:rPr>
              <a:t>1.4.3 </a:t>
            </a:r>
            <a:r>
              <a:rPr lang="zh-CN" altLang="en-US" kern="0" smtClean="0"/>
              <a:t>链表</a:t>
            </a:r>
            <a:endParaRPr lang="en-US" altLang="zh-CN" kern="0" dirty="0" smtClean="0"/>
          </a:p>
        </p:txBody>
      </p:sp>
    </p:spTree>
  </p:cSld>
  <p:clrMapOvr>
    <a:masterClrMapping/>
  </p:clrMapOvr>
  <p:timing>
    <p:tnLst>
      <p:par>
        <p:cTn id="1" dur="indefinite" restart="never" nodeType="tmRoot"/>
      </p:par>
    </p:tn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50180" name="Rectangle 3"/>
          <p:cNvSpPr>
            <a:spLocks noGrp="1" noChangeArrowheads="1"/>
          </p:cNvSpPr>
          <p:nvPr>
            <p:ph type="body" idx="1"/>
          </p:nvPr>
        </p:nvSpPr>
        <p:spPr/>
        <p:txBody>
          <a:bodyPr/>
          <a:lstStyle/>
          <a:p>
            <a:pPr eaLnBrk="1" hangingPunct="1"/>
            <a:r>
              <a:rPr lang="zh-CN" altLang="en-US" smtClean="0"/>
              <a:t>如果链表中存在由最后一个元素到第一个元素的链，那么这种链表称为</a:t>
            </a:r>
            <a:r>
              <a:rPr lang="zh-CN" altLang="en-US" smtClean="0">
                <a:solidFill>
                  <a:srgbClr val="FF0000"/>
                </a:solidFill>
              </a:rPr>
              <a:t>循环链表</a:t>
            </a:r>
            <a:endParaRPr lang="en-US" altLang="zh-CN" smtClean="0">
              <a:solidFill>
                <a:srgbClr val="FF0000"/>
              </a:solidFill>
            </a:endParaRPr>
          </a:p>
          <a:p>
            <a:pPr eaLnBrk="1" hangingPunct="1"/>
            <a:r>
              <a:rPr lang="zh-CN" altLang="en-US" smtClean="0"/>
              <a:t>如果在一个链表中每一个节点（第一个节点可能除外）也指向它的前驱节点，那么这个链表称为</a:t>
            </a:r>
            <a:r>
              <a:rPr lang="zh-CN" altLang="en-US" smtClean="0">
                <a:solidFill>
                  <a:srgbClr val="FF0000"/>
                </a:solidFill>
              </a:rPr>
              <a:t>双向链表</a:t>
            </a:r>
            <a:r>
              <a:rPr lang="zh-CN" altLang="en-US" smtClean="0"/>
              <a:t>；</a:t>
            </a:r>
            <a:endParaRPr lang="en-US" altLang="zh-CN" smtClean="0"/>
          </a:p>
          <a:p>
            <a:pPr eaLnBrk="1" hangingPunct="1"/>
            <a:r>
              <a:rPr lang="zh-CN" altLang="en-US" smtClean="0"/>
              <a:t>如果第一个和最后一个节点也被一对链接起来，这就是一个</a:t>
            </a:r>
            <a:r>
              <a:rPr lang="zh-CN" altLang="en-US" smtClean="0">
                <a:solidFill>
                  <a:srgbClr val="FF0000"/>
                </a:solidFill>
              </a:rPr>
              <a:t>循环双向链表</a:t>
            </a:r>
            <a:r>
              <a:rPr lang="zh-CN" altLang="en-US" smtClean="0"/>
              <a:t>。</a:t>
            </a:r>
            <a:endParaRPr lang="en-US" altLang="zh-CN" smtClean="0"/>
          </a:p>
        </p:txBody>
      </p:sp>
      <p:sp>
        <p:nvSpPr>
          <p:cNvPr id="7" name="Rectangle 2"/>
          <p:cNvSpPr txBox="1">
            <a:spLocks noChangeArrowheads="1"/>
          </p:cNvSpPr>
          <p:nvPr/>
        </p:nvSpPr>
        <p:spPr bwMode="auto">
          <a:xfrm>
            <a:off x="900113" y="476672"/>
            <a:ext cx="6788869" cy="6388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l" rtl="0" eaLnBrk="0" fontAlgn="base" hangingPunct="0">
              <a:spcBef>
                <a:spcPct val="0"/>
              </a:spcBef>
              <a:spcAft>
                <a:spcPct val="0"/>
              </a:spcAft>
              <a:defRPr sz="3200">
                <a:solidFill>
                  <a:schemeClr val="accent2"/>
                </a:solidFill>
                <a:latin typeface="+mj-lt"/>
                <a:ea typeface="+mj-ea"/>
                <a:cs typeface="+mj-cs"/>
              </a:defRPr>
            </a:lvl1pPr>
            <a:lvl2pPr algn="l" rtl="0" eaLnBrk="0" fontAlgn="base" hangingPunct="0">
              <a:spcBef>
                <a:spcPct val="0"/>
              </a:spcBef>
              <a:spcAft>
                <a:spcPct val="0"/>
              </a:spcAft>
              <a:defRPr sz="3200">
                <a:solidFill>
                  <a:schemeClr val="accent2"/>
                </a:solidFill>
                <a:latin typeface="Garamond" pitchFamily="18" charset="0"/>
                <a:ea typeface="宋体" pitchFamily="2" charset="-122"/>
              </a:defRPr>
            </a:lvl2pPr>
            <a:lvl3pPr algn="l" rtl="0" eaLnBrk="0" fontAlgn="base" hangingPunct="0">
              <a:spcBef>
                <a:spcPct val="0"/>
              </a:spcBef>
              <a:spcAft>
                <a:spcPct val="0"/>
              </a:spcAft>
              <a:defRPr sz="3200">
                <a:solidFill>
                  <a:schemeClr val="accent2"/>
                </a:solidFill>
                <a:latin typeface="Garamond" pitchFamily="18" charset="0"/>
                <a:ea typeface="宋体" pitchFamily="2" charset="-122"/>
              </a:defRPr>
            </a:lvl3pPr>
            <a:lvl4pPr algn="l" rtl="0" eaLnBrk="0" fontAlgn="base" hangingPunct="0">
              <a:spcBef>
                <a:spcPct val="0"/>
              </a:spcBef>
              <a:spcAft>
                <a:spcPct val="0"/>
              </a:spcAft>
              <a:defRPr sz="3200">
                <a:solidFill>
                  <a:schemeClr val="accent2"/>
                </a:solidFill>
                <a:latin typeface="Garamond" pitchFamily="18" charset="0"/>
                <a:ea typeface="宋体" pitchFamily="2" charset="-122"/>
              </a:defRPr>
            </a:lvl4pPr>
            <a:lvl5pPr algn="l" rtl="0" eaLnBrk="0" fontAlgn="base" hangingPunct="0">
              <a:spcBef>
                <a:spcPct val="0"/>
              </a:spcBef>
              <a:spcAft>
                <a:spcPct val="0"/>
              </a:spcAft>
              <a:defRPr sz="3200">
                <a:solidFill>
                  <a:schemeClr val="accent2"/>
                </a:solidFill>
                <a:latin typeface="Garamond" pitchFamily="18" charset="0"/>
                <a:ea typeface="宋体" pitchFamily="2" charset="-122"/>
              </a:defRPr>
            </a:lvl5pPr>
            <a:lvl6pPr marL="457200" algn="l" rtl="0" fontAlgn="base">
              <a:spcBef>
                <a:spcPct val="0"/>
              </a:spcBef>
              <a:spcAft>
                <a:spcPct val="0"/>
              </a:spcAft>
              <a:defRPr sz="3200">
                <a:solidFill>
                  <a:schemeClr val="accent2"/>
                </a:solidFill>
                <a:latin typeface="Garamond" pitchFamily="18" charset="0"/>
                <a:ea typeface="宋体" pitchFamily="2" charset="-122"/>
              </a:defRPr>
            </a:lvl6pPr>
            <a:lvl7pPr marL="914400" algn="l" rtl="0" fontAlgn="base">
              <a:spcBef>
                <a:spcPct val="0"/>
              </a:spcBef>
              <a:spcAft>
                <a:spcPct val="0"/>
              </a:spcAft>
              <a:defRPr sz="3200">
                <a:solidFill>
                  <a:schemeClr val="accent2"/>
                </a:solidFill>
                <a:latin typeface="Garamond" pitchFamily="18" charset="0"/>
                <a:ea typeface="宋体" pitchFamily="2" charset="-122"/>
              </a:defRPr>
            </a:lvl7pPr>
            <a:lvl8pPr marL="1371600" algn="l" rtl="0" fontAlgn="base">
              <a:spcBef>
                <a:spcPct val="0"/>
              </a:spcBef>
              <a:spcAft>
                <a:spcPct val="0"/>
              </a:spcAft>
              <a:defRPr sz="3200">
                <a:solidFill>
                  <a:schemeClr val="accent2"/>
                </a:solidFill>
                <a:latin typeface="Garamond" pitchFamily="18" charset="0"/>
                <a:ea typeface="宋体" pitchFamily="2" charset="-122"/>
              </a:defRPr>
            </a:lvl8pPr>
            <a:lvl9pPr marL="1828800" algn="l" rtl="0" fontAlgn="base">
              <a:spcBef>
                <a:spcPct val="0"/>
              </a:spcBef>
              <a:spcAft>
                <a:spcPct val="0"/>
              </a:spcAft>
              <a:defRPr sz="3200">
                <a:solidFill>
                  <a:schemeClr val="accent2"/>
                </a:solidFill>
                <a:latin typeface="Garamond" pitchFamily="18" charset="0"/>
                <a:ea typeface="宋体" pitchFamily="2" charset="-122"/>
              </a:defRPr>
            </a:lvl9pPr>
          </a:lstStyle>
          <a:p>
            <a:pPr eaLnBrk="1" hangingPunct="1"/>
            <a:r>
              <a:rPr lang="en-US" altLang="zh-CN" kern="0" smtClean="0">
                <a:solidFill>
                  <a:srgbClr val="333399"/>
                </a:solidFill>
              </a:rPr>
              <a:t>1.4.3 </a:t>
            </a:r>
            <a:r>
              <a:rPr lang="zh-CN" altLang="en-US" kern="0" smtClean="0"/>
              <a:t>链表</a:t>
            </a:r>
            <a:endParaRPr lang="en-US" altLang="zh-CN" kern="0" dirty="0" smtClean="0"/>
          </a:p>
        </p:txBody>
      </p:sp>
    </p:spTree>
  </p:cSld>
  <p:clrMapOvr>
    <a:masterClrMapping/>
  </p:clrMapOvr>
  <p:timing>
    <p:tnLst>
      <p:par>
        <p:cTn id="1" dur="indefinite" restart="never" nodeType="tmRoot"/>
      </p:par>
    </p:tn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Text Box 2"/>
          <p:cNvSpPr txBox="1">
            <a:spLocks noChangeArrowheads="1"/>
          </p:cNvSpPr>
          <p:nvPr/>
        </p:nvSpPr>
        <p:spPr bwMode="auto">
          <a:xfrm>
            <a:off x="2362200" y="4343400"/>
            <a:ext cx="4800600" cy="10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eaLnBrk="1" hangingPunct="1">
              <a:spcBef>
                <a:spcPct val="50000"/>
              </a:spcBef>
            </a:pPr>
            <a:r>
              <a:rPr kumimoji="1" lang="zh-CN" altLang="en-US" sz="2400">
                <a:latin typeface="Times New Roman" panose="02020503050405090304" pitchFamily="18" charset="0"/>
              </a:rPr>
              <a:t>          带头结点的循环链表</a:t>
            </a:r>
            <a:endParaRPr kumimoji="1" lang="zh-CN" altLang="en-US" sz="2400">
              <a:latin typeface="Times New Roman" panose="02020503050405090304" pitchFamily="18" charset="0"/>
            </a:endParaRPr>
          </a:p>
          <a:p>
            <a:pPr eaLnBrk="1" hangingPunct="1">
              <a:spcBef>
                <a:spcPct val="50000"/>
              </a:spcBef>
            </a:pPr>
            <a:r>
              <a:rPr kumimoji="1" lang="zh-CN" altLang="en-US" sz="2400">
                <a:latin typeface="Times New Roman" panose="02020503050405090304" pitchFamily="18" charset="0"/>
              </a:rPr>
              <a:t>           </a:t>
            </a:r>
            <a:r>
              <a:rPr kumimoji="1" lang="en-US" altLang="zh-CN" sz="2400">
                <a:latin typeface="Times New Roman" panose="02020503050405090304" pitchFamily="18" charset="0"/>
              </a:rPr>
              <a:t>(a)</a:t>
            </a:r>
            <a:r>
              <a:rPr kumimoji="1" lang="zh-CN" altLang="en-US" sz="2400">
                <a:latin typeface="Times New Roman" panose="02020503050405090304" pitchFamily="18" charset="0"/>
              </a:rPr>
              <a:t>空链；  </a:t>
            </a:r>
            <a:r>
              <a:rPr kumimoji="1" lang="en-US" altLang="zh-CN" sz="2400">
                <a:latin typeface="Times New Roman" panose="02020503050405090304" pitchFamily="18" charset="0"/>
              </a:rPr>
              <a:t>(b)</a:t>
            </a:r>
            <a:r>
              <a:rPr kumimoji="1" lang="zh-CN" altLang="en-US" sz="2400">
                <a:latin typeface="Times New Roman" panose="02020503050405090304" pitchFamily="18" charset="0"/>
              </a:rPr>
              <a:t>非空链 </a:t>
            </a:r>
            <a:endParaRPr kumimoji="1" lang="zh-CN" altLang="en-US" sz="2400">
              <a:latin typeface="Times New Roman" panose="02020503050405090304" pitchFamily="18" charset="0"/>
            </a:endParaRPr>
          </a:p>
        </p:txBody>
      </p:sp>
      <p:graphicFrame>
        <p:nvGraphicFramePr>
          <p:cNvPr id="4098" name="Object 2"/>
          <p:cNvGraphicFramePr>
            <a:graphicFrameLocks noChangeAspect="1"/>
          </p:cNvGraphicFramePr>
          <p:nvPr/>
        </p:nvGraphicFramePr>
        <p:xfrm>
          <a:off x="228600" y="2057400"/>
          <a:ext cx="8915400" cy="1468438"/>
        </p:xfrm>
        <a:graphic>
          <a:graphicData uri="http://schemas.openxmlformats.org/presentationml/2006/ole">
            <mc:AlternateContent xmlns:mc="http://schemas.openxmlformats.org/markup-compatibility/2006">
              <mc:Choice xmlns:v="urn:schemas-microsoft-com:vml" Requires="v">
                <p:oleObj spid="_x0000_s25610" name="VISIO" r:id="rId1" imgW="4724400" imgH="777240" progId="Visio.Drawing.11">
                  <p:embed/>
                </p:oleObj>
              </mc:Choice>
              <mc:Fallback>
                <p:oleObj name="VISIO" r:id="rId1" imgW="4724400" imgH="777240" progId="Visio.Drawing.11">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 y="2057400"/>
                        <a:ext cx="8915400" cy="1468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100"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5" name="Rectangle 2"/>
          <p:cNvSpPr>
            <a:spLocks noGrp="1" noChangeArrowheads="1"/>
          </p:cNvSpPr>
          <p:nvPr>
            <p:ph type="title"/>
          </p:nvPr>
        </p:nvSpPr>
        <p:spPr>
          <a:xfrm>
            <a:off x="900113" y="476672"/>
            <a:ext cx="6788869" cy="638845"/>
          </a:xfrm>
        </p:spPr>
        <p:txBody>
          <a:bodyPr/>
          <a:lstStyle/>
          <a:p>
            <a:pPr eaLnBrk="1" hangingPunct="1"/>
            <a:r>
              <a:rPr lang="en-US" altLang="zh-CN" dirty="0" smtClean="0">
                <a:solidFill>
                  <a:srgbClr val="333399"/>
                </a:solidFill>
              </a:rPr>
              <a:t>1.4.3 </a:t>
            </a:r>
            <a:r>
              <a:rPr lang="zh-CN" altLang="en-US" dirty="0" smtClean="0"/>
              <a:t>链表</a:t>
            </a:r>
            <a:endParaRPr lang="en-US" altLang="zh-CN" dirty="0" smtClean="0"/>
          </a:p>
        </p:txBody>
      </p:sp>
    </p:spTree>
  </p:cSld>
  <p:clrMapOvr>
    <a:masterClrMapping/>
  </p:clrMapOvr>
  <p:transition spd="med">
    <p:checker/>
  </p:transition>
  <p:timing>
    <p:tnLst>
      <p:par>
        <p:cTn id="1" dur="indefinite" restart="never" nodeType="tmRoot"/>
      </p:par>
    </p:tn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3" name="Text Box 2"/>
          <p:cNvSpPr txBox="1">
            <a:spLocks noChangeArrowheads="1"/>
          </p:cNvSpPr>
          <p:nvPr/>
        </p:nvSpPr>
        <p:spPr bwMode="auto">
          <a:xfrm>
            <a:off x="2714625" y="4500563"/>
            <a:ext cx="4953000" cy="10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eaLnBrk="1" hangingPunct="1">
              <a:spcBef>
                <a:spcPct val="50000"/>
              </a:spcBef>
            </a:pPr>
            <a:r>
              <a:rPr kumimoji="1" lang="zh-CN" altLang="en-US" sz="2400">
                <a:latin typeface="Times New Roman" panose="02020503050405090304" pitchFamily="18" charset="0"/>
              </a:rPr>
              <a:t>          带头结点的双向链表</a:t>
            </a:r>
            <a:endParaRPr kumimoji="1" lang="zh-CN" altLang="en-US" sz="2400">
              <a:latin typeface="Times New Roman" panose="02020503050405090304" pitchFamily="18" charset="0"/>
            </a:endParaRPr>
          </a:p>
          <a:p>
            <a:pPr eaLnBrk="1" hangingPunct="1">
              <a:spcBef>
                <a:spcPct val="50000"/>
              </a:spcBef>
            </a:pPr>
            <a:r>
              <a:rPr kumimoji="1" lang="zh-CN" altLang="en-US" sz="2400">
                <a:latin typeface="Times New Roman" panose="02020503050405090304" pitchFamily="18" charset="0"/>
              </a:rPr>
              <a:t>         </a:t>
            </a:r>
            <a:r>
              <a:rPr kumimoji="1" lang="en-US" altLang="zh-CN" sz="2400">
                <a:latin typeface="Times New Roman" panose="02020503050405090304" pitchFamily="18" charset="0"/>
              </a:rPr>
              <a:t>(a)</a:t>
            </a:r>
            <a:r>
              <a:rPr kumimoji="1" lang="zh-CN" altLang="en-US" sz="2400">
                <a:latin typeface="Times New Roman" panose="02020503050405090304" pitchFamily="18" charset="0"/>
              </a:rPr>
              <a:t>空链；  </a:t>
            </a:r>
            <a:r>
              <a:rPr kumimoji="1" lang="en-US" altLang="zh-CN" sz="2400">
                <a:latin typeface="Times New Roman" panose="02020503050405090304" pitchFamily="18" charset="0"/>
              </a:rPr>
              <a:t>(b)</a:t>
            </a:r>
            <a:r>
              <a:rPr kumimoji="1" lang="zh-CN" altLang="en-US" sz="2400">
                <a:latin typeface="Times New Roman" panose="02020503050405090304" pitchFamily="18" charset="0"/>
              </a:rPr>
              <a:t>非空链 </a:t>
            </a:r>
            <a:endParaRPr kumimoji="1" lang="zh-CN" altLang="en-US" sz="2400">
              <a:latin typeface="Times New Roman" panose="02020503050405090304" pitchFamily="18" charset="0"/>
            </a:endParaRPr>
          </a:p>
        </p:txBody>
      </p:sp>
      <p:graphicFrame>
        <p:nvGraphicFramePr>
          <p:cNvPr id="5122" name="Object 2"/>
          <p:cNvGraphicFramePr>
            <a:graphicFrameLocks noChangeAspect="1"/>
          </p:cNvGraphicFramePr>
          <p:nvPr/>
        </p:nvGraphicFramePr>
        <p:xfrm>
          <a:off x="228600" y="2514600"/>
          <a:ext cx="8915400" cy="1322388"/>
        </p:xfrm>
        <a:graphic>
          <a:graphicData uri="http://schemas.openxmlformats.org/presentationml/2006/ole">
            <mc:AlternateContent xmlns:mc="http://schemas.openxmlformats.org/markup-compatibility/2006">
              <mc:Choice xmlns:v="urn:schemas-microsoft-com:vml" Requires="v">
                <p:oleObj spid="_x0000_s26634" name="Visio" r:id="rId1" imgW="4380865" imgH="652145" progId="Visio.Drawing.11">
                  <p:embed/>
                </p:oleObj>
              </mc:Choice>
              <mc:Fallback>
                <p:oleObj name="Visio" r:id="rId1" imgW="4380865" imgH="652145" progId="Visio.Drawing.11">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 y="2514600"/>
                        <a:ext cx="8915400" cy="132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5124"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5" name="Rectangle 2"/>
          <p:cNvSpPr>
            <a:spLocks noGrp="1" noChangeArrowheads="1"/>
          </p:cNvSpPr>
          <p:nvPr>
            <p:ph type="title"/>
          </p:nvPr>
        </p:nvSpPr>
        <p:spPr>
          <a:xfrm>
            <a:off x="900113" y="476672"/>
            <a:ext cx="6788869" cy="638845"/>
          </a:xfrm>
        </p:spPr>
        <p:txBody>
          <a:bodyPr/>
          <a:lstStyle/>
          <a:p>
            <a:pPr eaLnBrk="1" hangingPunct="1"/>
            <a:r>
              <a:rPr lang="en-US" altLang="zh-CN" dirty="0" smtClean="0">
                <a:solidFill>
                  <a:srgbClr val="333399"/>
                </a:solidFill>
              </a:rPr>
              <a:t>1.4.3 </a:t>
            </a:r>
            <a:r>
              <a:rPr lang="zh-CN" altLang="en-US" dirty="0" smtClean="0"/>
              <a:t>链表</a:t>
            </a:r>
            <a:endParaRPr lang="en-US" altLang="zh-CN" dirty="0" smtClean="0"/>
          </a:p>
        </p:txBody>
      </p:sp>
    </p:spTree>
  </p:cSld>
  <p:clrMapOvr>
    <a:masterClrMapping/>
  </p:clrMapOvr>
  <p:transition spd="med">
    <p:checker/>
  </p:transition>
  <p:timing>
    <p:tnLst>
      <p:par>
        <p:cTn id="1" dur="indefinite" restart="never" nodeType="tmRoot"/>
      </p:par>
    </p:tn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Text Box 2"/>
          <p:cNvSpPr txBox="1">
            <a:spLocks noChangeArrowheads="1"/>
          </p:cNvSpPr>
          <p:nvPr/>
        </p:nvSpPr>
        <p:spPr bwMode="auto">
          <a:xfrm>
            <a:off x="2571750" y="4357688"/>
            <a:ext cx="4953000" cy="10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eaLnBrk="1" hangingPunct="1">
              <a:spcBef>
                <a:spcPct val="50000"/>
              </a:spcBef>
            </a:pPr>
            <a:r>
              <a:rPr kumimoji="1" lang="zh-CN" altLang="en-US" sz="2400">
                <a:latin typeface="Times New Roman" panose="02020503050405090304" pitchFamily="18" charset="0"/>
              </a:rPr>
              <a:t>     带头结点的循环双向链表</a:t>
            </a:r>
            <a:endParaRPr kumimoji="1" lang="zh-CN" altLang="en-US" sz="2400">
              <a:latin typeface="Times New Roman" panose="02020503050405090304" pitchFamily="18" charset="0"/>
            </a:endParaRPr>
          </a:p>
          <a:p>
            <a:pPr eaLnBrk="1" hangingPunct="1">
              <a:spcBef>
                <a:spcPct val="50000"/>
              </a:spcBef>
            </a:pPr>
            <a:r>
              <a:rPr kumimoji="1" lang="zh-CN" altLang="en-US" sz="2400">
                <a:latin typeface="Times New Roman" panose="02020503050405090304" pitchFamily="18" charset="0"/>
              </a:rPr>
              <a:t>         </a:t>
            </a:r>
            <a:r>
              <a:rPr kumimoji="1" lang="en-US" altLang="zh-CN" sz="2400">
                <a:latin typeface="Times New Roman" panose="02020503050405090304" pitchFamily="18" charset="0"/>
              </a:rPr>
              <a:t>(a)</a:t>
            </a:r>
            <a:r>
              <a:rPr kumimoji="1" lang="zh-CN" altLang="en-US" sz="2400">
                <a:latin typeface="Times New Roman" panose="02020503050405090304" pitchFamily="18" charset="0"/>
              </a:rPr>
              <a:t>空链；  </a:t>
            </a:r>
            <a:r>
              <a:rPr kumimoji="1" lang="en-US" altLang="zh-CN" sz="2400">
                <a:latin typeface="Times New Roman" panose="02020503050405090304" pitchFamily="18" charset="0"/>
              </a:rPr>
              <a:t>(b)</a:t>
            </a:r>
            <a:r>
              <a:rPr kumimoji="1" lang="zh-CN" altLang="en-US" sz="2400">
                <a:latin typeface="Times New Roman" panose="02020503050405090304" pitchFamily="18" charset="0"/>
              </a:rPr>
              <a:t>非空链 </a:t>
            </a:r>
            <a:endParaRPr kumimoji="1" lang="zh-CN" altLang="en-US" sz="2400">
              <a:latin typeface="Times New Roman" panose="02020503050405090304" pitchFamily="18" charset="0"/>
            </a:endParaRPr>
          </a:p>
        </p:txBody>
      </p:sp>
      <p:graphicFrame>
        <p:nvGraphicFramePr>
          <p:cNvPr id="6146" name="Object 2"/>
          <p:cNvGraphicFramePr>
            <a:graphicFrameLocks noChangeAspect="1"/>
          </p:cNvGraphicFramePr>
          <p:nvPr/>
        </p:nvGraphicFramePr>
        <p:xfrm>
          <a:off x="228600" y="2514600"/>
          <a:ext cx="8915400" cy="1322388"/>
        </p:xfrm>
        <a:graphic>
          <a:graphicData uri="http://schemas.openxmlformats.org/presentationml/2006/ole">
            <mc:AlternateContent xmlns:mc="http://schemas.openxmlformats.org/markup-compatibility/2006">
              <mc:Choice xmlns:v="urn:schemas-microsoft-com:vml" Requires="v">
                <p:oleObj spid="_x0000_s27658" name="VISIO" r:id="rId1" imgW="5242560" imgH="777240" progId="Visio.Drawing.11">
                  <p:embed/>
                </p:oleObj>
              </mc:Choice>
              <mc:Fallback>
                <p:oleObj name="VISIO" r:id="rId1" imgW="5242560" imgH="777240" progId="Visio.Drawing.11">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 y="2514600"/>
                        <a:ext cx="8915400" cy="132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6148"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5" name="Rectangle 2"/>
          <p:cNvSpPr>
            <a:spLocks noGrp="1" noChangeArrowheads="1"/>
          </p:cNvSpPr>
          <p:nvPr>
            <p:ph type="title"/>
          </p:nvPr>
        </p:nvSpPr>
        <p:spPr>
          <a:xfrm>
            <a:off x="900113" y="476672"/>
            <a:ext cx="6788869" cy="638845"/>
          </a:xfrm>
        </p:spPr>
        <p:txBody>
          <a:bodyPr/>
          <a:lstStyle/>
          <a:p>
            <a:pPr eaLnBrk="1" hangingPunct="1"/>
            <a:r>
              <a:rPr lang="en-US" altLang="zh-CN" dirty="0" smtClean="0">
                <a:solidFill>
                  <a:srgbClr val="333399"/>
                </a:solidFill>
              </a:rPr>
              <a:t>1.4.3 </a:t>
            </a:r>
            <a:r>
              <a:rPr lang="zh-CN" altLang="en-US" dirty="0" smtClean="0"/>
              <a:t>链表</a:t>
            </a:r>
            <a:endParaRPr lang="en-US" altLang="zh-CN" dirty="0" smtClean="0"/>
          </a:p>
        </p:txBody>
      </p:sp>
    </p:spTree>
  </p:cSld>
  <p:clrMapOvr>
    <a:masterClrMapping/>
  </p:clrMapOvr>
  <p:transition spd="med">
    <p:checker/>
  </p:transition>
  <p:timing>
    <p:tnLst>
      <p:par>
        <p:cTn id="1" dur="indefinite" restart="never" nodeType="tmRoot"/>
      </p:par>
    </p:tn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51204" name="Rectangle 3"/>
          <p:cNvSpPr>
            <a:spLocks noGrp="1" noChangeArrowheads="1"/>
          </p:cNvSpPr>
          <p:nvPr>
            <p:ph type="body" idx="1"/>
          </p:nvPr>
        </p:nvSpPr>
        <p:spPr/>
        <p:txBody>
          <a:bodyPr/>
          <a:lstStyle/>
          <a:p>
            <a:pPr eaLnBrk="1" hangingPunct="1">
              <a:buFontTx/>
              <a:buNone/>
            </a:pPr>
            <a:r>
              <a:rPr lang="en-US" altLang="zh-CN" smtClean="0"/>
              <a:t>  </a:t>
            </a:r>
            <a:endParaRPr lang="en-US" altLang="zh-CN" smtClean="0"/>
          </a:p>
        </p:txBody>
      </p:sp>
      <p:pic>
        <p:nvPicPr>
          <p:cNvPr id="51205" name="Picture 2" descr="ch3linkedlist"/>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357313" y="1285875"/>
            <a:ext cx="6172200" cy="4429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ectangle 2"/>
          <p:cNvSpPr>
            <a:spLocks noGrp="1" noChangeArrowheads="1"/>
          </p:cNvSpPr>
          <p:nvPr>
            <p:ph type="title"/>
          </p:nvPr>
        </p:nvSpPr>
        <p:spPr>
          <a:xfrm>
            <a:off x="900113" y="476672"/>
            <a:ext cx="6788869" cy="638845"/>
          </a:xfrm>
        </p:spPr>
        <p:txBody>
          <a:bodyPr/>
          <a:lstStyle/>
          <a:p>
            <a:pPr eaLnBrk="1" hangingPunct="1"/>
            <a:r>
              <a:rPr lang="en-US" altLang="zh-CN" dirty="0" smtClean="0">
                <a:solidFill>
                  <a:srgbClr val="333399"/>
                </a:solidFill>
              </a:rPr>
              <a:t>1.4.3 </a:t>
            </a:r>
            <a:r>
              <a:rPr lang="zh-CN" altLang="en-US" dirty="0" smtClean="0"/>
              <a:t>链表</a:t>
            </a:r>
            <a:endParaRPr lang="en-US" altLang="zh-CN" dirty="0" smtClean="0"/>
          </a:p>
        </p:txBody>
      </p:sp>
    </p:spTree>
  </p:cSld>
  <p:clrMapOvr>
    <a:masterClrMapping/>
  </p:clrMapOvr>
  <p:timing>
    <p:tnLst>
      <p:par>
        <p:cTn id="1" dur="indefinite" restart="never" nodeType="tmRoot"/>
      </p:par>
    </p:tn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52227" name="Rectangle 2"/>
          <p:cNvSpPr>
            <a:spLocks noGrp="1" noChangeArrowheads="1"/>
          </p:cNvSpPr>
          <p:nvPr>
            <p:ph type="title"/>
          </p:nvPr>
        </p:nvSpPr>
        <p:spPr/>
        <p:txBody>
          <a:bodyPr/>
          <a:lstStyle/>
          <a:p>
            <a:pPr eaLnBrk="1" hangingPunct="1"/>
            <a:r>
              <a:rPr lang="en-US" altLang="zh-CN" dirty="0">
                <a:solidFill>
                  <a:srgbClr val="333399"/>
                </a:solidFill>
              </a:rPr>
              <a:t>1.4.3 </a:t>
            </a:r>
            <a:r>
              <a:rPr lang="zh-CN" altLang="en-US" dirty="0" smtClean="0"/>
              <a:t>链表</a:t>
            </a:r>
            <a:r>
              <a:rPr lang="en-US" altLang="zh-CN" dirty="0" smtClean="0"/>
              <a:t>——2</a:t>
            </a:r>
            <a:r>
              <a:rPr lang="zh-CN" altLang="en-US" dirty="0" smtClean="0"/>
              <a:t>个主要操作</a:t>
            </a:r>
            <a:endParaRPr lang="en-US" altLang="zh-CN" dirty="0" smtClean="0"/>
          </a:p>
        </p:txBody>
      </p:sp>
      <p:sp>
        <p:nvSpPr>
          <p:cNvPr id="52228" name="Rectangle 3"/>
          <p:cNvSpPr>
            <a:spLocks noGrp="1" noChangeArrowheads="1"/>
          </p:cNvSpPr>
          <p:nvPr>
            <p:ph type="body" idx="1"/>
          </p:nvPr>
        </p:nvSpPr>
        <p:spPr/>
        <p:txBody>
          <a:bodyPr/>
          <a:lstStyle/>
          <a:p>
            <a:pPr eaLnBrk="1" hangingPunct="1"/>
            <a:r>
              <a:rPr lang="zh-CN" altLang="en-US" sz="2700" dirty="0" smtClean="0"/>
              <a:t>插入</a:t>
            </a:r>
            <a:endParaRPr lang="en-US" altLang="zh-CN" sz="2700" dirty="0" smtClean="0"/>
          </a:p>
          <a:p>
            <a:pPr eaLnBrk="1" hangingPunct="1"/>
            <a:endParaRPr lang="en-US" altLang="zh-CN" sz="2700" dirty="0" smtClean="0"/>
          </a:p>
          <a:p>
            <a:pPr eaLnBrk="1" hangingPunct="1"/>
            <a:r>
              <a:rPr lang="zh-CN" altLang="en-US" sz="2700" dirty="0" smtClean="0"/>
              <a:t>删除</a:t>
            </a:r>
            <a:endParaRPr lang="en-US" altLang="zh-CN" sz="2700" dirty="0" smtClean="0"/>
          </a:p>
          <a:p>
            <a:pPr eaLnBrk="1" hangingPunct="1"/>
            <a:endParaRPr lang="en-US" altLang="zh-CN" sz="2700" dirty="0" smtClean="0"/>
          </a:p>
          <a:p>
            <a:pPr eaLnBrk="1" hangingPunct="1"/>
            <a:r>
              <a:rPr lang="zh-CN" altLang="en-US" sz="2700" dirty="0" smtClean="0"/>
              <a:t>与数组不同，在链表中插入和删除元素只花费</a:t>
            </a:r>
            <a:r>
              <a:rPr lang="zh-CN" altLang="en-US" sz="2700" dirty="0" smtClean="0">
                <a:solidFill>
                  <a:srgbClr val="FF0000"/>
                </a:solidFill>
              </a:rPr>
              <a:t>固定的时间</a:t>
            </a:r>
            <a:r>
              <a:rPr lang="zh-CN" altLang="en-US" sz="2700" dirty="0" smtClean="0"/>
              <a:t>。</a:t>
            </a:r>
            <a:endParaRPr lang="en-US" altLang="zh-CN" sz="2700" dirty="0" smtClean="0"/>
          </a:p>
          <a:p>
            <a:pPr eaLnBrk="1" hangingPunct="1"/>
            <a:r>
              <a:rPr lang="zh-CN" altLang="en-US" sz="2700" dirty="0" smtClean="0"/>
              <a:t>对链表的访问加入一些限制，就可以得到两种基础性的数据结构：堆栈和队列</a:t>
            </a:r>
            <a:endParaRPr lang="en-US" altLang="zh-CN" sz="2700" dirty="0" smtClean="0"/>
          </a:p>
        </p:txBody>
      </p:sp>
    </p:spTree>
  </p:cSld>
  <p:clrMapOvr>
    <a:masterClrMapping/>
  </p:clrMapOvr>
  <p:timing>
    <p:tnLst>
      <p:par>
        <p:cTn id="1" dur="indefinite" restart="never" nodeType="tmRoot"/>
      </p:par>
    </p:tn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1" name="Text Box 4"/>
          <p:cNvSpPr txBox="1">
            <a:spLocks noChangeArrowheads="1"/>
          </p:cNvSpPr>
          <p:nvPr/>
        </p:nvSpPr>
        <p:spPr bwMode="auto">
          <a:xfrm>
            <a:off x="2000250" y="5286375"/>
            <a:ext cx="5715000" cy="784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eaLnBrk="1" hangingPunct="1">
              <a:spcBef>
                <a:spcPct val="50000"/>
              </a:spcBef>
            </a:pPr>
            <a:r>
              <a:rPr lang="zh-CN" altLang="en-US" dirty="0"/>
              <a:t>图</a:t>
            </a:r>
            <a:r>
              <a:rPr lang="en-US" altLang="zh-CN" dirty="0"/>
              <a:t>      </a:t>
            </a:r>
            <a:r>
              <a:rPr lang="zh-CN" altLang="en-US" dirty="0">
                <a:solidFill>
                  <a:srgbClr val="FF0000"/>
                </a:solidFill>
              </a:rPr>
              <a:t>数组存储下线性表的插入过程</a:t>
            </a:r>
            <a:endParaRPr lang="zh-CN" altLang="en-US" dirty="0">
              <a:solidFill>
                <a:srgbClr val="FF0000"/>
              </a:solidFill>
            </a:endParaRPr>
          </a:p>
          <a:p>
            <a:pPr algn="just" eaLnBrk="1" hangingPunct="1">
              <a:spcBef>
                <a:spcPct val="50000"/>
              </a:spcBef>
            </a:pPr>
            <a:r>
              <a:rPr lang="zh-CN" altLang="en-US" dirty="0"/>
              <a:t>      </a:t>
            </a:r>
            <a:r>
              <a:rPr lang="en-US" altLang="zh-CN" dirty="0"/>
              <a:t>(a) </a:t>
            </a:r>
            <a:r>
              <a:rPr lang="zh-CN" altLang="en-US" dirty="0"/>
              <a:t>插入前；</a:t>
            </a:r>
            <a:r>
              <a:rPr lang="en-US" altLang="zh-CN" dirty="0"/>
              <a:t>(b) </a:t>
            </a:r>
            <a:r>
              <a:rPr lang="zh-CN" altLang="en-US" dirty="0"/>
              <a:t>后移；</a:t>
            </a:r>
            <a:r>
              <a:rPr lang="en-US" altLang="zh-CN" dirty="0"/>
              <a:t>(c) </a:t>
            </a:r>
            <a:r>
              <a:rPr lang="zh-CN" altLang="en-US" dirty="0"/>
              <a:t>插入</a:t>
            </a:r>
            <a:endParaRPr lang="zh-CN" altLang="en-US" dirty="0"/>
          </a:p>
        </p:txBody>
      </p:sp>
      <p:graphicFrame>
        <p:nvGraphicFramePr>
          <p:cNvPr id="7170" name="Object 2"/>
          <p:cNvGraphicFramePr>
            <a:graphicFrameLocks noChangeAspect="1"/>
          </p:cNvGraphicFramePr>
          <p:nvPr/>
        </p:nvGraphicFramePr>
        <p:xfrm>
          <a:off x="683567" y="1196975"/>
          <a:ext cx="8065146" cy="4210649"/>
        </p:xfrm>
        <a:graphic>
          <a:graphicData uri="http://schemas.openxmlformats.org/presentationml/2006/ole">
            <mc:AlternateContent xmlns:mc="http://schemas.openxmlformats.org/markup-compatibility/2006">
              <mc:Choice xmlns:v="urn:schemas-microsoft-com:vml" Requires="v">
                <p:oleObj spid="_x0000_s28682" name="" r:id="rId1" imgW="4817110" imgH="2513330" progId="Visio.Drawing.11">
                  <p:embed/>
                </p:oleObj>
              </mc:Choice>
              <mc:Fallback>
                <p:oleObj name="" r:id="rId1" imgW="4817110" imgH="2513330" progId="Visio.Drawing.11">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3567" y="1196975"/>
                        <a:ext cx="8065146" cy="4210649"/>
                      </a:xfrm>
                      <a:prstGeom prst="rect">
                        <a:avLst/>
                      </a:prstGeom>
                      <a:noFill/>
                    </p:spPr>
                  </p:pic>
                </p:oleObj>
              </mc:Fallback>
            </mc:AlternateContent>
          </a:graphicData>
        </a:graphic>
      </p:graphicFrame>
      <p:sp>
        <p:nvSpPr>
          <p:cNvPr id="7172"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9" name="Rectangle 2"/>
          <p:cNvSpPr>
            <a:spLocks noGrp="1" noChangeArrowheads="1"/>
          </p:cNvSpPr>
          <p:nvPr>
            <p:ph type="title"/>
          </p:nvPr>
        </p:nvSpPr>
        <p:spPr>
          <a:xfrm>
            <a:off x="879475" y="269875"/>
            <a:ext cx="7869238" cy="927100"/>
          </a:xfrm>
        </p:spPr>
        <p:txBody>
          <a:bodyPr/>
          <a:lstStyle/>
          <a:p>
            <a:pPr eaLnBrk="1" hangingPunct="1"/>
            <a:r>
              <a:rPr lang="en-US" altLang="zh-CN" dirty="0">
                <a:solidFill>
                  <a:srgbClr val="333399"/>
                </a:solidFill>
              </a:rPr>
              <a:t>1.4.3 </a:t>
            </a:r>
            <a:r>
              <a:rPr lang="zh-CN" altLang="en-US" dirty="0" smtClean="0"/>
              <a:t>链表</a:t>
            </a:r>
            <a:r>
              <a:rPr lang="en-US" altLang="zh-CN" dirty="0" smtClean="0"/>
              <a:t>——</a:t>
            </a:r>
            <a:r>
              <a:rPr lang="zh-CN" altLang="en-US" dirty="0"/>
              <a:t>插入</a:t>
            </a:r>
            <a:endParaRPr lang="en-US" altLang="zh-CN" dirty="0" smtClean="0"/>
          </a:p>
        </p:txBody>
      </p:sp>
    </p:spTree>
  </p:cSld>
  <p:clrMapOvr>
    <a:masterClrMapping/>
  </p:clrMapOvr>
  <p:transition/>
  <p:timing>
    <p:tnLst>
      <p:par>
        <p:cTn id="1" dur="indefinite" restart="never" nodeType="tmRoot"/>
      </p:par>
    </p:tn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9" name="Text Box 4"/>
          <p:cNvSpPr txBox="1">
            <a:spLocks noChangeArrowheads="1"/>
          </p:cNvSpPr>
          <p:nvPr/>
        </p:nvSpPr>
        <p:spPr bwMode="auto">
          <a:xfrm>
            <a:off x="2143125" y="5286375"/>
            <a:ext cx="5943600" cy="784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eaLnBrk="1" hangingPunct="1">
              <a:spcBef>
                <a:spcPct val="50000"/>
              </a:spcBef>
            </a:pPr>
            <a:r>
              <a:rPr lang="zh-CN" altLang="en-US"/>
              <a:t>图</a:t>
            </a:r>
            <a:r>
              <a:rPr lang="en-US" altLang="zh-CN"/>
              <a:t>  </a:t>
            </a:r>
            <a:r>
              <a:rPr lang="zh-CN" altLang="en-US">
                <a:solidFill>
                  <a:srgbClr val="FF0000"/>
                </a:solidFill>
              </a:rPr>
              <a:t>链式存储下线性表的插入过程</a:t>
            </a:r>
            <a:endParaRPr lang="zh-CN" altLang="en-US">
              <a:solidFill>
                <a:srgbClr val="FF0000"/>
              </a:solidFill>
            </a:endParaRPr>
          </a:p>
          <a:p>
            <a:pPr algn="just" eaLnBrk="1" hangingPunct="1">
              <a:spcBef>
                <a:spcPct val="50000"/>
              </a:spcBef>
            </a:pPr>
            <a:r>
              <a:rPr lang="en-US" altLang="zh-CN"/>
              <a:t>(a) </a:t>
            </a:r>
            <a:r>
              <a:rPr lang="zh-CN" altLang="en-US"/>
              <a:t>插入前；</a:t>
            </a:r>
            <a:r>
              <a:rPr lang="en-US" altLang="zh-CN"/>
              <a:t>(b) </a:t>
            </a:r>
            <a:r>
              <a:rPr lang="zh-CN" altLang="en-US"/>
              <a:t>新结点赋值；</a:t>
            </a:r>
            <a:r>
              <a:rPr lang="en-US" altLang="zh-CN"/>
              <a:t>(c) </a:t>
            </a:r>
            <a:r>
              <a:rPr lang="zh-CN" altLang="en-US"/>
              <a:t>链入</a:t>
            </a:r>
            <a:endParaRPr lang="zh-CN" altLang="en-US"/>
          </a:p>
        </p:txBody>
      </p:sp>
      <p:graphicFrame>
        <p:nvGraphicFramePr>
          <p:cNvPr id="9218" name="Object 2"/>
          <p:cNvGraphicFramePr>
            <a:graphicFrameLocks noChangeAspect="1"/>
          </p:cNvGraphicFramePr>
          <p:nvPr/>
        </p:nvGraphicFramePr>
        <p:xfrm>
          <a:off x="899592" y="1196753"/>
          <a:ext cx="6809735" cy="4176464"/>
        </p:xfrm>
        <a:graphic>
          <a:graphicData uri="http://schemas.openxmlformats.org/presentationml/2006/ole">
            <mc:AlternateContent xmlns:mc="http://schemas.openxmlformats.org/markup-compatibility/2006">
              <mc:Choice xmlns:v="urn:schemas-microsoft-com:vml" Requires="v">
                <p:oleObj spid="_x0000_s29706" name="" r:id="rId1" imgW="3865245" imgH="2369185" progId="Visio.Drawing.11">
                  <p:embed/>
                </p:oleObj>
              </mc:Choice>
              <mc:Fallback>
                <p:oleObj name="" r:id="rId1" imgW="3865245" imgH="2369185" progId="Visio.Drawing.11">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9592" y="1196753"/>
                        <a:ext cx="6809735" cy="4176464"/>
                      </a:xfrm>
                      <a:prstGeom prst="rect">
                        <a:avLst/>
                      </a:prstGeom>
                      <a:noFill/>
                    </p:spPr>
                  </p:pic>
                </p:oleObj>
              </mc:Fallback>
            </mc:AlternateContent>
          </a:graphicData>
        </a:graphic>
      </p:graphicFrame>
      <p:sp>
        <p:nvSpPr>
          <p:cNvPr id="9220"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5" name="Rectangle 2"/>
          <p:cNvSpPr>
            <a:spLocks noGrp="1" noChangeArrowheads="1"/>
          </p:cNvSpPr>
          <p:nvPr>
            <p:ph type="title"/>
          </p:nvPr>
        </p:nvSpPr>
        <p:spPr>
          <a:xfrm>
            <a:off x="879475" y="269875"/>
            <a:ext cx="7869238" cy="927100"/>
          </a:xfrm>
        </p:spPr>
        <p:txBody>
          <a:bodyPr/>
          <a:lstStyle/>
          <a:p>
            <a:pPr eaLnBrk="1" hangingPunct="1"/>
            <a:r>
              <a:rPr lang="en-US" altLang="zh-CN" dirty="0">
                <a:solidFill>
                  <a:srgbClr val="333399"/>
                </a:solidFill>
              </a:rPr>
              <a:t>1.4.3 </a:t>
            </a:r>
            <a:r>
              <a:rPr lang="zh-CN" altLang="en-US" dirty="0" smtClean="0"/>
              <a:t>链表</a:t>
            </a:r>
            <a:r>
              <a:rPr lang="en-US" altLang="zh-CN" dirty="0" smtClean="0"/>
              <a:t>——</a:t>
            </a:r>
            <a:r>
              <a:rPr lang="zh-CN" altLang="en-US" dirty="0"/>
              <a:t>插入</a:t>
            </a:r>
            <a:endParaRPr lang="en-US" altLang="zh-CN" dirty="0" smtClean="0"/>
          </a:p>
        </p:txBody>
      </p:sp>
    </p:spTree>
  </p:cSld>
  <p:clrMapOvr>
    <a:masterClrMapping/>
  </p:clrMapOvr>
  <p:transition/>
  <p:timing>
    <p:tnLst>
      <p:par>
        <p:cTn id="1" dur="indefinite" restart="never" nodeType="tmRoot"/>
      </p:par>
    </p:tn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Text Box 4"/>
          <p:cNvSpPr txBox="1">
            <a:spLocks noChangeArrowheads="1"/>
          </p:cNvSpPr>
          <p:nvPr/>
        </p:nvSpPr>
        <p:spPr bwMode="auto">
          <a:xfrm>
            <a:off x="2195736" y="5373216"/>
            <a:ext cx="5715000" cy="784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eaLnBrk="1" hangingPunct="1">
              <a:spcBef>
                <a:spcPct val="50000"/>
              </a:spcBef>
            </a:pPr>
            <a:r>
              <a:rPr lang="zh-CN" altLang="en-US" dirty="0"/>
              <a:t>图</a:t>
            </a:r>
            <a:r>
              <a:rPr lang="en-US" altLang="zh-CN" dirty="0"/>
              <a:t>  </a:t>
            </a:r>
            <a:r>
              <a:rPr lang="zh-CN" altLang="en-US" dirty="0">
                <a:solidFill>
                  <a:srgbClr val="FF0000"/>
                </a:solidFill>
              </a:rPr>
              <a:t>数组存储下线性表的删除过程</a:t>
            </a:r>
            <a:endParaRPr lang="zh-CN" altLang="en-US" dirty="0">
              <a:solidFill>
                <a:srgbClr val="FF0000"/>
              </a:solidFill>
            </a:endParaRPr>
          </a:p>
          <a:p>
            <a:pPr algn="just" eaLnBrk="1" hangingPunct="1">
              <a:spcBef>
                <a:spcPct val="50000"/>
              </a:spcBef>
            </a:pPr>
            <a:r>
              <a:rPr lang="zh-CN" altLang="en-US" dirty="0"/>
              <a:t>     </a:t>
            </a:r>
            <a:r>
              <a:rPr lang="en-US" altLang="zh-CN" dirty="0"/>
              <a:t>(a) </a:t>
            </a:r>
            <a:r>
              <a:rPr lang="zh-CN" altLang="en-US" dirty="0"/>
              <a:t>删除前；</a:t>
            </a:r>
            <a:r>
              <a:rPr lang="en-US" altLang="zh-CN" dirty="0"/>
              <a:t>(b) </a:t>
            </a:r>
            <a:r>
              <a:rPr lang="zh-CN" altLang="en-US" dirty="0"/>
              <a:t>保存；</a:t>
            </a:r>
            <a:r>
              <a:rPr lang="en-US" altLang="zh-CN" dirty="0"/>
              <a:t>(c) </a:t>
            </a:r>
            <a:r>
              <a:rPr lang="zh-CN" altLang="en-US" dirty="0"/>
              <a:t>前移</a:t>
            </a:r>
            <a:endParaRPr lang="zh-CN" altLang="en-US" dirty="0"/>
          </a:p>
        </p:txBody>
      </p:sp>
      <p:graphicFrame>
        <p:nvGraphicFramePr>
          <p:cNvPr id="8194" name="Object 2"/>
          <p:cNvGraphicFramePr>
            <a:graphicFrameLocks noChangeAspect="1"/>
          </p:cNvGraphicFramePr>
          <p:nvPr/>
        </p:nvGraphicFramePr>
        <p:xfrm>
          <a:off x="611560" y="1124744"/>
          <a:ext cx="8083624" cy="4281758"/>
        </p:xfrm>
        <a:graphic>
          <a:graphicData uri="http://schemas.openxmlformats.org/presentationml/2006/ole">
            <mc:AlternateContent xmlns:mc="http://schemas.openxmlformats.org/markup-compatibility/2006">
              <mc:Choice xmlns:v="urn:schemas-microsoft-com:vml" Requires="v">
                <p:oleObj spid="_x0000_s30730" name="" r:id="rId1" imgW="4745355" imgH="2513330" progId="Visio.Drawing.11">
                  <p:embed/>
                </p:oleObj>
              </mc:Choice>
              <mc:Fallback>
                <p:oleObj name="" r:id="rId1" imgW="4745355" imgH="2513330" progId="Visio.Drawing.11">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1124744"/>
                        <a:ext cx="8083624" cy="4281758"/>
                      </a:xfrm>
                      <a:prstGeom prst="rect">
                        <a:avLst/>
                      </a:prstGeom>
                      <a:noFill/>
                    </p:spPr>
                  </p:pic>
                </p:oleObj>
              </mc:Fallback>
            </mc:AlternateContent>
          </a:graphicData>
        </a:graphic>
      </p:graphicFrame>
      <p:sp>
        <p:nvSpPr>
          <p:cNvPr id="8196"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5" name="Rectangle 2"/>
          <p:cNvSpPr>
            <a:spLocks noGrp="1" noChangeArrowheads="1"/>
          </p:cNvSpPr>
          <p:nvPr>
            <p:ph type="title"/>
          </p:nvPr>
        </p:nvSpPr>
        <p:spPr>
          <a:xfrm>
            <a:off x="879475" y="269875"/>
            <a:ext cx="7869238" cy="927100"/>
          </a:xfrm>
        </p:spPr>
        <p:txBody>
          <a:bodyPr/>
          <a:lstStyle/>
          <a:p>
            <a:pPr eaLnBrk="1" hangingPunct="1"/>
            <a:r>
              <a:rPr lang="en-US" altLang="zh-CN" dirty="0">
                <a:solidFill>
                  <a:srgbClr val="333399"/>
                </a:solidFill>
              </a:rPr>
              <a:t>1.4.3 </a:t>
            </a:r>
            <a:r>
              <a:rPr lang="zh-CN" altLang="en-US" dirty="0" smtClean="0"/>
              <a:t>链表</a:t>
            </a:r>
            <a:r>
              <a:rPr lang="en-US" altLang="zh-CN" dirty="0" smtClean="0"/>
              <a:t>——</a:t>
            </a:r>
            <a:r>
              <a:rPr lang="zh-CN" altLang="en-US" dirty="0" smtClean="0"/>
              <a:t>删除</a:t>
            </a:r>
            <a:endParaRPr lang="en-US" altLang="zh-CN" dirty="0" smtClean="0"/>
          </a:p>
        </p:txBody>
      </p:sp>
    </p:spTree>
  </p:cSld>
  <p:clrMapOvr>
    <a:masterClrMapping/>
  </p:clrMapOvr>
  <p:transition/>
  <p:timing>
    <p:tnLst>
      <p:par>
        <p:cTn id="1" dur="indefinite" restart="never" nodeType="tmRoot"/>
      </p:par>
    </p:tn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242" name="Object 2"/>
          <p:cNvGraphicFramePr>
            <a:graphicFrameLocks noChangeAspect="1"/>
          </p:cNvGraphicFramePr>
          <p:nvPr/>
        </p:nvGraphicFramePr>
        <p:xfrm>
          <a:off x="899592" y="1163019"/>
          <a:ext cx="6696744" cy="4368902"/>
        </p:xfrm>
        <a:graphic>
          <a:graphicData uri="http://schemas.openxmlformats.org/presentationml/2006/ole">
            <mc:AlternateContent xmlns:mc="http://schemas.openxmlformats.org/markup-compatibility/2006">
              <mc:Choice xmlns:v="urn:schemas-microsoft-com:vml" Requires="v">
                <p:oleObj spid="_x0000_s31754" name="" r:id="rId1" imgW="4404995" imgH="2872740" progId="Visio.Drawing.11">
                  <p:embed/>
                </p:oleObj>
              </mc:Choice>
              <mc:Fallback>
                <p:oleObj name="" r:id="rId1" imgW="4404995" imgH="2872740" progId="Visio.Drawing.11">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9592" y="1163019"/>
                        <a:ext cx="6696744" cy="4368902"/>
                      </a:xfrm>
                      <a:prstGeom prst="rect">
                        <a:avLst/>
                      </a:prstGeom>
                      <a:noFill/>
                    </p:spPr>
                  </p:pic>
                </p:oleObj>
              </mc:Fallback>
            </mc:AlternateContent>
          </a:graphicData>
        </a:graphic>
      </p:graphicFrame>
      <p:sp>
        <p:nvSpPr>
          <p:cNvPr id="10243" name="Text Box 6"/>
          <p:cNvSpPr txBox="1">
            <a:spLocks noChangeArrowheads="1"/>
          </p:cNvSpPr>
          <p:nvPr/>
        </p:nvSpPr>
        <p:spPr bwMode="auto">
          <a:xfrm>
            <a:off x="1475656" y="5373216"/>
            <a:ext cx="5943600" cy="784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spcBef>
                <a:spcPct val="50000"/>
              </a:spcBef>
            </a:pPr>
            <a:r>
              <a:rPr lang="zh-CN" altLang="en-US"/>
              <a:t>图</a:t>
            </a:r>
            <a:r>
              <a:rPr lang="en-US" altLang="zh-CN"/>
              <a:t>  </a:t>
            </a:r>
            <a:r>
              <a:rPr lang="zh-CN" altLang="en-US">
                <a:solidFill>
                  <a:srgbClr val="FF0000"/>
                </a:solidFill>
              </a:rPr>
              <a:t>链式存储下线性表的删除过程</a:t>
            </a:r>
            <a:endParaRPr lang="zh-CN" altLang="en-US">
              <a:solidFill>
                <a:srgbClr val="FF0000"/>
              </a:solidFill>
            </a:endParaRPr>
          </a:p>
          <a:p>
            <a:pPr algn="ctr" eaLnBrk="1" hangingPunct="1">
              <a:spcBef>
                <a:spcPct val="50000"/>
              </a:spcBef>
            </a:pPr>
            <a:r>
              <a:rPr lang="en-US" altLang="zh-CN"/>
              <a:t>(a) </a:t>
            </a:r>
            <a:r>
              <a:rPr lang="zh-CN" altLang="en-US"/>
              <a:t>删除前；</a:t>
            </a:r>
            <a:r>
              <a:rPr lang="en-US" altLang="zh-CN"/>
              <a:t>(b) </a:t>
            </a:r>
            <a:r>
              <a:rPr lang="zh-CN" altLang="en-US"/>
              <a:t>保存；</a:t>
            </a:r>
            <a:r>
              <a:rPr lang="en-US" altLang="zh-CN"/>
              <a:t>(c) </a:t>
            </a:r>
            <a:r>
              <a:rPr lang="zh-CN" altLang="en-US"/>
              <a:t>删除</a:t>
            </a:r>
            <a:endParaRPr lang="zh-CN" altLang="en-US"/>
          </a:p>
        </p:txBody>
      </p:sp>
      <p:sp>
        <p:nvSpPr>
          <p:cNvPr id="10244"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5" name="Rectangle 2"/>
          <p:cNvSpPr>
            <a:spLocks noGrp="1" noChangeArrowheads="1"/>
          </p:cNvSpPr>
          <p:nvPr>
            <p:ph type="title"/>
          </p:nvPr>
        </p:nvSpPr>
        <p:spPr>
          <a:xfrm>
            <a:off x="879475" y="269875"/>
            <a:ext cx="7869238" cy="927100"/>
          </a:xfrm>
        </p:spPr>
        <p:txBody>
          <a:bodyPr/>
          <a:lstStyle/>
          <a:p>
            <a:pPr eaLnBrk="1" hangingPunct="1"/>
            <a:r>
              <a:rPr lang="en-US" altLang="zh-CN" dirty="0">
                <a:solidFill>
                  <a:srgbClr val="333399"/>
                </a:solidFill>
              </a:rPr>
              <a:t>1.4.3 </a:t>
            </a:r>
            <a:r>
              <a:rPr lang="zh-CN" altLang="en-US" dirty="0" smtClean="0"/>
              <a:t>链表</a:t>
            </a:r>
            <a:r>
              <a:rPr lang="en-US" altLang="zh-CN" dirty="0" smtClean="0"/>
              <a:t>——</a:t>
            </a:r>
            <a:r>
              <a:rPr lang="zh-CN" altLang="en-US" dirty="0" smtClean="0"/>
              <a:t>删除</a:t>
            </a:r>
            <a:endParaRPr lang="en-US" altLang="zh-CN" dirty="0" smtClean="0"/>
          </a:p>
        </p:txBody>
      </p:sp>
    </p:spTree>
  </p:cSld>
  <p:clrMapOvr>
    <a:masterClrMapping/>
  </p:clrMapOvr>
  <p:transition/>
  <p:timing>
    <p:tnLst>
      <p:par>
        <p:cTn id="1" dur="indefinite" restart="never" nodeType="tmRoot"/>
      </p:par>
    </p:tn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96259" name="Rectangle 3"/>
          <p:cNvSpPr>
            <a:spLocks noGrp="1" noChangeArrowheads="1"/>
          </p:cNvSpPr>
          <p:nvPr>
            <p:ph type="body" idx="1"/>
          </p:nvPr>
        </p:nvSpPr>
        <p:spPr/>
        <p:txBody>
          <a:bodyPr/>
          <a:lstStyle/>
          <a:p>
            <a:pPr eaLnBrk="1" hangingPunct="1">
              <a:defRPr/>
            </a:pPr>
            <a:r>
              <a:rPr lang="zh-CN" altLang="en-US" dirty="0" smtClean="0"/>
              <a:t>堆栈是一种只允许在称为栈顶的一端进行插入和删除运算的链表，也可以在数组中实现这些运算。</a:t>
            </a:r>
            <a:endParaRPr lang="en-US" altLang="zh-CN" dirty="0" smtClean="0"/>
          </a:p>
          <a:p>
            <a:pPr eaLnBrk="1" hangingPunct="1">
              <a:defRPr/>
            </a:pPr>
            <a:endParaRPr lang="en-US" altLang="zh-CN" dirty="0" smtClean="0"/>
          </a:p>
          <a:p>
            <a:pPr eaLnBrk="1" hangingPunct="1">
              <a:defRPr/>
            </a:pPr>
            <a:r>
              <a:rPr lang="zh-CN" altLang="en-US" dirty="0" smtClean="0"/>
              <a:t>两种基本操作</a:t>
            </a:r>
            <a:r>
              <a:rPr lang="en-US" altLang="zh-CN" dirty="0" smtClean="0"/>
              <a:t>:</a:t>
            </a:r>
            <a:endParaRPr lang="en-US" altLang="zh-CN" dirty="0" smtClean="0"/>
          </a:p>
          <a:p>
            <a:pPr lvl="1" eaLnBrk="1" hangingPunct="1">
              <a:buFontTx/>
              <a:buNone/>
              <a:defRPr/>
            </a:pPr>
            <a:r>
              <a:rPr lang="en-US" altLang="zh-CN" dirty="0" smtClean="0">
                <a:latin typeface="+mn-ea"/>
                <a:ea typeface="+mn-ea"/>
              </a:rPr>
              <a:t> </a:t>
            </a:r>
            <a:r>
              <a:rPr lang="zh-CN" altLang="en-US" dirty="0" smtClean="0">
                <a:latin typeface="+mn-ea"/>
                <a:ea typeface="+mn-ea"/>
              </a:rPr>
              <a:t>如果</a:t>
            </a:r>
            <a:r>
              <a:rPr lang="en-US" altLang="zh-CN" dirty="0" smtClean="0">
                <a:latin typeface="+mn-ea"/>
                <a:ea typeface="+mn-ea"/>
              </a:rPr>
              <a:t>S</a:t>
            </a:r>
            <a:r>
              <a:rPr lang="zh-CN" altLang="en-US" dirty="0" smtClean="0">
                <a:latin typeface="+mn-ea"/>
                <a:ea typeface="+mn-ea"/>
              </a:rPr>
              <a:t>是一个堆栈，如果</a:t>
            </a:r>
            <a:r>
              <a:rPr lang="en-US" altLang="zh-CN" dirty="0" smtClean="0">
                <a:latin typeface="+mn-ea"/>
                <a:ea typeface="+mn-ea"/>
              </a:rPr>
              <a:t>x</a:t>
            </a:r>
            <a:r>
              <a:rPr lang="zh-CN" altLang="en-US" dirty="0" smtClean="0">
                <a:latin typeface="+mn-ea"/>
                <a:ea typeface="+mn-ea"/>
              </a:rPr>
              <a:t>是与</a:t>
            </a:r>
            <a:r>
              <a:rPr lang="en-US" altLang="zh-CN" dirty="0" smtClean="0">
                <a:latin typeface="+mn-ea"/>
                <a:ea typeface="+mn-ea"/>
              </a:rPr>
              <a:t>S</a:t>
            </a:r>
            <a:r>
              <a:rPr lang="zh-CN" altLang="en-US" dirty="0" smtClean="0">
                <a:latin typeface="+mn-ea"/>
                <a:ea typeface="+mn-ea"/>
              </a:rPr>
              <a:t>中元素类型相同的一个元素</a:t>
            </a:r>
            <a:endParaRPr lang="en-US" altLang="zh-CN" dirty="0" smtClean="0">
              <a:latin typeface="+mn-ea"/>
              <a:ea typeface="+mn-ea"/>
            </a:endParaRPr>
          </a:p>
          <a:p>
            <a:pPr lvl="1" eaLnBrk="1" hangingPunct="1">
              <a:defRPr/>
            </a:pPr>
            <a:r>
              <a:rPr lang="en-US" altLang="zh-CN" dirty="0" smtClean="0">
                <a:solidFill>
                  <a:srgbClr val="EA0000"/>
                </a:solidFill>
                <a:latin typeface="+mn-ea"/>
                <a:ea typeface="+mn-ea"/>
              </a:rPr>
              <a:t>Push</a:t>
            </a:r>
            <a:r>
              <a:rPr lang="zh-CN" altLang="en-US" dirty="0" smtClean="0">
                <a:solidFill>
                  <a:srgbClr val="EA0000"/>
                </a:solidFill>
                <a:latin typeface="+mn-ea"/>
                <a:ea typeface="+mn-ea"/>
              </a:rPr>
              <a:t>运算</a:t>
            </a:r>
            <a:r>
              <a:rPr lang="en-US" altLang="zh-CN" dirty="0" smtClean="0">
                <a:latin typeface="+mn-ea"/>
                <a:ea typeface="+mn-ea"/>
              </a:rPr>
              <a:t>: push(</a:t>
            </a:r>
            <a:r>
              <a:rPr lang="en-US" altLang="zh-CN" dirty="0" err="1" smtClean="0">
                <a:latin typeface="+mn-ea"/>
                <a:ea typeface="+mn-ea"/>
              </a:rPr>
              <a:t>S,x</a:t>
            </a:r>
            <a:r>
              <a:rPr lang="en-US" altLang="zh-CN" dirty="0" smtClean="0">
                <a:latin typeface="+mn-ea"/>
                <a:ea typeface="+mn-ea"/>
              </a:rPr>
              <a:t>) </a:t>
            </a:r>
            <a:r>
              <a:rPr lang="zh-CN" altLang="en-US" dirty="0" smtClean="0">
                <a:latin typeface="+mn-ea"/>
                <a:ea typeface="+mn-ea"/>
              </a:rPr>
              <a:t>把</a:t>
            </a:r>
            <a:r>
              <a:rPr lang="en-US" altLang="zh-CN" dirty="0" smtClean="0">
                <a:latin typeface="+mn-ea"/>
                <a:ea typeface="+mn-ea"/>
              </a:rPr>
              <a:t>x</a:t>
            </a:r>
            <a:r>
              <a:rPr lang="zh-CN" altLang="en-US" dirty="0" smtClean="0">
                <a:latin typeface="+mn-ea"/>
                <a:ea typeface="+mn-ea"/>
              </a:rPr>
              <a:t>加到</a:t>
            </a:r>
            <a:r>
              <a:rPr lang="en-US" altLang="zh-CN" dirty="0" smtClean="0">
                <a:latin typeface="+mn-ea"/>
                <a:ea typeface="+mn-ea"/>
              </a:rPr>
              <a:t>S</a:t>
            </a:r>
            <a:r>
              <a:rPr lang="zh-CN" altLang="en-US" dirty="0" smtClean="0">
                <a:latin typeface="+mn-ea"/>
                <a:ea typeface="+mn-ea"/>
              </a:rPr>
              <a:t>中，并改变堆栈的顶部，使它指向</a:t>
            </a:r>
            <a:r>
              <a:rPr lang="en-US" altLang="zh-CN" dirty="0" smtClean="0">
                <a:latin typeface="+mn-ea"/>
                <a:ea typeface="+mn-ea"/>
              </a:rPr>
              <a:t>x</a:t>
            </a:r>
            <a:r>
              <a:rPr lang="zh-CN" altLang="en-US" dirty="0" smtClean="0">
                <a:latin typeface="+mn-ea"/>
                <a:ea typeface="+mn-ea"/>
              </a:rPr>
              <a:t>。</a:t>
            </a:r>
            <a:endParaRPr lang="en-US" altLang="zh-CN" dirty="0" smtClean="0">
              <a:latin typeface="+mn-ea"/>
              <a:ea typeface="+mn-ea"/>
            </a:endParaRPr>
          </a:p>
          <a:p>
            <a:pPr lvl="1" eaLnBrk="1" hangingPunct="1">
              <a:defRPr/>
            </a:pPr>
            <a:r>
              <a:rPr lang="en-US" altLang="zh-CN" dirty="0" smtClean="0">
                <a:solidFill>
                  <a:srgbClr val="EA0000"/>
                </a:solidFill>
                <a:latin typeface="+mn-ea"/>
                <a:ea typeface="+mn-ea"/>
              </a:rPr>
              <a:t>Pop</a:t>
            </a:r>
            <a:r>
              <a:rPr lang="zh-CN" altLang="en-US" dirty="0" smtClean="0">
                <a:solidFill>
                  <a:srgbClr val="EA0000"/>
                </a:solidFill>
                <a:latin typeface="+mn-ea"/>
                <a:ea typeface="+mn-ea"/>
              </a:rPr>
              <a:t>运算</a:t>
            </a:r>
            <a:r>
              <a:rPr lang="en-US" altLang="zh-CN" dirty="0" smtClean="0">
                <a:solidFill>
                  <a:schemeClr val="hlink"/>
                </a:solidFill>
                <a:latin typeface="+mn-ea"/>
                <a:ea typeface="+mn-ea"/>
              </a:rPr>
              <a:t>:</a:t>
            </a:r>
            <a:r>
              <a:rPr lang="en-US" altLang="zh-CN" dirty="0" smtClean="0">
                <a:latin typeface="+mn-ea"/>
                <a:ea typeface="+mn-ea"/>
              </a:rPr>
              <a:t> </a:t>
            </a:r>
            <a:r>
              <a:rPr lang="zh-CN" altLang="en-US" dirty="0" smtClean="0">
                <a:latin typeface="+mn-ea"/>
                <a:ea typeface="+mn-ea"/>
              </a:rPr>
              <a:t>返回栈顶元素，并将它从堆栈中永久地移去。</a:t>
            </a:r>
            <a:endParaRPr lang="en-US" altLang="zh-CN" dirty="0" smtClean="0">
              <a:latin typeface="+mn-ea"/>
              <a:ea typeface="+mn-ea"/>
            </a:endParaRPr>
          </a:p>
        </p:txBody>
      </p:sp>
      <p:sp>
        <p:nvSpPr>
          <p:cNvPr id="5" name="Rectangle 2"/>
          <p:cNvSpPr txBox="1">
            <a:spLocks noChangeArrowheads="1"/>
          </p:cNvSpPr>
          <p:nvPr/>
        </p:nvSpPr>
        <p:spPr bwMode="auto">
          <a:xfrm>
            <a:off x="916482" y="356678"/>
            <a:ext cx="7869238" cy="927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l" rtl="0" eaLnBrk="0" fontAlgn="base" hangingPunct="0">
              <a:spcBef>
                <a:spcPct val="0"/>
              </a:spcBef>
              <a:spcAft>
                <a:spcPct val="0"/>
              </a:spcAft>
              <a:defRPr sz="3200">
                <a:solidFill>
                  <a:schemeClr val="accent2"/>
                </a:solidFill>
                <a:latin typeface="+mj-lt"/>
                <a:ea typeface="+mj-ea"/>
                <a:cs typeface="+mj-cs"/>
              </a:defRPr>
            </a:lvl1pPr>
            <a:lvl2pPr algn="l" rtl="0" eaLnBrk="0" fontAlgn="base" hangingPunct="0">
              <a:spcBef>
                <a:spcPct val="0"/>
              </a:spcBef>
              <a:spcAft>
                <a:spcPct val="0"/>
              </a:spcAft>
              <a:defRPr sz="3200">
                <a:solidFill>
                  <a:schemeClr val="accent2"/>
                </a:solidFill>
                <a:latin typeface="Garamond" pitchFamily="18" charset="0"/>
                <a:ea typeface="宋体" pitchFamily="2" charset="-122"/>
              </a:defRPr>
            </a:lvl2pPr>
            <a:lvl3pPr algn="l" rtl="0" eaLnBrk="0" fontAlgn="base" hangingPunct="0">
              <a:spcBef>
                <a:spcPct val="0"/>
              </a:spcBef>
              <a:spcAft>
                <a:spcPct val="0"/>
              </a:spcAft>
              <a:defRPr sz="3200">
                <a:solidFill>
                  <a:schemeClr val="accent2"/>
                </a:solidFill>
                <a:latin typeface="Garamond" pitchFamily="18" charset="0"/>
                <a:ea typeface="宋体" pitchFamily="2" charset="-122"/>
              </a:defRPr>
            </a:lvl3pPr>
            <a:lvl4pPr algn="l" rtl="0" eaLnBrk="0" fontAlgn="base" hangingPunct="0">
              <a:spcBef>
                <a:spcPct val="0"/>
              </a:spcBef>
              <a:spcAft>
                <a:spcPct val="0"/>
              </a:spcAft>
              <a:defRPr sz="3200">
                <a:solidFill>
                  <a:schemeClr val="accent2"/>
                </a:solidFill>
                <a:latin typeface="Garamond" pitchFamily="18" charset="0"/>
                <a:ea typeface="宋体" pitchFamily="2" charset="-122"/>
              </a:defRPr>
            </a:lvl4pPr>
            <a:lvl5pPr algn="l" rtl="0" eaLnBrk="0" fontAlgn="base" hangingPunct="0">
              <a:spcBef>
                <a:spcPct val="0"/>
              </a:spcBef>
              <a:spcAft>
                <a:spcPct val="0"/>
              </a:spcAft>
              <a:defRPr sz="3200">
                <a:solidFill>
                  <a:schemeClr val="accent2"/>
                </a:solidFill>
                <a:latin typeface="Garamond" pitchFamily="18" charset="0"/>
                <a:ea typeface="宋体" pitchFamily="2" charset="-122"/>
              </a:defRPr>
            </a:lvl5pPr>
            <a:lvl6pPr marL="457200" algn="l" rtl="0" fontAlgn="base">
              <a:spcBef>
                <a:spcPct val="0"/>
              </a:spcBef>
              <a:spcAft>
                <a:spcPct val="0"/>
              </a:spcAft>
              <a:defRPr sz="3200">
                <a:solidFill>
                  <a:schemeClr val="accent2"/>
                </a:solidFill>
                <a:latin typeface="Garamond" pitchFamily="18" charset="0"/>
                <a:ea typeface="宋体" pitchFamily="2" charset="-122"/>
              </a:defRPr>
            </a:lvl6pPr>
            <a:lvl7pPr marL="914400" algn="l" rtl="0" fontAlgn="base">
              <a:spcBef>
                <a:spcPct val="0"/>
              </a:spcBef>
              <a:spcAft>
                <a:spcPct val="0"/>
              </a:spcAft>
              <a:defRPr sz="3200">
                <a:solidFill>
                  <a:schemeClr val="accent2"/>
                </a:solidFill>
                <a:latin typeface="Garamond" pitchFamily="18" charset="0"/>
                <a:ea typeface="宋体" pitchFamily="2" charset="-122"/>
              </a:defRPr>
            </a:lvl7pPr>
            <a:lvl8pPr marL="1371600" algn="l" rtl="0" fontAlgn="base">
              <a:spcBef>
                <a:spcPct val="0"/>
              </a:spcBef>
              <a:spcAft>
                <a:spcPct val="0"/>
              </a:spcAft>
              <a:defRPr sz="3200">
                <a:solidFill>
                  <a:schemeClr val="accent2"/>
                </a:solidFill>
                <a:latin typeface="Garamond" pitchFamily="18" charset="0"/>
                <a:ea typeface="宋体" pitchFamily="2" charset="-122"/>
              </a:defRPr>
            </a:lvl8pPr>
            <a:lvl9pPr marL="1828800" algn="l" rtl="0" fontAlgn="base">
              <a:spcBef>
                <a:spcPct val="0"/>
              </a:spcBef>
              <a:spcAft>
                <a:spcPct val="0"/>
              </a:spcAft>
              <a:defRPr sz="3200">
                <a:solidFill>
                  <a:schemeClr val="accent2"/>
                </a:solidFill>
                <a:latin typeface="Garamond" pitchFamily="18" charset="0"/>
                <a:ea typeface="宋体" pitchFamily="2" charset="-122"/>
              </a:defRPr>
            </a:lvl9pPr>
          </a:lstStyle>
          <a:p>
            <a:pPr eaLnBrk="1" hangingPunct="1"/>
            <a:r>
              <a:rPr lang="en-US" altLang="zh-CN" dirty="0">
                <a:solidFill>
                  <a:srgbClr val="333399"/>
                </a:solidFill>
              </a:rPr>
              <a:t>1.4.</a:t>
            </a:r>
            <a:r>
              <a:rPr lang="en-US" altLang="zh-CN" kern="0" dirty="0" smtClean="0"/>
              <a:t>4 </a:t>
            </a:r>
            <a:r>
              <a:rPr lang="zh-CN" altLang="en-US" b="1" u="sng" kern="0" dirty="0" smtClean="0"/>
              <a:t>堆栈</a:t>
            </a:r>
            <a:r>
              <a:rPr lang="zh-CN" altLang="en-US" kern="0" dirty="0" smtClean="0"/>
              <a:t>和队列</a:t>
            </a:r>
            <a:endParaRPr lang="en-US" altLang="zh-CN" kern="0" dirty="0" smtClean="0"/>
          </a:p>
        </p:txBody>
      </p:sp>
    </p:spTree>
  </p:cSld>
  <p:clrMapOvr>
    <a:masterClrMapping/>
  </p:clrMapOvr>
  <p:timing>
    <p:tnLst>
      <p:par>
        <p:cTn id="1" dur="indefinite" restart="never" nodeType="tmRoot"/>
      </p:par>
    </p:tn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54275" name="Rectangle 2"/>
          <p:cNvSpPr>
            <a:spLocks noGrp="1" noChangeArrowheads="1"/>
          </p:cNvSpPr>
          <p:nvPr>
            <p:ph type="title"/>
          </p:nvPr>
        </p:nvSpPr>
        <p:spPr/>
        <p:txBody>
          <a:bodyPr/>
          <a:lstStyle/>
          <a:p>
            <a:pPr eaLnBrk="1" hangingPunct="1"/>
            <a:r>
              <a:rPr lang="en-US" altLang="zh-CN" dirty="0">
                <a:solidFill>
                  <a:srgbClr val="333399"/>
                </a:solidFill>
              </a:rPr>
              <a:t>1.4.</a:t>
            </a:r>
            <a:r>
              <a:rPr lang="en-US" altLang="zh-CN" kern="0" dirty="0" smtClean="0"/>
              <a:t>4 </a:t>
            </a:r>
            <a:r>
              <a:rPr lang="zh-CN" altLang="en-US" b="1" u="sng" kern="0" dirty="0" smtClean="0"/>
              <a:t>堆栈</a:t>
            </a:r>
            <a:r>
              <a:rPr lang="zh-CN" altLang="en-US" kern="0" dirty="0" smtClean="0"/>
              <a:t>和队列</a:t>
            </a:r>
            <a:endParaRPr lang="en-US" altLang="zh-CN" kern="0" dirty="0" smtClean="0"/>
          </a:p>
        </p:txBody>
      </p:sp>
      <p:sp>
        <p:nvSpPr>
          <p:cNvPr id="54276" name="Rectangle 3"/>
          <p:cNvSpPr>
            <a:spLocks noGrp="1" noChangeArrowheads="1"/>
          </p:cNvSpPr>
          <p:nvPr>
            <p:ph type="body" idx="1"/>
          </p:nvPr>
        </p:nvSpPr>
        <p:spPr/>
        <p:txBody>
          <a:bodyPr/>
          <a:lstStyle/>
          <a:p>
            <a:r>
              <a:rPr lang="zh-CN" altLang="en-US" smtClean="0"/>
              <a:t>堆栈也简称为</a:t>
            </a:r>
            <a:r>
              <a:rPr lang="zh-CN" altLang="en-US" smtClean="0">
                <a:solidFill>
                  <a:srgbClr val="FF0000"/>
                </a:solidFill>
              </a:rPr>
              <a:t>栈</a:t>
            </a:r>
            <a:r>
              <a:rPr lang="zh-CN" altLang="en-US" smtClean="0"/>
              <a:t>，是限定在表的一端进行插入或删除操作的线性表。 </a:t>
            </a:r>
            <a:endParaRPr lang="zh-CN" altLang="en-US" smtClean="0"/>
          </a:p>
          <a:p>
            <a:r>
              <a:rPr lang="zh-CN" altLang="en-US" smtClean="0"/>
              <a:t>进行插入或删除操作的一段称为</a:t>
            </a:r>
            <a:r>
              <a:rPr lang="zh-CN" altLang="en-US" smtClean="0">
                <a:solidFill>
                  <a:srgbClr val="FF0000"/>
                </a:solidFill>
              </a:rPr>
              <a:t>栈顶（</a:t>
            </a:r>
            <a:r>
              <a:rPr lang="en-US" altLang="zh-CN" smtClean="0">
                <a:solidFill>
                  <a:srgbClr val="FF0000"/>
                </a:solidFill>
              </a:rPr>
              <a:t>top</a:t>
            </a:r>
            <a:r>
              <a:rPr lang="zh-CN" altLang="en-US" smtClean="0">
                <a:solidFill>
                  <a:srgbClr val="FF0000"/>
                </a:solidFill>
              </a:rPr>
              <a:t>），</a:t>
            </a:r>
            <a:r>
              <a:rPr lang="zh-CN" altLang="en-US" smtClean="0"/>
              <a:t>另一端称为</a:t>
            </a:r>
            <a:r>
              <a:rPr lang="zh-CN" altLang="en-US" smtClean="0">
                <a:solidFill>
                  <a:srgbClr val="FF0000"/>
                </a:solidFill>
              </a:rPr>
              <a:t>栈底（</a:t>
            </a:r>
            <a:r>
              <a:rPr lang="en-US" altLang="zh-CN" smtClean="0">
                <a:solidFill>
                  <a:srgbClr val="FF0000"/>
                </a:solidFill>
              </a:rPr>
              <a:t>bottom</a:t>
            </a:r>
            <a:r>
              <a:rPr lang="zh-CN" altLang="en-US" smtClean="0">
                <a:solidFill>
                  <a:srgbClr val="FF0000"/>
                </a:solidFill>
              </a:rPr>
              <a:t>）</a:t>
            </a:r>
            <a:r>
              <a:rPr lang="zh-CN" altLang="en-US" smtClean="0"/>
              <a:t>。 </a:t>
            </a:r>
            <a:endParaRPr lang="zh-CN" altLang="en-US" smtClean="0"/>
          </a:p>
          <a:p>
            <a:r>
              <a:rPr lang="zh-CN" altLang="en-US" smtClean="0"/>
              <a:t>插入元素又称为</a:t>
            </a:r>
            <a:r>
              <a:rPr lang="zh-CN" altLang="en-US" smtClean="0">
                <a:solidFill>
                  <a:srgbClr val="FF0000"/>
                </a:solidFill>
              </a:rPr>
              <a:t>入栈（</a:t>
            </a:r>
            <a:r>
              <a:rPr lang="en-US" altLang="zh-CN" smtClean="0">
                <a:solidFill>
                  <a:srgbClr val="FF0000"/>
                </a:solidFill>
              </a:rPr>
              <a:t>push</a:t>
            </a:r>
            <a:r>
              <a:rPr lang="zh-CN" altLang="en-US" smtClean="0">
                <a:solidFill>
                  <a:srgbClr val="FF0000"/>
                </a:solidFill>
              </a:rPr>
              <a:t>），</a:t>
            </a:r>
            <a:r>
              <a:rPr lang="zh-CN" altLang="en-US" smtClean="0"/>
              <a:t>删除元素操作称为</a:t>
            </a:r>
            <a:r>
              <a:rPr lang="zh-CN" altLang="en-US" smtClean="0">
                <a:solidFill>
                  <a:srgbClr val="FF0000"/>
                </a:solidFill>
              </a:rPr>
              <a:t>出栈（</a:t>
            </a:r>
            <a:r>
              <a:rPr lang="en-US" altLang="zh-CN" smtClean="0">
                <a:solidFill>
                  <a:srgbClr val="FF0000"/>
                </a:solidFill>
              </a:rPr>
              <a:t>pop</a:t>
            </a:r>
            <a:r>
              <a:rPr lang="zh-CN" altLang="en-US" smtClean="0">
                <a:solidFill>
                  <a:srgbClr val="FF0000"/>
                </a:solidFill>
              </a:rPr>
              <a:t>）</a:t>
            </a:r>
            <a:r>
              <a:rPr lang="zh-CN" altLang="en-US" smtClean="0"/>
              <a:t>。 </a:t>
            </a:r>
            <a:endParaRPr lang="zh-CN" altLang="en-US" smtClean="0"/>
          </a:p>
          <a:p>
            <a:r>
              <a:rPr lang="zh-CN" altLang="en-US" smtClean="0"/>
              <a:t>不含元素的栈称为</a:t>
            </a:r>
            <a:r>
              <a:rPr lang="zh-CN" altLang="en-US" smtClean="0">
                <a:solidFill>
                  <a:srgbClr val="FF0000"/>
                </a:solidFill>
              </a:rPr>
              <a:t>空栈</a:t>
            </a:r>
            <a:r>
              <a:rPr lang="zh-CN" altLang="en-US" smtClean="0"/>
              <a:t>。 </a:t>
            </a:r>
            <a:endParaRPr lang="zh-CN" altLang="en-US" smtClean="0"/>
          </a:p>
          <a:p>
            <a:r>
              <a:rPr lang="zh-CN" altLang="en-US" smtClean="0"/>
              <a:t>堆栈元素的插入和删除只在栈顶进行，总是后进去的元素先出来，所以堆栈又称为</a:t>
            </a:r>
            <a:r>
              <a:rPr lang="zh-CN" altLang="en-US" smtClean="0">
                <a:solidFill>
                  <a:srgbClr val="FF0000"/>
                </a:solidFill>
              </a:rPr>
              <a:t>后进先出线性表</a:t>
            </a:r>
            <a:r>
              <a:rPr lang="zh-CN" altLang="en-US" smtClean="0"/>
              <a:t>或</a:t>
            </a:r>
            <a:r>
              <a:rPr lang="en-US" altLang="zh-CN" smtClean="0"/>
              <a:t>LIFO</a:t>
            </a:r>
            <a:r>
              <a:rPr lang="zh-CN" altLang="en-US" smtClean="0"/>
              <a:t>（</a:t>
            </a:r>
            <a:r>
              <a:rPr lang="en-US" altLang="zh-CN" smtClean="0"/>
              <a:t>Last-In-First-Out</a:t>
            </a:r>
            <a:r>
              <a:rPr lang="zh-CN" altLang="en-US" smtClean="0"/>
              <a:t>）表。 </a:t>
            </a:r>
            <a:endParaRPr lang="zh-CN" altLang="en-US" smtClean="0"/>
          </a:p>
        </p:txBody>
      </p:sp>
    </p:spTree>
  </p:cSld>
  <p:clrMapOvr>
    <a:masterClrMapping/>
  </p:clrMapOvr>
  <p:timing>
    <p:tnLst>
      <p:par>
        <p:cTn id="1" dur="indefinite" restart="never" nodeType="tmRoot"/>
      </p:par>
    </p:tn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55299" name="Rectangle 2"/>
          <p:cNvSpPr>
            <a:spLocks noGrp="1" noChangeArrowheads="1"/>
          </p:cNvSpPr>
          <p:nvPr>
            <p:ph type="title"/>
          </p:nvPr>
        </p:nvSpPr>
        <p:spPr/>
        <p:txBody>
          <a:bodyPr/>
          <a:lstStyle/>
          <a:p>
            <a:pPr eaLnBrk="1" hangingPunct="1"/>
            <a:r>
              <a:rPr lang="en-US" altLang="zh-CN" dirty="0">
                <a:solidFill>
                  <a:srgbClr val="333399"/>
                </a:solidFill>
              </a:rPr>
              <a:t>1.4.</a:t>
            </a:r>
            <a:r>
              <a:rPr lang="en-US" altLang="zh-CN" kern="0" dirty="0" smtClean="0"/>
              <a:t>4 </a:t>
            </a:r>
            <a:r>
              <a:rPr lang="zh-CN" altLang="en-US" b="1" u="sng" kern="0" dirty="0" smtClean="0"/>
              <a:t>堆栈</a:t>
            </a:r>
            <a:r>
              <a:rPr lang="zh-CN" altLang="en-US" kern="0" dirty="0" smtClean="0"/>
              <a:t>和队列</a:t>
            </a:r>
            <a:endParaRPr lang="en-US" altLang="zh-CN" kern="0" dirty="0" smtClean="0"/>
          </a:p>
        </p:txBody>
      </p:sp>
      <p:sp>
        <p:nvSpPr>
          <p:cNvPr id="55300" name="Rectangle 3"/>
          <p:cNvSpPr>
            <a:spLocks noGrp="1" noChangeArrowheads="1"/>
          </p:cNvSpPr>
          <p:nvPr>
            <p:ph type="body" idx="1"/>
          </p:nvPr>
        </p:nvSpPr>
        <p:spPr/>
        <p:txBody>
          <a:bodyPr/>
          <a:lstStyle/>
          <a:p>
            <a:r>
              <a:rPr lang="zh-CN" altLang="en-US" smtClean="0"/>
              <a:t>堆栈的最简单的表示方法是采用一维数组，为形象起见，一般在图中将堆栈画成竖直的 。</a:t>
            </a:r>
            <a:endParaRPr lang="zh-CN" altLang="en-US" smtClean="0"/>
          </a:p>
          <a:p>
            <a:r>
              <a:rPr lang="zh-CN" altLang="en-US" smtClean="0"/>
              <a:t>设数组名为</a:t>
            </a:r>
            <a:r>
              <a:rPr lang="en-US" altLang="zh-CN" smtClean="0"/>
              <a:t>STACK</a:t>
            </a:r>
            <a:r>
              <a:rPr lang="zh-CN" altLang="en-US" smtClean="0"/>
              <a:t>，其下标的下界为</a:t>
            </a:r>
            <a:r>
              <a:rPr lang="en-US" altLang="zh-CN" smtClean="0"/>
              <a:t>1</a:t>
            </a:r>
            <a:r>
              <a:rPr lang="zh-CN" altLang="en-US" smtClean="0"/>
              <a:t>，上界为</a:t>
            </a:r>
            <a:r>
              <a:rPr lang="en-US" altLang="zh-CN" smtClean="0"/>
              <a:t>n</a:t>
            </a:r>
            <a:r>
              <a:rPr lang="zh-CN" altLang="en-US" smtClean="0"/>
              <a:t>。</a:t>
            </a:r>
            <a:endParaRPr lang="zh-CN" altLang="en-US" smtClean="0"/>
          </a:p>
          <a:p>
            <a:r>
              <a:rPr lang="zh-CN" altLang="en-US" smtClean="0"/>
              <a:t>一般需用一个变量</a:t>
            </a:r>
            <a:r>
              <a:rPr lang="en-US" altLang="zh-CN" smtClean="0"/>
              <a:t>top</a:t>
            </a:r>
            <a:r>
              <a:rPr lang="zh-CN" altLang="en-US" smtClean="0"/>
              <a:t>记录当前栈顶的下标值，</a:t>
            </a:r>
            <a:r>
              <a:rPr lang="en-US" altLang="zh-CN" smtClean="0">
                <a:solidFill>
                  <a:srgbClr val="FF0000"/>
                </a:solidFill>
              </a:rPr>
              <a:t>top</a:t>
            </a:r>
            <a:r>
              <a:rPr lang="zh-CN" altLang="en-US" smtClean="0">
                <a:solidFill>
                  <a:srgbClr val="FF0000"/>
                </a:solidFill>
              </a:rPr>
              <a:t>也叫做栈指针</a:t>
            </a:r>
            <a:r>
              <a:rPr lang="zh-CN" altLang="en-US" smtClean="0"/>
              <a:t>。</a:t>
            </a:r>
            <a:endParaRPr lang="zh-CN" altLang="en-US" smtClean="0"/>
          </a:p>
        </p:txBody>
      </p:sp>
    </p:spTree>
  </p:cSld>
  <p:clrMapOvr>
    <a:masterClrMapping/>
  </p:clrMapOvr>
  <p:timing>
    <p:tnLst>
      <p:par>
        <p:cTn id="1" dur="indefinite" restart="never" nodeType="tmRoot"/>
      </p:par>
    </p:tn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3"/>
          <p:cNvSpPr>
            <a:spLocks noGrp="1" noChangeArrowheads="1"/>
          </p:cNvSpPr>
          <p:nvPr>
            <p:ph type="body" idx="1"/>
          </p:nvPr>
        </p:nvSpPr>
        <p:spPr>
          <a:xfrm>
            <a:off x="588942" y="2510174"/>
            <a:ext cx="2743200" cy="950054"/>
          </a:xfrm>
        </p:spPr>
        <p:txBody>
          <a:bodyPr/>
          <a:lstStyle/>
          <a:p>
            <a:r>
              <a:rPr lang="zh-CN" altLang="en-US" smtClean="0"/>
              <a:t>本例中</a:t>
            </a:r>
            <a:r>
              <a:rPr lang="en-US" altLang="zh-CN" smtClean="0"/>
              <a:t>top=4  </a:t>
            </a:r>
            <a:endParaRPr lang="en-US" altLang="zh-CN" smtClean="0"/>
          </a:p>
        </p:txBody>
      </p:sp>
      <p:grpSp>
        <p:nvGrpSpPr>
          <p:cNvPr id="56323" name="Group 4"/>
          <p:cNvGrpSpPr/>
          <p:nvPr/>
        </p:nvGrpSpPr>
        <p:grpSpPr bwMode="auto">
          <a:xfrm>
            <a:off x="3635896" y="1196752"/>
            <a:ext cx="5215880" cy="4986561"/>
            <a:chOff x="2112" y="528"/>
            <a:chExt cx="3648" cy="3606"/>
          </a:xfrm>
        </p:grpSpPr>
        <p:sp>
          <p:nvSpPr>
            <p:cNvPr id="25605" name="Line 5"/>
            <p:cNvSpPr>
              <a:spLocks noChangeShapeType="1"/>
            </p:cNvSpPr>
            <p:nvPr/>
          </p:nvSpPr>
          <p:spPr bwMode="auto">
            <a:xfrm flipH="1">
              <a:off x="3936" y="2121"/>
              <a:ext cx="811" cy="0"/>
            </a:xfrm>
            <a:prstGeom prst="line">
              <a:avLst/>
            </a:prstGeom>
            <a:noFill/>
            <a:ln w="12700">
              <a:solidFill>
                <a:srgbClr val="FFCC66"/>
              </a:solidFill>
              <a:round/>
              <a:tailEnd type="stealth" w="lg" len="lg"/>
            </a:ln>
          </p:spPr>
          <p:txBody>
            <a:bodyPr/>
            <a:lstStyle/>
            <a:p>
              <a:pPr>
                <a:defRPr/>
              </a:pPr>
              <a:endParaRPr lang="zh-CN" altLang="en-US">
                <a:solidFill>
                  <a:schemeClr val="accent6"/>
                </a:solidFill>
                <a:latin typeface="Arial" panose="020B0604020202090204" pitchFamily="34" charset="0"/>
              </a:endParaRPr>
            </a:p>
          </p:txBody>
        </p:sp>
        <p:sp>
          <p:nvSpPr>
            <p:cNvPr id="25606" name="Text Box 6"/>
            <p:cNvSpPr txBox="1">
              <a:spLocks noChangeArrowheads="1"/>
            </p:cNvSpPr>
            <p:nvPr/>
          </p:nvSpPr>
          <p:spPr bwMode="auto">
            <a:xfrm>
              <a:off x="4544" y="1872"/>
              <a:ext cx="1216" cy="310"/>
            </a:xfrm>
            <a:prstGeom prst="rect">
              <a:avLst/>
            </a:prstGeom>
            <a:noFill/>
            <a:ln w="12700">
              <a:noFill/>
              <a:miter lim="800000"/>
            </a:ln>
          </p:spPr>
          <p:txBody>
            <a:bodyPr tIns="0" bIns="0">
              <a:spAutoFit/>
            </a:bodyPr>
            <a:lstStyle/>
            <a:p>
              <a:pPr algn="just" eaLnBrk="0" hangingPunct="0">
                <a:defRPr/>
              </a:pPr>
              <a:r>
                <a:rPr lang="en-US" altLang="zh-CN" sz="3200" b="1" dirty="0">
                  <a:solidFill>
                    <a:schemeClr val="accent6"/>
                  </a:solidFill>
                  <a:latin typeface="Arial" panose="020B0604020202090204" pitchFamily="34" charset="0"/>
                </a:rPr>
                <a:t>top</a:t>
              </a:r>
              <a:endParaRPr lang="en-US" altLang="zh-CN" sz="3200" b="1" dirty="0">
                <a:solidFill>
                  <a:schemeClr val="accent6"/>
                </a:solidFill>
                <a:latin typeface="Arial" panose="020B0604020202090204" pitchFamily="34" charset="0"/>
              </a:endParaRPr>
            </a:p>
          </p:txBody>
        </p:sp>
        <p:grpSp>
          <p:nvGrpSpPr>
            <p:cNvPr id="56327" name="Group 7"/>
            <p:cNvGrpSpPr/>
            <p:nvPr/>
          </p:nvGrpSpPr>
          <p:grpSpPr bwMode="auto">
            <a:xfrm>
              <a:off x="2112" y="528"/>
              <a:ext cx="2432" cy="3606"/>
              <a:chOff x="2112" y="528"/>
              <a:chExt cx="2432" cy="3606"/>
            </a:xfrm>
          </p:grpSpPr>
          <p:sp>
            <p:nvSpPr>
              <p:cNvPr id="25608" name="Text Box 8"/>
              <p:cNvSpPr txBox="1">
                <a:spLocks noChangeArrowheads="1"/>
              </p:cNvSpPr>
              <p:nvPr/>
            </p:nvSpPr>
            <p:spPr bwMode="auto">
              <a:xfrm>
                <a:off x="2920" y="3372"/>
                <a:ext cx="811" cy="310"/>
              </a:xfrm>
              <a:prstGeom prst="rect">
                <a:avLst/>
              </a:prstGeom>
              <a:noFill/>
              <a:ln w="12700">
                <a:noFill/>
                <a:miter lim="800000"/>
              </a:ln>
            </p:spPr>
            <p:txBody>
              <a:bodyPr tIns="0" bIns="0">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r>
                  <a:rPr lang="en-US" altLang="zh-CN" sz="3200" b="1">
                    <a:solidFill>
                      <a:srgbClr val="2D2D8A"/>
                    </a:solidFill>
                  </a:rPr>
                  <a:t>A</a:t>
                </a:r>
                <a:endParaRPr lang="en-US" altLang="zh-CN" sz="3200" b="1">
                  <a:solidFill>
                    <a:srgbClr val="2D2D8A"/>
                  </a:solidFill>
                </a:endParaRPr>
              </a:p>
            </p:txBody>
          </p:sp>
          <p:sp>
            <p:nvSpPr>
              <p:cNvPr id="25609" name="Text Box 9"/>
              <p:cNvSpPr txBox="1">
                <a:spLocks noChangeArrowheads="1"/>
              </p:cNvSpPr>
              <p:nvPr/>
            </p:nvSpPr>
            <p:spPr bwMode="auto">
              <a:xfrm>
                <a:off x="2923" y="2007"/>
                <a:ext cx="810" cy="310"/>
              </a:xfrm>
              <a:prstGeom prst="rect">
                <a:avLst/>
              </a:prstGeom>
              <a:noFill/>
              <a:ln w="12700">
                <a:noFill/>
                <a:miter lim="800000"/>
              </a:ln>
            </p:spPr>
            <p:txBody>
              <a:bodyPr tIns="0" bIns="0">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r>
                  <a:rPr lang="en-US" altLang="zh-CN" sz="3200" b="1">
                    <a:solidFill>
                      <a:srgbClr val="2D2D8A"/>
                    </a:solidFill>
                  </a:rPr>
                  <a:t>D</a:t>
                </a:r>
                <a:endParaRPr lang="en-US" altLang="zh-CN" sz="3200" b="1">
                  <a:solidFill>
                    <a:srgbClr val="2D2D8A"/>
                  </a:solidFill>
                </a:endParaRPr>
              </a:p>
            </p:txBody>
          </p:sp>
          <p:sp>
            <p:nvSpPr>
              <p:cNvPr id="25610" name="Text Box 10"/>
              <p:cNvSpPr txBox="1">
                <a:spLocks noChangeArrowheads="1"/>
              </p:cNvSpPr>
              <p:nvPr/>
            </p:nvSpPr>
            <p:spPr bwMode="auto">
              <a:xfrm>
                <a:off x="2920" y="2461"/>
                <a:ext cx="811" cy="310"/>
              </a:xfrm>
              <a:prstGeom prst="rect">
                <a:avLst/>
              </a:prstGeom>
              <a:noFill/>
              <a:ln w="12700">
                <a:noFill/>
                <a:miter lim="800000"/>
              </a:ln>
            </p:spPr>
            <p:txBody>
              <a:bodyPr tIns="0" bIns="0">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r>
                  <a:rPr lang="en-US" altLang="zh-CN" sz="3200" b="1">
                    <a:solidFill>
                      <a:srgbClr val="2D2D8A"/>
                    </a:solidFill>
                  </a:rPr>
                  <a:t>C</a:t>
                </a:r>
                <a:endParaRPr lang="en-US" altLang="zh-CN" sz="3200" b="1">
                  <a:solidFill>
                    <a:srgbClr val="2D2D8A"/>
                  </a:solidFill>
                </a:endParaRPr>
              </a:p>
            </p:txBody>
          </p:sp>
          <p:sp>
            <p:nvSpPr>
              <p:cNvPr id="25611" name="Text Box 11"/>
              <p:cNvSpPr txBox="1">
                <a:spLocks noChangeArrowheads="1"/>
              </p:cNvSpPr>
              <p:nvPr/>
            </p:nvSpPr>
            <p:spPr bwMode="auto">
              <a:xfrm>
                <a:off x="2920" y="2916"/>
                <a:ext cx="811" cy="310"/>
              </a:xfrm>
              <a:prstGeom prst="rect">
                <a:avLst/>
              </a:prstGeom>
              <a:noFill/>
              <a:ln w="12700">
                <a:noFill/>
                <a:miter lim="800000"/>
              </a:ln>
            </p:spPr>
            <p:txBody>
              <a:bodyPr tIns="0" bIns="0">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r>
                  <a:rPr lang="en-US" altLang="zh-CN" sz="3200" b="1">
                    <a:solidFill>
                      <a:srgbClr val="2D2D8A"/>
                    </a:solidFill>
                  </a:rPr>
                  <a:t>B</a:t>
                </a:r>
                <a:endParaRPr lang="en-US" altLang="zh-CN" sz="3200" b="1">
                  <a:solidFill>
                    <a:srgbClr val="2D2D8A"/>
                  </a:solidFill>
                </a:endParaRPr>
              </a:p>
            </p:txBody>
          </p:sp>
          <p:sp>
            <p:nvSpPr>
              <p:cNvPr id="25612" name="Text Box 12"/>
              <p:cNvSpPr txBox="1">
                <a:spLocks noChangeArrowheads="1"/>
              </p:cNvSpPr>
              <p:nvPr/>
            </p:nvSpPr>
            <p:spPr bwMode="auto">
              <a:xfrm>
                <a:off x="2112" y="2007"/>
                <a:ext cx="811" cy="310"/>
              </a:xfrm>
              <a:prstGeom prst="rect">
                <a:avLst/>
              </a:prstGeom>
              <a:noFill/>
              <a:ln w="12700">
                <a:noFill/>
                <a:miter lim="800000"/>
              </a:ln>
            </p:spPr>
            <p:txBody>
              <a:bodyPr tIns="0" bIns="0">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r>
                  <a:rPr lang="en-US" altLang="zh-CN" sz="3200" b="1">
                    <a:solidFill>
                      <a:srgbClr val="2D2D8A"/>
                    </a:solidFill>
                  </a:rPr>
                  <a:t>4</a:t>
                </a:r>
                <a:endParaRPr lang="en-US" altLang="zh-CN" sz="3200" b="1">
                  <a:solidFill>
                    <a:srgbClr val="2D2D8A"/>
                  </a:solidFill>
                </a:endParaRPr>
              </a:p>
            </p:txBody>
          </p:sp>
          <p:sp>
            <p:nvSpPr>
              <p:cNvPr id="25613" name="Text Box 13"/>
              <p:cNvSpPr txBox="1">
                <a:spLocks noChangeArrowheads="1"/>
              </p:cNvSpPr>
              <p:nvPr/>
            </p:nvSpPr>
            <p:spPr bwMode="auto">
              <a:xfrm>
                <a:off x="2112" y="642"/>
                <a:ext cx="811" cy="310"/>
              </a:xfrm>
              <a:prstGeom prst="rect">
                <a:avLst/>
              </a:prstGeom>
              <a:noFill/>
              <a:ln w="12700">
                <a:noFill/>
                <a:miter lim="800000"/>
              </a:ln>
            </p:spPr>
            <p:txBody>
              <a:bodyPr tIns="0" bIns="0">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r>
                  <a:rPr lang="en-US" altLang="zh-CN" sz="3200" b="1">
                    <a:solidFill>
                      <a:srgbClr val="2D2D8A"/>
                    </a:solidFill>
                  </a:rPr>
                  <a:t>7</a:t>
                </a:r>
                <a:endParaRPr lang="en-US" altLang="zh-CN" sz="3200" b="1">
                  <a:solidFill>
                    <a:srgbClr val="2D2D8A"/>
                  </a:solidFill>
                </a:endParaRPr>
              </a:p>
            </p:txBody>
          </p:sp>
          <p:sp>
            <p:nvSpPr>
              <p:cNvPr id="25614" name="Text Box 14"/>
              <p:cNvSpPr txBox="1">
                <a:spLocks noChangeArrowheads="1"/>
              </p:cNvSpPr>
              <p:nvPr/>
            </p:nvSpPr>
            <p:spPr bwMode="auto">
              <a:xfrm>
                <a:off x="2112" y="1551"/>
                <a:ext cx="811" cy="310"/>
              </a:xfrm>
              <a:prstGeom prst="rect">
                <a:avLst/>
              </a:prstGeom>
              <a:noFill/>
              <a:ln w="12700">
                <a:noFill/>
                <a:miter lim="800000"/>
              </a:ln>
            </p:spPr>
            <p:txBody>
              <a:bodyPr tIns="0" bIns="0">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r>
                  <a:rPr lang="en-US" altLang="zh-CN" sz="3200" b="1">
                    <a:solidFill>
                      <a:srgbClr val="2D2D8A"/>
                    </a:solidFill>
                  </a:rPr>
                  <a:t>5</a:t>
                </a:r>
                <a:endParaRPr lang="en-US" altLang="zh-CN" sz="3200" b="1">
                  <a:solidFill>
                    <a:srgbClr val="2D2D8A"/>
                  </a:solidFill>
                </a:endParaRPr>
              </a:p>
            </p:txBody>
          </p:sp>
          <p:sp>
            <p:nvSpPr>
              <p:cNvPr id="25615" name="Text Box 15"/>
              <p:cNvSpPr txBox="1">
                <a:spLocks noChangeArrowheads="1"/>
              </p:cNvSpPr>
              <p:nvPr/>
            </p:nvSpPr>
            <p:spPr bwMode="auto">
              <a:xfrm>
                <a:off x="2112" y="2459"/>
                <a:ext cx="811" cy="310"/>
              </a:xfrm>
              <a:prstGeom prst="rect">
                <a:avLst/>
              </a:prstGeom>
              <a:noFill/>
              <a:ln w="12700">
                <a:noFill/>
                <a:miter lim="800000"/>
              </a:ln>
            </p:spPr>
            <p:txBody>
              <a:bodyPr tIns="0" bIns="0">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r>
                  <a:rPr lang="en-US" altLang="zh-CN" sz="3200" b="1">
                    <a:solidFill>
                      <a:srgbClr val="2D2D8A"/>
                    </a:solidFill>
                  </a:rPr>
                  <a:t>3</a:t>
                </a:r>
                <a:endParaRPr lang="en-US" altLang="zh-CN" sz="3200" b="1">
                  <a:solidFill>
                    <a:srgbClr val="2D2D8A"/>
                  </a:solidFill>
                </a:endParaRPr>
              </a:p>
            </p:txBody>
          </p:sp>
          <p:sp>
            <p:nvSpPr>
              <p:cNvPr id="25616" name="Text Box 16"/>
              <p:cNvSpPr txBox="1">
                <a:spLocks noChangeArrowheads="1"/>
              </p:cNvSpPr>
              <p:nvPr/>
            </p:nvSpPr>
            <p:spPr bwMode="auto">
              <a:xfrm>
                <a:off x="2112" y="2915"/>
                <a:ext cx="811" cy="310"/>
              </a:xfrm>
              <a:prstGeom prst="rect">
                <a:avLst/>
              </a:prstGeom>
              <a:noFill/>
              <a:ln w="12700">
                <a:noFill/>
                <a:miter lim="800000"/>
              </a:ln>
            </p:spPr>
            <p:txBody>
              <a:bodyPr tIns="0" bIns="0">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r>
                  <a:rPr lang="en-US" altLang="zh-CN" sz="3200" b="1">
                    <a:solidFill>
                      <a:srgbClr val="2D2D8A"/>
                    </a:solidFill>
                  </a:rPr>
                  <a:t>2</a:t>
                </a:r>
                <a:endParaRPr lang="en-US" altLang="zh-CN" sz="3200" b="1">
                  <a:solidFill>
                    <a:srgbClr val="2D2D8A"/>
                  </a:solidFill>
                </a:endParaRPr>
              </a:p>
            </p:txBody>
          </p:sp>
          <p:sp>
            <p:nvSpPr>
              <p:cNvPr id="25617" name="Text Box 17"/>
              <p:cNvSpPr txBox="1">
                <a:spLocks noChangeArrowheads="1"/>
              </p:cNvSpPr>
              <p:nvPr/>
            </p:nvSpPr>
            <p:spPr bwMode="auto">
              <a:xfrm>
                <a:off x="2112" y="3369"/>
                <a:ext cx="811" cy="310"/>
              </a:xfrm>
              <a:prstGeom prst="rect">
                <a:avLst/>
              </a:prstGeom>
              <a:noFill/>
              <a:ln w="12700">
                <a:noFill/>
                <a:miter lim="800000"/>
              </a:ln>
            </p:spPr>
            <p:txBody>
              <a:bodyPr tIns="0" bIns="0">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r>
                  <a:rPr lang="en-US" altLang="zh-CN" sz="3200" b="1">
                    <a:solidFill>
                      <a:srgbClr val="2D2D8A"/>
                    </a:solidFill>
                  </a:rPr>
                  <a:t>1</a:t>
                </a:r>
                <a:endParaRPr lang="en-US" altLang="zh-CN" sz="3200" b="1">
                  <a:solidFill>
                    <a:srgbClr val="2D2D8A"/>
                  </a:solidFill>
                </a:endParaRPr>
              </a:p>
            </p:txBody>
          </p:sp>
          <p:sp>
            <p:nvSpPr>
              <p:cNvPr id="25618" name="Text Box 18"/>
              <p:cNvSpPr txBox="1">
                <a:spLocks noChangeArrowheads="1"/>
              </p:cNvSpPr>
              <p:nvPr/>
            </p:nvSpPr>
            <p:spPr bwMode="auto">
              <a:xfrm>
                <a:off x="2112" y="1096"/>
                <a:ext cx="811" cy="310"/>
              </a:xfrm>
              <a:prstGeom prst="rect">
                <a:avLst/>
              </a:prstGeom>
              <a:noFill/>
              <a:ln w="12700">
                <a:noFill/>
                <a:miter lim="800000"/>
              </a:ln>
            </p:spPr>
            <p:txBody>
              <a:bodyPr tIns="0" bIns="0">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just"/>
                <a:r>
                  <a:rPr lang="en-US" altLang="zh-CN" sz="3200" b="1">
                    <a:solidFill>
                      <a:srgbClr val="2D2D8A"/>
                    </a:solidFill>
                  </a:rPr>
                  <a:t>6</a:t>
                </a:r>
                <a:endParaRPr lang="en-US" altLang="zh-CN" sz="3200" b="1">
                  <a:solidFill>
                    <a:srgbClr val="2D2D8A"/>
                  </a:solidFill>
                </a:endParaRPr>
              </a:p>
            </p:txBody>
          </p:sp>
          <p:sp>
            <p:nvSpPr>
              <p:cNvPr id="25619" name="Line 19"/>
              <p:cNvSpPr>
                <a:spLocks noChangeShapeType="1"/>
              </p:cNvSpPr>
              <p:nvPr/>
            </p:nvSpPr>
            <p:spPr bwMode="auto">
              <a:xfrm>
                <a:off x="2579" y="2348"/>
                <a:ext cx="1216" cy="0"/>
              </a:xfrm>
              <a:prstGeom prst="line">
                <a:avLst/>
              </a:prstGeom>
              <a:noFill/>
              <a:ln w="12700">
                <a:solidFill>
                  <a:schemeClr val="tx1"/>
                </a:solidFill>
                <a:miter lim="800000"/>
              </a:ln>
            </p:spPr>
            <p:txBody>
              <a:bodyPr wrap="none" anchor="ctr"/>
              <a:lstStyle/>
              <a:p>
                <a:pPr>
                  <a:defRPr/>
                </a:pPr>
                <a:endParaRPr lang="zh-CN" altLang="en-US">
                  <a:solidFill>
                    <a:schemeClr val="accent6"/>
                  </a:solidFill>
                  <a:latin typeface="Arial" panose="020B0604020202090204" pitchFamily="34" charset="0"/>
                </a:endParaRPr>
              </a:p>
            </p:txBody>
          </p:sp>
          <p:sp>
            <p:nvSpPr>
              <p:cNvPr id="25620" name="Line 20"/>
              <p:cNvSpPr>
                <a:spLocks noChangeShapeType="1"/>
              </p:cNvSpPr>
              <p:nvPr/>
            </p:nvSpPr>
            <p:spPr bwMode="auto">
              <a:xfrm>
                <a:off x="2579" y="2802"/>
                <a:ext cx="1216" cy="0"/>
              </a:xfrm>
              <a:prstGeom prst="line">
                <a:avLst/>
              </a:prstGeom>
              <a:noFill/>
              <a:ln w="12700">
                <a:solidFill>
                  <a:schemeClr val="tx1"/>
                </a:solidFill>
                <a:miter lim="800000"/>
              </a:ln>
            </p:spPr>
            <p:txBody>
              <a:bodyPr wrap="none" anchor="ctr"/>
              <a:lstStyle/>
              <a:p>
                <a:pPr>
                  <a:defRPr/>
                </a:pPr>
                <a:endParaRPr lang="zh-CN" altLang="en-US">
                  <a:solidFill>
                    <a:schemeClr val="accent6"/>
                  </a:solidFill>
                  <a:latin typeface="Arial" panose="020B0604020202090204" pitchFamily="34" charset="0"/>
                </a:endParaRPr>
              </a:p>
            </p:txBody>
          </p:sp>
          <p:sp>
            <p:nvSpPr>
              <p:cNvPr id="25621" name="Line 21"/>
              <p:cNvSpPr>
                <a:spLocks noChangeShapeType="1"/>
              </p:cNvSpPr>
              <p:nvPr/>
            </p:nvSpPr>
            <p:spPr bwMode="auto">
              <a:xfrm>
                <a:off x="2579" y="3257"/>
                <a:ext cx="1216" cy="0"/>
              </a:xfrm>
              <a:prstGeom prst="line">
                <a:avLst/>
              </a:prstGeom>
              <a:noFill/>
              <a:ln w="12700">
                <a:solidFill>
                  <a:schemeClr val="tx1"/>
                </a:solidFill>
                <a:miter lim="800000"/>
              </a:ln>
            </p:spPr>
            <p:txBody>
              <a:bodyPr wrap="none" anchor="ctr"/>
              <a:lstStyle/>
              <a:p>
                <a:pPr>
                  <a:defRPr/>
                </a:pPr>
                <a:endParaRPr lang="zh-CN" altLang="en-US">
                  <a:solidFill>
                    <a:schemeClr val="accent6"/>
                  </a:solidFill>
                  <a:latin typeface="Arial" panose="020B0604020202090204" pitchFamily="34" charset="0"/>
                </a:endParaRPr>
              </a:p>
            </p:txBody>
          </p:sp>
          <p:sp>
            <p:nvSpPr>
              <p:cNvPr id="25622" name="Rectangle 22"/>
              <p:cNvSpPr>
                <a:spLocks noChangeArrowheads="1"/>
              </p:cNvSpPr>
              <p:nvPr/>
            </p:nvSpPr>
            <p:spPr bwMode="auto">
              <a:xfrm>
                <a:off x="2579" y="528"/>
                <a:ext cx="1216" cy="3184"/>
              </a:xfrm>
              <a:prstGeom prst="rect">
                <a:avLst/>
              </a:prstGeom>
              <a:noFill/>
              <a:ln w="12700">
                <a:solidFill>
                  <a:schemeClr val="tx1"/>
                </a:solidFill>
                <a:miter lim="800000"/>
              </a:ln>
            </p:spPr>
            <p:txBody>
              <a:bodyPr wrap="none" anchor="ctr"/>
              <a:lstStyle/>
              <a:p>
                <a:pPr>
                  <a:defRPr/>
                </a:pPr>
                <a:endParaRPr lang="zh-CN" altLang="en-US">
                  <a:solidFill>
                    <a:schemeClr val="accent6"/>
                  </a:solidFill>
                  <a:latin typeface="Arial" panose="020B0604020202090204" pitchFamily="34" charset="0"/>
                </a:endParaRPr>
              </a:p>
            </p:txBody>
          </p:sp>
          <p:sp>
            <p:nvSpPr>
              <p:cNvPr id="25623" name="Line 23"/>
              <p:cNvSpPr>
                <a:spLocks noChangeShapeType="1"/>
              </p:cNvSpPr>
              <p:nvPr/>
            </p:nvSpPr>
            <p:spPr bwMode="auto">
              <a:xfrm>
                <a:off x="2579" y="983"/>
                <a:ext cx="1216" cy="0"/>
              </a:xfrm>
              <a:prstGeom prst="line">
                <a:avLst/>
              </a:prstGeom>
              <a:noFill/>
              <a:ln w="12700">
                <a:solidFill>
                  <a:schemeClr val="tx1"/>
                </a:solidFill>
                <a:miter lim="800000"/>
              </a:ln>
            </p:spPr>
            <p:txBody>
              <a:bodyPr wrap="none" anchor="ctr"/>
              <a:lstStyle/>
              <a:p>
                <a:pPr>
                  <a:defRPr/>
                </a:pPr>
                <a:endParaRPr lang="zh-CN" altLang="en-US">
                  <a:solidFill>
                    <a:schemeClr val="accent6"/>
                  </a:solidFill>
                  <a:latin typeface="Arial" panose="020B0604020202090204" pitchFamily="34" charset="0"/>
                </a:endParaRPr>
              </a:p>
            </p:txBody>
          </p:sp>
          <p:sp>
            <p:nvSpPr>
              <p:cNvPr id="25624" name="Line 24"/>
              <p:cNvSpPr>
                <a:spLocks noChangeShapeType="1"/>
              </p:cNvSpPr>
              <p:nvPr/>
            </p:nvSpPr>
            <p:spPr bwMode="auto">
              <a:xfrm>
                <a:off x="2579" y="1437"/>
                <a:ext cx="1216" cy="0"/>
              </a:xfrm>
              <a:prstGeom prst="line">
                <a:avLst/>
              </a:prstGeom>
              <a:noFill/>
              <a:ln w="12700">
                <a:solidFill>
                  <a:schemeClr val="tx1"/>
                </a:solidFill>
                <a:miter lim="800000"/>
              </a:ln>
            </p:spPr>
            <p:txBody>
              <a:bodyPr wrap="none" anchor="ctr"/>
              <a:lstStyle/>
              <a:p>
                <a:pPr>
                  <a:defRPr/>
                </a:pPr>
                <a:endParaRPr lang="zh-CN" altLang="en-US">
                  <a:solidFill>
                    <a:schemeClr val="accent6"/>
                  </a:solidFill>
                  <a:latin typeface="Arial" panose="020B0604020202090204" pitchFamily="34" charset="0"/>
                </a:endParaRPr>
              </a:p>
            </p:txBody>
          </p:sp>
          <p:sp>
            <p:nvSpPr>
              <p:cNvPr id="25625" name="Line 25"/>
              <p:cNvSpPr>
                <a:spLocks noChangeShapeType="1"/>
              </p:cNvSpPr>
              <p:nvPr/>
            </p:nvSpPr>
            <p:spPr bwMode="auto">
              <a:xfrm>
                <a:off x="2579" y="1892"/>
                <a:ext cx="1216" cy="0"/>
              </a:xfrm>
              <a:prstGeom prst="line">
                <a:avLst/>
              </a:prstGeom>
              <a:noFill/>
              <a:ln w="12700">
                <a:solidFill>
                  <a:schemeClr val="tx1"/>
                </a:solidFill>
                <a:miter lim="800000"/>
              </a:ln>
            </p:spPr>
            <p:txBody>
              <a:bodyPr wrap="none" anchor="ctr"/>
              <a:lstStyle/>
              <a:p>
                <a:pPr>
                  <a:defRPr/>
                </a:pPr>
                <a:endParaRPr lang="zh-CN" altLang="en-US">
                  <a:solidFill>
                    <a:schemeClr val="accent6"/>
                  </a:solidFill>
                  <a:latin typeface="Arial" panose="020B0604020202090204" pitchFamily="34" charset="0"/>
                </a:endParaRPr>
              </a:p>
            </p:txBody>
          </p:sp>
          <p:sp>
            <p:nvSpPr>
              <p:cNvPr id="25626" name="Text Box 26"/>
              <p:cNvSpPr txBox="1">
                <a:spLocks noChangeArrowheads="1"/>
              </p:cNvSpPr>
              <p:nvPr/>
            </p:nvSpPr>
            <p:spPr bwMode="auto">
              <a:xfrm>
                <a:off x="2720" y="3824"/>
                <a:ext cx="1824" cy="310"/>
              </a:xfrm>
              <a:prstGeom prst="rect">
                <a:avLst/>
              </a:prstGeom>
              <a:noFill/>
              <a:ln w="12700">
                <a:noFill/>
                <a:miter lim="800000"/>
              </a:ln>
            </p:spPr>
            <p:txBody>
              <a:bodyPr tIns="0" bIns="0">
                <a:spAutoFit/>
              </a:bodyPr>
              <a:lstStyle/>
              <a:p>
                <a:pPr algn="just" eaLnBrk="0" hangingPunct="0">
                  <a:defRPr/>
                </a:pPr>
                <a:r>
                  <a:rPr lang="en-US" altLang="zh-CN" sz="3200" b="1" dirty="0">
                    <a:solidFill>
                      <a:schemeClr val="accent6"/>
                    </a:solidFill>
                    <a:latin typeface="Arial" panose="020B0604020202090204" pitchFamily="34" charset="0"/>
                  </a:rPr>
                  <a:t>STACK</a:t>
                </a:r>
                <a:endParaRPr lang="en-US" altLang="zh-CN" sz="3200" b="1" dirty="0">
                  <a:solidFill>
                    <a:schemeClr val="accent6"/>
                  </a:solidFill>
                  <a:latin typeface="Arial" panose="020B0604020202090204" pitchFamily="34" charset="0"/>
                </a:endParaRPr>
              </a:p>
            </p:txBody>
          </p:sp>
        </p:grpSp>
      </p:grpSp>
      <p:sp>
        <p:nvSpPr>
          <p:cNvPr id="56324"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3" name="矩形 2"/>
          <p:cNvSpPr/>
          <p:nvPr/>
        </p:nvSpPr>
        <p:spPr>
          <a:xfrm>
            <a:off x="899592" y="476518"/>
            <a:ext cx="3098925" cy="584775"/>
          </a:xfrm>
          <a:prstGeom prst="rect">
            <a:avLst/>
          </a:prstGeom>
        </p:spPr>
        <p:txBody>
          <a:bodyPr wrap="none">
            <a:spAutoFit/>
          </a:bodyPr>
          <a:lstStyle/>
          <a:p>
            <a:r>
              <a:rPr kumimoji="0" lang="en-US" altLang="zh-CN" sz="3200" b="0" i="0" u="none" strike="noStrike" kern="0" cap="none" spc="0" normalizeH="0" baseline="0" noProof="0" dirty="0" smtClean="0">
                <a:ln>
                  <a:noFill/>
                </a:ln>
                <a:solidFill>
                  <a:srgbClr val="333399"/>
                </a:solidFill>
                <a:effectLst/>
                <a:uLnTx/>
                <a:uFillTx/>
                <a:latin typeface="Garamond"/>
                <a:ea typeface="宋体"/>
                <a:cs typeface="+mj-cs"/>
              </a:rPr>
              <a:t>1.4.4 </a:t>
            </a:r>
            <a:r>
              <a:rPr kumimoji="0" lang="zh-CN" altLang="en-US" sz="3200" b="1" i="0" u="sng" strike="noStrike" kern="0" cap="none" spc="0" normalizeH="0" baseline="0" noProof="0" dirty="0" smtClean="0">
                <a:ln>
                  <a:noFill/>
                </a:ln>
                <a:solidFill>
                  <a:srgbClr val="333399"/>
                </a:solidFill>
                <a:effectLst/>
                <a:uLnTx/>
                <a:uFillTx/>
                <a:latin typeface="Garamond"/>
                <a:ea typeface="宋体"/>
                <a:cs typeface="+mj-cs"/>
              </a:rPr>
              <a:t>堆栈</a:t>
            </a:r>
            <a:r>
              <a:rPr kumimoji="0" lang="zh-CN" altLang="en-US" sz="3200" b="0" i="0" u="none" strike="noStrike" kern="0" cap="none" spc="0" normalizeH="0" baseline="0" noProof="0" dirty="0" smtClean="0">
                <a:ln>
                  <a:noFill/>
                </a:ln>
                <a:solidFill>
                  <a:srgbClr val="333399"/>
                </a:solidFill>
                <a:effectLst/>
                <a:uLnTx/>
                <a:uFillTx/>
                <a:latin typeface="Garamond"/>
                <a:ea typeface="宋体"/>
                <a:cs typeface="+mj-cs"/>
              </a:rPr>
              <a:t>和队列</a:t>
            </a:r>
            <a:endParaRPr lang="zh-CN" altLang="en-US" dirty="0"/>
          </a:p>
        </p:txBody>
      </p:sp>
    </p:spTree>
  </p:cSld>
  <p:clrMapOvr>
    <a:masterClrMapping/>
  </p:clrMapOvr>
  <p:transition/>
  <p:timing>
    <p:tnLst>
      <p:par>
        <p:cTn id="1" dur="indefinite" restart="never" nodeType="tmRoot"/>
      </p:par>
    </p:tn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3"/>
          <p:cNvSpPr>
            <a:spLocks noGrp="1" noChangeArrowheads="1"/>
          </p:cNvSpPr>
          <p:nvPr>
            <p:ph type="body" idx="1"/>
          </p:nvPr>
        </p:nvSpPr>
        <p:spPr>
          <a:xfrm>
            <a:off x="971600" y="1340768"/>
            <a:ext cx="7560840" cy="4438650"/>
          </a:xfrm>
        </p:spPr>
        <p:txBody>
          <a:bodyPr/>
          <a:lstStyle/>
          <a:p>
            <a:pPr marL="0" indent="-323850"/>
            <a:r>
              <a:rPr lang="zh-CN" altLang="en-US" dirty="0" smtClean="0"/>
              <a:t>下面用一个简单的例子说明编译系统在处理算术表达式时，是如何应用堆栈这种数据结构的。  </a:t>
            </a:r>
            <a:endParaRPr lang="en-US" altLang="zh-CN" dirty="0" smtClean="0"/>
          </a:p>
          <a:p>
            <a:pPr marL="0" indent="-323850"/>
            <a:endParaRPr lang="zh-CN" altLang="en-US" dirty="0" smtClean="0"/>
          </a:p>
          <a:p>
            <a:pPr marL="0" indent="-323850"/>
            <a:r>
              <a:rPr lang="zh-CN" altLang="en-US" dirty="0" smtClean="0"/>
              <a:t>假定表达式的运算数都是使用单个字母表示的，式中无括号且只有加、减、乘、除</a:t>
            </a:r>
            <a:r>
              <a:rPr lang="en-US" altLang="zh-CN" dirty="0" smtClean="0"/>
              <a:t>4</a:t>
            </a:r>
            <a:r>
              <a:rPr lang="zh-CN" altLang="en-US" dirty="0" smtClean="0"/>
              <a:t>种运算，而没有更复杂的运算，例如表达式 </a:t>
            </a:r>
            <a:r>
              <a:rPr lang="en-US" altLang="zh-CN" dirty="0" err="1" smtClean="0"/>
              <a:t>X+Y</a:t>
            </a:r>
            <a:r>
              <a:rPr lang="en-US" altLang="zh-CN" dirty="0" smtClean="0"/>
              <a:t>*Z</a:t>
            </a:r>
            <a:r>
              <a:rPr lang="zh-CN" altLang="en-US" dirty="0" smtClean="0"/>
              <a:t>。 </a:t>
            </a:r>
            <a:endParaRPr lang="zh-CN" altLang="en-US" dirty="0" smtClean="0"/>
          </a:p>
        </p:txBody>
      </p:sp>
      <p:sp>
        <p:nvSpPr>
          <p:cNvPr id="57347" name="Rectangle 2"/>
          <p:cNvSpPr>
            <a:spLocks noGrp="1" noChangeArrowheads="1"/>
          </p:cNvSpPr>
          <p:nvPr>
            <p:ph type="title"/>
          </p:nvPr>
        </p:nvSpPr>
        <p:spPr/>
        <p:txBody>
          <a:bodyPr/>
          <a:lstStyle/>
          <a:p>
            <a:pPr eaLnBrk="1" hangingPunct="1"/>
            <a:r>
              <a:rPr lang="en-US" altLang="zh-CN" dirty="0">
                <a:solidFill>
                  <a:srgbClr val="333399"/>
                </a:solidFill>
              </a:rPr>
              <a:t>1.4.</a:t>
            </a:r>
            <a:r>
              <a:rPr lang="en-US" altLang="zh-CN" kern="0" dirty="0" smtClean="0"/>
              <a:t>4 </a:t>
            </a:r>
            <a:r>
              <a:rPr lang="zh-CN" altLang="en-US" b="1" u="sng" kern="0" dirty="0" smtClean="0"/>
              <a:t>堆栈</a:t>
            </a:r>
            <a:r>
              <a:rPr lang="zh-CN" altLang="en-US" kern="0" dirty="0" smtClean="0"/>
              <a:t>和队列</a:t>
            </a:r>
            <a:endParaRPr lang="en-US" altLang="zh-CN" dirty="0" smtClean="0"/>
          </a:p>
        </p:txBody>
      </p:sp>
      <p:sp>
        <p:nvSpPr>
          <p:cNvPr id="57348"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Tree>
  </p:cSld>
  <p:clrMapOvr>
    <a:masterClrMapping/>
  </p:clrMapOvr>
  <p:transition/>
  <p:timing>
    <p:tnLst>
      <p:par>
        <p:cTn id="1" dur="indefinite" restart="never" nodeType="tmRoot"/>
      </p:par>
    </p:tn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9" name="Rectangle 3"/>
          <p:cNvSpPr>
            <a:spLocks noGrp="1" noChangeArrowheads="1"/>
          </p:cNvSpPr>
          <p:nvPr>
            <p:ph type="body" idx="1"/>
          </p:nvPr>
        </p:nvSpPr>
        <p:spPr>
          <a:xfrm>
            <a:off x="879475" y="1250462"/>
            <a:ext cx="8191500" cy="4991100"/>
          </a:xfrm>
        </p:spPr>
        <p:txBody>
          <a:bodyPr/>
          <a:lstStyle/>
          <a:p>
            <a:pPr>
              <a:lnSpc>
                <a:spcPct val="90000"/>
              </a:lnSpc>
              <a:defRPr/>
            </a:pPr>
            <a:r>
              <a:rPr lang="zh-CN" altLang="en-US" dirty="0"/>
              <a:t>使用</a:t>
            </a:r>
            <a:r>
              <a:rPr lang="en-US" altLang="zh-CN" dirty="0"/>
              <a:t>S1</a:t>
            </a:r>
            <a:r>
              <a:rPr lang="zh-CN" altLang="en-US" dirty="0"/>
              <a:t>和</a:t>
            </a:r>
            <a:r>
              <a:rPr lang="en-US" altLang="zh-CN" dirty="0"/>
              <a:t>S2</a:t>
            </a:r>
            <a:r>
              <a:rPr lang="zh-CN" altLang="en-US" dirty="0"/>
              <a:t>两个堆栈，</a:t>
            </a:r>
            <a:r>
              <a:rPr lang="en-US" altLang="zh-CN" dirty="0"/>
              <a:t>S1</a:t>
            </a:r>
            <a:r>
              <a:rPr lang="zh-CN" altLang="en-US" dirty="0"/>
              <a:t>用于存储运算数，</a:t>
            </a:r>
            <a:r>
              <a:rPr lang="en-US" altLang="zh-CN" dirty="0"/>
              <a:t>S2</a:t>
            </a:r>
            <a:r>
              <a:rPr lang="zh-CN" altLang="en-US" dirty="0"/>
              <a:t>用于存储运算符。</a:t>
            </a:r>
            <a:endParaRPr lang="zh-CN" altLang="en-US" dirty="0"/>
          </a:p>
          <a:p>
            <a:pPr>
              <a:lnSpc>
                <a:spcPct val="90000"/>
              </a:lnSpc>
              <a:defRPr/>
            </a:pPr>
            <a:r>
              <a:rPr lang="zh-CN" altLang="en-US" dirty="0"/>
              <a:t>编译系统处理时，将表达式从左向右逐个扫视一遍，并根据不同情况按以下原则处理</a:t>
            </a:r>
            <a:r>
              <a:rPr lang="en-US" altLang="zh-CN" dirty="0"/>
              <a:t>: </a:t>
            </a:r>
            <a:endParaRPr lang="en-US" altLang="zh-CN" dirty="0"/>
          </a:p>
          <a:p>
            <a:pPr lvl="1">
              <a:lnSpc>
                <a:spcPct val="90000"/>
              </a:lnSpc>
              <a:defRPr/>
            </a:pPr>
            <a:r>
              <a:rPr lang="en-US" altLang="zh-CN" dirty="0">
                <a:latin typeface="+mn-lt"/>
                <a:ea typeface="+mn-ea"/>
              </a:rPr>
              <a:t>1) </a:t>
            </a:r>
            <a:r>
              <a:rPr lang="zh-CN" altLang="en-US" dirty="0">
                <a:latin typeface="+mn-lt"/>
                <a:ea typeface="+mn-ea"/>
              </a:rPr>
              <a:t>若是运算数，则将其压入</a:t>
            </a:r>
            <a:r>
              <a:rPr lang="en-US" altLang="zh-CN" dirty="0">
                <a:latin typeface="+mn-lt"/>
                <a:ea typeface="+mn-ea"/>
              </a:rPr>
              <a:t>S1</a:t>
            </a:r>
            <a:r>
              <a:rPr lang="zh-CN" altLang="en-US" dirty="0">
                <a:latin typeface="+mn-lt"/>
                <a:ea typeface="+mn-ea"/>
              </a:rPr>
              <a:t>栈； </a:t>
            </a:r>
            <a:endParaRPr lang="zh-CN" altLang="en-US" dirty="0">
              <a:latin typeface="+mn-lt"/>
              <a:ea typeface="+mn-ea"/>
            </a:endParaRPr>
          </a:p>
          <a:p>
            <a:pPr lvl="1">
              <a:lnSpc>
                <a:spcPct val="90000"/>
              </a:lnSpc>
              <a:defRPr/>
            </a:pPr>
            <a:r>
              <a:rPr lang="en-US" altLang="zh-CN" dirty="0">
                <a:latin typeface="+mn-lt"/>
                <a:ea typeface="+mn-ea"/>
              </a:rPr>
              <a:t>2) </a:t>
            </a:r>
            <a:r>
              <a:rPr lang="zh-CN" altLang="en-US" dirty="0">
                <a:latin typeface="+mn-lt"/>
                <a:ea typeface="+mn-ea"/>
              </a:rPr>
              <a:t>若是运算符且</a:t>
            </a:r>
            <a:r>
              <a:rPr lang="en-US" altLang="zh-CN" dirty="0">
                <a:latin typeface="+mn-lt"/>
                <a:ea typeface="+mn-ea"/>
              </a:rPr>
              <a:t>S2</a:t>
            </a:r>
            <a:r>
              <a:rPr lang="zh-CN" altLang="en-US" dirty="0">
                <a:latin typeface="+mn-lt"/>
                <a:ea typeface="+mn-ea"/>
              </a:rPr>
              <a:t>栈是空栈则将其压入 </a:t>
            </a:r>
            <a:r>
              <a:rPr lang="en-US" altLang="zh-CN" dirty="0">
                <a:latin typeface="+mn-lt"/>
                <a:ea typeface="+mn-ea"/>
              </a:rPr>
              <a:t>S2</a:t>
            </a:r>
            <a:r>
              <a:rPr lang="zh-CN" altLang="en-US" dirty="0">
                <a:latin typeface="+mn-lt"/>
                <a:ea typeface="+mn-ea"/>
              </a:rPr>
              <a:t>栈； </a:t>
            </a:r>
            <a:endParaRPr lang="zh-CN" altLang="en-US" dirty="0">
              <a:latin typeface="+mn-lt"/>
              <a:ea typeface="+mn-ea"/>
            </a:endParaRPr>
          </a:p>
          <a:p>
            <a:pPr lvl="1">
              <a:lnSpc>
                <a:spcPct val="90000"/>
              </a:lnSpc>
              <a:defRPr/>
            </a:pPr>
            <a:r>
              <a:rPr lang="en-US" altLang="zh-CN" dirty="0">
                <a:latin typeface="+mn-lt"/>
                <a:ea typeface="+mn-ea"/>
              </a:rPr>
              <a:t>3) </a:t>
            </a:r>
            <a:r>
              <a:rPr lang="zh-CN" altLang="en-US" dirty="0">
                <a:latin typeface="+mn-lt"/>
                <a:ea typeface="+mn-ea"/>
              </a:rPr>
              <a:t>若是运算符且</a:t>
            </a:r>
            <a:r>
              <a:rPr lang="en-US" altLang="zh-CN" dirty="0">
                <a:latin typeface="+mn-lt"/>
                <a:ea typeface="+mn-ea"/>
              </a:rPr>
              <a:t>S2</a:t>
            </a:r>
            <a:r>
              <a:rPr lang="zh-CN" altLang="en-US" dirty="0">
                <a:latin typeface="+mn-lt"/>
                <a:ea typeface="+mn-ea"/>
              </a:rPr>
              <a:t>栈为非空栈，且此运算符的级别高于</a:t>
            </a:r>
            <a:r>
              <a:rPr lang="en-US" altLang="zh-CN" dirty="0">
                <a:latin typeface="+mn-lt"/>
                <a:ea typeface="+mn-ea"/>
              </a:rPr>
              <a:t>S2</a:t>
            </a:r>
            <a:r>
              <a:rPr lang="zh-CN" altLang="en-US" dirty="0">
                <a:latin typeface="+mn-lt"/>
                <a:ea typeface="+mn-ea"/>
              </a:rPr>
              <a:t>栈顶运算符的级别，则将此运算符压入</a:t>
            </a:r>
            <a:r>
              <a:rPr lang="en-US" altLang="zh-CN" dirty="0">
                <a:latin typeface="+mn-lt"/>
                <a:ea typeface="+mn-ea"/>
              </a:rPr>
              <a:t>S2</a:t>
            </a:r>
            <a:r>
              <a:rPr lang="zh-CN" altLang="en-US" dirty="0">
                <a:latin typeface="+mn-lt"/>
                <a:ea typeface="+mn-ea"/>
              </a:rPr>
              <a:t>栈； </a:t>
            </a:r>
            <a:endParaRPr lang="zh-CN" altLang="en-US" dirty="0">
              <a:latin typeface="+mn-lt"/>
              <a:ea typeface="+mn-ea"/>
            </a:endParaRPr>
          </a:p>
          <a:p>
            <a:pPr lvl="1">
              <a:lnSpc>
                <a:spcPct val="90000"/>
              </a:lnSpc>
              <a:defRPr/>
            </a:pPr>
            <a:r>
              <a:rPr lang="en-US" altLang="zh-CN" dirty="0">
                <a:latin typeface="+mn-lt"/>
                <a:ea typeface="+mn-ea"/>
              </a:rPr>
              <a:t>4) </a:t>
            </a:r>
            <a:r>
              <a:rPr lang="zh-CN" altLang="en-US" dirty="0">
                <a:latin typeface="+mn-lt"/>
                <a:ea typeface="+mn-ea"/>
              </a:rPr>
              <a:t>凡不属于上面三条的情况，则将</a:t>
            </a:r>
            <a:r>
              <a:rPr lang="en-US" altLang="zh-CN" dirty="0">
                <a:latin typeface="+mn-lt"/>
                <a:ea typeface="+mn-ea"/>
              </a:rPr>
              <a:t>S2</a:t>
            </a:r>
            <a:r>
              <a:rPr lang="zh-CN" altLang="en-US" dirty="0">
                <a:latin typeface="+mn-lt"/>
                <a:ea typeface="+mn-ea"/>
              </a:rPr>
              <a:t>的栈顶运算符与</a:t>
            </a:r>
            <a:r>
              <a:rPr lang="en-US" altLang="zh-CN" dirty="0">
                <a:latin typeface="+mn-lt"/>
                <a:ea typeface="+mn-ea"/>
              </a:rPr>
              <a:t>S1</a:t>
            </a:r>
            <a:r>
              <a:rPr lang="zh-CN" altLang="en-US" dirty="0">
                <a:latin typeface="+mn-lt"/>
                <a:ea typeface="+mn-ea"/>
              </a:rPr>
              <a:t>栈最上面的两个运算数出栈进行运算，并将运算结果压入</a:t>
            </a:r>
            <a:r>
              <a:rPr lang="en-US" altLang="zh-CN" dirty="0">
                <a:latin typeface="+mn-lt"/>
                <a:ea typeface="+mn-ea"/>
              </a:rPr>
              <a:t>S1</a:t>
            </a:r>
            <a:r>
              <a:rPr lang="zh-CN" altLang="en-US" dirty="0">
                <a:latin typeface="+mn-lt"/>
                <a:ea typeface="+mn-ea"/>
              </a:rPr>
              <a:t>栈。  </a:t>
            </a:r>
            <a:endParaRPr lang="zh-CN" altLang="en-US" dirty="0">
              <a:latin typeface="+mn-lt"/>
              <a:ea typeface="+mn-ea"/>
            </a:endParaRPr>
          </a:p>
        </p:txBody>
      </p:sp>
      <p:sp>
        <p:nvSpPr>
          <p:cNvPr id="58371"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4" name="Rectangle 2"/>
          <p:cNvSpPr>
            <a:spLocks noGrp="1" noChangeArrowheads="1"/>
          </p:cNvSpPr>
          <p:nvPr>
            <p:ph type="title"/>
          </p:nvPr>
        </p:nvSpPr>
        <p:spPr>
          <a:xfrm>
            <a:off x="879475" y="269875"/>
            <a:ext cx="7869238" cy="927100"/>
          </a:xfrm>
        </p:spPr>
        <p:txBody>
          <a:bodyPr/>
          <a:lstStyle/>
          <a:p>
            <a:pPr eaLnBrk="1" hangingPunct="1"/>
            <a:r>
              <a:rPr lang="en-US" altLang="zh-CN" dirty="0">
                <a:solidFill>
                  <a:srgbClr val="333399"/>
                </a:solidFill>
              </a:rPr>
              <a:t>1.4.</a:t>
            </a:r>
            <a:r>
              <a:rPr lang="en-US" altLang="zh-CN" kern="0" dirty="0" smtClean="0"/>
              <a:t>4 </a:t>
            </a:r>
            <a:r>
              <a:rPr lang="zh-CN" altLang="en-US" b="1" u="sng" kern="0" dirty="0" smtClean="0"/>
              <a:t>堆栈</a:t>
            </a:r>
            <a:r>
              <a:rPr lang="zh-CN" altLang="en-US" kern="0" dirty="0" smtClean="0"/>
              <a:t>和队列</a:t>
            </a:r>
            <a:endParaRPr lang="en-US" altLang="zh-CN" dirty="0" smtClean="0"/>
          </a:p>
        </p:txBody>
      </p:sp>
    </p:spTree>
  </p:cSld>
  <p:clrMapOvr>
    <a:masterClrMapping/>
  </p:clrMapOvr>
  <p:transition/>
  <p:timing>
    <p:tnLst>
      <p:par>
        <p:cTn id="1" dur="indefinite" restart="never" nodeType="tmRoot"/>
      </p:par>
    </p:tn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Rectangle 3"/>
          <p:cNvSpPr>
            <a:spLocks noGrp="1" noChangeArrowheads="1"/>
          </p:cNvSpPr>
          <p:nvPr>
            <p:ph type="body" idx="1"/>
          </p:nvPr>
        </p:nvSpPr>
        <p:spPr>
          <a:xfrm>
            <a:off x="808043" y="1268760"/>
            <a:ext cx="8305800" cy="990600"/>
          </a:xfrm>
        </p:spPr>
        <p:txBody>
          <a:bodyPr/>
          <a:lstStyle/>
          <a:p>
            <a:pPr>
              <a:lnSpc>
                <a:spcPct val="90000"/>
              </a:lnSpc>
            </a:pPr>
            <a:r>
              <a:rPr lang="zh-CN" altLang="en-US" sz="2400" dirty="0" smtClean="0"/>
              <a:t>图中每一步上面括号中的数字表示该步是按哪一条原则处理的。 </a:t>
            </a:r>
            <a:endParaRPr lang="zh-CN" altLang="en-US" sz="2400" dirty="0" smtClean="0"/>
          </a:p>
        </p:txBody>
      </p:sp>
      <p:graphicFrame>
        <p:nvGraphicFramePr>
          <p:cNvPr id="11266" name="Object 2"/>
          <p:cNvGraphicFramePr>
            <a:graphicFrameLocks noChangeAspect="1"/>
          </p:cNvGraphicFramePr>
          <p:nvPr/>
        </p:nvGraphicFramePr>
        <p:xfrm>
          <a:off x="971600" y="1988840"/>
          <a:ext cx="6264696" cy="3752908"/>
        </p:xfrm>
        <a:graphic>
          <a:graphicData uri="http://schemas.openxmlformats.org/presentationml/2006/ole">
            <mc:AlternateContent xmlns:mc="http://schemas.openxmlformats.org/markup-compatibility/2006">
              <mc:Choice xmlns:v="urn:schemas-microsoft-com:vml" Requires="v">
                <p:oleObj spid="_x0000_s32778" name="Picture2" r:id="rId1" imgW="4429125" imgH="2476500" progId="Word.Picture.8">
                  <p:embed/>
                </p:oleObj>
              </mc:Choice>
              <mc:Fallback>
                <p:oleObj name="Picture2" r:id="rId1" imgW="4429125" imgH="2476500" progId="Word.Picture.8">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600" y="1988840"/>
                        <a:ext cx="6264696" cy="3752908"/>
                      </a:xfrm>
                      <a:prstGeom prst="rect">
                        <a:avLst/>
                      </a:prstGeom>
                      <a:noFill/>
                    </p:spPr>
                  </p:pic>
                </p:oleObj>
              </mc:Fallback>
            </mc:AlternateContent>
          </a:graphicData>
        </a:graphic>
      </p:graphicFrame>
      <p:sp>
        <p:nvSpPr>
          <p:cNvPr id="11268"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5" name="Rectangle 2"/>
          <p:cNvSpPr>
            <a:spLocks noGrp="1" noChangeArrowheads="1"/>
          </p:cNvSpPr>
          <p:nvPr>
            <p:ph type="title"/>
          </p:nvPr>
        </p:nvSpPr>
        <p:spPr>
          <a:xfrm>
            <a:off x="879475" y="269875"/>
            <a:ext cx="7869238" cy="927100"/>
          </a:xfrm>
        </p:spPr>
        <p:txBody>
          <a:bodyPr/>
          <a:lstStyle/>
          <a:p>
            <a:pPr eaLnBrk="1" hangingPunct="1"/>
            <a:r>
              <a:rPr lang="en-US" altLang="zh-CN" dirty="0">
                <a:solidFill>
                  <a:srgbClr val="333399"/>
                </a:solidFill>
              </a:rPr>
              <a:t>1.4.</a:t>
            </a:r>
            <a:r>
              <a:rPr lang="en-US" altLang="zh-CN" kern="0" dirty="0" smtClean="0"/>
              <a:t>4 </a:t>
            </a:r>
            <a:r>
              <a:rPr lang="zh-CN" altLang="en-US" b="1" u="sng" kern="0" dirty="0" smtClean="0"/>
              <a:t>堆栈</a:t>
            </a:r>
            <a:r>
              <a:rPr lang="zh-CN" altLang="en-US" kern="0" dirty="0" smtClean="0"/>
              <a:t>和队列</a:t>
            </a:r>
            <a:endParaRPr lang="en-US" altLang="zh-CN" dirty="0" smtClean="0"/>
          </a:p>
        </p:txBody>
      </p:sp>
    </p:spTree>
  </p:cSld>
  <p:clrMapOvr>
    <a:masterClrMapping/>
  </p:clrMapOvr>
  <p:transition/>
  <p:timing>
    <p:tnLst>
      <p:par>
        <p:cTn id="1" dur="indefinite" restart="never" nodeType="tmRoot"/>
      </p:par>
    </p:tn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59395" name="Rectangle 2"/>
          <p:cNvSpPr>
            <a:spLocks noGrp="1" noChangeArrowheads="1"/>
          </p:cNvSpPr>
          <p:nvPr>
            <p:ph type="title"/>
          </p:nvPr>
        </p:nvSpPr>
        <p:spPr/>
        <p:txBody>
          <a:bodyPr/>
          <a:lstStyle/>
          <a:p>
            <a:pPr eaLnBrk="1" hangingPunct="1"/>
            <a:r>
              <a:rPr lang="en-US" altLang="zh-CN" dirty="0">
                <a:solidFill>
                  <a:srgbClr val="333399"/>
                </a:solidFill>
              </a:rPr>
              <a:t>1.4.</a:t>
            </a:r>
            <a:r>
              <a:rPr lang="en-US" altLang="zh-CN" kern="0" dirty="0" smtClean="0"/>
              <a:t>4 </a:t>
            </a:r>
            <a:r>
              <a:rPr lang="zh-CN" altLang="en-US" kern="0" dirty="0" smtClean="0"/>
              <a:t>堆栈和</a:t>
            </a:r>
            <a:r>
              <a:rPr lang="zh-CN" altLang="en-US" b="1" u="sng" kern="0" dirty="0" smtClean="0"/>
              <a:t>队列</a:t>
            </a:r>
            <a:endParaRPr lang="en-US" altLang="zh-CN" b="1" u="sng" dirty="0" smtClean="0"/>
          </a:p>
        </p:txBody>
      </p:sp>
      <p:sp>
        <p:nvSpPr>
          <p:cNvPr id="59396" name="Rectangle 3"/>
          <p:cNvSpPr>
            <a:spLocks noGrp="1" noChangeArrowheads="1"/>
          </p:cNvSpPr>
          <p:nvPr>
            <p:ph type="body" idx="1"/>
          </p:nvPr>
        </p:nvSpPr>
        <p:spPr/>
        <p:txBody>
          <a:bodyPr/>
          <a:lstStyle/>
          <a:p>
            <a:pPr eaLnBrk="1" hangingPunct="1"/>
            <a:r>
              <a:rPr lang="zh-CN" altLang="en-US" dirty="0" smtClean="0"/>
              <a:t>队列是这样的一种链表：仅允许在称为队列尾部的链表一端进行插入运算，而只允许在称为队列头部的另一端进行所有的删除运算。</a:t>
            </a:r>
            <a:endParaRPr lang="en-US" altLang="zh-CN" dirty="0" smtClean="0"/>
          </a:p>
          <a:p>
            <a:pPr eaLnBrk="1" hangingPunct="1"/>
            <a:endParaRPr lang="en-US" altLang="zh-CN" dirty="0" smtClean="0"/>
          </a:p>
          <a:p>
            <a:pPr eaLnBrk="1" hangingPunct="1"/>
            <a:r>
              <a:rPr lang="zh-CN" altLang="en-US" dirty="0" smtClean="0"/>
              <a:t>和堆栈一样，队列也可以在数组中实现这些运算。除了</a:t>
            </a:r>
            <a:r>
              <a:rPr lang="en-US" altLang="zh-CN" dirty="0" smtClean="0"/>
              <a:t>push</a:t>
            </a:r>
            <a:r>
              <a:rPr lang="zh-CN" altLang="en-US" dirty="0" smtClean="0"/>
              <a:t>运算把一个元素加入了队列尾部之外，队列支持的其他运算和堆栈一样。</a:t>
            </a:r>
            <a:endParaRPr lang="en-US" altLang="zh-CN" dirty="0" smtClean="0"/>
          </a:p>
        </p:txBody>
      </p:sp>
    </p:spTree>
  </p:cSld>
  <p:clrMapOvr>
    <a:masterClrMapping/>
  </p:clrMapOvr>
  <p:timing>
    <p:tnLst>
      <p:par>
        <p:cTn id="1" dur="indefinite" restart="never" nodeType="tmRoot"/>
      </p:par>
    </p:tn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60419" name="Rectangle 2"/>
          <p:cNvSpPr>
            <a:spLocks noGrp="1" noChangeArrowheads="1"/>
          </p:cNvSpPr>
          <p:nvPr>
            <p:ph type="title"/>
          </p:nvPr>
        </p:nvSpPr>
        <p:spPr/>
        <p:txBody>
          <a:bodyPr/>
          <a:lstStyle/>
          <a:p>
            <a:pPr eaLnBrk="1" hangingPunct="1"/>
            <a:r>
              <a:rPr lang="en-US" altLang="zh-CN" dirty="0">
                <a:solidFill>
                  <a:srgbClr val="333399"/>
                </a:solidFill>
              </a:rPr>
              <a:t>1.4.</a:t>
            </a:r>
            <a:r>
              <a:rPr lang="en-US" altLang="zh-CN" kern="0" dirty="0" smtClean="0"/>
              <a:t>4 </a:t>
            </a:r>
            <a:r>
              <a:rPr lang="zh-CN" altLang="en-US" kern="0" dirty="0" smtClean="0"/>
              <a:t>堆栈和</a:t>
            </a:r>
            <a:r>
              <a:rPr lang="zh-CN" altLang="en-US" b="1" u="sng" kern="0" dirty="0" smtClean="0"/>
              <a:t>队列</a:t>
            </a:r>
            <a:endParaRPr lang="en-US" altLang="zh-CN" dirty="0" smtClean="0"/>
          </a:p>
        </p:txBody>
      </p:sp>
      <p:sp>
        <p:nvSpPr>
          <p:cNvPr id="60420" name="Rectangle 3"/>
          <p:cNvSpPr>
            <a:spLocks noGrp="1" noChangeArrowheads="1"/>
          </p:cNvSpPr>
          <p:nvPr>
            <p:ph type="body" idx="1"/>
          </p:nvPr>
        </p:nvSpPr>
        <p:spPr/>
        <p:txBody>
          <a:bodyPr/>
          <a:lstStyle/>
          <a:p>
            <a:pPr>
              <a:lnSpc>
                <a:spcPct val="90000"/>
              </a:lnSpc>
            </a:pPr>
            <a:r>
              <a:rPr lang="zh-CN" altLang="en-US" smtClean="0"/>
              <a:t>队列是一种运算受限制的线性表，元素的添加在表的一端进行，而元素的删除在表的另一端进行。</a:t>
            </a:r>
            <a:endParaRPr lang="zh-CN" altLang="en-US" smtClean="0"/>
          </a:p>
          <a:p>
            <a:pPr>
              <a:lnSpc>
                <a:spcPct val="90000"/>
              </a:lnSpc>
            </a:pPr>
            <a:r>
              <a:rPr lang="zh-CN" altLang="en-US" smtClean="0"/>
              <a:t>允许添加元素的一端称为</a:t>
            </a:r>
            <a:r>
              <a:rPr lang="zh-CN" altLang="en-US" smtClean="0">
                <a:solidFill>
                  <a:srgbClr val="FF0000"/>
                </a:solidFill>
              </a:rPr>
              <a:t>队尾（</a:t>
            </a:r>
            <a:r>
              <a:rPr lang="en-US" altLang="zh-CN" smtClean="0">
                <a:solidFill>
                  <a:srgbClr val="FF0000"/>
                </a:solidFill>
              </a:rPr>
              <a:t>Rear</a:t>
            </a:r>
            <a:r>
              <a:rPr lang="zh-CN" altLang="en-US" smtClean="0">
                <a:solidFill>
                  <a:srgbClr val="FF0000"/>
                </a:solidFill>
              </a:rPr>
              <a:t>）</a:t>
            </a:r>
            <a:r>
              <a:rPr lang="zh-CN" altLang="en-US" smtClean="0"/>
              <a:t>；允许删除元素的一端称为</a:t>
            </a:r>
            <a:r>
              <a:rPr lang="zh-CN" altLang="en-US" smtClean="0">
                <a:solidFill>
                  <a:srgbClr val="FF0000"/>
                </a:solidFill>
              </a:rPr>
              <a:t>队头（</a:t>
            </a:r>
            <a:r>
              <a:rPr lang="en-US" altLang="zh-CN" smtClean="0">
                <a:solidFill>
                  <a:srgbClr val="FF0000"/>
                </a:solidFill>
              </a:rPr>
              <a:t>Front</a:t>
            </a:r>
            <a:r>
              <a:rPr lang="zh-CN" altLang="en-US" smtClean="0">
                <a:solidFill>
                  <a:srgbClr val="FF0000"/>
                </a:solidFill>
              </a:rPr>
              <a:t>）</a:t>
            </a:r>
            <a:r>
              <a:rPr lang="zh-CN" altLang="en-US" smtClean="0"/>
              <a:t>。</a:t>
            </a:r>
            <a:endParaRPr lang="zh-CN" altLang="en-US" smtClean="0"/>
          </a:p>
          <a:p>
            <a:pPr>
              <a:lnSpc>
                <a:spcPct val="90000"/>
              </a:lnSpc>
            </a:pPr>
            <a:r>
              <a:rPr lang="zh-CN" altLang="en-US" smtClean="0"/>
              <a:t>向队列添加元素称为</a:t>
            </a:r>
            <a:r>
              <a:rPr lang="zh-CN" altLang="en-US" smtClean="0">
                <a:solidFill>
                  <a:srgbClr val="FF0000"/>
                </a:solidFill>
              </a:rPr>
              <a:t>入队</a:t>
            </a:r>
            <a:r>
              <a:rPr lang="zh-CN" altLang="en-US" smtClean="0"/>
              <a:t>，从队列中删除元素称为</a:t>
            </a:r>
            <a:r>
              <a:rPr lang="zh-CN" altLang="en-US" smtClean="0">
                <a:solidFill>
                  <a:srgbClr val="FF0000"/>
                </a:solidFill>
              </a:rPr>
              <a:t>出队</a:t>
            </a:r>
            <a:r>
              <a:rPr lang="zh-CN" altLang="en-US" smtClean="0"/>
              <a:t>。 </a:t>
            </a:r>
            <a:endParaRPr lang="zh-CN" altLang="en-US" smtClean="0"/>
          </a:p>
          <a:p>
            <a:pPr>
              <a:lnSpc>
                <a:spcPct val="90000"/>
              </a:lnSpc>
            </a:pPr>
            <a:r>
              <a:rPr lang="zh-CN" altLang="en-US" smtClean="0"/>
              <a:t>新入队的元素只能添加在队尾，出队的元素只能是删除队头的元素，队列的特点是先进入队列的元素先出队，所以队列也称作</a:t>
            </a:r>
            <a:r>
              <a:rPr lang="zh-CN" altLang="en-US" smtClean="0">
                <a:solidFill>
                  <a:srgbClr val="FF0000"/>
                </a:solidFill>
              </a:rPr>
              <a:t>先进先出表</a:t>
            </a:r>
            <a:r>
              <a:rPr lang="zh-CN" altLang="en-US" smtClean="0"/>
              <a:t>或</a:t>
            </a:r>
            <a:r>
              <a:rPr lang="en-US" altLang="zh-CN" smtClean="0"/>
              <a:t>FIFO</a:t>
            </a:r>
            <a:r>
              <a:rPr lang="zh-CN" altLang="en-US" smtClean="0"/>
              <a:t>（</a:t>
            </a:r>
            <a:r>
              <a:rPr lang="en-US" altLang="zh-CN" smtClean="0"/>
              <a:t>First-In-First-Out</a:t>
            </a:r>
            <a:r>
              <a:rPr lang="zh-CN" altLang="en-US" smtClean="0"/>
              <a:t>）表。 </a:t>
            </a:r>
            <a:endParaRPr lang="zh-CN" altLang="en-US" smtClean="0"/>
          </a:p>
        </p:txBody>
      </p:sp>
    </p:spTree>
  </p:cSld>
  <p:clrMapOvr>
    <a:masterClrMapping/>
  </p:clrMapOvr>
  <p:timing>
    <p:tnLst>
      <p:par>
        <p:cTn id="1" dur="indefinite" restart="never" nodeType="tmRoot"/>
      </p:par>
    </p:tn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1" name="Rectangle 3"/>
          <p:cNvSpPr>
            <a:spLocks noGrp="1" noChangeArrowheads="1"/>
          </p:cNvSpPr>
          <p:nvPr>
            <p:ph type="body" idx="1"/>
          </p:nvPr>
        </p:nvSpPr>
        <p:spPr>
          <a:xfrm>
            <a:off x="785813" y="1500188"/>
            <a:ext cx="8020050" cy="1600200"/>
          </a:xfrm>
        </p:spPr>
        <p:txBody>
          <a:bodyPr/>
          <a:lstStyle/>
          <a:p>
            <a:r>
              <a:rPr lang="zh-CN" altLang="en-US" smtClean="0"/>
              <a:t>假定有</a:t>
            </a:r>
            <a:r>
              <a:rPr lang="en-US" altLang="zh-CN" smtClean="0"/>
              <a:t>A</a:t>
            </a:r>
            <a:r>
              <a:rPr lang="zh-CN" altLang="en-US" smtClean="0"/>
              <a:t>～</a:t>
            </a:r>
            <a:r>
              <a:rPr lang="en-US" altLang="zh-CN" smtClean="0"/>
              <a:t>F 6</a:t>
            </a:r>
            <a:r>
              <a:rPr lang="zh-CN" altLang="en-US" smtClean="0"/>
              <a:t>个元素先后进入队列，但</a:t>
            </a:r>
            <a:r>
              <a:rPr lang="en-US" altLang="zh-CN" smtClean="0"/>
              <a:t>A</a:t>
            </a:r>
            <a:r>
              <a:rPr lang="zh-CN" altLang="en-US" smtClean="0"/>
              <a:t>、</a:t>
            </a:r>
            <a:r>
              <a:rPr lang="en-US" altLang="zh-CN" smtClean="0"/>
              <a:t>B</a:t>
            </a:r>
            <a:r>
              <a:rPr lang="zh-CN" altLang="en-US" smtClean="0"/>
              <a:t>两个元素已陆续出队了，故队尾指针</a:t>
            </a:r>
            <a:r>
              <a:rPr lang="en-US" altLang="zh-CN" smtClean="0"/>
              <a:t>r=6</a:t>
            </a:r>
            <a:r>
              <a:rPr lang="zh-CN" altLang="en-US" smtClean="0"/>
              <a:t>，而队头指针</a:t>
            </a:r>
            <a:r>
              <a:rPr lang="en-US" altLang="zh-CN" smtClean="0"/>
              <a:t>f=3</a:t>
            </a:r>
            <a:r>
              <a:rPr lang="zh-CN" altLang="en-US" smtClean="0"/>
              <a:t>。</a:t>
            </a:r>
            <a:endParaRPr lang="zh-CN" altLang="en-US" smtClean="0"/>
          </a:p>
        </p:txBody>
      </p:sp>
      <p:graphicFrame>
        <p:nvGraphicFramePr>
          <p:cNvPr id="12290" name="Object 2"/>
          <p:cNvGraphicFramePr>
            <a:graphicFrameLocks noChangeAspect="1"/>
          </p:cNvGraphicFramePr>
          <p:nvPr/>
        </p:nvGraphicFramePr>
        <p:xfrm>
          <a:off x="642938" y="2500313"/>
          <a:ext cx="8153400" cy="3124200"/>
        </p:xfrm>
        <a:graphic>
          <a:graphicData uri="http://schemas.openxmlformats.org/presentationml/2006/ole">
            <mc:AlternateContent xmlns:mc="http://schemas.openxmlformats.org/markup-compatibility/2006">
              <mc:Choice xmlns:v="urn:schemas-microsoft-com:vml" Requires="v">
                <p:oleObj spid="_x0000_s33802" name="Picture2" r:id="rId1" imgW="3581400" imgH="1133475" progId="Word.Picture.8">
                  <p:embed/>
                </p:oleObj>
              </mc:Choice>
              <mc:Fallback>
                <p:oleObj name="Picture2" r:id="rId1" imgW="3581400" imgH="1133475" progId="Word.Picture.8">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2938" y="2500313"/>
                        <a:ext cx="8153400" cy="31242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2292" name="Rectangle 2"/>
          <p:cNvSpPr>
            <a:spLocks noGrp="1" noChangeArrowheads="1"/>
          </p:cNvSpPr>
          <p:nvPr>
            <p:ph type="title"/>
          </p:nvPr>
        </p:nvSpPr>
        <p:spPr/>
        <p:txBody>
          <a:bodyPr/>
          <a:lstStyle/>
          <a:p>
            <a:pPr eaLnBrk="1" hangingPunct="1"/>
            <a:r>
              <a:rPr lang="en-US" altLang="zh-CN" dirty="0">
                <a:solidFill>
                  <a:srgbClr val="333399"/>
                </a:solidFill>
              </a:rPr>
              <a:t>1.4.</a:t>
            </a:r>
            <a:r>
              <a:rPr lang="en-US" altLang="zh-CN" kern="0" dirty="0" smtClean="0"/>
              <a:t>4 </a:t>
            </a:r>
            <a:r>
              <a:rPr lang="zh-CN" altLang="en-US" kern="0" dirty="0" smtClean="0"/>
              <a:t>堆栈和</a:t>
            </a:r>
            <a:r>
              <a:rPr lang="zh-CN" altLang="en-US" b="1" u="sng" kern="0" dirty="0" smtClean="0"/>
              <a:t>队列</a:t>
            </a:r>
            <a:endParaRPr lang="en-US" altLang="zh-CN" dirty="0" smtClean="0"/>
          </a:p>
        </p:txBody>
      </p:sp>
      <p:sp>
        <p:nvSpPr>
          <p:cNvPr id="12293"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Tree>
  </p:cSld>
  <p:clrMapOvr>
    <a:masterClrMapping/>
  </p:clrMapOvr>
  <p:transition/>
  <p:timing>
    <p:tnLst>
      <p:par>
        <p:cTn id="1" dur="indefinite" restart="never" nodeType="tmRoot"/>
      </p:par>
    </p:tnLst>
  </p:timing>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ChangeArrowheads="1"/>
          </p:cNvSpPr>
          <p:nvPr>
            <p:ph type="title"/>
          </p:nvPr>
        </p:nvSpPr>
        <p:spPr>
          <a:xfrm>
            <a:off x="871538" y="357188"/>
            <a:ext cx="7772400" cy="762000"/>
          </a:xfrm>
        </p:spPr>
        <p:txBody>
          <a:bodyPr/>
          <a:lstStyle/>
          <a:p>
            <a:r>
              <a:rPr lang="en-US" altLang="zh-CN" dirty="0">
                <a:solidFill>
                  <a:srgbClr val="333399"/>
                </a:solidFill>
              </a:rPr>
              <a:t>1.4.</a:t>
            </a:r>
            <a:r>
              <a:rPr lang="en-US" altLang="zh-CN" kern="0" dirty="0" smtClean="0"/>
              <a:t>4 </a:t>
            </a:r>
            <a:r>
              <a:rPr lang="zh-CN" altLang="en-US" kern="0" dirty="0" smtClean="0"/>
              <a:t>堆栈和</a:t>
            </a:r>
            <a:r>
              <a:rPr lang="zh-CN" altLang="en-US" b="1" u="sng" kern="0" dirty="0" smtClean="0"/>
              <a:t>队列</a:t>
            </a:r>
            <a:endParaRPr lang="zh-CN" altLang="en-US" dirty="0" smtClean="0"/>
          </a:p>
        </p:txBody>
      </p:sp>
      <p:sp>
        <p:nvSpPr>
          <p:cNvPr id="44035" name="Rectangle 3"/>
          <p:cNvSpPr>
            <a:spLocks noGrp="1" noChangeArrowheads="1"/>
          </p:cNvSpPr>
          <p:nvPr>
            <p:ph type="body" idx="1"/>
          </p:nvPr>
        </p:nvSpPr>
        <p:spPr>
          <a:xfrm>
            <a:off x="871538" y="1268760"/>
            <a:ext cx="8106097" cy="5486400"/>
          </a:xfrm>
        </p:spPr>
        <p:txBody>
          <a:bodyPr/>
          <a:lstStyle/>
          <a:p>
            <a:pPr>
              <a:defRPr/>
            </a:pPr>
            <a:r>
              <a:rPr lang="zh-CN" altLang="en-US" dirty="0" smtClean="0"/>
              <a:t>存在的问题：</a:t>
            </a:r>
            <a:endParaRPr lang="en-US" altLang="zh-CN" dirty="0" smtClean="0"/>
          </a:p>
          <a:p>
            <a:pPr marL="457200" lvl="1" indent="0">
              <a:buNone/>
              <a:defRPr/>
            </a:pPr>
            <a:r>
              <a:rPr lang="zh-CN" altLang="en-US" dirty="0">
                <a:latin typeface="+mn-ea"/>
                <a:ea typeface="+mn-ea"/>
              </a:rPr>
              <a:t>由于队列的入队操作是在两端进行的，随着元素的不断插入，删除，两端都向后移动，队列会很快移动到数组末端造成溢出，而前面的单元无法利用。 </a:t>
            </a:r>
            <a:endParaRPr lang="zh-CN" altLang="en-US" dirty="0">
              <a:latin typeface="+mn-ea"/>
              <a:ea typeface="+mn-ea"/>
            </a:endParaRPr>
          </a:p>
          <a:p>
            <a:pPr>
              <a:defRPr/>
            </a:pPr>
            <a:r>
              <a:rPr lang="zh-CN" altLang="en-US" dirty="0"/>
              <a:t>解决办法：</a:t>
            </a:r>
            <a:endParaRPr lang="zh-CN" altLang="en-US" dirty="0"/>
          </a:p>
          <a:p>
            <a:pPr lvl="1">
              <a:defRPr/>
            </a:pPr>
            <a:r>
              <a:rPr lang="en-US" altLang="zh-CN" dirty="0">
                <a:latin typeface="+mn-ea"/>
                <a:ea typeface="+mn-ea"/>
              </a:rPr>
              <a:t>1) </a:t>
            </a:r>
            <a:r>
              <a:rPr lang="zh-CN" altLang="en-US" dirty="0">
                <a:latin typeface="+mn-ea"/>
                <a:ea typeface="+mn-ea"/>
              </a:rPr>
              <a:t>每次删除一个元素后，将整个队列向前移动一个单元，保持队列头总固定在数组的第一个单元 。</a:t>
            </a:r>
            <a:endParaRPr lang="zh-CN" altLang="en-US" dirty="0">
              <a:latin typeface="+mn-ea"/>
              <a:ea typeface="+mn-ea"/>
            </a:endParaRPr>
          </a:p>
          <a:p>
            <a:pPr lvl="1">
              <a:defRPr/>
            </a:pPr>
            <a:r>
              <a:rPr lang="en-US" altLang="zh-CN" dirty="0">
                <a:latin typeface="+mn-ea"/>
                <a:ea typeface="+mn-ea"/>
              </a:rPr>
              <a:t>2) </a:t>
            </a:r>
            <a:r>
              <a:rPr lang="zh-CN" altLang="en-US" dirty="0">
                <a:latin typeface="+mn-ea"/>
                <a:ea typeface="+mn-ea"/>
              </a:rPr>
              <a:t>将所用的数组想象成是头尾相接的圆环，当队列的尾端到达数组的末端（第</a:t>
            </a:r>
            <a:r>
              <a:rPr lang="en-US" altLang="zh-CN" dirty="0">
                <a:latin typeface="+mn-ea"/>
                <a:ea typeface="+mn-ea"/>
              </a:rPr>
              <a:t>n</a:t>
            </a:r>
            <a:r>
              <a:rPr lang="zh-CN" altLang="en-US" dirty="0">
                <a:latin typeface="+mn-ea"/>
                <a:ea typeface="+mn-ea"/>
              </a:rPr>
              <a:t>个单元）时，如果再插入元素可继续使队列向数组的前端（第</a:t>
            </a:r>
            <a:r>
              <a:rPr lang="en-US" altLang="zh-CN" dirty="0">
                <a:latin typeface="+mn-ea"/>
                <a:ea typeface="+mn-ea"/>
              </a:rPr>
              <a:t>1</a:t>
            </a:r>
            <a:r>
              <a:rPr lang="zh-CN" altLang="en-US" dirty="0">
                <a:latin typeface="+mn-ea"/>
                <a:ea typeface="+mn-ea"/>
              </a:rPr>
              <a:t>个单元）延长 ，此队列称为循环队列。</a:t>
            </a:r>
            <a:endParaRPr lang="zh-CN" altLang="en-US" dirty="0">
              <a:latin typeface="+mn-ea"/>
              <a:ea typeface="+mn-ea"/>
            </a:endParaRPr>
          </a:p>
        </p:txBody>
      </p:sp>
      <p:sp>
        <p:nvSpPr>
          <p:cNvPr id="61444"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Tree>
  </p:cSld>
  <p:clrMapOvr>
    <a:masterClrMapping/>
  </p:clrMapOvr>
  <p:transition/>
  <p:timing>
    <p:tnLst>
      <p:par>
        <p:cTn id="1" dur="indefinite" restart="never" nodeType="tmRoot"/>
      </p:par>
    </p:tnLst>
  </p:timing>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5" name="Rectangle 2"/>
          <p:cNvSpPr>
            <a:spLocks noGrp="1" noChangeArrowheads="1"/>
          </p:cNvSpPr>
          <p:nvPr>
            <p:ph type="title"/>
          </p:nvPr>
        </p:nvSpPr>
        <p:spPr>
          <a:xfrm>
            <a:off x="928688" y="357188"/>
            <a:ext cx="7772400" cy="685800"/>
          </a:xfrm>
        </p:spPr>
        <p:txBody>
          <a:bodyPr/>
          <a:lstStyle/>
          <a:p>
            <a:r>
              <a:rPr lang="en-US" altLang="zh-CN" dirty="0">
                <a:solidFill>
                  <a:srgbClr val="333399"/>
                </a:solidFill>
              </a:rPr>
              <a:t>1.4.</a:t>
            </a:r>
            <a:r>
              <a:rPr lang="en-US" altLang="zh-CN" kern="0" dirty="0" smtClean="0"/>
              <a:t>4 </a:t>
            </a:r>
            <a:r>
              <a:rPr lang="zh-CN" altLang="en-US" kern="0" dirty="0" smtClean="0"/>
              <a:t>堆栈和</a:t>
            </a:r>
            <a:r>
              <a:rPr lang="zh-CN" altLang="en-US" b="1" u="sng" kern="0" dirty="0" smtClean="0"/>
              <a:t>队列</a:t>
            </a:r>
            <a:endParaRPr lang="zh-CN" altLang="en-US" dirty="0" smtClean="0"/>
          </a:p>
        </p:txBody>
      </p:sp>
      <p:sp>
        <p:nvSpPr>
          <p:cNvPr id="13316" name="Rectangle 3"/>
          <p:cNvSpPr>
            <a:spLocks noGrp="1" noChangeArrowheads="1"/>
          </p:cNvSpPr>
          <p:nvPr>
            <p:ph type="body" idx="1"/>
          </p:nvPr>
        </p:nvSpPr>
        <p:spPr>
          <a:xfrm>
            <a:off x="990600" y="1214438"/>
            <a:ext cx="8153400" cy="1219200"/>
          </a:xfrm>
        </p:spPr>
        <p:txBody>
          <a:bodyPr/>
          <a:lstStyle/>
          <a:p>
            <a:pPr marL="0" indent="0">
              <a:buNone/>
            </a:pPr>
            <a:r>
              <a:rPr lang="zh-CN" altLang="en-US" dirty="0" smtClean="0"/>
              <a:t>循环队列：</a:t>
            </a:r>
            <a:endParaRPr lang="en-US" altLang="zh-CN" dirty="0" smtClean="0"/>
          </a:p>
          <a:p>
            <a:r>
              <a:rPr lang="zh-CN" altLang="en-US" dirty="0" smtClean="0"/>
              <a:t>图中阴影部分为队列中元素。</a:t>
            </a:r>
            <a:endParaRPr lang="zh-CN" altLang="en-US" dirty="0" smtClean="0"/>
          </a:p>
          <a:p>
            <a:r>
              <a:rPr lang="zh-CN" altLang="en-US" dirty="0" smtClean="0"/>
              <a:t>如何判断一个循环队列是满还是空？ </a:t>
            </a:r>
            <a:endParaRPr lang="zh-CN" altLang="en-US" dirty="0" smtClean="0"/>
          </a:p>
        </p:txBody>
      </p:sp>
      <p:graphicFrame>
        <p:nvGraphicFramePr>
          <p:cNvPr id="13314" name="Object 2"/>
          <p:cNvGraphicFramePr>
            <a:graphicFrameLocks noChangeAspect="1"/>
          </p:cNvGraphicFramePr>
          <p:nvPr/>
        </p:nvGraphicFramePr>
        <p:xfrm>
          <a:off x="1500188" y="2357438"/>
          <a:ext cx="6477000" cy="3295650"/>
        </p:xfrm>
        <a:graphic>
          <a:graphicData uri="http://schemas.openxmlformats.org/presentationml/2006/ole">
            <mc:AlternateContent xmlns:mc="http://schemas.openxmlformats.org/markup-compatibility/2006">
              <mc:Choice xmlns:v="urn:schemas-microsoft-com:vml" Requires="v">
                <p:oleObj spid="_x0000_s34826" name="Picture2" r:id="rId1" imgW="2486025" imgH="1247775" progId="Word.Picture.8">
                  <p:embed/>
                </p:oleObj>
              </mc:Choice>
              <mc:Fallback>
                <p:oleObj name="Picture2" r:id="rId1" imgW="2486025" imgH="1247775" progId="Word.Picture.8">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00188" y="2357438"/>
                        <a:ext cx="6477000" cy="32956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3317"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Tree>
  </p:cSld>
  <p:clrMapOvr>
    <a:masterClrMapping/>
  </p:clrMapOvr>
  <p:transition/>
  <p:timing>
    <p:tnLst>
      <p:par>
        <p:cTn id="1" dur="indefinite" restart="never" nodeType="tmRoot"/>
      </p:par>
    </p:tnLst>
  </p:timing>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ChangeArrowheads="1"/>
          </p:cNvSpPr>
          <p:nvPr>
            <p:ph type="title"/>
          </p:nvPr>
        </p:nvSpPr>
        <p:spPr>
          <a:xfrm>
            <a:off x="830796" y="358552"/>
            <a:ext cx="7772400" cy="838200"/>
          </a:xfrm>
        </p:spPr>
        <p:txBody>
          <a:bodyPr/>
          <a:lstStyle/>
          <a:p>
            <a:r>
              <a:rPr lang="en-US" altLang="zh-CN" dirty="0">
                <a:solidFill>
                  <a:srgbClr val="333399"/>
                </a:solidFill>
              </a:rPr>
              <a:t>1.4.</a:t>
            </a:r>
            <a:r>
              <a:rPr lang="en-US" altLang="zh-CN" kern="0" dirty="0" smtClean="0"/>
              <a:t>4 </a:t>
            </a:r>
            <a:r>
              <a:rPr lang="zh-CN" altLang="en-US" kern="0" dirty="0" smtClean="0"/>
              <a:t>堆栈和</a:t>
            </a:r>
            <a:r>
              <a:rPr lang="zh-CN" altLang="en-US" b="1" u="sng" kern="0" dirty="0" smtClean="0"/>
              <a:t>队列</a:t>
            </a:r>
            <a:endParaRPr lang="zh-CN" altLang="en-US" dirty="0" smtClean="0"/>
          </a:p>
        </p:txBody>
      </p:sp>
      <p:sp>
        <p:nvSpPr>
          <p:cNvPr id="62467" name="Rectangle 3"/>
          <p:cNvSpPr>
            <a:spLocks noGrp="1" noChangeArrowheads="1"/>
          </p:cNvSpPr>
          <p:nvPr>
            <p:ph type="body" idx="1"/>
          </p:nvPr>
        </p:nvSpPr>
        <p:spPr>
          <a:xfrm>
            <a:off x="899592" y="1196752"/>
            <a:ext cx="7634808" cy="4800600"/>
          </a:xfrm>
        </p:spPr>
        <p:txBody>
          <a:bodyPr/>
          <a:lstStyle/>
          <a:p>
            <a:pPr marL="0" indent="0">
              <a:buNone/>
            </a:pPr>
            <a:r>
              <a:rPr lang="zh-CN" altLang="en-US" dirty="0" smtClean="0"/>
              <a:t>如何判断队列是满是空？</a:t>
            </a:r>
            <a:endParaRPr lang="en-US" altLang="zh-CN" dirty="0" smtClean="0"/>
          </a:p>
          <a:p>
            <a:r>
              <a:rPr lang="zh-CN" altLang="en-US" dirty="0" smtClean="0">
                <a:solidFill>
                  <a:srgbClr val="FF0000"/>
                </a:solidFill>
              </a:rPr>
              <a:t>满</a:t>
            </a:r>
            <a:r>
              <a:rPr lang="zh-CN" altLang="en-US" dirty="0" smtClean="0"/>
              <a:t>：队尾经过一个循环而到达队首的前一个单元时，这种情况下如果再插入新的元素时，新元素就要把原队头的元素覆盖，因此，当</a:t>
            </a:r>
            <a:r>
              <a:rPr lang="en-US" altLang="zh-CN" dirty="0" smtClean="0"/>
              <a:t>r=f</a:t>
            </a:r>
            <a:r>
              <a:rPr lang="zh-CN" altLang="en-US" dirty="0" smtClean="0"/>
              <a:t>时，插入新的元素会造成队列首尾重叠；</a:t>
            </a:r>
            <a:endParaRPr lang="zh-CN" altLang="en-US" dirty="0" smtClean="0"/>
          </a:p>
          <a:p>
            <a:pPr lvl="1">
              <a:buFontTx/>
              <a:buNone/>
            </a:pPr>
            <a:r>
              <a:rPr lang="zh-CN" altLang="en-US" dirty="0" smtClean="0">
                <a:latin typeface="Arial" panose="020B0604020202090204" pitchFamily="34" charset="0"/>
              </a:rPr>
              <a:t> </a:t>
            </a:r>
            <a:endParaRPr lang="zh-CN" altLang="en-US" dirty="0" smtClean="0">
              <a:latin typeface="Arial" panose="020B0604020202090204" pitchFamily="34" charset="0"/>
            </a:endParaRPr>
          </a:p>
          <a:p>
            <a:r>
              <a:rPr lang="zh-CN" altLang="en-US" dirty="0" smtClean="0">
                <a:solidFill>
                  <a:srgbClr val="FF0000"/>
                </a:solidFill>
              </a:rPr>
              <a:t>空</a:t>
            </a:r>
            <a:r>
              <a:rPr lang="zh-CN" altLang="en-US" dirty="0" smtClean="0"/>
              <a:t>：在队列进行删除运算时，当</a:t>
            </a:r>
            <a:r>
              <a:rPr lang="en-US" altLang="zh-CN" dirty="0" smtClean="0"/>
              <a:t>f=r</a:t>
            </a:r>
            <a:r>
              <a:rPr lang="zh-CN" altLang="en-US" dirty="0" smtClean="0"/>
              <a:t>时表明删除的是队列的最后一个元素，删除这个元素后，队列就变成空队列。 </a:t>
            </a:r>
            <a:endParaRPr lang="zh-CN" altLang="en-US" dirty="0" smtClean="0"/>
          </a:p>
        </p:txBody>
      </p:sp>
      <p:sp>
        <p:nvSpPr>
          <p:cNvPr id="62468"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Tree>
  </p:cSld>
  <p:clrMapOvr>
    <a:masterClrMapping/>
  </p:clrMapOvr>
  <p:transition/>
  <p:timing>
    <p:tnLst>
      <p:par>
        <p:cTn id="1" dur="indefinite" restart="never" nodeType="tmRoot"/>
      </p:par>
    </p:tnLst>
  </p:timing>
</p:sld>
</file>

<file path=ppt/slides/slide16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p:txBody>
          <a:bodyPr/>
          <a:lstStyle/>
          <a:p>
            <a:r>
              <a:rPr lang="en-US" altLang="zh-CN" dirty="0" smtClean="0">
                <a:solidFill>
                  <a:srgbClr val="333399"/>
                </a:solidFill>
              </a:rPr>
              <a:t>1.4.</a:t>
            </a:r>
            <a:r>
              <a:rPr lang="en-US" altLang="zh-CN" dirty="0"/>
              <a:t>5</a:t>
            </a:r>
            <a:r>
              <a:rPr lang="en-US" altLang="zh-CN" kern="0" dirty="0" smtClean="0"/>
              <a:t> </a:t>
            </a:r>
            <a:r>
              <a:rPr lang="zh-CN" altLang="en-US" kern="0" dirty="0" smtClean="0"/>
              <a:t>图</a:t>
            </a:r>
            <a:endParaRPr lang="zh-CN" altLang="en-US" dirty="0" smtClean="0"/>
          </a:p>
        </p:txBody>
      </p:sp>
      <p:sp>
        <p:nvSpPr>
          <p:cNvPr id="6147" name="Rectangle 3"/>
          <p:cNvSpPr>
            <a:spLocks noGrp="1" noChangeArrowheads="1"/>
          </p:cNvSpPr>
          <p:nvPr>
            <p:ph type="body" idx="1"/>
          </p:nvPr>
        </p:nvSpPr>
        <p:spPr>
          <a:xfrm>
            <a:off x="900113" y="1268413"/>
            <a:ext cx="7848600" cy="4525962"/>
          </a:xfrm>
        </p:spPr>
        <p:txBody>
          <a:bodyPr/>
          <a:lstStyle/>
          <a:p>
            <a:r>
              <a:rPr lang="zh-CN" altLang="en-US" sz="2400" dirty="0" smtClean="0"/>
              <a:t>图是一种比线性表和树更为复杂的数据结构。在图中，元素间的关系是多对多的，即任何两个元素都有可能存在关系。</a:t>
            </a:r>
            <a:endParaRPr lang="zh-CN" altLang="en-US" sz="2400" dirty="0" smtClean="0"/>
          </a:p>
          <a:p>
            <a:r>
              <a:rPr lang="zh-CN" altLang="en-US" sz="2400" dirty="0" smtClean="0"/>
              <a:t>图的应用非常广泛，已渗入到诸如语言学、逻辑学、物理、化学、电讯工程、计算机科学以及数学的其它分支中</a:t>
            </a:r>
            <a:r>
              <a:rPr lang="en-US" altLang="zh-CN" sz="2400" dirty="0" smtClean="0"/>
              <a:t>(</a:t>
            </a:r>
            <a:r>
              <a:rPr lang="zh-CN" altLang="en-US" sz="2400" dirty="0" smtClean="0"/>
              <a:t>日常生活中的交通图等</a:t>
            </a:r>
            <a:r>
              <a:rPr lang="en-US" altLang="zh-CN" sz="2400" dirty="0" smtClean="0"/>
              <a:t>)</a:t>
            </a:r>
            <a:r>
              <a:rPr lang="zh-CN" altLang="en-US" sz="2400" dirty="0" smtClean="0"/>
              <a:t>。</a:t>
            </a:r>
            <a:endParaRPr lang="zh-CN" altLang="en-US" sz="2400" dirty="0" smtClean="0"/>
          </a:p>
          <a:p>
            <a:r>
              <a:rPr lang="zh-CN" altLang="en-US" sz="2400" dirty="0" smtClean="0"/>
              <a:t>在离散数学中，图论是专门研究图的性质的数学分支。</a:t>
            </a:r>
            <a:endParaRPr lang="zh-CN" altLang="en-US" sz="2400" dirty="0" smtClean="0"/>
          </a:p>
          <a:p>
            <a:r>
              <a:rPr lang="zh-CN" altLang="en-US" sz="2400" dirty="0" smtClean="0"/>
              <a:t>在数据结构中对图的讨论主要侧重于图在计算机中的存储方式和有关操作的算法。</a:t>
            </a:r>
            <a:endParaRPr lang="zh-CN" altLang="en-US" sz="2400" dirty="0" smtClean="0"/>
          </a:p>
        </p:txBody>
      </p:sp>
      <p:sp>
        <p:nvSpPr>
          <p:cNvPr id="63492"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grpId="0" nodeType="clickEffect">
                                  <p:stCondLst>
                                    <p:cond delay="0"/>
                                  </p:stCondLst>
                                  <p:childTnLst>
                                    <p:set>
                                      <p:cBhvr>
                                        <p:cTn id="6" dur="1" fill="hold">
                                          <p:stCondLst>
                                            <p:cond delay="0"/>
                                          </p:stCondLst>
                                        </p:cTn>
                                        <p:tgtEl>
                                          <p:spTgt spid="6147">
                                            <p:txEl>
                                              <p:pRg st="0" end="0"/>
                                            </p:txEl>
                                          </p:spTgt>
                                        </p:tgtEl>
                                        <p:attrNameLst>
                                          <p:attrName>style.visibility</p:attrName>
                                        </p:attrNameLst>
                                      </p:cBhvr>
                                      <p:to>
                                        <p:strVal val="visible"/>
                                      </p:to>
                                    </p:set>
                                    <p:anim calcmode="lin" valueType="num">
                                      <p:cBhvr additive="base">
                                        <p:cTn id="7" dur="500" fill="hold"/>
                                        <p:tgtEl>
                                          <p:spTgt spid="6147">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6147">
                                            <p:txEl>
                                              <p:pRg st="0" end="0"/>
                                            </p:txEl>
                                          </p:spTgt>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1" fill="hold" grpId="0" nodeType="clickEffect">
                                  <p:stCondLst>
                                    <p:cond delay="0"/>
                                  </p:stCondLst>
                                  <p:childTnLst>
                                    <p:set>
                                      <p:cBhvr>
                                        <p:cTn id="12" dur="1" fill="hold">
                                          <p:stCondLst>
                                            <p:cond delay="0"/>
                                          </p:stCondLst>
                                        </p:cTn>
                                        <p:tgtEl>
                                          <p:spTgt spid="6147">
                                            <p:txEl>
                                              <p:pRg st="1" end="1"/>
                                            </p:txEl>
                                          </p:spTgt>
                                        </p:tgtEl>
                                        <p:attrNameLst>
                                          <p:attrName>style.visibility</p:attrName>
                                        </p:attrNameLst>
                                      </p:cBhvr>
                                      <p:to>
                                        <p:strVal val="visible"/>
                                      </p:to>
                                    </p:set>
                                    <p:anim calcmode="lin" valueType="num">
                                      <p:cBhvr additive="base">
                                        <p:cTn id="13" dur="500" fill="hold"/>
                                        <p:tgtEl>
                                          <p:spTgt spid="6147">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6147">
                                            <p:txEl>
                                              <p:pRg st="1" end="1"/>
                                            </p:txEl>
                                          </p:spTgt>
                                        </p:tgtEl>
                                        <p:attrNameLst>
                                          <p:attrName>ppt_y</p:attrName>
                                        </p:attrNameLst>
                                      </p:cBhvr>
                                      <p:tavLst>
                                        <p:tav tm="0">
                                          <p:val>
                                            <p:strVal val="0-#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1" fill="hold" grpId="0" nodeType="clickEffect">
                                  <p:stCondLst>
                                    <p:cond delay="0"/>
                                  </p:stCondLst>
                                  <p:childTnLst>
                                    <p:set>
                                      <p:cBhvr>
                                        <p:cTn id="18" dur="1" fill="hold">
                                          <p:stCondLst>
                                            <p:cond delay="0"/>
                                          </p:stCondLst>
                                        </p:cTn>
                                        <p:tgtEl>
                                          <p:spTgt spid="6147">
                                            <p:txEl>
                                              <p:pRg st="2" end="2"/>
                                            </p:txEl>
                                          </p:spTgt>
                                        </p:tgtEl>
                                        <p:attrNameLst>
                                          <p:attrName>style.visibility</p:attrName>
                                        </p:attrNameLst>
                                      </p:cBhvr>
                                      <p:to>
                                        <p:strVal val="visible"/>
                                      </p:to>
                                    </p:set>
                                    <p:anim calcmode="lin" valueType="num">
                                      <p:cBhvr additive="base">
                                        <p:cTn id="19" dur="500" fill="hold"/>
                                        <p:tgtEl>
                                          <p:spTgt spid="6147">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6147">
                                            <p:txEl>
                                              <p:pRg st="2" end="2"/>
                                            </p:txEl>
                                          </p:spTgt>
                                        </p:tgtEl>
                                        <p:attrNameLst>
                                          <p:attrName>ppt_y</p:attrName>
                                        </p:attrNameLst>
                                      </p:cBhvr>
                                      <p:tavLst>
                                        <p:tav tm="0">
                                          <p:val>
                                            <p:strVal val="0-#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1" fill="hold" grpId="0" nodeType="clickEffect">
                                  <p:stCondLst>
                                    <p:cond delay="0"/>
                                  </p:stCondLst>
                                  <p:childTnLst>
                                    <p:set>
                                      <p:cBhvr>
                                        <p:cTn id="24" dur="1" fill="hold">
                                          <p:stCondLst>
                                            <p:cond delay="0"/>
                                          </p:stCondLst>
                                        </p:cTn>
                                        <p:tgtEl>
                                          <p:spTgt spid="6147">
                                            <p:txEl>
                                              <p:pRg st="3" end="3"/>
                                            </p:txEl>
                                          </p:spTgt>
                                        </p:tgtEl>
                                        <p:attrNameLst>
                                          <p:attrName>style.visibility</p:attrName>
                                        </p:attrNameLst>
                                      </p:cBhvr>
                                      <p:to>
                                        <p:strVal val="visible"/>
                                      </p:to>
                                    </p:set>
                                    <p:anim calcmode="lin" valueType="num">
                                      <p:cBhvr additive="base">
                                        <p:cTn id="25" dur="500" fill="hold"/>
                                        <p:tgtEl>
                                          <p:spTgt spid="6147">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6147">
                                            <p:txEl>
                                              <p:pRg st="3" end="3"/>
                                            </p:txEl>
                                          </p:spTgt>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47" grpId="0" autoUpdateAnimBg="0" build="p"/>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64515" name="Rectangle 2"/>
          <p:cNvSpPr>
            <a:spLocks noGrp="1" noChangeArrowheads="1"/>
          </p:cNvSpPr>
          <p:nvPr>
            <p:ph type="title"/>
          </p:nvPr>
        </p:nvSpPr>
        <p:spPr/>
        <p:txBody>
          <a:bodyPr/>
          <a:lstStyle/>
          <a:p>
            <a:pPr eaLnBrk="1" hangingPunct="1"/>
            <a:r>
              <a:rPr lang="en-US" altLang="zh-CN" dirty="0">
                <a:solidFill>
                  <a:srgbClr val="333399"/>
                </a:solidFill>
              </a:rPr>
              <a:t>1.4.</a:t>
            </a:r>
            <a:r>
              <a:rPr lang="en-US" altLang="zh-CN" dirty="0" smtClean="0"/>
              <a:t>5</a:t>
            </a:r>
            <a:r>
              <a:rPr lang="en-US" altLang="zh-CN" kern="0" dirty="0" smtClean="0"/>
              <a:t> </a:t>
            </a:r>
            <a:r>
              <a:rPr lang="zh-CN" altLang="en-US" kern="0" dirty="0" smtClean="0"/>
              <a:t>图</a:t>
            </a:r>
            <a:endParaRPr lang="en-US" altLang="zh-CN" dirty="0" smtClean="0"/>
          </a:p>
        </p:txBody>
      </p:sp>
      <p:sp>
        <p:nvSpPr>
          <p:cNvPr id="97283" name="Rectangle 3"/>
          <p:cNvSpPr>
            <a:spLocks noGrp="1" noChangeArrowheads="1"/>
          </p:cNvSpPr>
          <p:nvPr>
            <p:ph type="body" idx="1"/>
          </p:nvPr>
        </p:nvSpPr>
        <p:spPr/>
        <p:txBody>
          <a:bodyPr/>
          <a:lstStyle/>
          <a:p>
            <a:pPr eaLnBrk="1" hangingPunct="1">
              <a:defRPr/>
            </a:pPr>
            <a:r>
              <a:rPr lang="zh-CN" altLang="en-US" sz="2700" dirty="0" smtClean="0"/>
              <a:t>图</a:t>
            </a:r>
            <a:r>
              <a:rPr lang="en-US" altLang="zh-CN" sz="2700" dirty="0" smtClean="0"/>
              <a:t>: </a:t>
            </a:r>
            <a:endParaRPr lang="en-US" altLang="zh-CN" sz="2700" dirty="0" smtClean="0"/>
          </a:p>
          <a:p>
            <a:pPr lvl="1" eaLnBrk="1" hangingPunct="1">
              <a:defRPr/>
            </a:pPr>
            <a:r>
              <a:rPr lang="zh-CN" altLang="en-US" sz="2300" dirty="0" smtClean="0">
                <a:latin typeface="+mn-lt"/>
                <a:ea typeface="+mn-ea"/>
              </a:rPr>
              <a:t>图</a:t>
            </a:r>
            <a:r>
              <a:rPr lang="en-US" altLang="zh-CN" sz="2300" i="1" dirty="0" smtClean="0">
                <a:latin typeface="+mn-lt"/>
                <a:ea typeface="+mn-ea"/>
              </a:rPr>
              <a:t>G=(V,E)</a:t>
            </a:r>
            <a:r>
              <a:rPr lang="en-US" altLang="zh-CN" sz="2300" dirty="0" smtClean="0">
                <a:latin typeface="+mn-lt"/>
                <a:ea typeface="+mn-ea"/>
              </a:rPr>
              <a:t> </a:t>
            </a:r>
            <a:r>
              <a:rPr lang="zh-CN" altLang="en-US" sz="2300" dirty="0" smtClean="0">
                <a:latin typeface="+mn-lt"/>
                <a:ea typeface="+mn-ea"/>
              </a:rPr>
              <a:t>由一个顶点集合</a:t>
            </a:r>
            <a:r>
              <a:rPr lang="en-US" altLang="zh-CN" sz="2300" i="1" dirty="0" smtClean="0">
                <a:latin typeface="+mn-lt"/>
                <a:ea typeface="+mn-ea"/>
              </a:rPr>
              <a:t>V={v</a:t>
            </a:r>
            <a:r>
              <a:rPr lang="en-US" altLang="zh-CN" sz="2300" i="1" baseline="-25000" dirty="0" smtClean="0">
                <a:latin typeface="+mn-lt"/>
                <a:ea typeface="+mn-ea"/>
              </a:rPr>
              <a:t>1</a:t>
            </a:r>
            <a:r>
              <a:rPr lang="en-US" altLang="zh-CN" sz="2300" i="1" dirty="0" smtClean="0">
                <a:latin typeface="+mn-lt"/>
                <a:ea typeface="+mn-ea"/>
              </a:rPr>
              <a:t>,v</a:t>
            </a:r>
            <a:r>
              <a:rPr lang="en-US" altLang="zh-CN" sz="2300" i="1" baseline="-25000" dirty="0" smtClean="0">
                <a:latin typeface="+mn-lt"/>
                <a:ea typeface="+mn-ea"/>
              </a:rPr>
              <a:t>2</a:t>
            </a:r>
            <a:r>
              <a:rPr lang="en-US" altLang="zh-CN" sz="2300" i="1" dirty="0" smtClean="0">
                <a:latin typeface="+mn-lt"/>
                <a:ea typeface="+mn-ea"/>
              </a:rPr>
              <a:t>,…,</a:t>
            </a:r>
            <a:r>
              <a:rPr lang="en-US" altLang="zh-CN" sz="2300" i="1" dirty="0" err="1" smtClean="0">
                <a:latin typeface="+mn-lt"/>
                <a:ea typeface="+mn-ea"/>
              </a:rPr>
              <a:t>v</a:t>
            </a:r>
            <a:r>
              <a:rPr lang="en-US" altLang="zh-CN" sz="2300" i="1" baseline="-25000" dirty="0" err="1" smtClean="0">
                <a:latin typeface="+mn-lt"/>
                <a:ea typeface="+mn-ea"/>
              </a:rPr>
              <a:t>n</a:t>
            </a:r>
            <a:r>
              <a:rPr lang="en-US" altLang="zh-CN" sz="2300" i="1" dirty="0" smtClean="0">
                <a:latin typeface="+mn-lt"/>
                <a:ea typeface="+mn-ea"/>
              </a:rPr>
              <a:t>}</a:t>
            </a:r>
            <a:r>
              <a:rPr lang="en-US" altLang="zh-CN" sz="2300" dirty="0" smtClean="0">
                <a:latin typeface="+mn-lt"/>
                <a:ea typeface="+mn-ea"/>
              </a:rPr>
              <a:t> </a:t>
            </a:r>
            <a:r>
              <a:rPr lang="zh-CN" altLang="en-US" sz="2300" dirty="0" smtClean="0">
                <a:latin typeface="+mn-lt"/>
                <a:ea typeface="+mn-ea"/>
              </a:rPr>
              <a:t>和一个边的集合</a:t>
            </a:r>
            <a:r>
              <a:rPr lang="en-US" altLang="zh-CN" sz="2300" dirty="0" smtClean="0">
                <a:latin typeface="+mn-lt"/>
                <a:ea typeface="+mn-ea"/>
              </a:rPr>
              <a:t>E</a:t>
            </a:r>
            <a:r>
              <a:rPr lang="zh-CN" altLang="en-US" sz="2300" dirty="0" smtClean="0">
                <a:latin typeface="+mn-lt"/>
                <a:ea typeface="+mn-ea"/>
              </a:rPr>
              <a:t>组成。</a:t>
            </a:r>
            <a:r>
              <a:rPr lang="en-US" altLang="zh-CN" sz="2300" dirty="0" smtClean="0">
                <a:latin typeface="+mn-lt"/>
                <a:ea typeface="+mn-ea"/>
              </a:rPr>
              <a:t>G</a:t>
            </a:r>
            <a:r>
              <a:rPr lang="zh-CN" altLang="en-US" sz="2300" dirty="0" smtClean="0">
                <a:latin typeface="+mn-lt"/>
                <a:ea typeface="+mn-ea"/>
              </a:rPr>
              <a:t>可以是有向的也可以是无向的。如果</a:t>
            </a:r>
            <a:r>
              <a:rPr lang="en-US" altLang="zh-CN" sz="2300" dirty="0" smtClean="0">
                <a:latin typeface="+mn-lt"/>
                <a:ea typeface="+mn-ea"/>
              </a:rPr>
              <a:t>G</a:t>
            </a:r>
            <a:r>
              <a:rPr lang="zh-CN" altLang="en-US" sz="2300" dirty="0" smtClean="0">
                <a:latin typeface="+mn-lt"/>
                <a:ea typeface="+mn-ea"/>
              </a:rPr>
              <a:t>是</a:t>
            </a:r>
            <a:r>
              <a:rPr lang="zh-CN" altLang="en-US" sz="2300" dirty="0" smtClean="0">
                <a:solidFill>
                  <a:srgbClr val="FF0000"/>
                </a:solidFill>
                <a:latin typeface="+mn-lt"/>
                <a:ea typeface="+mn-ea"/>
              </a:rPr>
              <a:t>无向的</a:t>
            </a:r>
            <a:r>
              <a:rPr lang="zh-CN" altLang="en-US" sz="2300" dirty="0" smtClean="0">
                <a:latin typeface="+mn-lt"/>
                <a:ea typeface="+mn-ea"/>
              </a:rPr>
              <a:t>，那么</a:t>
            </a:r>
            <a:r>
              <a:rPr lang="en-US" altLang="zh-CN" sz="2300" dirty="0" smtClean="0">
                <a:latin typeface="+mn-lt"/>
                <a:ea typeface="+mn-ea"/>
              </a:rPr>
              <a:t>E</a:t>
            </a:r>
            <a:r>
              <a:rPr lang="zh-CN" altLang="en-US" sz="2300" dirty="0" smtClean="0">
                <a:latin typeface="+mn-lt"/>
                <a:ea typeface="+mn-ea"/>
              </a:rPr>
              <a:t>中的每一条边都是无序的顶点对；如果</a:t>
            </a:r>
            <a:r>
              <a:rPr lang="en-US" altLang="zh-CN" sz="2300" dirty="0" smtClean="0">
                <a:latin typeface="+mn-lt"/>
                <a:ea typeface="+mn-ea"/>
              </a:rPr>
              <a:t>G</a:t>
            </a:r>
            <a:r>
              <a:rPr lang="zh-CN" altLang="en-US" sz="2300" dirty="0" smtClean="0">
                <a:latin typeface="+mn-lt"/>
                <a:ea typeface="+mn-ea"/>
              </a:rPr>
              <a:t>是</a:t>
            </a:r>
            <a:r>
              <a:rPr lang="zh-CN" altLang="en-US" sz="2300" dirty="0" smtClean="0">
                <a:solidFill>
                  <a:srgbClr val="FF0000"/>
                </a:solidFill>
                <a:latin typeface="+mn-lt"/>
                <a:ea typeface="+mn-ea"/>
              </a:rPr>
              <a:t>有向的</a:t>
            </a:r>
            <a:r>
              <a:rPr lang="zh-CN" altLang="en-US" sz="2300" dirty="0" smtClean="0">
                <a:latin typeface="+mn-lt"/>
                <a:ea typeface="+mn-ea"/>
              </a:rPr>
              <a:t>，那么</a:t>
            </a:r>
            <a:r>
              <a:rPr lang="en-US" altLang="zh-CN" sz="2300" dirty="0" smtClean="0">
                <a:latin typeface="+mn-lt"/>
                <a:ea typeface="+mn-ea"/>
              </a:rPr>
              <a:t>E</a:t>
            </a:r>
            <a:r>
              <a:rPr lang="zh-CN" altLang="en-US" sz="2300" dirty="0" smtClean="0">
                <a:latin typeface="+mn-lt"/>
                <a:ea typeface="+mn-ea"/>
              </a:rPr>
              <a:t>中的每一条边都是一个有序的顶点对。</a:t>
            </a:r>
            <a:endParaRPr lang="en-US" altLang="zh-CN" sz="2300" dirty="0" smtClean="0">
              <a:latin typeface="+mn-lt"/>
              <a:ea typeface="+mn-ea"/>
            </a:endParaRPr>
          </a:p>
          <a:p>
            <a:pPr eaLnBrk="1" hangingPunct="1">
              <a:defRPr/>
            </a:pPr>
            <a:r>
              <a:rPr lang="zh-CN" altLang="en-US" sz="2700" dirty="0" smtClean="0"/>
              <a:t>邻接</a:t>
            </a:r>
            <a:r>
              <a:rPr lang="en-US" altLang="zh-CN" sz="2700" dirty="0" smtClean="0"/>
              <a:t>: </a:t>
            </a:r>
            <a:endParaRPr lang="en-US" altLang="zh-CN" sz="2700" dirty="0" smtClean="0"/>
          </a:p>
          <a:p>
            <a:pPr lvl="1" eaLnBrk="1" hangingPunct="1">
              <a:defRPr/>
            </a:pPr>
            <a:r>
              <a:rPr lang="zh-CN" altLang="en-US" sz="2300" dirty="0" smtClean="0">
                <a:latin typeface="+mn-lt"/>
                <a:ea typeface="+mn-ea"/>
              </a:rPr>
              <a:t>设</a:t>
            </a:r>
            <a:r>
              <a:rPr lang="en-US" altLang="zh-CN" sz="2300" dirty="0" smtClean="0">
                <a:latin typeface="+mn-lt"/>
                <a:ea typeface="+mn-ea"/>
              </a:rPr>
              <a:t> (</a:t>
            </a:r>
            <a:r>
              <a:rPr lang="en-US" altLang="zh-CN" sz="2300" dirty="0" err="1" smtClean="0">
                <a:latin typeface="+mn-lt"/>
                <a:ea typeface="+mn-ea"/>
              </a:rPr>
              <a:t>v</a:t>
            </a:r>
            <a:r>
              <a:rPr lang="en-US" altLang="zh-CN" sz="2300" baseline="-25000" dirty="0" err="1" smtClean="0">
                <a:latin typeface="+mn-lt"/>
                <a:ea typeface="+mn-ea"/>
              </a:rPr>
              <a:t>i</a:t>
            </a:r>
            <a:r>
              <a:rPr lang="en-US" altLang="zh-CN" sz="2300" dirty="0" err="1" smtClean="0">
                <a:latin typeface="+mn-lt"/>
                <a:ea typeface="+mn-ea"/>
              </a:rPr>
              <a:t>,v</a:t>
            </a:r>
            <a:r>
              <a:rPr lang="en-US" altLang="zh-CN" sz="2300" baseline="-25000" dirty="0" err="1" smtClean="0">
                <a:latin typeface="+mn-lt"/>
                <a:ea typeface="+mn-ea"/>
              </a:rPr>
              <a:t>j</a:t>
            </a:r>
            <a:r>
              <a:rPr lang="en-US" altLang="zh-CN" sz="2300" dirty="0" smtClean="0">
                <a:latin typeface="+mn-lt"/>
                <a:ea typeface="+mn-ea"/>
              </a:rPr>
              <a:t>) </a:t>
            </a:r>
            <a:r>
              <a:rPr lang="zh-CN" altLang="en-US" sz="2300" dirty="0" smtClean="0">
                <a:latin typeface="+mn-lt"/>
                <a:ea typeface="+mn-ea"/>
              </a:rPr>
              <a:t>是</a:t>
            </a:r>
            <a:r>
              <a:rPr lang="en-US" altLang="zh-CN" sz="2300" dirty="0" smtClean="0">
                <a:latin typeface="+mn-lt"/>
                <a:ea typeface="+mn-ea"/>
              </a:rPr>
              <a:t>E</a:t>
            </a:r>
            <a:r>
              <a:rPr lang="zh-CN" altLang="en-US" sz="2300" dirty="0" smtClean="0">
                <a:latin typeface="+mn-lt"/>
                <a:ea typeface="+mn-ea"/>
              </a:rPr>
              <a:t>的一条边，如果图是无向的，那么</a:t>
            </a:r>
            <a:r>
              <a:rPr lang="en-US" altLang="zh-CN" sz="2300" dirty="0" smtClean="0">
                <a:latin typeface="+mn-lt"/>
                <a:ea typeface="+mn-ea"/>
              </a:rPr>
              <a:t>v</a:t>
            </a:r>
            <a:r>
              <a:rPr lang="en-US" altLang="zh-CN" sz="2300" baseline="-25000" dirty="0" smtClean="0">
                <a:latin typeface="+mn-lt"/>
                <a:ea typeface="+mn-ea"/>
              </a:rPr>
              <a:t>i</a:t>
            </a:r>
            <a:r>
              <a:rPr lang="en-US" altLang="zh-CN" sz="2300" dirty="0" smtClean="0">
                <a:latin typeface="+mn-lt"/>
                <a:ea typeface="+mn-ea"/>
              </a:rPr>
              <a:t> </a:t>
            </a:r>
            <a:r>
              <a:rPr lang="zh-CN" altLang="en-US" sz="2300" dirty="0" smtClean="0">
                <a:latin typeface="+mn-lt"/>
                <a:ea typeface="+mn-ea"/>
              </a:rPr>
              <a:t>和</a:t>
            </a:r>
            <a:r>
              <a:rPr lang="en-US" altLang="zh-CN" sz="2300" dirty="0" smtClean="0">
                <a:latin typeface="+mn-lt"/>
                <a:ea typeface="+mn-ea"/>
              </a:rPr>
              <a:t> </a:t>
            </a:r>
            <a:r>
              <a:rPr lang="en-US" altLang="zh-CN" sz="2300" dirty="0" err="1" smtClean="0">
                <a:latin typeface="+mn-lt"/>
                <a:ea typeface="+mn-ea"/>
              </a:rPr>
              <a:t>v</a:t>
            </a:r>
            <a:r>
              <a:rPr lang="en-US" altLang="zh-CN" sz="2300" baseline="-25000" dirty="0" err="1" smtClean="0">
                <a:latin typeface="+mn-lt"/>
                <a:ea typeface="+mn-ea"/>
              </a:rPr>
              <a:t>j</a:t>
            </a:r>
            <a:r>
              <a:rPr lang="en-US" altLang="zh-CN" sz="2300" dirty="0" smtClean="0">
                <a:latin typeface="+mn-lt"/>
                <a:ea typeface="+mn-ea"/>
              </a:rPr>
              <a:t> </a:t>
            </a:r>
            <a:r>
              <a:rPr lang="zh-CN" altLang="en-US" sz="2300" dirty="0" smtClean="0">
                <a:latin typeface="+mn-lt"/>
                <a:ea typeface="+mn-ea"/>
              </a:rPr>
              <a:t>互相邻接，如果图是有向的，那么</a:t>
            </a:r>
            <a:r>
              <a:rPr lang="en-US" altLang="zh-CN" sz="2300" dirty="0" err="1" smtClean="0">
                <a:latin typeface="+mn-lt"/>
                <a:ea typeface="+mn-ea"/>
              </a:rPr>
              <a:t>v</a:t>
            </a:r>
            <a:r>
              <a:rPr lang="en-US" altLang="zh-CN" sz="2300" baseline="-25000" dirty="0" err="1" smtClean="0">
                <a:latin typeface="+mn-lt"/>
                <a:ea typeface="+mn-ea"/>
              </a:rPr>
              <a:t>j</a:t>
            </a:r>
            <a:r>
              <a:rPr lang="en-US" altLang="zh-CN" sz="2300" dirty="0" smtClean="0">
                <a:latin typeface="+mn-lt"/>
                <a:ea typeface="+mn-ea"/>
              </a:rPr>
              <a:t> </a:t>
            </a:r>
            <a:r>
              <a:rPr lang="zh-CN" altLang="en-US" sz="2300" dirty="0" smtClean="0">
                <a:latin typeface="+mn-lt"/>
                <a:ea typeface="+mn-ea"/>
              </a:rPr>
              <a:t>邻接于</a:t>
            </a:r>
            <a:r>
              <a:rPr lang="en-US" altLang="zh-CN" sz="2300" dirty="0" smtClean="0">
                <a:latin typeface="+mn-lt"/>
                <a:ea typeface="+mn-ea"/>
              </a:rPr>
              <a:t>v</a:t>
            </a:r>
            <a:r>
              <a:rPr lang="en-US" altLang="zh-CN" sz="2300" baseline="-25000" dirty="0" smtClean="0">
                <a:latin typeface="+mn-lt"/>
                <a:ea typeface="+mn-ea"/>
              </a:rPr>
              <a:t>i</a:t>
            </a:r>
            <a:r>
              <a:rPr lang="en-US" altLang="zh-CN" sz="2300" dirty="0" smtClean="0">
                <a:latin typeface="+mn-lt"/>
                <a:ea typeface="+mn-ea"/>
              </a:rPr>
              <a:t>, </a:t>
            </a:r>
            <a:r>
              <a:rPr lang="zh-CN" altLang="en-US" sz="2300" dirty="0" smtClean="0">
                <a:latin typeface="+mn-lt"/>
                <a:ea typeface="+mn-ea"/>
              </a:rPr>
              <a:t>但</a:t>
            </a:r>
            <a:r>
              <a:rPr lang="en-US" altLang="zh-CN" sz="2300" dirty="0" smtClean="0">
                <a:latin typeface="+mn-lt"/>
                <a:ea typeface="+mn-ea"/>
              </a:rPr>
              <a:t> v</a:t>
            </a:r>
            <a:r>
              <a:rPr lang="en-US" altLang="zh-CN" sz="2300" baseline="-25000" dirty="0" smtClean="0">
                <a:latin typeface="+mn-lt"/>
                <a:ea typeface="+mn-ea"/>
              </a:rPr>
              <a:t>i</a:t>
            </a:r>
            <a:r>
              <a:rPr lang="en-US" altLang="zh-CN" sz="2300" dirty="0" smtClean="0">
                <a:latin typeface="+mn-lt"/>
                <a:ea typeface="+mn-ea"/>
              </a:rPr>
              <a:t> </a:t>
            </a:r>
            <a:r>
              <a:rPr lang="zh-CN" altLang="en-US" sz="2300" dirty="0" smtClean="0">
                <a:latin typeface="+mn-lt"/>
                <a:ea typeface="+mn-ea"/>
              </a:rPr>
              <a:t>不邻接于</a:t>
            </a:r>
            <a:r>
              <a:rPr lang="en-US" altLang="zh-CN" sz="2300" dirty="0" err="1" smtClean="0">
                <a:latin typeface="+mn-lt"/>
                <a:ea typeface="+mn-ea"/>
              </a:rPr>
              <a:t>v</a:t>
            </a:r>
            <a:r>
              <a:rPr lang="en-US" altLang="zh-CN" sz="2300" baseline="-25000" dirty="0" err="1" smtClean="0">
                <a:latin typeface="+mn-lt"/>
                <a:ea typeface="+mn-ea"/>
              </a:rPr>
              <a:t>j</a:t>
            </a:r>
            <a:r>
              <a:rPr lang="en-US" altLang="zh-CN" sz="2300" dirty="0" smtClean="0">
                <a:latin typeface="+mn-lt"/>
                <a:ea typeface="+mn-ea"/>
              </a:rPr>
              <a:t> </a:t>
            </a:r>
            <a:r>
              <a:rPr lang="zh-CN" altLang="en-US" sz="2300" dirty="0" smtClean="0">
                <a:latin typeface="+mn-lt"/>
                <a:ea typeface="+mn-ea"/>
              </a:rPr>
              <a:t>，除非</a:t>
            </a:r>
            <a:r>
              <a:rPr lang="en-US" altLang="zh-CN" sz="2300" dirty="0" smtClean="0">
                <a:latin typeface="+mn-lt"/>
                <a:ea typeface="+mn-ea"/>
              </a:rPr>
              <a:t> (</a:t>
            </a:r>
            <a:r>
              <a:rPr lang="en-US" altLang="zh-CN" sz="2300" dirty="0" err="1" smtClean="0">
                <a:latin typeface="+mn-lt"/>
                <a:ea typeface="+mn-ea"/>
              </a:rPr>
              <a:t>v</a:t>
            </a:r>
            <a:r>
              <a:rPr lang="en-US" altLang="zh-CN" sz="2300" baseline="-25000" dirty="0" err="1" smtClean="0">
                <a:latin typeface="+mn-lt"/>
                <a:ea typeface="+mn-ea"/>
              </a:rPr>
              <a:t>j</a:t>
            </a:r>
            <a:r>
              <a:rPr lang="en-US" altLang="zh-CN" sz="2300" dirty="0" err="1" smtClean="0">
                <a:latin typeface="+mn-lt"/>
                <a:ea typeface="+mn-ea"/>
              </a:rPr>
              <a:t>,v</a:t>
            </a:r>
            <a:r>
              <a:rPr lang="en-US" altLang="zh-CN" sz="2300" baseline="-25000" dirty="0" err="1" smtClean="0">
                <a:latin typeface="+mn-lt"/>
                <a:ea typeface="+mn-ea"/>
              </a:rPr>
              <a:t>i</a:t>
            </a:r>
            <a:r>
              <a:rPr lang="en-US" altLang="zh-CN" sz="2300" dirty="0" smtClean="0">
                <a:latin typeface="+mn-lt"/>
                <a:ea typeface="+mn-ea"/>
              </a:rPr>
              <a:t>) </a:t>
            </a:r>
            <a:r>
              <a:rPr lang="zh-CN" altLang="en-US" sz="2300" dirty="0" smtClean="0">
                <a:latin typeface="+mn-lt"/>
                <a:ea typeface="+mn-ea"/>
              </a:rPr>
              <a:t>也是</a:t>
            </a:r>
            <a:r>
              <a:rPr lang="en-US" altLang="zh-CN" sz="2300" dirty="0" smtClean="0">
                <a:latin typeface="+mn-lt"/>
                <a:ea typeface="+mn-ea"/>
              </a:rPr>
              <a:t>E</a:t>
            </a:r>
            <a:r>
              <a:rPr lang="zh-CN" altLang="en-US" sz="2300" dirty="0" smtClean="0">
                <a:latin typeface="+mn-lt"/>
                <a:ea typeface="+mn-ea"/>
              </a:rPr>
              <a:t>中一条边。</a:t>
            </a:r>
            <a:endParaRPr lang="en-US" altLang="zh-CN" dirty="0" smtClean="0">
              <a:latin typeface="+mn-lt"/>
              <a:ea typeface="+mn-ea"/>
            </a:endParaRPr>
          </a:p>
        </p:txBody>
      </p:sp>
    </p:spTree>
  </p:cSld>
  <p:clrMapOvr>
    <a:masterClrMapping/>
  </p:clrMapOvr>
  <p:timing>
    <p:tnLst>
      <p:par>
        <p:cTn id="1" dur="indefinite" restart="never" nodeType="tmRoot"/>
      </p:par>
    </p:tn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40" name="Rectangle 2"/>
          <p:cNvSpPr>
            <a:spLocks noGrp="1" noChangeArrowheads="1"/>
          </p:cNvSpPr>
          <p:nvPr>
            <p:ph type="title"/>
          </p:nvPr>
        </p:nvSpPr>
        <p:spPr>
          <a:xfrm>
            <a:off x="762000" y="381000"/>
            <a:ext cx="7772400" cy="609600"/>
          </a:xfrm>
        </p:spPr>
        <p:txBody>
          <a:bodyPr/>
          <a:lstStyle/>
          <a:p>
            <a:r>
              <a:rPr lang="en-US" altLang="zh-CN" dirty="0">
                <a:solidFill>
                  <a:srgbClr val="333399"/>
                </a:solidFill>
              </a:rPr>
              <a:t>1.4.</a:t>
            </a:r>
            <a:r>
              <a:rPr lang="en-US" altLang="zh-CN" dirty="0" smtClean="0"/>
              <a:t>5</a:t>
            </a:r>
            <a:r>
              <a:rPr lang="en-US" altLang="zh-CN" kern="0" dirty="0" smtClean="0"/>
              <a:t> </a:t>
            </a:r>
            <a:r>
              <a:rPr lang="zh-CN" altLang="en-US" kern="0" dirty="0" smtClean="0"/>
              <a:t>图</a:t>
            </a:r>
            <a:endParaRPr lang="zh-CN" altLang="en-US" dirty="0" smtClean="0"/>
          </a:p>
        </p:txBody>
      </p:sp>
      <p:sp>
        <p:nvSpPr>
          <p:cNvPr id="11267" name="Rectangle 3"/>
          <p:cNvSpPr>
            <a:spLocks noGrp="1" noChangeArrowheads="1"/>
          </p:cNvSpPr>
          <p:nvPr>
            <p:ph type="body" idx="1"/>
          </p:nvPr>
        </p:nvSpPr>
        <p:spPr>
          <a:xfrm>
            <a:off x="1447800" y="4572000"/>
            <a:ext cx="3262313" cy="792163"/>
          </a:xfrm>
        </p:spPr>
        <p:txBody>
          <a:bodyPr/>
          <a:lstStyle/>
          <a:p>
            <a:pPr>
              <a:buFont typeface="Wingdings" panose="05000000000000000000" pitchFamily="2" charset="2"/>
              <a:buNone/>
              <a:defRPr/>
            </a:pPr>
            <a:r>
              <a:rPr lang="zh-CN" altLang="en-US" sz="3200" kern="1200" dirty="0">
                <a:solidFill>
                  <a:schemeClr val="tx1"/>
                </a:solidFill>
                <a:ea typeface="宋体" pitchFamily="2" charset="-122"/>
              </a:rPr>
              <a:t>无向图</a:t>
            </a:r>
            <a:r>
              <a:rPr lang="en-US" altLang="zh-CN" sz="3200" kern="1200" dirty="0">
                <a:solidFill>
                  <a:schemeClr val="tx1"/>
                </a:solidFill>
                <a:ea typeface="宋体" pitchFamily="2" charset="-122"/>
              </a:rPr>
              <a:t>G1</a:t>
            </a:r>
            <a:endParaRPr lang="en-US" altLang="zh-CN" sz="3200" kern="1200" dirty="0">
              <a:solidFill>
                <a:schemeClr val="tx1"/>
              </a:solidFill>
              <a:ea typeface="宋体" pitchFamily="2" charset="-122"/>
            </a:endParaRPr>
          </a:p>
        </p:txBody>
      </p:sp>
      <p:graphicFrame>
        <p:nvGraphicFramePr>
          <p:cNvPr id="14338" name="Object 2"/>
          <p:cNvGraphicFramePr>
            <a:graphicFrameLocks noChangeAspect="1"/>
          </p:cNvGraphicFramePr>
          <p:nvPr/>
        </p:nvGraphicFramePr>
        <p:xfrm>
          <a:off x="762000" y="1447800"/>
          <a:ext cx="3276600" cy="3276600"/>
        </p:xfrm>
        <a:graphic>
          <a:graphicData uri="http://schemas.openxmlformats.org/presentationml/2006/ole">
            <mc:AlternateContent xmlns:mc="http://schemas.openxmlformats.org/markup-compatibility/2006">
              <mc:Choice xmlns:v="urn:schemas-microsoft-com:vml" Requires="v">
                <p:oleObj spid="_x0000_s35858" name="Picture2" r:id="rId1" imgW="952500" imgH="809625" progId="Word.Picture.8">
                  <p:embed/>
                </p:oleObj>
              </mc:Choice>
              <mc:Fallback>
                <p:oleObj name="Picture2" r:id="rId1" imgW="952500" imgH="809625" progId="Word.Picture.8">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000" y="1447800"/>
                        <a:ext cx="3276600" cy="3276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4339" name="Object 3"/>
          <p:cNvGraphicFramePr>
            <a:graphicFrameLocks noChangeAspect="1"/>
          </p:cNvGraphicFramePr>
          <p:nvPr/>
        </p:nvGraphicFramePr>
        <p:xfrm>
          <a:off x="4876800" y="1524000"/>
          <a:ext cx="3429000" cy="3124200"/>
        </p:xfrm>
        <a:graphic>
          <a:graphicData uri="http://schemas.openxmlformats.org/presentationml/2006/ole">
            <mc:AlternateContent xmlns:mc="http://schemas.openxmlformats.org/markup-compatibility/2006">
              <mc:Choice xmlns:v="urn:schemas-microsoft-com:vml" Requires="v">
                <p:oleObj spid="_x0000_s35859" name="Picture2" r:id="rId3" imgW="790575" imgH="781050" progId="Word.Picture.8">
                  <p:embed/>
                </p:oleObj>
              </mc:Choice>
              <mc:Fallback>
                <p:oleObj name="Picture2" r:id="rId3" imgW="790575" imgH="781050" progId="Word.Picture.8">
                  <p:embed/>
                  <p:pic>
                    <p:nvPicPr>
                      <p:cNvPr id="0" name="Object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876800" y="1524000"/>
                        <a:ext cx="3429000" cy="31242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4342" name="Rectangle 6"/>
          <p:cNvSpPr>
            <a:spLocks noChangeArrowheads="1"/>
          </p:cNvSpPr>
          <p:nvPr/>
        </p:nvSpPr>
        <p:spPr bwMode="auto">
          <a:xfrm>
            <a:off x="5638800" y="4572000"/>
            <a:ext cx="3124200"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20000"/>
              </a:spcBef>
              <a:buClr>
                <a:schemeClr val="tx2"/>
              </a:buClr>
              <a:buSzPct val="80000"/>
              <a:buFont typeface="Wingdings" panose="05000000000000000000" pitchFamily="2" charset="2"/>
              <a:buNone/>
            </a:pPr>
            <a:r>
              <a:rPr lang="zh-CN" altLang="en-US" sz="3200">
                <a:latin typeface="Times New Roman" panose="02020503050405090304" pitchFamily="18" charset="0"/>
              </a:rPr>
              <a:t>有向图</a:t>
            </a:r>
            <a:r>
              <a:rPr lang="en-US" altLang="zh-CN" sz="3200">
                <a:latin typeface="Times New Roman" panose="02020503050405090304" pitchFamily="18" charset="0"/>
              </a:rPr>
              <a:t>G</a:t>
            </a:r>
            <a:r>
              <a:rPr lang="en-US" altLang="zh-CN" sz="3200" baseline="-30000">
                <a:latin typeface="Times New Roman" panose="02020503050405090304" pitchFamily="18" charset="0"/>
              </a:rPr>
              <a:t>2</a:t>
            </a:r>
            <a:endParaRPr lang="en-US" altLang="zh-CN" sz="3200">
              <a:latin typeface="Times New Roman" panose="02020503050405090304" pitchFamily="18" charset="0"/>
            </a:endParaRPr>
          </a:p>
        </p:txBody>
      </p:sp>
      <p:sp>
        <p:nvSpPr>
          <p:cNvPr id="14343"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Tree>
  </p:cSld>
  <p:clrMapOvr>
    <a:masterClrMapping/>
  </p:clrMapOvr>
  <p:transition>
    <p:strips dir="ld"/>
  </p:transition>
  <p:timing>
    <p:tnLst>
      <p:par>
        <p:cTn id="1" dur="indefinite" restart="never" nodeType="tmRoot"/>
      </p:par>
    </p:tn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65539" name="Rectangle 2"/>
          <p:cNvSpPr>
            <a:spLocks noGrp="1" noChangeArrowheads="1"/>
          </p:cNvSpPr>
          <p:nvPr>
            <p:ph type="title"/>
          </p:nvPr>
        </p:nvSpPr>
        <p:spPr/>
        <p:txBody>
          <a:bodyPr/>
          <a:lstStyle/>
          <a:p>
            <a:pPr eaLnBrk="1" hangingPunct="1"/>
            <a:r>
              <a:rPr lang="en-US" altLang="zh-CN" dirty="0">
                <a:solidFill>
                  <a:srgbClr val="333399"/>
                </a:solidFill>
              </a:rPr>
              <a:t>1.4.</a:t>
            </a:r>
            <a:r>
              <a:rPr lang="en-US" altLang="zh-CN" dirty="0" smtClean="0"/>
              <a:t>5</a:t>
            </a:r>
            <a:r>
              <a:rPr lang="en-US" altLang="zh-CN" kern="0" dirty="0" smtClean="0"/>
              <a:t> </a:t>
            </a:r>
            <a:r>
              <a:rPr lang="zh-CN" altLang="en-US" kern="0" dirty="0" smtClean="0"/>
              <a:t>图</a:t>
            </a:r>
            <a:endParaRPr lang="en-US" altLang="zh-CN" dirty="0" smtClean="0"/>
          </a:p>
        </p:txBody>
      </p:sp>
      <p:sp>
        <p:nvSpPr>
          <p:cNvPr id="98307" name="Rectangle 3"/>
          <p:cNvSpPr>
            <a:spLocks noGrp="1" noChangeArrowheads="1"/>
          </p:cNvSpPr>
          <p:nvPr>
            <p:ph type="body" idx="1"/>
          </p:nvPr>
        </p:nvSpPr>
        <p:spPr/>
        <p:txBody>
          <a:bodyPr/>
          <a:lstStyle/>
          <a:p>
            <a:pPr eaLnBrk="1" hangingPunct="1">
              <a:lnSpc>
                <a:spcPct val="90000"/>
              </a:lnSpc>
              <a:defRPr/>
            </a:pPr>
            <a:r>
              <a:rPr lang="zh-CN" altLang="en-US" sz="2300" dirty="0" smtClean="0">
                <a:latin typeface="+mn-ea"/>
              </a:rPr>
              <a:t>度</a:t>
            </a:r>
            <a:r>
              <a:rPr lang="en-US" altLang="zh-CN" sz="2300" dirty="0" smtClean="0">
                <a:latin typeface="+mn-ea"/>
              </a:rPr>
              <a:t>:</a:t>
            </a:r>
            <a:endParaRPr lang="en-US" altLang="zh-CN" sz="2300" dirty="0" smtClean="0">
              <a:latin typeface="+mn-ea"/>
            </a:endParaRPr>
          </a:p>
          <a:p>
            <a:pPr lvl="1" eaLnBrk="1" hangingPunct="1">
              <a:lnSpc>
                <a:spcPct val="90000"/>
              </a:lnSpc>
              <a:defRPr/>
            </a:pPr>
            <a:r>
              <a:rPr lang="zh-CN" altLang="en-US" sz="2000" dirty="0" smtClean="0">
                <a:latin typeface="+mn-ea"/>
                <a:ea typeface="+mn-ea"/>
              </a:rPr>
              <a:t>无向图中顶点的</a:t>
            </a:r>
            <a:r>
              <a:rPr lang="zh-CN" altLang="en-US" sz="2000" dirty="0" smtClean="0">
                <a:solidFill>
                  <a:srgbClr val="FF0000"/>
                </a:solidFill>
                <a:latin typeface="+mn-ea"/>
                <a:ea typeface="+mn-ea"/>
              </a:rPr>
              <a:t>度</a:t>
            </a:r>
            <a:r>
              <a:rPr lang="zh-CN" altLang="en-US" sz="2000" dirty="0" smtClean="0">
                <a:latin typeface="+mn-ea"/>
                <a:ea typeface="+mn-ea"/>
              </a:rPr>
              <a:t>是和它邻接的顶点的个数，有向图中顶点</a:t>
            </a:r>
            <a:r>
              <a:rPr lang="en-US" altLang="zh-CN" sz="2000" dirty="0" smtClean="0">
                <a:latin typeface="+mn-ea"/>
                <a:ea typeface="+mn-ea"/>
              </a:rPr>
              <a:t> v</a:t>
            </a:r>
            <a:r>
              <a:rPr lang="en-US" altLang="zh-CN" sz="2000" baseline="-25000" dirty="0" smtClean="0">
                <a:latin typeface="+mn-ea"/>
                <a:ea typeface="+mn-ea"/>
              </a:rPr>
              <a:t>i </a:t>
            </a:r>
            <a:r>
              <a:rPr lang="zh-CN" altLang="en-US" sz="2000" dirty="0" smtClean="0">
                <a:latin typeface="+mn-ea"/>
                <a:ea typeface="+mn-ea"/>
              </a:rPr>
              <a:t>的</a:t>
            </a:r>
            <a:r>
              <a:rPr lang="zh-CN" altLang="en-US" sz="2000" dirty="0" smtClean="0">
                <a:solidFill>
                  <a:srgbClr val="FF0000"/>
                </a:solidFill>
                <a:latin typeface="+mn-ea"/>
                <a:ea typeface="+mn-ea"/>
              </a:rPr>
              <a:t>入度</a:t>
            </a:r>
            <a:r>
              <a:rPr lang="zh-CN" altLang="en-US" sz="2000" dirty="0" smtClean="0">
                <a:latin typeface="+mn-ea"/>
                <a:ea typeface="+mn-ea"/>
              </a:rPr>
              <a:t>和</a:t>
            </a:r>
            <a:r>
              <a:rPr lang="zh-CN" altLang="en-US" sz="2000" dirty="0" smtClean="0">
                <a:solidFill>
                  <a:srgbClr val="FF0000"/>
                </a:solidFill>
                <a:latin typeface="+mn-ea"/>
                <a:ea typeface="+mn-ea"/>
              </a:rPr>
              <a:t>出度</a:t>
            </a:r>
            <a:r>
              <a:rPr lang="zh-CN" altLang="en-US" sz="2000" dirty="0" smtClean="0">
                <a:latin typeface="+mn-ea"/>
                <a:ea typeface="+mn-ea"/>
              </a:rPr>
              <a:t>分别是连接到</a:t>
            </a:r>
            <a:r>
              <a:rPr lang="en-US" altLang="zh-CN" sz="2000" dirty="0" smtClean="0">
                <a:latin typeface="+mn-ea"/>
                <a:ea typeface="+mn-ea"/>
              </a:rPr>
              <a:t>v</a:t>
            </a:r>
            <a:r>
              <a:rPr lang="en-US" altLang="zh-CN" sz="2000" baseline="-25000" dirty="0" smtClean="0">
                <a:latin typeface="+mn-ea"/>
                <a:ea typeface="+mn-ea"/>
              </a:rPr>
              <a:t>i</a:t>
            </a:r>
            <a:r>
              <a:rPr lang="en-US" altLang="zh-CN" sz="2000" dirty="0" smtClean="0">
                <a:latin typeface="+mn-ea"/>
                <a:ea typeface="+mn-ea"/>
              </a:rPr>
              <a:t> </a:t>
            </a:r>
            <a:r>
              <a:rPr lang="zh-CN" altLang="en-US" sz="2000" dirty="0" smtClean="0">
                <a:latin typeface="+mn-ea"/>
                <a:ea typeface="+mn-ea"/>
              </a:rPr>
              <a:t>的边和从</a:t>
            </a:r>
            <a:r>
              <a:rPr lang="en-US" altLang="zh-CN" sz="2000" dirty="0" smtClean="0">
                <a:latin typeface="+mn-ea"/>
                <a:ea typeface="+mn-ea"/>
              </a:rPr>
              <a:t> v</a:t>
            </a:r>
            <a:r>
              <a:rPr lang="en-US" altLang="zh-CN" sz="2000" baseline="-25000" dirty="0" smtClean="0">
                <a:latin typeface="+mn-ea"/>
                <a:ea typeface="+mn-ea"/>
              </a:rPr>
              <a:t>i </a:t>
            </a:r>
            <a:r>
              <a:rPr lang="zh-CN" altLang="en-US" sz="2000" dirty="0" smtClean="0">
                <a:latin typeface="+mn-ea"/>
                <a:ea typeface="+mn-ea"/>
              </a:rPr>
              <a:t>连接到其他顶点的边的数目。</a:t>
            </a:r>
            <a:endParaRPr lang="en-US" altLang="zh-CN" sz="2000" dirty="0" smtClean="0">
              <a:latin typeface="+mn-ea"/>
              <a:ea typeface="+mn-ea"/>
            </a:endParaRPr>
          </a:p>
          <a:p>
            <a:pPr eaLnBrk="1" hangingPunct="1">
              <a:lnSpc>
                <a:spcPct val="90000"/>
              </a:lnSpc>
              <a:defRPr/>
            </a:pPr>
            <a:r>
              <a:rPr lang="zh-CN" altLang="en-US" sz="2300" dirty="0" smtClean="0">
                <a:latin typeface="+mn-ea"/>
              </a:rPr>
              <a:t>路径</a:t>
            </a:r>
            <a:r>
              <a:rPr lang="en-US" altLang="zh-CN" sz="2300" dirty="0" smtClean="0">
                <a:latin typeface="+mn-ea"/>
              </a:rPr>
              <a:t>: </a:t>
            </a:r>
            <a:endParaRPr lang="en-US" altLang="zh-CN" sz="2300" dirty="0" smtClean="0">
              <a:latin typeface="+mn-ea"/>
            </a:endParaRPr>
          </a:p>
          <a:p>
            <a:pPr lvl="1" eaLnBrk="1" hangingPunct="1">
              <a:lnSpc>
                <a:spcPct val="90000"/>
              </a:lnSpc>
              <a:defRPr/>
            </a:pPr>
            <a:r>
              <a:rPr lang="zh-CN" altLang="en-US" sz="2000" dirty="0" smtClean="0">
                <a:latin typeface="+mn-ea"/>
                <a:ea typeface="+mn-ea"/>
              </a:rPr>
              <a:t>图中从顶点</a:t>
            </a:r>
            <a:r>
              <a:rPr lang="en-US" altLang="zh-CN" sz="2000" dirty="0" smtClean="0">
                <a:latin typeface="+mn-ea"/>
                <a:ea typeface="+mn-ea"/>
              </a:rPr>
              <a:t>v</a:t>
            </a:r>
            <a:r>
              <a:rPr lang="en-US" altLang="zh-CN" sz="2000" baseline="-25000" dirty="0" smtClean="0">
                <a:latin typeface="+mn-ea"/>
                <a:ea typeface="+mn-ea"/>
              </a:rPr>
              <a:t>1</a:t>
            </a:r>
            <a:r>
              <a:rPr lang="en-US" altLang="zh-CN" sz="2000" dirty="0" smtClean="0">
                <a:latin typeface="+mn-ea"/>
                <a:ea typeface="+mn-ea"/>
              </a:rPr>
              <a:t> </a:t>
            </a:r>
            <a:r>
              <a:rPr lang="zh-CN" altLang="en-US" sz="2000" dirty="0" smtClean="0">
                <a:latin typeface="+mn-ea"/>
                <a:ea typeface="+mn-ea"/>
              </a:rPr>
              <a:t>到</a:t>
            </a:r>
            <a:r>
              <a:rPr lang="en-US" altLang="zh-CN" sz="2000" dirty="0" smtClean="0">
                <a:latin typeface="+mn-ea"/>
                <a:ea typeface="+mn-ea"/>
              </a:rPr>
              <a:t> </a:t>
            </a:r>
            <a:r>
              <a:rPr lang="en-US" altLang="zh-CN" sz="2000" dirty="0" err="1" smtClean="0">
                <a:latin typeface="+mn-ea"/>
                <a:ea typeface="+mn-ea"/>
              </a:rPr>
              <a:t>v</a:t>
            </a:r>
            <a:r>
              <a:rPr lang="en-US" altLang="zh-CN" sz="2000" baseline="-25000" dirty="0" err="1" smtClean="0">
                <a:latin typeface="+mn-ea"/>
                <a:ea typeface="+mn-ea"/>
              </a:rPr>
              <a:t>k</a:t>
            </a:r>
            <a:r>
              <a:rPr lang="en-US" altLang="zh-CN" sz="2000" dirty="0" smtClean="0">
                <a:latin typeface="+mn-ea"/>
                <a:ea typeface="+mn-ea"/>
              </a:rPr>
              <a:t> </a:t>
            </a:r>
            <a:r>
              <a:rPr lang="zh-CN" altLang="en-US" sz="2000" dirty="0" smtClean="0">
                <a:latin typeface="+mn-ea"/>
                <a:ea typeface="+mn-ea"/>
              </a:rPr>
              <a:t>的</a:t>
            </a:r>
            <a:r>
              <a:rPr lang="zh-CN" altLang="en-US" sz="2000" dirty="0" smtClean="0">
                <a:solidFill>
                  <a:srgbClr val="FF0000"/>
                </a:solidFill>
                <a:latin typeface="+mn-ea"/>
                <a:ea typeface="+mn-ea"/>
              </a:rPr>
              <a:t>路径</a:t>
            </a:r>
            <a:r>
              <a:rPr lang="zh-CN" altLang="en-US" sz="2000" dirty="0" smtClean="0">
                <a:latin typeface="+mn-ea"/>
                <a:ea typeface="+mn-ea"/>
              </a:rPr>
              <a:t>是一个顶点的序列</a:t>
            </a:r>
            <a:r>
              <a:rPr lang="en-US" altLang="zh-CN" sz="2000" dirty="0" smtClean="0">
                <a:latin typeface="+mn-ea"/>
                <a:ea typeface="+mn-ea"/>
              </a:rPr>
              <a:t>v</a:t>
            </a:r>
            <a:r>
              <a:rPr lang="en-US" altLang="zh-CN" sz="2000" baseline="-25000" dirty="0" smtClean="0">
                <a:latin typeface="+mn-ea"/>
                <a:ea typeface="+mn-ea"/>
              </a:rPr>
              <a:t>1</a:t>
            </a:r>
            <a:r>
              <a:rPr lang="en-US" altLang="zh-CN" sz="2000" dirty="0" smtClean="0">
                <a:latin typeface="+mn-ea"/>
                <a:ea typeface="+mn-ea"/>
              </a:rPr>
              <a:t>,v</a:t>
            </a:r>
            <a:r>
              <a:rPr lang="en-US" altLang="zh-CN" sz="2000" baseline="-25000" dirty="0" smtClean="0">
                <a:latin typeface="+mn-ea"/>
                <a:ea typeface="+mn-ea"/>
              </a:rPr>
              <a:t>2</a:t>
            </a:r>
            <a:r>
              <a:rPr lang="en-US" altLang="zh-CN" sz="2000" dirty="0" smtClean="0">
                <a:latin typeface="+mn-ea"/>
                <a:ea typeface="+mn-ea"/>
              </a:rPr>
              <a:t>,…,</a:t>
            </a:r>
            <a:r>
              <a:rPr lang="en-US" altLang="zh-CN" sz="2000" dirty="0" err="1" smtClean="0">
                <a:latin typeface="+mn-ea"/>
                <a:ea typeface="+mn-ea"/>
              </a:rPr>
              <a:t>v</a:t>
            </a:r>
            <a:r>
              <a:rPr lang="en-US" altLang="zh-CN" sz="2000" baseline="-25000" dirty="0" err="1" smtClean="0">
                <a:latin typeface="+mn-ea"/>
                <a:ea typeface="+mn-ea"/>
              </a:rPr>
              <a:t>k</a:t>
            </a:r>
            <a:r>
              <a:rPr lang="en-US" altLang="zh-CN" sz="2000" dirty="0" smtClean="0">
                <a:latin typeface="+mn-ea"/>
                <a:ea typeface="+mn-ea"/>
              </a:rPr>
              <a:t> </a:t>
            </a:r>
            <a:r>
              <a:rPr lang="zh-CN" altLang="en-US" sz="2000" dirty="0" smtClean="0">
                <a:latin typeface="+mn-ea"/>
                <a:ea typeface="+mn-ea"/>
              </a:rPr>
              <a:t>，其中的</a:t>
            </a:r>
            <a:r>
              <a:rPr lang="en-US" altLang="zh-CN" sz="2000" dirty="0" smtClean="0">
                <a:latin typeface="+mn-ea"/>
                <a:ea typeface="+mn-ea"/>
              </a:rPr>
              <a:t> (v</a:t>
            </a:r>
            <a:r>
              <a:rPr lang="en-US" altLang="zh-CN" sz="2000" baseline="-25000" dirty="0" smtClean="0">
                <a:latin typeface="+mn-ea"/>
                <a:ea typeface="+mn-ea"/>
              </a:rPr>
              <a:t>i</a:t>
            </a:r>
            <a:r>
              <a:rPr lang="en-US" altLang="zh-CN" sz="2000" dirty="0" smtClean="0">
                <a:latin typeface="+mn-ea"/>
                <a:ea typeface="+mn-ea"/>
              </a:rPr>
              <a:t>,v</a:t>
            </a:r>
            <a:r>
              <a:rPr lang="en-US" altLang="zh-CN" sz="2000" baseline="-25000" dirty="0" smtClean="0">
                <a:latin typeface="+mn-ea"/>
                <a:ea typeface="+mn-ea"/>
              </a:rPr>
              <a:t>i+1</a:t>
            </a:r>
            <a:r>
              <a:rPr lang="en-US" altLang="zh-CN" sz="2000" dirty="0" smtClean="0">
                <a:latin typeface="+mn-ea"/>
                <a:ea typeface="+mn-ea"/>
              </a:rPr>
              <a:t>),1</a:t>
            </a:r>
            <a:r>
              <a:rPr lang="en-US" altLang="zh-CN" sz="2000" dirty="0" smtClean="0">
                <a:latin typeface="+mn-ea"/>
                <a:ea typeface="+mn-ea"/>
                <a:sym typeface="Symbol" panose="05050102010706020507" pitchFamily="18" charset="2"/>
              </a:rPr>
              <a:t>ik-1, </a:t>
            </a:r>
            <a:r>
              <a:rPr lang="zh-CN" altLang="en-US" sz="2000" dirty="0" smtClean="0">
                <a:latin typeface="+mn-ea"/>
                <a:ea typeface="+mn-ea"/>
                <a:sym typeface="Symbol" panose="05050102010706020507" pitchFamily="18" charset="2"/>
              </a:rPr>
              <a:t>是图的一条边。</a:t>
            </a:r>
            <a:r>
              <a:rPr lang="en-US" altLang="zh-CN" sz="2000" dirty="0" smtClean="0">
                <a:latin typeface="+mn-ea"/>
                <a:ea typeface="+mn-ea"/>
                <a:sym typeface="Symbol" panose="05050102010706020507" pitchFamily="18" charset="2"/>
              </a:rPr>
              <a:t> </a:t>
            </a:r>
            <a:endParaRPr lang="en-US" altLang="zh-CN" sz="2000" dirty="0" smtClean="0">
              <a:latin typeface="+mn-ea"/>
              <a:ea typeface="+mn-ea"/>
              <a:sym typeface="Symbol" panose="05050102010706020507" pitchFamily="18" charset="2"/>
            </a:endParaRPr>
          </a:p>
          <a:p>
            <a:pPr lvl="1" eaLnBrk="1" hangingPunct="1">
              <a:lnSpc>
                <a:spcPct val="90000"/>
              </a:lnSpc>
              <a:defRPr/>
            </a:pPr>
            <a:r>
              <a:rPr lang="zh-CN" altLang="en-US" sz="2000" dirty="0" smtClean="0">
                <a:solidFill>
                  <a:srgbClr val="FF0000"/>
                </a:solidFill>
                <a:latin typeface="+mn-ea"/>
                <a:ea typeface="+mn-ea"/>
                <a:sym typeface="Symbol" panose="05050102010706020507" pitchFamily="18" charset="2"/>
              </a:rPr>
              <a:t>路径的长度</a:t>
            </a:r>
            <a:r>
              <a:rPr lang="zh-CN" altLang="en-US" sz="2000" dirty="0" smtClean="0">
                <a:latin typeface="+mn-ea"/>
                <a:ea typeface="+mn-ea"/>
                <a:sym typeface="Symbol" panose="05050102010706020507" pitchFamily="18" charset="2"/>
              </a:rPr>
              <a:t>是路径中边的数目，因此，路径</a:t>
            </a:r>
            <a:r>
              <a:rPr lang="en-US" altLang="zh-CN" sz="2000" dirty="0" smtClean="0">
                <a:latin typeface="+mn-ea"/>
                <a:ea typeface="+mn-ea"/>
              </a:rPr>
              <a:t>v</a:t>
            </a:r>
            <a:r>
              <a:rPr lang="en-US" altLang="zh-CN" sz="2000" baseline="-25000" dirty="0" smtClean="0">
                <a:latin typeface="+mn-ea"/>
                <a:ea typeface="+mn-ea"/>
              </a:rPr>
              <a:t>1</a:t>
            </a:r>
            <a:r>
              <a:rPr lang="en-US" altLang="zh-CN" sz="2000" dirty="0" smtClean="0">
                <a:latin typeface="+mn-ea"/>
                <a:ea typeface="+mn-ea"/>
              </a:rPr>
              <a:t>,v</a:t>
            </a:r>
            <a:r>
              <a:rPr lang="en-US" altLang="zh-CN" sz="2000" baseline="-25000" dirty="0" smtClean="0">
                <a:latin typeface="+mn-ea"/>
                <a:ea typeface="+mn-ea"/>
              </a:rPr>
              <a:t>2</a:t>
            </a:r>
            <a:r>
              <a:rPr lang="en-US" altLang="zh-CN" sz="2000" dirty="0" smtClean="0">
                <a:latin typeface="+mn-ea"/>
                <a:ea typeface="+mn-ea"/>
              </a:rPr>
              <a:t>,…,</a:t>
            </a:r>
            <a:r>
              <a:rPr lang="en-US" altLang="zh-CN" sz="2000" dirty="0" err="1" smtClean="0">
                <a:latin typeface="+mn-ea"/>
                <a:ea typeface="+mn-ea"/>
              </a:rPr>
              <a:t>v</a:t>
            </a:r>
            <a:r>
              <a:rPr lang="en-US" altLang="zh-CN" sz="2000" baseline="-25000" dirty="0" err="1" smtClean="0">
                <a:latin typeface="+mn-ea"/>
                <a:ea typeface="+mn-ea"/>
              </a:rPr>
              <a:t>k</a:t>
            </a:r>
            <a:r>
              <a:rPr lang="en-US" altLang="zh-CN" sz="2000" dirty="0" smtClean="0">
                <a:latin typeface="+mn-ea"/>
                <a:ea typeface="+mn-ea"/>
                <a:sym typeface="Symbol" panose="05050102010706020507" pitchFamily="18" charset="2"/>
              </a:rPr>
              <a:t>.</a:t>
            </a:r>
            <a:r>
              <a:rPr lang="zh-CN" altLang="en-US" sz="2000" dirty="0" smtClean="0">
                <a:latin typeface="+mn-ea"/>
                <a:ea typeface="+mn-ea"/>
                <a:sym typeface="Symbol" panose="05050102010706020507" pitchFamily="18" charset="2"/>
              </a:rPr>
              <a:t>的长度是</a:t>
            </a:r>
            <a:r>
              <a:rPr lang="en-US" altLang="zh-CN" sz="2000" dirty="0" smtClean="0">
                <a:latin typeface="+mn-ea"/>
                <a:ea typeface="+mn-ea"/>
                <a:sym typeface="Symbol" panose="05050102010706020507" pitchFamily="18" charset="2"/>
              </a:rPr>
              <a:t>k-1.</a:t>
            </a:r>
            <a:r>
              <a:rPr lang="zh-CN" altLang="en-US" sz="2000" dirty="0" smtClean="0">
                <a:latin typeface="+mn-ea"/>
                <a:ea typeface="+mn-ea"/>
                <a:sym typeface="Symbol" panose="05050102010706020507" pitchFamily="18" charset="2"/>
              </a:rPr>
              <a:t>如果所有的顶点都不同，那么路径是简单的；如果</a:t>
            </a:r>
            <a:r>
              <a:rPr lang="en-US" altLang="zh-CN" sz="2000" dirty="0" smtClean="0">
                <a:latin typeface="+mn-ea"/>
                <a:ea typeface="+mn-ea"/>
                <a:sym typeface="Symbol" panose="05050102010706020507" pitchFamily="18" charset="2"/>
              </a:rPr>
              <a:t> v</a:t>
            </a:r>
            <a:r>
              <a:rPr lang="en-US" altLang="zh-CN" sz="2000" baseline="-25000" dirty="0" smtClean="0">
                <a:latin typeface="+mn-ea"/>
                <a:ea typeface="+mn-ea"/>
                <a:sym typeface="Symbol" panose="05050102010706020507" pitchFamily="18" charset="2"/>
              </a:rPr>
              <a:t>1</a:t>
            </a:r>
            <a:r>
              <a:rPr lang="en-US" altLang="zh-CN" sz="2000" dirty="0" smtClean="0">
                <a:latin typeface="+mn-ea"/>
                <a:ea typeface="+mn-ea"/>
                <a:sym typeface="Symbol" panose="05050102010706020507" pitchFamily="18" charset="2"/>
              </a:rPr>
              <a:t>=</a:t>
            </a:r>
            <a:r>
              <a:rPr lang="en-US" altLang="zh-CN" sz="2000" dirty="0" err="1" smtClean="0">
                <a:latin typeface="+mn-ea"/>
                <a:ea typeface="+mn-ea"/>
                <a:sym typeface="Symbol" panose="05050102010706020507" pitchFamily="18" charset="2"/>
              </a:rPr>
              <a:t>v</a:t>
            </a:r>
            <a:r>
              <a:rPr lang="en-US" altLang="zh-CN" sz="2000" baseline="-25000" dirty="0" err="1" smtClean="0">
                <a:latin typeface="+mn-ea"/>
                <a:ea typeface="+mn-ea"/>
                <a:sym typeface="Symbol" panose="05050102010706020507" pitchFamily="18" charset="2"/>
              </a:rPr>
              <a:t>k</a:t>
            </a:r>
            <a:r>
              <a:rPr lang="en-US" altLang="zh-CN" sz="2000" dirty="0" smtClean="0">
                <a:latin typeface="+mn-ea"/>
                <a:ea typeface="+mn-ea"/>
                <a:sym typeface="Symbol" panose="05050102010706020507" pitchFamily="18" charset="2"/>
              </a:rPr>
              <a:t>.</a:t>
            </a:r>
            <a:r>
              <a:rPr lang="zh-CN" altLang="en-US" sz="2000" dirty="0" smtClean="0">
                <a:latin typeface="+mn-ea"/>
                <a:ea typeface="+mn-ea"/>
                <a:sym typeface="Symbol" panose="05050102010706020507" pitchFamily="18" charset="2"/>
              </a:rPr>
              <a:t>，那么路径是一个回路。</a:t>
            </a:r>
            <a:endParaRPr lang="en-US" altLang="zh-CN" sz="2000" dirty="0" smtClean="0">
              <a:latin typeface="+mn-ea"/>
              <a:ea typeface="+mn-ea"/>
              <a:sym typeface="Symbol" panose="05050102010706020507" pitchFamily="18" charset="2"/>
            </a:endParaRPr>
          </a:p>
          <a:p>
            <a:pPr lvl="1" eaLnBrk="1" hangingPunct="1">
              <a:lnSpc>
                <a:spcPct val="90000"/>
              </a:lnSpc>
              <a:defRPr/>
            </a:pPr>
            <a:r>
              <a:rPr lang="zh-CN" altLang="en-US" sz="2000" dirty="0" smtClean="0">
                <a:latin typeface="+mn-ea"/>
                <a:ea typeface="+mn-ea"/>
                <a:sym typeface="Symbol" panose="05050102010706020507" pitchFamily="18" charset="2"/>
              </a:rPr>
              <a:t>奇数长度的回路，其边的数目是奇数，类似的方法可以定义偶数长度的回路。</a:t>
            </a:r>
            <a:endParaRPr lang="en-US" altLang="zh-CN" sz="2000" dirty="0" smtClean="0">
              <a:latin typeface="+mn-ea"/>
              <a:ea typeface="+mn-ea"/>
              <a:sym typeface="Symbol" panose="05050102010706020507" pitchFamily="18" charset="2"/>
            </a:endParaRPr>
          </a:p>
          <a:p>
            <a:pPr lvl="1" eaLnBrk="1" hangingPunct="1">
              <a:lnSpc>
                <a:spcPct val="90000"/>
              </a:lnSpc>
              <a:defRPr/>
            </a:pPr>
            <a:r>
              <a:rPr lang="zh-CN" altLang="en-US" sz="2000" dirty="0" smtClean="0">
                <a:latin typeface="+mn-ea"/>
                <a:ea typeface="+mn-ea"/>
                <a:sym typeface="Symbol" panose="05050102010706020507" pitchFamily="18" charset="2"/>
              </a:rPr>
              <a:t>没有回路的图称为</a:t>
            </a:r>
            <a:r>
              <a:rPr lang="zh-CN" altLang="en-US" sz="2000" dirty="0" smtClean="0">
                <a:solidFill>
                  <a:srgbClr val="FF0000"/>
                </a:solidFill>
                <a:latin typeface="+mn-ea"/>
                <a:ea typeface="+mn-ea"/>
                <a:sym typeface="Symbol" panose="05050102010706020507" pitchFamily="18" charset="2"/>
              </a:rPr>
              <a:t>无回路图</a:t>
            </a:r>
            <a:r>
              <a:rPr lang="zh-CN" altLang="en-US" sz="2000" dirty="0" smtClean="0">
                <a:latin typeface="+mn-ea"/>
                <a:ea typeface="+mn-ea"/>
                <a:sym typeface="Symbol" panose="05050102010706020507" pitchFamily="18" charset="2"/>
              </a:rPr>
              <a:t>。如果有一条路径从顶点</a:t>
            </a:r>
            <a:r>
              <a:rPr lang="en-US" altLang="zh-CN" sz="2000" dirty="0" smtClean="0">
                <a:latin typeface="+mn-ea"/>
                <a:ea typeface="+mn-ea"/>
                <a:sym typeface="Symbol" panose="05050102010706020507" pitchFamily="18" charset="2"/>
              </a:rPr>
              <a:t>u</a:t>
            </a:r>
            <a:r>
              <a:rPr lang="zh-CN" altLang="en-US" sz="2000" dirty="0" smtClean="0">
                <a:latin typeface="+mn-ea"/>
                <a:ea typeface="+mn-ea"/>
                <a:sym typeface="Symbol" panose="05050102010706020507" pitchFamily="18" charset="2"/>
              </a:rPr>
              <a:t>开始到顶点</a:t>
            </a:r>
            <a:r>
              <a:rPr lang="en-US" altLang="zh-CN" sz="2000" dirty="0" smtClean="0">
                <a:latin typeface="+mn-ea"/>
                <a:ea typeface="+mn-ea"/>
                <a:sym typeface="Symbol" panose="05050102010706020507" pitchFamily="18" charset="2"/>
              </a:rPr>
              <a:t>v</a:t>
            </a:r>
            <a:r>
              <a:rPr lang="zh-CN" altLang="en-US" sz="2000" dirty="0" smtClean="0">
                <a:latin typeface="+mn-ea"/>
                <a:ea typeface="+mn-ea"/>
                <a:sym typeface="Symbol" panose="05050102010706020507" pitchFamily="18" charset="2"/>
              </a:rPr>
              <a:t>结束，那么称顶点</a:t>
            </a:r>
            <a:r>
              <a:rPr lang="en-US" altLang="zh-CN" sz="2000" dirty="0" smtClean="0">
                <a:latin typeface="+mn-ea"/>
                <a:ea typeface="+mn-ea"/>
                <a:sym typeface="Symbol" panose="05050102010706020507" pitchFamily="18" charset="2"/>
              </a:rPr>
              <a:t>v</a:t>
            </a:r>
            <a:r>
              <a:rPr lang="zh-CN" altLang="en-US" sz="2000" dirty="0" smtClean="0">
                <a:latin typeface="+mn-ea"/>
                <a:ea typeface="+mn-ea"/>
                <a:sym typeface="Symbol" panose="05050102010706020507" pitchFamily="18" charset="2"/>
              </a:rPr>
              <a:t>从</a:t>
            </a:r>
            <a:r>
              <a:rPr lang="en-US" altLang="zh-CN" sz="2000" dirty="0" smtClean="0">
                <a:latin typeface="+mn-ea"/>
                <a:ea typeface="+mn-ea"/>
                <a:sym typeface="Symbol" panose="05050102010706020507" pitchFamily="18" charset="2"/>
              </a:rPr>
              <a:t>u</a:t>
            </a:r>
            <a:r>
              <a:rPr lang="zh-CN" altLang="en-US" sz="2000" dirty="0" smtClean="0">
                <a:latin typeface="+mn-ea"/>
                <a:ea typeface="+mn-ea"/>
                <a:sym typeface="Symbol" panose="05050102010706020507" pitchFamily="18" charset="2"/>
              </a:rPr>
              <a:t>出发是</a:t>
            </a:r>
            <a:r>
              <a:rPr lang="zh-CN" altLang="en-US" sz="2000" dirty="0" smtClean="0">
                <a:solidFill>
                  <a:srgbClr val="FF0000"/>
                </a:solidFill>
                <a:latin typeface="+mn-ea"/>
                <a:ea typeface="+mn-ea"/>
                <a:sym typeface="Symbol" panose="05050102010706020507" pitchFamily="18" charset="2"/>
              </a:rPr>
              <a:t>可达的</a:t>
            </a:r>
            <a:r>
              <a:rPr lang="zh-CN" altLang="en-US" sz="2000" dirty="0" smtClean="0">
                <a:latin typeface="+mn-ea"/>
                <a:ea typeface="+mn-ea"/>
                <a:sym typeface="Symbol" panose="05050102010706020507" pitchFamily="18" charset="2"/>
              </a:rPr>
              <a:t>。</a:t>
            </a:r>
            <a:endParaRPr lang="en-US" altLang="zh-CN" sz="2000" dirty="0" smtClean="0">
              <a:latin typeface="+mn-ea"/>
              <a:ea typeface="+mn-ea"/>
            </a:endParaRPr>
          </a:p>
        </p:txBody>
      </p:sp>
    </p:spTree>
  </p:cSld>
  <p:clrMapOvr>
    <a:masterClrMapping/>
  </p:clrMapOvr>
  <p:timing>
    <p:tnLst>
      <p:par>
        <p:cTn id="1" dur="indefinite" restart="never" nodeType="tmRoot"/>
      </p:par>
    </p:tnLst>
  </p:timing>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66563" name="Rectangle 2"/>
          <p:cNvSpPr>
            <a:spLocks noGrp="1" noChangeArrowheads="1"/>
          </p:cNvSpPr>
          <p:nvPr>
            <p:ph type="title"/>
          </p:nvPr>
        </p:nvSpPr>
        <p:spPr/>
        <p:txBody>
          <a:bodyPr/>
          <a:lstStyle/>
          <a:p>
            <a:pPr eaLnBrk="1" hangingPunct="1"/>
            <a:r>
              <a:rPr lang="en-US" altLang="zh-CN" dirty="0">
                <a:solidFill>
                  <a:srgbClr val="333399"/>
                </a:solidFill>
              </a:rPr>
              <a:t>1.4.</a:t>
            </a:r>
            <a:r>
              <a:rPr lang="en-US" altLang="zh-CN" dirty="0" smtClean="0"/>
              <a:t>5</a:t>
            </a:r>
            <a:r>
              <a:rPr lang="en-US" altLang="zh-CN" kern="0" dirty="0" smtClean="0"/>
              <a:t> </a:t>
            </a:r>
            <a:r>
              <a:rPr lang="zh-CN" altLang="en-US" kern="0" dirty="0" smtClean="0"/>
              <a:t>图</a:t>
            </a:r>
            <a:endParaRPr lang="en-US" altLang="zh-CN" dirty="0" smtClean="0"/>
          </a:p>
        </p:txBody>
      </p:sp>
      <p:sp>
        <p:nvSpPr>
          <p:cNvPr id="99331" name="Rectangle 3"/>
          <p:cNvSpPr>
            <a:spLocks noGrp="1" noChangeArrowheads="1"/>
          </p:cNvSpPr>
          <p:nvPr>
            <p:ph type="body" idx="1"/>
          </p:nvPr>
        </p:nvSpPr>
        <p:spPr/>
        <p:txBody>
          <a:bodyPr/>
          <a:lstStyle/>
          <a:p>
            <a:pPr eaLnBrk="1" hangingPunct="1">
              <a:defRPr/>
            </a:pPr>
            <a:r>
              <a:rPr lang="zh-CN" altLang="en-US" sz="2700" dirty="0" smtClean="0">
                <a:solidFill>
                  <a:srgbClr val="FF0000"/>
                </a:solidFill>
                <a:sym typeface="Symbol" panose="05050102010706020507" pitchFamily="18" charset="2"/>
              </a:rPr>
              <a:t>连通的</a:t>
            </a:r>
            <a:r>
              <a:rPr lang="en-US" altLang="zh-CN" sz="2700" dirty="0" smtClean="0">
                <a:sym typeface="Symbol" panose="05050102010706020507" pitchFamily="18" charset="2"/>
              </a:rPr>
              <a:t>:</a:t>
            </a:r>
            <a:endParaRPr lang="en-US" altLang="zh-CN" sz="2700" dirty="0" smtClean="0">
              <a:sym typeface="Symbol" panose="05050102010706020507" pitchFamily="18" charset="2"/>
            </a:endParaRPr>
          </a:p>
          <a:p>
            <a:pPr lvl="1" eaLnBrk="1" hangingPunct="1">
              <a:defRPr/>
            </a:pPr>
            <a:r>
              <a:rPr lang="zh-CN" altLang="en-US" sz="2300" dirty="0" smtClean="0">
                <a:latin typeface="+mn-ea"/>
                <a:ea typeface="+mn-ea"/>
                <a:sym typeface="Symbol" panose="05050102010706020507" pitchFamily="18" charset="2"/>
              </a:rPr>
              <a:t>在无向图中</a:t>
            </a:r>
            <a:r>
              <a:rPr lang="zh-CN" altLang="en-US" sz="2300" dirty="0" smtClean="0">
                <a:latin typeface="+mn-ea"/>
                <a:sym typeface="Symbol" panose="05050102010706020507" pitchFamily="18" charset="2"/>
              </a:rPr>
              <a:t>，</a:t>
            </a:r>
            <a:r>
              <a:rPr lang="zh-CN" altLang="en-US" sz="2300" dirty="0" smtClean="0">
                <a:latin typeface="+mn-ea"/>
                <a:ea typeface="+mn-ea"/>
                <a:sym typeface="Symbol" panose="05050102010706020507" pitchFamily="18" charset="2"/>
              </a:rPr>
              <a:t>如果每个顶点从其他每个顶点出发都是可到达的，那么这个无向图是连通的，否则就是不连通的。一个图的连通分支是图的</a:t>
            </a:r>
            <a:r>
              <a:rPr lang="zh-CN" altLang="en-US" sz="2300" dirty="0" smtClean="0">
                <a:solidFill>
                  <a:srgbClr val="FF0000"/>
                </a:solidFill>
                <a:latin typeface="+mn-ea"/>
                <a:ea typeface="+mn-ea"/>
                <a:sym typeface="Symbol" panose="05050102010706020507" pitchFamily="18" charset="2"/>
              </a:rPr>
              <a:t>最大连通子图</a:t>
            </a:r>
            <a:r>
              <a:rPr lang="zh-CN" altLang="en-US" sz="2300" dirty="0" smtClean="0">
                <a:latin typeface="+mn-ea"/>
                <a:ea typeface="+mn-ea"/>
                <a:sym typeface="Symbol" panose="05050102010706020507" pitchFamily="18" charset="2"/>
              </a:rPr>
              <a:t>。</a:t>
            </a:r>
            <a:endParaRPr lang="en-US" altLang="zh-CN" sz="2300" dirty="0" smtClean="0">
              <a:latin typeface="+mn-ea"/>
              <a:ea typeface="+mn-ea"/>
              <a:sym typeface="Symbol" panose="05050102010706020507" pitchFamily="18" charset="2"/>
            </a:endParaRPr>
          </a:p>
          <a:p>
            <a:pPr lvl="1" eaLnBrk="1" hangingPunct="1">
              <a:defRPr/>
            </a:pPr>
            <a:endParaRPr lang="en-US" altLang="zh-CN" sz="2300" dirty="0" smtClean="0">
              <a:latin typeface="+mn-ea"/>
              <a:ea typeface="+mn-ea"/>
              <a:sym typeface="Symbol" panose="05050102010706020507" pitchFamily="18" charset="2"/>
            </a:endParaRPr>
          </a:p>
          <a:p>
            <a:pPr lvl="1" eaLnBrk="1" hangingPunct="1">
              <a:defRPr/>
            </a:pPr>
            <a:r>
              <a:rPr lang="zh-CN" altLang="en-US" sz="2300" dirty="0" smtClean="0">
                <a:latin typeface="+mn-ea"/>
                <a:ea typeface="+mn-ea"/>
                <a:sym typeface="Symbol" panose="05050102010706020507" pitchFamily="18" charset="2"/>
              </a:rPr>
              <a:t>在有向图中，如果子图中每一对顶点</a:t>
            </a:r>
            <a:r>
              <a:rPr lang="en-US" altLang="zh-CN" sz="2300" dirty="0" smtClean="0">
                <a:latin typeface="+mn-ea"/>
                <a:ea typeface="+mn-ea"/>
                <a:sym typeface="Symbol" panose="05050102010706020507" pitchFamily="18" charset="2"/>
              </a:rPr>
              <a:t>u</a:t>
            </a:r>
            <a:r>
              <a:rPr lang="zh-CN" altLang="en-US" sz="2300" dirty="0" smtClean="0">
                <a:latin typeface="+mn-ea"/>
                <a:ea typeface="+mn-ea"/>
                <a:sym typeface="Symbol" panose="05050102010706020507" pitchFamily="18" charset="2"/>
              </a:rPr>
              <a:t>和</a:t>
            </a:r>
            <a:r>
              <a:rPr lang="en-US" altLang="zh-CN" sz="2300" dirty="0" smtClean="0">
                <a:latin typeface="+mn-ea"/>
                <a:ea typeface="+mn-ea"/>
                <a:sym typeface="Symbol" panose="05050102010706020507" pitchFamily="18" charset="2"/>
              </a:rPr>
              <a:t>v</a:t>
            </a:r>
            <a:r>
              <a:rPr lang="zh-CN" altLang="en-US" sz="2300" dirty="0" smtClean="0">
                <a:latin typeface="+mn-ea"/>
                <a:ea typeface="+mn-ea"/>
                <a:sym typeface="Symbol" panose="05050102010706020507" pitchFamily="18" charset="2"/>
              </a:rPr>
              <a:t>满足</a:t>
            </a:r>
            <a:r>
              <a:rPr lang="en-US" altLang="zh-CN" sz="2300" dirty="0" smtClean="0">
                <a:latin typeface="+mn-ea"/>
                <a:ea typeface="+mn-ea"/>
                <a:sym typeface="Symbol" panose="05050102010706020507" pitchFamily="18" charset="2"/>
              </a:rPr>
              <a:t>v</a:t>
            </a:r>
            <a:r>
              <a:rPr lang="zh-CN" altLang="en-US" sz="2300" dirty="0" smtClean="0">
                <a:latin typeface="+mn-ea"/>
                <a:ea typeface="+mn-ea"/>
                <a:sym typeface="Symbol" panose="05050102010706020507" pitchFamily="18" charset="2"/>
              </a:rPr>
              <a:t>是从</a:t>
            </a:r>
            <a:r>
              <a:rPr lang="en-US" altLang="zh-CN" sz="2300" dirty="0" smtClean="0">
                <a:latin typeface="+mn-ea"/>
                <a:ea typeface="+mn-ea"/>
                <a:sym typeface="Symbol" panose="05050102010706020507" pitchFamily="18" charset="2"/>
              </a:rPr>
              <a:t>u</a:t>
            </a:r>
            <a:r>
              <a:rPr lang="zh-CN" altLang="en-US" sz="2300" dirty="0" smtClean="0">
                <a:latin typeface="+mn-ea"/>
                <a:ea typeface="+mn-ea"/>
                <a:sym typeface="Symbol" panose="05050102010706020507" pitchFamily="18" charset="2"/>
              </a:rPr>
              <a:t>出发可到达的，同时，</a:t>
            </a:r>
            <a:r>
              <a:rPr lang="en-US" altLang="zh-CN" sz="2300" dirty="0" smtClean="0">
                <a:latin typeface="+mn-ea"/>
                <a:ea typeface="+mn-ea"/>
                <a:sym typeface="Symbol" panose="05050102010706020507" pitchFamily="18" charset="2"/>
              </a:rPr>
              <a:t>u</a:t>
            </a:r>
            <a:r>
              <a:rPr lang="zh-CN" altLang="en-US" sz="2300" dirty="0" smtClean="0">
                <a:latin typeface="+mn-ea"/>
                <a:ea typeface="+mn-ea"/>
                <a:sym typeface="Symbol" panose="05050102010706020507" pitchFamily="18" charset="2"/>
              </a:rPr>
              <a:t>也是从</a:t>
            </a:r>
            <a:r>
              <a:rPr lang="en-US" altLang="zh-CN" sz="2300" dirty="0" smtClean="0">
                <a:latin typeface="+mn-ea"/>
                <a:ea typeface="+mn-ea"/>
                <a:sym typeface="Symbol" panose="05050102010706020507" pitchFamily="18" charset="2"/>
              </a:rPr>
              <a:t>v</a:t>
            </a:r>
            <a:r>
              <a:rPr lang="zh-CN" altLang="en-US" sz="2300" dirty="0" smtClean="0">
                <a:latin typeface="+mn-ea"/>
                <a:ea typeface="+mn-ea"/>
                <a:sym typeface="Symbol" panose="05050102010706020507" pitchFamily="18" charset="2"/>
              </a:rPr>
              <a:t>出发可到达的，这个子图就称为</a:t>
            </a:r>
            <a:r>
              <a:rPr lang="zh-CN" altLang="en-US" sz="2300" dirty="0" smtClean="0">
                <a:solidFill>
                  <a:srgbClr val="FF0000"/>
                </a:solidFill>
                <a:latin typeface="+mn-ea"/>
                <a:ea typeface="+mn-ea"/>
                <a:sym typeface="Symbol" panose="05050102010706020507" pitchFamily="18" charset="2"/>
              </a:rPr>
              <a:t>强连通分支</a:t>
            </a:r>
            <a:r>
              <a:rPr lang="zh-CN" altLang="en-US" sz="2300" dirty="0" smtClean="0">
                <a:latin typeface="+mn-ea"/>
                <a:ea typeface="+mn-ea"/>
                <a:sym typeface="Symbol" panose="05050102010706020507" pitchFamily="18" charset="2"/>
              </a:rPr>
              <a:t>。</a:t>
            </a:r>
            <a:endParaRPr lang="en-US" altLang="zh-CN" dirty="0" smtClean="0">
              <a:latin typeface="+mn-ea"/>
              <a:ea typeface="+mn-ea"/>
            </a:endParaRPr>
          </a:p>
        </p:txBody>
      </p:sp>
    </p:spTree>
  </p:cSld>
  <p:clrMapOvr>
    <a:masterClrMapping/>
  </p:clrMapOvr>
  <p:timing>
    <p:tnLst>
      <p:par>
        <p:cTn id="1" dur="indefinite" restart="never" nodeType="tmRoot"/>
      </p:par>
    </p:tnLst>
  </p:timing>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67587" name="Rectangle 2"/>
          <p:cNvSpPr>
            <a:spLocks noGrp="1" noChangeArrowheads="1"/>
          </p:cNvSpPr>
          <p:nvPr>
            <p:ph type="title"/>
          </p:nvPr>
        </p:nvSpPr>
        <p:spPr/>
        <p:txBody>
          <a:bodyPr/>
          <a:lstStyle/>
          <a:p>
            <a:pPr eaLnBrk="1" hangingPunct="1"/>
            <a:r>
              <a:rPr lang="en-US" altLang="zh-CN" dirty="0">
                <a:solidFill>
                  <a:srgbClr val="333399"/>
                </a:solidFill>
              </a:rPr>
              <a:t>1.4.</a:t>
            </a:r>
            <a:r>
              <a:rPr lang="en-US" altLang="zh-CN" dirty="0" smtClean="0"/>
              <a:t>5</a:t>
            </a:r>
            <a:r>
              <a:rPr lang="en-US" altLang="zh-CN" kern="0" dirty="0" smtClean="0"/>
              <a:t> </a:t>
            </a:r>
            <a:r>
              <a:rPr lang="zh-CN" altLang="en-US" kern="0" dirty="0" smtClean="0"/>
              <a:t>图</a:t>
            </a:r>
            <a:endParaRPr lang="en-US" altLang="zh-CN" dirty="0" smtClean="0"/>
          </a:p>
        </p:txBody>
      </p:sp>
      <p:sp>
        <p:nvSpPr>
          <p:cNvPr id="100355" name="Rectangle 3"/>
          <p:cNvSpPr>
            <a:spLocks noGrp="1" noChangeArrowheads="1"/>
          </p:cNvSpPr>
          <p:nvPr>
            <p:ph type="body" idx="1"/>
          </p:nvPr>
        </p:nvSpPr>
        <p:spPr>
          <a:xfrm>
            <a:off x="900113" y="1125538"/>
            <a:ext cx="7786687" cy="4525962"/>
          </a:xfrm>
        </p:spPr>
        <p:txBody>
          <a:bodyPr/>
          <a:lstStyle/>
          <a:p>
            <a:pPr eaLnBrk="1" hangingPunct="1">
              <a:defRPr/>
            </a:pPr>
            <a:r>
              <a:rPr lang="zh-CN" altLang="en-US" sz="2800" dirty="0" smtClean="0">
                <a:solidFill>
                  <a:srgbClr val="FF0000"/>
                </a:solidFill>
                <a:sym typeface="Symbol" panose="05050102010706020507" pitchFamily="18" charset="2"/>
              </a:rPr>
              <a:t>完全图</a:t>
            </a:r>
            <a:r>
              <a:rPr lang="en-US" altLang="zh-CN" sz="2800" dirty="0" smtClean="0">
                <a:sym typeface="Symbol" panose="05050102010706020507" pitchFamily="18" charset="2"/>
              </a:rPr>
              <a:t>: </a:t>
            </a:r>
            <a:endParaRPr lang="en-US" altLang="zh-CN" sz="2800" dirty="0" smtClean="0">
              <a:sym typeface="Symbol" panose="05050102010706020507" pitchFamily="18" charset="2"/>
            </a:endParaRPr>
          </a:p>
          <a:p>
            <a:pPr lvl="1" eaLnBrk="1" hangingPunct="1">
              <a:defRPr/>
            </a:pPr>
            <a:r>
              <a:rPr lang="zh-CN" altLang="en-US" sz="2400" dirty="0" smtClean="0">
                <a:latin typeface="+mn-lt"/>
                <a:ea typeface="+mn-ea"/>
                <a:sym typeface="Symbol" panose="05050102010706020507" pitchFamily="18" charset="2"/>
              </a:rPr>
              <a:t>如果一个无向图的每一对顶点之间都恰有一条边，那么这个无向图就称为</a:t>
            </a:r>
            <a:r>
              <a:rPr lang="zh-CN" altLang="en-US" sz="2400" dirty="0" smtClean="0">
                <a:solidFill>
                  <a:srgbClr val="FF0000"/>
                </a:solidFill>
                <a:latin typeface="+mn-lt"/>
                <a:ea typeface="+mn-ea"/>
                <a:sym typeface="Symbol" panose="05050102010706020507" pitchFamily="18" charset="2"/>
              </a:rPr>
              <a:t>完全图</a:t>
            </a:r>
            <a:r>
              <a:rPr lang="zh-CN" altLang="en-US" sz="2400" dirty="0" smtClean="0">
                <a:latin typeface="+mn-lt"/>
                <a:ea typeface="+mn-ea"/>
                <a:sym typeface="Symbol" panose="05050102010706020507" pitchFamily="18" charset="2"/>
              </a:rPr>
              <a:t>。如果一个有向图的每个顶点到所有其他顶点之间都恰有一条边，那么这个有向图称为完全图。</a:t>
            </a:r>
            <a:endParaRPr lang="en-US" altLang="zh-CN" sz="2300" dirty="0" smtClean="0">
              <a:latin typeface="+mn-lt"/>
              <a:ea typeface="+mn-ea"/>
              <a:sym typeface="Symbol" panose="05050102010706020507" pitchFamily="18" charset="2"/>
            </a:endParaRPr>
          </a:p>
          <a:p>
            <a:pPr eaLnBrk="1" hangingPunct="1">
              <a:defRPr/>
            </a:pPr>
            <a:r>
              <a:rPr lang="zh-CN" altLang="en-US" sz="2700" dirty="0" smtClean="0">
                <a:solidFill>
                  <a:srgbClr val="FF0000"/>
                </a:solidFill>
                <a:sym typeface="Symbol" panose="05050102010706020507" pitchFamily="18" charset="2"/>
              </a:rPr>
              <a:t>二分图</a:t>
            </a:r>
            <a:r>
              <a:rPr lang="en-US" altLang="zh-CN" sz="2700" dirty="0" smtClean="0">
                <a:sym typeface="Symbol" panose="05050102010706020507" pitchFamily="18" charset="2"/>
              </a:rPr>
              <a:t>:</a:t>
            </a:r>
            <a:endParaRPr lang="en-US" altLang="zh-CN" sz="2700" dirty="0" smtClean="0">
              <a:sym typeface="Symbol" panose="05050102010706020507" pitchFamily="18" charset="2"/>
            </a:endParaRPr>
          </a:p>
          <a:p>
            <a:pPr lvl="1" eaLnBrk="1" hangingPunct="1">
              <a:defRPr/>
            </a:pPr>
            <a:r>
              <a:rPr lang="zh-CN" altLang="en-US" sz="2400" dirty="0" smtClean="0">
                <a:latin typeface="+mn-lt"/>
                <a:ea typeface="+mn-ea"/>
                <a:sym typeface="Symbol" panose="05050102010706020507" pitchFamily="18" charset="2"/>
              </a:rPr>
              <a:t>如果在无向图</a:t>
            </a:r>
            <a:r>
              <a:rPr lang="en-US" altLang="zh-CN" sz="2400" dirty="0" smtClean="0">
                <a:latin typeface="+mn-lt"/>
                <a:ea typeface="+mn-ea"/>
                <a:sym typeface="Symbol" panose="05050102010706020507" pitchFamily="18" charset="2"/>
              </a:rPr>
              <a:t>G=(V,E) </a:t>
            </a:r>
            <a:r>
              <a:rPr lang="zh-CN" altLang="en-US" sz="2400" dirty="0" smtClean="0">
                <a:latin typeface="+mn-lt"/>
                <a:ea typeface="+mn-ea"/>
                <a:sym typeface="Symbol" panose="05050102010706020507" pitchFamily="18" charset="2"/>
              </a:rPr>
              <a:t>中，</a:t>
            </a:r>
            <a:r>
              <a:rPr lang="en-US" altLang="zh-CN" sz="2300" dirty="0" smtClean="0">
                <a:latin typeface="+mn-lt"/>
                <a:ea typeface="+mn-ea"/>
                <a:sym typeface="Symbol" panose="05050102010706020507" pitchFamily="18" charset="2"/>
              </a:rPr>
              <a:t> V</a:t>
            </a:r>
            <a:r>
              <a:rPr lang="zh-CN" altLang="en-US" sz="2300" dirty="0" smtClean="0">
                <a:latin typeface="+mn-lt"/>
                <a:ea typeface="+mn-ea"/>
                <a:sym typeface="Symbol" panose="05050102010706020507" pitchFamily="18" charset="2"/>
              </a:rPr>
              <a:t>可以分成两个不相交的子集</a:t>
            </a:r>
            <a:r>
              <a:rPr lang="en-US" altLang="zh-CN" sz="2300" dirty="0" smtClean="0">
                <a:latin typeface="+mn-lt"/>
                <a:ea typeface="+mn-ea"/>
                <a:sym typeface="Symbol" panose="05050102010706020507" pitchFamily="18" charset="2"/>
              </a:rPr>
              <a:t> X </a:t>
            </a:r>
            <a:r>
              <a:rPr lang="zh-CN" altLang="en-US" sz="2300" dirty="0" smtClean="0">
                <a:latin typeface="+mn-lt"/>
                <a:ea typeface="+mn-ea"/>
                <a:sym typeface="Symbol" panose="05050102010706020507" pitchFamily="18" charset="2"/>
              </a:rPr>
              <a:t>和</a:t>
            </a:r>
            <a:r>
              <a:rPr lang="en-US" altLang="zh-CN" sz="2300" dirty="0" smtClean="0">
                <a:latin typeface="+mn-lt"/>
                <a:ea typeface="+mn-ea"/>
                <a:sym typeface="Symbol" panose="05050102010706020507" pitchFamily="18" charset="2"/>
              </a:rPr>
              <a:t>Y </a:t>
            </a:r>
            <a:r>
              <a:rPr lang="zh-CN" altLang="en-US" sz="2300" dirty="0" smtClean="0">
                <a:latin typeface="+mn-lt"/>
                <a:ea typeface="+mn-ea"/>
                <a:sym typeface="Symbol" panose="05050102010706020507" pitchFamily="18" charset="2"/>
              </a:rPr>
              <a:t>，使得</a:t>
            </a:r>
            <a:r>
              <a:rPr lang="en-US" altLang="zh-CN" sz="2300" dirty="0" smtClean="0">
                <a:latin typeface="+mn-lt"/>
                <a:ea typeface="+mn-ea"/>
                <a:sym typeface="Symbol" panose="05050102010706020507" pitchFamily="18" charset="2"/>
              </a:rPr>
              <a:t>E </a:t>
            </a:r>
            <a:r>
              <a:rPr lang="zh-CN" altLang="en-US" sz="2300" dirty="0" smtClean="0">
                <a:latin typeface="+mn-lt"/>
                <a:ea typeface="+mn-ea"/>
                <a:sym typeface="Symbol" panose="05050102010706020507" pitchFamily="18" charset="2"/>
              </a:rPr>
              <a:t>中的每一条边的一端在 </a:t>
            </a:r>
            <a:r>
              <a:rPr lang="en-US" altLang="zh-CN" sz="2300" dirty="0" smtClean="0">
                <a:latin typeface="+mn-lt"/>
                <a:ea typeface="+mn-ea"/>
                <a:sym typeface="Symbol" panose="05050102010706020507" pitchFamily="18" charset="2"/>
              </a:rPr>
              <a:t>X </a:t>
            </a:r>
            <a:r>
              <a:rPr lang="zh-CN" altLang="en-US" sz="2300" dirty="0" smtClean="0">
                <a:latin typeface="+mn-lt"/>
                <a:ea typeface="+mn-ea"/>
                <a:sym typeface="Symbol" panose="05050102010706020507" pitchFamily="18" charset="2"/>
              </a:rPr>
              <a:t>中而另一端在 </a:t>
            </a:r>
            <a:r>
              <a:rPr lang="en-US" altLang="zh-CN" sz="2300" dirty="0" smtClean="0">
                <a:latin typeface="+mn-lt"/>
                <a:ea typeface="+mn-ea"/>
                <a:sym typeface="Symbol" panose="05050102010706020507" pitchFamily="18" charset="2"/>
              </a:rPr>
              <a:t>Y </a:t>
            </a:r>
            <a:r>
              <a:rPr lang="zh-CN" altLang="en-US" sz="2300" dirty="0" smtClean="0">
                <a:latin typeface="+mn-lt"/>
                <a:ea typeface="+mn-ea"/>
                <a:sym typeface="Symbol" panose="05050102010706020507" pitchFamily="18" charset="2"/>
              </a:rPr>
              <a:t>中，则无向图称为二分图。如果在任意的顶点</a:t>
            </a:r>
            <a:r>
              <a:rPr lang="en-US" altLang="zh-CN" sz="2300" dirty="0" smtClean="0">
                <a:latin typeface="+mn-lt"/>
                <a:ea typeface="+mn-ea"/>
                <a:sym typeface="Symbol" panose="05050102010706020507" pitchFamily="18" charset="2"/>
              </a:rPr>
              <a:t> </a:t>
            </a:r>
            <a:r>
              <a:rPr lang="en-US" altLang="zh-CN" sz="2300" dirty="0" err="1" smtClean="0">
                <a:latin typeface="+mn-lt"/>
                <a:ea typeface="+mn-ea"/>
                <a:sym typeface="Symbol" panose="05050102010706020507" pitchFamily="18" charset="2"/>
              </a:rPr>
              <a:t>xX</a:t>
            </a:r>
            <a:r>
              <a:rPr lang="en-US" altLang="zh-CN" sz="2300" dirty="0" smtClean="0">
                <a:latin typeface="+mn-lt"/>
                <a:ea typeface="+mn-ea"/>
                <a:sym typeface="Symbol" panose="05050102010706020507" pitchFamily="18" charset="2"/>
              </a:rPr>
              <a:t> </a:t>
            </a:r>
            <a:r>
              <a:rPr lang="zh-CN" altLang="en-US" sz="2300" dirty="0" smtClean="0">
                <a:latin typeface="+mn-lt"/>
                <a:ea typeface="+mn-ea"/>
                <a:sym typeface="Symbol" panose="05050102010706020507" pitchFamily="18" charset="2"/>
              </a:rPr>
              <a:t>和</a:t>
            </a:r>
            <a:r>
              <a:rPr lang="en-US" altLang="zh-CN" sz="2300" dirty="0" err="1" smtClean="0">
                <a:latin typeface="+mn-lt"/>
                <a:ea typeface="+mn-ea"/>
                <a:sym typeface="Symbol" panose="05050102010706020507" pitchFamily="18" charset="2"/>
              </a:rPr>
              <a:t>yY</a:t>
            </a:r>
            <a:r>
              <a:rPr lang="zh-CN" altLang="en-US" sz="2300" dirty="0" smtClean="0">
                <a:latin typeface="+mn-lt"/>
                <a:ea typeface="+mn-ea"/>
                <a:sym typeface="Symbol" panose="05050102010706020507" pitchFamily="18" charset="2"/>
              </a:rPr>
              <a:t>之间都有一条边，它就称为</a:t>
            </a:r>
            <a:r>
              <a:rPr lang="zh-CN" altLang="en-US" sz="2300" dirty="0" smtClean="0">
                <a:solidFill>
                  <a:srgbClr val="FF0000"/>
                </a:solidFill>
                <a:latin typeface="+mn-lt"/>
                <a:ea typeface="+mn-ea"/>
                <a:sym typeface="Symbol" panose="05050102010706020507" pitchFamily="18" charset="2"/>
              </a:rPr>
              <a:t>完全二分图</a:t>
            </a:r>
            <a:r>
              <a:rPr lang="zh-CN" altLang="en-US" sz="2300" dirty="0" smtClean="0">
                <a:latin typeface="+mn-lt"/>
                <a:ea typeface="+mn-ea"/>
                <a:sym typeface="Symbol" panose="05050102010706020507" pitchFamily="18" charset="2"/>
              </a:rPr>
              <a:t>。</a:t>
            </a:r>
            <a:endParaRPr lang="en-US" altLang="zh-CN" sz="2300" dirty="0" smtClean="0">
              <a:latin typeface="+mn-lt"/>
              <a:ea typeface="+mn-ea"/>
              <a:sym typeface="Symbol" panose="05050102010706020507" pitchFamily="18" charset="2"/>
            </a:endParaRPr>
          </a:p>
        </p:txBody>
      </p:sp>
      <p:pic>
        <p:nvPicPr>
          <p:cNvPr id="67589" name="Picture 6" descr="二分图模型"/>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500063" y="3929063"/>
            <a:ext cx="1000125" cy="1895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590" name="Picture 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57813" y="214313"/>
            <a:ext cx="3248025" cy="143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68611" name="Rectangle 2"/>
          <p:cNvSpPr>
            <a:spLocks noGrp="1" noChangeArrowheads="1"/>
          </p:cNvSpPr>
          <p:nvPr>
            <p:ph type="title"/>
          </p:nvPr>
        </p:nvSpPr>
        <p:spPr/>
        <p:txBody>
          <a:bodyPr/>
          <a:lstStyle/>
          <a:p>
            <a:pPr eaLnBrk="1" hangingPunct="1"/>
            <a:r>
              <a:rPr lang="en-US" altLang="zh-CN" dirty="0">
                <a:solidFill>
                  <a:srgbClr val="333399"/>
                </a:solidFill>
              </a:rPr>
              <a:t>1.4.</a:t>
            </a:r>
            <a:r>
              <a:rPr lang="en-US" altLang="zh-CN" dirty="0" smtClean="0"/>
              <a:t>5</a:t>
            </a:r>
            <a:r>
              <a:rPr lang="en-US" altLang="zh-CN" kern="0" dirty="0" smtClean="0"/>
              <a:t> </a:t>
            </a:r>
            <a:r>
              <a:rPr lang="zh-CN" altLang="en-US" kern="0" dirty="0" smtClean="0"/>
              <a:t>图</a:t>
            </a:r>
            <a:r>
              <a:rPr lang="en-US" altLang="zh-CN" kern="0" dirty="0" smtClean="0"/>
              <a:t>——</a:t>
            </a:r>
            <a:r>
              <a:rPr lang="zh-CN" altLang="en-US" kern="0" dirty="0" smtClean="0"/>
              <a:t>表示方法</a:t>
            </a:r>
            <a:endParaRPr lang="en-US" altLang="zh-CN" dirty="0" smtClean="0"/>
          </a:p>
        </p:txBody>
      </p:sp>
      <p:sp>
        <p:nvSpPr>
          <p:cNvPr id="101379" name="Rectangle 3"/>
          <p:cNvSpPr>
            <a:spLocks noGrp="1" noChangeArrowheads="1"/>
          </p:cNvSpPr>
          <p:nvPr>
            <p:ph type="body" idx="1"/>
          </p:nvPr>
        </p:nvSpPr>
        <p:spPr/>
        <p:txBody>
          <a:bodyPr/>
          <a:lstStyle/>
          <a:p>
            <a:pPr eaLnBrk="1" hangingPunct="1">
              <a:defRPr/>
            </a:pPr>
            <a:r>
              <a:rPr lang="zh-CN" altLang="en-US" dirty="0" smtClean="0">
                <a:solidFill>
                  <a:srgbClr val="FF0000"/>
                </a:solidFill>
              </a:rPr>
              <a:t>邻接矩阵</a:t>
            </a:r>
            <a:r>
              <a:rPr lang="en-US" altLang="zh-CN" dirty="0" smtClean="0"/>
              <a:t>: </a:t>
            </a:r>
            <a:endParaRPr lang="en-US" altLang="zh-CN" dirty="0" smtClean="0"/>
          </a:p>
          <a:p>
            <a:pPr lvl="1" eaLnBrk="1" hangingPunct="1">
              <a:defRPr/>
            </a:pPr>
            <a:r>
              <a:rPr lang="zh-CN" altLang="en-US" dirty="0" smtClean="0">
                <a:latin typeface="+mn-lt"/>
                <a:ea typeface="+mn-ea"/>
              </a:rPr>
              <a:t>图</a:t>
            </a:r>
            <a:r>
              <a:rPr lang="en-US" altLang="zh-CN" dirty="0" smtClean="0">
                <a:latin typeface="+mn-lt"/>
                <a:ea typeface="+mn-ea"/>
              </a:rPr>
              <a:t>G=(V,E) </a:t>
            </a:r>
            <a:r>
              <a:rPr lang="zh-CN" altLang="en-US" dirty="0" smtClean="0">
                <a:latin typeface="+mn-lt"/>
                <a:ea typeface="+mn-ea"/>
              </a:rPr>
              <a:t>可以用一个布尔矩阵</a:t>
            </a:r>
            <a:r>
              <a:rPr lang="en-US" altLang="zh-CN" dirty="0" smtClean="0">
                <a:latin typeface="+mn-lt"/>
                <a:ea typeface="+mn-ea"/>
              </a:rPr>
              <a:t>M</a:t>
            </a:r>
            <a:r>
              <a:rPr lang="zh-CN" altLang="en-US" dirty="0" smtClean="0">
                <a:latin typeface="+mn-lt"/>
                <a:ea typeface="+mn-ea"/>
              </a:rPr>
              <a:t>方便的表示</a:t>
            </a:r>
            <a:r>
              <a:rPr lang="en-US" altLang="zh-CN" dirty="0" smtClean="0">
                <a:latin typeface="+mn-lt"/>
                <a:ea typeface="+mn-ea"/>
              </a:rPr>
              <a:t>, </a:t>
            </a:r>
            <a:r>
              <a:rPr lang="zh-CN" altLang="en-US" dirty="0" smtClean="0">
                <a:latin typeface="+mn-lt"/>
                <a:ea typeface="+mn-ea"/>
              </a:rPr>
              <a:t>它是这样定义的，当且仅当</a:t>
            </a:r>
            <a:r>
              <a:rPr lang="en-US" altLang="zh-CN" dirty="0" smtClean="0">
                <a:latin typeface="+mn-lt"/>
                <a:ea typeface="+mn-ea"/>
              </a:rPr>
              <a:t> (</a:t>
            </a:r>
            <a:r>
              <a:rPr lang="en-US" altLang="zh-CN" dirty="0" err="1" smtClean="0">
                <a:latin typeface="+mn-lt"/>
                <a:ea typeface="+mn-ea"/>
              </a:rPr>
              <a:t>v</a:t>
            </a:r>
            <a:r>
              <a:rPr lang="en-US" altLang="zh-CN" baseline="-25000" dirty="0" err="1" smtClean="0">
                <a:latin typeface="+mn-lt"/>
                <a:ea typeface="+mn-ea"/>
              </a:rPr>
              <a:t>i</a:t>
            </a:r>
            <a:r>
              <a:rPr lang="en-US" altLang="zh-CN" dirty="0" err="1" smtClean="0">
                <a:latin typeface="+mn-lt"/>
                <a:ea typeface="+mn-ea"/>
              </a:rPr>
              <a:t>,v</a:t>
            </a:r>
            <a:r>
              <a:rPr lang="en-US" altLang="zh-CN" baseline="-25000" dirty="0" err="1" smtClean="0">
                <a:latin typeface="+mn-lt"/>
                <a:ea typeface="+mn-ea"/>
              </a:rPr>
              <a:t>j</a:t>
            </a:r>
            <a:r>
              <a:rPr lang="en-US" altLang="zh-CN" dirty="0" smtClean="0">
                <a:latin typeface="+mn-lt"/>
                <a:ea typeface="+mn-ea"/>
              </a:rPr>
              <a:t>) </a:t>
            </a:r>
            <a:r>
              <a:rPr lang="zh-CN" altLang="en-US" dirty="0" smtClean="0">
                <a:latin typeface="+mn-lt"/>
                <a:ea typeface="+mn-ea"/>
              </a:rPr>
              <a:t>是</a:t>
            </a:r>
            <a:r>
              <a:rPr lang="en-US" altLang="zh-CN" dirty="0" smtClean="0">
                <a:latin typeface="+mn-lt"/>
                <a:ea typeface="+mn-ea"/>
              </a:rPr>
              <a:t>G</a:t>
            </a:r>
            <a:r>
              <a:rPr lang="zh-CN" altLang="en-US" dirty="0" smtClean="0">
                <a:latin typeface="+mn-lt"/>
                <a:ea typeface="+mn-ea"/>
              </a:rPr>
              <a:t>中的一条边时，</a:t>
            </a:r>
            <a:r>
              <a:rPr lang="en-US" altLang="zh-CN" dirty="0" smtClean="0">
                <a:latin typeface="+mn-lt"/>
                <a:ea typeface="+mn-ea"/>
              </a:rPr>
              <a:t>M[</a:t>
            </a:r>
            <a:r>
              <a:rPr lang="en-US" altLang="zh-CN" dirty="0" err="1" smtClean="0">
                <a:latin typeface="+mn-lt"/>
                <a:ea typeface="+mn-ea"/>
              </a:rPr>
              <a:t>i,j</a:t>
            </a:r>
            <a:r>
              <a:rPr lang="en-US" altLang="zh-CN" dirty="0" smtClean="0">
                <a:latin typeface="+mn-lt"/>
                <a:ea typeface="+mn-ea"/>
              </a:rPr>
              <a:t>]=1</a:t>
            </a:r>
            <a:r>
              <a:rPr lang="zh-CN" altLang="en-US" dirty="0" smtClean="0">
                <a:latin typeface="+mn-lt"/>
                <a:ea typeface="+mn-ea"/>
              </a:rPr>
              <a:t>，矩阵</a:t>
            </a:r>
            <a:r>
              <a:rPr lang="en-US" altLang="zh-CN" dirty="0" smtClean="0">
                <a:latin typeface="+mn-lt"/>
                <a:ea typeface="+mn-ea"/>
              </a:rPr>
              <a:t>M</a:t>
            </a:r>
            <a:r>
              <a:rPr lang="zh-CN" altLang="en-US" dirty="0" smtClean="0">
                <a:latin typeface="+mn-lt"/>
                <a:ea typeface="+mn-ea"/>
              </a:rPr>
              <a:t>称为</a:t>
            </a:r>
            <a:r>
              <a:rPr lang="en-US" altLang="zh-CN" dirty="0" smtClean="0">
                <a:latin typeface="+mn-lt"/>
                <a:ea typeface="+mn-ea"/>
              </a:rPr>
              <a:t>G</a:t>
            </a:r>
            <a:r>
              <a:rPr lang="zh-CN" altLang="en-US" dirty="0" smtClean="0">
                <a:latin typeface="+mn-lt"/>
                <a:ea typeface="+mn-ea"/>
              </a:rPr>
              <a:t>的邻接矩阵。有</a:t>
            </a:r>
            <a:r>
              <a:rPr lang="en-US" altLang="zh-CN" dirty="0" smtClean="0">
                <a:latin typeface="+mn-lt"/>
                <a:ea typeface="+mn-ea"/>
              </a:rPr>
              <a:t>n</a:t>
            </a:r>
            <a:r>
              <a:rPr lang="zh-CN" altLang="en-US" dirty="0" smtClean="0">
                <a:latin typeface="+mn-lt"/>
                <a:ea typeface="+mn-ea"/>
              </a:rPr>
              <a:t>个顶点的图的邻接矩阵有</a:t>
            </a:r>
            <a:r>
              <a:rPr lang="en-US" altLang="zh-CN" dirty="0" smtClean="0">
                <a:latin typeface="+mn-lt"/>
                <a:ea typeface="+mn-ea"/>
              </a:rPr>
              <a:t> n</a:t>
            </a:r>
            <a:r>
              <a:rPr lang="en-US" altLang="zh-CN" baseline="30000" dirty="0" smtClean="0">
                <a:latin typeface="+mn-lt"/>
                <a:ea typeface="+mn-ea"/>
              </a:rPr>
              <a:t>2</a:t>
            </a:r>
            <a:r>
              <a:rPr lang="en-US" altLang="zh-CN" dirty="0" smtClean="0">
                <a:latin typeface="+mn-lt"/>
                <a:ea typeface="+mn-ea"/>
              </a:rPr>
              <a:t> </a:t>
            </a:r>
            <a:r>
              <a:rPr lang="zh-CN" altLang="en-US" dirty="0" smtClean="0">
                <a:latin typeface="+mn-lt"/>
                <a:ea typeface="+mn-ea"/>
              </a:rPr>
              <a:t>项。</a:t>
            </a:r>
            <a:endParaRPr lang="en-US" altLang="zh-CN" dirty="0" smtClean="0">
              <a:latin typeface="+mn-lt"/>
              <a:ea typeface="+mn-ea"/>
            </a:endParaRPr>
          </a:p>
          <a:p>
            <a:pPr eaLnBrk="1" hangingPunct="1">
              <a:defRPr/>
            </a:pPr>
            <a:r>
              <a:rPr lang="zh-CN" altLang="en-US" dirty="0" smtClean="0">
                <a:solidFill>
                  <a:srgbClr val="FF0000"/>
                </a:solidFill>
              </a:rPr>
              <a:t>邻接表</a:t>
            </a:r>
            <a:r>
              <a:rPr lang="en-US" altLang="zh-CN" dirty="0" smtClean="0"/>
              <a:t>: </a:t>
            </a:r>
            <a:endParaRPr lang="en-US" altLang="zh-CN" dirty="0" smtClean="0"/>
          </a:p>
          <a:p>
            <a:pPr lvl="1" eaLnBrk="1" hangingPunct="1">
              <a:defRPr/>
            </a:pPr>
            <a:r>
              <a:rPr lang="zh-CN" altLang="en-US" dirty="0" smtClean="0">
                <a:latin typeface="+mn-lt"/>
                <a:ea typeface="+mn-ea"/>
              </a:rPr>
              <a:t>图的另一种表示法是邻接表表示法。一个顶点的所有邻接顶点用一个链表来表示，共有</a:t>
            </a:r>
            <a:r>
              <a:rPr lang="en-US" altLang="zh-CN" dirty="0" smtClean="0">
                <a:latin typeface="+mn-lt"/>
                <a:ea typeface="+mn-ea"/>
              </a:rPr>
              <a:t> |V| </a:t>
            </a:r>
            <a:r>
              <a:rPr lang="zh-CN" altLang="en-US" dirty="0" smtClean="0">
                <a:latin typeface="+mn-lt"/>
                <a:ea typeface="+mn-ea"/>
              </a:rPr>
              <a:t>个这样的表。邻接表要花费 </a:t>
            </a:r>
            <a:r>
              <a:rPr lang="en-US" altLang="zh-CN" dirty="0" smtClean="0">
                <a:latin typeface="+mn-lt"/>
                <a:ea typeface="+mn-ea"/>
                <a:sym typeface="Symbol" panose="05050102010706020507" pitchFamily="18" charset="2"/>
              </a:rPr>
              <a:t>(</a:t>
            </a:r>
            <a:r>
              <a:rPr lang="en-US" altLang="zh-CN" dirty="0" err="1" smtClean="0">
                <a:latin typeface="+mn-lt"/>
                <a:ea typeface="+mn-ea"/>
                <a:sym typeface="Symbol" panose="05050102010706020507" pitchFamily="18" charset="2"/>
              </a:rPr>
              <a:t>m+n</a:t>
            </a:r>
            <a:r>
              <a:rPr lang="en-US" altLang="zh-CN" dirty="0" smtClean="0">
                <a:latin typeface="+mn-lt"/>
                <a:ea typeface="+mn-ea"/>
                <a:sym typeface="Symbol" panose="05050102010706020507" pitchFamily="18" charset="2"/>
              </a:rPr>
              <a:t>) </a:t>
            </a:r>
            <a:r>
              <a:rPr lang="zh-CN" altLang="en-US" dirty="0" smtClean="0">
                <a:latin typeface="+mn-lt"/>
                <a:ea typeface="+mn-ea"/>
                <a:sym typeface="Symbol" panose="05050102010706020507" pitchFamily="18" charset="2"/>
              </a:rPr>
              <a:t>空间来表示有 </a:t>
            </a:r>
            <a:r>
              <a:rPr lang="en-US" altLang="zh-CN" dirty="0" smtClean="0">
                <a:latin typeface="+mn-lt"/>
                <a:ea typeface="+mn-ea"/>
                <a:sym typeface="Symbol" panose="05050102010706020507" pitchFamily="18" charset="2"/>
              </a:rPr>
              <a:t>n </a:t>
            </a:r>
            <a:r>
              <a:rPr lang="zh-CN" altLang="en-US" dirty="0" smtClean="0">
                <a:latin typeface="+mn-lt"/>
                <a:ea typeface="+mn-ea"/>
                <a:sym typeface="Symbol" panose="05050102010706020507" pitchFamily="18" charset="2"/>
              </a:rPr>
              <a:t>个顶点和</a:t>
            </a:r>
            <a:r>
              <a:rPr lang="en-US" altLang="zh-CN" dirty="0" smtClean="0">
                <a:latin typeface="+mn-lt"/>
                <a:ea typeface="+mn-ea"/>
                <a:sym typeface="Symbol" panose="05050102010706020507" pitchFamily="18" charset="2"/>
              </a:rPr>
              <a:t>m</a:t>
            </a:r>
            <a:r>
              <a:rPr lang="zh-CN" altLang="en-US" dirty="0" smtClean="0">
                <a:latin typeface="+mn-lt"/>
                <a:ea typeface="+mn-ea"/>
                <a:sym typeface="Symbol" panose="05050102010706020507" pitchFamily="18" charset="2"/>
              </a:rPr>
              <a:t>条边的图。</a:t>
            </a:r>
            <a:endParaRPr lang="en-US" altLang="zh-CN" dirty="0" smtClean="0">
              <a:latin typeface="+mn-lt"/>
              <a:ea typeface="+mn-ea"/>
            </a:endParaRPr>
          </a:p>
        </p:txBody>
      </p:sp>
    </p:spTree>
  </p:cSld>
  <p:clrMapOvr>
    <a:masterClrMapping/>
  </p:clrMapOvr>
  <p:timing>
    <p:tnLst>
      <p:par>
        <p:cTn id="1" dur="indefinite" restart="never" nodeType="tmRoot"/>
      </p:par>
    </p:tnLst>
  </p:timing>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Rectangle 2"/>
          <p:cNvSpPr>
            <a:spLocks noGrp="1" noChangeArrowheads="1"/>
          </p:cNvSpPr>
          <p:nvPr>
            <p:ph type="title"/>
          </p:nvPr>
        </p:nvSpPr>
        <p:spPr/>
        <p:txBody>
          <a:bodyPr/>
          <a:lstStyle/>
          <a:p>
            <a:pPr>
              <a:buClr>
                <a:schemeClr val="hlink"/>
              </a:buClr>
              <a:buSzPct val="50000"/>
              <a:buFont typeface="Monotype Sorts"/>
              <a:buNone/>
            </a:pPr>
            <a:r>
              <a:rPr lang="en-US" altLang="zh-CN" dirty="0">
                <a:solidFill>
                  <a:srgbClr val="333399"/>
                </a:solidFill>
              </a:rPr>
              <a:t>1.4.</a:t>
            </a:r>
            <a:r>
              <a:rPr lang="en-US" altLang="zh-CN" dirty="0" smtClean="0"/>
              <a:t>5</a:t>
            </a:r>
            <a:r>
              <a:rPr lang="en-US" altLang="zh-CN" kern="0" dirty="0" smtClean="0"/>
              <a:t> </a:t>
            </a:r>
            <a:r>
              <a:rPr lang="zh-CN" altLang="en-US" kern="0" dirty="0" smtClean="0"/>
              <a:t>图</a:t>
            </a:r>
            <a:r>
              <a:rPr lang="en-US" altLang="zh-CN" kern="0" dirty="0" smtClean="0"/>
              <a:t>——</a:t>
            </a:r>
            <a:r>
              <a:rPr lang="zh-CN" altLang="en-US" dirty="0" smtClean="0"/>
              <a:t>邻接矩阵</a:t>
            </a:r>
            <a:endParaRPr lang="zh-CN" altLang="en-US" dirty="0" smtClean="0"/>
          </a:p>
        </p:txBody>
      </p:sp>
      <p:sp>
        <p:nvSpPr>
          <p:cNvPr id="15364" name="Rectangle 3"/>
          <p:cNvSpPr>
            <a:spLocks noGrp="1" noChangeArrowheads="1"/>
          </p:cNvSpPr>
          <p:nvPr>
            <p:ph type="body" idx="1"/>
          </p:nvPr>
        </p:nvSpPr>
        <p:spPr/>
        <p:txBody>
          <a:bodyPr/>
          <a:lstStyle/>
          <a:p>
            <a:r>
              <a:rPr lang="zh-CN" altLang="en-US" sz="2800" smtClean="0">
                <a:solidFill>
                  <a:srgbClr val="FF0000"/>
                </a:solidFill>
              </a:rPr>
              <a:t>邻接矩阵</a:t>
            </a:r>
            <a:r>
              <a:rPr lang="zh-CN" altLang="en-US" sz="2800" smtClean="0"/>
              <a:t>：表示顶点之间相邻关系的矩阵。所谓两顶点的相邻关系即它们之间有边相连。</a:t>
            </a:r>
            <a:endParaRPr lang="zh-CN" altLang="en-US" sz="2800" smtClean="0"/>
          </a:p>
          <a:p>
            <a:r>
              <a:rPr lang="zh-CN" altLang="en-US" sz="2800" smtClean="0">
                <a:solidFill>
                  <a:srgbClr val="FF0000"/>
                </a:solidFill>
              </a:rPr>
              <a:t>邻接矩阵</a:t>
            </a:r>
            <a:r>
              <a:rPr lang="zh-CN" altLang="en-US" sz="2800" smtClean="0"/>
              <a:t>是一个（</a:t>
            </a:r>
            <a:r>
              <a:rPr lang="en-US" altLang="zh-CN" sz="2800" smtClean="0"/>
              <a:t>n×n</a:t>
            </a:r>
            <a:r>
              <a:rPr lang="zh-CN" altLang="en-US" sz="2800" smtClean="0"/>
              <a:t>）阶方阵，</a:t>
            </a:r>
            <a:r>
              <a:rPr lang="en-US" altLang="zh-CN" sz="2800" smtClean="0"/>
              <a:t>n</a:t>
            </a:r>
            <a:r>
              <a:rPr lang="zh-CN" altLang="en-US" sz="2800" smtClean="0"/>
              <a:t>为图的顶点数，它的每一行分别对应图的各个顶点，它的每一列也分别对应图的各个顶点。我们规定矩阵的元素为：</a:t>
            </a:r>
            <a:endParaRPr lang="zh-CN" altLang="en-US" sz="2800" smtClean="0"/>
          </a:p>
        </p:txBody>
      </p:sp>
      <p:graphicFrame>
        <p:nvGraphicFramePr>
          <p:cNvPr id="15362" name="Object 2"/>
          <p:cNvGraphicFramePr>
            <a:graphicFrameLocks noChangeAspect="1"/>
          </p:cNvGraphicFramePr>
          <p:nvPr/>
        </p:nvGraphicFramePr>
        <p:xfrm>
          <a:off x="0" y="4143375"/>
          <a:ext cx="9144000" cy="990600"/>
        </p:xfrm>
        <a:graphic>
          <a:graphicData uri="http://schemas.openxmlformats.org/presentationml/2006/ole">
            <mc:AlternateContent xmlns:mc="http://schemas.openxmlformats.org/markup-compatibility/2006">
              <mc:Choice xmlns:v="urn:schemas-microsoft-com:vml" Requires="v">
                <p:oleObj spid="_x0000_s36874" name="Equation" r:id="rId1" imgW="4448175" imgH="476250" progId="Equation.3">
                  <p:embed/>
                </p:oleObj>
              </mc:Choice>
              <mc:Fallback>
                <p:oleObj name="Equation" r:id="rId1" imgW="4448175" imgH="476250" progId="Equation.3">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4143375"/>
                        <a:ext cx="9144000" cy="990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5365"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Tree>
  </p:cSld>
  <p:clrMapOvr>
    <a:masterClrMapping/>
  </p:clrMapOvr>
  <p:timing>
    <p:tnLst>
      <p:par>
        <p:cTn id="1" dur="indefinite" restart="never" nodeType="tmRoot"/>
      </p:par>
    </p:tnLst>
  </p:timing>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8" name="Rectangle 2"/>
          <p:cNvSpPr>
            <a:spLocks noGrp="1" noChangeArrowheads="1"/>
          </p:cNvSpPr>
          <p:nvPr>
            <p:ph type="title"/>
          </p:nvPr>
        </p:nvSpPr>
        <p:spPr>
          <a:xfrm>
            <a:off x="685800" y="457200"/>
            <a:ext cx="7772400" cy="685800"/>
          </a:xfrm>
        </p:spPr>
        <p:txBody>
          <a:bodyPr/>
          <a:lstStyle/>
          <a:p>
            <a:r>
              <a:rPr lang="en-US" altLang="zh-CN" dirty="0" smtClean="0"/>
              <a:t> </a:t>
            </a:r>
            <a:r>
              <a:rPr lang="en-US" altLang="zh-CN" dirty="0">
                <a:solidFill>
                  <a:srgbClr val="333399"/>
                </a:solidFill>
              </a:rPr>
              <a:t>1.4.</a:t>
            </a:r>
            <a:r>
              <a:rPr lang="en-US" altLang="zh-CN" dirty="0" smtClean="0"/>
              <a:t>5</a:t>
            </a:r>
            <a:r>
              <a:rPr lang="en-US" altLang="zh-CN" kern="0" dirty="0" smtClean="0"/>
              <a:t> </a:t>
            </a:r>
            <a:r>
              <a:rPr lang="zh-CN" altLang="en-US" kern="0" dirty="0" smtClean="0"/>
              <a:t>图</a:t>
            </a:r>
            <a:r>
              <a:rPr lang="en-US" altLang="zh-CN" kern="0" dirty="0" smtClean="0"/>
              <a:t>——</a:t>
            </a:r>
            <a:r>
              <a:rPr lang="zh-CN" altLang="en-US" dirty="0" smtClean="0"/>
              <a:t>无向图的邻接矩阵</a:t>
            </a:r>
            <a:endParaRPr lang="zh-CN" altLang="en-US" dirty="0" smtClean="0"/>
          </a:p>
        </p:txBody>
      </p:sp>
      <p:graphicFrame>
        <p:nvGraphicFramePr>
          <p:cNvPr id="16386" name="Object 2"/>
          <p:cNvGraphicFramePr>
            <a:graphicFrameLocks noChangeAspect="1"/>
          </p:cNvGraphicFramePr>
          <p:nvPr/>
        </p:nvGraphicFramePr>
        <p:xfrm>
          <a:off x="533400" y="1676400"/>
          <a:ext cx="3276600" cy="4191000"/>
        </p:xfrm>
        <a:graphic>
          <a:graphicData uri="http://schemas.openxmlformats.org/presentationml/2006/ole">
            <mc:AlternateContent xmlns:mc="http://schemas.openxmlformats.org/markup-compatibility/2006">
              <mc:Choice xmlns:v="urn:schemas-microsoft-com:vml" Requires="v">
                <p:oleObj spid="_x0000_s37906" name="Picture2" r:id="rId1" imgW="942975" imgH="1352550" progId="Word.Picture.8">
                  <p:embed/>
                </p:oleObj>
              </mc:Choice>
              <mc:Fallback>
                <p:oleObj name="Picture2" r:id="rId1" imgW="942975" imgH="1352550" progId="Word.Picture.8">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3400" y="1676400"/>
                        <a:ext cx="3276600" cy="4191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6387" name="Object 3"/>
          <p:cNvGraphicFramePr>
            <a:graphicFrameLocks noChangeAspect="1"/>
          </p:cNvGraphicFramePr>
          <p:nvPr/>
        </p:nvGraphicFramePr>
        <p:xfrm>
          <a:off x="4038600" y="1752600"/>
          <a:ext cx="4724400" cy="3962400"/>
        </p:xfrm>
        <a:graphic>
          <a:graphicData uri="http://schemas.openxmlformats.org/presentationml/2006/ole">
            <mc:AlternateContent xmlns:mc="http://schemas.openxmlformats.org/markup-compatibility/2006">
              <mc:Choice xmlns:v="urn:schemas-microsoft-com:vml" Requires="v">
                <p:oleObj spid="_x0000_s37907" name="Picture2" r:id="rId3" imgW="1285875" imgH="1085850" progId="Word.Picture.8">
                  <p:embed/>
                </p:oleObj>
              </mc:Choice>
              <mc:Fallback>
                <p:oleObj name="Picture2" r:id="rId3" imgW="1285875" imgH="1085850" progId="Word.Picture.8">
                  <p:embed/>
                  <p:pic>
                    <p:nvPicPr>
                      <p:cNvPr id="0" name="Object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38600" y="1752600"/>
                        <a:ext cx="4724400" cy="39624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389"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Tree>
  </p:cSld>
  <p:clrMapOvr>
    <a:masterClrMapping/>
  </p:clrMapOvr>
  <p:transition>
    <p:strips dir="ld"/>
  </p:transition>
  <p:timing>
    <p:tnLst>
      <p:par>
        <p:cTn id="1" dur="indefinite" restart="never" nodeType="tmRoot"/>
      </p:par>
    </p:tnLst>
  </p:timing>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2" name="Rectangle 2"/>
          <p:cNvSpPr>
            <a:spLocks noGrp="1" noChangeArrowheads="1"/>
          </p:cNvSpPr>
          <p:nvPr>
            <p:ph type="title"/>
          </p:nvPr>
        </p:nvSpPr>
        <p:spPr/>
        <p:txBody>
          <a:bodyPr/>
          <a:lstStyle/>
          <a:p>
            <a:r>
              <a:rPr lang="en-US" altLang="zh-CN" dirty="0" smtClean="0"/>
              <a:t> </a:t>
            </a:r>
            <a:r>
              <a:rPr lang="en-US" altLang="zh-CN" dirty="0">
                <a:solidFill>
                  <a:srgbClr val="333399"/>
                </a:solidFill>
              </a:rPr>
              <a:t>1.4.</a:t>
            </a:r>
            <a:r>
              <a:rPr lang="en-US" altLang="zh-CN" dirty="0" smtClean="0"/>
              <a:t>5</a:t>
            </a:r>
            <a:r>
              <a:rPr lang="en-US" altLang="zh-CN" kern="0" dirty="0" smtClean="0"/>
              <a:t> </a:t>
            </a:r>
            <a:r>
              <a:rPr lang="zh-CN" altLang="en-US" kern="0" dirty="0" smtClean="0"/>
              <a:t>图</a:t>
            </a:r>
            <a:r>
              <a:rPr lang="en-US" altLang="zh-CN" kern="0" dirty="0" smtClean="0"/>
              <a:t>——</a:t>
            </a:r>
            <a:r>
              <a:rPr lang="zh-CN" altLang="en-US" dirty="0" smtClean="0"/>
              <a:t>有向图的邻接矩阵</a:t>
            </a:r>
            <a:endParaRPr lang="zh-CN" altLang="en-US" dirty="0" smtClean="0"/>
          </a:p>
        </p:txBody>
      </p:sp>
      <p:graphicFrame>
        <p:nvGraphicFramePr>
          <p:cNvPr id="17410" name="Object 2"/>
          <p:cNvGraphicFramePr>
            <a:graphicFrameLocks noChangeAspect="1"/>
          </p:cNvGraphicFramePr>
          <p:nvPr/>
        </p:nvGraphicFramePr>
        <p:xfrm>
          <a:off x="685800" y="1905000"/>
          <a:ext cx="3505200" cy="4419600"/>
        </p:xfrm>
        <a:graphic>
          <a:graphicData uri="http://schemas.openxmlformats.org/presentationml/2006/ole">
            <mc:AlternateContent xmlns:mc="http://schemas.openxmlformats.org/markup-compatibility/2006">
              <mc:Choice xmlns:v="urn:schemas-microsoft-com:vml" Requires="v">
                <p:oleObj spid="_x0000_s38930" name="Picture2" r:id="rId1" imgW="1076325" imgH="1371600" progId="Word.Picture.8">
                  <p:embed/>
                </p:oleObj>
              </mc:Choice>
              <mc:Fallback>
                <p:oleObj name="Picture2" r:id="rId1" imgW="1076325" imgH="1371600" progId="Word.Picture.8">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5800" y="1905000"/>
                        <a:ext cx="3505200" cy="4419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7411" name="Object 3"/>
          <p:cNvGraphicFramePr>
            <a:graphicFrameLocks noChangeAspect="1"/>
          </p:cNvGraphicFramePr>
          <p:nvPr/>
        </p:nvGraphicFramePr>
        <p:xfrm>
          <a:off x="4572000" y="1905000"/>
          <a:ext cx="4114800" cy="3962400"/>
        </p:xfrm>
        <a:graphic>
          <a:graphicData uri="http://schemas.openxmlformats.org/presentationml/2006/ole">
            <mc:AlternateContent xmlns:mc="http://schemas.openxmlformats.org/markup-compatibility/2006">
              <mc:Choice xmlns:v="urn:schemas-microsoft-com:vml" Requires="v">
                <p:oleObj spid="_x0000_s38931" name="Picture2" r:id="rId3" imgW="1133475" imgH="866775" progId="Word.Picture.8">
                  <p:embed/>
                </p:oleObj>
              </mc:Choice>
              <mc:Fallback>
                <p:oleObj name="Picture2" r:id="rId3" imgW="1133475" imgH="866775" progId="Word.Picture.8">
                  <p:embed/>
                  <p:pic>
                    <p:nvPicPr>
                      <p:cNvPr id="0" name="Object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2000" y="1905000"/>
                        <a:ext cx="4114800" cy="39624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7413"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Tree>
  </p:cSld>
  <p:clrMapOvr>
    <a:masterClrMapping/>
  </p:clrMapOvr>
  <p:transition>
    <p:strips dir="ld"/>
  </p:transition>
  <p:timing>
    <p:tnLst>
      <p:par>
        <p:cTn id="1" dur="indefinite" restart="never" nodeType="tmRoot"/>
      </p:par>
    </p:tnLst>
  </p:timing>
</p:sld>
</file>

<file path=ppt/slides/slide17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0482" name="Rectangle 2"/>
          <p:cNvSpPr>
            <a:spLocks noGrp="1" noChangeArrowheads="1"/>
          </p:cNvSpPr>
          <p:nvPr>
            <p:ph type="body" idx="1"/>
          </p:nvPr>
        </p:nvSpPr>
        <p:spPr>
          <a:xfrm>
            <a:off x="1000125" y="1214438"/>
            <a:ext cx="7891463" cy="5105400"/>
          </a:xfrm>
        </p:spPr>
        <p:txBody>
          <a:bodyPr/>
          <a:lstStyle/>
          <a:p>
            <a:r>
              <a:rPr lang="zh-CN" altLang="en-US" smtClean="0"/>
              <a:t>无向图的邻接矩阵是</a:t>
            </a:r>
            <a:r>
              <a:rPr lang="zh-CN" altLang="en-US" smtClean="0">
                <a:solidFill>
                  <a:srgbClr val="FF0000"/>
                </a:solidFill>
              </a:rPr>
              <a:t>对称的</a:t>
            </a:r>
            <a:r>
              <a:rPr lang="zh-CN" altLang="en-US" smtClean="0"/>
              <a:t>，如果</a:t>
            </a:r>
            <a:r>
              <a:rPr lang="en-US" altLang="zh-CN" smtClean="0"/>
              <a:t>A[i</a:t>
            </a:r>
            <a:r>
              <a:rPr lang="zh-CN" altLang="en-US" smtClean="0"/>
              <a:t>，</a:t>
            </a:r>
            <a:r>
              <a:rPr lang="en-US" altLang="zh-CN" smtClean="0"/>
              <a:t>j]=1</a:t>
            </a:r>
            <a:r>
              <a:rPr lang="zh-CN" altLang="en-US" smtClean="0"/>
              <a:t>，必有</a:t>
            </a:r>
            <a:r>
              <a:rPr lang="en-US" altLang="zh-CN" smtClean="0"/>
              <a:t>A[j</a:t>
            </a:r>
            <a:r>
              <a:rPr lang="zh-CN" altLang="en-US" smtClean="0"/>
              <a:t>，</a:t>
            </a:r>
            <a:r>
              <a:rPr lang="en-US" altLang="zh-CN" smtClean="0"/>
              <a:t>i]=1</a:t>
            </a:r>
            <a:r>
              <a:rPr lang="zh-CN" altLang="en-US" smtClean="0"/>
              <a:t>。这说明，只输入和存储其上三角阵元素即可得到整个邻接矩阵。</a:t>
            </a:r>
            <a:endParaRPr lang="zh-CN" altLang="en-US" smtClean="0"/>
          </a:p>
          <a:p>
            <a:r>
              <a:rPr lang="zh-CN" altLang="en-US" smtClean="0"/>
              <a:t>一般有向图的邻接矩阵是不对称的，</a:t>
            </a:r>
            <a:r>
              <a:rPr lang="en-US" altLang="zh-CN" smtClean="0"/>
              <a:t>A[i</a:t>
            </a:r>
            <a:r>
              <a:rPr lang="zh-CN" altLang="en-US" smtClean="0"/>
              <a:t>，</a:t>
            </a:r>
            <a:r>
              <a:rPr lang="en-US" altLang="zh-CN" smtClean="0"/>
              <a:t>j]</a:t>
            </a:r>
            <a:r>
              <a:rPr lang="zh-CN" altLang="en-US" smtClean="0"/>
              <a:t>不一定等于</a:t>
            </a:r>
            <a:r>
              <a:rPr lang="en-US" altLang="zh-CN" smtClean="0"/>
              <a:t>A[j</a:t>
            </a:r>
            <a:r>
              <a:rPr lang="zh-CN" altLang="en-US" smtClean="0"/>
              <a:t>，</a:t>
            </a:r>
            <a:r>
              <a:rPr lang="en-US" altLang="zh-CN" smtClean="0"/>
              <a:t>i]</a:t>
            </a:r>
            <a:r>
              <a:rPr lang="zh-CN" altLang="en-US" smtClean="0"/>
              <a:t>。</a:t>
            </a:r>
            <a:endParaRPr lang="zh-CN" altLang="en-US" smtClean="0"/>
          </a:p>
          <a:p>
            <a:r>
              <a:rPr lang="zh-CN" altLang="en-US" smtClean="0"/>
              <a:t>邻接矩阵用二维数组即可存储，定义如下：</a:t>
            </a:r>
            <a:endParaRPr lang="zh-CN" altLang="en-US" smtClean="0"/>
          </a:p>
          <a:p>
            <a:pPr>
              <a:buFont typeface="Wingdings" panose="05000000000000000000" pitchFamily="2" charset="2"/>
              <a:buNone/>
            </a:pPr>
            <a:r>
              <a:rPr lang="zh-CN" altLang="en-US" smtClean="0"/>
              <a:t>          </a:t>
            </a:r>
            <a:r>
              <a:rPr lang="en-US" altLang="zh-CN" smtClean="0"/>
              <a:t>int adjmatrix = ARRAY[n][n];</a:t>
            </a:r>
            <a:endParaRPr lang="en-US" altLang="zh-CN" smtClean="0"/>
          </a:p>
          <a:p>
            <a:r>
              <a:rPr lang="zh-CN" altLang="en-US" smtClean="0"/>
              <a:t>如果图的各边是带权的，只需将矩阵中的各个</a:t>
            </a:r>
            <a:r>
              <a:rPr lang="en-US" altLang="zh-CN" smtClean="0"/>
              <a:t>1</a:t>
            </a:r>
            <a:r>
              <a:rPr lang="zh-CN" altLang="en-US" smtClean="0"/>
              <a:t>元素换成相应边的权即可。</a:t>
            </a:r>
            <a:endParaRPr lang="zh-CN" altLang="en-US" smtClean="0"/>
          </a:p>
        </p:txBody>
      </p:sp>
      <p:sp>
        <p:nvSpPr>
          <p:cNvPr id="69635" name="Rectangle 3"/>
          <p:cNvSpPr>
            <a:spLocks noGrp="1" noChangeArrowheads="1"/>
          </p:cNvSpPr>
          <p:nvPr>
            <p:ph type="title"/>
          </p:nvPr>
        </p:nvSpPr>
        <p:spPr/>
        <p:txBody>
          <a:bodyPr/>
          <a:lstStyle/>
          <a:p>
            <a:r>
              <a:rPr lang="en-US" altLang="zh-CN" dirty="0" smtClean="0"/>
              <a:t> </a:t>
            </a:r>
            <a:r>
              <a:rPr lang="en-US" altLang="zh-CN" dirty="0">
                <a:solidFill>
                  <a:srgbClr val="333399"/>
                </a:solidFill>
              </a:rPr>
              <a:t>1.4.</a:t>
            </a:r>
            <a:r>
              <a:rPr lang="en-US" altLang="zh-CN" dirty="0" smtClean="0"/>
              <a:t>5</a:t>
            </a:r>
            <a:r>
              <a:rPr lang="en-US" altLang="zh-CN" kern="0" dirty="0" smtClean="0"/>
              <a:t> </a:t>
            </a:r>
            <a:r>
              <a:rPr lang="zh-CN" altLang="en-US" kern="0" dirty="0" smtClean="0"/>
              <a:t>图</a:t>
            </a:r>
            <a:r>
              <a:rPr lang="en-US" altLang="zh-CN" kern="0" dirty="0" smtClean="0"/>
              <a:t>——</a:t>
            </a:r>
            <a:r>
              <a:rPr lang="zh-CN" altLang="en-US" dirty="0" smtClean="0"/>
              <a:t>邻接矩阵的若干说明</a:t>
            </a:r>
            <a:endParaRPr lang="zh-CN" altLang="en-US" dirty="0" smtClean="0"/>
          </a:p>
        </p:txBody>
      </p:sp>
      <p:sp>
        <p:nvSpPr>
          <p:cNvPr id="69636"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Tree>
  </p:cSld>
  <p:clrMapOvr>
    <a:masterClrMapping/>
  </p:clrMapOvr>
  <p:transition>
    <p:strips dir="ld"/>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37" fill="hold" grpId="0" nodeType="clickEffect">
                                  <p:stCondLst>
                                    <p:cond delay="0"/>
                                  </p:stCondLst>
                                  <p:childTnLst>
                                    <p:set>
                                      <p:cBhvr>
                                        <p:cTn id="6" dur="1" fill="hold">
                                          <p:stCondLst>
                                            <p:cond delay="0"/>
                                          </p:stCondLst>
                                        </p:cTn>
                                        <p:tgtEl>
                                          <p:spTgt spid="20482">
                                            <p:txEl>
                                              <p:pRg st="0" end="0"/>
                                            </p:txEl>
                                          </p:spTgt>
                                        </p:tgtEl>
                                        <p:attrNameLst>
                                          <p:attrName>style.visibility</p:attrName>
                                        </p:attrNameLst>
                                      </p:cBhvr>
                                      <p:to>
                                        <p:strVal val="visible"/>
                                      </p:to>
                                    </p:set>
                                    <p:animEffect transition="in" filter="barn(outVertical)">
                                      <p:cBhvr>
                                        <p:cTn id="7" dur="500"/>
                                        <p:tgtEl>
                                          <p:spTgt spid="2048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grpId="0" nodeType="clickEffect">
                                  <p:stCondLst>
                                    <p:cond delay="0"/>
                                  </p:stCondLst>
                                  <p:childTnLst>
                                    <p:set>
                                      <p:cBhvr>
                                        <p:cTn id="11" dur="1" fill="hold">
                                          <p:stCondLst>
                                            <p:cond delay="0"/>
                                          </p:stCondLst>
                                        </p:cTn>
                                        <p:tgtEl>
                                          <p:spTgt spid="20482">
                                            <p:txEl>
                                              <p:pRg st="1" end="1"/>
                                            </p:txEl>
                                          </p:spTgt>
                                        </p:tgtEl>
                                        <p:attrNameLst>
                                          <p:attrName>style.visibility</p:attrName>
                                        </p:attrNameLst>
                                      </p:cBhvr>
                                      <p:to>
                                        <p:strVal val="visible"/>
                                      </p:to>
                                    </p:set>
                                    <p:animEffect transition="in" filter="barn(outVertical)">
                                      <p:cBhvr>
                                        <p:cTn id="12" dur="500"/>
                                        <p:tgtEl>
                                          <p:spTgt spid="2048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grpId="0" nodeType="clickEffect">
                                  <p:stCondLst>
                                    <p:cond delay="0"/>
                                  </p:stCondLst>
                                  <p:childTnLst>
                                    <p:set>
                                      <p:cBhvr>
                                        <p:cTn id="16" dur="1" fill="hold">
                                          <p:stCondLst>
                                            <p:cond delay="0"/>
                                          </p:stCondLst>
                                        </p:cTn>
                                        <p:tgtEl>
                                          <p:spTgt spid="20482">
                                            <p:txEl>
                                              <p:pRg st="2" end="2"/>
                                            </p:txEl>
                                          </p:spTgt>
                                        </p:tgtEl>
                                        <p:attrNameLst>
                                          <p:attrName>style.visibility</p:attrName>
                                        </p:attrNameLst>
                                      </p:cBhvr>
                                      <p:to>
                                        <p:strVal val="visible"/>
                                      </p:to>
                                    </p:set>
                                    <p:animEffect transition="in" filter="barn(outVertical)">
                                      <p:cBhvr>
                                        <p:cTn id="17" dur="500"/>
                                        <p:tgtEl>
                                          <p:spTgt spid="20482">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6" presetClass="entr" presetSubtype="37" fill="hold" grpId="0" nodeType="clickEffect">
                                  <p:stCondLst>
                                    <p:cond delay="0"/>
                                  </p:stCondLst>
                                  <p:childTnLst>
                                    <p:set>
                                      <p:cBhvr>
                                        <p:cTn id="21" dur="1" fill="hold">
                                          <p:stCondLst>
                                            <p:cond delay="0"/>
                                          </p:stCondLst>
                                        </p:cTn>
                                        <p:tgtEl>
                                          <p:spTgt spid="20482">
                                            <p:txEl>
                                              <p:pRg st="3" end="3"/>
                                            </p:txEl>
                                          </p:spTgt>
                                        </p:tgtEl>
                                        <p:attrNameLst>
                                          <p:attrName>style.visibility</p:attrName>
                                        </p:attrNameLst>
                                      </p:cBhvr>
                                      <p:to>
                                        <p:strVal val="visible"/>
                                      </p:to>
                                    </p:set>
                                    <p:animEffect transition="in" filter="barn(outVertical)">
                                      <p:cBhvr>
                                        <p:cTn id="22" dur="500"/>
                                        <p:tgtEl>
                                          <p:spTgt spid="20482">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6" presetClass="entr" presetSubtype="37" fill="hold" grpId="0" nodeType="clickEffect">
                                  <p:stCondLst>
                                    <p:cond delay="0"/>
                                  </p:stCondLst>
                                  <p:childTnLst>
                                    <p:set>
                                      <p:cBhvr>
                                        <p:cTn id="26" dur="1" fill="hold">
                                          <p:stCondLst>
                                            <p:cond delay="0"/>
                                          </p:stCondLst>
                                        </p:cTn>
                                        <p:tgtEl>
                                          <p:spTgt spid="20482">
                                            <p:txEl>
                                              <p:pRg st="4" end="4"/>
                                            </p:txEl>
                                          </p:spTgt>
                                        </p:tgtEl>
                                        <p:attrNameLst>
                                          <p:attrName>style.visibility</p:attrName>
                                        </p:attrNameLst>
                                      </p:cBhvr>
                                      <p:to>
                                        <p:strVal val="visible"/>
                                      </p:to>
                                    </p:set>
                                    <p:animEffect transition="in" filter="barn(outVertical)">
                                      <p:cBhvr>
                                        <p:cTn id="27" dur="500"/>
                                        <p:tgtEl>
                                          <p:spTgt spid="2048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482" grpId="0" autoUpdateAnimBg="0" build="p"/>
    </p:bldLst>
  </p:timing>
</p:sld>
</file>

<file path=ppt/slides/slide17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0658" name="Rectangle 2"/>
          <p:cNvSpPr>
            <a:spLocks noGrp="1" noChangeArrowheads="1"/>
          </p:cNvSpPr>
          <p:nvPr>
            <p:ph type="title"/>
          </p:nvPr>
        </p:nvSpPr>
        <p:spPr>
          <a:xfrm>
            <a:off x="762000" y="228600"/>
            <a:ext cx="7772400" cy="762000"/>
          </a:xfrm>
        </p:spPr>
        <p:txBody>
          <a:bodyPr/>
          <a:lstStyle/>
          <a:p>
            <a:r>
              <a:rPr lang="en-US" altLang="zh-CN" dirty="0" smtClean="0"/>
              <a:t> </a:t>
            </a:r>
            <a:r>
              <a:rPr lang="en-US" altLang="zh-CN" dirty="0">
                <a:solidFill>
                  <a:srgbClr val="333399"/>
                </a:solidFill>
              </a:rPr>
              <a:t>1.4.</a:t>
            </a:r>
            <a:r>
              <a:rPr lang="en-US" altLang="zh-CN" dirty="0" smtClean="0"/>
              <a:t>5</a:t>
            </a:r>
            <a:r>
              <a:rPr lang="en-US" altLang="zh-CN" kern="0" dirty="0" smtClean="0"/>
              <a:t> </a:t>
            </a:r>
            <a:r>
              <a:rPr lang="zh-CN" altLang="en-US" kern="0" dirty="0" smtClean="0"/>
              <a:t>图</a:t>
            </a:r>
            <a:r>
              <a:rPr lang="en-US" altLang="zh-CN" kern="0" dirty="0" smtClean="0"/>
              <a:t>——</a:t>
            </a:r>
            <a:r>
              <a:rPr lang="zh-CN" altLang="en-US" dirty="0" smtClean="0"/>
              <a:t>邻接表</a:t>
            </a:r>
            <a:endParaRPr lang="zh-CN" altLang="en-US" dirty="0" smtClean="0"/>
          </a:p>
        </p:txBody>
      </p:sp>
      <p:sp>
        <p:nvSpPr>
          <p:cNvPr id="23555" name="Rectangle 3"/>
          <p:cNvSpPr>
            <a:spLocks noGrp="1" noChangeArrowheads="1"/>
          </p:cNvSpPr>
          <p:nvPr>
            <p:ph type="body" idx="1"/>
          </p:nvPr>
        </p:nvSpPr>
        <p:spPr>
          <a:xfrm>
            <a:off x="685800" y="1143000"/>
            <a:ext cx="7772400" cy="5410200"/>
          </a:xfrm>
        </p:spPr>
        <p:txBody>
          <a:bodyPr/>
          <a:lstStyle/>
          <a:p>
            <a:pPr>
              <a:lnSpc>
                <a:spcPct val="90000"/>
              </a:lnSpc>
            </a:pPr>
            <a:r>
              <a:rPr lang="zh-CN" altLang="en-US" smtClean="0"/>
              <a:t>邻接表是图的一种</a:t>
            </a:r>
            <a:r>
              <a:rPr lang="zh-CN" altLang="en-US" smtClean="0">
                <a:solidFill>
                  <a:srgbClr val="FF0000"/>
                </a:solidFill>
              </a:rPr>
              <a:t>链式存储结构</a:t>
            </a:r>
            <a:r>
              <a:rPr lang="zh-CN" altLang="en-US" smtClean="0"/>
              <a:t>。</a:t>
            </a:r>
            <a:endParaRPr lang="zh-CN" altLang="en-US" smtClean="0"/>
          </a:p>
          <a:p>
            <a:pPr>
              <a:lnSpc>
                <a:spcPct val="90000"/>
              </a:lnSpc>
            </a:pPr>
            <a:r>
              <a:rPr lang="zh-CN" altLang="en-US" smtClean="0"/>
              <a:t>在邻接表结构中，对图中每个顶点建立一个单链表，第</a:t>
            </a:r>
            <a:r>
              <a:rPr lang="en-US" altLang="zh-CN" smtClean="0"/>
              <a:t>i</a:t>
            </a:r>
            <a:r>
              <a:rPr lang="zh-CN" altLang="en-US" smtClean="0"/>
              <a:t>个单链表中的结点表示依附于该顶点</a:t>
            </a:r>
            <a:r>
              <a:rPr lang="en-US" altLang="zh-CN" smtClean="0"/>
              <a:t>V</a:t>
            </a:r>
            <a:r>
              <a:rPr lang="en-US" altLang="zh-CN" baseline="-30000" smtClean="0"/>
              <a:t>i</a:t>
            </a:r>
            <a:r>
              <a:rPr lang="zh-CN" altLang="en-US" smtClean="0"/>
              <a:t>的边，即对于无向图每个结点表示与该顶点相邻接的一个顶点；对于有向图则表示以该顶点为起点的一条边的终点。</a:t>
            </a:r>
            <a:endParaRPr lang="zh-CN" altLang="en-US" smtClean="0"/>
          </a:p>
          <a:p>
            <a:pPr>
              <a:lnSpc>
                <a:spcPct val="90000"/>
              </a:lnSpc>
            </a:pPr>
            <a:r>
              <a:rPr lang="zh-CN" altLang="en-US" smtClean="0"/>
              <a:t>一个图的邻接矩阵表示是唯一的，但其邻接表表示是</a:t>
            </a:r>
            <a:r>
              <a:rPr lang="zh-CN" altLang="en-US" smtClean="0">
                <a:solidFill>
                  <a:srgbClr val="FF0000"/>
                </a:solidFill>
              </a:rPr>
              <a:t>不唯一</a:t>
            </a:r>
            <a:r>
              <a:rPr lang="zh-CN" altLang="en-US" smtClean="0"/>
              <a:t>的。因为在邻接表的每个单链表中，各结点的顺序是任意的。</a:t>
            </a:r>
            <a:endParaRPr lang="zh-CN" altLang="en-US" smtClean="0"/>
          </a:p>
        </p:txBody>
      </p:sp>
      <p:sp>
        <p:nvSpPr>
          <p:cNvPr id="70660"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pic>
        <p:nvPicPr>
          <p:cNvPr id="70661" name="Picture 5"/>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4286250" y="4090988"/>
            <a:ext cx="4319588" cy="2338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strips dir="ld"/>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3555">
                                            <p:txEl>
                                              <p:pRg st="0" end="0"/>
                                            </p:txEl>
                                          </p:spTgt>
                                        </p:tgtEl>
                                        <p:attrNameLst>
                                          <p:attrName>style.visibility</p:attrName>
                                        </p:attrNameLst>
                                      </p:cBhvr>
                                      <p:to>
                                        <p:strVal val="visible"/>
                                      </p:to>
                                    </p:set>
                                    <p:anim calcmode="lin" valueType="num">
                                      <p:cBhvr additive="base">
                                        <p:cTn id="7" dur="500" fill="hold"/>
                                        <p:tgtEl>
                                          <p:spTgt spid="2355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3555">
                                            <p:txEl>
                                              <p:pRg st="0" end="0"/>
                                            </p:txEl>
                                          </p:spTgt>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5"/>
                                            </p:cond>
                                          </p:stCondLst>
                                          <p:endCondLst>
                                            <p:cond evt="onStopAudio" delay="0">
                                              <p:tgtEl>
                                                <p:sldTgt/>
                                              </p:tgtEl>
                                            </p:cond>
                                          </p:endCondLst>
                                        </p:cTn>
                                        <p:tgtEl>
                                          <p:sndTgt r:embed="rId2" name="whoosh.wav"/>
                                        </p:tgtEl>
                                      </p:cMediaNode>
                                    </p:audio>
                                  </p:sub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23555">
                                            <p:txEl>
                                              <p:pRg st="1" end="1"/>
                                            </p:txEl>
                                          </p:spTgt>
                                        </p:tgtEl>
                                        <p:attrNameLst>
                                          <p:attrName>style.visibility</p:attrName>
                                        </p:attrNameLst>
                                      </p:cBhvr>
                                      <p:to>
                                        <p:strVal val="visible"/>
                                      </p:to>
                                    </p:set>
                                    <p:anim calcmode="lin" valueType="num">
                                      <p:cBhvr additive="base">
                                        <p:cTn id="13" dur="500" fill="hold"/>
                                        <p:tgtEl>
                                          <p:spTgt spid="23555">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23555">
                                            <p:txEl>
                                              <p:pRg st="1" end="1"/>
                                            </p:txEl>
                                          </p:spTgt>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11"/>
                                            </p:cond>
                                          </p:stCondLst>
                                          <p:endCondLst>
                                            <p:cond evt="onStopAudio" delay="0">
                                              <p:tgtEl>
                                                <p:sldTgt/>
                                              </p:tgtEl>
                                            </p:cond>
                                          </p:endCondLst>
                                        </p:cTn>
                                        <p:tgtEl>
                                          <p:sndTgt r:embed="rId2" name="whoosh.wav"/>
                                        </p:tgtEl>
                                      </p:cMediaNode>
                                    </p:audio>
                                  </p:subTnLst>
                                </p:cTn>
                              </p:par>
                            </p:childTnLst>
                          </p:cTn>
                        </p:par>
                      </p:childTnLst>
                    </p:cTn>
                  </p:par>
                  <p:par>
                    <p:cTn id="15" fill="hold">
                      <p:stCondLst>
                        <p:cond delay="indefinite"/>
                      </p:stCondLst>
                      <p:childTnLst>
                        <p:par>
                          <p:cTn id="16" fill="hold">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23555">
                                            <p:txEl>
                                              <p:pRg st="2" end="2"/>
                                            </p:txEl>
                                          </p:spTgt>
                                        </p:tgtEl>
                                        <p:attrNameLst>
                                          <p:attrName>style.visibility</p:attrName>
                                        </p:attrNameLst>
                                      </p:cBhvr>
                                      <p:to>
                                        <p:strVal val="visible"/>
                                      </p:to>
                                    </p:set>
                                    <p:anim calcmode="lin" valueType="num">
                                      <p:cBhvr additive="base">
                                        <p:cTn id="19" dur="500" fill="hold"/>
                                        <p:tgtEl>
                                          <p:spTgt spid="23555">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23555">
                                            <p:txEl>
                                              <p:pRg st="2" end="2"/>
                                            </p:txEl>
                                          </p:spTgt>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17"/>
                                            </p:cond>
                                          </p:stCondLst>
                                          <p:endCondLst>
                                            <p:cond evt="onStopAudio" delay="0">
                                              <p:tgtEl>
                                                <p:sldTgt/>
                                              </p:tgtEl>
                                            </p:cond>
                                          </p:endCondLst>
                                        </p:cTn>
                                        <p:tgtEl>
                                          <p:sndTgt r:embed="rId2" name="whoosh.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555" grpId="0" autoUpdateAnimBg="0" build="p"/>
    </p:bldLst>
  </p:timing>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Rectangle 2"/>
          <p:cNvSpPr>
            <a:spLocks noGrp="1" noChangeArrowheads="1"/>
          </p:cNvSpPr>
          <p:nvPr>
            <p:ph type="title"/>
          </p:nvPr>
        </p:nvSpPr>
        <p:spPr/>
        <p:txBody>
          <a:bodyPr/>
          <a:lstStyle/>
          <a:p>
            <a:r>
              <a:rPr lang="en-US" altLang="zh-CN" dirty="0">
                <a:solidFill>
                  <a:srgbClr val="333399"/>
                </a:solidFill>
              </a:rPr>
              <a:t>1.4.</a:t>
            </a:r>
            <a:r>
              <a:rPr lang="en-US" altLang="zh-CN" dirty="0" smtClean="0"/>
              <a:t>5</a:t>
            </a:r>
            <a:r>
              <a:rPr lang="en-US" altLang="zh-CN" kern="0" dirty="0" smtClean="0"/>
              <a:t> </a:t>
            </a:r>
            <a:r>
              <a:rPr lang="zh-CN" altLang="en-US" kern="0" dirty="0" smtClean="0"/>
              <a:t>图</a:t>
            </a:r>
            <a:r>
              <a:rPr lang="en-US" altLang="zh-CN" kern="0" dirty="0" smtClean="0"/>
              <a:t>——</a:t>
            </a:r>
            <a:r>
              <a:rPr lang="zh-CN" altLang="en-US" dirty="0" smtClean="0"/>
              <a:t>无向图、有向图</a:t>
            </a:r>
            <a:endParaRPr lang="zh-CN" altLang="en-US" dirty="0" smtClean="0"/>
          </a:p>
        </p:txBody>
      </p:sp>
      <p:sp>
        <p:nvSpPr>
          <p:cNvPr id="18437" name="Rectangle 3"/>
          <p:cNvSpPr>
            <a:spLocks noGrp="1" noChangeArrowheads="1"/>
          </p:cNvSpPr>
          <p:nvPr>
            <p:ph type="body" idx="1"/>
          </p:nvPr>
        </p:nvSpPr>
        <p:spPr/>
        <p:txBody>
          <a:bodyPr/>
          <a:lstStyle/>
          <a:p>
            <a:pPr>
              <a:buFont typeface="Wingdings" panose="05000000000000000000" pitchFamily="2" charset="2"/>
              <a:buNone/>
            </a:pPr>
            <a:r>
              <a:rPr lang="en-US" altLang="zh-CN" smtClean="0"/>
              <a:t> </a:t>
            </a:r>
            <a:endParaRPr lang="en-US" altLang="zh-CN" smtClean="0"/>
          </a:p>
        </p:txBody>
      </p:sp>
      <p:graphicFrame>
        <p:nvGraphicFramePr>
          <p:cNvPr id="18434" name="Object 2"/>
          <p:cNvGraphicFramePr>
            <a:graphicFrameLocks noChangeAspect="1"/>
          </p:cNvGraphicFramePr>
          <p:nvPr/>
        </p:nvGraphicFramePr>
        <p:xfrm>
          <a:off x="533400" y="1676400"/>
          <a:ext cx="3276600" cy="4191000"/>
        </p:xfrm>
        <a:graphic>
          <a:graphicData uri="http://schemas.openxmlformats.org/presentationml/2006/ole">
            <mc:AlternateContent xmlns:mc="http://schemas.openxmlformats.org/markup-compatibility/2006">
              <mc:Choice xmlns:v="urn:schemas-microsoft-com:vml" Requires="v">
                <p:oleObj spid="_x0000_s39954" name="Picture2" r:id="rId1" imgW="942975" imgH="1352550" progId="Word.Picture.8">
                  <p:embed/>
                </p:oleObj>
              </mc:Choice>
              <mc:Fallback>
                <p:oleObj name="Picture2" r:id="rId1" imgW="942975" imgH="1352550" progId="Word.Picture.8">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3400" y="1676400"/>
                        <a:ext cx="3276600" cy="4191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8435" name="Object 3"/>
          <p:cNvGraphicFramePr>
            <a:graphicFrameLocks noChangeAspect="1"/>
          </p:cNvGraphicFramePr>
          <p:nvPr/>
        </p:nvGraphicFramePr>
        <p:xfrm>
          <a:off x="4572000" y="1676400"/>
          <a:ext cx="3505200" cy="4419600"/>
        </p:xfrm>
        <a:graphic>
          <a:graphicData uri="http://schemas.openxmlformats.org/presentationml/2006/ole">
            <mc:AlternateContent xmlns:mc="http://schemas.openxmlformats.org/markup-compatibility/2006">
              <mc:Choice xmlns:v="urn:schemas-microsoft-com:vml" Requires="v">
                <p:oleObj spid="_x0000_s39955" name="Picture2" r:id="rId3" imgW="1076325" imgH="1371600" progId="Word.Picture.8">
                  <p:embed/>
                </p:oleObj>
              </mc:Choice>
              <mc:Fallback>
                <p:oleObj name="Picture2" r:id="rId3" imgW="1076325" imgH="1371600" progId="Word.Picture.8">
                  <p:embed/>
                  <p:pic>
                    <p:nvPicPr>
                      <p:cNvPr id="0" name="Object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2000" y="1676400"/>
                        <a:ext cx="3505200" cy="4419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8438"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Tree>
  </p:cSld>
  <p:clrMapOvr>
    <a:masterClrMapping/>
  </p:clrMapOvr>
  <p:timing>
    <p:tnLst>
      <p:par>
        <p:cTn id="1" dur="indefinite" restart="never" nodeType="tmRoot"/>
      </p:par>
    </p:tnLst>
  </p:timing>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2"/>
          <p:cNvSpPr>
            <a:spLocks noGrp="1" noChangeArrowheads="1"/>
          </p:cNvSpPr>
          <p:nvPr>
            <p:ph type="title"/>
          </p:nvPr>
        </p:nvSpPr>
        <p:spPr>
          <a:xfrm>
            <a:off x="899592" y="335733"/>
            <a:ext cx="7772400" cy="838200"/>
          </a:xfrm>
        </p:spPr>
        <p:txBody>
          <a:bodyPr/>
          <a:lstStyle/>
          <a:p>
            <a:r>
              <a:rPr lang="en-US" altLang="zh-CN" dirty="0">
                <a:solidFill>
                  <a:srgbClr val="333399"/>
                </a:solidFill>
              </a:rPr>
              <a:t>1.4.</a:t>
            </a:r>
            <a:r>
              <a:rPr lang="en-US" altLang="zh-CN" dirty="0" smtClean="0"/>
              <a:t>5</a:t>
            </a:r>
            <a:r>
              <a:rPr lang="en-US" altLang="zh-CN" kern="0" dirty="0" smtClean="0"/>
              <a:t> </a:t>
            </a:r>
            <a:r>
              <a:rPr lang="zh-CN" altLang="en-US" kern="0" dirty="0" smtClean="0"/>
              <a:t>图</a:t>
            </a:r>
            <a:r>
              <a:rPr lang="en-US" altLang="zh-CN" kern="0" dirty="0" smtClean="0"/>
              <a:t>——</a:t>
            </a:r>
            <a:r>
              <a:rPr lang="zh-CN" altLang="en-US" dirty="0" smtClean="0"/>
              <a:t>无向图的邻接表</a:t>
            </a:r>
            <a:endParaRPr lang="zh-CN" altLang="en-US" dirty="0" smtClean="0"/>
          </a:p>
        </p:txBody>
      </p:sp>
      <p:sp>
        <p:nvSpPr>
          <p:cNvPr id="19460" name="Rectangle 3"/>
          <p:cNvSpPr>
            <a:spLocks noGrp="1" noChangeArrowheads="1"/>
          </p:cNvSpPr>
          <p:nvPr>
            <p:ph type="body" idx="1"/>
          </p:nvPr>
        </p:nvSpPr>
        <p:spPr>
          <a:xfrm>
            <a:off x="1752600" y="5715000"/>
            <a:ext cx="5638800" cy="609600"/>
          </a:xfrm>
        </p:spPr>
        <p:txBody>
          <a:bodyPr/>
          <a:lstStyle/>
          <a:p>
            <a:pPr>
              <a:buFont typeface="Wingdings" panose="05000000000000000000" pitchFamily="2" charset="2"/>
              <a:buNone/>
            </a:pPr>
            <a:r>
              <a:rPr lang="en-US" altLang="zh-CN" smtClean="0"/>
              <a:t> </a:t>
            </a:r>
            <a:endParaRPr lang="en-US" altLang="zh-CN" smtClean="0"/>
          </a:p>
        </p:txBody>
      </p:sp>
      <p:graphicFrame>
        <p:nvGraphicFramePr>
          <p:cNvPr id="19458" name="Object 2"/>
          <p:cNvGraphicFramePr>
            <a:graphicFrameLocks noChangeAspect="1"/>
          </p:cNvGraphicFramePr>
          <p:nvPr/>
        </p:nvGraphicFramePr>
        <p:xfrm>
          <a:off x="609600" y="1447800"/>
          <a:ext cx="7924800" cy="4648200"/>
        </p:xfrm>
        <a:graphic>
          <a:graphicData uri="http://schemas.openxmlformats.org/presentationml/2006/ole">
            <mc:AlternateContent xmlns:mc="http://schemas.openxmlformats.org/markup-compatibility/2006">
              <mc:Choice xmlns:v="urn:schemas-microsoft-com:vml" Requires="v">
                <p:oleObj spid="_x0000_s40970" name="Picture2" r:id="rId1" imgW="2409825" imgH="1419225" progId="Word.Picture.8">
                  <p:embed/>
                </p:oleObj>
              </mc:Choice>
              <mc:Fallback>
                <p:oleObj name="Picture2" r:id="rId1" imgW="2409825" imgH="1419225" progId="Word.Picture.8">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600" y="1447800"/>
                        <a:ext cx="7924800" cy="46482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9461"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Tree>
  </p:cSld>
  <p:clrMapOvr>
    <a:masterClrMapping/>
  </p:clrMapOvr>
  <p:transition>
    <p:strips dir="ld"/>
  </p:transition>
  <p:timing>
    <p:tnLst>
      <p:par>
        <p:cTn id="1" dur="indefinite" restart="never" nodeType="tmRoot"/>
      </p:par>
    </p:tnLst>
  </p:timing>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0482" name="Object 2"/>
          <p:cNvGraphicFramePr>
            <a:graphicFrameLocks noChangeAspect="1"/>
          </p:cNvGraphicFramePr>
          <p:nvPr/>
        </p:nvGraphicFramePr>
        <p:xfrm>
          <a:off x="1371600" y="1524000"/>
          <a:ext cx="6477000" cy="4267200"/>
        </p:xfrm>
        <a:graphic>
          <a:graphicData uri="http://schemas.openxmlformats.org/presentationml/2006/ole">
            <mc:AlternateContent xmlns:mc="http://schemas.openxmlformats.org/markup-compatibility/2006">
              <mc:Choice xmlns:v="urn:schemas-microsoft-com:vml" Requires="v">
                <p:oleObj spid="_x0000_s41994" name="Picture2" r:id="rId1" imgW="1781175" imgH="1181100" progId="Word.Picture.8">
                  <p:embed/>
                </p:oleObj>
              </mc:Choice>
              <mc:Fallback>
                <p:oleObj name="Picture2" r:id="rId1" imgW="1781175" imgH="1181100" progId="Word.Picture.8">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71600" y="1524000"/>
                        <a:ext cx="6477000" cy="42672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0483" name="Rectangle 4"/>
          <p:cNvSpPr>
            <a:spLocks noGrp="1" noChangeArrowheads="1"/>
          </p:cNvSpPr>
          <p:nvPr>
            <p:ph type="body" idx="1"/>
          </p:nvPr>
        </p:nvSpPr>
        <p:spPr/>
        <p:txBody>
          <a:bodyPr/>
          <a:lstStyle/>
          <a:p>
            <a:pPr>
              <a:buFont typeface="Wingdings" panose="05000000000000000000" pitchFamily="2" charset="2"/>
              <a:buNone/>
            </a:pPr>
            <a:r>
              <a:rPr lang="en-US" altLang="zh-CN" smtClean="0"/>
              <a:t> </a:t>
            </a:r>
            <a:endParaRPr lang="en-US" altLang="zh-CN" smtClean="0"/>
          </a:p>
        </p:txBody>
      </p:sp>
      <p:sp>
        <p:nvSpPr>
          <p:cNvPr id="20484" name="Rectangle 5"/>
          <p:cNvSpPr>
            <a:spLocks noGrp="1" noChangeArrowheads="1"/>
          </p:cNvSpPr>
          <p:nvPr>
            <p:ph type="title"/>
          </p:nvPr>
        </p:nvSpPr>
        <p:spPr/>
        <p:txBody>
          <a:bodyPr/>
          <a:lstStyle/>
          <a:p>
            <a:r>
              <a:rPr lang="en-US" altLang="zh-CN" dirty="0">
                <a:solidFill>
                  <a:srgbClr val="333399"/>
                </a:solidFill>
              </a:rPr>
              <a:t>1.4.</a:t>
            </a:r>
            <a:r>
              <a:rPr lang="en-US" altLang="zh-CN" dirty="0" smtClean="0"/>
              <a:t>5</a:t>
            </a:r>
            <a:r>
              <a:rPr lang="en-US" altLang="zh-CN" kern="0" dirty="0" smtClean="0"/>
              <a:t> </a:t>
            </a:r>
            <a:r>
              <a:rPr lang="zh-CN" altLang="en-US" kern="0" dirty="0" smtClean="0"/>
              <a:t>图</a:t>
            </a:r>
            <a:r>
              <a:rPr lang="en-US" altLang="zh-CN" kern="0" dirty="0" smtClean="0"/>
              <a:t>——</a:t>
            </a:r>
            <a:r>
              <a:rPr lang="zh-CN" altLang="en-US" dirty="0" smtClean="0"/>
              <a:t>有向图的邻接表</a:t>
            </a:r>
            <a:endParaRPr lang="zh-CN" altLang="en-US" dirty="0" smtClean="0"/>
          </a:p>
        </p:txBody>
      </p:sp>
      <p:sp>
        <p:nvSpPr>
          <p:cNvPr id="20485"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Tree>
  </p:cSld>
  <p:clrMapOvr>
    <a:masterClrMapping/>
  </p:clrMapOvr>
  <p:transition>
    <p:strips dir="ld"/>
  </p:transition>
  <p:timing>
    <p:tnLst>
      <p:par>
        <p:cTn id="1" dur="indefinite" restart="never" nodeType="tmRoot"/>
      </p:par>
    </p:tnLst>
  </p:timing>
</p:sld>
</file>

<file path=ppt/slides/slide18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7650" name="Rectangle 2"/>
          <p:cNvSpPr>
            <a:spLocks noGrp="1" noChangeArrowheads="1"/>
          </p:cNvSpPr>
          <p:nvPr>
            <p:ph type="body" idx="1"/>
          </p:nvPr>
        </p:nvSpPr>
        <p:spPr>
          <a:xfrm>
            <a:off x="857250" y="1295400"/>
            <a:ext cx="7981950" cy="5181600"/>
          </a:xfrm>
        </p:spPr>
        <p:txBody>
          <a:bodyPr/>
          <a:lstStyle/>
          <a:p>
            <a:r>
              <a:rPr lang="zh-CN" altLang="en-US" sz="2400" smtClean="0"/>
              <a:t>对于无向图的邻接表来说，一条边对应两个单链表结点，邻接表结点总数是边数的</a:t>
            </a:r>
            <a:r>
              <a:rPr lang="en-US" altLang="zh-CN" sz="2400" smtClean="0"/>
              <a:t>2</a:t>
            </a:r>
            <a:r>
              <a:rPr lang="zh-CN" altLang="en-US" sz="2400" smtClean="0"/>
              <a:t>倍。</a:t>
            </a:r>
            <a:endParaRPr lang="zh-CN" altLang="en-US" sz="2400" smtClean="0"/>
          </a:p>
          <a:p>
            <a:r>
              <a:rPr lang="zh-CN" altLang="en-US" sz="2400" smtClean="0"/>
              <a:t>在无向图的邻接表中，各顶点对应的单链表的结点数（不算表头结点）就等于该顶点的度数。</a:t>
            </a:r>
            <a:endParaRPr lang="zh-CN" altLang="en-US" sz="2400" smtClean="0"/>
          </a:p>
          <a:p>
            <a:r>
              <a:rPr lang="zh-CN" altLang="en-US" sz="2400" smtClean="0"/>
              <a:t>在有向图邻接表中，一条弧对应一个表结点，表结点的数目和弧的数目相同。</a:t>
            </a:r>
            <a:endParaRPr lang="zh-CN" altLang="en-US" sz="2400" smtClean="0"/>
          </a:p>
          <a:p>
            <a:r>
              <a:rPr lang="zh-CN" altLang="en-US" sz="2400" smtClean="0"/>
              <a:t>在有向图邻接表中，单链表的结点数就等于相应顶点的出度数。</a:t>
            </a:r>
            <a:endParaRPr lang="zh-CN" altLang="en-US" sz="2400" smtClean="0"/>
          </a:p>
          <a:p>
            <a:r>
              <a:rPr lang="zh-CN" altLang="en-US" sz="2400" smtClean="0"/>
              <a:t>要求有向图中某顶点的入度数，需扫视邻接表的所有单链表，统计与顶点标号相应的结点个数。 </a:t>
            </a:r>
            <a:endParaRPr lang="zh-CN" altLang="en-US" sz="2400" smtClean="0"/>
          </a:p>
        </p:txBody>
      </p:sp>
      <p:sp>
        <p:nvSpPr>
          <p:cNvPr id="71683" name="Rectangle 3"/>
          <p:cNvSpPr>
            <a:spLocks noGrp="1" noChangeArrowheads="1"/>
          </p:cNvSpPr>
          <p:nvPr>
            <p:ph type="title"/>
          </p:nvPr>
        </p:nvSpPr>
        <p:spPr/>
        <p:txBody>
          <a:bodyPr/>
          <a:lstStyle/>
          <a:p>
            <a:r>
              <a:rPr lang="en-US" altLang="zh-CN" dirty="0">
                <a:solidFill>
                  <a:srgbClr val="333399"/>
                </a:solidFill>
              </a:rPr>
              <a:t>1.4.</a:t>
            </a:r>
            <a:r>
              <a:rPr lang="en-US" altLang="zh-CN" dirty="0" smtClean="0"/>
              <a:t>5</a:t>
            </a:r>
            <a:r>
              <a:rPr lang="en-US" altLang="zh-CN" kern="0" dirty="0" smtClean="0"/>
              <a:t> </a:t>
            </a:r>
            <a:r>
              <a:rPr lang="zh-CN" altLang="en-US" kern="0" dirty="0" smtClean="0"/>
              <a:t>图</a:t>
            </a:r>
            <a:r>
              <a:rPr lang="en-US" altLang="zh-CN" kern="0" dirty="0" smtClean="0"/>
              <a:t>——</a:t>
            </a:r>
            <a:r>
              <a:rPr lang="zh-CN" altLang="en-US" dirty="0" smtClean="0"/>
              <a:t>邻接表的若干说明</a:t>
            </a:r>
            <a:endParaRPr lang="zh-CN" altLang="en-US" dirty="0" smtClean="0"/>
          </a:p>
        </p:txBody>
      </p:sp>
      <p:sp>
        <p:nvSpPr>
          <p:cNvPr id="71684"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Tree>
  </p:cSld>
  <p:clrMapOvr>
    <a:masterClrMapping/>
  </p:clrMapOvr>
  <p:transition>
    <p:strips dir="ld"/>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grpId="0" nodeType="clickEffect">
                                  <p:stCondLst>
                                    <p:cond delay="0"/>
                                  </p:stCondLst>
                                  <p:childTnLst>
                                    <p:set>
                                      <p:cBhvr>
                                        <p:cTn id="6" dur="1" fill="hold">
                                          <p:stCondLst>
                                            <p:cond delay="0"/>
                                          </p:stCondLst>
                                        </p:cTn>
                                        <p:tgtEl>
                                          <p:spTgt spid="27650">
                                            <p:txEl>
                                              <p:pRg st="0" end="0"/>
                                            </p:txEl>
                                          </p:spTgt>
                                        </p:tgtEl>
                                        <p:attrNameLst>
                                          <p:attrName>style.visibility</p:attrName>
                                        </p:attrNameLst>
                                      </p:cBhvr>
                                      <p:to>
                                        <p:strVal val="visible"/>
                                      </p:to>
                                    </p:set>
                                    <p:anim calcmode="lin" valueType="num">
                                      <p:cBhvr additive="base">
                                        <p:cTn id="7" dur="500" fill="hold"/>
                                        <p:tgtEl>
                                          <p:spTgt spid="27650">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7650">
                                            <p:txEl>
                                              <p:pRg st="0" end="0"/>
                                            </p:txEl>
                                          </p:spTgt>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1" fill="hold" grpId="0" nodeType="clickEffect">
                                  <p:stCondLst>
                                    <p:cond delay="0"/>
                                  </p:stCondLst>
                                  <p:childTnLst>
                                    <p:set>
                                      <p:cBhvr>
                                        <p:cTn id="12" dur="1" fill="hold">
                                          <p:stCondLst>
                                            <p:cond delay="0"/>
                                          </p:stCondLst>
                                        </p:cTn>
                                        <p:tgtEl>
                                          <p:spTgt spid="27650">
                                            <p:txEl>
                                              <p:pRg st="1" end="1"/>
                                            </p:txEl>
                                          </p:spTgt>
                                        </p:tgtEl>
                                        <p:attrNameLst>
                                          <p:attrName>style.visibility</p:attrName>
                                        </p:attrNameLst>
                                      </p:cBhvr>
                                      <p:to>
                                        <p:strVal val="visible"/>
                                      </p:to>
                                    </p:set>
                                    <p:anim calcmode="lin" valueType="num">
                                      <p:cBhvr additive="base">
                                        <p:cTn id="13" dur="500" fill="hold"/>
                                        <p:tgtEl>
                                          <p:spTgt spid="27650">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7650">
                                            <p:txEl>
                                              <p:pRg st="1" end="1"/>
                                            </p:txEl>
                                          </p:spTgt>
                                        </p:tgtEl>
                                        <p:attrNameLst>
                                          <p:attrName>ppt_y</p:attrName>
                                        </p:attrNameLst>
                                      </p:cBhvr>
                                      <p:tavLst>
                                        <p:tav tm="0">
                                          <p:val>
                                            <p:strVal val="0-#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1" fill="hold" grpId="0" nodeType="clickEffect">
                                  <p:stCondLst>
                                    <p:cond delay="0"/>
                                  </p:stCondLst>
                                  <p:childTnLst>
                                    <p:set>
                                      <p:cBhvr>
                                        <p:cTn id="18" dur="1" fill="hold">
                                          <p:stCondLst>
                                            <p:cond delay="0"/>
                                          </p:stCondLst>
                                        </p:cTn>
                                        <p:tgtEl>
                                          <p:spTgt spid="27650">
                                            <p:txEl>
                                              <p:pRg st="2" end="2"/>
                                            </p:txEl>
                                          </p:spTgt>
                                        </p:tgtEl>
                                        <p:attrNameLst>
                                          <p:attrName>style.visibility</p:attrName>
                                        </p:attrNameLst>
                                      </p:cBhvr>
                                      <p:to>
                                        <p:strVal val="visible"/>
                                      </p:to>
                                    </p:set>
                                    <p:anim calcmode="lin" valueType="num">
                                      <p:cBhvr additive="base">
                                        <p:cTn id="19" dur="500" fill="hold"/>
                                        <p:tgtEl>
                                          <p:spTgt spid="27650">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7650">
                                            <p:txEl>
                                              <p:pRg st="2" end="2"/>
                                            </p:txEl>
                                          </p:spTgt>
                                        </p:tgtEl>
                                        <p:attrNameLst>
                                          <p:attrName>ppt_y</p:attrName>
                                        </p:attrNameLst>
                                      </p:cBhvr>
                                      <p:tavLst>
                                        <p:tav tm="0">
                                          <p:val>
                                            <p:strVal val="0-#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1" fill="hold" grpId="0" nodeType="clickEffect">
                                  <p:stCondLst>
                                    <p:cond delay="0"/>
                                  </p:stCondLst>
                                  <p:childTnLst>
                                    <p:set>
                                      <p:cBhvr>
                                        <p:cTn id="24" dur="1" fill="hold">
                                          <p:stCondLst>
                                            <p:cond delay="0"/>
                                          </p:stCondLst>
                                        </p:cTn>
                                        <p:tgtEl>
                                          <p:spTgt spid="27650">
                                            <p:txEl>
                                              <p:pRg st="3" end="3"/>
                                            </p:txEl>
                                          </p:spTgt>
                                        </p:tgtEl>
                                        <p:attrNameLst>
                                          <p:attrName>style.visibility</p:attrName>
                                        </p:attrNameLst>
                                      </p:cBhvr>
                                      <p:to>
                                        <p:strVal val="visible"/>
                                      </p:to>
                                    </p:set>
                                    <p:anim calcmode="lin" valueType="num">
                                      <p:cBhvr additive="base">
                                        <p:cTn id="25" dur="500" fill="hold"/>
                                        <p:tgtEl>
                                          <p:spTgt spid="27650">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27650">
                                            <p:txEl>
                                              <p:pRg st="3" end="3"/>
                                            </p:txEl>
                                          </p:spTgt>
                                        </p:tgtEl>
                                        <p:attrNameLst>
                                          <p:attrName>ppt_y</p:attrName>
                                        </p:attrNameLst>
                                      </p:cBhvr>
                                      <p:tavLst>
                                        <p:tav tm="0">
                                          <p:val>
                                            <p:strVal val="0-#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1" fill="hold" grpId="0" nodeType="clickEffect">
                                  <p:stCondLst>
                                    <p:cond delay="0"/>
                                  </p:stCondLst>
                                  <p:childTnLst>
                                    <p:set>
                                      <p:cBhvr>
                                        <p:cTn id="30" dur="1" fill="hold">
                                          <p:stCondLst>
                                            <p:cond delay="0"/>
                                          </p:stCondLst>
                                        </p:cTn>
                                        <p:tgtEl>
                                          <p:spTgt spid="27650">
                                            <p:txEl>
                                              <p:pRg st="4" end="4"/>
                                            </p:txEl>
                                          </p:spTgt>
                                        </p:tgtEl>
                                        <p:attrNameLst>
                                          <p:attrName>style.visibility</p:attrName>
                                        </p:attrNameLst>
                                      </p:cBhvr>
                                      <p:to>
                                        <p:strVal val="visible"/>
                                      </p:to>
                                    </p:set>
                                    <p:anim calcmode="lin" valueType="num">
                                      <p:cBhvr additive="base">
                                        <p:cTn id="31" dur="500" fill="hold"/>
                                        <p:tgtEl>
                                          <p:spTgt spid="27650">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27650">
                                            <p:txEl>
                                              <p:pRg st="4" end="4"/>
                                            </p:txEl>
                                          </p:spTgt>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50" grpId="0" autoUpdateAnimBg="0" build="p"/>
    </p:bldLst>
  </p:timing>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72707" name="Rectangle 2"/>
          <p:cNvSpPr>
            <a:spLocks noGrp="1" noChangeArrowheads="1"/>
          </p:cNvSpPr>
          <p:nvPr>
            <p:ph type="title"/>
          </p:nvPr>
        </p:nvSpPr>
        <p:spPr/>
        <p:txBody>
          <a:bodyPr/>
          <a:lstStyle/>
          <a:p>
            <a:pPr eaLnBrk="1" hangingPunct="1"/>
            <a:r>
              <a:rPr lang="en-US" altLang="zh-CN" dirty="0">
                <a:solidFill>
                  <a:srgbClr val="333399"/>
                </a:solidFill>
              </a:rPr>
              <a:t>1.4.</a:t>
            </a:r>
            <a:r>
              <a:rPr lang="en-US" altLang="zh-CN" dirty="0" smtClean="0"/>
              <a:t>5</a:t>
            </a:r>
            <a:r>
              <a:rPr lang="en-US" altLang="zh-CN" kern="0" dirty="0" smtClean="0"/>
              <a:t> </a:t>
            </a:r>
            <a:r>
              <a:rPr lang="zh-CN" altLang="en-US" kern="0" dirty="0" smtClean="0"/>
              <a:t>图</a:t>
            </a:r>
            <a:r>
              <a:rPr lang="en-US" altLang="zh-CN" kern="0" dirty="0" smtClean="0"/>
              <a:t>——</a:t>
            </a:r>
            <a:r>
              <a:rPr lang="zh-CN" altLang="en-US" dirty="0" smtClean="0"/>
              <a:t>平面图</a:t>
            </a:r>
            <a:endParaRPr lang="en-US" altLang="zh-CN" dirty="0" smtClean="0"/>
          </a:p>
        </p:txBody>
      </p:sp>
      <p:sp>
        <p:nvSpPr>
          <p:cNvPr id="72708" name="Rectangle 3"/>
          <p:cNvSpPr>
            <a:spLocks noGrp="1" noChangeArrowheads="1"/>
          </p:cNvSpPr>
          <p:nvPr>
            <p:ph type="body" idx="1"/>
          </p:nvPr>
        </p:nvSpPr>
        <p:spPr/>
        <p:txBody>
          <a:bodyPr/>
          <a:lstStyle/>
          <a:p>
            <a:pPr eaLnBrk="1" hangingPunct="1"/>
            <a:r>
              <a:rPr lang="zh-CN" altLang="en-US" sz="2800" smtClean="0"/>
              <a:t>如果图</a:t>
            </a:r>
            <a:r>
              <a:rPr lang="en-US" altLang="zh-CN" sz="2800" smtClean="0"/>
              <a:t>G=(V,E) </a:t>
            </a:r>
            <a:r>
              <a:rPr lang="zh-CN" altLang="en-US" sz="2800" smtClean="0"/>
              <a:t>可以嵌入平面而没有任何边互相穿越，这个图就是平面图。</a:t>
            </a:r>
            <a:endParaRPr lang="en-US" altLang="zh-CN" sz="2800" smtClean="0"/>
          </a:p>
          <a:p>
            <a:pPr eaLnBrk="1" hangingPunct="1"/>
            <a:endParaRPr lang="en-US" altLang="zh-CN" smtClean="0"/>
          </a:p>
        </p:txBody>
      </p:sp>
      <p:sp>
        <p:nvSpPr>
          <p:cNvPr id="102404" name="Oval 4"/>
          <p:cNvSpPr>
            <a:spLocks noChangeArrowheads="1"/>
          </p:cNvSpPr>
          <p:nvPr/>
        </p:nvSpPr>
        <p:spPr bwMode="auto">
          <a:xfrm>
            <a:off x="1763713" y="3500438"/>
            <a:ext cx="576262" cy="576262"/>
          </a:xfrm>
          <a:prstGeom prst="ellipse">
            <a:avLst/>
          </a:prstGeom>
          <a:solidFill>
            <a:srgbClr val="99CCFF"/>
          </a:solidFill>
          <a:ln w="9525">
            <a:solidFill>
              <a:schemeClr val="tx1"/>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sp>
        <p:nvSpPr>
          <p:cNvPr id="102405" name="Oval 5"/>
          <p:cNvSpPr>
            <a:spLocks noChangeArrowheads="1"/>
          </p:cNvSpPr>
          <p:nvPr/>
        </p:nvSpPr>
        <p:spPr bwMode="auto">
          <a:xfrm>
            <a:off x="2916238" y="3500438"/>
            <a:ext cx="576262" cy="576262"/>
          </a:xfrm>
          <a:prstGeom prst="ellipse">
            <a:avLst/>
          </a:prstGeom>
          <a:solidFill>
            <a:srgbClr val="99CCFF"/>
          </a:solidFill>
          <a:ln w="9525">
            <a:solidFill>
              <a:schemeClr val="tx1"/>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sp>
        <p:nvSpPr>
          <p:cNvPr id="102406" name="Oval 6"/>
          <p:cNvSpPr>
            <a:spLocks noChangeArrowheads="1"/>
          </p:cNvSpPr>
          <p:nvPr/>
        </p:nvSpPr>
        <p:spPr bwMode="auto">
          <a:xfrm>
            <a:off x="1763713" y="4652963"/>
            <a:ext cx="576262" cy="576262"/>
          </a:xfrm>
          <a:prstGeom prst="ellipse">
            <a:avLst/>
          </a:prstGeom>
          <a:solidFill>
            <a:srgbClr val="99CCFF"/>
          </a:solidFill>
          <a:ln w="9525">
            <a:solidFill>
              <a:schemeClr val="tx1"/>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sp>
        <p:nvSpPr>
          <p:cNvPr id="102407" name="Oval 7"/>
          <p:cNvSpPr>
            <a:spLocks noChangeArrowheads="1"/>
          </p:cNvSpPr>
          <p:nvPr/>
        </p:nvSpPr>
        <p:spPr bwMode="auto">
          <a:xfrm>
            <a:off x="2987675" y="4652963"/>
            <a:ext cx="576263" cy="576262"/>
          </a:xfrm>
          <a:prstGeom prst="ellipse">
            <a:avLst/>
          </a:prstGeom>
          <a:solidFill>
            <a:srgbClr val="99CCFF"/>
          </a:solidFill>
          <a:ln w="9525">
            <a:solidFill>
              <a:schemeClr val="tx1"/>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sp>
        <p:nvSpPr>
          <p:cNvPr id="102408" name="Line 8"/>
          <p:cNvSpPr>
            <a:spLocks noChangeShapeType="1"/>
          </p:cNvSpPr>
          <p:nvPr/>
        </p:nvSpPr>
        <p:spPr bwMode="auto">
          <a:xfrm>
            <a:off x="2339975" y="3789363"/>
            <a:ext cx="576263" cy="0"/>
          </a:xfrm>
          <a:prstGeom prst="line">
            <a:avLst/>
          </a:prstGeom>
          <a:noFill/>
          <a:ln w="9525">
            <a:solidFill>
              <a:schemeClr val="tx1"/>
            </a:solidFill>
            <a:round/>
          </a:ln>
          <a:extLst>
            <a:ext uri="{909E8E84-426E-40DD-AFC4-6F175D3DCCD1}">
              <a14:hiddenFill xmlns:a14="http://schemas.microsoft.com/office/drawing/2010/main">
                <a:noFill/>
              </a14:hiddenFill>
            </a:ext>
          </a:extLst>
        </p:spPr>
        <p:txBody>
          <a:bodyPr/>
          <a:lstStyle/>
          <a:p>
            <a:endParaRPr lang="zh-CN" altLang="en-US"/>
          </a:p>
        </p:txBody>
      </p:sp>
      <p:sp>
        <p:nvSpPr>
          <p:cNvPr id="102409" name="Line 9"/>
          <p:cNvSpPr>
            <a:spLocks noChangeShapeType="1"/>
          </p:cNvSpPr>
          <p:nvPr/>
        </p:nvSpPr>
        <p:spPr bwMode="auto">
          <a:xfrm>
            <a:off x="1979613" y="4076700"/>
            <a:ext cx="0" cy="576263"/>
          </a:xfrm>
          <a:prstGeom prst="line">
            <a:avLst/>
          </a:prstGeom>
          <a:noFill/>
          <a:ln w="9525">
            <a:solidFill>
              <a:schemeClr val="tx1"/>
            </a:solidFill>
            <a:round/>
          </a:ln>
          <a:extLst>
            <a:ext uri="{909E8E84-426E-40DD-AFC4-6F175D3DCCD1}">
              <a14:hiddenFill xmlns:a14="http://schemas.microsoft.com/office/drawing/2010/main">
                <a:noFill/>
              </a14:hiddenFill>
            </a:ext>
          </a:extLst>
        </p:spPr>
        <p:txBody>
          <a:bodyPr/>
          <a:lstStyle/>
          <a:p>
            <a:endParaRPr lang="zh-CN" altLang="en-US"/>
          </a:p>
        </p:txBody>
      </p:sp>
      <p:sp>
        <p:nvSpPr>
          <p:cNvPr id="102410" name="Line 10"/>
          <p:cNvSpPr>
            <a:spLocks noChangeShapeType="1"/>
          </p:cNvSpPr>
          <p:nvPr/>
        </p:nvSpPr>
        <p:spPr bwMode="auto">
          <a:xfrm>
            <a:off x="2339975" y="5013325"/>
            <a:ext cx="647700" cy="0"/>
          </a:xfrm>
          <a:prstGeom prst="line">
            <a:avLst/>
          </a:prstGeom>
          <a:noFill/>
          <a:ln w="9525">
            <a:solidFill>
              <a:schemeClr val="tx1"/>
            </a:solidFill>
            <a:round/>
          </a:ln>
          <a:extLst>
            <a:ext uri="{909E8E84-426E-40DD-AFC4-6F175D3DCCD1}">
              <a14:hiddenFill xmlns:a14="http://schemas.microsoft.com/office/drawing/2010/main">
                <a:noFill/>
              </a14:hiddenFill>
            </a:ext>
          </a:extLst>
        </p:spPr>
        <p:txBody>
          <a:bodyPr/>
          <a:lstStyle/>
          <a:p>
            <a:endParaRPr lang="zh-CN" altLang="en-US"/>
          </a:p>
        </p:txBody>
      </p:sp>
      <p:sp>
        <p:nvSpPr>
          <p:cNvPr id="102411" name="Line 11"/>
          <p:cNvSpPr>
            <a:spLocks noChangeShapeType="1"/>
          </p:cNvSpPr>
          <p:nvPr/>
        </p:nvSpPr>
        <p:spPr bwMode="auto">
          <a:xfrm>
            <a:off x="3203575" y="4076700"/>
            <a:ext cx="0" cy="576263"/>
          </a:xfrm>
          <a:prstGeom prst="line">
            <a:avLst/>
          </a:prstGeom>
          <a:noFill/>
          <a:ln w="9525">
            <a:solidFill>
              <a:schemeClr val="tx1"/>
            </a:solidFill>
            <a:round/>
          </a:ln>
          <a:extLst>
            <a:ext uri="{909E8E84-426E-40DD-AFC4-6F175D3DCCD1}">
              <a14:hiddenFill xmlns:a14="http://schemas.microsoft.com/office/drawing/2010/main">
                <a:noFill/>
              </a14:hiddenFill>
            </a:ext>
          </a:extLst>
        </p:spPr>
        <p:txBody>
          <a:bodyPr/>
          <a:lstStyle/>
          <a:p>
            <a:endParaRPr lang="zh-CN" altLang="en-US"/>
          </a:p>
        </p:txBody>
      </p:sp>
      <p:sp>
        <p:nvSpPr>
          <p:cNvPr id="102412" name="Line 12"/>
          <p:cNvSpPr>
            <a:spLocks noChangeShapeType="1"/>
          </p:cNvSpPr>
          <p:nvPr/>
        </p:nvSpPr>
        <p:spPr bwMode="auto">
          <a:xfrm flipH="1">
            <a:off x="2268538" y="4005263"/>
            <a:ext cx="719137" cy="719137"/>
          </a:xfrm>
          <a:prstGeom prst="line">
            <a:avLst/>
          </a:prstGeom>
          <a:noFill/>
          <a:ln w="9525">
            <a:solidFill>
              <a:schemeClr val="tx1"/>
            </a:solidFill>
            <a:round/>
          </a:ln>
          <a:extLst>
            <a:ext uri="{909E8E84-426E-40DD-AFC4-6F175D3DCCD1}">
              <a14:hiddenFill xmlns:a14="http://schemas.microsoft.com/office/drawing/2010/main">
                <a:noFill/>
              </a14:hiddenFill>
            </a:ext>
          </a:extLst>
        </p:spPr>
        <p:txBody>
          <a:bodyPr/>
          <a:lstStyle/>
          <a:p>
            <a:endParaRPr lang="zh-CN" altLang="en-US"/>
          </a:p>
        </p:txBody>
      </p:sp>
      <p:sp>
        <p:nvSpPr>
          <p:cNvPr id="102413" name="Line 13"/>
          <p:cNvSpPr>
            <a:spLocks noChangeShapeType="1"/>
          </p:cNvSpPr>
          <p:nvPr/>
        </p:nvSpPr>
        <p:spPr bwMode="auto">
          <a:xfrm>
            <a:off x="2268538" y="4005263"/>
            <a:ext cx="790575" cy="719137"/>
          </a:xfrm>
          <a:prstGeom prst="line">
            <a:avLst/>
          </a:prstGeom>
          <a:noFill/>
          <a:ln w="9525">
            <a:solidFill>
              <a:schemeClr val="tx1"/>
            </a:solidFill>
            <a:round/>
          </a:ln>
          <a:extLst>
            <a:ext uri="{909E8E84-426E-40DD-AFC4-6F175D3DCCD1}">
              <a14:hiddenFill xmlns:a14="http://schemas.microsoft.com/office/drawing/2010/main">
                <a:noFill/>
              </a14:hiddenFill>
            </a:ext>
          </a:extLst>
        </p:spPr>
        <p:txBody>
          <a:bodyPr/>
          <a:lstStyle/>
          <a:p>
            <a:endParaRPr lang="zh-CN" altLang="en-US"/>
          </a:p>
        </p:txBody>
      </p:sp>
      <p:sp>
        <p:nvSpPr>
          <p:cNvPr id="102418" name="Oval 18"/>
          <p:cNvSpPr>
            <a:spLocks noChangeArrowheads="1"/>
          </p:cNvSpPr>
          <p:nvPr/>
        </p:nvSpPr>
        <p:spPr bwMode="auto">
          <a:xfrm>
            <a:off x="5146675" y="3429000"/>
            <a:ext cx="576263" cy="576263"/>
          </a:xfrm>
          <a:prstGeom prst="ellipse">
            <a:avLst/>
          </a:prstGeom>
          <a:solidFill>
            <a:srgbClr val="99CCFF"/>
          </a:solidFill>
          <a:ln w="9525">
            <a:solidFill>
              <a:schemeClr val="tx1"/>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sp>
        <p:nvSpPr>
          <p:cNvPr id="102419" name="Oval 19"/>
          <p:cNvSpPr>
            <a:spLocks noChangeArrowheads="1"/>
          </p:cNvSpPr>
          <p:nvPr/>
        </p:nvSpPr>
        <p:spPr bwMode="auto">
          <a:xfrm>
            <a:off x="6731000" y="3357563"/>
            <a:ext cx="576263" cy="576262"/>
          </a:xfrm>
          <a:prstGeom prst="ellipse">
            <a:avLst/>
          </a:prstGeom>
          <a:solidFill>
            <a:srgbClr val="99CCFF"/>
          </a:solidFill>
          <a:ln w="9525">
            <a:solidFill>
              <a:schemeClr val="tx1"/>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sp>
        <p:nvSpPr>
          <p:cNvPr id="102420" name="Oval 20"/>
          <p:cNvSpPr>
            <a:spLocks noChangeArrowheads="1"/>
          </p:cNvSpPr>
          <p:nvPr/>
        </p:nvSpPr>
        <p:spPr bwMode="auto">
          <a:xfrm>
            <a:off x="5146675" y="4581525"/>
            <a:ext cx="576263" cy="576263"/>
          </a:xfrm>
          <a:prstGeom prst="ellipse">
            <a:avLst/>
          </a:prstGeom>
          <a:solidFill>
            <a:srgbClr val="99CCFF"/>
          </a:solidFill>
          <a:ln w="9525">
            <a:solidFill>
              <a:schemeClr val="tx1"/>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sp>
        <p:nvSpPr>
          <p:cNvPr id="102421" name="Oval 21"/>
          <p:cNvSpPr>
            <a:spLocks noChangeArrowheads="1"/>
          </p:cNvSpPr>
          <p:nvPr/>
        </p:nvSpPr>
        <p:spPr bwMode="auto">
          <a:xfrm>
            <a:off x="6804025" y="4581525"/>
            <a:ext cx="576263" cy="576263"/>
          </a:xfrm>
          <a:prstGeom prst="ellipse">
            <a:avLst/>
          </a:prstGeom>
          <a:solidFill>
            <a:srgbClr val="99CCFF"/>
          </a:solidFill>
          <a:ln w="9525">
            <a:solidFill>
              <a:schemeClr val="tx1"/>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sp>
        <p:nvSpPr>
          <p:cNvPr id="102422" name="Line 22"/>
          <p:cNvSpPr>
            <a:spLocks noChangeShapeType="1"/>
          </p:cNvSpPr>
          <p:nvPr/>
        </p:nvSpPr>
        <p:spPr bwMode="auto">
          <a:xfrm>
            <a:off x="5722938" y="3717925"/>
            <a:ext cx="1008062" cy="0"/>
          </a:xfrm>
          <a:prstGeom prst="line">
            <a:avLst/>
          </a:prstGeom>
          <a:noFill/>
          <a:ln w="9525">
            <a:solidFill>
              <a:schemeClr val="tx1"/>
            </a:solidFill>
            <a:round/>
          </a:ln>
          <a:extLst>
            <a:ext uri="{909E8E84-426E-40DD-AFC4-6F175D3DCCD1}">
              <a14:hiddenFill xmlns:a14="http://schemas.microsoft.com/office/drawing/2010/main">
                <a:noFill/>
              </a14:hiddenFill>
            </a:ext>
          </a:extLst>
        </p:spPr>
        <p:txBody>
          <a:bodyPr/>
          <a:lstStyle/>
          <a:p>
            <a:endParaRPr lang="zh-CN" altLang="en-US"/>
          </a:p>
        </p:txBody>
      </p:sp>
      <p:sp>
        <p:nvSpPr>
          <p:cNvPr id="102423" name="Line 23"/>
          <p:cNvSpPr>
            <a:spLocks noChangeShapeType="1"/>
          </p:cNvSpPr>
          <p:nvPr/>
        </p:nvSpPr>
        <p:spPr bwMode="auto">
          <a:xfrm>
            <a:off x="5364163" y="4005263"/>
            <a:ext cx="0" cy="576262"/>
          </a:xfrm>
          <a:prstGeom prst="line">
            <a:avLst/>
          </a:prstGeom>
          <a:noFill/>
          <a:ln w="9525">
            <a:solidFill>
              <a:schemeClr val="tx1"/>
            </a:solidFill>
            <a:round/>
          </a:ln>
          <a:extLst>
            <a:ext uri="{909E8E84-426E-40DD-AFC4-6F175D3DCCD1}">
              <a14:hiddenFill xmlns:a14="http://schemas.microsoft.com/office/drawing/2010/main">
                <a:noFill/>
              </a14:hiddenFill>
            </a:ext>
          </a:extLst>
        </p:spPr>
        <p:txBody>
          <a:bodyPr/>
          <a:lstStyle/>
          <a:p>
            <a:endParaRPr lang="zh-CN" altLang="en-US"/>
          </a:p>
        </p:txBody>
      </p:sp>
      <p:sp>
        <p:nvSpPr>
          <p:cNvPr id="102433" name="Line 33"/>
          <p:cNvSpPr>
            <a:spLocks noChangeShapeType="1"/>
          </p:cNvSpPr>
          <p:nvPr/>
        </p:nvSpPr>
        <p:spPr bwMode="auto">
          <a:xfrm>
            <a:off x="5722938" y="4941888"/>
            <a:ext cx="1081087" cy="0"/>
          </a:xfrm>
          <a:prstGeom prst="line">
            <a:avLst/>
          </a:prstGeom>
          <a:noFill/>
          <a:ln w="9525">
            <a:solidFill>
              <a:schemeClr val="tx1"/>
            </a:solidFill>
            <a:round/>
          </a:ln>
          <a:extLst>
            <a:ext uri="{909E8E84-426E-40DD-AFC4-6F175D3DCCD1}">
              <a14:hiddenFill xmlns:a14="http://schemas.microsoft.com/office/drawing/2010/main">
                <a:noFill/>
              </a14:hiddenFill>
            </a:ext>
          </a:extLst>
        </p:spPr>
        <p:txBody>
          <a:bodyPr/>
          <a:lstStyle/>
          <a:p>
            <a:endParaRPr lang="zh-CN" altLang="en-US"/>
          </a:p>
        </p:txBody>
      </p:sp>
      <p:sp>
        <p:nvSpPr>
          <p:cNvPr id="102437" name="Line 37"/>
          <p:cNvSpPr>
            <a:spLocks noChangeShapeType="1"/>
          </p:cNvSpPr>
          <p:nvPr/>
        </p:nvSpPr>
        <p:spPr bwMode="auto">
          <a:xfrm>
            <a:off x="7019925" y="3933825"/>
            <a:ext cx="0" cy="647700"/>
          </a:xfrm>
          <a:prstGeom prst="line">
            <a:avLst/>
          </a:prstGeom>
          <a:noFill/>
          <a:ln w="9525">
            <a:solidFill>
              <a:schemeClr val="tx1"/>
            </a:solidFill>
            <a:round/>
          </a:ln>
          <a:extLst>
            <a:ext uri="{909E8E84-426E-40DD-AFC4-6F175D3DCCD1}">
              <a14:hiddenFill xmlns:a14="http://schemas.microsoft.com/office/drawing/2010/main">
                <a:noFill/>
              </a14:hiddenFill>
            </a:ext>
          </a:extLst>
        </p:spPr>
        <p:txBody>
          <a:bodyPr/>
          <a:lstStyle/>
          <a:p>
            <a:endParaRPr lang="zh-CN" altLang="en-US"/>
          </a:p>
        </p:txBody>
      </p:sp>
      <p:sp>
        <p:nvSpPr>
          <p:cNvPr id="102438" name="Line 38"/>
          <p:cNvSpPr>
            <a:spLocks noChangeShapeType="1"/>
          </p:cNvSpPr>
          <p:nvPr/>
        </p:nvSpPr>
        <p:spPr bwMode="auto">
          <a:xfrm flipH="1">
            <a:off x="5651500" y="3789363"/>
            <a:ext cx="1152525" cy="863600"/>
          </a:xfrm>
          <a:prstGeom prst="line">
            <a:avLst/>
          </a:prstGeom>
          <a:noFill/>
          <a:ln w="9525">
            <a:solidFill>
              <a:schemeClr val="tx1"/>
            </a:solidFill>
            <a:round/>
          </a:ln>
          <a:extLst>
            <a:ext uri="{909E8E84-426E-40DD-AFC4-6F175D3DCCD1}">
              <a14:hiddenFill xmlns:a14="http://schemas.microsoft.com/office/drawing/2010/main">
                <a:noFill/>
              </a14:hiddenFill>
            </a:ext>
          </a:extLst>
        </p:spPr>
        <p:txBody>
          <a:bodyPr/>
          <a:lstStyle/>
          <a:p>
            <a:endParaRPr lang="zh-CN" altLang="en-US"/>
          </a:p>
        </p:txBody>
      </p:sp>
      <p:cxnSp>
        <p:nvCxnSpPr>
          <p:cNvPr id="102441" name="AutoShape 41"/>
          <p:cNvCxnSpPr>
            <a:cxnSpLocks noChangeShapeType="1"/>
            <a:stCxn id="102421" idx="4"/>
          </p:cNvCxnSpPr>
          <p:nvPr/>
        </p:nvCxnSpPr>
        <p:spPr bwMode="auto">
          <a:xfrm rot="16200000" flipV="1">
            <a:off x="5435600" y="3500438"/>
            <a:ext cx="1368425" cy="1946275"/>
          </a:xfrm>
          <a:prstGeom prst="curvedConnector4">
            <a:avLst>
              <a:gd name="adj1" fmla="val -16588"/>
              <a:gd name="adj2" fmla="val 129931"/>
            </a:avLst>
          </a:prstGeom>
          <a:noFill/>
          <a:ln w="9525">
            <a:solidFill>
              <a:schemeClr val="tx1"/>
            </a:solidFill>
            <a:round/>
          </a:ln>
          <a:extLst>
            <a:ext uri="{909E8E84-426E-40DD-AFC4-6F175D3DCCD1}">
              <a14:hiddenFill xmlns:a14="http://schemas.microsoft.com/office/drawing/2010/main">
                <a:noFill/>
              </a14:hiddenFill>
            </a:ext>
          </a:extLst>
        </p:spPr>
      </p:cxnSp>
      <p:sp>
        <p:nvSpPr>
          <p:cNvPr id="102442" name="AutoShape 42"/>
          <p:cNvSpPr>
            <a:spLocks noChangeArrowheads="1"/>
          </p:cNvSpPr>
          <p:nvPr/>
        </p:nvSpPr>
        <p:spPr bwMode="auto">
          <a:xfrm>
            <a:off x="3563938" y="4221163"/>
            <a:ext cx="976312" cy="287337"/>
          </a:xfrm>
          <a:prstGeom prst="rightArrow">
            <a:avLst>
              <a:gd name="adj1" fmla="val 50000"/>
              <a:gd name="adj2" fmla="val 84945"/>
            </a:avLst>
          </a:prstGeom>
          <a:gradFill rotWithShape="1">
            <a:gsLst>
              <a:gs pos="0">
                <a:srgbClr val="EA0000">
                  <a:gamma/>
                  <a:tint val="34902"/>
                  <a:invGamma/>
                  <a:alpha val="74001"/>
                </a:srgbClr>
              </a:gs>
              <a:gs pos="50000">
                <a:srgbClr val="EA0000"/>
              </a:gs>
              <a:gs pos="100000">
                <a:srgbClr val="EA0000">
                  <a:gamma/>
                  <a:tint val="34902"/>
                  <a:invGamma/>
                  <a:alpha val="74001"/>
                </a:srgbClr>
              </a:gs>
            </a:gsLst>
            <a:lin ang="5400000" scaled="1"/>
          </a:gradFill>
          <a:ln w="9525">
            <a:solidFill>
              <a:schemeClr val="tx1"/>
            </a:solidFill>
            <a:miter lim="800000"/>
          </a:ln>
          <a:effectLst/>
        </p:spPr>
        <p:txBody>
          <a:bodyPr wrap="none" anchor="ctr"/>
          <a:lstStyle/>
          <a:p>
            <a:pPr>
              <a:defRPr/>
            </a:pPr>
            <a:endParaRPr lang="zh-CN" altLang="en-US">
              <a:latin typeface="Arial" panose="020B060402020209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102404"/>
                                        </p:tgtEl>
                                        <p:attrNameLst>
                                          <p:attrName>style.visibility</p:attrName>
                                        </p:attrNameLst>
                                      </p:cBhvr>
                                      <p:to>
                                        <p:strVal val="visible"/>
                                      </p:to>
                                    </p:set>
                                    <p:animEffect transition="in" filter="box(in)">
                                      <p:cBhvr>
                                        <p:cTn id="7" dur="500"/>
                                        <p:tgtEl>
                                          <p:spTgt spid="102404"/>
                                        </p:tgtEl>
                                      </p:cBhvr>
                                    </p:animEffect>
                                  </p:childTnLst>
                                </p:cTn>
                              </p:par>
                              <p:par>
                                <p:cTn id="8" presetID="4" presetClass="entr" presetSubtype="16" fill="hold" grpId="0" nodeType="withEffect">
                                  <p:stCondLst>
                                    <p:cond delay="0"/>
                                  </p:stCondLst>
                                  <p:childTnLst>
                                    <p:set>
                                      <p:cBhvr>
                                        <p:cTn id="9" dur="1" fill="hold">
                                          <p:stCondLst>
                                            <p:cond delay="0"/>
                                          </p:stCondLst>
                                        </p:cTn>
                                        <p:tgtEl>
                                          <p:spTgt spid="102405"/>
                                        </p:tgtEl>
                                        <p:attrNameLst>
                                          <p:attrName>style.visibility</p:attrName>
                                        </p:attrNameLst>
                                      </p:cBhvr>
                                      <p:to>
                                        <p:strVal val="visible"/>
                                      </p:to>
                                    </p:set>
                                    <p:animEffect transition="in" filter="box(in)">
                                      <p:cBhvr>
                                        <p:cTn id="10" dur="500"/>
                                        <p:tgtEl>
                                          <p:spTgt spid="102405"/>
                                        </p:tgtEl>
                                      </p:cBhvr>
                                    </p:animEffect>
                                  </p:childTnLst>
                                </p:cTn>
                              </p:par>
                              <p:par>
                                <p:cTn id="11" presetID="4" presetClass="entr" presetSubtype="16" fill="hold" grpId="0" nodeType="withEffect">
                                  <p:stCondLst>
                                    <p:cond delay="0"/>
                                  </p:stCondLst>
                                  <p:childTnLst>
                                    <p:set>
                                      <p:cBhvr>
                                        <p:cTn id="12" dur="1" fill="hold">
                                          <p:stCondLst>
                                            <p:cond delay="0"/>
                                          </p:stCondLst>
                                        </p:cTn>
                                        <p:tgtEl>
                                          <p:spTgt spid="102406"/>
                                        </p:tgtEl>
                                        <p:attrNameLst>
                                          <p:attrName>style.visibility</p:attrName>
                                        </p:attrNameLst>
                                      </p:cBhvr>
                                      <p:to>
                                        <p:strVal val="visible"/>
                                      </p:to>
                                    </p:set>
                                    <p:animEffect transition="in" filter="box(in)">
                                      <p:cBhvr>
                                        <p:cTn id="13" dur="500"/>
                                        <p:tgtEl>
                                          <p:spTgt spid="102406"/>
                                        </p:tgtEl>
                                      </p:cBhvr>
                                    </p:animEffect>
                                  </p:childTnLst>
                                </p:cTn>
                              </p:par>
                              <p:par>
                                <p:cTn id="14" presetID="4" presetClass="entr" presetSubtype="16" fill="hold" grpId="0" nodeType="withEffect">
                                  <p:stCondLst>
                                    <p:cond delay="0"/>
                                  </p:stCondLst>
                                  <p:childTnLst>
                                    <p:set>
                                      <p:cBhvr>
                                        <p:cTn id="15" dur="1" fill="hold">
                                          <p:stCondLst>
                                            <p:cond delay="0"/>
                                          </p:stCondLst>
                                        </p:cTn>
                                        <p:tgtEl>
                                          <p:spTgt spid="102407"/>
                                        </p:tgtEl>
                                        <p:attrNameLst>
                                          <p:attrName>style.visibility</p:attrName>
                                        </p:attrNameLst>
                                      </p:cBhvr>
                                      <p:to>
                                        <p:strVal val="visible"/>
                                      </p:to>
                                    </p:set>
                                    <p:animEffect transition="in" filter="box(in)">
                                      <p:cBhvr>
                                        <p:cTn id="16" dur="500"/>
                                        <p:tgtEl>
                                          <p:spTgt spid="102407"/>
                                        </p:tgtEl>
                                      </p:cBhvr>
                                    </p:animEffect>
                                  </p:childTnLst>
                                </p:cTn>
                              </p:par>
                              <p:par>
                                <p:cTn id="17" presetID="4" presetClass="entr" presetSubtype="16" fill="hold" nodeType="withEffect">
                                  <p:stCondLst>
                                    <p:cond delay="0"/>
                                  </p:stCondLst>
                                  <p:childTnLst>
                                    <p:set>
                                      <p:cBhvr>
                                        <p:cTn id="18" dur="1" fill="hold">
                                          <p:stCondLst>
                                            <p:cond delay="0"/>
                                          </p:stCondLst>
                                        </p:cTn>
                                        <p:tgtEl>
                                          <p:spTgt spid="102408"/>
                                        </p:tgtEl>
                                        <p:attrNameLst>
                                          <p:attrName>style.visibility</p:attrName>
                                        </p:attrNameLst>
                                      </p:cBhvr>
                                      <p:to>
                                        <p:strVal val="visible"/>
                                      </p:to>
                                    </p:set>
                                    <p:animEffect transition="in" filter="box(in)">
                                      <p:cBhvr>
                                        <p:cTn id="19" dur="500"/>
                                        <p:tgtEl>
                                          <p:spTgt spid="102408"/>
                                        </p:tgtEl>
                                      </p:cBhvr>
                                    </p:animEffect>
                                  </p:childTnLst>
                                </p:cTn>
                              </p:par>
                              <p:par>
                                <p:cTn id="20" presetID="4" presetClass="entr" presetSubtype="16" fill="hold" nodeType="withEffect">
                                  <p:stCondLst>
                                    <p:cond delay="0"/>
                                  </p:stCondLst>
                                  <p:childTnLst>
                                    <p:set>
                                      <p:cBhvr>
                                        <p:cTn id="21" dur="1" fill="hold">
                                          <p:stCondLst>
                                            <p:cond delay="0"/>
                                          </p:stCondLst>
                                        </p:cTn>
                                        <p:tgtEl>
                                          <p:spTgt spid="102409"/>
                                        </p:tgtEl>
                                        <p:attrNameLst>
                                          <p:attrName>style.visibility</p:attrName>
                                        </p:attrNameLst>
                                      </p:cBhvr>
                                      <p:to>
                                        <p:strVal val="visible"/>
                                      </p:to>
                                    </p:set>
                                    <p:animEffect transition="in" filter="box(in)">
                                      <p:cBhvr>
                                        <p:cTn id="22" dur="500"/>
                                        <p:tgtEl>
                                          <p:spTgt spid="102409"/>
                                        </p:tgtEl>
                                      </p:cBhvr>
                                    </p:animEffect>
                                  </p:childTnLst>
                                </p:cTn>
                              </p:par>
                              <p:par>
                                <p:cTn id="23" presetID="4" presetClass="entr" presetSubtype="16" fill="hold" nodeType="withEffect">
                                  <p:stCondLst>
                                    <p:cond delay="0"/>
                                  </p:stCondLst>
                                  <p:childTnLst>
                                    <p:set>
                                      <p:cBhvr>
                                        <p:cTn id="24" dur="1" fill="hold">
                                          <p:stCondLst>
                                            <p:cond delay="0"/>
                                          </p:stCondLst>
                                        </p:cTn>
                                        <p:tgtEl>
                                          <p:spTgt spid="102410"/>
                                        </p:tgtEl>
                                        <p:attrNameLst>
                                          <p:attrName>style.visibility</p:attrName>
                                        </p:attrNameLst>
                                      </p:cBhvr>
                                      <p:to>
                                        <p:strVal val="visible"/>
                                      </p:to>
                                    </p:set>
                                    <p:animEffect transition="in" filter="box(in)">
                                      <p:cBhvr>
                                        <p:cTn id="25" dur="500"/>
                                        <p:tgtEl>
                                          <p:spTgt spid="102410"/>
                                        </p:tgtEl>
                                      </p:cBhvr>
                                    </p:animEffect>
                                  </p:childTnLst>
                                </p:cTn>
                              </p:par>
                              <p:par>
                                <p:cTn id="26" presetID="4" presetClass="entr" presetSubtype="16" fill="hold" nodeType="withEffect">
                                  <p:stCondLst>
                                    <p:cond delay="0"/>
                                  </p:stCondLst>
                                  <p:childTnLst>
                                    <p:set>
                                      <p:cBhvr>
                                        <p:cTn id="27" dur="1" fill="hold">
                                          <p:stCondLst>
                                            <p:cond delay="0"/>
                                          </p:stCondLst>
                                        </p:cTn>
                                        <p:tgtEl>
                                          <p:spTgt spid="102411"/>
                                        </p:tgtEl>
                                        <p:attrNameLst>
                                          <p:attrName>style.visibility</p:attrName>
                                        </p:attrNameLst>
                                      </p:cBhvr>
                                      <p:to>
                                        <p:strVal val="visible"/>
                                      </p:to>
                                    </p:set>
                                    <p:animEffect transition="in" filter="box(in)">
                                      <p:cBhvr>
                                        <p:cTn id="28" dur="500"/>
                                        <p:tgtEl>
                                          <p:spTgt spid="102411"/>
                                        </p:tgtEl>
                                      </p:cBhvr>
                                    </p:animEffect>
                                  </p:childTnLst>
                                </p:cTn>
                              </p:par>
                              <p:par>
                                <p:cTn id="29" presetID="4" presetClass="entr" presetSubtype="16" fill="hold" nodeType="withEffect">
                                  <p:stCondLst>
                                    <p:cond delay="0"/>
                                  </p:stCondLst>
                                  <p:childTnLst>
                                    <p:set>
                                      <p:cBhvr>
                                        <p:cTn id="30" dur="1" fill="hold">
                                          <p:stCondLst>
                                            <p:cond delay="0"/>
                                          </p:stCondLst>
                                        </p:cTn>
                                        <p:tgtEl>
                                          <p:spTgt spid="102412"/>
                                        </p:tgtEl>
                                        <p:attrNameLst>
                                          <p:attrName>style.visibility</p:attrName>
                                        </p:attrNameLst>
                                      </p:cBhvr>
                                      <p:to>
                                        <p:strVal val="visible"/>
                                      </p:to>
                                    </p:set>
                                    <p:animEffect transition="in" filter="box(in)">
                                      <p:cBhvr>
                                        <p:cTn id="31" dur="500"/>
                                        <p:tgtEl>
                                          <p:spTgt spid="102412"/>
                                        </p:tgtEl>
                                      </p:cBhvr>
                                    </p:animEffect>
                                  </p:childTnLst>
                                </p:cTn>
                              </p:par>
                              <p:par>
                                <p:cTn id="32" presetID="4" presetClass="entr" presetSubtype="16" fill="hold" nodeType="withEffect">
                                  <p:stCondLst>
                                    <p:cond delay="0"/>
                                  </p:stCondLst>
                                  <p:childTnLst>
                                    <p:set>
                                      <p:cBhvr>
                                        <p:cTn id="33" dur="1" fill="hold">
                                          <p:stCondLst>
                                            <p:cond delay="0"/>
                                          </p:stCondLst>
                                        </p:cTn>
                                        <p:tgtEl>
                                          <p:spTgt spid="102413"/>
                                        </p:tgtEl>
                                        <p:attrNameLst>
                                          <p:attrName>style.visibility</p:attrName>
                                        </p:attrNameLst>
                                      </p:cBhvr>
                                      <p:to>
                                        <p:strVal val="visible"/>
                                      </p:to>
                                    </p:set>
                                    <p:animEffect transition="in" filter="box(in)">
                                      <p:cBhvr>
                                        <p:cTn id="34" dur="500"/>
                                        <p:tgtEl>
                                          <p:spTgt spid="102413"/>
                                        </p:tgtEl>
                                      </p:cBhvr>
                                    </p:animEffect>
                                  </p:childTnLst>
                                </p:cTn>
                              </p:par>
                            </p:childTnLst>
                          </p:cTn>
                        </p:par>
                      </p:childTnLst>
                    </p:cTn>
                  </p:par>
                  <p:par>
                    <p:cTn id="35" fill="hold">
                      <p:stCondLst>
                        <p:cond delay="indefinite"/>
                      </p:stCondLst>
                      <p:childTnLst>
                        <p:par>
                          <p:cTn id="36" fill="hold">
                            <p:stCondLst>
                              <p:cond delay="0"/>
                            </p:stCondLst>
                            <p:childTnLst>
                              <p:par>
                                <p:cTn id="37" presetID="2" presetClass="entr" presetSubtype="8" fill="hold" nodeType="clickEffect">
                                  <p:stCondLst>
                                    <p:cond delay="0"/>
                                  </p:stCondLst>
                                  <p:childTnLst>
                                    <p:set>
                                      <p:cBhvr>
                                        <p:cTn id="38" dur="1" fill="hold">
                                          <p:stCondLst>
                                            <p:cond delay="0"/>
                                          </p:stCondLst>
                                        </p:cTn>
                                        <p:tgtEl>
                                          <p:spTgt spid="102442"/>
                                        </p:tgtEl>
                                        <p:attrNameLst>
                                          <p:attrName>style.visibility</p:attrName>
                                        </p:attrNameLst>
                                      </p:cBhvr>
                                      <p:to>
                                        <p:strVal val="visible"/>
                                      </p:to>
                                    </p:set>
                                    <p:anim calcmode="lin" valueType="num">
                                      <p:cBhvr additive="base">
                                        <p:cTn id="39" dur="500" fill="hold"/>
                                        <p:tgtEl>
                                          <p:spTgt spid="102442"/>
                                        </p:tgtEl>
                                        <p:attrNameLst>
                                          <p:attrName>ppt_x</p:attrName>
                                        </p:attrNameLst>
                                      </p:cBhvr>
                                      <p:tavLst>
                                        <p:tav tm="0">
                                          <p:val>
                                            <p:strVal val="0-#ppt_w/2"/>
                                          </p:val>
                                        </p:tav>
                                        <p:tav tm="100000">
                                          <p:val>
                                            <p:strVal val="#ppt_x"/>
                                          </p:val>
                                        </p:tav>
                                      </p:tavLst>
                                    </p:anim>
                                    <p:anim calcmode="lin" valueType="num">
                                      <p:cBhvr additive="base">
                                        <p:cTn id="40" dur="500" fill="hold"/>
                                        <p:tgtEl>
                                          <p:spTgt spid="102442"/>
                                        </p:tgtEl>
                                        <p:attrNameLst>
                                          <p:attrName>ppt_y</p:attrName>
                                        </p:attrNameLst>
                                      </p:cBhvr>
                                      <p:tavLst>
                                        <p:tav tm="0">
                                          <p:val>
                                            <p:strVal val="#ppt_y"/>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4" presetClass="entr" presetSubtype="16" fill="hold" grpId="0" nodeType="clickEffect">
                                  <p:stCondLst>
                                    <p:cond delay="0"/>
                                  </p:stCondLst>
                                  <p:childTnLst>
                                    <p:set>
                                      <p:cBhvr>
                                        <p:cTn id="44" dur="1" fill="hold">
                                          <p:stCondLst>
                                            <p:cond delay="0"/>
                                          </p:stCondLst>
                                        </p:cTn>
                                        <p:tgtEl>
                                          <p:spTgt spid="102418"/>
                                        </p:tgtEl>
                                        <p:attrNameLst>
                                          <p:attrName>style.visibility</p:attrName>
                                        </p:attrNameLst>
                                      </p:cBhvr>
                                      <p:to>
                                        <p:strVal val="visible"/>
                                      </p:to>
                                    </p:set>
                                    <p:animEffect transition="in" filter="box(in)">
                                      <p:cBhvr>
                                        <p:cTn id="45" dur="500"/>
                                        <p:tgtEl>
                                          <p:spTgt spid="102418"/>
                                        </p:tgtEl>
                                      </p:cBhvr>
                                    </p:animEffect>
                                  </p:childTnLst>
                                </p:cTn>
                              </p:par>
                              <p:par>
                                <p:cTn id="46" presetID="4" presetClass="entr" presetSubtype="16" fill="hold" grpId="0" nodeType="withEffect">
                                  <p:stCondLst>
                                    <p:cond delay="0"/>
                                  </p:stCondLst>
                                  <p:childTnLst>
                                    <p:set>
                                      <p:cBhvr>
                                        <p:cTn id="47" dur="1" fill="hold">
                                          <p:stCondLst>
                                            <p:cond delay="0"/>
                                          </p:stCondLst>
                                        </p:cTn>
                                        <p:tgtEl>
                                          <p:spTgt spid="102419"/>
                                        </p:tgtEl>
                                        <p:attrNameLst>
                                          <p:attrName>style.visibility</p:attrName>
                                        </p:attrNameLst>
                                      </p:cBhvr>
                                      <p:to>
                                        <p:strVal val="visible"/>
                                      </p:to>
                                    </p:set>
                                    <p:animEffect transition="in" filter="box(in)">
                                      <p:cBhvr>
                                        <p:cTn id="48" dur="500"/>
                                        <p:tgtEl>
                                          <p:spTgt spid="102419"/>
                                        </p:tgtEl>
                                      </p:cBhvr>
                                    </p:animEffect>
                                  </p:childTnLst>
                                </p:cTn>
                              </p:par>
                              <p:par>
                                <p:cTn id="49" presetID="4" presetClass="entr" presetSubtype="16" fill="hold" grpId="0" nodeType="withEffect">
                                  <p:stCondLst>
                                    <p:cond delay="0"/>
                                  </p:stCondLst>
                                  <p:childTnLst>
                                    <p:set>
                                      <p:cBhvr>
                                        <p:cTn id="50" dur="1" fill="hold">
                                          <p:stCondLst>
                                            <p:cond delay="0"/>
                                          </p:stCondLst>
                                        </p:cTn>
                                        <p:tgtEl>
                                          <p:spTgt spid="102420"/>
                                        </p:tgtEl>
                                        <p:attrNameLst>
                                          <p:attrName>style.visibility</p:attrName>
                                        </p:attrNameLst>
                                      </p:cBhvr>
                                      <p:to>
                                        <p:strVal val="visible"/>
                                      </p:to>
                                    </p:set>
                                    <p:animEffect transition="in" filter="box(in)">
                                      <p:cBhvr>
                                        <p:cTn id="51" dur="500"/>
                                        <p:tgtEl>
                                          <p:spTgt spid="102420"/>
                                        </p:tgtEl>
                                      </p:cBhvr>
                                    </p:animEffect>
                                  </p:childTnLst>
                                </p:cTn>
                              </p:par>
                              <p:par>
                                <p:cTn id="52" presetID="4" presetClass="entr" presetSubtype="16" fill="hold" grpId="0" nodeType="withEffect">
                                  <p:stCondLst>
                                    <p:cond delay="0"/>
                                  </p:stCondLst>
                                  <p:childTnLst>
                                    <p:set>
                                      <p:cBhvr>
                                        <p:cTn id="53" dur="1" fill="hold">
                                          <p:stCondLst>
                                            <p:cond delay="0"/>
                                          </p:stCondLst>
                                        </p:cTn>
                                        <p:tgtEl>
                                          <p:spTgt spid="102421"/>
                                        </p:tgtEl>
                                        <p:attrNameLst>
                                          <p:attrName>style.visibility</p:attrName>
                                        </p:attrNameLst>
                                      </p:cBhvr>
                                      <p:to>
                                        <p:strVal val="visible"/>
                                      </p:to>
                                    </p:set>
                                    <p:animEffect transition="in" filter="box(in)">
                                      <p:cBhvr>
                                        <p:cTn id="54" dur="500"/>
                                        <p:tgtEl>
                                          <p:spTgt spid="102421"/>
                                        </p:tgtEl>
                                      </p:cBhvr>
                                    </p:animEffect>
                                  </p:childTnLst>
                                </p:cTn>
                              </p:par>
                              <p:par>
                                <p:cTn id="55" presetID="4" presetClass="entr" presetSubtype="16" fill="hold" nodeType="withEffect">
                                  <p:stCondLst>
                                    <p:cond delay="0"/>
                                  </p:stCondLst>
                                  <p:childTnLst>
                                    <p:set>
                                      <p:cBhvr>
                                        <p:cTn id="56" dur="1" fill="hold">
                                          <p:stCondLst>
                                            <p:cond delay="0"/>
                                          </p:stCondLst>
                                        </p:cTn>
                                        <p:tgtEl>
                                          <p:spTgt spid="102422"/>
                                        </p:tgtEl>
                                        <p:attrNameLst>
                                          <p:attrName>style.visibility</p:attrName>
                                        </p:attrNameLst>
                                      </p:cBhvr>
                                      <p:to>
                                        <p:strVal val="visible"/>
                                      </p:to>
                                    </p:set>
                                    <p:animEffect transition="in" filter="box(in)">
                                      <p:cBhvr>
                                        <p:cTn id="57" dur="500"/>
                                        <p:tgtEl>
                                          <p:spTgt spid="102422"/>
                                        </p:tgtEl>
                                      </p:cBhvr>
                                    </p:animEffect>
                                  </p:childTnLst>
                                </p:cTn>
                              </p:par>
                              <p:par>
                                <p:cTn id="58" presetID="4" presetClass="entr" presetSubtype="16" fill="hold" nodeType="withEffect">
                                  <p:stCondLst>
                                    <p:cond delay="0"/>
                                  </p:stCondLst>
                                  <p:childTnLst>
                                    <p:set>
                                      <p:cBhvr>
                                        <p:cTn id="59" dur="1" fill="hold">
                                          <p:stCondLst>
                                            <p:cond delay="0"/>
                                          </p:stCondLst>
                                        </p:cTn>
                                        <p:tgtEl>
                                          <p:spTgt spid="102423"/>
                                        </p:tgtEl>
                                        <p:attrNameLst>
                                          <p:attrName>style.visibility</p:attrName>
                                        </p:attrNameLst>
                                      </p:cBhvr>
                                      <p:to>
                                        <p:strVal val="visible"/>
                                      </p:to>
                                    </p:set>
                                    <p:animEffect transition="in" filter="box(in)">
                                      <p:cBhvr>
                                        <p:cTn id="60" dur="500"/>
                                        <p:tgtEl>
                                          <p:spTgt spid="102423"/>
                                        </p:tgtEl>
                                      </p:cBhvr>
                                    </p:animEffect>
                                  </p:childTnLst>
                                </p:cTn>
                              </p:par>
                              <p:par>
                                <p:cTn id="61" presetID="4" presetClass="entr" presetSubtype="16" fill="hold" nodeType="withEffect">
                                  <p:stCondLst>
                                    <p:cond delay="0"/>
                                  </p:stCondLst>
                                  <p:childTnLst>
                                    <p:set>
                                      <p:cBhvr>
                                        <p:cTn id="62" dur="1" fill="hold">
                                          <p:stCondLst>
                                            <p:cond delay="0"/>
                                          </p:stCondLst>
                                        </p:cTn>
                                        <p:tgtEl>
                                          <p:spTgt spid="102433"/>
                                        </p:tgtEl>
                                        <p:attrNameLst>
                                          <p:attrName>style.visibility</p:attrName>
                                        </p:attrNameLst>
                                      </p:cBhvr>
                                      <p:to>
                                        <p:strVal val="visible"/>
                                      </p:to>
                                    </p:set>
                                    <p:animEffect transition="in" filter="box(in)">
                                      <p:cBhvr>
                                        <p:cTn id="63" dur="500"/>
                                        <p:tgtEl>
                                          <p:spTgt spid="102433"/>
                                        </p:tgtEl>
                                      </p:cBhvr>
                                    </p:animEffect>
                                  </p:childTnLst>
                                </p:cTn>
                              </p:par>
                              <p:par>
                                <p:cTn id="64" presetID="4" presetClass="entr" presetSubtype="16" fill="hold" nodeType="withEffect">
                                  <p:stCondLst>
                                    <p:cond delay="0"/>
                                  </p:stCondLst>
                                  <p:childTnLst>
                                    <p:set>
                                      <p:cBhvr>
                                        <p:cTn id="65" dur="1" fill="hold">
                                          <p:stCondLst>
                                            <p:cond delay="0"/>
                                          </p:stCondLst>
                                        </p:cTn>
                                        <p:tgtEl>
                                          <p:spTgt spid="102437"/>
                                        </p:tgtEl>
                                        <p:attrNameLst>
                                          <p:attrName>style.visibility</p:attrName>
                                        </p:attrNameLst>
                                      </p:cBhvr>
                                      <p:to>
                                        <p:strVal val="visible"/>
                                      </p:to>
                                    </p:set>
                                    <p:animEffect transition="in" filter="box(in)">
                                      <p:cBhvr>
                                        <p:cTn id="66" dur="500"/>
                                        <p:tgtEl>
                                          <p:spTgt spid="102437"/>
                                        </p:tgtEl>
                                      </p:cBhvr>
                                    </p:animEffect>
                                  </p:childTnLst>
                                </p:cTn>
                              </p:par>
                              <p:par>
                                <p:cTn id="67" presetID="4" presetClass="entr" presetSubtype="16" fill="hold" nodeType="withEffect">
                                  <p:stCondLst>
                                    <p:cond delay="0"/>
                                  </p:stCondLst>
                                  <p:childTnLst>
                                    <p:set>
                                      <p:cBhvr>
                                        <p:cTn id="68" dur="1" fill="hold">
                                          <p:stCondLst>
                                            <p:cond delay="0"/>
                                          </p:stCondLst>
                                        </p:cTn>
                                        <p:tgtEl>
                                          <p:spTgt spid="102438"/>
                                        </p:tgtEl>
                                        <p:attrNameLst>
                                          <p:attrName>style.visibility</p:attrName>
                                        </p:attrNameLst>
                                      </p:cBhvr>
                                      <p:to>
                                        <p:strVal val="visible"/>
                                      </p:to>
                                    </p:set>
                                    <p:animEffect transition="in" filter="box(in)">
                                      <p:cBhvr>
                                        <p:cTn id="69" dur="500"/>
                                        <p:tgtEl>
                                          <p:spTgt spid="102438"/>
                                        </p:tgtEl>
                                      </p:cBhvr>
                                    </p:animEffect>
                                  </p:childTnLst>
                                </p:cTn>
                              </p:par>
                              <p:par>
                                <p:cTn id="70" presetID="4" presetClass="entr" presetSubtype="16" fill="hold" nodeType="withEffect">
                                  <p:stCondLst>
                                    <p:cond delay="0"/>
                                  </p:stCondLst>
                                  <p:childTnLst>
                                    <p:set>
                                      <p:cBhvr>
                                        <p:cTn id="71" dur="1" fill="hold">
                                          <p:stCondLst>
                                            <p:cond delay="0"/>
                                          </p:stCondLst>
                                        </p:cTn>
                                        <p:tgtEl>
                                          <p:spTgt spid="102441"/>
                                        </p:tgtEl>
                                        <p:attrNameLst>
                                          <p:attrName>style.visibility</p:attrName>
                                        </p:attrNameLst>
                                      </p:cBhvr>
                                      <p:to>
                                        <p:strVal val="visible"/>
                                      </p:to>
                                    </p:set>
                                    <p:animEffect transition="in" filter="box(in)">
                                      <p:cBhvr>
                                        <p:cTn id="72" dur="500"/>
                                        <p:tgtEl>
                                          <p:spTgt spid="1024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404" grpId="0" animBg="1"/>
      <p:bldP spid="102405" grpId="0" animBg="1"/>
      <p:bldP spid="102406" grpId="0" animBg="1"/>
      <p:bldP spid="102407" grpId="0" animBg="1"/>
      <p:bldP spid="102418" grpId="0" animBg="1"/>
      <p:bldP spid="102419" grpId="0" animBg="1"/>
      <p:bldP spid="102420" grpId="0" animBg="1"/>
      <p:bldP spid="102421" grpId="0" animBg="1"/>
    </p:bldLst>
  </p:timing>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73731" name="Rectangle 2"/>
          <p:cNvSpPr>
            <a:spLocks noGrp="1" noChangeArrowheads="1"/>
          </p:cNvSpPr>
          <p:nvPr>
            <p:ph type="title"/>
          </p:nvPr>
        </p:nvSpPr>
        <p:spPr/>
        <p:txBody>
          <a:bodyPr/>
          <a:lstStyle/>
          <a:p>
            <a:pPr eaLnBrk="1" hangingPunct="1"/>
            <a:r>
              <a:rPr lang="en-US" altLang="zh-CN" dirty="0">
                <a:solidFill>
                  <a:srgbClr val="333399"/>
                </a:solidFill>
              </a:rPr>
              <a:t>1.4.</a:t>
            </a:r>
            <a:r>
              <a:rPr lang="en-US" altLang="zh-CN" dirty="0" smtClean="0"/>
              <a:t>5</a:t>
            </a:r>
            <a:r>
              <a:rPr lang="en-US" altLang="zh-CN" kern="0" dirty="0" smtClean="0"/>
              <a:t> </a:t>
            </a:r>
            <a:r>
              <a:rPr lang="zh-CN" altLang="en-US" kern="0" dirty="0" smtClean="0"/>
              <a:t>图</a:t>
            </a:r>
            <a:r>
              <a:rPr lang="en-US" altLang="zh-CN" kern="0" dirty="0" smtClean="0"/>
              <a:t>——</a:t>
            </a:r>
            <a:r>
              <a:rPr lang="zh-CN" altLang="en-US" dirty="0" smtClean="0"/>
              <a:t>重要关系</a:t>
            </a:r>
            <a:endParaRPr lang="en-US" altLang="zh-CN" dirty="0" smtClean="0"/>
          </a:p>
        </p:txBody>
      </p:sp>
      <p:sp>
        <p:nvSpPr>
          <p:cNvPr id="73732" name="Rectangle 3"/>
          <p:cNvSpPr>
            <a:spLocks noGrp="1" noChangeArrowheads="1"/>
          </p:cNvSpPr>
          <p:nvPr>
            <p:ph type="body" idx="1"/>
          </p:nvPr>
        </p:nvSpPr>
        <p:spPr/>
        <p:txBody>
          <a:bodyPr/>
          <a:lstStyle/>
          <a:p>
            <a:pPr eaLnBrk="1" hangingPunct="1">
              <a:lnSpc>
                <a:spcPct val="90000"/>
              </a:lnSpc>
              <a:buFontTx/>
              <a:buNone/>
            </a:pPr>
            <a:r>
              <a:rPr lang="en-US" altLang="zh-CN" sz="2000" dirty="0" smtClean="0"/>
              <a:t>   </a:t>
            </a:r>
            <a:r>
              <a:rPr lang="zh-CN" altLang="en-US" sz="2000" dirty="0" smtClean="0"/>
              <a:t>令</a:t>
            </a:r>
            <a:r>
              <a:rPr lang="en-US" altLang="zh-CN" sz="2300" dirty="0" smtClean="0"/>
              <a:t> </a:t>
            </a:r>
            <a:r>
              <a:rPr lang="en-US" altLang="zh-CN" sz="2300" i="1" dirty="0" err="1" smtClean="0"/>
              <a:t>n,m,r</a:t>
            </a:r>
            <a:r>
              <a:rPr lang="en-US" altLang="zh-CN" sz="2300" dirty="0" smtClean="0"/>
              <a:t> </a:t>
            </a:r>
            <a:r>
              <a:rPr lang="zh-CN" altLang="en-US" sz="2300" dirty="0" smtClean="0"/>
              <a:t>分别表示任意一个平面图中的顶点数、边数和区域数，这三个参数之间的关系有欧拉公式：</a:t>
            </a:r>
            <a:endParaRPr lang="en-US" altLang="zh-CN" sz="2300" dirty="0" smtClean="0"/>
          </a:p>
          <a:p>
            <a:pPr eaLnBrk="1" hangingPunct="1">
              <a:lnSpc>
                <a:spcPct val="90000"/>
              </a:lnSpc>
              <a:buFontTx/>
              <a:buNone/>
            </a:pPr>
            <a:r>
              <a:rPr lang="en-US" altLang="zh-CN" sz="2000" dirty="0" smtClean="0"/>
              <a:t>              </a:t>
            </a:r>
            <a:r>
              <a:rPr lang="en-US" altLang="zh-CN" sz="2300" i="1" dirty="0" smtClean="0">
                <a:solidFill>
                  <a:srgbClr val="EA0000"/>
                </a:solidFill>
              </a:rPr>
              <a:t>n –m +r=2,         </a:t>
            </a:r>
            <a:r>
              <a:rPr lang="zh-CN" altLang="en-US" sz="2300" i="1" dirty="0" smtClean="0">
                <a:solidFill>
                  <a:srgbClr val="EA0000"/>
                </a:solidFill>
              </a:rPr>
              <a:t>或</a:t>
            </a:r>
            <a:r>
              <a:rPr lang="en-US" altLang="zh-CN" sz="2300" i="1" dirty="0" smtClean="0">
                <a:solidFill>
                  <a:srgbClr val="EA0000"/>
                </a:solidFill>
              </a:rPr>
              <a:t> m=</a:t>
            </a:r>
            <a:r>
              <a:rPr lang="en-US" altLang="zh-CN" sz="2300" i="1" dirty="0" err="1" smtClean="0">
                <a:solidFill>
                  <a:srgbClr val="EA0000"/>
                </a:solidFill>
              </a:rPr>
              <a:t>n+r-2</a:t>
            </a:r>
            <a:endParaRPr lang="en-US" altLang="zh-CN" sz="2300" i="1" dirty="0" smtClean="0">
              <a:solidFill>
                <a:srgbClr val="EA0000"/>
              </a:solidFill>
            </a:endParaRPr>
          </a:p>
          <a:p>
            <a:pPr eaLnBrk="1" hangingPunct="1">
              <a:lnSpc>
                <a:spcPct val="90000"/>
              </a:lnSpc>
              <a:buFontTx/>
              <a:buNone/>
            </a:pPr>
            <a:r>
              <a:rPr lang="en-US" altLang="zh-CN" sz="2000" dirty="0" smtClean="0"/>
              <a:t>    </a:t>
            </a:r>
            <a:r>
              <a:rPr lang="zh-CN" altLang="en-US" sz="2000" dirty="0" smtClean="0"/>
              <a:t>而且还有    </a:t>
            </a:r>
            <a:r>
              <a:rPr lang="en-US" altLang="zh-CN" sz="2300" i="1" dirty="0" err="1" smtClean="0">
                <a:solidFill>
                  <a:srgbClr val="EA0000"/>
                </a:solidFill>
              </a:rPr>
              <a:t>m</a:t>
            </a:r>
            <a:r>
              <a:rPr lang="en-US" altLang="zh-CN" sz="2300" i="1" dirty="0" err="1" smtClean="0">
                <a:solidFill>
                  <a:srgbClr val="EA0000"/>
                </a:solidFill>
                <a:sym typeface="Symbol" panose="05050102010706020507" pitchFamily="18" charset="2"/>
              </a:rPr>
              <a:t>3n-6</a:t>
            </a:r>
            <a:r>
              <a:rPr lang="en-US" altLang="zh-CN" sz="2100" i="1" dirty="0" smtClean="0">
                <a:solidFill>
                  <a:schemeClr val="hlink"/>
                </a:solidFill>
                <a:sym typeface="Symbol" panose="05050102010706020507" pitchFamily="18" charset="2"/>
              </a:rPr>
              <a:t>.</a:t>
            </a:r>
            <a:r>
              <a:rPr lang="en-US" altLang="zh-CN" sz="2000" dirty="0" smtClean="0">
                <a:sym typeface="Symbol" panose="05050102010706020507" pitchFamily="18" charset="2"/>
              </a:rPr>
              <a:t> </a:t>
            </a:r>
            <a:endParaRPr lang="en-US" altLang="zh-CN" sz="2000" dirty="0" smtClean="0">
              <a:sym typeface="Symbol" panose="05050102010706020507" pitchFamily="18" charset="2"/>
            </a:endParaRPr>
          </a:p>
          <a:p>
            <a:pPr eaLnBrk="1" hangingPunct="1">
              <a:lnSpc>
                <a:spcPct val="90000"/>
              </a:lnSpc>
              <a:buFontTx/>
              <a:buNone/>
            </a:pPr>
            <a:r>
              <a:rPr lang="en-US" altLang="zh-CN" sz="2000" dirty="0" smtClean="0">
                <a:sym typeface="Symbol" panose="05050102010706020507" pitchFamily="18" charset="2"/>
              </a:rPr>
              <a:t>     </a:t>
            </a:r>
            <a:r>
              <a:rPr lang="zh-CN" altLang="en-US" sz="2000" dirty="0" smtClean="0">
                <a:sym typeface="Symbol" panose="05050102010706020507" pitchFamily="18" charset="2"/>
              </a:rPr>
              <a:t>等号在图是三角形化时成立，即图的每一个区域（包括无界区域）都是三角形的。</a:t>
            </a:r>
            <a:endParaRPr lang="en-US" altLang="zh-CN" sz="2300" dirty="0" smtClean="0">
              <a:sym typeface="Symbol" panose="05050102010706020507" pitchFamily="18" charset="2"/>
            </a:endParaRPr>
          </a:p>
          <a:p>
            <a:pPr eaLnBrk="1" hangingPunct="1">
              <a:lnSpc>
                <a:spcPct val="90000"/>
              </a:lnSpc>
              <a:buFontTx/>
              <a:buNone/>
            </a:pPr>
            <a:endParaRPr lang="en-US" altLang="zh-CN" sz="2300" dirty="0" smtClean="0">
              <a:sym typeface="Symbol" panose="05050102010706020507" pitchFamily="18" charset="2"/>
            </a:endParaRPr>
          </a:p>
          <a:p>
            <a:pPr eaLnBrk="1" hangingPunct="1">
              <a:lnSpc>
                <a:spcPct val="90000"/>
              </a:lnSpc>
              <a:buFontTx/>
              <a:buNone/>
            </a:pPr>
            <a:r>
              <a:rPr lang="en-US" altLang="zh-CN" sz="2300" dirty="0" smtClean="0">
                <a:sym typeface="Symbol" panose="05050102010706020507" pitchFamily="18" charset="2"/>
              </a:rPr>
              <a:t>    </a:t>
            </a:r>
            <a:r>
              <a:rPr lang="zh-CN" altLang="en-US" sz="2300" dirty="0" smtClean="0">
                <a:sym typeface="Symbol" panose="05050102010706020507" pitchFamily="18" charset="2"/>
              </a:rPr>
              <a:t>上面的关系蕴含着在任何平面图中 </a:t>
            </a:r>
            <a:r>
              <a:rPr lang="en-US" altLang="zh-CN" sz="2300" dirty="0" smtClean="0">
                <a:sym typeface="Symbol" panose="05050102010706020507" pitchFamily="18" charset="2"/>
              </a:rPr>
              <a:t>m=O(n)</a:t>
            </a:r>
            <a:r>
              <a:rPr lang="zh-CN" altLang="en-US" sz="2300" dirty="0" smtClean="0">
                <a:sym typeface="Symbol" panose="05050102010706020507" pitchFamily="18" charset="2"/>
              </a:rPr>
              <a:t>，这样存储一个平面图所需要的空间量仅仅是</a:t>
            </a:r>
            <a:r>
              <a:rPr lang="en-US" altLang="zh-CN" sz="2300" dirty="0" smtClean="0">
                <a:sym typeface="Symbol" panose="05050102010706020507" pitchFamily="18" charset="2"/>
              </a:rPr>
              <a:t>(n)</a:t>
            </a:r>
            <a:r>
              <a:rPr lang="zh-CN" altLang="en-US" sz="2300" dirty="0" smtClean="0">
                <a:sym typeface="Symbol" panose="05050102010706020507" pitchFamily="18" charset="2"/>
              </a:rPr>
              <a:t>。</a:t>
            </a:r>
            <a:endParaRPr lang="en-US" altLang="zh-CN" sz="2300" dirty="0" smtClean="0"/>
          </a:p>
        </p:txBody>
      </p:sp>
    </p:spTree>
  </p:cSld>
  <p:clrMapOvr>
    <a:masterClrMapping/>
  </p:clrMapOvr>
  <p:timing>
    <p:tnLst>
      <p:par>
        <p:cTn id="1" dur="indefinite" restart="never" nodeType="tmRoot"/>
      </p:par>
    </p:tnLst>
  </p:timing>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74755" name="Rectangle 2"/>
          <p:cNvSpPr>
            <a:spLocks noGrp="1" noChangeArrowheads="1"/>
          </p:cNvSpPr>
          <p:nvPr>
            <p:ph type="title"/>
          </p:nvPr>
        </p:nvSpPr>
        <p:spPr/>
        <p:txBody>
          <a:bodyPr/>
          <a:lstStyle/>
          <a:p>
            <a:pPr eaLnBrk="1" hangingPunct="1"/>
            <a:r>
              <a:rPr lang="en-US" altLang="zh-CN" dirty="0" smtClean="0">
                <a:solidFill>
                  <a:srgbClr val="333399"/>
                </a:solidFill>
              </a:rPr>
              <a:t>1.4.</a:t>
            </a:r>
            <a:r>
              <a:rPr lang="en-US" altLang="zh-CN" dirty="0" smtClean="0"/>
              <a:t>6 </a:t>
            </a:r>
            <a:r>
              <a:rPr lang="zh-CN" altLang="en-US" b="1" u="sng" dirty="0" smtClean="0"/>
              <a:t>树</a:t>
            </a:r>
            <a:r>
              <a:rPr lang="zh-CN" altLang="en-US" dirty="0" smtClean="0"/>
              <a:t>、根树、二叉树</a:t>
            </a:r>
            <a:endParaRPr lang="en-US" altLang="zh-CN" dirty="0" smtClean="0"/>
          </a:p>
        </p:txBody>
      </p:sp>
      <p:sp>
        <p:nvSpPr>
          <p:cNvPr id="104451" name="Rectangle 3"/>
          <p:cNvSpPr>
            <a:spLocks noGrp="1" noChangeArrowheads="1"/>
          </p:cNvSpPr>
          <p:nvPr>
            <p:ph type="body" idx="1"/>
          </p:nvPr>
        </p:nvSpPr>
        <p:spPr/>
        <p:txBody>
          <a:bodyPr/>
          <a:lstStyle/>
          <a:p>
            <a:pPr eaLnBrk="1" hangingPunct="1">
              <a:defRPr/>
            </a:pPr>
            <a:r>
              <a:rPr lang="zh-CN" altLang="en-US" dirty="0" smtClean="0"/>
              <a:t>一个自由树（或简称树）是</a:t>
            </a:r>
            <a:r>
              <a:rPr lang="zh-CN" altLang="en-US" dirty="0" smtClean="0">
                <a:solidFill>
                  <a:srgbClr val="FF0000"/>
                </a:solidFill>
              </a:rPr>
              <a:t>不包含回路</a:t>
            </a:r>
            <a:r>
              <a:rPr lang="zh-CN" altLang="en-US" dirty="0" smtClean="0"/>
              <a:t>的连通无向图。一个森林是顶点不相交的树的集合，即它们没有公共的顶点。</a:t>
            </a:r>
            <a:endParaRPr lang="en-US" altLang="zh-CN" dirty="0" smtClean="0"/>
          </a:p>
          <a:p>
            <a:pPr eaLnBrk="1" hangingPunct="1">
              <a:defRPr/>
            </a:pPr>
            <a:endParaRPr lang="en-US" altLang="zh-CN" sz="1800" dirty="0" smtClean="0"/>
          </a:p>
          <a:p>
            <a:pPr eaLnBrk="1" hangingPunct="1">
              <a:defRPr/>
            </a:pPr>
            <a:r>
              <a:rPr lang="en-US" altLang="zh-CN" dirty="0" smtClean="0"/>
              <a:t>  </a:t>
            </a:r>
            <a:r>
              <a:rPr lang="zh-CN" altLang="en-US" dirty="0" smtClean="0"/>
              <a:t>定理</a:t>
            </a:r>
            <a:r>
              <a:rPr lang="en-US" altLang="zh-CN" dirty="0" smtClean="0"/>
              <a:t> 3.1 </a:t>
            </a:r>
            <a:endParaRPr lang="en-US" altLang="zh-CN" dirty="0" smtClean="0"/>
          </a:p>
          <a:p>
            <a:pPr lvl="1" eaLnBrk="1" hangingPunct="1">
              <a:buFontTx/>
              <a:buNone/>
              <a:defRPr/>
            </a:pPr>
            <a:r>
              <a:rPr lang="zh-CN" altLang="en-US" dirty="0" smtClean="0">
                <a:latin typeface="+mn-ea"/>
                <a:ea typeface="+mn-ea"/>
              </a:rPr>
              <a:t>如果</a:t>
            </a:r>
            <a:r>
              <a:rPr lang="en-US" altLang="zh-CN" dirty="0" smtClean="0">
                <a:latin typeface="+mn-ea"/>
                <a:ea typeface="+mn-ea"/>
              </a:rPr>
              <a:t>T</a:t>
            </a:r>
            <a:r>
              <a:rPr lang="zh-CN" altLang="en-US" dirty="0" smtClean="0">
                <a:latin typeface="+mn-ea"/>
                <a:ea typeface="+mn-ea"/>
              </a:rPr>
              <a:t>是有</a:t>
            </a:r>
            <a:r>
              <a:rPr lang="en-US" altLang="zh-CN" dirty="0" smtClean="0">
                <a:latin typeface="+mn-ea"/>
                <a:ea typeface="+mn-ea"/>
              </a:rPr>
              <a:t>n</a:t>
            </a:r>
            <a:r>
              <a:rPr lang="zh-CN" altLang="en-US" dirty="0" smtClean="0">
                <a:latin typeface="+mn-ea"/>
                <a:ea typeface="+mn-ea"/>
              </a:rPr>
              <a:t>个顶点的树，那么</a:t>
            </a:r>
            <a:endParaRPr lang="en-US" altLang="zh-CN" dirty="0" smtClean="0">
              <a:latin typeface="+mn-ea"/>
              <a:ea typeface="+mn-ea"/>
            </a:endParaRPr>
          </a:p>
          <a:p>
            <a:pPr lvl="1" eaLnBrk="1" hangingPunct="1">
              <a:buFontTx/>
              <a:buNone/>
              <a:defRPr/>
            </a:pPr>
            <a:endParaRPr lang="en-US" altLang="zh-CN" sz="1000" dirty="0" smtClean="0">
              <a:latin typeface="+mn-ea"/>
              <a:ea typeface="+mn-ea"/>
            </a:endParaRPr>
          </a:p>
          <a:p>
            <a:pPr lvl="1" eaLnBrk="1" hangingPunct="1">
              <a:defRPr/>
            </a:pPr>
            <a:r>
              <a:rPr lang="en-US" altLang="zh-CN" dirty="0" smtClean="0">
                <a:latin typeface="+mn-ea"/>
                <a:ea typeface="+mn-ea"/>
              </a:rPr>
              <a:t>T</a:t>
            </a:r>
            <a:r>
              <a:rPr lang="zh-CN" altLang="en-US" dirty="0" smtClean="0">
                <a:latin typeface="+mn-ea"/>
                <a:ea typeface="+mn-ea"/>
              </a:rPr>
              <a:t>中任意两个顶点有唯一的一条路径连通；</a:t>
            </a:r>
            <a:endParaRPr lang="en-US" altLang="zh-CN" dirty="0" smtClean="0">
              <a:latin typeface="+mn-ea"/>
              <a:ea typeface="+mn-ea"/>
            </a:endParaRPr>
          </a:p>
          <a:p>
            <a:pPr lvl="1" eaLnBrk="1" hangingPunct="1">
              <a:defRPr/>
            </a:pPr>
            <a:endParaRPr lang="en-US" altLang="zh-CN" sz="1000" dirty="0" smtClean="0">
              <a:latin typeface="+mn-ea"/>
              <a:ea typeface="+mn-ea"/>
            </a:endParaRPr>
          </a:p>
          <a:p>
            <a:pPr lvl="1" eaLnBrk="1" hangingPunct="1">
              <a:defRPr/>
            </a:pPr>
            <a:r>
              <a:rPr lang="en-US" altLang="zh-CN" dirty="0" smtClean="0">
                <a:latin typeface="+mn-ea"/>
                <a:ea typeface="+mn-ea"/>
              </a:rPr>
              <a:t>T </a:t>
            </a:r>
            <a:r>
              <a:rPr lang="zh-CN" altLang="en-US" dirty="0" smtClean="0">
                <a:latin typeface="+mn-ea"/>
                <a:ea typeface="+mn-ea"/>
              </a:rPr>
              <a:t>恰好有</a:t>
            </a:r>
            <a:r>
              <a:rPr lang="en-US" altLang="zh-CN" dirty="0" smtClean="0">
                <a:latin typeface="+mn-ea"/>
                <a:ea typeface="+mn-ea"/>
              </a:rPr>
              <a:t>n-1</a:t>
            </a:r>
            <a:r>
              <a:rPr lang="zh-CN" altLang="en-US" dirty="0" smtClean="0">
                <a:latin typeface="+mn-ea"/>
                <a:ea typeface="+mn-ea"/>
              </a:rPr>
              <a:t>条边；</a:t>
            </a:r>
            <a:endParaRPr lang="en-US" altLang="zh-CN" dirty="0" smtClean="0">
              <a:latin typeface="+mn-ea"/>
              <a:ea typeface="+mn-ea"/>
            </a:endParaRPr>
          </a:p>
          <a:p>
            <a:pPr lvl="1" eaLnBrk="1" hangingPunct="1">
              <a:defRPr/>
            </a:pPr>
            <a:endParaRPr lang="en-US" altLang="zh-CN" sz="1000" dirty="0" smtClean="0">
              <a:latin typeface="+mn-ea"/>
              <a:ea typeface="+mn-ea"/>
            </a:endParaRPr>
          </a:p>
          <a:p>
            <a:pPr lvl="1" eaLnBrk="1" hangingPunct="1">
              <a:defRPr/>
            </a:pPr>
            <a:r>
              <a:rPr lang="zh-CN" altLang="en-US" dirty="0" smtClean="0">
                <a:latin typeface="+mn-ea"/>
                <a:ea typeface="+mn-ea"/>
              </a:rPr>
              <a:t>在</a:t>
            </a:r>
            <a:r>
              <a:rPr lang="en-US" altLang="zh-CN" dirty="0" smtClean="0">
                <a:latin typeface="+mn-ea"/>
                <a:ea typeface="+mn-ea"/>
              </a:rPr>
              <a:t>T</a:t>
            </a:r>
            <a:r>
              <a:rPr lang="zh-CN" altLang="en-US" dirty="0" smtClean="0">
                <a:latin typeface="+mn-ea"/>
                <a:ea typeface="+mn-ea"/>
              </a:rPr>
              <a:t>中加上一条边将构成一个回路。</a:t>
            </a:r>
            <a:endParaRPr lang="en-US" altLang="zh-CN" dirty="0" smtClean="0">
              <a:latin typeface="+mn-ea"/>
              <a:ea typeface="+mn-ea"/>
            </a:endParaRPr>
          </a:p>
        </p:txBody>
      </p:sp>
      <p:pic>
        <p:nvPicPr>
          <p:cNvPr id="74757" name="Picture 5" descr="theorem"/>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900113" y="3284538"/>
            <a:ext cx="533400"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33026" name="Rectangle 2"/>
          <p:cNvSpPr>
            <a:spLocks noGrp="1" noChangeArrowheads="1"/>
          </p:cNvSpPr>
          <p:nvPr>
            <p:ph type="body" idx="1"/>
          </p:nvPr>
        </p:nvSpPr>
        <p:spPr>
          <a:xfrm>
            <a:off x="928688" y="1214438"/>
            <a:ext cx="7715250" cy="4968875"/>
          </a:xfrm>
        </p:spPr>
        <p:txBody>
          <a:bodyPr/>
          <a:lstStyle/>
          <a:p>
            <a:pPr>
              <a:defRPr/>
            </a:pPr>
            <a:r>
              <a:rPr lang="zh-CN" altLang="en-US" dirty="0" smtClean="0"/>
              <a:t>树是一类重要的非线性结构。</a:t>
            </a:r>
            <a:endParaRPr lang="zh-CN" altLang="en-US" dirty="0" smtClean="0"/>
          </a:p>
          <a:p>
            <a:pPr>
              <a:defRPr/>
            </a:pPr>
            <a:r>
              <a:rPr lang="zh-CN" altLang="en-US" dirty="0" smtClean="0"/>
              <a:t>树是结点之间有分支，并且具有层次关系的结构，它非常类似于自然界中的树。</a:t>
            </a:r>
            <a:endParaRPr lang="zh-CN" altLang="en-US" dirty="0" smtClean="0"/>
          </a:p>
          <a:p>
            <a:pPr>
              <a:defRPr/>
            </a:pPr>
            <a:r>
              <a:rPr lang="zh-CN" altLang="en-US" dirty="0" smtClean="0"/>
              <a:t>树在客观世界中是大量存在的，例如家谱、行政组织机构都可用树形象地表示。</a:t>
            </a:r>
            <a:endParaRPr lang="zh-CN" altLang="en-US" dirty="0" smtClean="0"/>
          </a:p>
          <a:p>
            <a:pPr>
              <a:defRPr/>
            </a:pPr>
            <a:r>
              <a:rPr lang="zh-CN" altLang="en-US" dirty="0" smtClean="0"/>
              <a:t>树在计算机领域中也有着广泛的应用，例如</a:t>
            </a:r>
            <a:endParaRPr lang="zh-CN" altLang="en-US" dirty="0" smtClean="0"/>
          </a:p>
          <a:p>
            <a:pPr lvl="1">
              <a:defRPr/>
            </a:pPr>
            <a:r>
              <a:rPr lang="zh-CN" altLang="en-US" sz="2500" dirty="0" smtClean="0">
                <a:latin typeface="+mn-lt"/>
                <a:ea typeface="+mn-ea"/>
                <a:cs typeface="+mn-cs"/>
              </a:rPr>
              <a:t>在编译程序中，用树来表示源程序的语法结构；</a:t>
            </a:r>
            <a:endParaRPr lang="zh-CN" altLang="en-US" sz="2500" dirty="0" smtClean="0">
              <a:latin typeface="+mn-lt"/>
              <a:ea typeface="+mn-ea"/>
              <a:cs typeface="+mn-cs"/>
            </a:endParaRPr>
          </a:p>
          <a:p>
            <a:pPr lvl="1">
              <a:defRPr/>
            </a:pPr>
            <a:r>
              <a:rPr lang="zh-CN" altLang="en-US" sz="2500" dirty="0" smtClean="0">
                <a:latin typeface="+mn-lt"/>
                <a:ea typeface="+mn-ea"/>
                <a:cs typeface="+mn-cs"/>
              </a:rPr>
              <a:t>在数据库系统中，可用树来组织信息；</a:t>
            </a:r>
            <a:endParaRPr lang="zh-CN" altLang="en-US" sz="2500" dirty="0" smtClean="0">
              <a:latin typeface="+mn-lt"/>
              <a:ea typeface="+mn-ea"/>
              <a:cs typeface="+mn-cs"/>
            </a:endParaRPr>
          </a:p>
          <a:p>
            <a:pPr lvl="1">
              <a:defRPr/>
            </a:pPr>
            <a:r>
              <a:rPr lang="zh-CN" altLang="en-US" sz="2500" dirty="0" smtClean="0">
                <a:latin typeface="+mn-lt"/>
                <a:ea typeface="+mn-ea"/>
                <a:cs typeface="+mn-cs"/>
              </a:rPr>
              <a:t>在分析算法的行为时，可用树来描述其执行过程。等等。</a:t>
            </a:r>
            <a:endParaRPr lang="zh-CN" altLang="en-US" sz="2500" dirty="0" smtClean="0">
              <a:latin typeface="+mn-lt"/>
              <a:ea typeface="+mn-ea"/>
              <a:cs typeface="+mn-cs"/>
            </a:endParaRPr>
          </a:p>
        </p:txBody>
      </p:sp>
      <p:sp>
        <p:nvSpPr>
          <p:cNvPr id="75779"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5" name="Rectangle 2"/>
          <p:cNvSpPr>
            <a:spLocks noGrp="1" noChangeArrowheads="1"/>
          </p:cNvSpPr>
          <p:nvPr>
            <p:ph type="title"/>
          </p:nvPr>
        </p:nvSpPr>
        <p:spPr>
          <a:xfrm>
            <a:off x="879475" y="269875"/>
            <a:ext cx="7869238" cy="927100"/>
          </a:xfrm>
        </p:spPr>
        <p:txBody>
          <a:bodyPr/>
          <a:lstStyle/>
          <a:p>
            <a:pPr eaLnBrk="1" hangingPunct="1"/>
            <a:r>
              <a:rPr lang="en-US" altLang="zh-CN" dirty="0">
                <a:solidFill>
                  <a:srgbClr val="333399"/>
                </a:solidFill>
              </a:rPr>
              <a:t>1.4.</a:t>
            </a:r>
            <a:r>
              <a:rPr lang="en-US" altLang="zh-CN" dirty="0" smtClean="0"/>
              <a:t>6 </a:t>
            </a:r>
            <a:r>
              <a:rPr lang="zh-CN" altLang="en-US" b="1" u="sng" dirty="0" smtClean="0"/>
              <a:t>树</a:t>
            </a:r>
            <a:r>
              <a:rPr lang="zh-CN" altLang="en-US" dirty="0" smtClean="0"/>
              <a:t>、根树、二叉树</a:t>
            </a:r>
            <a:endParaRPr lang="en-US" altLang="zh-CN" dirty="0" smtClean="0"/>
          </a:p>
        </p:txBody>
      </p:sp>
    </p:spTree>
  </p:cSld>
  <p:clrMapOvr>
    <a:masterClrMapping/>
  </p:clrMapOvr>
  <p:transition/>
  <p:timing>
    <p:tnLst>
      <p:par>
        <p:cTn id="1" dur="indefinite" restart="never" nodeType="tmRoot"/>
      </p:par>
    </p:tnLst>
  </p:timing>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76803" name="Rectangle 2"/>
          <p:cNvSpPr>
            <a:spLocks noGrp="1" noChangeArrowheads="1"/>
          </p:cNvSpPr>
          <p:nvPr>
            <p:ph type="title"/>
          </p:nvPr>
        </p:nvSpPr>
        <p:spPr/>
        <p:txBody>
          <a:bodyPr/>
          <a:lstStyle/>
          <a:p>
            <a:pPr eaLnBrk="1" hangingPunct="1"/>
            <a:r>
              <a:rPr lang="en-US" altLang="zh-CN" dirty="0">
                <a:solidFill>
                  <a:srgbClr val="333399"/>
                </a:solidFill>
              </a:rPr>
              <a:t>1.4.</a:t>
            </a:r>
            <a:r>
              <a:rPr lang="en-US" altLang="zh-CN" dirty="0" smtClean="0"/>
              <a:t>6 </a:t>
            </a:r>
            <a:r>
              <a:rPr lang="zh-CN" altLang="en-US" dirty="0" smtClean="0"/>
              <a:t>树、</a:t>
            </a:r>
            <a:r>
              <a:rPr lang="zh-CN" altLang="en-US" b="1" u="sng" dirty="0" smtClean="0"/>
              <a:t>根树</a:t>
            </a:r>
            <a:r>
              <a:rPr lang="zh-CN" altLang="en-US" dirty="0" smtClean="0"/>
              <a:t>、二叉树</a:t>
            </a:r>
            <a:endParaRPr lang="en-US" altLang="zh-CN" dirty="0" smtClean="0"/>
          </a:p>
        </p:txBody>
      </p:sp>
      <p:sp>
        <p:nvSpPr>
          <p:cNvPr id="51204" name="Rectangle 3"/>
          <p:cNvSpPr>
            <a:spLocks noGrp="1" noChangeArrowheads="1"/>
          </p:cNvSpPr>
          <p:nvPr>
            <p:ph type="body" idx="1"/>
          </p:nvPr>
        </p:nvSpPr>
        <p:spPr>
          <a:xfrm>
            <a:off x="879475" y="1268413"/>
            <a:ext cx="8229600" cy="4718050"/>
          </a:xfrm>
        </p:spPr>
        <p:txBody>
          <a:bodyPr/>
          <a:lstStyle/>
          <a:p>
            <a:pPr lvl="1" eaLnBrk="1" hangingPunct="1">
              <a:defRPr/>
            </a:pPr>
            <a:r>
              <a:rPr lang="zh-CN" altLang="en-US" sz="2000" dirty="0" smtClean="0">
                <a:latin typeface="+mn-lt"/>
                <a:ea typeface="+mn-ea"/>
              </a:rPr>
              <a:t>根树</a:t>
            </a:r>
            <a:r>
              <a:rPr lang="en-US" altLang="zh-CN" sz="2000" dirty="0" smtClean="0">
                <a:latin typeface="+mn-lt"/>
                <a:ea typeface="+mn-ea"/>
              </a:rPr>
              <a:t>T</a:t>
            </a:r>
            <a:r>
              <a:rPr lang="zh-CN" altLang="en-US" sz="2000" dirty="0" smtClean="0">
                <a:latin typeface="+mn-lt"/>
                <a:ea typeface="+mn-ea"/>
              </a:rPr>
              <a:t>是一棵带有特殊顶点</a:t>
            </a:r>
            <a:r>
              <a:rPr lang="en-US" altLang="zh-CN" sz="2000" dirty="0" smtClean="0">
                <a:latin typeface="+mn-lt"/>
                <a:ea typeface="+mn-ea"/>
              </a:rPr>
              <a:t>r</a:t>
            </a:r>
            <a:r>
              <a:rPr lang="zh-CN" altLang="en-US" sz="2000" dirty="0" smtClean="0">
                <a:latin typeface="+mn-lt"/>
                <a:ea typeface="+mn-ea"/>
              </a:rPr>
              <a:t>的树，顶点</a:t>
            </a:r>
            <a:r>
              <a:rPr lang="en-US" altLang="zh-CN" sz="2000" dirty="0" smtClean="0">
                <a:latin typeface="+mn-lt"/>
                <a:ea typeface="+mn-ea"/>
              </a:rPr>
              <a:t>r</a:t>
            </a:r>
            <a:r>
              <a:rPr lang="zh-CN" altLang="en-US" sz="2000" dirty="0" smtClean="0">
                <a:latin typeface="+mn-lt"/>
                <a:ea typeface="+mn-ea"/>
              </a:rPr>
              <a:t>称为</a:t>
            </a:r>
            <a:r>
              <a:rPr lang="en-US" altLang="zh-CN" sz="2000" dirty="0" smtClean="0">
                <a:latin typeface="+mn-lt"/>
                <a:ea typeface="+mn-ea"/>
              </a:rPr>
              <a:t>T</a:t>
            </a:r>
            <a:r>
              <a:rPr lang="zh-CN" altLang="en-US" sz="2000" dirty="0" smtClean="0">
                <a:latin typeface="+mn-lt"/>
                <a:ea typeface="+mn-ea"/>
              </a:rPr>
              <a:t>的</a:t>
            </a:r>
            <a:r>
              <a:rPr lang="zh-CN" altLang="en-US" sz="2000" dirty="0" smtClean="0">
                <a:solidFill>
                  <a:srgbClr val="FF0000"/>
                </a:solidFill>
                <a:latin typeface="+mn-lt"/>
                <a:ea typeface="+mn-ea"/>
              </a:rPr>
              <a:t>根</a:t>
            </a:r>
            <a:r>
              <a:rPr lang="zh-CN" altLang="en-US" sz="2000" dirty="0" smtClean="0">
                <a:latin typeface="+mn-lt"/>
                <a:ea typeface="+mn-ea"/>
              </a:rPr>
              <a:t>。</a:t>
            </a:r>
            <a:endParaRPr lang="en-US" altLang="zh-CN" sz="2000" dirty="0" smtClean="0">
              <a:latin typeface="+mn-lt"/>
              <a:ea typeface="+mn-ea"/>
            </a:endParaRPr>
          </a:p>
          <a:p>
            <a:pPr lvl="1" eaLnBrk="1" hangingPunct="1">
              <a:defRPr/>
            </a:pPr>
            <a:r>
              <a:rPr lang="zh-CN" altLang="en-US" sz="2000" dirty="0" smtClean="0">
                <a:latin typeface="+mn-lt"/>
                <a:ea typeface="+mn-ea"/>
              </a:rPr>
              <a:t>在</a:t>
            </a:r>
            <a:r>
              <a:rPr lang="en-US" altLang="zh-CN" sz="2000" dirty="0" smtClean="0">
                <a:latin typeface="+mn-lt"/>
                <a:ea typeface="+mn-ea"/>
              </a:rPr>
              <a:t>T</a:t>
            </a:r>
            <a:r>
              <a:rPr lang="zh-CN" altLang="en-US" sz="2000" dirty="0" smtClean="0">
                <a:latin typeface="+mn-lt"/>
                <a:ea typeface="+mn-ea"/>
              </a:rPr>
              <a:t>中，如果顶点</a:t>
            </a:r>
            <a:r>
              <a:rPr lang="en-US" altLang="zh-CN" sz="2000" dirty="0" smtClean="0">
                <a:latin typeface="+mn-lt"/>
                <a:ea typeface="+mn-ea"/>
              </a:rPr>
              <a:t>v</a:t>
            </a:r>
            <a:r>
              <a:rPr lang="en-US" altLang="zh-CN" sz="2000" baseline="-25000" dirty="0" smtClean="0">
                <a:latin typeface="+mn-lt"/>
                <a:ea typeface="+mn-ea"/>
              </a:rPr>
              <a:t>i</a:t>
            </a:r>
            <a:r>
              <a:rPr lang="en-US" altLang="zh-CN" sz="2000" dirty="0" smtClean="0">
                <a:latin typeface="+mn-lt"/>
                <a:ea typeface="+mn-ea"/>
              </a:rPr>
              <a:t> </a:t>
            </a:r>
            <a:r>
              <a:rPr lang="zh-CN" altLang="en-US" sz="2000" dirty="0" smtClean="0">
                <a:latin typeface="+mn-lt"/>
                <a:ea typeface="+mn-ea"/>
              </a:rPr>
              <a:t>在从根到 </a:t>
            </a:r>
            <a:r>
              <a:rPr lang="en-US" altLang="zh-CN" sz="2000" dirty="0" err="1" smtClean="0">
                <a:latin typeface="+mn-lt"/>
                <a:ea typeface="+mn-ea"/>
              </a:rPr>
              <a:t>v</a:t>
            </a:r>
            <a:r>
              <a:rPr lang="en-US" altLang="zh-CN" sz="2000" baseline="-25000" dirty="0" err="1" smtClean="0">
                <a:latin typeface="+mn-lt"/>
                <a:ea typeface="+mn-ea"/>
              </a:rPr>
              <a:t>j</a:t>
            </a:r>
            <a:r>
              <a:rPr lang="en-US" altLang="zh-CN" sz="2000" dirty="0" smtClean="0">
                <a:latin typeface="+mn-lt"/>
                <a:ea typeface="+mn-ea"/>
              </a:rPr>
              <a:t> </a:t>
            </a:r>
            <a:r>
              <a:rPr lang="zh-CN" altLang="en-US" sz="2000" dirty="0" smtClean="0">
                <a:latin typeface="+mn-lt"/>
                <a:ea typeface="+mn-ea"/>
              </a:rPr>
              <a:t>的路径上，并且和</a:t>
            </a:r>
            <a:r>
              <a:rPr lang="en-US" altLang="zh-CN" sz="2000" dirty="0" err="1" smtClean="0">
                <a:latin typeface="+mn-lt"/>
                <a:ea typeface="+mn-ea"/>
              </a:rPr>
              <a:t>v</a:t>
            </a:r>
            <a:r>
              <a:rPr lang="en-US" altLang="zh-CN" sz="2000" baseline="-25000" dirty="0" err="1" smtClean="0">
                <a:latin typeface="+mn-lt"/>
                <a:ea typeface="+mn-ea"/>
              </a:rPr>
              <a:t>j</a:t>
            </a:r>
            <a:r>
              <a:rPr lang="en-US" altLang="zh-CN" sz="2000" dirty="0" smtClean="0">
                <a:latin typeface="+mn-lt"/>
                <a:ea typeface="+mn-ea"/>
              </a:rPr>
              <a:t> </a:t>
            </a:r>
            <a:r>
              <a:rPr lang="zh-CN" altLang="en-US" sz="2000" dirty="0" smtClean="0">
                <a:latin typeface="+mn-lt"/>
                <a:ea typeface="+mn-ea"/>
              </a:rPr>
              <a:t>相邻，就说</a:t>
            </a:r>
            <a:r>
              <a:rPr lang="en-US" altLang="zh-CN" sz="2000" dirty="0" smtClean="0">
                <a:latin typeface="+mn-lt"/>
                <a:ea typeface="+mn-ea"/>
              </a:rPr>
              <a:t>v</a:t>
            </a:r>
            <a:r>
              <a:rPr lang="en-US" altLang="zh-CN" sz="2000" baseline="-25000" dirty="0" smtClean="0">
                <a:latin typeface="+mn-lt"/>
                <a:ea typeface="+mn-ea"/>
              </a:rPr>
              <a:t>i</a:t>
            </a:r>
            <a:r>
              <a:rPr lang="zh-CN" altLang="en-US" sz="2000" dirty="0" smtClean="0">
                <a:latin typeface="+mn-lt"/>
                <a:ea typeface="+mn-ea"/>
              </a:rPr>
              <a:t>是</a:t>
            </a:r>
            <a:r>
              <a:rPr lang="en-US" altLang="zh-CN" sz="2000" dirty="0" err="1" smtClean="0">
                <a:latin typeface="+mn-lt"/>
                <a:ea typeface="+mn-ea"/>
              </a:rPr>
              <a:t>v</a:t>
            </a:r>
            <a:r>
              <a:rPr lang="en-US" altLang="zh-CN" sz="2000" baseline="-25000" dirty="0" err="1" smtClean="0">
                <a:latin typeface="+mn-lt"/>
                <a:ea typeface="+mn-ea"/>
              </a:rPr>
              <a:t>j</a:t>
            </a:r>
            <a:r>
              <a:rPr lang="en-US" altLang="zh-CN" sz="2000" dirty="0" smtClean="0">
                <a:latin typeface="+mn-lt"/>
                <a:ea typeface="+mn-ea"/>
              </a:rPr>
              <a:t> </a:t>
            </a:r>
            <a:r>
              <a:rPr lang="zh-CN" altLang="en-US" sz="2000" dirty="0" smtClean="0">
                <a:latin typeface="+mn-lt"/>
                <a:ea typeface="+mn-ea"/>
              </a:rPr>
              <a:t>的</a:t>
            </a:r>
            <a:r>
              <a:rPr lang="zh-CN" altLang="en-US" sz="2000" dirty="0" smtClean="0">
                <a:solidFill>
                  <a:srgbClr val="FF0000"/>
                </a:solidFill>
                <a:latin typeface="+mn-lt"/>
                <a:ea typeface="+mn-ea"/>
              </a:rPr>
              <a:t>父顶点</a:t>
            </a:r>
            <a:r>
              <a:rPr lang="zh-CN" altLang="en-US" sz="2000" dirty="0" smtClean="0">
                <a:latin typeface="+mn-lt"/>
                <a:ea typeface="+mn-ea"/>
              </a:rPr>
              <a:t>，同时，</a:t>
            </a:r>
            <a:r>
              <a:rPr lang="en-US" altLang="zh-CN" sz="2000" dirty="0" err="1" smtClean="0">
                <a:latin typeface="+mn-lt"/>
                <a:ea typeface="+mn-ea"/>
              </a:rPr>
              <a:t>v</a:t>
            </a:r>
            <a:r>
              <a:rPr lang="en-US" altLang="zh-CN" sz="2000" baseline="-25000" dirty="0" err="1" smtClean="0">
                <a:latin typeface="+mn-lt"/>
                <a:ea typeface="+mn-ea"/>
              </a:rPr>
              <a:t>j</a:t>
            </a:r>
            <a:r>
              <a:rPr lang="en-US" altLang="zh-CN" sz="2000" dirty="0" smtClean="0">
                <a:latin typeface="+mn-lt"/>
                <a:ea typeface="+mn-ea"/>
              </a:rPr>
              <a:t> </a:t>
            </a:r>
            <a:r>
              <a:rPr lang="zh-CN" altLang="en-US" sz="2000" dirty="0" smtClean="0">
                <a:latin typeface="+mn-lt"/>
                <a:ea typeface="+mn-ea"/>
              </a:rPr>
              <a:t>是</a:t>
            </a:r>
            <a:r>
              <a:rPr lang="en-US" altLang="zh-CN" sz="2000" dirty="0" smtClean="0">
                <a:latin typeface="+mn-lt"/>
                <a:ea typeface="+mn-ea"/>
              </a:rPr>
              <a:t>v</a:t>
            </a:r>
            <a:r>
              <a:rPr lang="en-US" altLang="zh-CN" sz="2000" baseline="-25000" dirty="0" smtClean="0">
                <a:latin typeface="+mn-lt"/>
                <a:ea typeface="+mn-ea"/>
              </a:rPr>
              <a:t>i</a:t>
            </a:r>
            <a:r>
              <a:rPr lang="en-US" altLang="zh-CN" sz="2000" dirty="0" smtClean="0">
                <a:latin typeface="+mn-lt"/>
                <a:ea typeface="+mn-ea"/>
              </a:rPr>
              <a:t> </a:t>
            </a:r>
            <a:r>
              <a:rPr lang="zh-CN" altLang="en-US" sz="2000" dirty="0" smtClean="0">
                <a:latin typeface="+mn-lt"/>
                <a:ea typeface="+mn-ea"/>
              </a:rPr>
              <a:t>的</a:t>
            </a:r>
            <a:r>
              <a:rPr lang="zh-CN" altLang="en-US" sz="2000" dirty="0" smtClean="0">
                <a:solidFill>
                  <a:srgbClr val="FF0000"/>
                </a:solidFill>
                <a:latin typeface="+mn-lt"/>
                <a:ea typeface="+mn-ea"/>
              </a:rPr>
              <a:t>子顶点</a:t>
            </a:r>
            <a:r>
              <a:rPr lang="zh-CN" altLang="en-US" sz="2000" dirty="0" smtClean="0">
                <a:latin typeface="+mn-lt"/>
                <a:ea typeface="+mn-ea"/>
              </a:rPr>
              <a:t>。</a:t>
            </a:r>
            <a:endParaRPr lang="en-US" altLang="zh-CN" sz="2000" dirty="0" smtClean="0">
              <a:latin typeface="+mn-lt"/>
              <a:ea typeface="+mn-ea"/>
            </a:endParaRPr>
          </a:p>
          <a:p>
            <a:pPr lvl="1" eaLnBrk="1" hangingPunct="1">
              <a:defRPr/>
            </a:pPr>
            <a:r>
              <a:rPr lang="zh-CN" altLang="en-US" sz="2000" dirty="0" smtClean="0">
                <a:latin typeface="+mn-lt"/>
                <a:ea typeface="+mn-ea"/>
              </a:rPr>
              <a:t>一个顶点的子顶点之间彼此是</a:t>
            </a:r>
            <a:r>
              <a:rPr lang="zh-CN" altLang="en-US" sz="2000" dirty="0" smtClean="0">
                <a:solidFill>
                  <a:srgbClr val="FF0000"/>
                </a:solidFill>
                <a:latin typeface="+mn-lt"/>
                <a:ea typeface="+mn-ea"/>
              </a:rPr>
              <a:t>兄弟</a:t>
            </a:r>
            <a:r>
              <a:rPr lang="zh-CN" altLang="en-US" sz="2000" dirty="0" smtClean="0">
                <a:latin typeface="+mn-lt"/>
                <a:ea typeface="+mn-ea"/>
              </a:rPr>
              <a:t>。没有子顶点的顶点是树根的</a:t>
            </a:r>
            <a:r>
              <a:rPr lang="zh-CN" altLang="en-US" sz="2000" dirty="0" smtClean="0">
                <a:solidFill>
                  <a:srgbClr val="FF0000"/>
                </a:solidFill>
                <a:latin typeface="+mn-lt"/>
                <a:ea typeface="+mn-ea"/>
              </a:rPr>
              <a:t>叶子</a:t>
            </a:r>
            <a:r>
              <a:rPr lang="zh-CN" altLang="en-US" sz="2000" dirty="0" smtClean="0">
                <a:latin typeface="+mn-lt"/>
                <a:ea typeface="+mn-ea"/>
              </a:rPr>
              <a:t>，其他所有的顶点都称为</a:t>
            </a:r>
            <a:r>
              <a:rPr lang="zh-CN" altLang="en-US" sz="2000" dirty="0" smtClean="0">
                <a:solidFill>
                  <a:srgbClr val="FF0000"/>
                </a:solidFill>
                <a:latin typeface="+mn-lt"/>
                <a:ea typeface="+mn-ea"/>
              </a:rPr>
              <a:t>内部顶点</a:t>
            </a:r>
            <a:r>
              <a:rPr lang="zh-CN" altLang="en-US" sz="2000" dirty="0" smtClean="0">
                <a:latin typeface="+mn-lt"/>
                <a:ea typeface="+mn-ea"/>
              </a:rPr>
              <a:t>。</a:t>
            </a:r>
            <a:endParaRPr lang="en-US" altLang="zh-CN" sz="2000" dirty="0" smtClean="0">
              <a:latin typeface="+mn-lt"/>
              <a:ea typeface="+mn-ea"/>
            </a:endParaRPr>
          </a:p>
          <a:p>
            <a:pPr lvl="1" eaLnBrk="1" hangingPunct="1">
              <a:defRPr/>
            </a:pPr>
            <a:r>
              <a:rPr lang="zh-CN" altLang="en-US" sz="2000" dirty="0" smtClean="0">
                <a:latin typeface="+mn-lt"/>
                <a:ea typeface="+mn-ea"/>
              </a:rPr>
              <a:t>在从根顶点到顶点</a:t>
            </a:r>
            <a:r>
              <a:rPr lang="en-US" altLang="zh-CN" sz="2000" dirty="0" smtClean="0">
                <a:latin typeface="+mn-lt"/>
                <a:ea typeface="+mn-ea"/>
              </a:rPr>
              <a:t>v</a:t>
            </a:r>
            <a:r>
              <a:rPr lang="zh-CN" altLang="en-US" sz="2000" dirty="0" smtClean="0">
                <a:latin typeface="+mn-lt"/>
                <a:ea typeface="+mn-ea"/>
              </a:rPr>
              <a:t>的路径上的顶点</a:t>
            </a:r>
            <a:r>
              <a:rPr lang="en-US" altLang="zh-CN" sz="2000" dirty="0" smtClean="0">
                <a:latin typeface="+mn-lt"/>
                <a:ea typeface="+mn-ea"/>
              </a:rPr>
              <a:t>u</a:t>
            </a:r>
            <a:r>
              <a:rPr lang="zh-CN" altLang="en-US" sz="2000" dirty="0" smtClean="0">
                <a:latin typeface="+mn-lt"/>
                <a:ea typeface="+mn-ea"/>
              </a:rPr>
              <a:t>是</a:t>
            </a:r>
            <a:r>
              <a:rPr lang="en-US" altLang="zh-CN" sz="2000" dirty="0" smtClean="0">
                <a:latin typeface="+mn-lt"/>
                <a:ea typeface="+mn-ea"/>
              </a:rPr>
              <a:t>v</a:t>
            </a:r>
            <a:r>
              <a:rPr lang="zh-CN" altLang="en-US" sz="2000" dirty="0" smtClean="0">
                <a:latin typeface="+mn-lt"/>
                <a:ea typeface="+mn-ea"/>
              </a:rPr>
              <a:t>的</a:t>
            </a:r>
            <a:r>
              <a:rPr lang="zh-CN" altLang="en-US" sz="2000" dirty="0" smtClean="0">
                <a:solidFill>
                  <a:srgbClr val="FF0000"/>
                </a:solidFill>
                <a:latin typeface="+mn-lt"/>
                <a:ea typeface="+mn-ea"/>
              </a:rPr>
              <a:t>祖先</a:t>
            </a:r>
            <a:r>
              <a:rPr lang="zh-CN" altLang="en-US" sz="2000" dirty="0" smtClean="0">
                <a:latin typeface="+mn-lt"/>
                <a:ea typeface="+mn-ea"/>
              </a:rPr>
              <a:t>，如果</a:t>
            </a:r>
            <a:r>
              <a:rPr lang="en-US" altLang="zh-CN" sz="2000" dirty="0" err="1" smtClean="0">
                <a:latin typeface="+mn-lt"/>
                <a:ea typeface="+mn-ea"/>
              </a:rPr>
              <a:t>u</a:t>
            </a:r>
            <a:r>
              <a:rPr lang="en-US" altLang="zh-CN" sz="2000" dirty="0" err="1" smtClean="0">
                <a:latin typeface="+mn-lt"/>
                <a:ea typeface="+mn-ea"/>
                <a:sym typeface="Symbol" panose="05050102010706020507" pitchFamily="18" charset="2"/>
              </a:rPr>
              <a:t>v</a:t>
            </a:r>
            <a:r>
              <a:rPr lang="en-US" altLang="zh-CN" sz="2000" dirty="0" smtClean="0">
                <a:latin typeface="+mn-lt"/>
                <a:ea typeface="+mn-ea"/>
                <a:sym typeface="Symbol" panose="05050102010706020507" pitchFamily="18" charset="2"/>
              </a:rPr>
              <a:t>, u</a:t>
            </a:r>
            <a:r>
              <a:rPr lang="zh-CN" altLang="en-US" sz="2000" dirty="0" smtClean="0">
                <a:latin typeface="+mn-lt"/>
                <a:ea typeface="+mn-ea"/>
                <a:sym typeface="Symbol" panose="05050102010706020507" pitchFamily="18" charset="2"/>
              </a:rPr>
              <a:t>就是</a:t>
            </a:r>
            <a:r>
              <a:rPr lang="en-US" altLang="zh-CN" sz="2000" dirty="0" smtClean="0">
                <a:latin typeface="+mn-lt"/>
                <a:ea typeface="+mn-ea"/>
                <a:sym typeface="Symbol" panose="05050102010706020507" pitchFamily="18" charset="2"/>
              </a:rPr>
              <a:t>v</a:t>
            </a:r>
            <a:r>
              <a:rPr lang="zh-CN" altLang="en-US" sz="2000" dirty="0" smtClean="0">
                <a:latin typeface="+mn-lt"/>
                <a:ea typeface="+mn-ea"/>
                <a:sym typeface="Symbol" panose="05050102010706020507" pitchFamily="18" charset="2"/>
              </a:rPr>
              <a:t>的</a:t>
            </a:r>
            <a:r>
              <a:rPr lang="zh-CN" altLang="en-US" sz="2000" dirty="0" smtClean="0">
                <a:solidFill>
                  <a:srgbClr val="FF0000"/>
                </a:solidFill>
                <a:latin typeface="+mn-lt"/>
                <a:ea typeface="+mn-ea"/>
                <a:sym typeface="Symbol" panose="05050102010706020507" pitchFamily="18" charset="2"/>
              </a:rPr>
              <a:t>真祖先</a:t>
            </a:r>
            <a:r>
              <a:rPr lang="zh-CN" altLang="en-US" sz="2000" dirty="0" smtClean="0">
                <a:latin typeface="+mn-lt"/>
                <a:ea typeface="+mn-ea"/>
                <a:sym typeface="Symbol" panose="05050102010706020507" pitchFamily="18" charset="2"/>
              </a:rPr>
              <a:t>；在从顶点</a:t>
            </a:r>
            <a:r>
              <a:rPr lang="en-US" altLang="zh-CN" sz="2000" dirty="0" smtClean="0">
                <a:latin typeface="+mn-lt"/>
                <a:ea typeface="+mn-ea"/>
                <a:sym typeface="Symbol" panose="05050102010706020507" pitchFamily="18" charset="2"/>
              </a:rPr>
              <a:t>v</a:t>
            </a:r>
            <a:r>
              <a:rPr lang="zh-CN" altLang="en-US" sz="2000" dirty="0" smtClean="0">
                <a:latin typeface="+mn-lt"/>
                <a:ea typeface="+mn-ea"/>
                <a:sym typeface="Symbol" panose="05050102010706020507" pitchFamily="18" charset="2"/>
              </a:rPr>
              <a:t>到叶子的路径上的顶点 </a:t>
            </a:r>
            <a:r>
              <a:rPr lang="en-US" altLang="zh-CN" sz="2000" dirty="0" smtClean="0">
                <a:latin typeface="+mn-lt"/>
                <a:ea typeface="+mn-ea"/>
                <a:sym typeface="Symbol" panose="05050102010706020507" pitchFamily="18" charset="2"/>
              </a:rPr>
              <a:t>w </a:t>
            </a:r>
            <a:r>
              <a:rPr lang="zh-CN" altLang="en-US" sz="2000" dirty="0" smtClean="0">
                <a:latin typeface="+mn-lt"/>
                <a:ea typeface="+mn-ea"/>
                <a:sym typeface="Symbol" panose="05050102010706020507" pitchFamily="18" charset="2"/>
              </a:rPr>
              <a:t>是</a:t>
            </a:r>
            <a:r>
              <a:rPr lang="en-US" altLang="zh-CN" sz="2000" dirty="0" smtClean="0">
                <a:latin typeface="+mn-lt"/>
                <a:ea typeface="+mn-ea"/>
                <a:sym typeface="Symbol" panose="05050102010706020507" pitchFamily="18" charset="2"/>
              </a:rPr>
              <a:t>v</a:t>
            </a:r>
            <a:r>
              <a:rPr lang="zh-CN" altLang="en-US" sz="2000" dirty="0" smtClean="0">
                <a:latin typeface="+mn-lt"/>
                <a:ea typeface="+mn-ea"/>
                <a:sym typeface="Symbol" panose="05050102010706020507" pitchFamily="18" charset="2"/>
              </a:rPr>
              <a:t>的</a:t>
            </a:r>
            <a:r>
              <a:rPr lang="zh-CN" altLang="en-US" sz="2000" dirty="0" smtClean="0">
                <a:solidFill>
                  <a:srgbClr val="FF0000"/>
                </a:solidFill>
                <a:latin typeface="+mn-lt"/>
                <a:ea typeface="+mn-ea"/>
                <a:sym typeface="Symbol" panose="05050102010706020507" pitchFamily="18" charset="2"/>
              </a:rPr>
              <a:t>后代</a:t>
            </a:r>
            <a:r>
              <a:rPr lang="zh-CN" altLang="en-US" sz="2000" dirty="0" smtClean="0">
                <a:latin typeface="+mn-lt"/>
                <a:ea typeface="+mn-ea"/>
                <a:sym typeface="Symbol" panose="05050102010706020507" pitchFamily="18" charset="2"/>
              </a:rPr>
              <a:t>，如果</a:t>
            </a:r>
            <a:r>
              <a:rPr lang="en-US" altLang="zh-CN" sz="2000" dirty="0" smtClean="0">
                <a:latin typeface="+mn-lt"/>
                <a:ea typeface="+mn-ea"/>
                <a:sym typeface="Symbol" panose="05050102010706020507" pitchFamily="18" charset="2"/>
              </a:rPr>
              <a:t> </a:t>
            </a:r>
            <a:r>
              <a:rPr lang="en-US" altLang="zh-CN" sz="2000" dirty="0" err="1" smtClean="0">
                <a:latin typeface="+mn-lt"/>
                <a:ea typeface="+mn-ea"/>
                <a:sym typeface="Symbol" panose="05050102010706020507" pitchFamily="18" charset="2"/>
              </a:rPr>
              <a:t>wv</a:t>
            </a:r>
            <a:r>
              <a:rPr lang="en-US" altLang="zh-CN" sz="2000" dirty="0" smtClean="0">
                <a:latin typeface="+mn-lt"/>
                <a:ea typeface="+mn-ea"/>
                <a:sym typeface="Symbol" panose="05050102010706020507" pitchFamily="18" charset="2"/>
              </a:rPr>
              <a:t>, w </a:t>
            </a:r>
            <a:r>
              <a:rPr lang="zh-CN" altLang="en-US" sz="2000" dirty="0" smtClean="0">
                <a:latin typeface="+mn-lt"/>
                <a:ea typeface="+mn-ea"/>
                <a:sym typeface="Symbol" panose="05050102010706020507" pitchFamily="18" charset="2"/>
              </a:rPr>
              <a:t>就是</a:t>
            </a:r>
            <a:r>
              <a:rPr lang="en-US" altLang="zh-CN" sz="2000" dirty="0" smtClean="0">
                <a:latin typeface="+mn-lt"/>
                <a:ea typeface="+mn-ea"/>
                <a:sym typeface="Symbol" panose="05050102010706020507" pitchFamily="18" charset="2"/>
              </a:rPr>
              <a:t>v </a:t>
            </a:r>
            <a:r>
              <a:rPr lang="zh-CN" altLang="en-US" sz="2000" dirty="0" smtClean="0">
                <a:latin typeface="+mn-lt"/>
                <a:ea typeface="+mn-ea"/>
                <a:sym typeface="Symbol" panose="05050102010706020507" pitchFamily="18" charset="2"/>
              </a:rPr>
              <a:t>的</a:t>
            </a:r>
            <a:r>
              <a:rPr lang="zh-CN" altLang="en-US" sz="2000" dirty="0" smtClean="0">
                <a:solidFill>
                  <a:srgbClr val="FF0000"/>
                </a:solidFill>
                <a:latin typeface="+mn-lt"/>
                <a:ea typeface="+mn-ea"/>
                <a:sym typeface="Symbol" panose="05050102010706020507" pitchFamily="18" charset="2"/>
              </a:rPr>
              <a:t>真后代</a:t>
            </a:r>
            <a:r>
              <a:rPr lang="zh-CN" altLang="en-US" sz="2000" dirty="0" smtClean="0">
                <a:latin typeface="+mn-lt"/>
                <a:ea typeface="+mn-ea"/>
                <a:sym typeface="Symbol" panose="05050102010706020507" pitchFamily="18" charset="2"/>
              </a:rPr>
              <a:t>。</a:t>
            </a:r>
            <a:endParaRPr lang="en-US" altLang="zh-CN" sz="2000" dirty="0" smtClean="0">
              <a:latin typeface="+mn-lt"/>
              <a:ea typeface="+mn-ea"/>
            </a:endParaRPr>
          </a:p>
          <a:p>
            <a:pPr eaLnBrk="1" hangingPunct="1">
              <a:defRPr/>
            </a:pPr>
            <a:endParaRPr lang="en-US" altLang="zh-CN" sz="2200" dirty="0" smtClean="0"/>
          </a:p>
        </p:txBody>
      </p:sp>
      <p:pic>
        <p:nvPicPr>
          <p:cNvPr id="76805" name="Picture 7"/>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857500" y="4071938"/>
            <a:ext cx="3951288" cy="20716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77827" name="Rectangle 2"/>
          <p:cNvSpPr>
            <a:spLocks noGrp="1" noChangeArrowheads="1"/>
          </p:cNvSpPr>
          <p:nvPr>
            <p:ph type="title"/>
          </p:nvPr>
        </p:nvSpPr>
        <p:spPr/>
        <p:txBody>
          <a:bodyPr/>
          <a:lstStyle/>
          <a:p>
            <a:pPr eaLnBrk="1" hangingPunct="1"/>
            <a:r>
              <a:rPr lang="en-US" altLang="zh-CN" dirty="0">
                <a:solidFill>
                  <a:srgbClr val="333399"/>
                </a:solidFill>
              </a:rPr>
              <a:t>1.4.</a:t>
            </a:r>
            <a:r>
              <a:rPr lang="en-US" altLang="zh-CN" dirty="0" smtClean="0"/>
              <a:t>6 </a:t>
            </a:r>
            <a:r>
              <a:rPr lang="zh-CN" altLang="en-US" dirty="0" smtClean="0"/>
              <a:t>树、</a:t>
            </a:r>
            <a:r>
              <a:rPr lang="zh-CN" altLang="en-US" b="1" u="sng" dirty="0" smtClean="0"/>
              <a:t>根树</a:t>
            </a:r>
            <a:r>
              <a:rPr lang="zh-CN" altLang="en-US" dirty="0" smtClean="0"/>
              <a:t>、二叉树</a:t>
            </a:r>
            <a:endParaRPr lang="en-US" altLang="zh-CN" dirty="0" smtClean="0"/>
          </a:p>
        </p:txBody>
      </p:sp>
      <p:sp>
        <p:nvSpPr>
          <p:cNvPr id="106499" name="Rectangle 3"/>
          <p:cNvSpPr>
            <a:spLocks noGrp="1" noChangeArrowheads="1"/>
          </p:cNvSpPr>
          <p:nvPr>
            <p:ph type="body" idx="1"/>
          </p:nvPr>
        </p:nvSpPr>
        <p:spPr/>
        <p:txBody>
          <a:bodyPr/>
          <a:lstStyle/>
          <a:p>
            <a:pPr eaLnBrk="1" hangingPunct="1">
              <a:defRPr/>
            </a:pPr>
            <a:r>
              <a:rPr lang="zh-CN" altLang="en-US" sz="2700" dirty="0" smtClean="0">
                <a:solidFill>
                  <a:srgbClr val="FF0000"/>
                </a:solidFill>
                <a:latin typeface="+mn-ea"/>
                <a:sym typeface="Symbol" panose="05050102010706020507" pitchFamily="18" charset="2"/>
              </a:rPr>
              <a:t>子树</a:t>
            </a:r>
            <a:r>
              <a:rPr lang="en-US" altLang="zh-CN" sz="2700" dirty="0" smtClean="0">
                <a:solidFill>
                  <a:srgbClr val="FF0000"/>
                </a:solidFill>
                <a:latin typeface="+mn-ea"/>
                <a:sym typeface="Symbol" panose="05050102010706020507" pitchFamily="18" charset="2"/>
              </a:rPr>
              <a:t>:</a:t>
            </a:r>
            <a:endParaRPr lang="en-US" altLang="zh-CN" sz="2700" dirty="0" smtClean="0">
              <a:solidFill>
                <a:srgbClr val="FF0000"/>
              </a:solidFill>
              <a:latin typeface="+mn-ea"/>
              <a:sym typeface="Symbol" panose="05050102010706020507" pitchFamily="18" charset="2"/>
            </a:endParaRPr>
          </a:p>
          <a:p>
            <a:pPr lvl="1" eaLnBrk="1" hangingPunct="1">
              <a:defRPr/>
            </a:pPr>
            <a:r>
              <a:rPr lang="zh-CN" altLang="en-US" sz="2400" dirty="0" smtClean="0">
                <a:latin typeface="+mn-ea"/>
                <a:ea typeface="+mn-ea"/>
                <a:sym typeface="Symbol" panose="05050102010706020507" pitchFamily="18" charset="2"/>
              </a:rPr>
              <a:t>从顶点</a:t>
            </a:r>
            <a:r>
              <a:rPr lang="en-US" altLang="zh-CN" sz="2400" dirty="0" smtClean="0">
                <a:latin typeface="+mn-ea"/>
                <a:ea typeface="+mn-ea"/>
                <a:sym typeface="Symbol" panose="05050102010706020507" pitchFamily="18" charset="2"/>
              </a:rPr>
              <a:t>v</a:t>
            </a:r>
            <a:r>
              <a:rPr lang="zh-CN" altLang="en-US" sz="2400" dirty="0" smtClean="0">
                <a:latin typeface="+mn-ea"/>
                <a:ea typeface="+mn-ea"/>
                <a:sym typeface="Symbol" panose="05050102010706020507" pitchFamily="18" charset="2"/>
              </a:rPr>
              <a:t>为根的子树是包括顶点</a:t>
            </a:r>
            <a:r>
              <a:rPr lang="en-US" altLang="zh-CN" sz="2400" dirty="0" smtClean="0">
                <a:latin typeface="+mn-ea"/>
                <a:ea typeface="+mn-ea"/>
                <a:sym typeface="Symbol" panose="05050102010706020507" pitchFamily="18" charset="2"/>
              </a:rPr>
              <a:t>v</a:t>
            </a:r>
            <a:r>
              <a:rPr lang="zh-CN" altLang="en-US" sz="2400" dirty="0" smtClean="0">
                <a:latin typeface="+mn-ea"/>
                <a:ea typeface="+mn-ea"/>
                <a:sym typeface="Symbol" panose="05050102010706020507" pitchFamily="18" charset="2"/>
              </a:rPr>
              <a:t>和它的真后代的树</a:t>
            </a:r>
            <a:endParaRPr lang="en-US" altLang="zh-CN" sz="2400" dirty="0" smtClean="0">
              <a:latin typeface="+mn-ea"/>
              <a:ea typeface="+mn-ea"/>
              <a:sym typeface="Symbol" panose="05050102010706020507" pitchFamily="18" charset="2"/>
            </a:endParaRPr>
          </a:p>
          <a:p>
            <a:pPr eaLnBrk="1" hangingPunct="1">
              <a:defRPr/>
            </a:pPr>
            <a:r>
              <a:rPr lang="zh-CN" altLang="en-US" sz="2700" dirty="0" smtClean="0">
                <a:solidFill>
                  <a:srgbClr val="FF0000"/>
                </a:solidFill>
                <a:latin typeface="+mn-ea"/>
                <a:sym typeface="Symbol" panose="05050102010706020507" pitchFamily="18" charset="2"/>
              </a:rPr>
              <a:t>深度</a:t>
            </a:r>
            <a:r>
              <a:rPr lang="en-US" altLang="zh-CN" sz="2700" dirty="0" smtClean="0">
                <a:solidFill>
                  <a:srgbClr val="FF0000"/>
                </a:solidFill>
                <a:latin typeface="+mn-ea"/>
                <a:sym typeface="Symbol" panose="05050102010706020507" pitchFamily="18" charset="2"/>
              </a:rPr>
              <a:t>:</a:t>
            </a:r>
            <a:endParaRPr lang="en-US" altLang="zh-CN" sz="2700" dirty="0" smtClean="0">
              <a:solidFill>
                <a:srgbClr val="FF0000"/>
              </a:solidFill>
              <a:latin typeface="+mn-ea"/>
              <a:sym typeface="Symbol" panose="05050102010706020507" pitchFamily="18" charset="2"/>
            </a:endParaRPr>
          </a:p>
          <a:p>
            <a:pPr lvl="1" eaLnBrk="1" hangingPunct="1">
              <a:defRPr/>
            </a:pPr>
            <a:r>
              <a:rPr lang="zh-CN" altLang="en-US" sz="2400" dirty="0" smtClean="0">
                <a:latin typeface="+mn-ea"/>
                <a:ea typeface="+mn-ea"/>
                <a:sym typeface="Symbol" panose="05050102010706020507" pitchFamily="18" charset="2"/>
              </a:rPr>
              <a:t>在根树中顶点</a:t>
            </a:r>
            <a:r>
              <a:rPr lang="en-US" altLang="zh-CN" sz="2400" dirty="0" smtClean="0">
                <a:latin typeface="+mn-ea"/>
                <a:ea typeface="+mn-ea"/>
                <a:sym typeface="Symbol" panose="05050102010706020507" pitchFamily="18" charset="2"/>
              </a:rPr>
              <a:t>v</a:t>
            </a:r>
            <a:r>
              <a:rPr lang="zh-CN" altLang="en-US" sz="2400" dirty="0" smtClean="0">
                <a:latin typeface="+mn-ea"/>
                <a:ea typeface="+mn-ea"/>
                <a:sym typeface="Symbol" panose="05050102010706020507" pitchFamily="18" charset="2"/>
              </a:rPr>
              <a:t>的深度是从根顶点到</a:t>
            </a:r>
            <a:r>
              <a:rPr lang="en-US" altLang="zh-CN" sz="2400" dirty="0" smtClean="0">
                <a:latin typeface="+mn-ea"/>
                <a:ea typeface="+mn-ea"/>
                <a:sym typeface="Symbol" panose="05050102010706020507" pitchFamily="18" charset="2"/>
              </a:rPr>
              <a:t>v</a:t>
            </a:r>
            <a:r>
              <a:rPr lang="zh-CN" altLang="en-US" sz="2400" dirty="0" smtClean="0">
                <a:latin typeface="+mn-ea"/>
                <a:ea typeface="+mn-ea"/>
                <a:sym typeface="Symbol" panose="05050102010706020507" pitchFamily="18" charset="2"/>
              </a:rPr>
              <a:t>的路径的长度。这样，根顶点的深度为</a:t>
            </a:r>
            <a:r>
              <a:rPr lang="en-US" altLang="zh-CN" sz="2400" dirty="0" smtClean="0">
                <a:latin typeface="+mn-ea"/>
                <a:ea typeface="+mn-ea"/>
                <a:sym typeface="Symbol" panose="05050102010706020507" pitchFamily="18" charset="2"/>
              </a:rPr>
              <a:t>0</a:t>
            </a:r>
            <a:r>
              <a:rPr lang="zh-CN" altLang="en-US" sz="2400" dirty="0" smtClean="0">
                <a:latin typeface="+mn-ea"/>
                <a:ea typeface="+mn-ea"/>
                <a:sym typeface="Symbol" panose="05050102010706020507" pitchFamily="18" charset="2"/>
              </a:rPr>
              <a:t>。</a:t>
            </a:r>
            <a:endParaRPr lang="en-US" altLang="zh-CN" sz="2400" dirty="0" smtClean="0">
              <a:latin typeface="+mn-ea"/>
              <a:ea typeface="+mn-ea"/>
              <a:sym typeface="Symbol" panose="05050102010706020507" pitchFamily="18" charset="2"/>
            </a:endParaRPr>
          </a:p>
          <a:p>
            <a:pPr eaLnBrk="1" hangingPunct="1">
              <a:defRPr/>
            </a:pPr>
            <a:r>
              <a:rPr lang="zh-CN" altLang="en-US" sz="2800" dirty="0" smtClean="0">
                <a:solidFill>
                  <a:srgbClr val="FF0000"/>
                </a:solidFill>
                <a:latin typeface="+mn-ea"/>
                <a:sym typeface="Symbol" panose="05050102010706020507" pitchFamily="18" charset="2"/>
              </a:rPr>
              <a:t>高度</a:t>
            </a:r>
            <a:r>
              <a:rPr lang="en-US" altLang="zh-CN" sz="2800" dirty="0" smtClean="0">
                <a:solidFill>
                  <a:srgbClr val="FF0000"/>
                </a:solidFill>
                <a:latin typeface="+mn-ea"/>
                <a:sym typeface="Symbol" panose="05050102010706020507" pitchFamily="18" charset="2"/>
              </a:rPr>
              <a:t>:</a:t>
            </a:r>
            <a:endParaRPr lang="en-US" altLang="zh-CN" sz="2800" dirty="0" smtClean="0">
              <a:solidFill>
                <a:srgbClr val="FF0000"/>
              </a:solidFill>
              <a:latin typeface="+mn-ea"/>
              <a:sym typeface="Symbol" panose="05050102010706020507" pitchFamily="18" charset="2"/>
            </a:endParaRPr>
          </a:p>
          <a:p>
            <a:pPr lvl="1" eaLnBrk="1" hangingPunct="1">
              <a:defRPr/>
            </a:pPr>
            <a:r>
              <a:rPr lang="zh-CN" altLang="en-US" sz="2300" dirty="0" smtClean="0">
                <a:latin typeface="+mn-ea"/>
                <a:ea typeface="+mn-ea"/>
                <a:sym typeface="Symbol" panose="05050102010706020507" pitchFamily="18" charset="2"/>
              </a:rPr>
              <a:t>顶点</a:t>
            </a:r>
            <a:r>
              <a:rPr lang="en-US" altLang="zh-CN" sz="2300" dirty="0" smtClean="0">
                <a:latin typeface="+mn-ea"/>
                <a:ea typeface="+mn-ea"/>
                <a:sym typeface="Symbol" panose="05050102010706020507" pitchFamily="18" charset="2"/>
              </a:rPr>
              <a:t>v</a:t>
            </a:r>
            <a:r>
              <a:rPr lang="zh-CN" altLang="en-US" sz="2300" dirty="0" smtClean="0">
                <a:latin typeface="+mn-ea"/>
                <a:ea typeface="+mn-ea"/>
                <a:sym typeface="Symbol" panose="05050102010706020507" pitchFamily="18" charset="2"/>
              </a:rPr>
              <a:t>的高度定义为从顶点</a:t>
            </a:r>
            <a:r>
              <a:rPr lang="en-US" altLang="zh-CN" sz="2300" dirty="0" smtClean="0">
                <a:latin typeface="+mn-ea"/>
                <a:ea typeface="+mn-ea"/>
                <a:sym typeface="Symbol" panose="05050102010706020507" pitchFamily="18" charset="2"/>
              </a:rPr>
              <a:t>v</a:t>
            </a:r>
            <a:r>
              <a:rPr lang="zh-CN" altLang="en-US" sz="2300" dirty="0" smtClean="0">
                <a:latin typeface="+mn-ea"/>
                <a:ea typeface="+mn-ea"/>
                <a:sym typeface="Symbol" panose="05050102010706020507" pitchFamily="18" charset="2"/>
              </a:rPr>
              <a:t>到叶子中最长路径的长度，一棵树的高度是根顶点的高度。</a:t>
            </a:r>
            <a:endParaRPr lang="en-US" altLang="zh-CN" sz="2300" dirty="0" smtClean="0">
              <a:latin typeface="+mn-ea"/>
              <a:ea typeface="+mn-ea"/>
              <a:sym typeface="Symbol" panose="05050102010706020507" pitchFamily="18" charset="2"/>
            </a:endParaRPr>
          </a:p>
        </p:txBody>
      </p:sp>
    </p:spTree>
  </p:cSld>
  <p:clrMapOvr>
    <a:masterClrMapping/>
  </p:clrMapOvr>
  <p:timing>
    <p:tnLst>
      <p:par>
        <p:cTn id="1" dur="indefinite" restart="never" nodeType="tmRoot"/>
      </p:par>
    </p:tnLst>
  </p:timing>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78851" name="Rectangle 2"/>
          <p:cNvSpPr>
            <a:spLocks noGrp="1" noChangeArrowheads="1"/>
          </p:cNvSpPr>
          <p:nvPr>
            <p:ph type="title"/>
          </p:nvPr>
        </p:nvSpPr>
        <p:spPr/>
        <p:txBody>
          <a:bodyPr/>
          <a:lstStyle/>
          <a:p>
            <a:pPr eaLnBrk="1" hangingPunct="1"/>
            <a:r>
              <a:rPr lang="en-US" altLang="zh-CN" dirty="0">
                <a:solidFill>
                  <a:srgbClr val="333399"/>
                </a:solidFill>
              </a:rPr>
              <a:t>1.4.</a:t>
            </a:r>
            <a:r>
              <a:rPr lang="en-US" altLang="zh-CN" dirty="0" smtClean="0"/>
              <a:t>6 </a:t>
            </a:r>
            <a:r>
              <a:rPr lang="zh-CN" altLang="en-US" dirty="0" smtClean="0"/>
              <a:t>树、</a:t>
            </a:r>
            <a:r>
              <a:rPr lang="zh-CN" altLang="en-US" b="1" u="sng" dirty="0" smtClean="0"/>
              <a:t>根树</a:t>
            </a:r>
            <a:r>
              <a:rPr lang="zh-CN" altLang="en-US" dirty="0" smtClean="0"/>
              <a:t>、二叉树</a:t>
            </a:r>
            <a:endParaRPr lang="en-US" altLang="zh-CN" dirty="0" smtClean="0"/>
          </a:p>
        </p:txBody>
      </p:sp>
      <p:sp>
        <p:nvSpPr>
          <p:cNvPr id="107523" name="Rectangle 3"/>
          <p:cNvSpPr>
            <a:spLocks noGrp="1" noChangeArrowheads="1"/>
          </p:cNvSpPr>
          <p:nvPr>
            <p:ph type="body" idx="1"/>
          </p:nvPr>
        </p:nvSpPr>
        <p:spPr>
          <a:xfrm>
            <a:off x="887388" y="1774825"/>
            <a:ext cx="8229600" cy="4822825"/>
          </a:xfrm>
        </p:spPr>
        <p:txBody>
          <a:bodyPr/>
          <a:lstStyle/>
          <a:p>
            <a:pPr eaLnBrk="1" hangingPunct="1">
              <a:lnSpc>
                <a:spcPct val="90000"/>
              </a:lnSpc>
              <a:buFontTx/>
              <a:buNone/>
              <a:defRPr/>
            </a:pPr>
            <a:r>
              <a:rPr lang="zh-CN" altLang="en-US" sz="2200" dirty="0" smtClean="0"/>
              <a:t>     有几种方法可以对一棵根树的顶点进行有系统的遍历和排序，其中最重要的三种是前序，中序和后序遍历。令</a:t>
            </a:r>
            <a:r>
              <a:rPr lang="en-US" altLang="zh-CN" sz="2200" dirty="0" smtClean="0"/>
              <a:t>T</a:t>
            </a:r>
            <a:r>
              <a:rPr lang="zh-CN" altLang="en-US" sz="2200" dirty="0" smtClean="0"/>
              <a:t>是一颗树，它的根顶点是</a:t>
            </a:r>
            <a:r>
              <a:rPr lang="en-US" altLang="zh-CN" sz="2200" dirty="0" smtClean="0"/>
              <a:t>r</a:t>
            </a:r>
            <a:r>
              <a:rPr lang="zh-CN" altLang="en-US" sz="2200" dirty="0" smtClean="0"/>
              <a:t>，</a:t>
            </a:r>
            <a:r>
              <a:rPr lang="en-US" altLang="zh-CN" sz="2200" dirty="0" smtClean="0"/>
              <a:t>T</a:t>
            </a:r>
            <a:r>
              <a:rPr lang="en-US" altLang="zh-CN" sz="2200" baseline="-25000" dirty="0" smtClean="0"/>
              <a:t>1</a:t>
            </a:r>
            <a:r>
              <a:rPr lang="en-US" altLang="zh-CN" sz="2200" dirty="0" smtClean="0"/>
              <a:t>,T</a:t>
            </a:r>
            <a:r>
              <a:rPr lang="en-US" altLang="zh-CN" sz="2200" baseline="-25000" dirty="0" smtClean="0"/>
              <a:t>2</a:t>
            </a:r>
            <a:r>
              <a:rPr lang="en-US" altLang="zh-CN" sz="2200" dirty="0" smtClean="0"/>
              <a:t>,…,</a:t>
            </a:r>
            <a:r>
              <a:rPr lang="en-US" altLang="zh-CN" sz="2200" dirty="0" err="1" smtClean="0"/>
              <a:t>T</a:t>
            </a:r>
            <a:r>
              <a:rPr lang="en-US" altLang="zh-CN" sz="2200" baseline="-25000" dirty="0" err="1" smtClean="0"/>
              <a:t>n</a:t>
            </a:r>
            <a:r>
              <a:rPr lang="zh-CN" altLang="en-US" sz="2200" dirty="0" smtClean="0"/>
              <a:t>是子树。</a:t>
            </a:r>
            <a:endParaRPr lang="en-US" altLang="zh-CN" sz="2200" dirty="0" smtClean="0"/>
          </a:p>
          <a:p>
            <a:pPr lvl="1" eaLnBrk="1" hangingPunct="1">
              <a:lnSpc>
                <a:spcPct val="90000"/>
              </a:lnSpc>
              <a:defRPr/>
            </a:pPr>
            <a:r>
              <a:rPr lang="zh-CN" altLang="en-US" sz="2400" dirty="0" smtClean="0">
                <a:latin typeface="+mn-lt"/>
                <a:ea typeface="+mn-ea"/>
              </a:rPr>
              <a:t>前序遍历</a:t>
            </a:r>
            <a:r>
              <a:rPr lang="en-US" altLang="zh-CN" sz="2400" dirty="0" smtClean="0">
                <a:latin typeface="+mn-lt"/>
                <a:ea typeface="+mn-ea"/>
              </a:rPr>
              <a:t>:</a:t>
            </a:r>
            <a:endParaRPr lang="en-US" altLang="zh-CN" sz="2400" dirty="0" smtClean="0">
              <a:latin typeface="+mn-lt"/>
              <a:ea typeface="+mn-ea"/>
            </a:endParaRPr>
          </a:p>
          <a:p>
            <a:pPr lvl="1" eaLnBrk="1" hangingPunct="1">
              <a:lnSpc>
                <a:spcPct val="90000"/>
              </a:lnSpc>
              <a:buFontTx/>
              <a:buNone/>
              <a:defRPr/>
            </a:pPr>
            <a:r>
              <a:rPr lang="zh-CN" altLang="en-US" sz="1800" dirty="0" smtClean="0">
                <a:latin typeface="+mn-lt"/>
                <a:ea typeface="+mn-ea"/>
              </a:rPr>
              <a:t>在</a:t>
            </a:r>
            <a:r>
              <a:rPr lang="en-US" altLang="zh-CN" sz="1800" dirty="0" smtClean="0">
                <a:latin typeface="+mn-lt"/>
                <a:ea typeface="+mn-ea"/>
              </a:rPr>
              <a:t>T</a:t>
            </a:r>
            <a:r>
              <a:rPr lang="zh-CN" altLang="en-US" sz="1800" dirty="0" smtClean="0">
                <a:latin typeface="+mn-lt"/>
                <a:ea typeface="+mn-ea"/>
              </a:rPr>
              <a:t>顶点的前序遍历中，先访问根顶点</a:t>
            </a:r>
            <a:r>
              <a:rPr lang="en-US" altLang="zh-CN" sz="1800" dirty="0" smtClean="0">
                <a:latin typeface="+mn-lt"/>
                <a:ea typeface="+mn-ea"/>
              </a:rPr>
              <a:t>r</a:t>
            </a:r>
            <a:r>
              <a:rPr lang="zh-CN" altLang="en-US" sz="1800" dirty="0" smtClean="0">
                <a:latin typeface="+mn-lt"/>
                <a:ea typeface="+mn-ea"/>
              </a:rPr>
              <a:t>，然后以前序遍历</a:t>
            </a:r>
            <a:r>
              <a:rPr lang="en-US" altLang="zh-CN" sz="1800" dirty="0" smtClean="0">
                <a:latin typeface="+mn-lt"/>
                <a:ea typeface="+mn-ea"/>
              </a:rPr>
              <a:t>T</a:t>
            </a:r>
            <a:r>
              <a:rPr lang="en-US" altLang="zh-CN" sz="1800" baseline="-25000" dirty="0" smtClean="0">
                <a:latin typeface="+mn-lt"/>
                <a:ea typeface="+mn-ea"/>
              </a:rPr>
              <a:t>1</a:t>
            </a:r>
            <a:r>
              <a:rPr lang="en-US" altLang="zh-CN" sz="1800" dirty="0" smtClean="0">
                <a:latin typeface="+mn-lt"/>
                <a:ea typeface="+mn-ea"/>
              </a:rPr>
              <a:t> </a:t>
            </a:r>
            <a:r>
              <a:rPr lang="zh-CN" altLang="en-US" sz="1800" dirty="0" smtClean="0">
                <a:latin typeface="+mn-lt"/>
                <a:ea typeface="+mn-ea"/>
              </a:rPr>
              <a:t>的顶点，之后前序遍历</a:t>
            </a:r>
            <a:r>
              <a:rPr lang="en-US" altLang="zh-CN" sz="1800" dirty="0" smtClean="0">
                <a:latin typeface="+mn-lt"/>
                <a:ea typeface="+mn-ea"/>
              </a:rPr>
              <a:t>T</a:t>
            </a:r>
            <a:r>
              <a:rPr lang="en-US" altLang="zh-CN" sz="1800" baseline="-25000" dirty="0" smtClean="0">
                <a:latin typeface="+mn-lt"/>
                <a:ea typeface="+mn-ea"/>
              </a:rPr>
              <a:t>2</a:t>
            </a:r>
            <a:r>
              <a:rPr lang="en-US" altLang="zh-CN" sz="1800" dirty="0" smtClean="0">
                <a:latin typeface="+mn-lt"/>
                <a:ea typeface="+mn-ea"/>
              </a:rPr>
              <a:t> </a:t>
            </a:r>
            <a:r>
              <a:rPr lang="zh-CN" altLang="en-US" sz="1800" dirty="0" smtClean="0">
                <a:latin typeface="+mn-lt"/>
                <a:ea typeface="+mn-ea"/>
              </a:rPr>
              <a:t>的顶点。如此继续，直到前序遍历</a:t>
            </a:r>
            <a:r>
              <a:rPr lang="en-US" altLang="zh-CN" sz="1800" dirty="0" err="1" smtClean="0">
                <a:latin typeface="+mn-lt"/>
                <a:ea typeface="+mn-ea"/>
              </a:rPr>
              <a:t>T</a:t>
            </a:r>
            <a:r>
              <a:rPr lang="en-US" altLang="zh-CN" sz="1800" baseline="-25000" dirty="0" err="1" smtClean="0">
                <a:latin typeface="+mn-lt"/>
                <a:ea typeface="+mn-ea"/>
              </a:rPr>
              <a:t>n</a:t>
            </a:r>
            <a:r>
              <a:rPr lang="en-US" altLang="zh-CN" sz="1800" baseline="-25000" dirty="0" smtClean="0">
                <a:latin typeface="+mn-lt"/>
                <a:ea typeface="+mn-ea"/>
              </a:rPr>
              <a:t> </a:t>
            </a:r>
            <a:r>
              <a:rPr lang="zh-CN" altLang="en-US" sz="1800" dirty="0" smtClean="0">
                <a:latin typeface="+mn-lt"/>
                <a:ea typeface="+mn-ea"/>
              </a:rPr>
              <a:t>的所有顶点。</a:t>
            </a:r>
            <a:endParaRPr lang="en-US" altLang="zh-CN" sz="1800" dirty="0" smtClean="0">
              <a:latin typeface="+mn-lt"/>
              <a:ea typeface="+mn-ea"/>
            </a:endParaRPr>
          </a:p>
          <a:p>
            <a:pPr lvl="1" eaLnBrk="1" hangingPunct="1">
              <a:lnSpc>
                <a:spcPct val="90000"/>
              </a:lnSpc>
              <a:defRPr/>
            </a:pPr>
            <a:r>
              <a:rPr lang="zh-CN" altLang="en-US" sz="2400" dirty="0" smtClean="0">
                <a:latin typeface="+mn-lt"/>
                <a:ea typeface="+mn-ea"/>
              </a:rPr>
              <a:t>中序遍历</a:t>
            </a:r>
            <a:r>
              <a:rPr lang="en-US" altLang="zh-CN" sz="2400" dirty="0" smtClean="0">
                <a:latin typeface="+mn-lt"/>
                <a:ea typeface="+mn-ea"/>
              </a:rPr>
              <a:t>:</a:t>
            </a:r>
            <a:endParaRPr lang="en-US" altLang="zh-CN" sz="2400" dirty="0" smtClean="0">
              <a:latin typeface="+mn-lt"/>
              <a:ea typeface="+mn-ea"/>
            </a:endParaRPr>
          </a:p>
          <a:p>
            <a:pPr lvl="1" eaLnBrk="1" hangingPunct="1">
              <a:lnSpc>
                <a:spcPct val="90000"/>
              </a:lnSpc>
              <a:buFontTx/>
              <a:buNone/>
              <a:defRPr/>
            </a:pPr>
            <a:r>
              <a:rPr lang="zh-CN" altLang="en-US" sz="1800" dirty="0" smtClean="0">
                <a:latin typeface="+mn-lt"/>
                <a:ea typeface="+mn-ea"/>
              </a:rPr>
              <a:t>在</a:t>
            </a:r>
            <a:r>
              <a:rPr lang="en-US" altLang="zh-CN" sz="1800" dirty="0" smtClean="0">
                <a:latin typeface="+mn-lt"/>
                <a:ea typeface="+mn-ea"/>
              </a:rPr>
              <a:t>T</a:t>
            </a:r>
            <a:r>
              <a:rPr lang="zh-CN" altLang="en-US" sz="1800" dirty="0" smtClean="0">
                <a:latin typeface="+mn-lt"/>
                <a:ea typeface="+mn-ea"/>
              </a:rPr>
              <a:t>顶点的中序遍历中，先以中序遍历</a:t>
            </a:r>
            <a:r>
              <a:rPr lang="en-US" altLang="zh-CN" sz="1800" dirty="0" smtClean="0">
                <a:latin typeface="+mn-lt"/>
                <a:ea typeface="+mn-ea"/>
              </a:rPr>
              <a:t>T</a:t>
            </a:r>
            <a:r>
              <a:rPr lang="en-US" altLang="zh-CN" sz="1800" baseline="-25000" dirty="0" smtClean="0">
                <a:latin typeface="+mn-lt"/>
                <a:ea typeface="+mn-ea"/>
              </a:rPr>
              <a:t>1</a:t>
            </a:r>
            <a:r>
              <a:rPr lang="en-US" altLang="zh-CN" sz="1800" dirty="0" smtClean="0">
                <a:latin typeface="+mn-lt"/>
                <a:ea typeface="+mn-ea"/>
              </a:rPr>
              <a:t> </a:t>
            </a:r>
            <a:r>
              <a:rPr lang="zh-CN" altLang="en-US" sz="1800" dirty="0" smtClean="0">
                <a:latin typeface="+mn-lt"/>
                <a:ea typeface="+mn-ea"/>
              </a:rPr>
              <a:t>的顶点，然后访问根顶点</a:t>
            </a:r>
            <a:r>
              <a:rPr lang="en-US" altLang="zh-CN" sz="1800" dirty="0" smtClean="0">
                <a:latin typeface="+mn-lt"/>
                <a:ea typeface="+mn-ea"/>
              </a:rPr>
              <a:t>r</a:t>
            </a:r>
            <a:r>
              <a:rPr lang="zh-CN" altLang="en-US" sz="1800" dirty="0" smtClean="0">
                <a:latin typeface="+mn-lt"/>
                <a:ea typeface="+mn-ea"/>
              </a:rPr>
              <a:t>，之后中序遍历</a:t>
            </a:r>
            <a:r>
              <a:rPr lang="en-US" altLang="zh-CN" sz="1800" dirty="0" smtClean="0">
                <a:latin typeface="+mn-lt"/>
                <a:ea typeface="+mn-ea"/>
              </a:rPr>
              <a:t>T</a:t>
            </a:r>
            <a:r>
              <a:rPr lang="en-US" altLang="zh-CN" sz="1800" baseline="-25000" dirty="0" smtClean="0">
                <a:latin typeface="+mn-lt"/>
                <a:ea typeface="+mn-ea"/>
              </a:rPr>
              <a:t>2</a:t>
            </a:r>
            <a:r>
              <a:rPr lang="en-US" altLang="zh-CN" sz="1800" dirty="0" smtClean="0">
                <a:latin typeface="+mn-lt"/>
                <a:ea typeface="+mn-ea"/>
              </a:rPr>
              <a:t> </a:t>
            </a:r>
            <a:r>
              <a:rPr lang="zh-CN" altLang="en-US" sz="1800" dirty="0" smtClean="0">
                <a:latin typeface="+mn-lt"/>
                <a:ea typeface="+mn-ea"/>
              </a:rPr>
              <a:t>的顶点。如此继续，直到中序遍历</a:t>
            </a:r>
            <a:r>
              <a:rPr lang="en-US" altLang="zh-CN" sz="1800" dirty="0" err="1" smtClean="0">
                <a:latin typeface="+mn-lt"/>
                <a:ea typeface="+mn-ea"/>
              </a:rPr>
              <a:t>T</a:t>
            </a:r>
            <a:r>
              <a:rPr lang="en-US" altLang="zh-CN" sz="1800" baseline="-25000" dirty="0" err="1" smtClean="0">
                <a:latin typeface="+mn-lt"/>
                <a:ea typeface="+mn-ea"/>
              </a:rPr>
              <a:t>n</a:t>
            </a:r>
            <a:r>
              <a:rPr lang="en-US" altLang="zh-CN" sz="1800" baseline="-25000" dirty="0" smtClean="0">
                <a:latin typeface="+mn-lt"/>
                <a:ea typeface="+mn-ea"/>
              </a:rPr>
              <a:t> </a:t>
            </a:r>
            <a:r>
              <a:rPr lang="zh-CN" altLang="en-US" sz="1800" dirty="0" smtClean="0">
                <a:latin typeface="+mn-lt"/>
                <a:ea typeface="+mn-ea"/>
              </a:rPr>
              <a:t>的所有顶点。</a:t>
            </a:r>
            <a:endParaRPr lang="en-US" altLang="zh-CN" sz="1800" dirty="0" smtClean="0">
              <a:latin typeface="+mn-lt"/>
              <a:ea typeface="+mn-ea"/>
            </a:endParaRPr>
          </a:p>
          <a:p>
            <a:pPr lvl="1" eaLnBrk="1" hangingPunct="1">
              <a:lnSpc>
                <a:spcPct val="90000"/>
              </a:lnSpc>
              <a:defRPr/>
            </a:pPr>
            <a:r>
              <a:rPr lang="zh-CN" altLang="en-US" sz="2400" dirty="0" smtClean="0">
                <a:latin typeface="+mn-lt"/>
                <a:ea typeface="+mn-ea"/>
              </a:rPr>
              <a:t>后序遍历</a:t>
            </a:r>
            <a:r>
              <a:rPr lang="en-US" altLang="zh-CN" sz="2400" dirty="0" smtClean="0">
                <a:latin typeface="+mn-lt"/>
                <a:ea typeface="+mn-ea"/>
              </a:rPr>
              <a:t>: </a:t>
            </a:r>
            <a:endParaRPr lang="en-US" altLang="zh-CN" sz="2400" dirty="0" smtClean="0">
              <a:latin typeface="+mn-lt"/>
              <a:ea typeface="+mn-ea"/>
            </a:endParaRPr>
          </a:p>
          <a:p>
            <a:pPr lvl="1" eaLnBrk="1" hangingPunct="1">
              <a:lnSpc>
                <a:spcPct val="90000"/>
              </a:lnSpc>
              <a:buFontTx/>
              <a:buNone/>
              <a:defRPr/>
            </a:pPr>
            <a:r>
              <a:rPr lang="zh-CN" altLang="en-US" sz="1800" dirty="0" smtClean="0">
                <a:latin typeface="+mn-lt"/>
                <a:ea typeface="+mn-ea"/>
              </a:rPr>
              <a:t>在</a:t>
            </a:r>
            <a:r>
              <a:rPr lang="en-US" altLang="zh-CN" sz="1800" dirty="0" smtClean="0">
                <a:latin typeface="+mn-lt"/>
                <a:ea typeface="+mn-ea"/>
              </a:rPr>
              <a:t>T</a:t>
            </a:r>
            <a:r>
              <a:rPr lang="zh-CN" altLang="en-US" sz="1800" dirty="0" smtClean="0">
                <a:latin typeface="+mn-lt"/>
                <a:ea typeface="+mn-ea"/>
              </a:rPr>
              <a:t>顶点的后序遍历中，先以后序遍历</a:t>
            </a:r>
            <a:r>
              <a:rPr lang="en-US" altLang="zh-CN" sz="1800" dirty="0" smtClean="0">
                <a:latin typeface="+mn-lt"/>
                <a:ea typeface="+mn-ea"/>
              </a:rPr>
              <a:t>T</a:t>
            </a:r>
            <a:r>
              <a:rPr lang="en-US" altLang="zh-CN" sz="1800" baseline="-25000" dirty="0" smtClean="0">
                <a:latin typeface="+mn-lt"/>
                <a:ea typeface="+mn-ea"/>
              </a:rPr>
              <a:t>1</a:t>
            </a:r>
            <a:r>
              <a:rPr lang="en-US" altLang="zh-CN" sz="1800" dirty="0" smtClean="0">
                <a:latin typeface="+mn-lt"/>
                <a:ea typeface="+mn-ea"/>
              </a:rPr>
              <a:t> </a:t>
            </a:r>
            <a:r>
              <a:rPr lang="zh-CN" altLang="en-US" sz="1800" dirty="0" smtClean="0">
                <a:latin typeface="+mn-lt"/>
                <a:ea typeface="+mn-ea"/>
              </a:rPr>
              <a:t>的顶点，然后后序遍历</a:t>
            </a:r>
            <a:r>
              <a:rPr lang="en-US" altLang="zh-CN" sz="1800" dirty="0" smtClean="0">
                <a:latin typeface="+mn-lt"/>
                <a:ea typeface="+mn-ea"/>
              </a:rPr>
              <a:t>T</a:t>
            </a:r>
            <a:r>
              <a:rPr lang="en-US" altLang="zh-CN" sz="1800" baseline="-25000" dirty="0" smtClean="0">
                <a:latin typeface="+mn-lt"/>
                <a:ea typeface="+mn-ea"/>
              </a:rPr>
              <a:t>2</a:t>
            </a:r>
            <a:r>
              <a:rPr lang="en-US" altLang="zh-CN" sz="1800" dirty="0" smtClean="0">
                <a:latin typeface="+mn-lt"/>
                <a:ea typeface="+mn-ea"/>
              </a:rPr>
              <a:t> </a:t>
            </a:r>
            <a:r>
              <a:rPr lang="zh-CN" altLang="en-US" sz="1800" dirty="0" smtClean="0">
                <a:latin typeface="+mn-lt"/>
                <a:ea typeface="+mn-ea"/>
              </a:rPr>
              <a:t>的顶点。如此继续，直到后序遍历</a:t>
            </a:r>
            <a:r>
              <a:rPr lang="en-US" altLang="zh-CN" sz="1800" dirty="0" err="1" smtClean="0">
                <a:latin typeface="+mn-lt"/>
                <a:ea typeface="+mn-ea"/>
              </a:rPr>
              <a:t>T</a:t>
            </a:r>
            <a:r>
              <a:rPr lang="en-US" altLang="zh-CN" sz="1800" baseline="-25000" dirty="0" err="1" smtClean="0">
                <a:latin typeface="+mn-lt"/>
                <a:ea typeface="+mn-ea"/>
              </a:rPr>
              <a:t>n</a:t>
            </a:r>
            <a:r>
              <a:rPr lang="en-US" altLang="zh-CN" sz="1800" baseline="-25000" dirty="0" smtClean="0">
                <a:latin typeface="+mn-lt"/>
                <a:ea typeface="+mn-ea"/>
              </a:rPr>
              <a:t> </a:t>
            </a:r>
            <a:r>
              <a:rPr lang="zh-CN" altLang="en-US" sz="1800" dirty="0" smtClean="0">
                <a:latin typeface="+mn-lt"/>
                <a:ea typeface="+mn-ea"/>
              </a:rPr>
              <a:t>的所有顶点，最后访问根顶点</a:t>
            </a:r>
            <a:r>
              <a:rPr lang="en-US" altLang="zh-CN" sz="1800" dirty="0" smtClean="0">
                <a:latin typeface="+mn-lt"/>
                <a:ea typeface="+mn-ea"/>
              </a:rPr>
              <a:t>r</a:t>
            </a:r>
            <a:r>
              <a:rPr lang="zh-CN" altLang="en-US" sz="1800" dirty="0" smtClean="0">
                <a:latin typeface="+mn-lt"/>
                <a:ea typeface="+mn-ea"/>
              </a:rPr>
              <a:t>。</a:t>
            </a:r>
            <a:endParaRPr lang="en-US" altLang="zh-CN" sz="1800" dirty="0" smtClean="0">
              <a:latin typeface="+mn-lt"/>
              <a:ea typeface="+mn-ea"/>
            </a:endParaRPr>
          </a:p>
        </p:txBody>
      </p:sp>
      <p:sp>
        <p:nvSpPr>
          <p:cNvPr id="2" name="文本框 1"/>
          <p:cNvSpPr txBox="1"/>
          <p:nvPr/>
        </p:nvSpPr>
        <p:spPr>
          <a:xfrm>
            <a:off x="875705" y="1270456"/>
            <a:ext cx="1697901" cy="461665"/>
          </a:xfrm>
          <a:prstGeom prst="rect">
            <a:avLst/>
          </a:prstGeom>
          <a:noFill/>
        </p:spPr>
        <p:txBody>
          <a:bodyPr wrap="none" rtlCol="0">
            <a:spAutoFit/>
          </a:bodyPr>
          <a:lstStyle/>
          <a:p>
            <a:r>
              <a:rPr lang="zh-CN" altLang="en-US" sz="2400" dirty="0">
                <a:solidFill>
                  <a:schemeClr val="accent2"/>
                </a:solidFill>
                <a:latin typeface="+mn-lt"/>
                <a:ea typeface="+mn-ea"/>
              </a:rPr>
              <a:t>根数遍历</a:t>
            </a:r>
            <a:r>
              <a:rPr lang="zh-CN" altLang="en-US" sz="2200" dirty="0">
                <a:solidFill>
                  <a:schemeClr val="accent2"/>
                </a:solidFill>
                <a:latin typeface="+mn-lt"/>
                <a:ea typeface="+mn-ea"/>
              </a:rPr>
              <a:t>：</a:t>
            </a:r>
            <a:endParaRPr lang="zh-CN" altLang="en-US" sz="2200" dirty="0">
              <a:solidFill>
                <a:schemeClr val="accent2"/>
              </a:solidFill>
              <a:latin typeface="+mn-lt"/>
              <a:ea typeface="+mn-ea"/>
            </a:endParaRPr>
          </a:p>
        </p:txBody>
      </p:sp>
    </p:spTree>
  </p:cSld>
  <p:clrMapOvr>
    <a:masterClrMapping/>
  </p:clrMapOvr>
  <p:timing>
    <p:tnLst>
      <p:par>
        <p:cTn id="1" dur="indefinite" restart="never" nodeType="tmRoot"/>
      </p:par>
    </p:tnLst>
  </p:timing>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3"/>
          <p:cNvSpPr>
            <a:spLocks noGrp="1" noChangeArrowheads="1"/>
          </p:cNvSpPr>
          <p:nvPr>
            <p:ph type="body" idx="1"/>
          </p:nvPr>
        </p:nvSpPr>
        <p:spPr>
          <a:xfrm>
            <a:off x="1043608" y="1768792"/>
            <a:ext cx="7632848" cy="3892456"/>
          </a:xfrm>
        </p:spPr>
        <p:txBody>
          <a:bodyPr/>
          <a:lstStyle/>
          <a:p>
            <a:pPr>
              <a:lnSpc>
                <a:spcPct val="80000"/>
              </a:lnSpc>
            </a:pPr>
            <a:r>
              <a:rPr lang="en-US" altLang="zh-CN" sz="2200" dirty="0" smtClean="0"/>
              <a:t>1</a:t>
            </a:r>
            <a:r>
              <a:rPr lang="zh-CN" altLang="en-US" sz="2200" dirty="0" smtClean="0"/>
              <a:t>、前序遍历二叉树的操作定义为：若二叉树为空，则空操作；否则 （</a:t>
            </a:r>
            <a:r>
              <a:rPr lang="en-US" altLang="zh-CN" sz="2200" dirty="0" smtClean="0"/>
              <a:t>1</a:t>
            </a:r>
            <a:r>
              <a:rPr lang="zh-CN" altLang="en-US" sz="2200" dirty="0" smtClean="0"/>
              <a:t>）访问根结点；</a:t>
            </a:r>
            <a:endParaRPr lang="zh-CN" altLang="en-US" sz="2200" dirty="0" smtClean="0"/>
          </a:p>
          <a:p>
            <a:pPr>
              <a:lnSpc>
                <a:spcPct val="80000"/>
              </a:lnSpc>
              <a:buFont typeface="Wingdings" panose="05000000000000000000" pitchFamily="2" charset="2"/>
              <a:buNone/>
            </a:pPr>
            <a:r>
              <a:rPr lang="zh-CN" altLang="en-US" sz="2200" dirty="0" smtClean="0"/>
              <a:t>		</a:t>
            </a:r>
            <a:r>
              <a:rPr lang="en-US" altLang="zh-CN" sz="2200" dirty="0" smtClean="0"/>
              <a:t>	</a:t>
            </a:r>
            <a:r>
              <a:rPr lang="zh-CN" altLang="en-US" sz="2200" dirty="0" smtClean="0"/>
              <a:t>（</a:t>
            </a:r>
            <a:r>
              <a:rPr lang="en-US" altLang="zh-CN" sz="2200" dirty="0" smtClean="0"/>
              <a:t>2</a:t>
            </a:r>
            <a:r>
              <a:rPr lang="zh-CN" altLang="en-US" sz="2200" dirty="0" smtClean="0"/>
              <a:t>）先序遍历左子树；</a:t>
            </a:r>
            <a:endParaRPr lang="zh-CN" altLang="en-US" sz="2200" dirty="0" smtClean="0"/>
          </a:p>
          <a:p>
            <a:pPr>
              <a:lnSpc>
                <a:spcPct val="80000"/>
              </a:lnSpc>
              <a:buFont typeface="Wingdings" panose="05000000000000000000" pitchFamily="2" charset="2"/>
              <a:buNone/>
            </a:pPr>
            <a:r>
              <a:rPr lang="zh-CN" altLang="en-US" sz="2200" dirty="0" smtClean="0"/>
              <a:t>		</a:t>
            </a:r>
            <a:r>
              <a:rPr lang="en-US" altLang="zh-CN" sz="2200" dirty="0" smtClean="0"/>
              <a:t>	</a:t>
            </a:r>
            <a:r>
              <a:rPr lang="zh-CN" altLang="en-US" sz="2200" dirty="0" smtClean="0"/>
              <a:t>（</a:t>
            </a:r>
            <a:r>
              <a:rPr lang="en-US" altLang="zh-CN" sz="2200" dirty="0" smtClean="0"/>
              <a:t>3</a:t>
            </a:r>
            <a:r>
              <a:rPr lang="zh-CN" altLang="en-US" sz="2200" dirty="0" smtClean="0"/>
              <a:t>）先序遍历右子树。</a:t>
            </a:r>
            <a:endParaRPr lang="zh-CN" altLang="en-US" sz="2200" dirty="0" smtClean="0"/>
          </a:p>
          <a:p>
            <a:pPr>
              <a:lnSpc>
                <a:spcPct val="80000"/>
              </a:lnSpc>
            </a:pPr>
            <a:r>
              <a:rPr lang="en-US" altLang="zh-CN" sz="2200" dirty="0" smtClean="0"/>
              <a:t>2</a:t>
            </a:r>
            <a:r>
              <a:rPr lang="zh-CN" altLang="en-US" sz="2200" dirty="0" smtClean="0"/>
              <a:t>、中序遍历二叉树的操作定义为：若二叉树为空，则空操作；否则	（</a:t>
            </a:r>
            <a:r>
              <a:rPr lang="en-US" altLang="zh-CN" sz="2200" dirty="0" smtClean="0"/>
              <a:t>1</a:t>
            </a:r>
            <a:r>
              <a:rPr lang="zh-CN" altLang="en-US" sz="2200" dirty="0" smtClean="0"/>
              <a:t>）中序遍历左子树；</a:t>
            </a:r>
            <a:endParaRPr lang="zh-CN" altLang="en-US" sz="2200" dirty="0" smtClean="0"/>
          </a:p>
          <a:p>
            <a:pPr>
              <a:lnSpc>
                <a:spcPct val="80000"/>
              </a:lnSpc>
              <a:buFont typeface="Wingdings" panose="05000000000000000000" pitchFamily="2" charset="2"/>
              <a:buNone/>
            </a:pPr>
            <a:r>
              <a:rPr lang="zh-CN" altLang="en-US" sz="2200" dirty="0" smtClean="0"/>
              <a:t>		</a:t>
            </a:r>
            <a:r>
              <a:rPr lang="en-US" altLang="zh-CN" sz="2200" dirty="0" smtClean="0"/>
              <a:t>	</a:t>
            </a:r>
            <a:r>
              <a:rPr lang="zh-CN" altLang="en-US" sz="2200" dirty="0" smtClean="0"/>
              <a:t>（</a:t>
            </a:r>
            <a:r>
              <a:rPr lang="en-US" altLang="zh-CN" sz="2200" dirty="0" smtClean="0"/>
              <a:t>2</a:t>
            </a:r>
            <a:r>
              <a:rPr lang="zh-CN" altLang="en-US" sz="2200" dirty="0" smtClean="0"/>
              <a:t>）访问根结点；</a:t>
            </a:r>
            <a:endParaRPr lang="zh-CN" altLang="en-US" sz="2200" dirty="0" smtClean="0"/>
          </a:p>
          <a:p>
            <a:pPr>
              <a:lnSpc>
                <a:spcPct val="80000"/>
              </a:lnSpc>
              <a:buFont typeface="Wingdings" panose="05000000000000000000" pitchFamily="2" charset="2"/>
              <a:buNone/>
            </a:pPr>
            <a:r>
              <a:rPr lang="zh-CN" altLang="en-US" sz="2200" dirty="0" smtClean="0"/>
              <a:t>		</a:t>
            </a:r>
            <a:r>
              <a:rPr lang="en-US" altLang="zh-CN" sz="2200" dirty="0" smtClean="0"/>
              <a:t>	</a:t>
            </a:r>
            <a:r>
              <a:rPr lang="zh-CN" altLang="en-US" sz="2200" dirty="0" smtClean="0"/>
              <a:t>（</a:t>
            </a:r>
            <a:r>
              <a:rPr lang="en-US" altLang="zh-CN" sz="2200" dirty="0" smtClean="0"/>
              <a:t>3</a:t>
            </a:r>
            <a:r>
              <a:rPr lang="zh-CN" altLang="en-US" sz="2200" dirty="0" smtClean="0"/>
              <a:t>）中序遍历右子树。		</a:t>
            </a:r>
            <a:endParaRPr lang="zh-CN" altLang="en-US" sz="2200" dirty="0" smtClean="0"/>
          </a:p>
          <a:p>
            <a:pPr>
              <a:lnSpc>
                <a:spcPct val="80000"/>
              </a:lnSpc>
            </a:pPr>
            <a:r>
              <a:rPr lang="en-US" altLang="zh-CN" sz="2200" dirty="0" smtClean="0"/>
              <a:t>3</a:t>
            </a:r>
            <a:r>
              <a:rPr lang="zh-CN" altLang="en-US" sz="2200" dirty="0" smtClean="0"/>
              <a:t>、后序遍历二叉树的操作定义为：若二叉树为空，则空操作；否则	（</a:t>
            </a:r>
            <a:r>
              <a:rPr lang="en-US" altLang="zh-CN" sz="2200" dirty="0" smtClean="0"/>
              <a:t>1</a:t>
            </a:r>
            <a:r>
              <a:rPr lang="zh-CN" altLang="en-US" sz="2200" dirty="0" smtClean="0"/>
              <a:t>）后序遍历左子树；</a:t>
            </a:r>
            <a:endParaRPr lang="zh-CN" altLang="en-US" sz="2200" dirty="0" smtClean="0"/>
          </a:p>
          <a:p>
            <a:pPr>
              <a:lnSpc>
                <a:spcPct val="80000"/>
              </a:lnSpc>
              <a:buFont typeface="Wingdings" panose="05000000000000000000" pitchFamily="2" charset="2"/>
              <a:buNone/>
            </a:pPr>
            <a:r>
              <a:rPr lang="zh-CN" altLang="en-US" sz="2200" dirty="0" smtClean="0"/>
              <a:t>		</a:t>
            </a:r>
            <a:r>
              <a:rPr lang="en-US" altLang="zh-CN" sz="2200" dirty="0" smtClean="0"/>
              <a:t>	</a:t>
            </a:r>
            <a:r>
              <a:rPr lang="zh-CN" altLang="en-US" sz="2200" dirty="0" smtClean="0"/>
              <a:t>（</a:t>
            </a:r>
            <a:r>
              <a:rPr lang="en-US" altLang="zh-CN" sz="2200" dirty="0" smtClean="0"/>
              <a:t>2</a:t>
            </a:r>
            <a:r>
              <a:rPr lang="zh-CN" altLang="en-US" sz="2200" dirty="0" smtClean="0"/>
              <a:t>）后序遍历右子树；</a:t>
            </a:r>
            <a:endParaRPr lang="zh-CN" altLang="en-US" sz="2200" dirty="0" smtClean="0"/>
          </a:p>
          <a:p>
            <a:pPr>
              <a:lnSpc>
                <a:spcPct val="80000"/>
              </a:lnSpc>
              <a:buFont typeface="Wingdings" panose="05000000000000000000" pitchFamily="2" charset="2"/>
              <a:buNone/>
            </a:pPr>
            <a:r>
              <a:rPr lang="zh-CN" altLang="en-US" sz="2200" dirty="0" smtClean="0"/>
              <a:t>		</a:t>
            </a:r>
            <a:r>
              <a:rPr lang="en-US" altLang="zh-CN" sz="2200" dirty="0" smtClean="0"/>
              <a:t>	</a:t>
            </a:r>
            <a:r>
              <a:rPr lang="zh-CN" altLang="en-US" sz="2200" dirty="0" smtClean="0"/>
              <a:t>（</a:t>
            </a:r>
            <a:r>
              <a:rPr lang="en-US" altLang="zh-CN" sz="2200" dirty="0" smtClean="0"/>
              <a:t>3</a:t>
            </a:r>
            <a:r>
              <a:rPr lang="zh-CN" altLang="en-US" sz="2200" dirty="0" smtClean="0"/>
              <a:t>）访问根结点。</a:t>
            </a:r>
            <a:endParaRPr lang="zh-CN" altLang="en-US" sz="2200" dirty="0" smtClean="0"/>
          </a:p>
        </p:txBody>
      </p:sp>
      <p:sp>
        <p:nvSpPr>
          <p:cNvPr id="79875"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4" name="Rectangle 2"/>
          <p:cNvSpPr>
            <a:spLocks noGrp="1" noChangeArrowheads="1"/>
          </p:cNvSpPr>
          <p:nvPr>
            <p:ph type="title"/>
          </p:nvPr>
        </p:nvSpPr>
        <p:spPr>
          <a:xfrm>
            <a:off x="879475" y="269875"/>
            <a:ext cx="7869238" cy="927100"/>
          </a:xfrm>
        </p:spPr>
        <p:txBody>
          <a:bodyPr/>
          <a:lstStyle/>
          <a:p>
            <a:pPr eaLnBrk="1" hangingPunct="1"/>
            <a:r>
              <a:rPr lang="en-US" altLang="zh-CN" dirty="0">
                <a:solidFill>
                  <a:srgbClr val="333399"/>
                </a:solidFill>
              </a:rPr>
              <a:t>1.4.</a:t>
            </a:r>
            <a:r>
              <a:rPr lang="en-US" altLang="zh-CN" dirty="0" smtClean="0"/>
              <a:t>6 </a:t>
            </a:r>
            <a:r>
              <a:rPr lang="zh-CN" altLang="en-US" dirty="0" smtClean="0"/>
              <a:t>树、</a:t>
            </a:r>
            <a:r>
              <a:rPr lang="zh-CN" altLang="en-US" b="1" u="sng" dirty="0" smtClean="0"/>
              <a:t>根树</a:t>
            </a:r>
            <a:r>
              <a:rPr lang="zh-CN" altLang="en-US" dirty="0" smtClean="0"/>
              <a:t>、二叉树</a:t>
            </a:r>
            <a:endParaRPr lang="en-US" altLang="zh-CN" dirty="0" smtClean="0"/>
          </a:p>
        </p:txBody>
      </p:sp>
      <p:sp>
        <p:nvSpPr>
          <p:cNvPr id="5" name="文本框 4"/>
          <p:cNvSpPr txBox="1"/>
          <p:nvPr/>
        </p:nvSpPr>
        <p:spPr>
          <a:xfrm>
            <a:off x="875705" y="1270456"/>
            <a:ext cx="1697901" cy="461665"/>
          </a:xfrm>
          <a:prstGeom prst="rect">
            <a:avLst/>
          </a:prstGeom>
          <a:noFill/>
        </p:spPr>
        <p:txBody>
          <a:bodyPr wrap="none" rtlCol="0">
            <a:spAutoFit/>
          </a:bodyPr>
          <a:lstStyle/>
          <a:p>
            <a:r>
              <a:rPr lang="zh-CN" altLang="en-US" sz="2400" dirty="0">
                <a:solidFill>
                  <a:schemeClr val="accent2"/>
                </a:solidFill>
                <a:latin typeface="+mn-lt"/>
                <a:ea typeface="+mn-ea"/>
              </a:rPr>
              <a:t>根数遍历</a:t>
            </a:r>
            <a:r>
              <a:rPr lang="zh-CN" altLang="en-US" sz="2200" dirty="0">
                <a:solidFill>
                  <a:schemeClr val="accent2"/>
                </a:solidFill>
                <a:latin typeface="+mn-lt"/>
                <a:ea typeface="+mn-ea"/>
              </a:rPr>
              <a:t>：</a:t>
            </a:r>
            <a:endParaRPr lang="zh-CN" altLang="en-US" sz="2200" dirty="0">
              <a:solidFill>
                <a:schemeClr val="accent2"/>
              </a:solidFill>
              <a:latin typeface="+mn-lt"/>
              <a:ea typeface="+mn-ea"/>
            </a:endParaRPr>
          </a:p>
        </p:txBody>
      </p:sp>
    </p:spTree>
  </p:cSld>
  <p:clrMapOvr>
    <a:masterClrMapping/>
  </p:clrMapOvr>
  <p:transition/>
  <p:timing>
    <p:tnLst>
      <p:par>
        <p:cTn id="1" dur="indefinite" restart="never" nodeType="tmRoot"/>
      </p:par>
    </p:tnLst>
  </p:timing>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47042" name="Rectangle 2"/>
          <p:cNvSpPr>
            <a:spLocks noChangeArrowheads="1"/>
          </p:cNvSpPr>
          <p:nvPr/>
        </p:nvSpPr>
        <p:spPr bwMode="auto">
          <a:xfrm>
            <a:off x="1109662" y="1712118"/>
            <a:ext cx="4273005" cy="3477875"/>
          </a:xfrm>
          <a:prstGeom prst="rect">
            <a:avLst/>
          </a:prstGeom>
          <a:noFill/>
          <a:ln w="12700" cap="sq">
            <a:noFill/>
            <a:miter lim="800000"/>
            <a:headEnd type="none" w="sm" len="sm"/>
            <a:tailEnd type="none" w="sm" len="sm"/>
          </a:ln>
          <a:effectLst/>
        </p:spPr>
        <p:txBody>
          <a:bodyPr wrap="square">
            <a:spAutoFit/>
          </a:bodyPr>
          <a:lstStyle/>
          <a:p>
            <a:pPr>
              <a:defRPr/>
            </a:pPr>
            <a:r>
              <a:rPr lang="zh-CN" altLang="en-US" sz="2200" dirty="0">
                <a:solidFill>
                  <a:schemeClr val="accent2"/>
                </a:solidFill>
                <a:latin typeface="+mn-lt"/>
                <a:ea typeface="+mn-ea"/>
              </a:rPr>
              <a:t>例：如图所示的二叉树表达式</a:t>
            </a:r>
            <a:endParaRPr lang="zh-CN" altLang="en-US" sz="2200" dirty="0">
              <a:solidFill>
                <a:schemeClr val="accent2"/>
              </a:solidFill>
              <a:latin typeface="+mn-lt"/>
              <a:ea typeface="+mn-ea"/>
            </a:endParaRPr>
          </a:p>
          <a:p>
            <a:pPr>
              <a:defRPr/>
            </a:pPr>
            <a:r>
              <a:rPr lang="en-US" altLang="zh-CN" sz="2200" dirty="0">
                <a:solidFill>
                  <a:schemeClr val="accent2"/>
                </a:solidFill>
                <a:latin typeface="+mn-lt"/>
                <a:ea typeface="+mn-ea"/>
              </a:rPr>
              <a:t>(</a:t>
            </a:r>
            <a:r>
              <a:rPr lang="en-US" altLang="zh-CN" sz="2200" dirty="0" err="1">
                <a:solidFill>
                  <a:schemeClr val="accent2"/>
                </a:solidFill>
                <a:latin typeface="+mn-lt"/>
                <a:ea typeface="+mn-ea"/>
              </a:rPr>
              <a:t>a+b</a:t>
            </a:r>
            <a:r>
              <a:rPr lang="en-US" altLang="zh-CN" sz="2200" dirty="0">
                <a:solidFill>
                  <a:schemeClr val="accent2"/>
                </a:solidFill>
                <a:latin typeface="+mn-lt"/>
                <a:ea typeface="+mn-ea"/>
              </a:rPr>
              <a:t>*(c-d)-e/f)</a:t>
            </a:r>
            <a:endParaRPr lang="en-US" altLang="zh-CN" sz="2200" dirty="0">
              <a:solidFill>
                <a:schemeClr val="accent2"/>
              </a:solidFill>
              <a:latin typeface="+mn-lt"/>
              <a:ea typeface="+mn-ea"/>
            </a:endParaRPr>
          </a:p>
          <a:p>
            <a:pPr>
              <a:buFont typeface="Arial" panose="020B0604020202090204" pitchFamily="34" charset="0"/>
              <a:buChar char="•"/>
              <a:defRPr/>
            </a:pPr>
            <a:r>
              <a:rPr lang="zh-CN" altLang="en-US" sz="2200" dirty="0">
                <a:solidFill>
                  <a:schemeClr val="accent2"/>
                </a:solidFill>
                <a:latin typeface="+mn-lt"/>
                <a:ea typeface="+mn-ea"/>
              </a:rPr>
              <a:t>若先序</a:t>
            </a:r>
            <a:r>
              <a:rPr lang="zh-CN" altLang="en-US" sz="2200" dirty="0" smtClean="0">
                <a:solidFill>
                  <a:schemeClr val="accent2"/>
                </a:solidFill>
                <a:latin typeface="+mn-lt"/>
                <a:ea typeface="+mn-ea"/>
              </a:rPr>
              <a:t>遍历</a:t>
            </a:r>
            <a:r>
              <a:rPr lang="en-US" altLang="zh-CN" sz="2200" dirty="0" smtClean="0">
                <a:solidFill>
                  <a:schemeClr val="accent2"/>
                </a:solidFill>
                <a:latin typeface="+mn-lt"/>
                <a:ea typeface="+mn-ea"/>
              </a:rPr>
              <a:t>,</a:t>
            </a:r>
            <a:r>
              <a:rPr lang="zh-CN" altLang="en-US" sz="2200" dirty="0" smtClean="0">
                <a:solidFill>
                  <a:schemeClr val="accent2"/>
                </a:solidFill>
                <a:latin typeface="+mn-lt"/>
                <a:ea typeface="+mn-ea"/>
              </a:rPr>
              <a:t> 其先</a:t>
            </a:r>
            <a:r>
              <a:rPr lang="zh-CN" altLang="en-US" sz="2200" dirty="0">
                <a:solidFill>
                  <a:schemeClr val="accent2"/>
                </a:solidFill>
                <a:latin typeface="+mn-lt"/>
                <a:ea typeface="+mn-ea"/>
              </a:rPr>
              <a:t>序序列为</a:t>
            </a:r>
            <a:r>
              <a:rPr lang="zh-CN" altLang="en-US" sz="2200" dirty="0" smtClean="0">
                <a:solidFill>
                  <a:schemeClr val="accent2"/>
                </a:solidFill>
                <a:latin typeface="+mn-lt"/>
                <a:ea typeface="+mn-ea"/>
              </a:rPr>
              <a:t>：</a:t>
            </a:r>
            <a:endParaRPr lang="en-US" altLang="zh-CN" sz="2200" dirty="0" smtClean="0">
              <a:solidFill>
                <a:schemeClr val="accent2"/>
              </a:solidFill>
              <a:latin typeface="+mn-lt"/>
              <a:ea typeface="+mn-ea"/>
            </a:endParaRPr>
          </a:p>
          <a:p>
            <a:pPr>
              <a:defRPr/>
            </a:pPr>
            <a:r>
              <a:rPr lang="en-US" altLang="zh-CN" sz="2200" dirty="0" smtClean="0">
                <a:solidFill>
                  <a:schemeClr val="accent2"/>
                </a:solidFill>
                <a:latin typeface="+mn-lt"/>
                <a:ea typeface="+mn-ea"/>
              </a:rPr>
              <a:t>-+</a:t>
            </a:r>
            <a:r>
              <a:rPr lang="en-US" altLang="zh-CN" sz="2200" dirty="0">
                <a:solidFill>
                  <a:schemeClr val="accent2"/>
                </a:solidFill>
                <a:latin typeface="+mn-lt"/>
                <a:ea typeface="+mn-ea"/>
              </a:rPr>
              <a:t>a*b-cd/</a:t>
            </a:r>
            <a:r>
              <a:rPr lang="en-US" altLang="zh-CN" sz="2200" dirty="0" err="1">
                <a:solidFill>
                  <a:schemeClr val="accent2"/>
                </a:solidFill>
                <a:latin typeface="+mn-lt"/>
                <a:ea typeface="+mn-ea"/>
              </a:rPr>
              <a:t>ef</a:t>
            </a:r>
            <a:endParaRPr lang="en-US" altLang="zh-CN" sz="2200" dirty="0">
              <a:solidFill>
                <a:schemeClr val="accent2"/>
              </a:solidFill>
              <a:latin typeface="+mn-lt"/>
              <a:ea typeface="+mn-ea"/>
            </a:endParaRPr>
          </a:p>
          <a:p>
            <a:pPr>
              <a:defRPr/>
            </a:pPr>
            <a:r>
              <a:rPr lang="en-US" altLang="zh-CN" sz="2200" dirty="0">
                <a:solidFill>
                  <a:schemeClr val="accent2"/>
                </a:solidFill>
                <a:latin typeface="+mn-lt"/>
                <a:ea typeface="+mn-ea"/>
              </a:rPr>
              <a:t> </a:t>
            </a:r>
            <a:endParaRPr lang="en-US" altLang="zh-CN" sz="2200" dirty="0">
              <a:solidFill>
                <a:schemeClr val="accent2"/>
              </a:solidFill>
              <a:latin typeface="+mn-lt"/>
              <a:ea typeface="+mn-ea"/>
            </a:endParaRPr>
          </a:p>
          <a:p>
            <a:pPr>
              <a:buFont typeface="Arial" panose="020B0604020202090204" pitchFamily="34" charset="0"/>
              <a:buChar char="•"/>
              <a:defRPr/>
            </a:pPr>
            <a:r>
              <a:rPr lang="zh-CN" altLang="en-US" sz="2200" dirty="0">
                <a:solidFill>
                  <a:schemeClr val="accent2"/>
                </a:solidFill>
                <a:latin typeface="+mn-lt"/>
                <a:ea typeface="+mn-ea"/>
              </a:rPr>
              <a:t>按中序遍历</a:t>
            </a:r>
            <a:r>
              <a:rPr lang="en-US" altLang="zh-CN" sz="2200" dirty="0">
                <a:solidFill>
                  <a:schemeClr val="accent2"/>
                </a:solidFill>
                <a:latin typeface="+mn-lt"/>
                <a:ea typeface="+mn-ea"/>
              </a:rPr>
              <a:t>,</a:t>
            </a:r>
            <a:r>
              <a:rPr lang="zh-CN" altLang="en-US" sz="2200" dirty="0">
                <a:solidFill>
                  <a:schemeClr val="accent2"/>
                </a:solidFill>
                <a:latin typeface="+mn-lt"/>
                <a:ea typeface="+mn-ea"/>
              </a:rPr>
              <a:t>其中序序列为：</a:t>
            </a:r>
            <a:endParaRPr lang="zh-CN" altLang="en-US" sz="2200" dirty="0">
              <a:solidFill>
                <a:schemeClr val="accent2"/>
              </a:solidFill>
              <a:latin typeface="+mn-lt"/>
              <a:ea typeface="+mn-ea"/>
            </a:endParaRPr>
          </a:p>
          <a:p>
            <a:pPr>
              <a:defRPr/>
            </a:pPr>
            <a:r>
              <a:rPr lang="en-US" altLang="zh-CN" sz="2200" dirty="0" err="1">
                <a:solidFill>
                  <a:schemeClr val="accent2"/>
                </a:solidFill>
                <a:latin typeface="+mn-lt"/>
                <a:ea typeface="+mn-ea"/>
              </a:rPr>
              <a:t>a+b</a:t>
            </a:r>
            <a:r>
              <a:rPr lang="en-US" altLang="zh-CN" sz="2200" dirty="0">
                <a:solidFill>
                  <a:schemeClr val="accent2"/>
                </a:solidFill>
                <a:latin typeface="+mn-lt"/>
                <a:ea typeface="+mn-ea"/>
              </a:rPr>
              <a:t>*c-d-e/f</a:t>
            </a:r>
            <a:endParaRPr lang="en-US" altLang="zh-CN" sz="2200" dirty="0">
              <a:solidFill>
                <a:schemeClr val="accent2"/>
              </a:solidFill>
              <a:latin typeface="+mn-lt"/>
              <a:ea typeface="+mn-ea"/>
            </a:endParaRPr>
          </a:p>
          <a:p>
            <a:pPr>
              <a:defRPr/>
            </a:pPr>
            <a:endParaRPr lang="en-US" altLang="zh-CN" sz="2200" dirty="0">
              <a:solidFill>
                <a:schemeClr val="accent2"/>
              </a:solidFill>
              <a:latin typeface="+mn-lt"/>
              <a:ea typeface="+mn-ea"/>
            </a:endParaRPr>
          </a:p>
          <a:p>
            <a:pPr>
              <a:buFont typeface="Arial" panose="020B0604020202090204" pitchFamily="34" charset="0"/>
              <a:buChar char="•"/>
              <a:defRPr/>
            </a:pPr>
            <a:r>
              <a:rPr lang="zh-CN" altLang="en-US" sz="2200" dirty="0">
                <a:solidFill>
                  <a:schemeClr val="accent2"/>
                </a:solidFill>
                <a:latin typeface="+mn-lt"/>
                <a:ea typeface="+mn-ea"/>
              </a:rPr>
              <a:t>按后序遍历</a:t>
            </a:r>
            <a:r>
              <a:rPr lang="en-US" altLang="zh-CN" sz="2200" dirty="0">
                <a:solidFill>
                  <a:schemeClr val="accent2"/>
                </a:solidFill>
                <a:latin typeface="+mn-lt"/>
                <a:ea typeface="+mn-ea"/>
              </a:rPr>
              <a:t>,</a:t>
            </a:r>
            <a:r>
              <a:rPr lang="zh-CN" altLang="en-US" sz="2200" dirty="0">
                <a:solidFill>
                  <a:schemeClr val="accent2"/>
                </a:solidFill>
                <a:latin typeface="+mn-lt"/>
                <a:ea typeface="+mn-ea"/>
              </a:rPr>
              <a:t>其后序序列为：</a:t>
            </a:r>
            <a:endParaRPr lang="zh-CN" altLang="en-US" sz="2200" dirty="0">
              <a:solidFill>
                <a:schemeClr val="accent2"/>
              </a:solidFill>
              <a:latin typeface="+mn-lt"/>
              <a:ea typeface="+mn-ea"/>
            </a:endParaRPr>
          </a:p>
          <a:p>
            <a:pPr>
              <a:defRPr/>
            </a:pPr>
            <a:r>
              <a:rPr lang="en-US" altLang="zh-CN" sz="2200" dirty="0" err="1">
                <a:solidFill>
                  <a:schemeClr val="accent2"/>
                </a:solidFill>
                <a:latin typeface="+mn-lt"/>
                <a:ea typeface="+mn-ea"/>
              </a:rPr>
              <a:t>abcd</a:t>
            </a:r>
            <a:r>
              <a:rPr lang="en-US" altLang="zh-CN" sz="2200" dirty="0">
                <a:solidFill>
                  <a:schemeClr val="accent2"/>
                </a:solidFill>
                <a:latin typeface="+mn-lt"/>
                <a:ea typeface="+mn-ea"/>
              </a:rPr>
              <a:t>-*+</a:t>
            </a:r>
            <a:r>
              <a:rPr lang="en-US" altLang="zh-CN" sz="2200" dirty="0" err="1">
                <a:solidFill>
                  <a:schemeClr val="accent2"/>
                </a:solidFill>
                <a:latin typeface="+mn-lt"/>
                <a:ea typeface="+mn-ea"/>
              </a:rPr>
              <a:t>ef</a:t>
            </a:r>
            <a:r>
              <a:rPr lang="en-US" altLang="zh-CN" sz="2200" dirty="0" smtClean="0">
                <a:solidFill>
                  <a:schemeClr val="accent2"/>
                </a:solidFill>
                <a:latin typeface="+mn-lt"/>
                <a:ea typeface="+mn-ea"/>
              </a:rPr>
              <a:t>/-</a:t>
            </a:r>
            <a:endParaRPr kumimoji="1" lang="en-US" altLang="zh-CN" dirty="0">
              <a:latin typeface="Times New Roman" panose="02020503050405090304" pitchFamily="18" charset="0"/>
            </a:endParaRPr>
          </a:p>
        </p:txBody>
      </p:sp>
      <p:sp>
        <p:nvSpPr>
          <p:cNvPr id="80899" name="Oval 3"/>
          <p:cNvSpPr>
            <a:spLocks noChangeArrowheads="1"/>
          </p:cNvSpPr>
          <p:nvPr/>
        </p:nvSpPr>
        <p:spPr bwMode="auto">
          <a:xfrm>
            <a:off x="6830467" y="1331118"/>
            <a:ext cx="381000" cy="381000"/>
          </a:xfrm>
          <a:prstGeom prst="ellipse">
            <a:avLst/>
          </a:prstGeom>
          <a:solidFill>
            <a:schemeClr val="accent1"/>
          </a:solidFill>
          <a:ln w="12700" cap="sq">
            <a:solidFill>
              <a:schemeClr val="tx1"/>
            </a:solidFill>
            <a:round/>
            <a:headEnd type="none" w="sm" len="sm"/>
            <a:tailEnd type="none" w="sm" len="sm"/>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zh-CN" altLang="en-US" dirty="0">
                <a:latin typeface="Times New Roman" panose="02020503050405090304" pitchFamily="18" charset="0"/>
              </a:rPr>
              <a:t>－</a:t>
            </a:r>
            <a:endParaRPr kumimoji="1" lang="zh-CN" altLang="en-US" dirty="0">
              <a:latin typeface="Times New Roman" panose="02020503050405090304" pitchFamily="18" charset="0"/>
            </a:endParaRPr>
          </a:p>
        </p:txBody>
      </p:sp>
      <p:sp>
        <p:nvSpPr>
          <p:cNvPr id="80900" name="Oval 4"/>
          <p:cNvSpPr>
            <a:spLocks noChangeArrowheads="1"/>
          </p:cNvSpPr>
          <p:nvPr/>
        </p:nvSpPr>
        <p:spPr bwMode="auto">
          <a:xfrm>
            <a:off x="5992267" y="2321718"/>
            <a:ext cx="381000" cy="381000"/>
          </a:xfrm>
          <a:prstGeom prst="ellipse">
            <a:avLst/>
          </a:prstGeom>
          <a:solidFill>
            <a:schemeClr val="accent1"/>
          </a:solidFill>
          <a:ln w="12700" cap="sq">
            <a:solidFill>
              <a:schemeClr val="tx1"/>
            </a:solidFill>
            <a:round/>
            <a:headEnd type="none" w="sm" len="sm"/>
            <a:tailEnd type="none" w="sm" len="sm"/>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zh-CN" altLang="en-US" dirty="0">
                <a:latin typeface="Times New Roman" panose="02020503050405090304" pitchFamily="18" charset="0"/>
              </a:rPr>
              <a:t>＋</a:t>
            </a:r>
            <a:endParaRPr kumimoji="1" lang="zh-CN" altLang="en-US" dirty="0">
              <a:latin typeface="Times New Roman" panose="02020503050405090304" pitchFamily="18" charset="0"/>
            </a:endParaRPr>
          </a:p>
        </p:txBody>
      </p:sp>
      <p:sp>
        <p:nvSpPr>
          <p:cNvPr id="80901" name="Oval 5"/>
          <p:cNvSpPr>
            <a:spLocks noChangeArrowheads="1"/>
          </p:cNvSpPr>
          <p:nvPr/>
        </p:nvSpPr>
        <p:spPr bwMode="auto">
          <a:xfrm>
            <a:off x="6449467" y="3159918"/>
            <a:ext cx="381000" cy="381000"/>
          </a:xfrm>
          <a:prstGeom prst="ellipse">
            <a:avLst/>
          </a:prstGeom>
          <a:solidFill>
            <a:schemeClr val="accent1"/>
          </a:solidFill>
          <a:ln w="12700" cap="sq">
            <a:solidFill>
              <a:schemeClr val="tx1"/>
            </a:solidFill>
            <a:round/>
            <a:headEnd type="none" w="sm" len="sm"/>
            <a:tailEnd type="none" w="sm" len="sm"/>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a:latin typeface="Times New Roman" panose="02020503050405090304" pitchFamily="18" charset="0"/>
              </a:rPr>
              <a:t>*</a:t>
            </a:r>
            <a:endParaRPr kumimoji="1" lang="en-US" altLang="zh-CN">
              <a:latin typeface="Times New Roman" panose="02020503050405090304" pitchFamily="18" charset="0"/>
            </a:endParaRPr>
          </a:p>
        </p:txBody>
      </p:sp>
      <p:sp>
        <p:nvSpPr>
          <p:cNvPr id="80902" name="Oval 6"/>
          <p:cNvSpPr>
            <a:spLocks noChangeArrowheads="1"/>
          </p:cNvSpPr>
          <p:nvPr/>
        </p:nvSpPr>
        <p:spPr bwMode="auto">
          <a:xfrm>
            <a:off x="5535067" y="3159918"/>
            <a:ext cx="381000" cy="381000"/>
          </a:xfrm>
          <a:prstGeom prst="ellipse">
            <a:avLst/>
          </a:prstGeom>
          <a:solidFill>
            <a:schemeClr val="accent1"/>
          </a:solidFill>
          <a:ln w="12700" cap="sq">
            <a:solidFill>
              <a:schemeClr val="tx1"/>
            </a:solidFill>
            <a:round/>
            <a:headEnd type="none" w="sm" len="sm"/>
            <a:tailEnd type="none" w="sm" len="sm"/>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a:latin typeface="Times New Roman" panose="02020503050405090304" pitchFamily="18" charset="0"/>
              </a:rPr>
              <a:t>a</a:t>
            </a:r>
            <a:endParaRPr kumimoji="1" lang="en-US" altLang="zh-CN">
              <a:latin typeface="Times New Roman" panose="02020503050405090304" pitchFamily="18" charset="0"/>
            </a:endParaRPr>
          </a:p>
        </p:txBody>
      </p:sp>
      <p:sp>
        <p:nvSpPr>
          <p:cNvPr id="80903" name="Oval 7"/>
          <p:cNvSpPr>
            <a:spLocks noChangeArrowheads="1"/>
          </p:cNvSpPr>
          <p:nvPr/>
        </p:nvSpPr>
        <p:spPr bwMode="auto">
          <a:xfrm>
            <a:off x="7744867" y="2245518"/>
            <a:ext cx="381000" cy="381000"/>
          </a:xfrm>
          <a:prstGeom prst="ellipse">
            <a:avLst/>
          </a:prstGeom>
          <a:solidFill>
            <a:srgbClr val="FF9900"/>
          </a:solidFill>
          <a:ln w="12700" cap="sq">
            <a:solidFill>
              <a:schemeClr val="tx1"/>
            </a:solidFill>
            <a:round/>
            <a:headEnd type="none" w="sm" len="sm"/>
            <a:tailEnd type="none" w="sm" len="sm"/>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a:latin typeface="Times New Roman" panose="02020503050405090304" pitchFamily="18" charset="0"/>
              </a:rPr>
              <a:t>/</a:t>
            </a:r>
            <a:endParaRPr kumimoji="1" lang="en-US" altLang="zh-CN">
              <a:latin typeface="Times New Roman" panose="02020503050405090304" pitchFamily="18" charset="0"/>
            </a:endParaRPr>
          </a:p>
        </p:txBody>
      </p:sp>
      <p:sp>
        <p:nvSpPr>
          <p:cNvPr id="80904" name="Oval 8"/>
          <p:cNvSpPr>
            <a:spLocks noChangeArrowheads="1"/>
          </p:cNvSpPr>
          <p:nvPr/>
        </p:nvSpPr>
        <p:spPr bwMode="auto">
          <a:xfrm>
            <a:off x="6068467" y="3998118"/>
            <a:ext cx="381000" cy="381000"/>
          </a:xfrm>
          <a:prstGeom prst="ellipse">
            <a:avLst/>
          </a:prstGeom>
          <a:solidFill>
            <a:schemeClr val="accent1"/>
          </a:solidFill>
          <a:ln w="12700" cap="sq">
            <a:solidFill>
              <a:schemeClr val="tx1"/>
            </a:solidFill>
            <a:round/>
            <a:headEnd type="none" w="sm" len="sm"/>
            <a:tailEnd type="none" w="sm" len="sm"/>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a:latin typeface="Times New Roman" panose="02020503050405090304" pitchFamily="18" charset="0"/>
              </a:rPr>
              <a:t>b</a:t>
            </a:r>
            <a:endParaRPr kumimoji="1" lang="en-US" altLang="zh-CN">
              <a:latin typeface="Times New Roman" panose="02020503050405090304" pitchFamily="18" charset="0"/>
            </a:endParaRPr>
          </a:p>
        </p:txBody>
      </p:sp>
      <p:sp>
        <p:nvSpPr>
          <p:cNvPr id="80905" name="Oval 9"/>
          <p:cNvSpPr>
            <a:spLocks noChangeArrowheads="1"/>
          </p:cNvSpPr>
          <p:nvPr/>
        </p:nvSpPr>
        <p:spPr bwMode="auto">
          <a:xfrm>
            <a:off x="6982867" y="3998118"/>
            <a:ext cx="381000" cy="381000"/>
          </a:xfrm>
          <a:prstGeom prst="ellipse">
            <a:avLst/>
          </a:prstGeom>
          <a:solidFill>
            <a:schemeClr val="accent1"/>
          </a:solidFill>
          <a:ln w="12700" cap="sq">
            <a:solidFill>
              <a:schemeClr val="tx1"/>
            </a:solidFill>
            <a:round/>
            <a:headEnd type="none" w="sm" len="sm"/>
            <a:tailEnd type="none" w="sm" len="sm"/>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a:latin typeface="Times New Roman" panose="02020503050405090304" pitchFamily="18" charset="0"/>
              </a:rPr>
              <a:t>-</a:t>
            </a:r>
            <a:endParaRPr kumimoji="1" lang="en-US" altLang="zh-CN">
              <a:latin typeface="Times New Roman" panose="02020503050405090304" pitchFamily="18" charset="0"/>
            </a:endParaRPr>
          </a:p>
        </p:txBody>
      </p:sp>
      <p:sp>
        <p:nvSpPr>
          <p:cNvPr id="80906" name="Oval 10"/>
          <p:cNvSpPr>
            <a:spLocks noChangeArrowheads="1"/>
          </p:cNvSpPr>
          <p:nvPr/>
        </p:nvSpPr>
        <p:spPr bwMode="auto">
          <a:xfrm>
            <a:off x="7440067" y="4912518"/>
            <a:ext cx="381000" cy="381000"/>
          </a:xfrm>
          <a:prstGeom prst="ellipse">
            <a:avLst/>
          </a:prstGeom>
          <a:solidFill>
            <a:schemeClr val="accent1"/>
          </a:solidFill>
          <a:ln w="12700" cap="sq">
            <a:solidFill>
              <a:schemeClr val="tx1"/>
            </a:solidFill>
            <a:round/>
            <a:headEnd type="none" w="sm" len="sm"/>
            <a:tailEnd type="none" w="sm" len="sm"/>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a:latin typeface="Times New Roman" panose="02020503050405090304" pitchFamily="18" charset="0"/>
              </a:rPr>
              <a:t>d</a:t>
            </a:r>
            <a:endParaRPr kumimoji="1" lang="en-US" altLang="zh-CN">
              <a:latin typeface="Times New Roman" panose="02020503050405090304" pitchFamily="18" charset="0"/>
            </a:endParaRPr>
          </a:p>
        </p:txBody>
      </p:sp>
      <p:sp>
        <p:nvSpPr>
          <p:cNvPr id="80907" name="Oval 11"/>
          <p:cNvSpPr>
            <a:spLocks noChangeArrowheads="1"/>
          </p:cNvSpPr>
          <p:nvPr/>
        </p:nvSpPr>
        <p:spPr bwMode="auto">
          <a:xfrm>
            <a:off x="6525667" y="4912518"/>
            <a:ext cx="381000" cy="381000"/>
          </a:xfrm>
          <a:prstGeom prst="ellipse">
            <a:avLst/>
          </a:prstGeom>
          <a:solidFill>
            <a:schemeClr val="accent1"/>
          </a:solidFill>
          <a:ln w="12700" cap="sq">
            <a:solidFill>
              <a:schemeClr val="tx1"/>
            </a:solidFill>
            <a:round/>
            <a:headEnd type="none" w="sm" len="sm"/>
            <a:tailEnd type="none" w="sm" len="sm"/>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a:latin typeface="Times New Roman" panose="02020503050405090304" pitchFamily="18" charset="0"/>
              </a:rPr>
              <a:t>c</a:t>
            </a:r>
            <a:endParaRPr kumimoji="1" lang="en-US" altLang="zh-CN">
              <a:latin typeface="Times New Roman" panose="02020503050405090304" pitchFamily="18" charset="0"/>
            </a:endParaRPr>
          </a:p>
        </p:txBody>
      </p:sp>
      <p:sp>
        <p:nvSpPr>
          <p:cNvPr id="80908" name="Oval 12"/>
          <p:cNvSpPr>
            <a:spLocks noChangeArrowheads="1"/>
          </p:cNvSpPr>
          <p:nvPr/>
        </p:nvSpPr>
        <p:spPr bwMode="auto">
          <a:xfrm>
            <a:off x="8278267" y="3007518"/>
            <a:ext cx="381000" cy="381000"/>
          </a:xfrm>
          <a:prstGeom prst="ellipse">
            <a:avLst/>
          </a:prstGeom>
          <a:solidFill>
            <a:srgbClr val="FF9900"/>
          </a:solidFill>
          <a:ln w="12700" cap="sq">
            <a:solidFill>
              <a:schemeClr val="tx1"/>
            </a:solidFill>
            <a:round/>
            <a:headEnd type="none" w="sm" len="sm"/>
            <a:tailEnd type="none" w="sm" len="sm"/>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a:latin typeface="Times New Roman" panose="02020503050405090304" pitchFamily="18" charset="0"/>
              </a:rPr>
              <a:t>f</a:t>
            </a:r>
            <a:endParaRPr kumimoji="1" lang="en-US" altLang="zh-CN">
              <a:latin typeface="Times New Roman" panose="02020503050405090304" pitchFamily="18" charset="0"/>
            </a:endParaRPr>
          </a:p>
        </p:txBody>
      </p:sp>
      <p:sp>
        <p:nvSpPr>
          <p:cNvPr id="80909" name="Oval 13"/>
          <p:cNvSpPr>
            <a:spLocks noChangeArrowheads="1"/>
          </p:cNvSpPr>
          <p:nvPr/>
        </p:nvSpPr>
        <p:spPr bwMode="auto">
          <a:xfrm>
            <a:off x="7440067" y="3083718"/>
            <a:ext cx="381000" cy="381000"/>
          </a:xfrm>
          <a:prstGeom prst="ellipse">
            <a:avLst/>
          </a:prstGeom>
          <a:solidFill>
            <a:srgbClr val="FF9900"/>
          </a:solidFill>
          <a:ln w="12700" cap="sq">
            <a:solidFill>
              <a:schemeClr val="tx1"/>
            </a:solidFill>
            <a:round/>
            <a:headEnd type="none" w="sm" len="sm"/>
            <a:tailEnd type="none" w="sm" len="sm"/>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a:latin typeface="Times New Roman" panose="02020503050405090304" pitchFamily="18" charset="0"/>
              </a:rPr>
              <a:t>e</a:t>
            </a:r>
            <a:endParaRPr kumimoji="1" lang="en-US" altLang="zh-CN">
              <a:latin typeface="Times New Roman" panose="02020503050405090304" pitchFamily="18" charset="0"/>
            </a:endParaRPr>
          </a:p>
        </p:txBody>
      </p:sp>
      <p:sp>
        <p:nvSpPr>
          <p:cNvPr id="80910" name="Line 14"/>
          <p:cNvSpPr>
            <a:spLocks noChangeShapeType="1"/>
          </p:cNvSpPr>
          <p:nvPr/>
        </p:nvSpPr>
        <p:spPr bwMode="auto">
          <a:xfrm flipH="1">
            <a:off x="6297067" y="1712118"/>
            <a:ext cx="609600" cy="6858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zh-CN" altLang="en-US"/>
          </a:p>
        </p:txBody>
      </p:sp>
      <p:sp>
        <p:nvSpPr>
          <p:cNvPr id="80911" name="Line 15"/>
          <p:cNvSpPr>
            <a:spLocks noChangeShapeType="1"/>
          </p:cNvSpPr>
          <p:nvPr/>
        </p:nvSpPr>
        <p:spPr bwMode="auto">
          <a:xfrm flipH="1">
            <a:off x="5763667" y="2702718"/>
            <a:ext cx="304800" cy="5334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zh-CN" altLang="en-US"/>
          </a:p>
        </p:txBody>
      </p:sp>
      <p:sp>
        <p:nvSpPr>
          <p:cNvPr id="80912" name="Line 16"/>
          <p:cNvSpPr>
            <a:spLocks noChangeShapeType="1"/>
          </p:cNvSpPr>
          <p:nvPr/>
        </p:nvSpPr>
        <p:spPr bwMode="auto">
          <a:xfrm>
            <a:off x="6373267" y="2702718"/>
            <a:ext cx="228600" cy="4572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zh-CN" altLang="en-US"/>
          </a:p>
        </p:txBody>
      </p:sp>
      <p:sp>
        <p:nvSpPr>
          <p:cNvPr id="80913" name="Line 17"/>
          <p:cNvSpPr>
            <a:spLocks noChangeShapeType="1"/>
          </p:cNvSpPr>
          <p:nvPr/>
        </p:nvSpPr>
        <p:spPr bwMode="auto">
          <a:xfrm flipH="1">
            <a:off x="6297067" y="3540918"/>
            <a:ext cx="228600" cy="5334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zh-CN" altLang="en-US"/>
          </a:p>
        </p:txBody>
      </p:sp>
      <p:sp>
        <p:nvSpPr>
          <p:cNvPr id="80914" name="Line 18"/>
          <p:cNvSpPr>
            <a:spLocks noChangeShapeType="1"/>
          </p:cNvSpPr>
          <p:nvPr/>
        </p:nvSpPr>
        <p:spPr bwMode="auto">
          <a:xfrm>
            <a:off x="6754267" y="3540918"/>
            <a:ext cx="304800" cy="4572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zh-CN" altLang="en-US"/>
          </a:p>
        </p:txBody>
      </p:sp>
      <p:sp>
        <p:nvSpPr>
          <p:cNvPr id="80915" name="Line 19"/>
          <p:cNvSpPr>
            <a:spLocks noChangeShapeType="1"/>
          </p:cNvSpPr>
          <p:nvPr/>
        </p:nvSpPr>
        <p:spPr bwMode="auto">
          <a:xfrm>
            <a:off x="7287667" y="4379118"/>
            <a:ext cx="304800" cy="6096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zh-CN" altLang="en-US"/>
          </a:p>
        </p:txBody>
      </p:sp>
      <p:sp>
        <p:nvSpPr>
          <p:cNvPr id="80916" name="Line 20"/>
          <p:cNvSpPr>
            <a:spLocks noChangeShapeType="1"/>
          </p:cNvSpPr>
          <p:nvPr/>
        </p:nvSpPr>
        <p:spPr bwMode="auto">
          <a:xfrm flipH="1">
            <a:off x="6754267" y="4379118"/>
            <a:ext cx="304800" cy="6096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zh-CN" altLang="en-US"/>
          </a:p>
        </p:txBody>
      </p:sp>
      <p:sp>
        <p:nvSpPr>
          <p:cNvPr id="80917" name="Line 21"/>
          <p:cNvSpPr>
            <a:spLocks noChangeShapeType="1"/>
          </p:cNvSpPr>
          <p:nvPr/>
        </p:nvSpPr>
        <p:spPr bwMode="auto">
          <a:xfrm>
            <a:off x="7211467" y="1712118"/>
            <a:ext cx="609600" cy="5334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zh-CN" altLang="en-US"/>
          </a:p>
        </p:txBody>
      </p:sp>
      <p:sp>
        <p:nvSpPr>
          <p:cNvPr id="80918" name="Line 22"/>
          <p:cNvSpPr>
            <a:spLocks noChangeShapeType="1"/>
          </p:cNvSpPr>
          <p:nvPr/>
        </p:nvSpPr>
        <p:spPr bwMode="auto">
          <a:xfrm flipH="1">
            <a:off x="7592467" y="2626518"/>
            <a:ext cx="228600" cy="4572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zh-CN" altLang="en-US"/>
          </a:p>
        </p:txBody>
      </p:sp>
      <p:sp>
        <p:nvSpPr>
          <p:cNvPr id="80919" name="Line 23"/>
          <p:cNvSpPr>
            <a:spLocks noChangeShapeType="1"/>
          </p:cNvSpPr>
          <p:nvPr/>
        </p:nvSpPr>
        <p:spPr bwMode="auto">
          <a:xfrm>
            <a:off x="8125867" y="2550318"/>
            <a:ext cx="381000" cy="533400"/>
          </a:xfrm>
          <a:prstGeom prst="line">
            <a:avLst/>
          </a:prstGeom>
          <a:noFill/>
          <a:ln w="12700" cap="sq">
            <a:solidFill>
              <a:schemeClr val="tx1"/>
            </a:solidFill>
            <a:round/>
            <a:headEnd type="none" w="sm" len="sm"/>
            <a:tailEnd type="none" w="sm" len="sm"/>
          </a:ln>
          <a:extLst>
            <a:ext uri="{909E8E84-426E-40DD-AFC4-6F175D3DCCD1}">
              <a14:hiddenFill xmlns:a14="http://schemas.microsoft.com/office/drawing/2010/main">
                <a:noFill/>
              </a14:hiddenFill>
            </a:ext>
          </a:extLst>
        </p:spPr>
        <p:txBody>
          <a:bodyPr wrap="none"/>
          <a:lstStyle/>
          <a:p>
            <a:endParaRPr lang="zh-CN" altLang="en-US"/>
          </a:p>
        </p:txBody>
      </p:sp>
      <p:sp>
        <p:nvSpPr>
          <p:cNvPr id="80920"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25" name="Rectangle 2"/>
          <p:cNvSpPr txBox="1">
            <a:spLocks noChangeArrowheads="1"/>
          </p:cNvSpPr>
          <p:nvPr/>
        </p:nvSpPr>
        <p:spPr>
          <a:xfrm>
            <a:off x="827584" y="382587"/>
            <a:ext cx="7869238" cy="644525"/>
          </a:xfrm>
          <a:prstGeom prst="rect">
            <a:avLst/>
          </a:prstGeom>
        </p:spPr>
        <p:txBody>
          <a:bodyPr/>
          <a:lstStyle>
            <a:lvl1pPr algn="l" rtl="0" eaLnBrk="0" fontAlgn="base" hangingPunct="0">
              <a:spcBef>
                <a:spcPct val="0"/>
              </a:spcBef>
              <a:spcAft>
                <a:spcPct val="0"/>
              </a:spcAft>
              <a:defRPr sz="3200">
                <a:solidFill>
                  <a:schemeClr val="accent2"/>
                </a:solidFill>
                <a:latin typeface="+mj-lt"/>
                <a:ea typeface="+mj-ea"/>
                <a:cs typeface="+mj-cs"/>
              </a:defRPr>
            </a:lvl1pPr>
            <a:lvl2pPr algn="l" rtl="0" eaLnBrk="0" fontAlgn="base" hangingPunct="0">
              <a:spcBef>
                <a:spcPct val="0"/>
              </a:spcBef>
              <a:spcAft>
                <a:spcPct val="0"/>
              </a:spcAft>
              <a:defRPr sz="3200">
                <a:solidFill>
                  <a:schemeClr val="accent2"/>
                </a:solidFill>
                <a:latin typeface="Garamond" pitchFamily="18" charset="0"/>
                <a:ea typeface="宋体" pitchFamily="2" charset="-122"/>
              </a:defRPr>
            </a:lvl2pPr>
            <a:lvl3pPr algn="l" rtl="0" eaLnBrk="0" fontAlgn="base" hangingPunct="0">
              <a:spcBef>
                <a:spcPct val="0"/>
              </a:spcBef>
              <a:spcAft>
                <a:spcPct val="0"/>
              </a:spcAft>
              <a:defRPr sz="3200">
                <a:solidFill>
                  <a:schemeClr val="accent2"/>
                </a:solidFill>
                <a:latin typeface="Garamond" pitchFamily="18" charset="0"/>
                <a:ea typeface="宋体" pitchFamily="2" charset="-122"/>
              </a:defRPr>
            </a:lvl3pPr>
            <a:lvl4pPr algn="l" rtl="0" eaLnBrk="0" fontAlgn="base" hangingPunct="0">
              <a:spcBef>
                <a:spcPct val="0"/>
              </a:spcBef>
              <a:spcAft>
                <a:spcPct val="0"/>
              </a:spcAft>
              <a:defRPr sz="3200">
                <a:solidFill>
                  <a:schemeClr val="accent2"/>
                </a:solidFill>
                <a:latin typeface="Garamond" pitchFamily="18" charset="0"/>
                <a:ea typeface="宋体" pitchFamily="2" charset="-122"/>
              </a:defRPr>
            </a:lvl4pPr>
            <a:lvl5pPr algn="l" rtl="0" eaLnBrk="0" fontAlgn="base" hangingPunct="0">
              <a:spcBef>
                <a:spcPct val="0"/>
              </a:spcBef>
              <a:spcAft>
                <a:spcPct val="0"/>
              </a:spcAft>
              <a:defRPr sz="3200">
                <a:solidFill>
                  <a:schemeClr val="accent2"/>
                </a:solidFill>
                <a:latin typeface="Garamond" pitchFamily="18" charset="0"/>
                <a:ea typeface="宋体" pitchFamily="2" charset="-122"/>
              </a:defRPr>
            </a:lvl5pPr>
            <a:lvl6pPr marL="457200" algn="l" rtl="0" fontAlgn="base">
              <a:spcBef>
                <a:spcPct val="0"/>
              </a:spcBef>
              <a:spcAft>
                <a:spcPct val="0"/>
              </a:spcAft>
              <a:defRPr sz="3200">
                <a:solidFill>
                  <a:schemeClr val="accent2"/>
                </a:solidFill>
                <a:latin typeface="Garamond" pitchFamily="18" charset="0"/>
                <a:ea typeface="宋体" pitchFamily="2" charset="-122"/>
              </a:defRPr>
            </a:lvl6pPr>
            <a:lvl7pPr marL="914400" algn="l" rtl="0" fontAlgn="base">
              <a:spcBef>
                <a:spcPct val="0"/>
              </a:spcBef>
              <a:spcAft>
                <a:spcPct val="0"/>
              </a:spcAft>
              <a:defRPr sz="3200">
                <a:solidFill>
                  <a:schemeClr val="accent2"/>
                </a:solidFill>
                <a:latin typeface="Garamond" pitchFamily="18" charset="0"/>
                <a:ea typeface="宋体" pitchFamily="2" charset="-122"/>
              </a:defRPr>
            </a:lvl7pPr>
            <a:lvl8pPr marL="1371600" algn="l" rtl="0" fontAlgn="base">
              <a:spcBef>
                <a:spcPct val="0"/>
              </a:spcBef>
              <a:spcAft>
                <a:spcPct val="0"/>
              </a:spcAft>
              <a:defRPr sz="3200">
                <a:solidFill>
                  <a:schemeClr val="accent2"/>
                </a:solidFill>
                <a:latin typeface="Garamond" pitchFamily="18" charset="0"/>
                <a:ea typeface="宋体" pitchFamily="2" charset="-122"/>
              </a:defRPr>
            </a:lvl8pPr>
            <a:lvl9pPr marL="1828800" algn="l" rtl="0" fontAlgn="base">
              <a:spcBef>
                <a:spcPct val="0"/>
              </a:spcBef>
              <a:spcAft>
                <a:spcPct val="0"/>
              </a:spcAft>
              <a:defRPr sz="3200">
                <a:solidFill>
                  <a:schemeClr val="accent2"/>
                </a:solidFill>
                <a:latin typeface="Garamond" pitchFamily="18" charset="0"/>
                <a:ea typeface="宋体" pitchFamily="2" charset="-122"/>
              </a:defRPr>
            </a:lvl9pPr>
          </a:lstStyle>
          <a:p>
            <a:pPr eaLnBrk="1" hangingPunct="1"/>
            <a:r>
              <a:rPr lang="en-US" altLang="zh-CN" dirty="0">
                <a:solidFill>
                  <a:srgbClr val="333399"/>
                </a:solidFill>
              </a:rPr>
              <a:t>1.4.</a:t>
            </a:r>
            <a:r>
              <a:rPr lang="en-US" altLang="zh-CN" dirty="0" smtClean="0"/>
              <a:t>6 </a:t>
            </a:r>
            <a:r>
              <a:rPr lang="zh-CN" altLang="en-US" dirty="0" smtClean="0"/>
              <a:t>树、</a:t>
            </a:r>
            <a:r>
              <a:rPr lang="zh-CN" altLang="en-US" b="1" u="sng" dirty="0" smtClean="0"/>
              <a:t>根树</a:t>
            </a:r>
            <a:r>
              <a:rPr lang="zh-CN" altLang="en-US" dirty="0" smtClean="0"/>
              <a:t>、二叉树</a:t>
            </a:r>
            <a:endParaRPr lang="en-US" altLang="zh-CN" kern="0" dirty="0" smtClean="0"/>
          </a:p>
        </p:txBody>
      </p:sp>
      <p:sp>
        <p:nvSpPr>
          <p:cNvPr id="26" name="文本框 25"/>
          <p:cNvSpPr txBox="1"/>
          <p:nvPr/>
        </p:nvSpPr>
        <p:spPr>
          <a:xfrm>
            <a:off x="875705" y="1270456"/>
            <a:ext cx="1697901" cy="461665"/>
          </a:xfrm>
          <a:prstGeom prst="rect">
            <a:avLst/>
          </a:prstGeom>
          <a:noFill/>
        </p:spPr>
        <p:txBody>
          <a:bodyPr wrap="none" rtlCol="0">
            <a:spAutoFit/>
          </a:bodyPr>
          <a:lstStyle/>
          <a:p>
            <a:r>
              <a:rPr lang="zh-CN" altLang="en-US" sz="2400" dirty="0">
                <a:solidFill>
                  <a:schemeClr val="accent2"/>
                </a:solidFill>
                <a:latin typeface="+mn-lt"/>
                <a:ea typeface="+mn-ea"/>
              </a:rPr>
              <a:t>根数遍历</a:t>
            </a:r>
            <a:r>
              <a:rPr lang="zh-CN" altLang="en-US" sz="2200" dirty="0">
                <a:solidFill>
                  <a:schemeClr val="accent2"/>
                </a:solidFill>
                <a:latin typeface="+mn-lt"/>
                <a:ea typeface="+mn-ea"/>
              </a:rPr>
              <a:t>：</a:t>
            </a:r>
            <a:endParaRPr lang="zh-CN" altLang="en-US" sz="2200" dirty="0">
              <a:solidFill>
                <a:schemeClr val="accent2"/>
              </a:solidFill>
              <a:latin typeface="+mn-lt"/>
              <a:ea typeface="+mn-ea"/>
            </a:endParaRPr>
          </a:p>
        </p:txBody>
      </p:sp>
    </p:spTree>
  </p:cSld>
  <p:clrMapOvr>
    <a:masterClrMapping/>
  </p:clrMapOvr>
  <p:transition spd="med">
    <p:blinds/>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647042">
                                            <p:txEl>
                                              <p:pRg st="0" end="0"/>
                                            </p:txEl>
                                          </p:spTgt>
                                        </p:tgtEl>
                                        <p:attrNameLst>
                                          <p:attrName>style.visibility</p:attrName>
                                        </p:attrNameLst>
                                      </p:cBhvr>
                                      <p:to>
                                        <p:strVal val="visible"/>
                                      </p:to>
                                    </p:set>
                                    <p:anim calcmode="lin" valueType="num">
                                      <p:cBhvr additive="base">
                                        <p:cTn id="7" dur="500" fill="hold"/>
                                        <p:tgtEl>
                                          <p:spTgt spid="2647042">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647042">
                                            <p:txEl>
                                              <p:pRg st="0" end="0"/>
                                            </p:txEl>
                                          </p:spTgt>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5"/>
                                            </p:cond>
                                          </p:stCondLst>
                                          <p:endCondLst>
                                            <p:cond evt="onStopAudio" delay="0">
                                              <p:tgtEl>
                                                <p:sldTgt/>
                                              </p:tgtEl>
                                            </p:cond>
                                          </p:endCondLst>
                                        </p:cTn>
                                        <p:tgtEl>
                                          <p:sndTgt r:embed="rId1" name="whoosh.wav"/>
                                        </p:tgtEl>
                                      </p:cMediaNode>
                                    </p:audio>
                                  </p:sub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2647042">
                                            <p:txEl>
                                              <p:pRg st="1" end="1"/>
                                            </p:txEl>
                                          </p:spTgt>
                                        </p:tgtEl>
                                        <p:attrNameLst>
                                          <p:attrName>style.visibility</p:attrName>
                                        </p:attrNameLst>
                                      </p:cBhvr>
                                      <p:to>
                                        <p:strVal val="visible"/>
                                      </p:to>
                                    </p:set>
                                    <p:anim calcmode="lin" valueType="num">
                                      <p:cBhvr additive="base">
                                        <p:cTn id="13" dur="500" fill="hold"/>
                                        <p:tgtEl>
                                          <p:spTgt spid="2647042">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2647042">
                                            <p:txEl>
                                              <p:pRg st="1" end="1"/>
                                            </p:txEl>
                                          </p:spTgt>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11"/>
                                            </p:cond>
                                          </p:stCondLst>
                                          <p:endCondLst>
                                            <p:cond evt="onStopAudio" delay="0">
                                              <p:tgtEl>
                                                <p:sldTgt/>
                                              </p:tgtEl>
                                            </p:cond>
                                          </p:endCondLst>
                                        </p:cTn>
                                        <p:tgtEl>
                                          <p:sndTgt r:embed="rId1" name="whoosh.wav"/>
                                        </p:tgtEl>
                                      </p:cMediaNode>
                                    </p:audio>
                                  </p:subTnLst>
                                </p:cTn>
                              </p:par>
                            </p:childTnLst>
                          </p:cTn>
                        </p:par>
                      </p:childTnLst>
                    </p:cTn>
                  </p:par>
                  <p:par>
                    <p:cTn id="15" fill="hold">
                      <p:stCondLst>
                        <p:cond delay="indefinite"/>
                      </p:stCondLst>
                      <p:childTnLst>
                        <p:par>
                          <p:cTn id="16" fill="hold">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2647042">
                                            <p:txEl>
                                              <p:pRg st="2" end="2"/>
                                            </p:txEl>
                                          </p:spTgt>
                                        </p:tgtEl>
                                        <p:attrNameLst>
                                          <p:attrName>style.visibility</p:attrName>
                                        </p:attrNameLst>
                                      </p:cBhvr>
                                      <p:to>
                                        <p:strVal val="visible"/>
                                      </p:to>
                                    </p:set>
                                    <p:anim calcmode="lin" valueType="num">
                                      <p:cBhvr additive="base">
                                        <p:cTn id="19" dur="500" fill="hold"/>
                                        <p:tgtEl>
                                          <p:spTgt spid="2647042">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2647042">
                                            <p:txEl>
                                              <p:pRg st="2" end="2"/>
                                            </p:txEl>
                                          </p:spTgt>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17"/>
                                            </p:cond>
                                          </p:stCondLst>
                                          <p:endCondLst>
                                            <p:cond evt="onStopAudio" delay="0">
                                              <p:tgtEl>
                                                <p:sldTgt/>
                                              </p:tgtEl>
                                            </p:cond>
                                          </p:endCondLst>
                                        </p:cTn>
                                        <p:tgtEl>
                                          <p:sndTgt r:embed="rId1" name="whoosh.wav"/>
                                        </p:tgtEl>
                                      </p:cMediaNode>
                                    </p:audio>
                                  </p:subTnLst>
                                </p:cTn>
                              </p:par>
                            </p:childTnLst>
                          </p:cTn>
                        </p:par>
                      </p:childTnLst>
                    </p:cTn>
                  </p:par>
                  <p:par>
                    <p:cTn id="21" fill="hold">
                      <p:stCondLst>
                        <p:cond delay="indefinite"/>
                      </p:stCondLst>
                      <p:childTnLst>
                        <p:par>
                          <p:cTn id="22" fill="hold">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2647042">
                                            <p:txEl>
                                              <p:pRg st="3" end="3"/>
                                            </p:txEl>
                                          </p:spTgt>
                                        </p:tgtEl>
                                        <p:attrNameLst>
                                          <p:attrName>style.visibility</p:attrName>
                                        </p:attrNameLst>
                                      </p:cBhvr>
                                      <p:to>
                                        <p:strVal val="visible"/>
                                      </p:to>
                                    </p:set>
                                    <p:anim calcmode="lin" valueType="num">
                                      <p:cBhvr additive="base">
                                        <p:cTn id="25" dur="500" fill="hold"/>
                                        <p:tgtEl>
                                          <p:spTgt spid="2647042">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2647042">
                                            <p:txEl>
                                              <p:pRg st="3" end="3"/>
                                            </p:txEl>
                                          </p:spTgt>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23"/>
                                            </p:cond>
                                          </p:stCondLst>
                                          <p:endCondLst>
                                            <p:cond evt="onStopAudio" delay="0">
                                              <p:tgtEl>
                                                <p:sldTgt/>
                                              </p:tgtEl>
                                            </p:cond>
                                          </p:endCondLst>
                                        </p:cTn>
                                        <p:tgtEl>
                                          <p:sndTgt r:embed="rId1" name="whoosh.wav"/>
                                        </p:tgtEl>
                                      </p:cMediaNode>
                                    </p:audio>
                                  </p:subTnLst>
                                </p:cTn>
                              </p:par>
                            </p:childTnLst>
                          </p:cTn>
                        </p:par>
                      </p:childTnLst>
                    </p:cTn>
                  </p:par>
                  <p:par>
                    <p:cTn id="27" fill="hold">
                      <p:stCondLst>
                        <p:cond delay="indefinite"/>
                      </p:stCondLst>
                      <p:childTnLst>
                        <p:par>
                          <p:cTn id="28" fill="hold">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2647042">
                                            <p:txEl>
                                              <p:pRg st="4" end="4"/>
                                            </p:txEl>
                                          </p:spTgt>
                                        </p:tgtEl>
                                        <p:attrNameLst>
                                          <p:attrName>style.visibility</p:attrName>
                                        </p:attrNameLst>
                                      </p:cBhvr>
                                      <p:to>
                                        <p:strVal val="visible"/>
                                      </p:to>
                                    </p:set>
                                    <p:anim calcmode="lin" valueType="num">
                                      <p:cBhvr additive="base">
                                        <p:cTn id="31" dur="500" fill="hold"/>
                                        <p:tgtEl>
                                          <p:spTgt spid="2647042">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2647042">
                                            <p:txEl>
                                              <p:pRg st="4" end="4"/>
                                            </p:txEl>
                                          </p:spTgt>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29"/>
                                            </p:cond>
                                          </p:stCondLst>
                                          <p:endCondLst>
                                            <p:cond evt="onStopAudio" delay="0">
                                              <p:tgtEl>
                                                <p:sldTgt/>
                                              </p:tgtEl>
                                            </p:cond>
                                          </p:endCondLst>
                                        </p:cTn>
                                        <p:tgtEl>
                                          <p:sndTgt r:embed="rId1" name="whoosh.wav"/>
                                        </p:tgtEl>
                                      </p:cMediaNode>
                                    </p:audio>
                                  </p:subTnLst>
                                </p:cTn>
                              </p:par>
                            </p:childTnLst>
                          </p:cTn>
                        </p:par>
                      </p:childTnLst>
                    </p:cTn>
                  </p:par>
                  <p:par>
                    <p:cTn id="33" fill="hold">
                      <p:stCondLst>
                        <p:cond delay="indefinite"/>
                      </p:stCondLst>
                      <p:childTnLst>
                        <p:par>
                          <p:cTn id="34" fill="hold">
                            <p:stCondLst>
                              <p:cond delay="0"/>
                            </p:stCondLst>
                            <p:childTnLst>
                              <p:par>
                                <p:cTn id="35" presetID="2" presetClass="entr" presetSubtype="8" fill="hold" grpId="0" nodeType="clickEffect">
                                  <p:stCondLst>
                                    <p:cond delay="0"/>
                                  </p:stCondLst>
                                  <p:childTnLst>
                                    <p:set>
                                      <p:cBhvr>
                                        <p:cTn id="36" dur="1" fill="hold">
                                          <p:stCondLst>
                                            <p:cond delay="0"/>
                                          </p:stCondLst>
                                        </p:cTn>
                                        <p:tgtEl>
                                          <p:spTgt spid="2647042">
                                            <p:txEl>
                                              <p:pRg st="5" end="5"/>
                                            </p:txEl>
                                          </p:spTgt>
                                        </p:tgtEl>
                                        <p:attrNameLst>
                                          <p:attrName>style.visibility</p:attrName>
                                        </p:attrNameLst>
                                      </p:cBhvr>
                                      <p:to>
                                        <p:strVal val="visible"/>
                                      </p:to>
                                    </p:set>
                                    <p:anim calcmode="lin" valueType="num">
                                      <p:cBhvr additive="base">
                                        <p:cTn id="37" dur="500" fill="hold"/>
                                        <p:tgtEl>
                                          <p:spTgt spid="2647042">
                                            <p:txEl>
                                              <p:pRg st="5" end="5"/>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2647042">
                                            <p:txEl>
                                              <p:pRg st="5" end="5"/>
                                            </p:txEl>
                                          </p:spTgt>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35"/>
                                            </p:cond>
                                          </p:stCondLst>
                                          <p:endCondLst>
                                            <p:cond evt="onStopAudio" delay="0">
                                              <p:tgtEl>
                                                <p:sldTgt/>
                                              </p:tgtEl>
                                            </p:cond>
                                          </p:endCondLst>
                                        </p:cTn>
                                        <p:tgtEl>
                                          <p:sndTgt r:embed="rId1" name="whoosh.wav"/>
                                        </p:tgtEl>
                                      </p:cMediaNode>
                                    </p:audio>
                                  </p:subTnLst>
                                </p:cTn>
                              </p:par>
                            </p:childTnLst>
                          </p:cTn>
                        </p:par>
                      </p:childTnLst>
                    </p:cTn>
                  </p:par>
                  <p:par>
                    <p:cTn id="39" fill="hold">
                      <p:stCondLst>
                        <p:cond delay="indefinite"/>
                      </p:stCondLst>
                      <p:childTnLst>
                        <p:par>
                          <p:cTn id="40" fill="hold">
                            <p:stCondLst>
                              <p:cond delay="0"/>
                            </p:stCondLst>
                            <p:childTnLst>
                              <p:par>
                                <p:cTn id="41" presetID="2" presetClass="entr" presetSubtype="8" fill="hold" grpId="0" nodeType="clickEffect">
                                  <p:stCondLst>
                                    <p:cond delay="0"/>
                                  </p:stCondLst>
                                  <p:childTnLst>
                                    <p:set>
                                      <p:cBhvr>
                                        <p:cTn id="42" dur="1" fill="hold">
                                          <p:stCondLst>
                                            <p:cond delay="0"/>
                                          </p:stCondLst>
                                        </p:cTn>
                                        <p:tgtEl>
                                          <p:spTgt spid="2647042">
                                            <p:txEl>
                                              <p:pRg st="6" end="6"/>
                                            </p:txEl>
                                          </p:spTgt>
                                        </p:tgtEl>
                                        <p:attrNameLst>
                                          <p:attrName>style.visibility</p:attrName>
                                        </p:attrNameLst>
                                      </p:cBhvr>
                                      <p:to>
                                        <p:strVal val="visible"/>
                                      </p:to>
                                    </p:set>
                                    <p:anim calcmode="lin" valueType="num">
                                      <p:cBhvr additive="base">
                                        <p:cTn id="43" dur="500" fill="hold"/>
                                        <p:tgtEl>
                                          <p:spTgt spid="2647042">
                                            <p:txEl>
                                              <p:pRg st="6" end="6"/>
                                            </p:txEl>
                                          </p:spTgt>
                                        </p:tgtEl>
                                        <p:attrNameLst>
                                          <p:attrName>ppt_x</p:attrName>
                                        </p:attrNameLst>
                                      </p:cBhvr>
                                      <p:tavLst>
                                        <p:tav tm="0">
                                          <p:val>
                                            <p:strVal val="0-#ppt_w/2"/>
                                          </p:val>
                                        </p:tav>
                                        <p:tav tm="100000">
                                          <p:val>
                                            <p:strVal val="#ppt_x"/>
                                          </p:val>
                                        </p:tav>
                                      </p:tavLst>
                                    </p:anim>
                                    <p:anim calcmode="lin" valueType="num">
                                      <p:cBhvr additive="base">
                                        <p:cTn id="44" dur="500" fill="hold"/>
                                        <p:tgtEl>
                                          <p:spTgt spid="2647042">
                                            <p:txEl>
                                              <p:pRg st="6" end="6"/>
                                            </p:txEl>
                                          </p:spTgt>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41"/>
                                            </p:cond>
                                          </p:stCondLst>
                                          <p:endCondLst>
                                            <p:cond evt="onStopAudio" delay="0">
                                              <p:tgtEl>
                                                <p:sldTgt/>
                                              </p:tgtEl>
                                            </p:cond>
                                          </p:endCondLst>
                                        </p:cTn>
                                        <p:tgtEl>
                                          <p:sndTgt r:embed="rId1" name="whoosh.wav"/>
                                        </p:tgtEl>
                                      </p:cMediaNode>
                                    </p:audio>
                                  </p:subTnLst>
                                </p:cTn>
                              </p:par>
                            </p:childTnLst>
                          </p:cTn>
                        </p:par>
                      </p:childTnLst>
                    </p:cTn>
                  </p:par>
                  <p:par>
                    <p:cTn id="45" fill="hold">
                      <p:stCondLst>
                        <p:cond delay="indefinite"/>
                      </p:stCondLst>
                      <p:childTnLst>
                        <p:par>
                          <p:cTn id="46" fill="hold">
                            <p:stCondLst>
                              <p:cond delay="0"/>
                            </p:stCondLst>
                            <p:childTnLst>
                              <p:par>
                                <p:cTn id="47" presetID="2" presetClass="entr" presetSubtype="8" fill="hold" grpId="0" nodeType="clickEffect">
                                  <p:stCondLst>
                                    <p:cond delay="0"/>
                                  </p:stCondLst>
                                  <p:childTnLst>
                                    <p:set>
                                      <p:cBhvr>
                                        <p:cTn id="48" dur="1" fill="hold">
                                          <p:stCondLst>
                                            <p:cond delay="0"/>
                                          </p:stCondLst>
                                        </p:cTn>
                                        <p:tgtEl>
                                          <p:spTgt spid="2647042">
                                            <p:txEl>
                                              <p:pRg st="8" end="8"/>
                                            </p:txEl>
                                          </p:spTgt>
                                        </p:tgtEl>
                                        <p:attrNameLst>
                                          <p:attrName>style.visibility</p:attrName>
                                        </p:attrNameLst>
                                      </p:cBhvr>
                                      <p:to>
                                        <p:strVal val="visible"/>
                                      </p:to>
                                    </p:set>
                                    <p:anim calcmode="lin" valueType="num">
                                      <p:cBhvr additive="base">
                                        <p:cTn id="49" dur="500" fill="hold"/>
                                        <p:tgtEl>
                                          <p:spTgt spid="2647042">
                                            <p:txEl>
                                              <p:pRg st="8" end="8"/>
                                            </p:txEl>
                                          </p:spTgt>
                                        </p:tgtEl>
                                        <p:attrNameLst>
                                          <p:attrName>ppt_x</p:attrName>
                                        </p:attrNameLst>
                                      </p:cBhvr>
                                      <p:tavLst>
                                        <p:tav tm="0">
                                          <p:val>
                                            <p:strVal val="0-#ppt_w/2"/>
                                          </p:val>
                                        </p:tav>
                                        <p:tav tm="100000">
                                          <p:val>
                                            <p:strVal val="#ppt_x"/>
                                          </p:val>
                                        </p:tav>
                                      </p:tavLst>
                                    </p:anim>
                                    <p:anim calcmode="lin" valueType="num">
                                      <p:cBhvr additive="base">
                                        <p:cTn id="50" dur="500" fill="hold"/>
                                        <p:tgtEl>
                                          <p:spTgt spid="2647042">
                                            <p:txEl>
                                              <p:pRg st="8" end="8"/>
                                            </p:txEl>
                                          </p:spTgt>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47"/>
                                            </p:cond>
                                          </p:stCondLst>
                                          <p:endCondLst>
                                            <p:cond evt="onStopAudio" delay="0">
                                              <p:tgtEl>
                                                <p:sldTgt/>
                                              </p:tgtEl>
                                            </p:cond>
                                          </p:endCondLst>
                                        </p:cTn>
                                        <p:tgtEl>
                                          <p:sndTgt r:embed="rId1" name="whoosh.wav"/>
                                        </p:tgtEl>
                                      </p:cMediaNode>
                                    </p:audio>
                                  </p:subTnLst>
                                </p:cTn>
                              </p:par>
                            </p:childTnLst>
                          </p:cTn>
                        </p:par>
                      </p:childTnLst>
                    </p:cTn>
                  </p:par>
                  <p:par>
                    <p:cTn id="51" fill="hold">
                      <p:stCondLst>
                        <p:cond delay="indefinite"/>
                      </p:stCondLst>
                      <p:childTnLst>
                        <p:par>
                          <p:cTn id="52" fill="hold">
                            <p:stCondLst>
                              <p:cond delay="0"/>
                            </p:stCondLst>
                            <p:childTnLst>
                              <p:par>
                                <p:cTn id="53" presetID="2" presetClass="entr" presetSubtype="8" fill="hold" grpId="0" nodeType="clickEffect">
                                  <p:stCondLst>
                                    <p:cond delay="0"/>
                                  </p:stCondLst>
                                  <p:childTnLst>
                                    <p:set>
                                      <p:cBhvr>
                                        <p:cTn id="54" dur="1" fill="hold">
                                          <p:stCondLst>
                                            <p:cond delay="0"/>
                                          </p:stCondLst>
                                        </p:cTn>
                                        <p:tgtEl>
                                          <p:spTgt spid="2647042">
                                            <p:txEl>
                                              <p:pRg st="9" end="9"/>
                                            </p:txEl>
                                          </p:spTgt>
                                        </p:tgtEl>
                                        <p:attrNameLst>
                                          <p:attrName>style.visibility</p:attrName>
                                        </p:attrNameLst>
                                      </p:cBhvr>
                                      <p:to>
                                        <p:strVal val="visible"/>
                                      </p:to>
                                    </p:set>
                                    <p:anim calcmode="lin" valueType="num">
                                      <p:cBhvr additive="base">
                                        <p:cTn id="55" dur="500" fill="hold"/>
                                        <p:tgtEl>
                                          <p:spTgt spid="2647042">
                                            <p:txEl>
                                              <p:pRg st="9" end="9"/>
                                            </p:txEl>
                                          </p:spTgt>
                                        </p:tgtEl>
                                        <p:attrNameLst>
                                          <p:attrName>ppt_x</p:attrName>
                                        </p:attrNameLst>
                                      </p:cBhvr>
                                      <p:tavLst>
                                        <p:tav tm="0">
                                          <p:val>
                                            <p:strVal val="0-#ppt_w/2"/>
                                          </p:val>
                                        </p:tav>
                                        <p:tav tm="100000">
                                          <p:val>
                                            <p:strVal val="#ppt_x"/>
                                          </p:val>
                                        </p:tav>
                                      </p:tavLst>
                                    </p:anim>
                                    <p:anim calcmode="lin" valueType="num">
                                      <p:cBhvr additive="base">
                                        <p:cTn id="56" dur="500" fill="hold"/>
                                        <p:tgtEl>
                                          <p:spTgt spid="2647042">
                                            <p:txEl>
                                              <p:pRg st="9" end="9"/>
                                            </p:txEl>
                                          </p:spTgt>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53"/>
                                            </p:cond>
                                          </p:stCondLst>
                                          <p:endCondLst>
                                            <p:cond evt="onStopAudio" delay="0">
                                              <p:tgtEl>
                                                <p:sldTgt/>
                                              </p:tgtEl>
                                            </p:cond>
                                          </p:endCondLst>
                                        </p:cTn>
                                        <p:tgtEl>
                                          <p:sndTgt r:embed="rId1" name="whoosh.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47042" grpId="0" autoUpdateAnimBg="0" build="p"/>
    </p:bld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81923" name="Rectangle 2"/>
          <p:cNvSpPr>
            <a:spLocks noGrp="1" noChangeArrowheads="1"/>
          </p:cNvSpPr>
          <p:nvPr>
            <p:ph type="title"/>
          </p:nvPr>
        </p:nvSpPr>
        <p:spPr/>
        <p:txBody>
          <a:bodyPr/>
          <a:lstStyle/>
          <a:p>
            <a:pPr eaLnBrk="1" hangingPunct="1"/>
            <a:r>
              <a:rPr lang="en-US" altLang="zh-CN" dirty="0">
                <a:solidFill>
                  <a:srgbClr val="333399"/>
                </a:solidFill>
              </a:rPr>
              <a:t>1.4.</a:t>
            </a:r>
            <a:r>
              <a:rPr lang="en-US" altLang="zh-CN" dirty="0" smtClean="0"/>
              <a:t>6 </a:t>
            </a:r>
            <a:r>
              <a:rPr lang="zh-CN" altLang="en-US" dirty="0" smtClean="0"/>
              <a:t>树、根树、</a:t>
            </a:r>
            <a:r>
              <a:rPr lang="zh-CN" altLang="en-US" b="1" u="sng" dirty="0" smtClean="0"/>
              <a:t>二叉树</a:t>
            </a:r>
            <a:endParaRPr lang="en-US" altLang="zh-CN" b="1" u="sng" kern="0" dirty="0" smtClean="0"/>
          </a:p>
        </p:txBody>
      </p:sp>
      <p:sp>
        <p:nvSpPr>
          <p:cNvPr id="108547" name="Rectangle 3"/>
          <p:cNvSpPr>
            <a:spLocks noGrp="1" noChangeArrowheads="1"/>
          </p:cNvSpPr>
          <p:nvPr>
            <p:ph type="body" idx="1"/>
          </p:nvPr>
        </p:nvSpPr>
        <p:spPr>
          <a:xfrm>
            <a:off x="962025" y="1196975"/>
            <a:ext cx="7786688" cy="4525963"/>
          </a:xfrm>
        </p:spPr>
        <p:txBody>
          <a:bodyPr/>
          <a:lstStyle/>
          <a:p>
            <a:pPr eaLnBrk="1" hangingPunct="1">
              <a:spcBef>
                <a:spcPts val="0"/>
              </a:spcBef>
              <a:defRPr/>
            </a:pPr>
            <a:r>
              <a:rPr lang="zh-CN" altLang="en-US" dirty="0" smtClean="0"/>
              <a:t>定义</a:t>
            </a:r>
            <a:endParaRPr lang="en-US" altLang="zh-CN" dirty="0" smtClean="0"/>
          </a:p>
          <a:p>
            <a:pPr lvl="1" eaLnBrk="1" hangingPunct="1">
              <a:spcBef>
                <a:spcPts val="0"/>
              </a:spcBef>
              <a:defRPr/>
            </a:pPr>
            <a:r>
              <a:rPr lang="zh-CN" altLang="en-US" dirty="0" smtClean="0">
                <a:latin typeface="+mn-lt"/>
                <a:ea typeface="+mn-ea"/>
              </a:rPr>
              <a:t>二叉树是节点的一个有限集合，集合或者为空，或者由一个根节点</a:t>
            </a:r>
            <a:r>
              <a:rPr lang="en-US" altLang="zh-CN" dirty="0" smtClean="0">
                <a:latin typeface="+mn-lt"/>
                <a:ea typeface="+mn-ea"/>
              </a:rPr>
              <a:t>r</a:t>
            </a:r>
            <a:r>
              <a:rPr lang="zh-CN" altLang="en-US" dirty="0" smtClean="0">
                <a:latin typeface="+mn-lt"/>
                <a:ea typeface="+mn-ea"/>
              </a:rPr>
              <a:t>和称为</a:t>
            </a:r>
            <a:r>
              <a:rPr lang="zh-CN" altLang="en-US" dirty="0" smtClean="0">
                <a:solidFill>
                  <a:srgbClr val="FF0000"/>
                </a:solidFill>
                <a:latin typeface="+mn-lt"/>
                <a:ea typeface="+mn-ea"/>
              </a:rPr>
              <a:t>左右子树</a:t>
            </a:r>
            <a:r>
              <a:rPr lang="zh-CN" altLang="en-US" dirty="0" smtClean="0">
                <a:latin typeface="+mn-lt"/>
                <a:ea typeface="+mn-ea"/>
              </a:rPr>
              <a:t>的两个不相交的二叉树组成。这些子树的根称为</a:t>
            </a:r>
            <a:r>
              <a:rPr lang="en-US" altLang="zh-CN" dirty="0" smtClean="0">
                <a:latin typeface="+mn-lt"/>
                <a:ea typeface="+mn-ea"/>
              </a:rPr>
              <a:t>r</a:t>
            </a:r>
            <a:r>
              <a:rPr lang="zh-CN" altLang="en-US" dirty="0" smtClean="0">
                <a:latin typeface="+mn-lt"/>
                <a:ea typeface="+mn-ea"/>
              </a:rPr>
              <a:t>的左右儿子。</a:t>
            </a:r>
            <a:endParaRPr lang="en-US" altLang="zh-CN" sz="2000" dirty="0" smtClean="0">
              <a:latin typeface="+mn-lt"/>
              <a:ea typeface="+mn-ea"/>
            </a:endParaRPr>
          </a:p>
          <a:p>
            <a:pPr eaLnBrk="1" hangingPunct="1">
              <a:spcBef>
                <a:spcPts val="0"/>
              </a:spcBef>
              <a:defRPr/>
            </a:pPr>
            <a:r>
              <a:rPr lang="zh-CN" altLang="en-US" sz="2000" dirty="0" smtClean="0"/>
              <a:t>二叉树与根树之间有两个很重要的不同点：</a:t>
            </a:r>
            <a:endParaRPr lang="en-US" altLang="zh-CN" sz="2000" dirty="0" smtClean="0"/>
          </a:p>
          <a:p>
            <a:pPr lvl="1" eaLnBrk="1" hangingPunct="1">
              <a:spcBef>
                <a:spcPts val="0"/>
              </a:spcBef>
              <a:defRPr/>
            </a:pPr>
            <a:r>
              <a:rPr lang="zh-CN" altLang="en-US" sz="2000" dirty="0" smtClean="0">
                <a:latin typeface="+mn-lt"/>
                <a:ea typeface="+mn-ea"/>
              </a:rPr>
              <a:t>第一，二叉树可以为空而根树不能为空。</a:t>
            </a:r>
            <a:endParaRPr lang="en-US" altLang="zh-CN" sz="2000" dirty="0" smtClean="0">
              <a:latin typeface="+mn-lt"/>
              <a:ea typeface="+mn-ea"/>
            </a:endParaRPr>
          </a:p>
          <a:p>
            <a:pPr lvl="1" eaLnBrk="1" hangingPunct="1">
              <a:spcBef>
                <a:spcPts val="0"/>
              </a:spcBef>
              <a:defRPr/>
            </a:pPr>
            <a:r>
              <a:rPr lang="zh-CN" altLang="en-US" sz="2000" dirty="0" smtClean="0">
                <a:latin typeface="+mn-lt"/>
                <a:ea typeface="+mn-ea"/>
              </a:rPr>
              <a:t>第二，由于二叉树有左右子树的区别，使得图</a:t>
            </a:r>
            <a:r>
              <a:rPr lang="en-US" altLang="zh-CN" sz="2000" dirty="0" smtClean="0">
                <a:latin typeface="+mn-lt"/>
                <a:ea typeface="+mn-ea"/>
              </a:rPr>
              <a:t>.3.6 </a:t>
            </a:r>
            <a:r>
              <a:rPr lang="zh-CN" altLang="en-US" sz="2000" dirty="0" smtClean="0">
                <a:latin typeface="+mn-lt"/>
                <a:ea typeface="+mn-ea"/>
              </a:rPr>
              <a:t>中（</a:t>
            </a:r>
            <a:r>
              <a:rPr lang="en-US" altLang="zh-CN" sz="2000" dirty="0" smtClean="0">
                <a:latin typeface="+mn-lt"/>
                <a:ea typeface="+mn-ea"/>
              </a:rPr>
              <a:t>a</a:t>
            </a:r>
            <a:r>
              <a:rPr lang="zh-CN" altLang="en-US" sz="2000" dirty="0" smtClean="0">
                <a:latin typeface="+mn-lt"/>
                <a:ea typeface="+mn-ea"/>
              </a:rPr>
              <a:t>）、（</a:t>
            </a:r>
            <a:r>
              <a:rPr lang="en-US" altLang="zh-CN" sz="2000" dirty="0" smtClean="0">
                <a:latin typeface="+mn-lt"/>
                <a:ea typeface="+mn-ea"/>
              </a:rPr>
              <a:t>b</a:t>
            </a:r>
            <a:r>
              <a:rPr lang="zh-CN" altLang="en-US" sz="2000" dirty="0" smtClean="0">
                <a:latin typeface="+mn-lt"/>
                <a:ea typeface="+mn-ea"/>
              </a:rPr>
              <a:t>）两颗二叉树是不同的，但是如果是根树，他们就不能区分。</a:t>
            </a:r>
            <a:endParaRPr lang="en-US" altLang="zh-CN" sz="2000" dirty="0" smtClean="0">
              <a:latin typeface="+mn-lt"/>
              <a:ea typeface="+mn-ea"/>
            </a:endParaRPr>
          </a:p>
        </p:txBody>
      </p:sp>
      <p:pic>
        <p:nvPicPr>
          <p:cNvPr id="81925" name="Picture 4" descr="def"/>
          <p:cNvPicPr>
            <a:picLocks noChangeAspect="1" noChangeArrowheads="1" noCrop="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827088" y="1268413"/>
            <a:ext cx="576262" cy="3984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81926" name="Group 26"/>
          <p:cNvGrpSpPr/>
          <p:nvPr/>
        </p:nvGrpSpPr>
        <p:grpSpPr bwMode="auto">
          <a:xfrm>
            <a:off x="714375" y="4071938"/>
            <a:ext cx="8439150" cy="2286000"/>
            <a:chOff x="192" y="1728"/>
            <a:chExt cx="5574" cy="1915"/>
          </a:xfrm>
        </p:grpSpPr>
        <p:sp>
          <p:nvSpPr>
            <p:cNvPr id="81927" name="Text Box 7"/>
            <p:cNvSpPr txBox="1">
              <a:spLocks noChangeArrowheads="1"/>
            </p:cNvSpPr>
            <p:nvPr/>
          </p:nvSpPr>
          <p:spPr bwMode="auto">
            <a:xfrm>
              <a:off x="192" y="1728"/>
              <a:ext cx="960" cy="19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50000"/>
                </a:spcBef>
              </a:pPr>
              <a:r>
                <a:rPr kumimoji="1" lang="en-US" altLang="zh-CN">
                  <a:latin typeface="Times New Roman" panose="02020503050405090304" pitchFamily="18" charset="0"/>
                </a:rPr>
                <a:t>     </a:t>
              </a:r>
              <a:endParaRPr kumimoji="1" lang="en-US" altLang="zh-CN">
                <a:latin typeface="Times New Roman" panose="02020503050405090304" pitchFamily="18" charset="0"/>
              </a:endParaRPr>
            </a:p>
            <a:p>
              <a:pPr eaLnBrk="1" hangingPunct="1">
                <a:spcBef>
                  <a:spcPct val="50000"/>
                </a:spcBef>
              </a:pPr>
              <a:endParaRPr kumimoji="1" lang="en-US" altLang="zh-CN">
                <a:latin typeface="Times New Roman" panose="02020503050405090304" pitchFamily="18" charset="0"/>
              </a:endParaRPr>
            </a:p>
            <a:p>
              <a:pPr eaLnBrk="1" hangingPunct="1">
                <a:spcBef>
                  <a:spcPct val="50000"/>
                </a:spcBef>
              </a:pPr>
              <a:endParaRPr kumimoji="1" lang="en-US" altLang="zh-CN">
                <a:latin typeface="Times New Roman" panose="02020503050405090304" pitchFamily="18" charset="0"/>
              </a:endParaRPr>
            </a:p>
            <a:p>
              <a:pPr eaLnBrk="1" hangingPunct="1">
                <a:spcBef>
                  <a:spcPct val="50000"/>
                </a:spcBef>
              </a:pPr>
              <a:r>
                <a:rPr kumimoji="1" lang="en-US" altLang="zh-CN">
                  <a:latin typeface="Times New Roman" panose="02020503050405090304" pitchFamily="18" charset="0"/>
                </a:rPr>
                <a:t>    </a:t>
              </a:r>
              <a:r>
                <a:rPr kumimoji="1" lang="en-US" altLang="zh-CN" b="1">
                  <a:latin typeface="仿宋_GB2312" pitchFamily="49" charset="-122"/>
                  <a:ea typeface="仿宋_GB2312" pitchFamily="49" charset="-122"/>
                </a:rPr>
                <a:t>(a)</a:t>
              </a:r>
              <a:endParaRPr kumimoji="1" lang="en-US" altLang="zh-CN" b="1">
                <a:latin typeface="仿宋_GB2312" pitchFamily="49" charset="-122"/>
                <a:ea typeface="仿宋_GB2312" pitchFamily="49" charset="-122"/>
              </a:endParaRPr>
            </a:p>
            <a:p>
              <a:pPr eaLnBrk="1" hangingPunct="1">
                <a:spcBef>
                  <a:spcPct val="50000"/>
                </a:spcBef>
              </a:pPr>
              <a:r>
                <a:rPr kumimoji="1" lang="zh-CN" altLang="en-US" b="1">
                  <a:latin typeface="仿宋_GB2312" pitchFamily="49" charset="-122"/>
                  <a:ea typeface="仿宋_GB2312" pitchFamily="49" charset="-122"/>
                </a:rPr>
                <a:t>空二叉树</a:t>
              </a:r>
              <a:endParaRPr kumimoji="1" lang="zh-CN" altLang="en-US" b="1">
                <a:latin typeface="仿宋_GB2312" pitchFamily="49" charset="-122"/>
                <a:ea typeface="仿宋_GB2312" pitchFamily="49" charset="-122"/>
              </a:endParaRPr>
            </a:p>
          </p:txBody>
        </p:sp>
        <p:sp>
          <p:nvSpPr>
            <p:cNvPr id="81928" name="Oval 8"/>
            <p:cNvSpPr>
              <a:spLocks noChangeArrowheads="1"/>
            </p:cNvSpPr>
            <p:nvPr/>
          </p:nvSpPr>
          <p:spPr bwMode="auto">
            <a:xfrm>
              <a:off x="528" y="1919"/>
              <a:ext cx="384" cy="288"/>
            </a:xfrm>
            <a:prstGeom prst="ellipse">
              <a:avLst/>
            </a:prstGeom>
            <a:solidFill>
              <a:schemeClr val="hlink"/>
            </a:solidFill>
            <a:ln w="9525">
              <a:solidFill>
                <a:schemeClr val="tx1"/>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sp>
          <p:nvSpPr>
            <p:cNvPr id="81929" name="Line 9"/>
            <p:cNvSpPr>
              <a:spLocks noChangeShapeType="1"/>
            </p:cNvSpPr>
            <p:nvPr/>
          </p:nvSpPr>
          <p:spPr bwMode="auto">
            <a:xfrm flipH="1">
              <a:off x="528" y="1883"/>
              <a:ext cx="384" cy="384"/>
            </a:xfrm>
            <a:prstGeom prst="line">
              <a:avLst/>
            </a:prstGeom>
            <a:noFill/>
            <a:ln w="9525">
              <a:solidFill>
                <a:schemeClr val="tx1"/>
              </a:solidFill>
              <a:round/>
            </a:ln>
            <a:extLst>
              <a:ext uri="{909E8E84-426E-40DD-AFC4-6F175D3DCCD1}">
                <a14:hiddenFill xmlns:a14="http://schemas.microsoft.com/office/drawing/2010/main">
                  <a:noFill/>
                </a14:hiddenFill>
              </a:ext>
            </a:extLst>
          </p:spPr>
          <p:txBody>
            <a:bodyPr/>
            <a:lstStyle/>
            <a:p>
              <a:endParaRPr lang="zh-CN" altLang="en-US"/>
            </a:p>
          </p:txBody>
        </p:sp>
        <p:sp>
          <p:nvSpPr>
            <p:cNvPr id="81930" name="Oval 10"/>
            <p:cNvSpPr>
              <a:spLocks noChangeArrowheads="1"/>
            </p:cNvSpPr>
            <p:nvPr/>
          </p:nvSpPr>
          <p:spPr bwMode="auto">
            <a:xfrm>
              <a:off x="1296" y="1919"/>
              <a:ext cx="384" cy="288"/>
            </a:xfrm>
            <a:prstGeom prst="ellipse">
              <a:avLst/>
            </a:prstGeom>
            <a:solidFill>
              <a:schemeClr val="hlink"/>
            </a:solidFill>
            <a:ln w="9525">
              <a:solidFill>
                <a:schemeClr val="tx1"/>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a:latin typeface="Times New Roman" panose="02020503050405090304" pitchFamily="18" charset="0"/>
                </a:rPr>
                <a:t>A</a:t>
              </a:r>
              <a:endParaRPr kumimoji="1" lang="en-US" altLang="zh-CN">
                <a:latin typeface="Times New Roman" panose="02020503050405090304" pitchFamily="18" charset="0"/>
              </a:endParaRPr>
            </a:p>
          </p:txBody>
        </p:sp>
        <p:sp>
          <p:nvSpPr>
            <p:cNvPr id="81931" name="Oval 11"/>
            <p:cNvSpPr>
              <a:spLocks noChangeArrowheads="1"/>
            </p:cNvSpPr>
            <p:nvPr/>
          </p:nvSpPr>
          <p:spPr bwMode="auto">
            <a:xfrm>
              <a:off x="2256" y="1919"/>
              <a:ext cx="384" cy="288"/>
            </a:xfrm>
            <a:prstGeom prst="ellipse">
              <a:avLst/>
            </a:prstGeom>
            <a:solidFill>
              <a:schemeClr val="hlink"/>
            </a:solidFill>
            <a:ln w="9525">
              <a:solidFill>
                <a:schemeClr val="tx1"/>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a:latin typeface="Times New Roman" panose="02020503050405090304" pitchFamily="18" charset="0"/>
                </a:rPr>
                <a:t>A</a:t>
              </a:r>
              <a:endParaRPr kumimoji="1" lang="en-US" altLang="zh-CN">
                <a:latin typeface="Times New Roman" panose="02020503050405090304" pitchFamily="18" charset="0"/>
              </a:endParaRPr>
            </a:p>
          </p:txBody>
        </p:sp>
        <p:sp>
          <p:nvSpPr>
            <p:cNvPr id="81932" name="Oval 12"/>
            <p:cNvSpPr>
              <a:spLocks noChangeArrowheads="1"/>
            </p:cNvSpPr>
            <p:nvPr/>
          </p:nvSpPr>
          <p:spPr bwMode="auto">
            <a:xfrm>
              <a:off x="2016" y="2352"/>
              <a:ext cx="384" cy="288"/>
            </a:xfrm>
            <a:prstGeom prst="ellipse">
              <a:avLst/>
            </a:prstGeom>
            <a:solidFill>
              <a:schemeClr val="hlink"/>
            </a:solidFill>
            <a:ln w="9525">
              <a:solidFill>
                <a:schemeClr val="tx1"/>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a:latin typeface="Times New Roman" panose="02020503050405090304" pitchFamily="18" charset="0"/>
                </a:rPr>
                <a:t>B</a:t>
              </a:r>
              <a:endParaRPr kumimoji="1" lang="en-US" altLang="zh-CN">
                <a:latin typeface="Times New Roman" panose="02020503050405090304" pitchFamily="18" charset="0"/>
              </a:endParaRPr>
            </a:p>
          </p:txBody>
        </p:sp>
        <p:sp>
          <p:nvSpPr>
            <p:cNvPr id="81933" name="Oval 13"/>
            <p:cNvSpPr>
              <a:spLocks noChangeArrowheads="1"/>
            </p:cNvSpPr>
            <p:nvPr/>
          </p:nvSpPr>
          <p:spPr bwMode="auto">
            <a:xfrm>
              <a:off x="3072" y="1920"/>
              <a:ext cx="384" cy="288"/>
            </a:xfrm>
            <a:prstGeom prst="ellipse">
              <a:avLst/>
            </a:prstGeom>
            <a:solidFill>
              <a:schemeClr val="hlink"/>
            </a:solidFill>
            <a:ln w="9525">
              <a:solidFill>
                <a:schemeClr val="tx1"/>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a:latin typeface="Times New Roman" panose="02020503050405090304" pitchFamily="18" charset="0"/>
                </a:rPr>
                <a:t>A</a:t>
              </a:r>
              <a:endParaRPr kumimoji="1" lang="en-US" altLang="zh-CN">
                <a:latin typeface="Times New Roman" panose="02020503050405090304" pitchFamily="18" charset="0"/>
              </a:endParaRPr>
            </a:p>
          </p:txBody>
        </p:sp>
        <p:sp>
          <p:nvSpPr>
            <p:cNvPr id="81934" name="Oval 14"/>
            <p:cNvSpPr>
              <a:spLocks noChangeArrowheads="1"/>
            </p:cNvSpPr>
            <p:nvPr/>
          </p:nvSpPr>
          <p:spPr bwMode="auto">
            <a:xfrm>
              <a:off x="3504" y="2448"/>
              <a:ext cx="384" cy="288"/>
            </a:xfrm>
            <a:prstGeom prst="ellipse">
              <a:avLst/>
            </a:prstGeom>
            <a:solidFill>
              <a:schemeClr val="hlink"/>
            </a:solidFill>
            <a:ln w="9525">
              <a:solidFill>
                <a:schemeClr val="tx1"/>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a:latin typeface="Times New Roman" panose="02020503050405090304" pitchFamily="18" charset="0"/>
                </a:rPr>
                <a:t>B</a:t>
              </a:r>
              <a:endParaRPr kumimoji="1" lang="en-US" altLang="zh-CN">
                <a:latin typeface="Times New Roman" panose="02020503050405090304" pitchFamily="18" charset="0"/>
              </a:endParaRPr>
            </a:p>
          </p:txBody>
        </p:sp>
        <p:sp>
          <p:nvSpPr>
            <p:cNvPr id="81935" name="Oval 15"/>
            <p:cNvSpPr>
              <a:spLocks noChangeArrowheads="1"/>
            </p:cNvSpPr>
            <p:nvPr/>
          </p:nvSpPr>
          <p:spPr bwMode="auto">
            <a:xfrm>
              <a:off x="4512" y="1920"/>
              <a:ext cx="384" cy="288"/>
            </a:xfrm>
            <a:prstGeom prst="ellipse">
              <a:avLst/>
            </a:prstGeom>
            <a:solidFill>
              <a:schemeClr val="hlink"/>
            </a:solidFill>
            <a:ln w="9525">
              <a:solidFill>
                <a:schemeClr val="tx1"/>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a:latin typeface="Times New Roman" panose="02020503050405090304" pitchFamily="18" charset="0"/>
                </a:rPr>
                <a:t>A</a:t>
              </a:r>
              <a:endParaRPr kumimoji="1" lang="en-US" altLang="zh-CN">
                <a:latin typeface="Times New Roman" panose="02020503050405090304" pitchFamily="18" charset="0"/>
              </a:endParaRPr>
            </a:p>
          </p:txBody>
        </p:sp>
        <p:sp>
          <p:nvSpPr>
            <p:cNvPr id="81936" name="Oval 16"/>
            <p:cNvSpPr>
              <a:spLocks noChangeArrowheads="1"/>
            </p:cNvSpPr>
            <p:nvPr/>
          </p:nvSpPr>
          <p:spPr bwMode="auto">
            <a:xfrm>
              <a:off x="4848" y="2496"/>
              <a:ext cx="384" cy="288"/>
            </a:xfrm>
            <a:prstGeom prst="ellipse">
              <a:avLst/>
            </a:prstGeom>
            <a:solidFill>
              <a:schemeClr val="hlink"/>
            </a:solidFill>
            <a:ln w="9525">
              <a:solidFill>
                <a:schemeClr val="tx1"/>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a:latin typeface="Times New Roman" panose="02020503050405090304" pitchFamily="18" charset="0"/>
                </a:rPr>
                <a:t>C</a:t>
              </a:r>
              <a:endParaRPr kumimoji="1" lang="en-US" altLang="zh-CN">
                <a:latin typeface="Times New Roman" panose="02020503050405090304" pitchFamily="18" charset="0"/>
              </a:endParaRPr>
            </a:p>
          </p:txBody>
        </p:sp>
        <p:sp>
          <p:nvSpPr>
            <p:cNvPr id="81937" name="Oval 17"/>
            <p:cNvSpPr>
              <a:spLocks noChangeArrowheads="1"/>
            </p:cNvSpPr>
            <p:nvPr/>
          </p:nvSpPr>
          <p:spPr bwMode="auto">
            <a:xfrm>
              <a:off x="4176" y="2448"/>
              <a:ext cx="384" cy="288"/>
            </a:xfrm>
            <a:prstGeom prst="ellipse">
              <a:avLst/>
            </a:prstGeom>
            <a:solidFill>
              <a:schemeClr val="hlink"/>
            </a:solidFill>
            <a:ln w="9525">
              <a:solidFill>
                <a:schemeClr val="tx1"/>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a:latin typeface="Times New Roman" panose="02020503050405090304" pitchFamily="18" charset="0"/>
                </a:rPr>
                <a:t>B</a:t>
              </a:r>
              <a:endParaRPr kumimoji="1" lang="en-US" altLang="zh-CN">
                <a:latin typeface="Times New Roman" panose="02020503050405090304" pitchFamily="18" charset="0"/>
              </a:endParaRPr>
            </a:p>
          </p:txBody>
        </p:sp>
        <p:sp>
          <p:nvSpPr>
            <p:cNvPr id="81938" name="Line 18"/>
            <p:cNvSpPr>
              <a:spLocks noChangeShapeType="1"/>
            </p:cNvSpPr>
            <p:nvPr/>
          </p:nvSpPr>
          <p:spPr bwMode="auto">
            <a:xfrm flipH="1">
              <a:off x="2256" y="2112"/>
              <a:ext cx="144" cy="240"/>
            </a:xfrm>
            <a:prstGeom prst="line">
              <a:avLst/>
            </a:prstGeom>
            <a:noFill/>
            <a:ln w="9525">
              <a:solidFill>
                <a:schemeClr val="tx1"/>
              </a:solidFill>
              <a:round/>
            </a:ln>
            <a:extLst>
              <a:ext uri="{909E8E84-426E-40DD-AFC4-6F175D3DCCD1}">
                <a14:hiddenFill xmlns:a14="http://schemas.microsoft.com/office/drawing/2010/main">
                  <a:noFill/>
                </a14:hiddenFill>
              </a:ext>
            </a:extLst>
          </p:spPr>
          <p:txBody>
            <a:bodyPr/>
            <a:lstStyle/>
            <a:p>
              <a:endParaRPr lang="zh-CN" altLang="en-US"/>
            </a:p>
          </p:txBody>
        </p:sp>
        <p:sp>
          <p:nvSpPr>
            <p:cNvPr id="81939" name="Line 19"/>
            <p:cNvSpPr>
              <a:spLocks noChangeShapeType="1"/>
            </p:cNvSpPr>
            <p:nvPr/>
          </p:nvSpPr>
          <p:spPr bwMode="auto">
            <a:xfrm>
              <a:off x="3360" y="2160"/>
              <a:ext cx="240" cy="288"/>
            </a:xfrm>
            <a:prstGeom prst="line">
              <a:avLst/>
            </a:prstGeom>
            <a:noFill/>
            <a:ln w="9525">
              <a:solidFill>
                <a:schemeClr val="tx1"/>
              </a:solidFill>
              <a:round/>
            </a:ln>
            <a:extLst>
              <a:ext uri="{909E8E84-426E-40DD-AFC4-6F175D3DCCD1}">
                <a14:hiddenFill xmlns:a14="http://schemas.microsoft.com/office/drawing/2010/main">
                  <a:noFill/>
                </a14:hiddenFill>
              </a:ext>
            </a:extLst>
          </p:spPr>
          <p:txBody>
            <a:bodyPr/>
            <a:lstStyle/>
            <a:p>
              <a:endParaRPr lang="zh-CN" altLang="en-US"/>
            </a:p>
          </p:txBody>
        </p:sp>
        <p:sp>
          <p:nvSpPr>
            <p:cNvPr id="81940" name="Line 20"/>
            <p:cNvSpPr>
              <a:spLocks noChangeShapeType="1"/>
            </p:cNvSpPr>
            <p:nvPr/>
          </p:nvSpPr>
          <p:spPr bwMode="auto">
            <a:xfrm flipH="1">
              <a:off x="4368" y="2208"/>
              <a:ext cx="192" cy="240"/>
            </a:xfrm>
            <a:prstGeom prst="line">
              <a:avLst/>
            </a:prstGeom>
            <a:noFill/>
            <a:ln w="9525">
              <a:solidFill>
                <a:schemeClr val="tx1"/>
              </a:solidFill>
              <a:round/>
            </a:ln>
            <a:extLst>
              <a:ext uri="{909E8E84-426E-40DD-AFC4-6F175D3DCCD1}">
                <a14:hiddenFill xmlns:a14="http://schemas.microsoft.com/office/drawing/2010/main">
                  <a:noFill/>
                </a14:hiddenFill>
              </a:ext>
            </a:extLst>
          </p:spPr>
          <p:txBody>
            <a:bodyPr/>
            <a:lstStyle/>
            <a:p>
              <a:endParaRPr lang="zh-CN" altLang="en-US"/>
            </a:p>
          </p:txBody>
        </p:sp>
        <p:sp>
          <p:nvSpPr>
            <p:cNvPr id="81941" name="Line 21"/>
            <p:cNvSpPr>
              <a:spLocks noChangeShapeType="1"/>
            </p:cNvSpPr>
            <p:nvPr/>
          </p:nvSpPr>
          <p:spPr bwMode="auto">
            <a:xfrm>
              <a:off x="4800" y="2208"/>
              <a:ext cx="144" cy="288"/>
            </a:xfrm>
            <a:prstGeom prst="line">
              <a:avLst/>
            </a:prstGeom>
            <a:noFill/>
            <a:ln w="9525">
              <a:solidFill>
                <a:schemeClr val="tx1"/>
              </a:solidFill>
              <a:round/>
            </a:ln>
            <a:extLst>
              <a:ext uri="{909E8E84-426E-40DD-AFC4-6F175D3DCCD1}">
                <a14:hiddenFill xmlns:a14="http://schemas.microsoft.com/office/drawing/2010/main">
                  <a:noFill/>
                </a14:hiddenFill>
              </a:ext>
            </a:extLst>
          </p:spPr>
          <p:txBody>
            <a:bodyPr/>
            <a:lstStyle/>
            <a:p>
              <a:endParaRPr lang="zh-CN" altLang="en-US"/>
            </a:p>
          </p:txBody>
        </p:sp>
        <p:sp>
          <p:nvSpPr>
            <p:cNvPr id="81942" name="Text Box 22"/>
            <p:cNvSpPr txBox="1">
              <a:spLocks noChangeArrowheads="1"/>
            </p:cNvSpPr>
            <p:nvPr/>
          </p:nvSpPr>
          <p:spPr bwMode="auto">
            <a:xfrm>
              <a:off x="1152" y="2688"/>
              <a:ext cx="1056" cy="8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kumimoji="1" lang="en-US" altLang="zh-CN">
                  <a:latin typeface="Times New Roman" panose="02020503050405090304" pitchFamily="18" charset="0"/>
                </a:rPr>
                <a:t>     </a:t>
              </a:r>
              <a:r>
                <a:rPr kumimoji="1" lang="en-US" altLang="zh-CN" b="1">
                  <a:latin typeface="仿宋_GB2312" pitchFamily="49" charset="-122"/>
                  <a:ea typeface="仿宋_GB2312" pitchFamily="49" charset="-122"/>
                </a:rPr>
                <a:t>(b)</a:t>
              </a:r>
              <a:endParaRPr kumimoji="1" lang="en-US" altLang="zh-CN" b="1">
                <a:latin typeface="仿宋_GB2312" pitchFamily="49" charset="-122"/>
                <a:ea typeface="仿宋_GB2312" pitchFamily="49" charset="-122"/>
              </a:endParaRPr>
            </a:p>
            <a:p>
              <a:pPr eaLnBrk="1" hangingPunct="1"/>
              <a:r>
                <a:rPr kumimoji="1" lang="zh-CN" altLang="en-US" b="1">
                  <a:latin typeface="仿宋_GB2312" pitchFamily="49" charset="-122"/>
                  <a:ea typeface="仿宋_GB2312" pitchFamily="49" charset="-122"/>
                </a:rPr>
                <a:t>根和空的左右子树</a:t>
              </a:r>
              <a:endParaRPr kumimoji="1" lang="zh-CN" altLang="en-US" b="1">
                <a:latin typeface="仿宋_GB2312" pitchFamily="49" charset="-122"/>
                <a:ea typeface="仿宋_GB2312" pitchFamily="49" charset="-122"/>
              </a:endParaRPr>
            </a:p>
          </p:txBody>
        </p:sp>
        <p:sp>
          <p:nvSpPr>
            <p:cNvPr id="81943" name="Text Box 23"/>
            <p:cNvSpPr txBox="1">
              <a:spLocks noChangeArrowheads="1"/>
            </p:cNvSpPr>
            <p:nvPr/>
          </p:nvSpPr>
          <p:spPr bwMode="auto">
            <a:xfrm>
              <a:off x="2064" y="2880"/>
              <a:ext cx="1081" cy="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kumimoji="1" lang="en-US" altLang="zh-CN">
                  <a:latin typeface="Times New Roman" panose="02020503050405090304" pitchFamily="18" charset="0"/>
                </a:rPr>
                <a:t>      </a:t>
              </a:r>
              <a:r>
                <a:rPr kumimoji="1" lang="en-US" altLang="zh-CN" b="1">
                  <a:latin typeface="仿宋_GB2312" pitchFamily="49" charset="-122"/>
                  <a:ea typeface="仿宋_GB2312" pitchFamily="49" charset="-122"/>
                </a:rPr>
                <a:t>(c)</a:t>
              </a:r>
              <a:endParaRPr kumimoji="1" lang="en-US" altLang="zh-CN" b="1">
                <a:latin typeface="仿宋_GB2312" pitchFamily="49" charset="-122"/>
                <a:ea typeface="仿宋_GB2312" pitchFamily="49" charset="-122"/>
              </a:endParaRPr>
            </a:p>
            <a:p>
              <a:pPr eaLnBrk="1" hangingPunct="1"/>
              <a:r>
                <a:rPr kumimoji="1" lang="zh-CN" altLang="en-US" b="1">
                  <a:latin typeface="仿宋_GB2312" pitchFamily="49" charset="-122"/>
                  <a:ea typeface="仿宋_GB2312" pitchFamily="49" charset="-122"/>
                </a:rPr>
                <a:t>根和左子树</a:t>
              </a:r>
              <a:endParaRPr kumimoji="1" lang="zh-CN" altLang="en-US" b="1">
                <a:latin typeface="仿宋_GB2312" pitchFamily="49" charset="-122"/>
                <a:ea typeface="仿宋_GB2312" pitchFamily="49" charset="-122"/>
              </a:endParaRPr>
            </a:p>
          </p:txBody>
        </p:sp>
        <p:sp>
          <p:nvSpPr>
            <p:cNvPr id="81944" name="Text Box 24"/>
            <p:cNvSpPr txBox="1">
              <a:spLocks noChangeArrowheads="1"/>
            </p:cNvSpPr>
            <p:nvPr/>
          </p:nvSpPr>
          <p:spPr bwMode="auto">
            <a:xfrm>
              <a:off x="3168" y="2867"/>
              <a:ext cx="1081" cy="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kumimoji="1" lang="en-US" altLang="zh-CN" b="1">
                  <a:latin typeface="仿宋_GB2312" pitchFamily="49" charset="-122"/>
                  <a:ea typeface="仿宋_GB2312" pitchFamily="49" charset="-122"/>
                </a:rPr>
                <a:t>(d)</a:t>
              </a:r>
              <a:endParaRPr kumimoji="1" lang="en-US" altLang="zh-CN" b="1">
                <a:latin typeface="仿宋_GB2312" pitchFamily="49" charset="-122"/>
                <a:ea typeface="仿宋_GB2312" pitchFamily="49" charset="-122"/>
              </a:endParaRPr>
            </a:p>
            <a:p>
              <a:pPr eaLnBrk="1" hangingPunct="1"/>
              <a:r>
                <a:rPr kumimoji="1" lang="zh-CN" altLang="en-US" b="1">
                  <a:latin typeface="仿宋_GB2312" pitchFamily="49" charset="-122"/>
                  <a:ea typeface="仿宋_GB2312" pitchFamily="49" charset="-122"/>
                </a:rPr>
                <a:t>根和右子树</a:t>
              </a:r>
              <a:endParaRPr kumimoji="1" lang="zh-CN" altLang="en-US" b="1">
                <a:latin typeface="仿宋_GB2312" pitchFamily="49" charset="-122"/>
                <a:ea typeface="仿宋_GB2312" pitchFamily="49" charset="-122"/>
              </a:endParaRPr>
            </a:p>
          </p:txBody>
        </p:sp>
        <p:sp>
          <p:nvSpPr>
            <p:cNvPr id="81945" name="Text Box 25"/>
            <p:cNvSpPr txBox="1">
              <a:spLocks noChangeArrowheads="1"/>
            </p:cNvSpPr>
            <p:nvPr/>
          </p:nvSpPr>
          <p:spPr bwMode="auto">
            <a:xfrm>
              <a:off x="4492" y="2832"/>
              <a:ext cx="1274" cy="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kumimoji="1" lang="en-US" altLang="zh-CN">
                  <a:latin typeface="Times New Roman" panose="02020503050405090304" pitchFamily="18" charset="0"/>
                </a:rPr>
                <a:t> </a:t>
              </a:r>
              <a:r>
                <a:rPr kumimoji="1" lang="en-US" altLang="zh-CN" b="1">
                  <a:latin typeface="仿宋_GB2312" pitchFamily="49" charset="-122"/>
                  <a:ea typeface="仿宋_GB2312" pitchFamily="49" charset="-122"/>
                </a:rPr>
                <a:t>(e)</a:t>
              </a:r>
              <a:endParaRPr kumimoji="1" lang="en-US" altLang="zh-CN" b="1">
                <a:latin typeface="仿宋_GB2312" pitchFamily="49" charset="-122"/>
                <a:ea typeface="仿宋_GB2312" pitchFamily="49" charset="-122"/>
              </a:endParaRPr>
            </a:p>
            <a:p>
              <a:pPr eaLnBrk="1" hangingPunct="1"/>
              <a:r>
                <a:rPr kumimoji="1" lang="zh-CN" altLang="en-US" b="1">
                  <a:latin typeface="仿宋_GB2312" pitchFamily="49" charset="-122"/>
                  <a:ea typeface="仿宋_GB2312" pitchFamily="49" charset="-122"/>
                </a:rPr>
                <a:t>根和左右子树</a:t>
              </a:r>
              <a:endParaRPr kumimoji="1" lang="zh-CN" altLang="en-US" b="1">
                <a:latin typeface="仿宋_GB2312" pitchFamily="49" charset="-122"/>
                <a:ea typeface="仿宋_GB2312" pitchFamily="49" charset="-122"/>
              </a:endParaRPr>
            </a:p>
          </p:txBody>
        </p:sp>
      </p:grpSp>
    </p:spTree>
  </p:cSld>
  <p:clrMapOvr>
    <a:masterClrMapping/>
  </p:clrMapOvr>
  <p:timing>
    <p:tnLst>
      <p:par>
        <p:cTn id="1" dur="indefinite" restart="never" nodeType="tmRoot"/>
      </p:par>
    </p:tnLst>
  </p:timing>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82947" name="Rectangle 2"/>
          <p:cNvSpPr>
            <a:spLocks noGrp="1" noChangeArrowheads="1"/>
          </p:cNvSpPr>
          <p:nvPr>
            <p:ph type="title"/>
          </p:nvPr>
        </p:nvSpPr>
        <p:spPr/>
        <p:txBody>
          <a:bodyPr/>
          <a:lstStyle/>
          <a:p>
            <a:pPr eaLnBrk="1" hangingPunct="1"/>
            <a:r>
              <a:rPr lang="en-US" altLang="zh-CN" dirty="0">
                <a:solidFill>
                  <a:srgbClr val="333399"/>
                </a:solidFill>
              </a:rPr>
              <a:t>1.4.</a:t>
            </a:r>
            <a:r>
              <a:rPr lang="en-US" altLang="zh-CN" dirty="0" smtClean="0"/>
              <a:t>6 </a:t>
            </a:r>
            <a:r>
              <a:rPr lang="zh-CN" altLang="en-US" dirty="0" smtClean="0"/>
              <a:t>树、根树、</a:t>
            </a:r>
            <a:r>
              <a:rPr lang="zh-CN" altLang="en-US" b="1" u="sng" dirty="0" smtClean="0"/>
              <a:t>二叉树</a:t>
            </a:r>
            <a:endParaRPr lang="en-US" altLang="zh-CN" dirty="0" smtClean="0"/>
          </a:p>
        </p:txBody>
      </p:sp>
      <p:sp>
        <p:nvSpPr>
          <p:cNvPr id="109571" name="Rectangle 3"/>
          <p:cNvSpPr>
            <a:spLocks noGrp="1" noChangeArrowheads="1"/>
          </p:cNvSpPr>
          <p:nvPr>
            <p:ph type="body" idx="1"/>
          </p:nvPr>
        </p:nvSpPr>
        <p:spPr/>
        <p:txBody>
          <a:bodyPr/>
          <a:lstStyle/>
          <a:p>
            <a:pPr eaLnBrk="1" hangingPunct="1">
              <a:defRPr/>
            </a:pPr>
            <a:r>
              <a:rPr lang="zh-CN" altLang="en-US" dirty="0" smtClean="0">
                <a:solidFill>
                  <a:srgbClr val="FF0000"/>
                </a:solidFill>
                <a:latin typeface="+mn-ea"/>
              </a:rPr>
              <a:t>满的和完全的</a:t>
            </a:r>
            <a:r>
              <a:rPr lang="en-US" altLang="zh-CN" dirty="0" smtClean="0">
                <a:latin typeface="+mn-ea"/>
              </a:rPr>
              <a:t>:</a:t>
            </a:r>
            <a:endParaRPr lang="en-US" altLang="zh-CN" dirty="0" smtClean="0">
              <a:latin typeface="+mn-ea"/>
            </a:endParaRPr>
          </a:p>
          <a:p>
            <a:pPr lvl="1" eaLnBrk="1" hangingPunct="1">
              <a:defRPr/>
            </a:pPr>
            <a:r>
              <a:rPr lang="zh-CN" altLang="en-US" dirty="0" smtClean="0">
                <a:latin typeface="+mn-ea"/>
                <a:ea typeface="+mn-ea"/>
              </a:rPr>
              <a:t>如果二叉树中每个内部节点都正好有两个儿子，这样的二叉树称为</a:t>
            </a:r>
            <a:r>
              <a:rPr lang="zh-CN" altLang="en-US" dirty="0" smtClean="0">
                <a:solidFill>
                  <a:srgbClr val="FF0000"/>
                </a:solidFill>
                <a:latin typeface="+mn-ea"/>
                <a:ea typeface="+mn-ea"/>
              </a:rPr>
              <a:t>满的</a:t>
            </a:r>
            <a:r>
              <a:rPr lang="zh-CN" altLang="en-US" dirty="0" smtClean="0">
                <a:latin typeface="+mn-ea"/>
                <a:ea typeface="+mn-ea"/>
              </a:rPr>
              <a:t>；如果二叉树是满二叉树，而且所有的叶子有同样的深度（如在同一层），那么这种二叉树称为</a:t>
            </a:r>
            <a:r>
              <a:rPr lang="zh-CN" altLang="en-US" dirty="0" smtClean="0">
                <a:solidFill>
                  <a:srgbClr val="FF0000"/>
                </a:solidFill>
                <a:latin typeface="+mn-ea"/>
                <a:ea typeface="+mn-ea"/>
              </a:rPr>
              <a:t>完全二叉树</a:t>
            </a:r>
            <a:r>
              <a:rPr lang="zh-CN" altLang="en-US" dirty="0" smtClean="0">
                <a:latin typeface="+mn-ea"/>
                <a:ea typeface="+mn-ea"/>
              </a:rPr>
              <a:t>。</a:t>
            </a:r>
            <a:endParaRPr lang="en-US" altLang="zh-CN" dirty="0" smtClean="0">
              <a:latin typeface="+mn-ea"/>
              <a:ea typeface="+mn-ea"/>
            </a:endParaRPr>
          </a:p>
          <a:p>
            <a:pPr eaLnBrk="1" hangingPunct="1">
              <a:defRPr/>
            </a:pPr>
            <a:r>
              <a:rPr lang="zh-CN" altLang="en-US" dirty="0" smtClean="0">
                <a:solidFill>
                  <a:srgbClr val="FF0000"/>
                </a:solidFill>
                <a:latin typeface="+mn-ea"/>
              </a:rPr>
              <a:t>几乎完全的</a:t>
            </a:r>
            <a:r>
              <a:rPr lang="en-US" altLang="zh-CN" dirty="0" smtClean="0">
                <a:solidFill>
                  <a:srgbClr val="FF0000"/>
                </a:solidFill>
                <a:latin typeface="+mn-ea"/>
              </a:rPr>
              <a:t>:</a:t>
            </a:r>
            <a:endParaRPr lang="en-US" altLang="zh-CN" dirty="0" smtClean="0">
              <a:solidFill>
                <a:srgbClr val="FF0000"/>
              </a:solidFill>
              <a:latin typeface="+mn-ea"/>
            </a:endParaRPr>
          </a:p>
          <a:p>
            <a:pPr lvl="1" eaLnBrk="1" hangingPunct="1">
              <a:defRPr/>
            </a:pPr>
            <a:r>
              <a:rPr lang="zh-CN" altLang="en-US" dirty="0" smtClean="0">
                <a:latin typeface="+mn-ea"/>
                <a:ea typeface="+mn-ea"/>
              </a:rPr>
              <a:t>如果一颗二叉树除了最右边位置上的一个或者几个叶子可能缺少外，它是丰满的，我们定义它为几乎完全的二叉树。</a:t>
            </a:r>
            <a:endParaRPr lang="en-US" altLang="zh-CN" dirty="0" smtClean="0">
              <a:latin typeface="+mn-ea"/>
              <a:ea typeface="+mn-ea"/>
            </a:endParaRPr>
          </a:p>
        </p:txBody>
      </p:sp>
      <p:pic>
        <p:nvPicPr>
          <p:cNvPr id="82949" name="Picture 8" descr="c:\users\ADMINI~1\appdata\roaming\360se6\USERDA~1\Temp\1248060.gif"/>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000375" y="4429125"/>
            <a:ext cx="4860925" cy="1857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83971" name="Rectangle 2"/>
          <p:cNvSpPr>
            <a:spLocks noGrp="1" noChangeArrowheads="1"/>
          </p:cNvSpPr>
          <p:nvPr>
            <p:ph type="title"/>
          </p:nvPr>
        </p:nvSpPr>
        <p:spPr/>
        <p:txBody>
          <a:bodyPr/>
          <a:lstStyle/>
          <a:p>
            <a:pPr eaLnBrk="1" hangingPunct="1"/>
            <a:r>
              <a:rPr lang="en-US" altLang="zh-CN" dirty="0">
                <a:solidFill>
                  <a:srgbClr val="333399"/>
                </a:solidFill>
              </a:rPr>
              <a:t>1.4.</a:t>
            </a:r>
            <a:r>
              <a:rPr lang="en-US" altLang="zh-CN" dirty="0" smtClean="0"/>
              <a:t>6 </a:t>
            </a:r>
            <a:r>
              <a:rPr lang="zh-CN" altLang="en-US" dirty="0" smtClean="0"/>
              <a:t>树、根树、</a:t>
            </a:r>
            <a:r>
              <a:rPr lang="zh-CN" altLang="en-US" b="1" u="sng" dirty="0" smtClean="0"/>
              <a:t>二叉树</a:t>
            </a:r>
            <a:endParaRPr lang="en-US" altLang="zh-CN" dirty="0" smtClean="0"/>
          </a:p>
        </p:txBody>
      </p:sp>
      <p:sp>
        <p:nvSpPr>
          <p:cNvPr id="110595" name="Rectangle 3"/>
          <p:cNvSpPr>
            <a:spLocks noGrp="1" noChangeArrowheads="1"/>
          </p:cNvSpPr>
          <p:nvPr>
            <p:ph type="body" idx="1"/>
          </p:nvPr>
        </p:nvSpPr>
        <p:spPr>
          <a:xfrm>
            <a:off x="920750" y="1268760"/>
            <a:ext cx="7786687" cy="4525962"/>
          </a:xfrm>
        </p:spPr>
        <p:txBody>
          <a:bodyPr/>
          <a:lstStyle/>
          <a:p>
            <a:pPr marL="0" indent="0" eaLnBrk="1" hangingPunct="1">
              <a:buNone/>
              <a:defRPr/>
            </a:pPr>
            <a:r>
              <a:rPr lang="zh-CN" altLang="en-US" sz="2800" b="1" dirty="0"/>
              <a:t>存储结构</a:t>
            </a:r>
            <a:r>
              <a:rPr lang="en-US" altLang="zh-CN" sz="2800" b="1" dirty="0"/>
              <a:t>:</a:t>
            </a:r>
            <a:endParaRPr lang="en-US" altLang="zh-CN" sz="2800" b="1" dirty="0"/>
          </a:p>
          <a:p>
            <a:pPr eaLnBrk="1" hangingPunct="1">
              <a:defRPr/>
            </a:pPr>
            <a:r>
              <a:rPr lang="zh-CN" altLang="en-US" dirty="0" smtClean="0"/>
              <a:t>一颗有</a:t>
            </a:r>
            <a:r>
              <a:rPr lang="en-US" altLang="zh-CN" dirty="0" smtClean="0"/>
              <a:t>n</a:t>
            </a:r>
            <a:r>
              <a:rPr lang="zh-CN" altLang="en-US" dirty="0" smtClean="0"/>
              <a:t>个顶点的完全（或几乎完全）的二叉树可以用数组</a:t>
            </a:r>
            <a:r>
              <a:rPr lang="en-US" altLang="zh-CN" i="1" dirty="0" smtClean="0"/>
              <a:t>A[1..n]</a:t>
            </a:r>
            <a:r>
              <a:rPr lang="en-US" altLang="zh-CN" dirty="0" smtClean="0"/>
              <a:t> </a:t>
            </a:r>
            <a:r>
              <a:rPr lang="zh-CN" altLang="en-US" dirty="0" smtClean="0"/>
              <a:t>来有效的表示，数组根据下面的简单关系列出二叉树的顶点：</a:t>
            </a:r>
            <a:endParaRPr lang="en-US" altLang="zh-CN" dirty="0" smtClean="0"/>
          </a:p>
          <a:p>
            <a:pPr lvl="1" eaLnBrk="1" hangingPunct="1">
              <a:defRPr/>
            </a:pPr>
            <a:endParaRPr lang="en-US" altLang="zh-CN" sz="2600" dirty="0" smtClean="0"/>
          </a:p>
          <a:p>
            <a:pPr lvl="1" eaLnBrk="1" hangingPunct="1">
              <a:defRPr/>
            </a:pPr>
            <a:r>
              <a:rPr lang="zh-CN" altLang="en-US" dirty="0" smtClean="0">
                <a:latin typeface="+mn-lt"/>
                <a:ea typeface="+mn-ea"/>
              </a:rPr>
              <a:t>如果存储在</a:t>
            </a:r>
            <a:r>
              <a:rPr lang="en-US" altLang="zh-CN" dirty="0" smtClean="0">
                <a:latin typeface="+mn-lt"/>
                <a:ea typeface="+mn-ea"/>
              </a:rPr>
              <a:t>A[j] </a:t>
            </a:r>
            <a:r>
              <a:rPr lang="zh-CN" altLang="en-US" dirty="0" smtClean="0">
                <a:latin typeface="+mn-lt"/>
                <a:ea typeface="+mn-ea"/>
              </a:rPr>
              <a:t>中的顶点有左儿子和右儿子，就把他们分别存储在</a:t>
            </a:r>
            <a:r>
              <a:rPr lang="en-US" altLang="zh-CN" dirty="0" smtClean="0">
                <a:latin typeface="+mn-lt"/>
                <a:ea typeface="+mn-ea"/>
              </a:rPr>
              <a:t>A[2j] </a:t>
            </a:r>
            <a:r>
              <a:rPr lang="zh-CN" altLang="en-US" dirty="0" smtClean="0">
                <a:latin typeface="+mn-lt"/>
                <a:ea typeface="+mn-ea"/>
              </a:rPr>
              <a:t>和</a:t>
            </a:r>
            <a:r>
              <a:rPr lang="en-US" altLang="zh-CN" dirty="0" smtClean="0">
                <a:latin typeface="+mn-lt"/>
                <a:ea typeface="+mn-ea"/>
              </a:rPr>
              <a:t> A[2j+1]</a:t>
            </a:r>
            <a:r>
              <a:rPr lang="zh-CN" altLang="en-US" dirty="0" smtClean="0">
                <a:latin typeface="+mn-lt"/>
                <a:ea typeface="+mn-ea"/>
              </a:rPr>
              <a:t>中。</a:t>
            </a:r>
            <a:endParaRPr lang="en-US" altLang="zh-CN" dirty="0" smtClean="0">
              <a:latin typeface="+mn-lt"/>
              <a:ea typeface="+mn-ea"/>
            </a:endParaRPr>
          </a:p>
          <a:p>
            <a:pPr lvl="1" eaLnBrk="1" hangingPunct="1">
              <a:defRPr/>
            </a:pPr>
            <a:endParaRPr lang="en-US" altLang="zh-CN" dirty="0" smtClean="0">
              <a:latin typeface="+mn-lt"/>
              <a:ea typeface="+mn-ea"/>
            </a:endParaRPr>
          </a:p>
          <a:p>
            <a:pPr lvl="1" eaLnBrk="1" hangingPunct="1">
              <a:defRPr/>
            </a:pPr>
            <a:r>
              <a:rPr lang="zh-CN" altLang="en-US" dirty="0" smtClean="0">
                <a:latin typeface="+mn-lt"/>
                <a:ea typeface="+mn-ea"/>
              </a:rPr>
              <a:t>存储在</a:t>
            </a:r>
            <a:r>
              <a:rPr lang="en-US" altLang="zh-CN" dirty="0" smtClean="0">
                <a:latin typeface="+mn-lt"/>
                <a:ea typeface="+mn-ea"/>
              </a:rPr>
              <a:t>A[j] </a:t>
            </a:r>
            <a:r>
              <a:rPr lang="zh-CN" altLang="en-US" dirty="0" smtClean="0">
                <a:latin typeface="+mn-lt"/>
                <a:ea typeface="+mn-ea"/>
              </a:rPr>
              <a:t>中的顶点的父顶点存储在</a:t>
            </a:r>
            <a:r>
              <a:rPr lang="en-US" altLang="zh-CN" dirty="0" smtClean="0">
                <a:latin typeface="+mn-lt"/>
                <a:ea typeface="+mn-ea"/>
              </a:rPr>
              <a:t>A[</a:t>
            </a:r>
            <a:r>
              <a:rPr lang="en-US" altLang="zh-CN" dirty="0" smtClean="0">
                <a:latin typeface="+mn-lt"/>
                <a:ea typeface="+mn-ea"/>
                <a:sym typeface="Symbol" panose="05050102010706020507" pitchFamily="18" charset="2"/>
              </a:rPr>
              <a:t>j/2</a:t>
            </a:r>
            <a:r>
              <a:rPr lang="en-US" altLang="zh-CN" dirty="0" smtClean="0">
                <a:latin typeface="+mn-lt"/>
                <a:ea typeface="+mn-ea"/>
              </a:rPr>
              <a:t>]</a:t>
            </a:r>
            <a:r>
              <a:rPr lang="zh-CN" altLang="en-US" dirty="0" smtClean="0">
                <a:latin typeface="+mn-lt"/>
                <a:ea typeface="+mn-ea"/>
              </a:rPr>
              <a:t>中。</a:t>
            </a:r>
            <a:endParaRPr lang="en-US" altLang="zh-CN" dirty="0" smtClean="0">
              <a:latin typeface="+mn-lt"/>
              <a:ea typeface="+mn-ea"/>
            </a:endParaRPr>
          </a:p>
        </p:txBody>
      </p:sp>
    </p:spTree>
  </p:cSld>
  <p:clrMapOvr>
    <a:masterClrMapping/>
  </p:clrMapOvr>
  <p:timing>
    <p:tnLst>
      <p:par>
        <p:cTn id="1" dur="indefinite" restart="never" nodeType="tmRoot"/>
      </p:par>
    </p:tnLst>
  </p:timing>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Rectangle 3"/>
          <p:cNvSpPr>
            <a:spLocks noGrp="1" noChangeArrowheads="1"/>
          </p:cNvSpPr>
          <p:nvPr>
            <p:ph type="title"/>
          </p:nvPr>
        </p:nvSpPr>
        <p:spPr>
          <a:xfrm>
            <a:off x="879475" y="1151038"/>
            <a:ext cx="4250605" cy="655215"/>
          </a:xfrm>
        </p:spPr>
        <p:txBody>
          <a:bodyPr/>
          <a:lstStyle/>
          <a:p>
            <a:pPr eaLnBrk="1" hangingPunct="1">
              <a:spcBef>
                <a:spcPct val="20000"/>
              </a:spcBef>
            </a:pPr>
            <a:r>
              <a:rPr lang="zh-CN" altLang="en-US" sz="2800" b="1" dirty="0">
                <a:latin typeface="+mn-lt"/>
                <a:ea typeface="+mn-ea"/>
                <a:cs typeface="+mn-cs"/>
              </a:rPr>
              <a:t>二叉树的顺序存储结构</a:t>
            </a:r>
            <a:r>
              <a:rPr lang="en-US" altLang="zh-CN" sz="2800" b="1" dirty="0">
                <a:latin typeface="+mn-lt"/>
                <a:ea typeface="+mn-ea"/>
                <a:cs typeface="+mn-cs"/>
              </a:rPr>
              <a:t>:</a:t>
            </a:r>
            <a:endParaRPr lang="zh-CN" altLang="en-US" sz="2800" b="1" dirty="0">
              <a:latin typeface="+mn-lt"/>
              <a:ea typeface="+mn-ea"/>
              <a:cs typeface="+mn-cs"/>
            </a:endParaRPr>
          </a:p>
        </p:txBody>
      </p:sp>
      <p:sp>
        <p:nvSpPr>
          <p:cNvPr id="21508" name="Rectangle 2"/>
          <p:cNvSpPr>
            <a:spLocks noGrp="1" noChangeArrowheads="1"/>
          </p:cNvSpPr>
          <p:nvPr>
            <p:ph type="body" sz="half" idx="1"/>
          </p:nvPr>
        </p:nvSpPr>
        <p:spPr>
          <a:xfrm>
            <a:off x="879475" y="1626408"/>
            <a:ext cx="8027988" cy="3242751"/>
          </a:xfrm>
        </p:spPr>
        <p:txBody>
          <a:bodyPr/>
          <a:lstStyle/>
          <a:p>
            <a:pPr>
              <a:lnSpc>
                <a:spcPct val="110000"/>
              </a:lnSpc>
              <a:buClr>
                <a:srgbClr val="0070C0"/>
              </a:buClr>
              <a:buSzPct val="50000"/>
            </a:pPr>
            <a:r>
              <a:rPr lang="zh-CN" altLang="en-US" sz="2200" dirty="0" smtClean="0"/>
              <a:t>二叉树的顺序存储结构用一组连续的存储单元存储二叉树的数据元素。因此，必须把二叉树的所有结点安排成为一个恰当的序列，以使得结点在这个序列中的相互位置能反映出结点之间的逻辑关系，为此使用编号法。即从树根起，自上层至下层，每层自左至右的给所有结点编号。</a:t>
            </a:r>
            <a:endParaRPr lang="zh-CN" altLang="en-US" sz="2200" dirty="0" smtClean="0"/>
          </a:p>
          <a:p>
            <a:pPr>
              <a:lnSpc>
                <a:spcPct val="110000"/>
              </a:lnSpc>
              <a:buClr>
                <a:srgbClr val="800080"/>
              </a:buClr>
              <a:buSzPct val="55000"/>
            </a:pPr>
            <a:r>
              <a:rPr lang="en-US" altLang="zh-CN" sz="2000" dirty="0"/>
              <a:t>#define </a:t>
            </a:r>
            <a:r>
              <a:rPr lang="en-US" altLang="zh-CN" sz="2000" dirty="0" err="1"/>
              <a:t>MAX_TREE_SIZE</a:t>
            </a:r>
            <a:r>
              <a:rPr lang="en-US" altLang="zh-CN" sz="2000" dirty="0"/>
              <a:t> </a:t>
            </a:r>
            <a:r>
              <a:rPr lang="en-US" altLang="zh-CN" sz="2000" dirty="0" smtClean="0"/>
              <a:t>100</a:t>
            </a:r>
            <a:endParaRPr lang="en-US" altLang="zh-CN" sz="2000" dirty="0" smtClean="0"/>
          </a:p>
          <a:p>
            <a:pPr marL="0" indent="0">
              <a:lnSpc>
                <a:spcPct val="110000"/>
              </a:lnSpc>
              <a:buClr>
                <a:srgbClr val="800080"/>
              </a:buClr>
              <a:buSzPct val="55000"/>
              <a:buNone/>
            </a:pPr>
            <a:r>
              <a:rPr lang="en-US" altLang="zh-CN" sz="2000" dirty="0"/>
              <a:t> </a:t>
            </a:r>
            <a:r>
              <a:rPr lang="en-US" altLang="zh-CN" sz="2000" dirty="0" smtClean="0"/>
              <a:t>    </a:t>
            </a:r>
            <a:r>
              <a:rPr lang="en-US" altLang="zh-CN" sz="2000" dirty="0" err="1" smtClean="0"/>
              <a:t>typedef</a:t>
            </a:r>
            <a:r>
              <a:rPr lang="en-US" altLang="zh-CN" sz="2000" dirty="0" smtClean="0"/>
              <a:t> </a:t>
            </a:r>
            <a:r>
              <a:rPr lang="en-US" altLang="zh-CN" sz="2000" dirty="0" err="1"/>
              <a:t>TElemType</a:t>
            </a:r>
            <a:r>
              <a:rPr lang="en-US" altLang="zh-CN" sz="2000" dirty="0"/>
              <a:t> </a:t>
            </a:r>
            <a:r>
              <a:rPr lang="en-US" altLang="zh-CN" sz="2000" dirty="0" err="1"/>
              <a:t>SqBiTree</a:t>
            </a:r>
            <a:r>
              <a:rPr lang="en-US" altLang="zh-CN" sz="2000" dirty="0"/>
              <a:t>[</a:t>
            </a:r>
            <a:r>
              <a:rPr lang="en-US" altLang="zh-CN" sz="2000" dirty="0" err="1"/>
              <a:t>MAX_TREE_SIZE</a:t>
            </a:r>
            <a:r>
              <a:rPr lang="en-US" altLang="zh-CN" sz="2000" dirty="0" smtClean="0"/>
              <a:t>];</a:t>
            </a:r>
            <a:endParaRPr lang="en-US" altLang="zh-CN" sz="2000" dirty="0" smtClean="0"/>
          </a:p>
          <a:p>
            <a:pPr marL="0" indent="0">
              <a:lnSpc>
                <a:spcPct val="110000"/>
              </a:lnSpc>
              <a:buClr>
                <a:srgbClr val="800080"/>
              </a:buClr>
              <a:buSzPct val="55000"/>
              <a:buNone/>
            </a:pPr>
            <a:r>
              <a:rPr lang="en-US" altLang="zh-CN" sz="2000" dirty="0" smtClean="0"/>
              <a:t>     </a:t>
            </a:r>
            <a:r>
              <a:rPr lang="en-US" altLang="zh-CN" sz="2000" dirty="0" err="1" smtClean="0"/>
              <a:t>SqBiTree</a:t>
            </a:r>
            <a:r>
              <a:rPr lang="en-US" altLang="zh-CN" sz="2000" dirty="0" smtClean="0"/>
              <a:t> </a:t>
            </a:r>
            <a:r>
              <a:rPr lang="en-US" altLang="zh-CN" sz="2000" dirty="0" err="1"/>
              <a:t>bt</a:t>
            </a:r>
            <a:r>
              <a:rPr lang="en-US" altLang="zh-CN" sz="2000" dirty="0" smtClean="0"/>
              <a:t>;</a:t>
            </a:r>
            <a:endParaRPr lang="en-US" altLang="zh-CN" sz="2000" dirty="0"/>
          </a:p>
        </p:txBody>
      </p:sp>
      <p:graphicFrame>
        <p:nvGraphicFramePr>
          <p:cNvPr id="12295" name="Object 2"/>
          <p:cNvGraphicFramePr>
            <a:graphicFrameLocks noGrp="1" noChangeAspect="1"/>
          </p:cNvGraphicFramePr>
          <p:nvPr>
            <p:ph sz="quarter" idx="2"/>
          </p:nvPr>
        </p:nvGraphicFramePr>
        <p:xfrm>
          <a:off x="863104" y="4786965"/>
          <a:ext cx="3168352" cy="1942885"/>
        </p:xfrm>
        <a:graphic>
          <a:graphicData uri="http://schemas.openxmlformats.org/presentationml/2006/ole">
            <mc:AlternateContent xmlns:mc="http://schemas.openxmlformats.org/markup-compatibility/2006">
              <mc:Choice xmlns:v="urn:schemas-microsoft-com:vml" Requires="v">
                <p:oleObj spid="_x0000_s43018" name="位图图像" r:id="rId1" imgW="2486025" imgH="1524000" progId="PBrush">
                  <p:embed/>
                </p:oleObj>
              </mc:Choice>
              <mc:Fallback>
                <p:oleObj name="位图图像" r:id="rId1" imgW="2486025" imgH="1524000" progId="PBrush">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3104" y="4786965"/>
                        <a:ext cx="3168352" cy="1942885"/>
                      </a:xfrm>
                      <a:prstGeom prst="rect">
                        <a:avLst/>
                      </a:prstGeom>
                      <a:noFill/>
                      <a:ln>
                        <a:noFill/>
                      </a:ln>
                      <a:effectLst/>
                    </p:spPr>
                  </p:pic>
                </p:oleObj>
              </mc:Fallback>
            </mc:AlternateContent>
          </a:graphicData>
        </a:graphic>
      </p:graphicFrame>
      <p:graphicFrame>
        <p:nvGraphicFramePr>
          <p:cNvPr id="12336" name="Group 48"/>
          <p:cNvGraphicFramePr>
            <a:graphicFrameLocks noGrp="1"/>
          </p:cNvGraphicFramePr>
          <p:nvPr>
            <p:ph sz="quarter" idx="3"/>
          </p:nvPr>
        </p:nvGraphicFramePr>
        <p:xfrm>
          <a:off x="4479752" y="5301208"/>
          <a:ext cx="4038600" cy="457200"/>
        </p:xfrm>
        <a:graphic>
          <a:graphicData uri="http://schemas.openxmlformats.org/drawingml/2006/table">
            <a:tbl>
              <a:tblPr/>
              <a:tblGrid>
                <a:gridCol w="269875"/>
                <a:gridCol w="268287"/>
                <a:gridCol w="269875"/>
                <a:gridCol w="268288"/>
                <a:gridCol w="269875"/>
                <a:gridCol w="269875"/>
                <a:gridCol w="268287"/>
                <a:gridCol w="269875"/>
                <a:gridCol w="268288"/>
                <a:gridCol w="269875"/>
                <a:gridCol w="269875"/>
                <a:gridCol w="268287"/>
                <a:gridCol w="269875"/>
                <a:gridCol w="268288"/>
                <a:gridCol w="269875"/>
              </a:tblGrid>
              <a:tr h="234950">
                <a:tc>
                  <a:txBody>
                    <a:bodyPr/>
                    <a:lstStyle>
                      <a:lvl1pPr eaLnBrk="0" hangingPunct="0">
                        <a:spcBef>
                          <a:spcPct val="20000"/>
                        </a:spcBef>
                        <a:defRPr sz="2100">
                          <a:solidFill>
                            <a:schemeClr val="accent2"/>
                          </a:solidFill>
                          <a:latin typeface="Times New Roman" panose="02020503050405090304" pitchFamily="18" charset="0"/>
                          <a:ea typeface="华文楷体" panose="02010600040101010101" pitchFamily="2" charset="-122"/>
                        </a:defRPr>
                      </a:lvl1pPr>
                      <a:lvl2pPr marL="742950" indent="-285750" eaLnBrk="0" hangingPunct="0">
                        <a:spcBef>
                          <a:spcPct val="20000"/>
                        </a:spcBef>
                        <a:defRPr sz="2000">
                          <a:solidFill>
                            <a:schemeClr val="accent2"/>
                          </a:solidFill>
                          <a:latin typeface="Arial" panose="020B0604020202090204" pitchFamily="34" charset="0"/>
                          <a:ea typeface="华文行楷" pitchFamily="2" charset="-122"/>
                        </a:defRPr>
                      </a:lvl2pPr>
                      <a:lvl3pPr marL="1143000" indent="-228600" eaLnBrk="0" hangingPunct="0">
                        <a:spcBef>
                          <a:spcPct val="20000"/>
                        </a:spcBef>
                        <a:defRPr>
                          <a:solidFill>
                            <a:schemeClr val="accent2"/>
                          </a:solidFill>
                          <a:latin typeface="Arial" panose="020B0604020202090204" pitchFamily="34" charset="0"/>
                          <a:ea typeface="宋体" pitchFamily="2" charset="-122"/>
                        </a:defRPr>
                      </a:lvl3pPr>
                      <a:lvl4pPr marL="1600200" indent="-228600" eaLnBrk="0" hangingPunct="0">
                        <a:spcBef>
                          <a:spcPct val="20000"/>
                        </a:spcBef>
                        <a:defRPr>
                          <a:solidFill>
                            <a:schemeClr val="tx1"/>
                          </a:solidFill>
                          <a:latin typeface="Arial" panose="020B0604020202090204" pitchFamily="34" charset="0"/>
                          <a:ea typeface="宋体" pitchFamily="2" charset="-122"/>
                        </a:defRPr>
                      </a:lvl4pPr>
                      <a:lvl5pPr marL="2057400" indent="-228600" eaLnBrk="0" hangingPunct="0">
                        <a:spcBef>
                          <a:spcPct val="20000"/>
                        </a:spcBef>
                        <a:defRPr>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pPr>
                      <a:r>
                        <a:rPr kumimoji="0" lang="en-US" altLang="zh-CN" sz="2400" b="0" i="0" u="none" strike="noStrike" cap="none" normalizeH="0" baseline="0" dirty="0" smtClean="0">
                          <a:ln>
                            <a:noFill/>
                          </a:ln>
                          <a:solidFill>
                            <a:schemeClr val="tx1"/>
                          </a:solidFill>
                          <a:effectLst/>
                          <a:latin typeface="Arial" panose="020B0604020202090204" pitchFamily="34" charset="0"/>
                          <a:ea typeface="宋体" pitchFamily="2" charset="-122"/>
                        </a:rPr>
                        <a:t>1</a:t>
                      </a:r>
                      <a:endParaRPr kumimoji="0" lang="en-US" altLang="zh-CN" sz="2400" b="0" i="0" u="none" strike="noStrike" cap="none" normalizeH="0" baseline="0" dirty="0" smtClean="0">
                        <a:ln>
                          <a:noFill/>
                        </a:ln>
                        <a:solidFill>
                          <a:schemeClr val="tx1"/>
                        </a:solidFill>
                        <a:effectLst/>
                        <a:latin typeface="Arial" panose="020B0604020202090204" pitchFamily="34" charset="0"/>
                        <a:ea typeface="宋体" pitchFamily="2" charset="-122"/>
                      </a:endParaRP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lvl1pPr eaLnBrk="0" hangingPunct="0">
                        <a:spcBef>
                          <a:spcPct val="20000"/>
                        </a:spcBef>
                        <a:defRPr sz="2100">
                          <a:solidFill>
                            <a:schemeClr val="accent2"/>
                          </a:solidFill>
                          <a:latin typeface="Times New Roman" panose="02020503050405090304" pitchFamily="18" charset="0"/>
                          <a:ea typeface="华文楷体" panose="02010600040101010101" pitchFamily="2" charset="-122"/>
                        </a:defRPr>
                      </a:lvl1pPr>
                      <a:lvl2pPr marL="742950" indent="-285750" eaLnBrk="0" hangingPunct="0">
                        <a:spcBef>
                          <a:spcPct val="20000"/>
                        </a:spcBef>
                        <a:defRPr sz="2000">
                          <a:solidFill>
                            <a:schemeClr val="accent2"/>
                          </a:solidFill>
                          <a:latin typeface="Arial" panose="020B0604020202090204" pitchFamily="34" charset="0"/>
                          <a:ea typeface="华文行楷" pitchFamily="2" charset="-122"/>
                        </a:defRPr>
                      </a:lvl2pPr>
                      <a:lvl3pPr marL="1143000" indent="-228600" eaLnBrk="0" hangingPunct="0">
                        <a:spcBef>
                          <a:spcPct val="20000"/>
                        </a:spcBef>
                        <a:defRPr>
                          <a:solidFill>
                            <a:schemeClr val="accent2"/>
                          </a:solidFill>
                          <a:latin typeface="Arial" panose="020B0604020202090204" pitchFamily="34" charset="0"/>
                          <a:ea typeface="宋体" pitchFamily="2" charset="-122"/>
                        </a:defRPr>
                      </a:lvl3pPr>
                      <a:lvl4pPr marL="1600200" indent="-228600" eaLnBrk="0" hangingPunct="0">
                        <a:spcBef>
                          <a:spcPct val="20000"/>
                        </a:spcBef>
                        <a:defRPr>
                          <a:solidFill>
                            <a:schemeClr val="tx1"/>
                          </a:solidFill>
                          <a:latin typeface="Arial" panose="020B0604020202090204" pitchFamily="34" charset="0"/>
                          <a:ea typeface="宋体" pitchFamily="2" charset="-122"/>
                        </a:defRPr>
                      </a:lvl4pPr>
                      <a:lvl5pPr marL="2057400" indent="-228600" eaLnBrk="0" hangingPunct="0">
                        <a:spcBef>
                          <a:spcPct val="20000"/>
                        </a:spcBef>
                        <a:defRPr>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pPr>
                      <a:r>
                        <a:rPr kumimoji="0" lang="en-US" altLang="zh-CN" sz="2400" b="0" i="0" u="none" strike="noStrike" cap="none" normalizeH="0" baseline="0" smtClean="0">
                          <a:ln>
                            <a:noFill/>
                          </a:ln>
                          <a:solidFill>
                            <a:schemeClr val="tx1"/>
                          </a:solidFill>
                          <a:effectLst/>
                          <a:latin typeface="Arial" panose="020B0604020202090204" pitchFamily="34" charset="0"/>
                          <a:ea typeface="宋体" pitchFamily="2" charset="-122"/>
                        </a:rPr>
                        <a:t>2</a:t>
                      </a:r>
                      <a:endParaRPr kumimoji="0" lang="en-US" altLang="zh-CN" sz="2400" b="0" i="0" u="none" strike="noStrike" cap="none" normalizeH="0" baseline="0" smtClean="0">
                        <a:ln>
                          <a:noFill/>
                        </a:ln>
                        <a:solidFill>
                          <a:schemeClr val="tx1"/>
                        </a:solidFill>
                        <a:effectLst/>
                        <a:latin typeface="Arial" panose="020B0604020202090204" pitchFamily="34" charset="0"/>
                        <a:ea typeface="宋体" pitchFamily="2" charset="-122"/>
                      </a:endParaRP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lvl1pPr eaLnBrk="0" hangingPunct="0">
                        <a:spcBef>
                          <a:spcPct val="20000"/>
                        </a:spcBef>
                        <a:defRPr sz="2100">
                          <a:solidFill>
                            <a:schemeClr val="accent2"/>
                          </a:solidFill>
                          <a:latin typeface="Times New Roman" panose="02020503050405090304" pitchFamily="18" charset="0"/>
                          <a:ea typeface="华文楷体" panose="02010600040101010101" pitchFamily="2" charset="-122"/>
                        </a:defRPr>
                      </a:lvl1pPr>
                      <a:lvl2pPr marL="742950" indent="-285750" eaLnBrk="0" hangingPunct="0">
                        <a:spcBef>
                          <a:spcPct val="20000"/>
                        </a:spcBef>
                        <a:defRPr sz="2000">
                          <a:solidFill>
                            <a:schemeClr val="accent2"/>
                          </a:solidFill>
                          <a:latin typeface="Arial" panose="020B0604020202090204" pitchFamily="34" charset="0"/>
                          <a:ea typeface="华文行楷" pitchFamily="2" charset="-122"/>
                        </a:defRPr>
                      </a:lvl2pPr>
                      <a:lvl3pPr marL="1143000" indent="-228600" eaLnBrk="0" hangingPunct="0">
                        <a:spcBef>
                          <a:spcPct val="20000"/>
                        </a:spcBef>
                        <a:defRPr>
                          <a:solidFill>
                            <a:schemeClr val="accent2"/>
                          </a:solidFill>
                          <a:latin typeface="Arial" panose="020B0604020202090204" pitchFamily="34" charset="0"/>
                          <a:ea typeface="宋体" pitchFamily="2" charset="-122"/>
                        </a:defRPr>
                      </a:lvl3pPr>
                      <a:lvl4pPr marL="1600200" indent="-228600" eaLnBrk="0" hangingPunct="0">
                        <a:spcBef>
                          <a:spcPct val="20000"/>
                        </a:spcBef>
                        <a:defRPr>
                          <a:solidFill>
                            <a:schemeClr val="tx1"/>
                          </a:solidFill>
                          <a:latin typeface="Arial" panose="020B0604020202090204" pitchFamily="34" charset="0"/>
                          <a:ea typeface="宋体" pitchFamily="2" charset="-122"/>
                        </a:defRPr>
                      </a:lvl4pPr>
                      <a:lvl5pPr marL="2057400" indent="-228600" eaLnBrk="0" hangingPunct="0">
                        <a:spcBef>
                          <a:spcPct val="20000"/>
                        </a:spcBef>
                        <a:defRPr>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pPr>
                      <a:r>
                        <a:rPr kumimoji="0" lang="en-US" altLang="zh-CN" sz="2400" b="0" i="0" u="none" strike="noStrike" cap="none" normalizeH="0" baseline="0" smtClean="0">
                          <a:ln>
                            <a:noFill/>
                          </a:ln>
                          <a:solidFill>
                            <a:schemeClr val="tx1"/>
                          </a:solidFill>
                          <a:effectLst/>
                          <a:latin typeface="Arial" panose="020B0604020202090204" pitchFamily="34" charset="0"/>
                          <a:ea typeface="宋体" pitchFamily="2" charset="-122"/>
                        </a:rPr>
                        <a:t>3</a:t>
                      </a:r>
                      <a:endParaRPr kumimoji="0" lang="en-US" altLang="zh-CN" sz="2400" b="0" i="0" u="none" strike="noStrike" cap="none" normalizeH="0" baseline="0" smtClean="0">
                        <a:ln>
                          <a:noFill/>
                        </a:ln>
                        <a:solidFill>
                          <a:schemeClr val="tx1"/>
                        </a:solidFill>
                        <a:effectLst/>
                        <a:latin typeface="Arial" panose="020B0604020202090204" pitchFamily="34" charset="0"/>
                        <a:ea typeface="宋体" pitchFamily="2" charset="-122"/>
                      </a:endParaRP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lvl1pPr eaLnBrk="0" hangingPunct="0">
                        <a:spcBef>
                          <a:spcPct val="20000"/>
                        </a:spcBef>
                        <a:defRPr sz="2100">
                          <a:solidFill>
                            <a:schemeClr val="accent2"/>
                          </a:solidFill>
                          <a:latin typeface="Times New Roman" panose="02020503050405090304" pitchFamily="18" charset="0"/>
                          <a:ea typeface="华文楷体" panose="02010600040101010101" pitchFamily="2" charset="-122"/>
                        </a:defRPr>
                      </a:lvl1pPr>
                      <a:lvl2pPr marL="742950" indent="-285750" eaLnBrk="0" hangingPunct="0">
                        <a:spcBef>
                          <a:spcPct val="20000"/>
                        </a:spcBef>
                        <a:defRPr sz="2000">
                          <a:solidFill>
                            <a:schemeClr val="accent2"/>
                          </a:solidFill>
                          <a:latin typeface="Arial" panose="020B0604020202090204" pitchFamily="34" charset="0"/>
                          <a:ea typeface="华文行楷" pitchFamily="2" charset="-122"/>
                        </a:defRPr>
                      </a:lvl2pPr>
                      <a:lvl3pPr marL="1143000" indent="-228600" eaLnBrk="0" hangingPunct="0">
                        <a:spcBef>
                          <a:spcPct val="20000"/>
                        </a:spcBef>
                        <a:defRPr>
                          <a:solidFill>
                            <a:schemeClr val="accent2"/>
                          </a:solidFill>
                          <a:latin typeface="Arial" panose="020B0604020202090204" pitchFamily="34" charset="0"/>
                          <a:ea typeface="宋体" pitchFamily="2" charset="-122"/>
                        </a:defRPr>
                      </a:lvl3pPr>
                      <a:lvl4pPr marL="1600200" indent="-228600" eaLnBrk="0" hangingPunct="0">
                        <a:spcBef>
                          <a:spcPct val="20000"/>
                        </a:spcBef>
                        <a:defRPr>
                          <a:solidFill>
                            <a:schemeClr val="tx1"/>
                          </a:solidFill>
                          <a:latin typeface="Arial" panose="020B0604020202090204" pitchFamily="34" charset="0"/>
                          <a:ea typeface="宋体" pitchFamily="2" charset="-122"/>
                        </a:defRPr>
                      </a:lvl4pPr>
                      <a:lvl5pPr marL="2057400" indent="-228600" eaLnBrk="0" hangingPunct="0">
                        <a:spcBef>
                          <a:spcPct val="20000"/>
                        </a:spcBef>
                        <a:defRPr>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pPr>
                      <a:r>
                        <a:rPr kumimoji="0" lang="en-US" altLang="zh-CN" sz="2400" b="0" i="0" u="none" strike="noStrike" cap="none" normalizeH="0" baseline="0" smtClean="0">
                          <a:ln>
                            <a:noFill/>
                          </a:ln>
                          <a:solidFill>
                            <a:schemeClr val="tx1"/>
                          </a:solidFill>
                          <a:effectLst/>
                          <a:latin typeface="Arial" panose="020B0604020202090204" pitchFamily="34" charset="0"/>
                          <a:ea typeface="宋体" pitchFamily="2" charset="-122"/>
                        </a:rPr>
                        <a:t>4</a:t>
                      </a:r>
                      <a:endParaRPr kumimoji="0" lang="en-US" altLang="zh-CN" sz="2400" b="0" i="0" u="none" strike="noStrike" cap="none" normalizeH="0" baseline="0" smtClean="0">
                        <a:ln>
                          <a:noFill/>
                        </a:ln>
                        <a:solidFill>
                          <a:schemeClr val="tx1"/>
                        </a:solidFill>
                        <a:effectLst/>
                        <a:latin typeface="Arial" panose="020B0604020202090204" pitchFamily="34" charset="0"/>
                        <a:ea typeface="宋体" pitchFamily="2" charset="-122"/>
                      </a:endParaRP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lvl1pPr eaLnBrk="0" hangingPunct="0">
                        <a:spcBef>
                          <a:spcPct val="20000"/>
                        </a:spcBef>
                        <a:defRPr sz="2100">
                          <a:solidFill>
                            <a:schemeClr val="accent2"/>
                          </a:solidFill>
                          <a:latin typeface="Times New Roman" panose="02020503050405090304" pitchFamily="18" charset="0"/>
                          <a:ea typeface="华文楷体" panose="02010600040101010101" pitchFamily="2" charset="-122"/>
                        </a:defRPr>
                      </a:lvl1pPr>
                      <a:lvl2pPr marL="742950" indent="-285750" eaLnBrk="0" hangingPunct="0">
                        <a:spcBef>
                          <a:spcPct val="20000"/>
                        </a:spcBef>
                        <a:defRPr sz="2000">
                          <a:solidFill>
                            <a:schemeClr val="accent2"/>
                          </a:solidFill>
                          <a:latin typeface="Arial" panose="020B0604020202090204" pitchFamily="34" charset="0"/>
                          <a:ea typeface="华文行楷" pitchFamily="2" charset="-122"/>
                        </a:defRPr>
                      </a:lvl2pPr>
                      <a:lvl3pPr marL="1143000" indent="-228600" eaLnBrk="0" hangingPunct="0">
                        <a:spcBef>
                          <a:spcPct val="20000"/>
                        </a:spcBef>
                        <a:defRPr>
                          <a:solidFill>
                            <a:schemeClr val="accent2"/>
                          </a:solidFill>
                          <a:latin typeface="Arial" panose="020B0604020202090204" pitchFamily="34" charset="0"/>
                          <a:ea typeface="宋体" pitchFamily="2" charset="-122"/>
                        </a:defRPr>
                      </a:lvl3pPr>
                      <a:lvl4pPr marL="1600200" indent="-228600" eaLnBrk="0" hangingPunct="0">
                        <a:spcBef>
                          <a:spcPct val="20000"/>
                        </a:spcBef>
                        <a:defRPr>
                          <a:solidFill>
                            <a:schemeClr val="tx1"/>
                          </a:solidFill>
                          <a:latin typeface="Arial" panose="020B0604020202090204" pitchFamily="34" charset="0"/>
                          <a:ea typeface="宋体" pitchFamily="2" charset="-122"/>
                        </a:defRPr>
                      </a:lvl4pPr>
                      <a:lvl5pPr marL="2057400" indent="-228600" eaLnBrk="0" hangingPunct="0">
                        <a:spcBef>
                          <a:spcPct val="20000"/>
                        </a:spcBef>
                        <a:defRPr>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pPr>
                      <a:r>
                        <a:rPr kumimoji="0" lang="en-US" altLang="zh-CN" sz="2400" b="0" i="0" u="none" strike="noStrike" cap="none" normalizeH="0" baseline="0" smtClean="0">
                          <a:ln>
                            <a:noFill/>
                          </a:ln>
                          <a:solidFill>
                            <a:schemeClr val="tx1"/>
                          </a:solidFill>
                          <a:effectLst/>
                          <a:latin typeface="Arial" panose="020B0604020202090204" pitchFamily="34" charset="0"/>
                          <a:ea typeface="宋体" pitchFamily="2" charset="-122"/>
                        </a:rPr>
                        <a:t>5</a:t>
                      </a:r>
                      <a:endParaRPr kumimoji="0" lang="en-US" altLang="zh-CN" sz="2400" b="0" i="0" u="none" strike="noStrike" cap="none" normalizeH="0" baseline="0" smtClean="0">
                        <a:ln>
                          <a:noFill/>
                        </a:ln>
                        <a:solidFill>
                          <a:schemeClr val="tx1"/>
                        </a:solidFill>
                        <a:effectLst/>
                        <a:latin typeface="Arial" panose="020B0604020202090204" pitchFamily="34" charset="0"/>
                        <a:ea typeface="宋体" pitchFamily="2" charset="-122"/>
                      </a:endParaRP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lvl1pPr eaLnBrk="0" hangingPunct="0">
                        <a:spcBef>
                          <a:spcPct val="20000"/>
                        </a:spcBef>
                        <a:defRPr sz="2100">
                          <a:solidFill>
                            <a:schemeClr val="accent2"/>
                          </a:solidFill>
                          <a:latin typeface="Times New Roman" panose="02020503050405090304" pitchFamily="18" charset="0"/>
                          <a:ea typeface="华文楷体" panose="02010600040101010101" pitchFamily="2" charset="-122"/>
                        </a:defRPr>
                      </a:lvl1pPr>
                      <a:lvl2pPr marL="742950" indent="-285750" eaLnBrk="0" hangingPunct="0">
                        <a:spcBef>
                          <a:spcPct val="20000"/>
                        </a:spcBef>
                        <a:defRPr sz="2000">
                          <a:solidFill>
                            <a:schemeClr val="accent2"/>
                          </a:solidFill>
                          <a:latin typeface="Arial" panose="020B0604020202090204" pitchFamily="34" charset="0"/>
                          <a:ea typeface="华文行楷" pitchFamily="2" charset="-122"/>
                        </a:defRPr>
                      </a:lvl2pPr>
                      <a:lvl3pPr marL="1143000" indent="-228600" eaLnBrk="0" hangingPunct="0">
                        <a:spcBef>
                          <a:spcPct val="20000"/>
                        </a:spcBef>
                        <a:defRPr>
                          <a:solidFill>
                            <a:schemeClr val="accent2"/>
                          </a:solidFill>
                          <a:latin typeface="Arial" panose="020B0604020202090204" pitchFamily="34" charset="0"/>
                          <a:ea typeface="宋体" pitchFamily="2" charset="-122"/>
                        </a:defRPr>
                      </a:lvl3pPr>
                      <a:lvl4pPr marL="1600200" indent="-228600" eaLnBrk="0" hangingPunct="0">
                        <a:spcBef>
                          <a:spcPct val="20000"/>
                        </a:spcBef>
                        <a:defRPr>
                          <a:solidFill>
                            <a:schemeClr val="tx1"/>
                          </a:solidFill>
                          <a:latin typeface="Arial" panose="020B0604020202090204" pitchFamily="34" charset="0"/>
                          <a:ea typeface="宋体" pitchFamily="2" charset="-122"/>
                        </a:defRPr>
                      </a:lvl4pPr>
                      <a:lvl5pPr marL="2057400" indent="-228600" eaLnBrk="0" hangingPunct="0">
                        <a:spcBef>
                          <a:spcPct val="20000"/>
                        </a:spcBef>
                        <a:defRPr>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pPr>
                      <a:r>
                        <a:rPr kumimoji="0" lang="en-US" altLang="zh-CN" sz="2400" b="0" i="0" u="none" strike="noStrike" cap="none" normalizeH="0" baseline="0" smtClean="0">
                          <a:ln>
                            <a:noFill/>
                          </a:ln>
                          <a:solidFill>
                            <a:schemeClr val="tx1"/>
                          </a:solidFill>
                          <a:effectLst/>
                          <a:latin typeface="Arial" panose="020B0604020202090204" pitchFamily="34" charset="0"/>
                          <a:ea typeface="宋体" pitchFamily="2" charset="-122"/>
                        </a:rPr>
                        <a:t>0</a:t>
                      </a:r>
                      <a:endParaRPr kumimoji="0" lang="en-US" altLang="zh-CN" sz="2400" b="0" i="0" u="none" strike="noStrike" cap="none" normalizeH="0" baseline="0" smtClean="0">
                        <a:ln>
                          <a:noFill/>
                        </a:ln>
                        <a:solidFill>
                          <a:schemeClr val="tx1"/>
                        </a:solidFill>
                        <a:effectLst/>
                        <a:latin typeface="Arial" panose="020B0604020202090204" pitchFamily="34" charset="0"/>
                        <a:ea typeface="宋体" pitchFamily="2" charset="-122"/>
                      </a:endParaRP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lvl1pPr eaLnBrk="0" hangingPunct="0">
                        <a:spcBef>
                          <a:spcPct val="20000"/>
                        </a:spcBef>
                        <a:defRPr sz="2100">
                          <a:solidFill>
                            <a:schemeClr val="accent2"/>
                          </a:solidFill>
                          <a:latin typeface="Times New Roman" panose="02020503050405090304" pitchFamily="18" charset="0"/>
                          <a:ea typeface="华文楷体" panose="02010600040101010101" pitchFamily="2" charset="-122"/>
                        </a:defRPr>
                      </a:lvl1pPr>
                      <a:lvl2pPr marL="742950" indent="-285750" eaLnBrk="0" hangingPunct="0">
                        <a:spcBef>
                          <a:spcPct val="20000"/>
                        </a:spcBef>
                        <a:defRPr sz="2000">
                          <a:solidFill>
                            <a:schemeClr val="accent2"/>
                          </a:solidFill>
                          <a:latin typeface="Arial" panose="020B0604020202090204" pitchFamily="34" charset="0"/>
                          <a:ea typeface="华文行楷" pitchFamily="2" charset="-122"/>
                        </a:defRPr>
                      </a:lvl2pPr>
                      <a:lvl3pPr marL="1143000" indent="-228600" eaLnBrk="0" hangingPunct="0">
                        <a:spcBef>
                          <a:spcPct val="20000"/>
                        </a:spcBef>
                        <a:defRPr>
                          <a:solidFill>
                            <a:schemeClr val="accent2"/>
                          </a:solidFill>
                          <a:latin typeface="Arial" panose="020B0604020202090204" pitchFamily="34" charset="0"/>
                          <a:ea typeface="宋体" pitchFamily="2" charset="-122"/>
                        </a:defRPr>
                      </a:lvl3pPr>
                      <a:lvl4pPr marL="1600200" indent="-228600" eaLnBrk="0" hangingPunct="0">
                        <a:spcBef>
                          <a:spcPct val="20000"/>
                        </a:spcBef>
                        <a:defRPr>
                          <a:solidFill>
                            <a:schemeClr val="tx1"/>
                          </a:solidFill>
                          <a:latin typeface="Arial" panose="020B0604020202090204" pitchFamily="34" charset="0"/>
                          <a:ea typeface="宋体" pitchFamily="2" charset="-122"/>
                        </a:defRPr>
                      </a:lvl4pPr>
                      <a:lvl5pPr marL="2057400" indent="-228600" eaLnBrk="0" hangingPunct="0">
                        <a:spcBef>
                          <a:spcPct val="20000"/>
                        </a:spcBef>
                        <a:defRPr>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pPr>
                      <a:r>
                        <a:rPr kumimoji="0" lang="en-US" altLang="zh-CN" sz="2400" b="0" i="0" u="none" strike="noStrike" cap="none" normalizeH="0" baseline="0" smtClean="0">
                          <a:ln>
                            <a:noFill/>
                          </a:ln>
                          <a:solidFill>
                            <a:schemeClr val="tx1"/>
                          </a:solidFill>
                          <a:effectLst/>
                          <a:latin typeface="Arial" panose="020B0604020202090204" pitchFamily="34" charset="0"/>
                          <a:ea typeface="宋体" pitchFamily="2" charset="-122"/>
                        </a:rPr>
                        <a:t>0</a:t>
                      </a:r>
                      <a:endParaRPr kumimoji="0" lang="en-US" altLang="zh-CN" sz="2400" b="0" i="0" u="none" strike="noStrike" cap="none" normalizeH="0" baseline="0" smtClean="0">
                        <a:ln>
                          <a:noFill/>
                        </a:ln>
                        <a:solidFill>
                          <a:schemeClr val="tx1"/>
                        </a:solidFill>
                        <a:effectLst/>
                        <a:latin typeface="Arial" panose="020B0604020202090204" pitchFamily="34" charset="0"/>
                        <a:ea typeface="宋体" pitchFamily="2" charset="-122"/>
                      </a:endParaRP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lvl1pPr eaLnBrk="0" hangingPunct="0">
                        <a:spcBef>
                          <a:spcPct val="20000"/>
                        </a:spcBef>
                        <a:defRPr sz="2100">
                          <a:solidFill>
                            <a:schemeClr val="accent2"/>
                          </a:solidFill>
                          <a:latin typeface="Times New Roman" panose="02020503050405090304" pitchFamily="18" charset="0"/>
                          <a:ea typeface="华文楷体" panose="02010600040101010101" pitchFamily="2" charset="-122"/>
                        </a:defRPr>
                      </a:lvl1pPr>
                      <a:lvl2pPr marL="742950" indent="-285750" eaLnBrk="0" hangingPunct="0">
                        <a:spcBef>
                          <a:spcPct val="20000"/>
                        </a:spcBef>
                        <a:defRPr sz="2000">
                          <a:solidFill>
                            <a:schemeClr val="accent2"/>
                          </a:solidFill>
                          <a:latin typeface="Arial" panose="020B0604020202090204" pitchFamily="34" charset="0"/>
                          <a:ea typeface="华文行楷" pitchFamily="2" charset="-122"/>
                        </a:defRPr>
                      </a:lvl2pPr>
                      <a:lvl3pPr marL="1143000" indent="-228600" eaLnBrk="0" hangingPunct="0">
                        <a:spcBef>
                          <a:spcPct val="20000"/>
                        </a:spcBef>
                        <a:defRPr>
                          <a:solidFill>
                            <a:schemeClr val="accent2"/>
                          </a:solidFill>
                          <a:latin typeface="Arial" panose="020B0604020202090204" pitchFamily="34" charset="0"/>
                          <a:ea typeface="宋体" pitchFamily="2" charset="-122"/>
                        </a:defRPr>
                      </a:lvl3pPr>
                      <a:lvl4pPr marL="1600200" indent="-228600" eaLnBrk="0" hangingPunct="0">
                        <a:spcBef>
                          <a:spcPct val="20000"/>
                        </a:spcBef>
                        <a:defRPr>
                          <a:solidFill>
                            <a:schemeClr val="tx1"/>
                          </a:solidFill>
                          <a:latin typeface="Arial" panose="020B0604020202090204" pitchFamily="34" charset="0"/>
                          <a:ea typeface="宋体" pitchFamily="2" charset="-122"/>
                        </a:defRPr>
                      </a:lvl4pPr>
                      <a:lvl5pPr marL="2057400" indent="-228600" eaLnBrk="0" hangingPunct="0">
                        <a:spcBef>
                          <a:spcPct val="20000"/>
                        </a:spcBef>
                        <a:defRPr>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pPr>
                      <a:r>
                        <a:rPr kumimoji="0" lang="en-US" altLang="zh-CN" sz="2400" b="0" i="0" u="none" strike="noStrike" cap="none" normalizeH="0" baseline="0" smtClean="0">
                          <a:ln>
                            <a:noFill/>
                          </a:ln>
                          <a:solidFill>
                            <a:schemeClr val="tx1"/>
                          </a:solidFill>
                          <a:effectLst/>
                          <a:latin typeface="Arial" panose="020B0604020202090204" pitchFamily="34" charset="0"/>
                          <a:ea typeface="宋体" pitchFamily="2" charset="-122"/>
                        </a:rPr>
                        <a:t>0</a:t>
                      </a:r>
                      <a:endParaRPr kumimoji="0" lang="en-US" altLang="zh-CN" sz="2400" b="0" i="0" u="none" strike="noStrike" cap="none" normalizeH="0" baseline="0" smtClean="0">
                        <a:ln>
                          <a:noFill/>
                        </a:ln>
                        <a:solidFill>
                          <a:schemeClr val="tx1"/>
                        </a:solidFill>
                        <a:effectLst/>
                        <a:latin typeface="Arial" panose="020B0604020202090204" pitchFamily="34" charset="0"/>
                        <a:ea typeface="宋体" pitchFamily="2" charset="-122"/>
                      </a:endParaRP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lvl1pPr eaLnBrk="0" hangingPunct="0">
                        <a:spcBef>
                          <a:spcPct val="20000"/>
                        </a:spcBef>
                        <a:defRPr sz="2100">
                          <a:solidFill>
                            <a:schemeClr val="accent2"/>
                          </a:solidFill>
                          <a:latin typeface="Times New Roman" panose="02020503050405090304" pitchFamily="18" charset="0"/>
                          <a:ea typeface="华文楷体" panose="02010600040101010101" pitchFamily="2" charset="-122"/>
                        </a:defRPr>
                      </a:lvl1pPr>
                      <a:lvl2pPr marL="742950" indent="-285750" eaLnBrk="0" hangingPunct="0">
                        <a:spcBef>
                          <a:spcPct val="20000"/>
                        </a:spcBef>
                        <a:defRPr sz="2000">
                          <a:solidFill>
                            <a:schemeClr val="accent2"/>
                          </a:solidFill>
                          <a:latin typeface="Arial" panose="020B0604020202090204" pitchFamily="34" charset="0"/>
                          <a:ea typeface="华文行楷" pitchFamily="2" charset="-122"/>
                        </a:defRPr>
                      </a:lvl2pPr>
                      <a:lvl3pPr marL="1143000" indent="-228600" eaLnBrk="0" hangingPunct="0">
                        <a:spcBef>
                          <a:spcPct val="20000"/>
                        </a:spcBef>
                        <a:defRPr>
                          <a:solidFill>
                            <a:schemeClr val="accent2"/>
                          </a:solidFill>
                          <a:latin typeface="Arial" panose="020B0604020202090204" pitchFamily="34" charset="0"/>
                          <a:ea typeface="宋体" pitchFamily="2" charset="-122"/>
                        </a:defRPr>
                      </a:lvl3pPr>
                      <a:lvl4pPr marL="1600200" indent="-228600" eaLnBrk="0" hangingPunct="0">
                        <a:spcBef>
                          <a:spcPct val="20000"/>
                        </a:spcBef>
                        <a:defRPr>
                          <a:solidFill>
                            <a:schemeClr val="tx1"/>
                          </a:solidFill>
                          <a:latin typeface="Arial" panose="020B0604020202090204" pitchFamily="34" charset="0"/>
                          <a:ea typeface="宋体" pitchFamily="2" charset="-122"/>
                        </a:defRPr>
                      </a:lvl4pPr>
                      <a:lvl5pPr marL="2057400" indent="-228600" eaLnBrk="0" hangingPunct="0">
                        <a:spcBef>
                          <a:spcPct val="20000"/>
                        </a:spcBef>
                        <a:defRPr>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pPr>
                      <a:r>
                        <a:rPr kumimoji="0" lang="en-US" altLang="zh-CN" sz="2400" b="0" i="0" u="none" strike="noStrike" cap="none" normalizeH="0" baseline="0" smtClean="0">
                          <a:ln>
                            <a:noFill/>
                          </a:ln>
                          <a:solidFill>
                            <a:schemeClr val="tx1"/>
                          </a:solidFill>
                          <a:effectLst/>
                          <a:latin typeface="Arial" panose="020B0604020202090204" pitchFamily="34" charset="0"/>
                          <a:ea typeface="宋体" pitchFamily="2" charset="-122"/>
                        </a:rPr>
                        <a:t>0</a:t>
                      </a:r>
                      <a:endParaRPr kumimoji="0" lang="en-US" altLang="zh-CN" sz="2400" b="0" i="0" u="none" strike="noStrike" cap="none" normalizeH="0" baseline="0" smtClean="0">
                        <a:ln>
                          <a:noFill/>
                        </a:ln>
                        <a:solidFill>
                          <a:schemeClr val="tx1"/>
                        </a:solidFill>
                        <a:effectLst/>
                        <a:latin typeface="Arial" panose="020B0604020202090204" pitchFamily="34" charset="0"/>
                        <a:ea typeface="宋体" pitchFamily="2" charset="-122"/>
                      </a:endParaRP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lvl1pPr eaLnBrk="0" hangingPunct="0">
                        <a:spcBef>
                          <a:spcPct val="20000"/>
                        </a:spcBef>
                        <a:defRPr sz="2100">
                          <a:solidFill>
                            <a:schemeClr val="accent2"/>
                          </a:solidFill>
                          <a:latin typeface="Times New Roman" panose="02020503050405090304" pitchFamily="18" charset="0"/>
                          <a:ea typeface="华文楷体" panose="02010600040101010101" pitchFamily="2" charset="-122"/>
                        </a:defRPr>
                      </a:lvl1pPr>
                      <a:lvl2pPr marL="742950" indent="-285750" eaLnBrk="0" hangingPunct="0">
                        <a:spcBef>
                          <a:spcPct val="20000"/>
                        </a:spcBef>
                        <a:defRPr sz="2000">
                          <a:solidFill>
                            <a:schemeClr val="accent2"/>
                          </a:solidFill>
                          <a:latin typeface="Arial" panose="020B0604020202090204" pitchFamily="34" charset="0"/>
                          <a:ea typeface="华文行楷" pitchFamily="2" charset="-122"/>
                        </a:defRPr>
                      </a:lvl2pPr>
                      <a:lvl3pPr marL="1143000" indent="-228600" eaLnBrk="0" hangingPunct="0">
                        <a:spcBef>
                          <a:spcPct val="20000"/>
                        </a:spcBef>
                        <a:defRPr>
                          <a:solidFill>
                            <a:schemeClr val="accent2"/>
                          </a:solidFill>
                          <a:latin typeface="Arial" panose="020B0604020202090204" pitchFamily="34" charset="0"/>
                          <a:ea typeface="宋体" pitchFamily="2" charset="-122"/>
                        </a:defRPr>
                      </a:lvl3pPr>
                      <a:lvl4pPr marL="1600200" indent="-228600" eaLnBrk="0" hangingPunct="0">
                        <a:spcBef>
                          <a:spcPct val="20000"/>
                        </a:spcBef>
                        <a:defRPr>
                          <a:solidFill>
                            <a:schemeClr val="tx1"/>
                          </a:solidFill>
                          <a:latin typeface="Arial" panose="020B0604020202090204" pitchFamily="34" charset="0"/>
                          <a:ea typeface="宋体" pitchFamily="2" charset="-122"/>
                        </a:defRPr>
                      </a:lvl4pPr>
                      <a:lvl5pPr marL="2057400" indent="-228600" eaLnBrk="0" hangingPunct="0">
                        <a:spcBef>
                          <a:spcPct val="20000"/>
                        </a:spcBef>
                        <a:defRPr>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pPr>
                      <a:r>
                        <a:rPr kumimoji="0" lang="en-US" altLang="zh-CN" sz="2400" b="0" i="0" u="none" strike="noStrike" cap="none" normalizeH="0" baseline="0" smtClean="0">
                          <a:ln>
                            <a:noFill/>
                          </a:ln>
                          <a:solidFill>
                            <a:schemeClr val="tx1"/>
                          </a:solidFill>
                          <a:effectLst/>
                          <a:latin typeface="Arial" panose="020B0604020202090204" pitchFamily="34" charset="0"/>
                          <a:ea typeface="宋体" pitchFamily="2" charset="-122"/>
                        </a:rPr>
                        <a:t>6</a:t>
                      </a:r>
                      <a:endParaRPr kumimoji="0" lang="en-US" altLang="zh-CN" sz="2400" b="0" i="0" u="none" strike="noStrike" cap="none" normalizeH="0" baseline="0" smtClean="0">
                        <a:ln>
                          <a:noFill/>
                        </a:ln>
                        <a:solidFill>
                          <a:schemeClr val="tx1"/>
                        </a:solidFill>
                        <a:effectLst/>
                        <a:latin typeface="Arial" panose="020B0604020202090204" pitchFamily="34" charset="0"/>
                        <a:ea typeface="宋体" pitchFamily="2" charset="-122"/>
                      </a:endParaRP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lvl1pPr eaLnBrk="0" hangingPunct="0">
                        <a:spcBef>
                          <a:spcPct val="20000"/>
                        </a:spcBef>
                        <a:defRPr sz="2100">
                          <a:solidFill>
                            <a:schemeClr val="accent2"/>
                          </a:solidFill>
                          <a:latin typeface="Times New Roman" panose="02020503050405090304" pitchFamily="18" charset="0"/>
                          <a:ea typeface="华文楷体" panose="02010600040101010101" pitchFamily="2" charset="-122"/>
                        </a:defRPr>
                      </a:lvl1pPr>
                      <a:lvl2pPr marL="742950" indent="-285750" eaLnBrk="0" hangingPunct="0">
                        <a:spcBef>
                          <a:spcPct val="20000"/>
                        </a:spcBef>
                        <a:defRPr sz="2000">
                          <a:solidFill>
                            <a:schemeClr val="accent2"/>
                          </a:solidFill>
                          <a:latin typeface="Arial" panose="020B0604020202090204" pitchFamily="34" charset="0"/>
                          <a:ea typeface="华文行楷" pitchFamily="2" charset="-122"/>
                        </a:defRPr>
                      </a:lvl2pPr>
                      <a:lvl3pPr marL="1143000" indent="-228600" eaLnBrk="0" hangingPunct="0">
                        <a:spcBef>
                          <a:spcPct val="20000"/>
                        </a:spcBef>
                        <a:defRPr>
                          <a:solidFill>
                            <a:schemeClr val="accent2"/>
                          </a:solidFill>
                          <a:latin typeface="Arial" panose="020B0604020202090204" pitchFamily="34" charset="0"/>
                          <a:ea typeface="宋体" pitchFamily="2" charset="-122"/>
                        </a:defRPr>
                      </a:lvl3pPr>
                      <a:lvl4pPr marL="1600200" indent="-228600" eaLnBrk="0" hangingPunct="0">
                        <a:spcBef>
                          <a:spcPct val="20000"/>
                        </a:spcBef>
                        <a:defRPr>
                          <a:solidFill>
                            <a:schemeClr val="tx1"/>
                          </a:solidFill>
                          <a:latin typeface="Arial" panose="020B0604020202090204" pitchFamily="34" charset="0"/>
                          <a:ea typeface="宋体" pitchFamily="2" charset="-122"/>
                        </a:defRPr>
                      </a:lvl4pPr>
                      <a:lvl5pPr marL="2057400" indent="-228600" eaLnBrk="0" hangingPunct="0">
                        <a:spcBef>
                          <a:spcPct val="20000"/>
                        </a:spcBef>
                        <a:defRPr>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pPr>
                      <a:r>
                        <a:rPr kumimoji="0" lang="en-US" altLang="zh-CN" sz="2400" b="0" i="0" u="none" strike="noStrike" cap="none" normalizeH="0" baseline="0" smtClean="0">
                          <a:ln>
                            <a:noFill/>
                          </a:ln>
                          <a:solidFill>
                            <a:schemeClr val="tx1"/>
                          </a:solidFill>
                          <a:effectLst/>
                          <a:latin typeface="Arial" panose="020B0604020202090204" pitchFamily="34" charset="0"/>
                          <a:ea typeface="宋体" pitchFamily="2" charset="-122"/>
                        </a:rPr>
                        <a:t>7</a:t>
                      </a:r>
                      <a:endParaRPr kumimoji="0" lang="en-US" altLang="zh-CN" sz="2400" b="0" i="0" u="none" strike="noStrike" cap="none" normalizeH="0" baseline="0" smtClean="0">
                        <a:ln>
                          <a:noFill/>
                        </a:ln>
                        <a:solidFill>
                          <a:schemeClr val="tx1"/>
                        </a:solidFill>
                        <a:effectLst/>
                        <a:latin typeface="Arial" panose="020B0604020202090204" pitchFamily="34" charset="0"/>
                        <a:ea typeface="宋体" pitchFamily="2" charset="-122"/>
                      </a:endParaRP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lvl1pPr eaLnBrk="0" hangingPunct="0">
                        <a:spcBef>
                          <a:spcPct val="20000"/>
                        </a:spcBef>
                        <a:defRPr sz="2100">
                          <a:solidFill>
                            <a:schemeClr val="accent2"/>
                          </a:solidFill>
                          <a:latin typeface="Times New Roman" panose="02020503050405090304" pitchFamily="18" charset="0"/>
                          <a:ea typeface="华文楷体" panose="02010600040101010101" pitchFamily="2" charset="-122"/>
                        </a:defRPr>
                      </a:lvl1pPr>
                      <a:lvl2pPr marL="742950" indent="-285750" eaLnBrk="0" hangingPunct="0">
                        <a:spcBef>
                          <a:spcPct val="20000"/>
                        </a:spcBef>
                        <a:defRPr sz="2000">
                          <a:solidFill>
                            <a:schemeClr val="accent2"/>
                          </a:solidFill>
                          <a:latin typeface="Arial" panose="020B0604020202090204" pitchFamily="34" charset="0"/>
                          <a:ea typeface="华文行楷" pitchFamily="2" charset="-122"/>
                        </a:defRPr>
                      </a:lvl2pPr>
                      <a:lvl3pPr marL="1143000" indent="-228600" eaLnBrk="0" hangingPunct="0">
                        <a:spcBef>
                          <a:spcPct val="20000"/>
                        </a:spcBef>
                        <a:defRPr>
                          <a:solidFill>
                            <a:schemeClr val="accent2"/>
                          </a:solidFill>
                          <a:latin typeface="Arial" panose="020B0604020202090204" pitchFamily="34" charset="0"/>
                          <a:ea typeface="宋体" pitchFamily="2" charset="-122"/>
                        </a:defRPr>
                      </a:lvl3pPr>
                      <a:lvl4pPr marL="1600200" indent="-228600" eaLnBrk="0" hangingPunct="0">
                        <a:spcBef>
                          <a:spcPct val="20000"/>
                        </a:spcBef>
                        <a:defRPr>
                          <a:solidFill>
                            <a:schemeClr val="tx1"/>
                          </a:solidFill>
                          <a:latin typeface="Arial" panose="020B0604020202090204" pitchFamily="34" charset="0"/>
                          <a:ea typeface="宋体" pitchFamily="2" charset="-122"/>
                        </a:defRPr>
                      </a:lvl4pPr>
                      <a:lvl5pPr marL="2057400" indent="-228600" eaLnBrk="0" hangingPunct="0">
                        <a:spcBef>
                          <a:spcPct val="20000"/>
                        </a:spcBef>
                        <a:defRPr>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pPr>
                      <a:r>
                        <a:rPr kumimoji="0" lang="en-US" altLang="zh-CN" sz="2400" b="0" i="0" u="none" strike="noStrike" cap="none" normalizeH="0" baseline="0" smtClean="0">
                          <a:ln>
                            <a:noFill/>
                          </a:ln>
                          <a:solidFill>
                            <a:schemeClr val="tx1"/>
                          </a:solidFill>
                          <a:effectLst/>
                          <a:latin typeface="Arial" panose="020B0604020202090204" pitchFamily="34" charset="0"/>
                          <a:ea typeface="宋体" pitchFamily="2" charset="-122"/>
                        </a:rPr>
                        <a:t>0</a:t>
                      </a:r>
                      <a:endParaRPr kumimoji="0" lang="en-US" altLang="zh-CN" sz="2400" b="0" i="0" u="none" strike="noStrike" cap="none" normalizeH="0" baseline="0" smtClean="0">
                        <a:ln>
                          <a:noFill/>
                        </a:ln>
                        <a:solidFill>
                          <a:schemeClr val="tx1"/>
                        </a:solidFill>
                        <a:effectLst/>
                        <a:latin typeface="Arial" panose="020B0604020202090204" pitchFamily="34" charset="0"/>
                        <a:ea typeface="宋体" pitchFamily="2" charset="-122"/>
                      </a:endParaRP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lvl1pPr eaLnBrk="0" hangingPunct="0">
                        <a:spcBef>
                          <a:spcPct val="20000"/>
                        </a:spcBef>
                        <a:defRPr sz="2100">
                          <a:solidFill>
                            <a:schemeClr val="accent2"/>
                          </a:solidFill>
                          <a:latin typeface="Times New Roman" panose="02020503050405090304" pitchFamily="18" charset="0"/>
                          <a:ea typeface="华文楷体" panose="02010600040101010101" pitchFamily="2" charset="-122"/>
                        </a:defRPr>
                      </a:lvl1pPr>
                      <a:lvl2pPr marL="742950" indent="-285750" eaLnBrk="0" hangingPunct="0">
                        <a:spcBef>
                          <a:spcPct val="20000"/>
                        </a:spcBef>
                        <a:defRPr sz="2000">
                          <a:solidFill>
                            <a:schemeClr val="accent2"/>
                          </a:solidFill>
                          <a:latin typeface="Arial" panose="020B0604020202090204" pitchFamily="34" charset="0"/>
                          <a:ea typeface="华文行楷" pitchFamily="2" charset="-122"/>
                        </a:defRPr>
                      </a:lvl2pPr>
                      <a:lvl3pPr marL="1143000" indent="-228600" eaLnBrk="0" hangingPunct="0">
                        <a:spcBef>
                          <a:spcPct val="20000"/>
                        </a:spcBef>
                        <a:defRPr>
                          <a:solidFill>
                            <a:schemeClr val="accent2"/>
                          </a:solidFill>
                          <a:latin typeface="Arial" panose="020B0604020202090204" pitchFamily="34" charset="0"/>
                          <a:ea typeface="宋体" pitchFamily="2" charset="-122"/>
                        </a:defRPr>
                      </a:lvl3pPr>
                      <a:lvl4pPr marL="1600200" indent="-228600" eaLnBrk="0" hangingPunct="0">
                        <a:spcBef>
                          <a:spcPct val="20000"/>
                        </a:spcBef>
                        <a:defRPr>
                          <a:solidFill>
                            <a:schemeClr val="tx1"/>
                          </a:solidFill>
                          <a:latin typeface="Arial" panose="020B0604020202090204" pitchFamily="34" charset="0"/>
                          <a:ea typeface="宋体" pitchFamily="2" charset="-122"/>
                        </a:defRPr>
                      </a:lvl4pPr>
                      <a:lvl5pPr marL="2057400" indent="-228600" eaLnBrk="0" hangingPunct="0">
                        <a:spcBef>
                          <a:spcPct val="20000"/>
                        </a:spcBef>
                        <a:defRPr>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pPr>
                      <a:r>
                        <a:rPr kumimoji="0" lang="en-US" altLang="zh-CN" sz="2400" b="0" i="0" u="none" strike="noStrike" cap="none" normalizeH="0" baseline="0" smtClean="0">
                          <a:ln>
                            <a:noFill/>
                          </a:ln>
                          <a:solidFill>
                            <a:schemeClr val="tx1"/>
                          </a:solidFill>
                          <a:effectLst/>
                          <a:latin typeface="Arial" panose="020B0604020202090204" pitchFamily="34" charset="0"/>
                          <a:ea typeface="宋体" pitchFamily="2" charset="-122"/>
                        </a:rPr>
                        <a:t>0</a:t>
                      </a:r>
                      <a:endParaRPr kumimoji="0" lang="en-US" altLang="zh-CN" sz="2400" b="0" i="0" u="none" strike="noStrike" cap="none" normalizeH="0" baseline="0" smtClean="0">
                        <a:ln>
                          <a:noFill/>
                        </a:ln>
                        <a:solidFill>
                          <a:schemeClr val="tx1"/>
                        </a:solidFill>
                        <a:effectLst/>
                        <a:latin typeface="Arial" panose="020B0604020202090204" pitchFamily="34" charset="0"/>
                        <a:ea typeface="宋体" pitchFamily="2" charset="-122"/>
                      </a:endParaRP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lvl1pPr eaLnBrk="0" hangingPunct="0">
                        <a:spcBef>
                          <a:spcPct val="20000"/>
                        </a:spcBef>
                        <a:defRPr sz="2100">
                          <a:solidFill>
                            <a:schemeClr val="accent2"/>
                          </a:solidFill>
                          <a:latin typeface="Times New Roman" panose="02020503050405090304" pitchFamily="18" charset="0"/>
                          <a:ea typeface="华文楷体" panose="02010600040101010101" pitchFamily="2" charset="-122"/>
                        </a:defRPr>
                      </a:lvl1pPr>
                      <a:lvl2pPr marL="742950" indent="-285750" eaLnBrk="0" hangingPunct="0">
                        <a:spcBef>
                          <a:spcPct val="20000"/>
                        </a:spcBef>
                        <a:defRPr sz="2000">
                          <a:solidFill>
                            <a:schemeClr val="accent2"/>
                          </a:solidFill>
                          <a:latin typeface="Arial" panose="020B0604020202090204" pitchFamily="34" charset="0"/>
                          <a:ea typeface="华文行楷" pitchFamily="2" charset="-122"/>
                        </a:defRPr>
                      </a:lvl2pPr>
                      <a:lvl3pPr marL="1143000" indent="-228600" eaLnBrk="0" hangingPunct="0">
                        <a:spcBef>
                          <a:spcPct val="20000"/>
                        </a:spcBef>
                        <a:defRPr>
                          <a:solidFill>
                            <a:schemeClr val="accent2"/>
                          </a:solidFill>
                          <a:latin typeface="Arial" panose="020B0604020202090204" pitchFamily="34" charset="0"/>
                          <a:ea typeface="宋体" pitchFamily="2" charset="-122"/>
                        </a:defRPr>
                      </a:lvl3pPr>
                      <a:lvl4pPr marL="1600200" indent="-228600" eaLnBrk="0" hangingPunct="0">
                        <a:spcBef>
                          <a:spcPct val="20000"/>
                        </a:spcBef>
                        <a:defRPr>
                          <a:solidFill>
                            <a:schemeClr val="tx1"/>
                          </a:solidFill>
                          <a:latin typeface="Arial" panose="020B0604020202090204" pitchFamily="34" charset="0"/>
                          <a:ea typeface="宋体" pitchFamily="2" charset="-122"/>
                        </a:defRPr>
                      </a:lvl4pPr>
                      <a:lvl5pPr marL="2057400" indent="-228600" eaLnBrk="0" hangingPunct="0">
                        <a:spcBef>
                          <a:spcPct val="20000"/>
                        </a:spcBef>
                        <a:defRPr>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pPr>
                      <a:r>
                        <a:rPr kumimoji="0" lang="en-US" altLang="zh-CN" sz="2400" b="0" i="0" u="none" strike="noStrike" cap="none" normalizeH="0" baseline="0" smtClean="0">
                          <a:ln>
                            <a:noFill/>
                          </a:ln>
                          <a:solidFill>
                            <a:schemeClr val="tx1"/>
                          </a:solidFill>
                          <a:effectLst/>
                          <a:latin typeface="Arial" panose="020B0604020202090204" pitchFamily="34" charset="0"/>
                          <a:ea typeface="宋体" pitchFamily="2" charset="-122"/>
                        </a:rPr>
                        <a:t>0</a:t>
                      </a:r>
                      <a:endParaRPr kumimoji="0" lang="en-US" altLang="zh-CN" sz="2400" b="0" i="0" u="none" strike="noStrike" cap="none" normalizeH="0" baseline="0" smtClean="0">
                        <a:ln>
                          <a:noFill/>
                        </a:ln>
                        <a:solidFill>
                          <a:schemeClr val="tx1"/>
                        </a:solidFill>
                        <a:effectLst/>
                        <a:latin typeface="Arial" panose="020B0604020202090204" pitchFamily="34" charset="0"/>
                        <a:ea typeface="宋体" pitchFamily="2" charset="-122"/>
                      </a:endParaRP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lvl1pPr eaLnBrk="0" hangingPunct="0">
                        <a:spcBef>
                          <a:spcPct val="20000"/>
                        </a:spcBef>
                        <a:defRPr sz="2100">
                          <a:solidFill>
                            <a:schemeClr val="accent2"/>
                          </a:solidFill>
                          <a:latin typeface="Times New Roman" panose="02020503050405090304" pitchFamily="18" charset="0"/>
                          <a:ea typeface="华文楷体" panose="02010600040101010101" pitchFamily="2" charset="-122"/>
                        </a:defRPr>
                      </a:lvl1pPr>
                      <a:lvl2pPr marL="742950" indent="-285750" eaLnBrk="0" hangingPunct="0">
                        <a:spcBef>
                          <a:spcPct val="20000"/>
                        </a:spcBef>
                        <a:defRPr sz="2000">
                          <a:solidFill>
                            <a:schemeClr val="accent2"/>
                          </a:solidFill>
                          <a:latin typeface="Arial" panose="020B0604020202090204" pitchFamily="34" charset="0"/>
                          <a:ea typeface="华文行楷" pitchFamily="2" charset="-122"/>
                        </a:defRPr>
                      </a:lvl2pPr>
                      <a:lvl3pPr marL="1143000" indent="-228600" eaLnBrk="0" hangingPunct="0">
                        <a:spcBef>
                          <a:spcPct val="20000"/>
                        </a:spcBef>
                        <a:defRPr>
                          <a:solidFill>
                            <a:schemeClr val="accent2"/>
                          </a:solidFill>
                          <a:latin typeface="Arial" panose="020B0604020202090204" pitchFamily="34" charset="0"/>
                          <a:ea typeface="宋体" pitchFamily="2" charset="-122"/>
                        </a:defRPr>
                      </a:lvl3pPr>
                      <a:lvl4pPr marL="1600200" indent="-228600" eaLnBrk="0" hangingPunct="0">
                        <a:spcBef>
                          <a:spcPct val="20000"/>
                        </a:spcBef>
                        <a:defRPr>
                          <a:solidFill>
                            <a:schemeClr val="tx1"/>
                          </a:solidFill>
                          <a:latin typeface="Arial" panose="020B0604020202090204" pitchFamily="34" charset="0"/>
                          <a:ea typeface="宋体" pitchFamily="2" charset="-122"/>
                        </a:defRPr>
                      </a:lvl4pPr>
                      <a:lvl5pPr marL="2057400" indent="-228600" eaLnBrk="0" hangingPunct="0">
                        <a:spcBef>
                          <a:spcPct val="20000"/>
                        </a:spcBef>
                        <a:defRPr>
                          <a:solidFill>
                            <a:schemeClr val="tx1"/>
                          </a:solidFill>
                          <a:latin typeface="Arial" panose="020B0604020202090204" pitchFamily="34" charset="0"/>
                          <a:ea typeface="宋体" pitchFamily="2" charset="-122"/>
                        </a:defRPr>
                      </a:lvl5pPr>
                      <a:lvl6pPr marL="25146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20000"/>
                        </a:spcBef>
                        <a:spcAft>
                          <a:spcPct val="0"/>
                        </a:spcAft>
                        <a:defRPr>
                          <a:solidFill>
                            <a:schemeClr val="tx1"/>
                          </a:solidFill>
                          <a:latin typeface="Arial" panose="020B0604020202090204" pitchFamily="34" charset="0"/>
                          <a:ea typeface="宋体" pitchFamily="2" charset="-122"/>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pPr>
                      <a:r>
                        <a:rPr kumimoji="0" lang="en-US" altLang="zh-CN" sz="2400" b="0" i="0" u="none" strike="noStrike" cap="none" normalizeH="0" baseline="0" dirty="0" smtClean="0">
                          <a:ln>
                            <a:noFill/>
                          </a:ln>
                          <a:solidFill>
                            <a:schemeClr val="tx1"/>
                          </a:solidFill>
                          <a:effectLst/>
                          <a:latin typeface="Arial" panose="020B0604020202090204" pitchFamily="34" charset="0"/>
                          <a:ea typeface="宋体" pitchFamily="2" charset="-122"/>
                        </a:rPr>
                        <a:t>0</a:t>
                      </a:r>
                      <a:endParaRPr kumimoji="0" lang="en-US" altLang="zh-CN" sz="2400" b="0" i="0" u="none" strike="noStrike" cap="none" normalizeH="0" baseline="0" dirty="0" smtClean="0">
                        <a:ln>
                          <a:noFill/>
                        </a:ln>
                        <a:solidFill>
                          <a:schemeClr val="tx1"/>
                        </a:solidFill>
                        <a:effectLst/>
                        <a:latin typeface="Arial" panose="020B0604020202090204" pitchFamily="34" charset="0"/>
                        <a:ea typeface="宋体" pitchFamily="2" charset="-122"/>
                      </a:endParaRP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r>
            </a:tbl>
          </a:graphicData>
        </a:graphic>
      </p:graphicFrame>
      <p:sp>
        <p:nvSpPr>
          <p:cNvPr id="21543" name="AutoShape 50">
            <a:hlinkClick r:id="rId3" action="ppaction://hlinksldjump" highlightClick="1"/>
          </p:cNvPr>
          <p:cNvSpPr>
            <a:spLocks noChangeArrowheads="1"/>
          </p:cNvSpPr>
          <p:nvPr/>
        </p:nvSpPr>
        <p:spPr bwMode="auto">
          <a:xfrm>
            <a:off x="8335070" y="404367"/>
            <a:ext cx="533400" cy="260350"/>
          </a:xfrm>
          <a:prstGeom prst="actionButtonForwardNex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sp>
        <p:nvSpPr>
          <p:cNvPr id="21544" name="页脚占位符 3"/>
          <p:cNvSpPr>
            <a:spLocks noGrp="1"/>
          </p:cNvSpPr>
          <p:nvPr>
            <p:ph type="ftr" sz="quarter" idx="10"/>
          </p:nvPr>
        </p:nvSpPr>
        <p:spPr>
          <a:xfrm>
            <a:off x="3492500" y="6381750"/>
            <a:ext cx="3816350" cy="431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10" name="Rectangle 2"/>
          <p:cNvSpPr txBox="1">
            <a:spLocks noChangeArrowheads="1"/>
          </p:cNvSpPr>
          <p:nvPr/>
        </p:nvSpPr>
        <p:spPr bwMode="auto">
          <a:xfrm>
            <a:off x="879475" y="269875"/>
            <a:ext cx="7869238" cy="927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l" rtl="0" eaLnBrk="0" fontAlgn="base" hangingPunct="0">
              <a:spcBef>
                <a:spcPct val="0"/>
              </a:spcBef>
              <a:spcAft>
                <a:spcPct val="0"/>
              </a:spcAft>
              <a:defRPr sz="3200">
                <a:solidFill>
                  <a:schemeClr val="accent2"/>
                </a:solidFill>
                <a:latin typeface="+mj-lt"/>
                <a:ea typeface="+mj-ea"/>
                <a:cs typeface="+mj-cs"/>
              </a:defRPr>
            </a:lvl1pPr>
            <a:lvl2pPr algn="l" rtl="0" eaLnBrk="0" fontAlgn="base" hangingPunct="0">
              <a:spcBef>
                <a:spcPct val="0"/>
              </a:spcBef>
              <a:spcAft>
                <a:spcPct val="0"/>
              </a:spcAft>
              <a:defRPr sz="3200">
                <a:solidFill>
                  <a:schemeClr val="accent2"/>
                </a:solidFill>
                <a:latin typeface="Garamond" pitchFamily="18" charset="0"/>
                <a:ea typeface="宋体" pitchFamily="2" charset="-122"/>
              </a:defRPr>
            </a:lvl2pPr>
            <a:lvl3pPr algn="l" rtl="0" eaLnBrk="0" fontAlgn="base" hangingPunct="0">
              <a:spcBef>
                <a:spcPct val="0"/>
              </a:spcBef>
              <a:spcAft>
                <a:spcPct val="0"/>
              </a:spcAft>
              <a:defRPr sz="3200">
                <a:solidFill>
                  <a:schemeClr val="accent2"/>
                </a:solidFill>
                <a:latin typeface="Garamond" pitchFamily="18" charset="0"/>
                <a:ea typeface="宋体" pitchFamily="2" charset="-122"/>
              </a:defRPr>
            </a:lvl3pPr>
            <a:lvl4pPr algn="l" rtl="0" eaLnBrk="0" fontAlgn="base" hangingPunct="0">
              <a:spcBef>
                <a:spcPct val="0"/>
              </a:spcBef>
              <a:spcAft>
                <a:spcPct val="0"/>
              </a:spcAft>
              <a:defRPr sz="3200">
                <a:solidFill>
                  <a:schemeClr val="accent2"/>
                </a:solidFill>
                <a:latin typeface="Garamond" pitchFamily="18" charset="0"/>
                <a:ea typeface="宋体" pitchFamily="2" charset="-122"/>
              </a:defRPr>
            </a:lvl4pPr>
            <a:lvl5pPr algn="l" rtl="0" eaLnBrk="0" fontAlgn="base" hangingPunct="0">
              <a:spcBef>
                <a:spcPct val="0"/>
              </a:spcBef>
              <a:spcAft>
                <a:spcPct val="0"/>
              </a:spcAft>
              <a:defRPr sz="3200">
                <a:solidFill>
                  <a:schemeClr val="accent2"/>
                </a:solidFill>
                <a:latin typeface="Garamond" pitchFamily="18" charset="0"/>
                <a:ea typeface="宋体" pitchFamily="2" charset="-122"/>
              </a:defRPr>
            </a:lvl5pPr>
            <a:lvl6pPr marL="457200" algn="l" rtl="0" fontAlgn="base">
              <a:spcBef>
                <a:spcPct val="0"/>
              </a:spcBef>
              <a:spcAft>
                <a:spcPct val="0"/>
              </a:spcAft>
              <a:defRPr sz="3200">
                <a:solidFill>
                  <a:schemeClr val="accent2"/>
                </a:solidFill>
                <a:latin typeface="Garamond" pitchFamily="18" charset="0"/>
                <a:ea typeface="宋体" pitchFamily="2" charset="-122"/>
              </a:defRPr>
            </a:lvl6pPr>
            <a:lvl7pPr marL="914400" algn="l" rtl="0" fontAlgn="base">
              <a:spcBef>
                <a:spcPct val="0"/>
              </a:spcBef>
              <a:spcAft>
                <a:spcPct val="0"/>
              </a:spcAft>
              <a:defRPr sz="3200">
                <a:solidFill>
                  <a:schemeClr val="accent2"/>
                </a:solidFill>
                <a:latin typeface="Garamond" pitchFamily="18" charset="0"/>
                <a:ea typeface="宋体" pitchFamily="2" charset="-122"/>
              </a:defRPr>
            </a:lvl7pPr>
            <a:lvl8pPr marL="1371600" algn="l" rtl="0" fontAlgn="base">
              <a:spcBef>
                <a:spcPct val="0"/>
              </a:spcBef>
              <a:spcAft>
                <a:spcPct val="0"/>
              </a:spcAft>
              <a:defRPr sz="3200">
                <a:solidFill>
                  <a:schemeClr val="accent2"/>
                </a:solidFill>
                <a:latin typeface="Garamond" pitchFamily="18" charset="0"/>
                <a:ea typeface="宋体" pitchFamily="2" charset="-122"/>
              </a:defRPr>
            </a:lvl8pPr>
            <a:lvl9pPr marL="1828800" algn="l" rtl="0" fontAlgn="base">
              <a:spcBef>
                <a:spcPct val="0"/>
              </a:spcBef>
              <a:spcAft>
                <a:spcPct val="0"/>
              </a:spcAft>
              <a:defRPr sz="3200">
                <a:solidFill>
                  <a:schemeClr val="accent2"/>
                </a:solidFill>
                <a:latin typeface="Garamond" pitchFamily="18" charset="0"/>
                <a:ea typeface="宋体" pitchFamily="2" charset="-122"/>
              </a:defRPr>
            </a:lvl9pPr>
          </a:lstStyle>
          <a:p>
            <a:pPr eaLnBrk="1" hangingPunct="1"/>
            <a:r>
              <a:rPr lang="en-US" altLang="zh-CN" kern="0" dirty="0" smtClean="0">
                <a:solidFill>
                  <a:srgbClr val="333399"/>
                </a:solidFill>
              </a:rPr>
              <a:t>1.4.</a:t>
            </a:r>
            <a:r>
              <a:rPr lang="en-US" altLang="zh-CN" kern="0" dirty="0" smtClean="0"/>
              <a:t>6 </a:t>
            </a:r>
            <a:r>
              <a:rPr lang="zh-CN" altLang="en-US" kern="0" dirty="0" smtClean="0"/>
              <a:t>树、根树、</a:t>
            </a:r>
            <a:r>
              <a:rPr lang="zh-CN" altLang="en-US" b="1" u="sng" kern="0" dirty="0" smtClean="0"/>
              <a:t>二叉树</a:t>
            </a:r>
            <a:endParaRPr lang="en-US" altLang="zh-CN" kern="0" dirty="0" smtClean="0"/>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2295"/>
                                        </p:tgtEl>
                                        <p:attrNameLst>
                                          <p:attrName>style.visibility</p:attrName>
                                        </p:attrNameLst>
                                      </p:cBhvr>
                                      <p:to>
                                        <p:strVal val="visible"/>
                                      </p:to>
                                    </p:set>
                                    <p:anim calcmode="lin" valueType="num">
                                      <p:cBhvr additive="base">
                                        <p:cTn id="7" dur="500" fill="hold"/>
                                        <p:tgtEl>
                                          <p:spTgt spid="12295"/>
                                        </p:tgtEl>
                                        <p:attrNameLst>
                                          <p:attrName>ppt_x</p:attrName>
                                        </p:attrNameLst>
                                      </p:cBhvr>
                                      <p:tavLst>
                                        <p:tav tm="0">
                                          <p:val>
                                            <p:strVal val="#ppt_x"/>
                                          </p:val>
                                        </p:tav>
                                        <p:tav tm="100000">
                                          <p:val>
                                            <p:strVal val="#ppt_x"/>
                                          </p:val>
                                        </p:tav>
                                      </p:tavLst>
                                    </p:anim>
                                    <p:anim calcmode="lin" valueType="num">
                                      <p:cBhvr additive="base">
                                        <p:cTn id="8" dur="500" fill="hold"/>
                                        <p:tgtEl>
                                          <p:spTgt spid="1229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2336"/>
                                        </p:tgtEl>
                                        <p:attrNameLst>
                                          <p:attrName>style.visibility</p:attrName>
                                        </p:attrNameLst>
                                      </p:cBhvr>
                                      <p:to>
                                        <p:strVal val="visible"/>
                                      </p:to>
                                    </p:set>
                                    <p:anim calcmode="lin" valueType="num">
                                      <p:cBhvr additive="base">
                                        <p:cTn id="13" dur="500" fill="hold"/>
                                        <p:tgtEl>
                                          <p:spTgt spid="12336"/>
                                        </p:tgtEl>
                                        <p:attrNameLst>
                                          <p:attrName>ppt_x</p:attrName>
                                        </p:attrNameLst>
                                      </p:cBhvr>
                                      <p:tavLst>
                                        <p:tav tm="0">
                                          <p:val>
                                            <p:strVal val="#ppt_x"/>
                                          </p:val>
                                        </p:tav>
                                        <p:tav tm="100000">
                                          <p:val>
                                            <p:strVal val="#ppt_x"/>
                                          </p:val>
                                        </p:tav>
                                      </p:tavLst>
                                    </p:anim>
                                    <p:anim calcmode="lin" valueType="num">
                                      <p:cBhvr additive="base">
                                        <p:cTn id="14" dur="500" fill="hold"/>
                                        <p:tgtEl>
                                          <p:spTgt spid="1233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2" name="Rectangle 2"/>
          <p:cNvSpPr>
            <a:spLocks noGrp="1" noChangeArrowheads="1"/>
          </p:cNvSpPr>
          <p:nvPr>
            <p:ph type="title"/>
          </p:nvPr>
        </p:nvSpPr>
        <p:spPr>
          <a:xfrm>
            <a:off x="857250" y="457200"/>
            <a:ext cx="7829550" cy="642938"/>
          </a:xfrm>
        </p:spPr>
        <p:txBody>
          <a:bodyPr/>
          <a:lstStyle/>
          <a:p>
            <a:pPr eaLnBrk="1" hangingPunct="1"/>
            <a:r>
              <a:rPr lang="en-US" altLang="zh-CN" dirty="0">
                <a:solidFill>
                  <a:srgbClr val="333399"/>
                </a:solidFill>
              </a:rPr>
              <a:t>1.4.</a:t>
            </a:r>
            <a:r>
              <a:rPr lang="en-US" altLang="zh-CN" kern="0" dirty="0" smtClean="0"/>
              <a:t>6 </a:t>
            </a:r>
            <a:r>
              <a:rPr lang="zh-CN" altLang="en-US" kern="0" dirty="0" smtClean="0"/>
              <a:t>树、根树、</a:t>
            </a:r>
            <a:r>
              <a:rPr lang="zh-CN" altLang="en-US" b="1" u="sng" kern="0" dirty="0" smtClean="0"/>
              <a:t>二叉树</a:t>
            </a:r>
            <a:endParaRPr lang="en-US" altLang="zh-CN" kern="0" dirty="0" smtClean="0"/>
          </a:p>
        </p:txBody>
      </p:sp>
      <p:sp>
        <p:nvSpPr>
          <p:cNvPr id="22533" name="Rectangle 3"/>
          <p:cNvSpPr>
            <a:spLocks noGrp="1" noChangeArrowheads="1"/>
          </p:cNvSpPr>
          <p:nvPr>
            <p:ph type="body" sz="half" idx="1"/>
          </p:nvPr>
        </p:nvSpPr>
        <p:spPr>
          <a:xfrm>
            <a:off x="857250" y="1712119"/>
            <a:ext cx="7177088" cy="4787900"/>
          </a:xfrm>
        </p:spPr>
        <p:txBody>
          <a:bodyPr/>
          <a:lstStyle/>
          <a:p>
            <a:pPr>
              <a:lnSpc>
                <a:spcPct val="110000"/>
              </a:lnSpc>
              <a:buClr>
                <a:srgbClr val="800080"/>
              </a:buClr>
              <a:buSzPct val="55000"/>
            </a:pPr>
            <a:r>
              <a:rPr lang="zh-CN" altLang="en-US" sz="2000" dirty="0" smtClean="0"/>
              <a:t>由二叉树的定义可知，二叉树的结点由一个数据元素和分别指向其左、右子树的两个分支构成，则表示二叉树的链表结点中至少包含三个域：数据域、左指针域及右指针域。</a:t>
            </a:r>
            <a:endParaRPr lang="zh-CN" altLang="en-US" sz="2000" dirty="0" smtClean="0"/>
          </a:p>
          <a:p>
            <a:endParaRPr lang="zh-CN" altLang="en-US" sz="2000" b="1" dirty="0" smtClean="0">
              <a:latin typeface="仿宋_GB2312" pitchFamily="49" charset="-122"/>
              <a:ea typeface="仿宋_GB2312" pitchFamily="49" charset="-122"/>
            </a:endParaRPr>
          </a:p>
          <a:p>
            <a:pPr marL="0" indent="0">
              <a:buNone/>
            </a:pPr>
            <a:endParaRPr lang="zh-CN" altLang="en-US" sz="2000" b="1" dirty="0" smtClean="0">
              <a:latin typeface="仿宋_GB2312" pitchFamily="49" charset="-122"/>
              <a:ea typeface="仿宋_GB2312" pitchFamily="49" charset="-122"/>
            </a:endParaRPr>
          </a:p>
          <a:p>
            <a:pPr>
              <a:lnSpc>
                <a:spcPct val="110000"/>
              </a:lnSpc>
              <a:buClr>
                <a:srgbClr val="800080"/>
              </a:buClr>
              <a:buSzPct val="55000"/>
            </a:pPr>
            <a:r>
              <a:rPr lang="en-US" altLang="zh-CN" sz="2000" dirty="0" err="1" smtClean="0"/>
              <a:t>typedef</a:t>
            </a:r>
            <a:r>
              <a:rPr lang="en-US" altLang="zh-CN" sz="2000" dirty="0" smtClean="0"/>
              <a:t> </a:t>
            </a:r>
            <a:r>
              <a:rPr lang="en-US" altLang="zh-CN" sz="2000" dirty="0" err="1" smtClean="0"/>
              <a:t>struct</a:t>
            </a:r>
            <a:r>
              <a:rPr lang="en-US" altLang="zh-CN" sz="2000" dirty="0" smtClean="0"/>
              <a:t> </a:t>
            </a:r>
            <a:r>
              <a:rPr lang="en-US" altLang="zh-CN" sz="2000" dirty="0" err="1" smtClean="0"/>
              <a:t>BiTNode</a:t>
            </a:r>
            <a:r>
              <a:rPr lang="en-US" altLang="zh-CN" sz="2000" dirty="0" smtClean="0"/>
              <a:t>{</a:t>
            </a:r>
            <a:endParaRPr lang="en-US" altLang="zh-CN" sz="2000" dirty="0" smtClean="0"/>
          </a:p>
          <a:p>
            <a:pPr>
              <a:lnSpc>
                <a:spcPct val="110000"/>
              </a:lnSpc>
              <a:buClr>
                <a:srgbClr val="800080"/>
              </a:buClr>
              <a:buSzPct val="55000"/>
              <a:buFont typeface="Wingdings" panose="05000000000000000000" pitchFamily="2" charset="2"/>
              <a:buChar char="•"/>
            </a:pPr>
            <a:r>
              <a:rPr lang="en-US" altLang="zh-CN" sz="2000" dirty="0" smtClean="0"/>
              <a:t>	</a:t>
            </a:r>
            <a:r>
              <a:rPr lang="en-US" altLang="zh-CN" sz="2000" dirty="0" err="1" smtClean="0"/>
              <a:t>TElemType</a:t>
            </a:r>
            <a:r>
              <a:rPr lang="en-US" altLang="zh-CN" sz="2000" dirty="0" smtClean="0"/>
              <a:t> data;</a:t>
            </a:r>
            <a:endParaRPr lang="en-US" altLang="zh-CN" sz="2000" dirty="0" smtClean="0"/>
          </a:p>
          <a:p>
            <a:pPr>
              <a:lnSpc>
                <a:spcPct val="110000"/>
              </a:lnSpc>
              <a:buClr>
                <a:srgbClr val="800080"/>
              </a:buClr>
              <a:buSzPct val="55000"/>
              <a:buFont typeface="Wingdings" panose="05000000000000000000" pitchFamily="2" charset="2"/>
              <a:buChar char="•"/>
            </a:pPr>
            <a:r>
              <a:rPr lang="en-US" altLang="zh-CN" sz="2000" dirty="0" smtClean="0"/>
              <a:t>	</a:t>
            </a:r>
            <a:r>
              <a:rPr lang="en-US" altLang="zh-CN" sz="2000" dirty="0" err="1" smtClean="0"/>
              <a:t>struct</a:t>
            </a:r>
            <a:r>
              <a:rPr lang="en-US" altLang="zh-CN" sz="2000" dirty="0" smtClean="0"/>
              <a:t> </a:t>
            </a:r>
            <a:r>
              <a:rPr lang="en-US" altLang="zh-CN" sz="2000" dirty="0" err="1" smtClean="0"/>
              <a:t>BiTNode</a:t>
            </a:r>
            <a:r>
              <a:rPr lang="en-US" altLang="zh-CN" sz="2000" dirty="0" smtClean="0"/>
              <a:t> *</a:t>
            </a:r>
            <a:r>
              <a:rPr lang="en-US" altLang="zh-CN" sz="2000" dirty="0" err="1" smtClean="0"/>
              <a:t>lchild</a:t>
            </a:r>
            <a:r>
              <a:rPr lang="en-US" altLang="zh-CN" sz="2000" dirty="0" smtClean="0"/>
              <a:t>,*</a:t>
            </a:r>
            <a:r>
              <a:rPr lang="en-US" altLang="zh-CN" sz="2000" dirty="0" err="1" smtClean="0"/>
              <a:t>rchild</a:t>
            </a:r>
            <a:r>
              <a:rPr lang="en-US" altLang="zh-CN" sz="2000" dirty="0" smtClean="0"/>
              <a:t>;</a:t>
            </a:r>
            <a:endParaRPr lang="en-US" altLang="zh-CN" sz="2000" dirty="0" smtClean="0"/>
          </a:p>
          <a:p>
            <a:pPr>
              <a:lnSpc>
                <a:spcPct val="110000"/>
              </a:lnSpc>
              <a:buClr>
                <a:srgbClr val="800080"/>
              </a:buClr>
              <a:buSzPct val="55000"/>
              <a:buFont typeface="Wingdings" panose="05000000000000000000" pitchFamily="2" charset="2"/>
              <a:buChar char="•"/>
            </a:pPr>
            <a:r>
              <a:rPr lang="en-US" altLang="zh-CN" sz="2000" dirty="0" smtClean="0"/>
              <a:t>	}</a:t>
            </a:r>
            <a:r>
              <a:rPr lang="en-US" altLang="zh-CN" sz="2000" dirty="0" err="1" smtClean="0"/>
              <a:t>BiTNode</a:t>
            </a:r>
            <a:r>
              <a:rPr lang="en-US" altLang="zh-CN" sz="2000" dirty="0" smtClean="0"/>
              <a:t>,*</a:t>
            </a:r>
            <a:r>
              <a:rPr lang="en-US" altLang="zh-CN" sz="2000" dirty="0" err="1" smtClean="0"/>
              <a:t>BiTree</a:t>
            </a:r>
            <a:r>
              <a:rPr lang="en-US" altLang="zh-CN" sz="2000" dirty="0" smtClean="0"/>
              <a:t>;</a:t>
            </a:r>
            <a:endParaRPr lang="en-US" altLang="zh-CN" sz="2000" dirty="0" smtClean="0"/>
          </a:p>
          <a:p>
            <a:pPr>
              <a:lnSpc>
                <a:spcPct val="110000"/>
              </a:lnSpc>
              <a:buClr>
                <a:srgbClr val="800080"/>
              </a:buClr>
              <a:buSzPct val="55000"/>
              <a:buFont typeface="Wingdings" panose="05000000000000000000" pitchFamily="2" charset="2"/>
              <a:buChar char="•"/>
            </a:pPr>
            <a:endParaRPr lang="en-US" altLang="zh-CN" sz="2000" dirty="0" smtClean="0"/>
          </a:p>
        </p:txBody>
      </p:sp>
      <p:graphicFrame>
        <p:nvGraphicFramePr>
          <p:cNvPr id="22530" name="Object 2"/>
          <p:cNvGraphicFramePr>
            <a:graphicFrameLocks noChangeAspect="1"/>
          </p:cNvGraphicFramePr>
          <p:nvPr/>
        </p:nvGraphicFramePr>
        <p:xfrm>
          <a:off x="1043607" y="2913883"/>
          <a:ext cx="4968553" cy="461121"/>
        </p:xfrm>
        <a:graphic>
          <a:graphicData uri="http://schemas.openxmlformats.org/presentationml/2006/ole">
            <mc:AlternateContent xmlns:mc="http://schemas.openxmlformats.org/markup-compatibility/2006">
              <mc:Choice xmlns:v="urn:schemas-microsoft-com:vml" Requires="v">
                <p:oleObj spid="_x0000_s44050" name="文档" r:id="rId1" imgW="5629275" imgH="323850" progId="Word.Document.8">
                  <p:embed/>
                </p:oleObj>
              </mc:Choice>
              <mc:Fallback>
                <p:oleObj name="文档" r:id="rId1" imgW="5629275" imgH="323850" progId="Word.Document.8">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l="21291" r="46487" b="48996"/>
                      <a:stretch>
                        <a:fillRect/>
                      </a:stretch>
                    </p:blipFill>
                    <p:spPr bwMode="auto">
                      <a:xfrm>
                        <a:off x="1043607" y="2913883"/>
                        <a:ext cx="4968553" cy="461121"/>
                      </a:xfrm>
                      <a:prstGeom prst="rect">
                        <a:avLst/>
                      </a:prstGeom>
                      <a:solidFill>
                        <a:srgbClr val="FFFFFF"/>
                      </a:solidFill>
                      <a:ln>
                        <a:noFill/>
                      </a:ln>
                      <a:effectLst/>
                    </p:spPr>
                  </p:pic>
                </p:oleObj>
              </mc:Fallback>
            </mc:AlternateContent>
          </a:graphicData>
        </a:graphic>
      </p:graphicFrame>
      <p:graphicFrame>
        <p:nvGraphicFramePr>
          <p:cNvPr id="22531" name="Object 3"/>
          <p:cNvGraphicFramePr>
            <a:graphicFrameLocks noGrp="1" noChangeAspect="1"/>
          </p:cNvGraphicFramePr>
          <p:nvPr>
            <p:ph sz="half" idx="2"/>
          </p:nvPr>
        </p:nvGraphicFramePr>
        <p:xfrm>
          <a:off x="5751115" y="3409418"/>
          <a:ext cx="3234135" cy="2361432"/>
        </p:xfrm>
        <a:graphic>
          <a:graphicData uri="http://schemas.openxmlformats.org/presentationml/2006/ole">
            <mc:AlternateContent xmlns:mc="http://schemas.openxmlformats.org/markup-compatibility/2006">
              <mc:Choice xmlns:v="urn:schemas-microsoft-com:vml" Requires="v">
                <p:oleObj spid="_x0000_s44051" name="位图图像" r:id="rId3" imgW="3743325" imgH="2057400" progId="PBrush">
                  <p:embed/>
                </p:oleObj>
              </mc:Choice>
              <mc:Fallback>
                <p:oleObj name="位图图像" r:id="rId3" imgW="3743325" imgH="2057400" progId="PBrush">
                  <p:embed/>
                  <p:pic>
                    <p:nvPicPr>
                      <p:cNvPr id="0" name="Object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51115" y="3409418"/>
                        <a:ext cx="3234135" cy="2361432"/>
                      </a:xfrm>
                      <a:prstGeom prst="rect">
                        <a:avLst/>
                      </a:prstGeom>
                      <a:noFill/>
                      <a:ln>
                        <a:noFill/>
                      </a:ln>
                      <a:effectLst/>
                    </p:spPr>
                  </p:pic>
                </p:oleObj>
              </mc:Fallback>
            </mc:AlternateContent>
          </a:graphicData>
        </a:graphic>
      </p:graphicFrame>
      <p:sp>
        <p:nvSpPr>
          <p:cNvPr id="22534" name="AutoShape 47">
            <a:hlinkClick r:id="rId5" action="ppaction://hlinksldjump" highlightClick="1"/>
          </p:cNvPr>
          <p:cNvSpPr>
            <a:spLocks noChangeArrowheads="1"/>
          </p:cNvSpPr>
          <p:nvPr/>
        </p:nvSpPr>
        <p:spPr bwMode="auto">
          <a:xfrm>
            <a:off x="8680450" y="6373813"/>
            <a:ext cx="304800" cy="252412"/>
          </a:xfrm>
          <a:prstGeom prst="actionButtonForwardNex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endParaRPr lang="zh-CN" altLang="en-US"/>
          </a:p>
        </p:txBody>
      </p:sp>
      <p:sp>
        <p:nvSpPr>
          <p:cNvPr id="22535"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3" name="矩形 2"/>
          <p:cNvSpPr/>
          <p:nvPr/>
        </p:nvSpPr>
        <p:spPr>
          <a:xfrm>
            <a:off x="837456" y="1250454"/>
            <a:ext cx="5750768" cy="523220"/>
          </a:xfrm>
          <a:prstGeom prst="rect">
            <a:avLst/>
          </a:prstGeom>
        </p:spPr>
        <p:txBody>
          <a:bodyPr wrap="square">
            <a:spAutoFit/>
          </a:bodyPr>
          <a:lstStyle/>
          <a:p>
            <a:pPr lvl="0">
              <a:spcBef>
                <a:spcPct val="20000"/>
              </a:spcBef>
            </a:pPr>
            <a:r>
              <a:rPr lang="zh-CN" altLang="en-US" sz="2800" b="1" dirty="0">
                <a:solidFill>
                  <a:schemeClr val="accent2"/>
                </a:solidFill>
                <a:latin typeface="+mn-lt"/>
                <a:ea typeface="+mn-ea"/>
              </a:rPr>
              <a:t>二叉树的链式存储结构</a:t>
            </a:r>
            <a:r>
              <a:rPr lang="en-US" altLang="zh-CN" sz="2800" b="1" dirty="0">
                <a:solidFill>
                  <a:schemeClr val="accent2"/>
                </a:solidFill>
                <a:latin typeface="+mn-lt"/>
                <a:ea typeface="+mn-ea"/>
              </a:rPr>
              <a:t>:</a:t>
            </a:r>
            <a:r>
              <a:rPr lang="zh-CN" altLang="en-US" sz="2800" b="1" dirty="0">
                <a:solidFill>
                  <a:schemeClr val="accent2"/>
                </a:solidFill>
                <a:latin typeface="+mn-lt"/>
                <a:ea typeface="+mn-ea"/>
              </a:rPr>
              <a:t>二叉链表</a:t>
            </a:r>
            <a:endParaRPr lang="zh-CN" altLang="en-US" sz="2800" b="1" dirty="0">
              <a:solidFill>
                <a:schemeClr val="accent2"/>
              </a:solidFill>
              <a:latin typeface="+mn-lt"/>
              <a:ea typeface="+mn-ea"/>
            </a:endParaRPr>
          </a:p>
        </p:txBody>
      </p:sp>
    </p:spTree>
  </p:cSld>
  <p:clrMapOvr>
    <a:masterClrMapping/>
  </p:clrMapOvr>
  <p:transition/>
  <p:timing>
    <p:tnLst>
      <p:par>
        <p:cTn id="1" dur="indefinite" restart="never" nodeType="tmRoot"/>
      </p:par>
    </p:tnLst>
  </p:timing>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6" name="Rectangle 2"/>
          <p:cNvSpPr>
            <a:spLocks noGrp="1" noChangeArrowheads="1"/>
          </p:cNvSpPr>
          <p:nvPr>
            <p:ph type="body" sz="half" idx="1"/>
          </p:nvPr>
        </p:nvSpPr>
        <p:spPr>
          <a:xfrm>
            <a:off x="971600" y="1214936"/>
            <a:ext cx="7769225" cy="1707654"/>
          </a:xfrm>
        </p:spPr>
        <p:txBody>
          <a:bodyPr/>
          <a:lstStyle/>
          <a:p>
            <a:r>
              <a:rPr lang="zh-CN" altLang="en-US" sz="2400" dirty="0" smtClean="0"/>
              <a:t>二叉链表的存储特点是寻找孩子结点容易，双亲比较困难。因此，若需要频繁地寻找双亲，可以给每个结点添加一个指向双亲结点的指针域，其结点结构如下所示。</a:t>
            </a:r>
            <a:endParaRPr lang="zh-CN" altLang="en-US" sz="2400" dirty="0" smtClean="0"/>
          </a:p>
          <a:p>
            <a:endParaRPr kumimoji="1" lang="en-US" altLang="zh-CN" b="1" dirty="0" smtClean="0">
              <a:latin typeface="仿宋_GB2312" pitchFamily="49" charset="-122"/>
              <a:ea typeface="仿宋_GB2312" pitchFamily="49" charset="-122"/>
            </a:endParaRPr>
          </a:p>
        </p:txBody>
      </p:sp>
      <p:graphicFrame>
        <p:nvGraphicFramePr>
          <p:cNvPr id="2583661" name="Group 109"/>
          <p:cNvGraphicFramePr>
            <a:graphicFrameLocks noGrp="1"/>
          </p:cNvGraphicFramePr>
          <p:nvPr>
            <p:ph sz="quarter" idx="2"/>
          </p:nvPr>
        </p:nvGraphicFramePr>
        <p:xfrm>
          <a:off x="2339752" y="2465390"/>
          <a:ext cx="4680520" cy="457200"/>
        </p:xfrm>
        <a:graphic>
          <a:graphicData uri="http://schemas.openxmlformats.org/drawingml/2006/table">
            <a:tbl>
              <a:tblPr/>
              <a:tblGrid>
                <a:gridCol w="1109814"/>
                <a:gridCol w="1107057"/>
                <a:gridCol w="1349699"/>
                <a:gridCol w="1113950"/>
              </a:tblGrid>
              <a:tr h="334207">
                <a:tc>
                  <a:txBody>
                    <a:body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pPr>
                      <a:r>
                        <a:rPr kumimoji="0" lang="en-US" altLang="zh-CN" sz="2400" b="0" i="0" u="none" strike="noStrike" cap="none" normalizeH="0" baseline="0" dirty="0" err="1" smtClean="0">
                          <a:ln>
                            <a:noFill/>
                          </a:ln>
                          <a:solidFill>
                            <a:schemeClr val="tx1"/>
                          </a:solidFill>
                          <a:effectLst/>
                          <a:latin typeface="Arial" panose="020B0604020202090204" pitchFamily="34" charset="0"/>
                          <a:ea typeface="宋体" pitchFamily="2" charset="-122"/>
                        </a:rPr>
                        <a:t>lchild</a:t>
                      </a:r>
                      <a:endParaRPr kumimoji="0" lang="en-US" altLang="zh-CN" sz="2400" b="0" i="0" u="none" strike="noStrike" cap="none" normalizeH="0" baseline="0" dirty="0" smtClean="0">
                        <a:ln>
                          <a:noFill/>
                        </a:ln>
                        <a:solidFill>
                          <a:schemeClr val="tx1"/>
                        </a:solidFill>
                        <a:effectLst/>
                        <a:latin typeface="Arial" panose="020B0604020202090204" pitchFamily="34" charset="0"/>
                        <a:ea typeface="宋体" pitchFamily="2" charset="-122"/>
                      </a:endParaRP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pPr>
                      <a:r>
                        <a:rPr kumimoji="0" lang="en-US" altLang="zh-CN" sz="2400" b="0" i="0" u="none" strike="noStrike" cap="none" normalizeH="0" baseline="0" dirty="0" smtClean="0">
                          <a:ln>
                            <a:noFill/>
                          </a:ln>
                          <a:solidFill>
                            <a:schemeClr val="tx1"/>
                          </a:solidFill>
                          <a:effectLst/>
                          <a:latin typeface="Arial" panose="020B0604020202090204" pitchFamily="34" charset="0"/>
                          <a:ea typeface="宋体" pitchFamily="2" charset="-122"/>
                        </a:rPr>
                        <a:t>data</a:t>
                      </a:r>
                      <a:endParaRPr kumimoji="0" lang="en-US" altLang="zh-CN" sz="2400" b="0" i="0" u="none" strike="noStrike" cap="none" normalizeH="0" baseline="0" dirty="0" smtClean="0">
                        <a:ln>
                          <a:noFill/>
                        </a:ln>
                        <a:solidFill>
                          <a:schemeClr val="tx1"/>
                        </a:solidFill>
                        <a:effectLst/>
                        <a:latin typeface="Arial" panose="020B0604020202090204" pitchFamily="34" charset="0"/>
                        <a:ea typeface="宋体" pitchFamily="2" charset="-122"/>
                      </a:endParaRP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pPr>
                      <a:r>
                        <a:rPr kumimoji="0" lang="en-US" altLang="zh-CN" sz="2400" b="0" i="0" u="none" strike="noStrike" cap="none" normalizeH="0" baseline="0" dirty="0" smtClean="0">
                          <a:ln>
                            <a:noFill/>
                          </a:ln>
                          <a:solidFill>
                            <a:schemeClr val="tx1"/>
                          </a:solidFill>
                          <a:effectLst/>
                          <a:latin typeface="Arial" panose="020B0604020202090204" pitchFamily="34" charset="0"/>
                          <a:ea typeface="宋体" pitchFamily="2" charset="-122"/>
                        </a:rPr>
                        <a:t>parent</a:t>
                      </a:r>
                      <a:endParaRPr kumimoji="0" lang="en-US" altLang="zh-CN" sz="2400" b="0" i="0" u="none" strike="noStrike" cap="none" normalizeH="0" baseline="0" dirty="0" smtClean="0">
                        <a:ln>
                          <a:noFill/>
                        </a:ln>
                        <a:solidFill>
                          <a:schemeClr val="tx1"/>
                        </a:solidFill>
                        <a:effectLst/>
                        <a:latin typeface="Arial" panose="020B0604020202090204" pitchFamily="34" charset="0"/>
                        <a:ea typeface="宋体" pitchFamily="2" charset="-122"/>
                      </a:endParaRP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pPr>
                      <a:r>
                        <a:rPr kumimoji="0" lang="en-US" altLang="zh-CN" sz="2400" b="0" i="0" u="none" strike="noStrike" cap="none" normalizeH="0" baseline="0" dirty="0" err="1" smtClean="0">
                          <a:ln>
                            <a:noFill/>
                          </a:ln>
                          <a:solidFill>
                            <a:schemeClr val="tx1"/>
                          </a:solidFill>
                          <a:effectLst/>
                          <a:latin typeface="Arial" panose="020B0604020202090204" pitchFamily="34" charset="0"/>
                          <a:ea typeface="宋体" pitchFamily="2" charset="-122"/>
                        </a:rPr>
                        <a:t>rchild</a:t>
                      </a:r>
                      <a:endParaRPr kumimoji="0" lang="en-US" altLang="zh-CN" sz="2400" b="0" i="0" u="none" strike="noStrike" cap="none" normalizeH="0" baseline="0" dirty="0" smtClean="0">
                        <a:ln>
                          <a:noFill/>
                        </a:ln>
                        <a:solidFill>
                          <a:schemeClr val="tx1"/>
                        </a:solidFill>
                        <a:effectLst/>
                        <a:latin typeface="Arial" panose="020B0604020202090204" pitchFamily="34" charset="0"/>
                        <a:ea typeface="宋体" pitchFamily="2" charset="-122"/>
                      </a:endParaRP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r>
            </a:tbl>
          </a:graphicData>
        </a:graphic>
      </p:graphicFrame>
      <p:graphicFrame>
        <p:nvGraphicFramePr>
          <p:cNvPr id="23554" name="Object 2"/>
          <p:cNvGraphicFramePr>
            <a:graphicFrameLocks noGrp="1" noChangeAspect="1"/>
          </p:cNvGraphicFramePr>
          <p:nvPr>
            <p:ph sz="quarter" idx="3"/>
          </p:nvPr>
        </p:nvGraphicFramePr>
        <p:xfrm>
          <a:off x="755576" y="3068960"/>
          <a:ext cx="2818341" cy="3000498"/>
        </p:xfrm>
        <a:graphic>
          <a:graphicData uri="http://schemas.openxmlformats.org/presentationml/2006/ole">
            <mc:AlternateContent xmlns:mc="http://schemas.openxmlformats.org/markup-compatibility/2006">
              <mc:Choice xmlns:v="urn:schemas-microsoft-com:vml" Requires="v">
                <p:oleObj spid="_x0000_s45074" name="位图图像" r:id="rId1" imgW="1771650" imgH="1885950" progId="PBrush">
                  <p:embed/>
                </p:oleObj>
              </mc:Choice>
              <mc:Fallback>
                <p:oleObj name="位图图像" r:id="rId1" imgW="1771650" imgH="1885950" progId="PBrush">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5576" y="3068960"/>
                        <a:ext cx="2818341" cy="3000498"/>
                      </a:xfrm>
                      <a:prstGeom prst="rect">
                        <a:avLst/>
                      </a:prstGeom>
                      <a:noFill/>
                      <a:ln>
                        <a:noFill/>
                      </a:ln>
                      <a:effectLst/>
                    </p:spPr>
                  </p:pic>
                </p:oleObj>
              </mc:Fallback>
            </mc:AlternateContent>
          </a:graphicData>
        </a:graphic>
      </p:graphicFrame>
      <p:graphicFrame>
        <p:nvGraphicFramePr>
          <p:cNvPr id="23555" name="Object 3"/>
          <p:cNvGraphicFramePr>
            <a:graphicFrameLocks noChangeAspect="1"/>
          </p:cNvGraphicFramePr>
          <p:nvPr/>
        </p:nvGraphicFramePr>
        <p:xfrm>
          <a:off x="4211960" y="3068960"/>
          <a:ext cx="4224456" cy="3346000"/>
        </p:xfrm>
        <a:graphic>
          <a:graphicData uri="http://schemas.openxmlformats.org/presentationml/2006/ole">
            <mc:AlternateContent xmlns:mc="http://schemas.openxmlformats.org/markup-compatibility/2006">
              <mc:Choice xmlns:v="urn:schemas-microsoft-com:vml" Requires="v">
                <p:oleObj spid="_x0000_s45075" name="位图图像" r:id="rId3" imgW="3086100" imgH="2476500" progId="PBrush">
                  <p:embed/>
                </p:oleObj>
              </mc:Choice>
              <mc:Fallback>
                <p:oleObj name="位图图像" r:id="rId3" imgW="3086100" imgH="2476500" progId="PBrush">
                  <p:embed/>
                  <p:pic>
                    <p:nvPicPr>
                      <p:cNvPr id="0" name="Object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11960" y="3068960"/>
                        <a:ext cx="4224456" cy="3346000"/>
                      </a:xfrm>
                      <a:prstGeom prst="rect">
                        <a:avLst/>
                      </a:prstGeom>
                      <a:noFill/>
                      <a:ln>
                        <a:noFill/>
                      </a:ln>
                      <a:effectLst/>
                    </p:spPr>
                  </p:pic>
                </p:oleObj>
              </mc:Fallback>
            </mc:AlternateContent>
          </a:graphicData>
        </a:graphic>
      </p:graphicFrame>
      <p:sp>
        <p:nvSpPr>
          <p:cNvPr id="23569" name="页脚占位符 3"/>
          <p:cNvSpPr>
            <a:spLocks noGrp="1"/>
          </p:cNvSpPr>
          <p:nvPr>
            <p:ph type="ftr" sz="quarter" idx="10"/>
          </p:nvPr>
        </p:nvSpPr>
        <p:spPr>
          <a:xfrm>
            <a:off x="3492500" y="6381750"/>
            <a:ext cx="3816350" cy="431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8" name="Rectangle 2"/>
          <p:cNvSpPr>
            <a:spLocks noGrp="1" noChangeArrowheads="1"/>
          </p:cNvSpPr>
          <p:nvPr>
            <p:ph type="title"/>
          </p:nvPr>
        </p:nvSpPr>
        <p:spPr>
          <a:xfrm>
            <a:off x="857250" y="457200"/>
            <a:ext cx="7829550" cy="642938"/>
          </a:xfrm>
        </p:spPr>
        <p:txBody>
          <a:bodyPr/>
          <a:lstStyle/>
          <a:p>
            <a:pPr eaLnBrk="1" hangingPunct="1"/>
            <a:r>
              <a:rPr lang="en-US" altLang="zh-CN" dirty="0">
                <a:solidFill>
                  <a:srgbClr val="333399"/>
                </a:solidFill>
              </a:rPr>
              <a:t>1.4.</a:t>
            </a:r>
            <a:r>
              <a:rPr lang="en-US" altLang="zh-CN" kern="0" dirty="0" smtClean="0"/>
              <a:t>6 </a:t>
            </a:r>
            <a:r>
              <a:rPr lang="zh-CN" altLang="en-US" kern="0" dirty="0" smtClean="0"/>
              <a:t>树、根树、</a:t>
            </a:r>
            <a:r>
              <a:rPr lang="zh-CN" altLang="en-US" b="1" u="sng" kern="0" dirty="0" smtClean="0"/>
              <a:t>二叉树</a:t>
            </a:r>
            <a:endParaRPr lang="en-US" altLang="zh-CN" kern="0" dirty="0" smtClean="0"/>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页脚占位符 4"/>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24581" name="Rectangle 3"/>
          <p:cNvSpPr>
            <a:spLocks noGrp="1" noChangeArrowheads="1"/>
          </p:cNvSpPr>
          <p:nvPr>
            <p:ph type="body" sz="half" idx="1"/>
          </p:nvPr>
        </p:nvSpPr>
        <p:spPr>
          <a:xfrm>
            <a:off x="900113" y="1268413"/>
            <a:ext cx="8064500" cy="2160587"/>
          </a:xfrm>
        </p:spPr>
        <p:txBody>
          <a:bodyPr/>
          <a:lstStyle/>
          <a:p>
            <a:pPr marL="0" indent="0" eaLnBrk="1" hangingPunct="1">
              <a:buNone/>
            </a:pPr>
            <a:r>
              <a:rPr lang="zh-CN" altLang="en-US" sz="2800" b="1" dirty="0"/>
              <a:t>二叉树的一些定量特征</a:t>
            </a:r>
            <a:endParaRPr lang="en-US" altLang="zh-CN" sz="2800" b="1" dirty="0"/>
          </a:p>
          <a:p>
            <a:pPr eaLnBrk="1" hangingPunct="1"/>
            <a:r>
              <a:rPr lang="zh-CN" altLang="en-US" sz="2100" dirty="0" smtClean="0"/>
              <a:t>在下面的观察结论中，列出了二叉树的层、顶点树和高度间的一些有用的关系。</a:t>
            </a:r>
            <a:endParaRPr lang="en-US" altLang="zh-CN" sz="2100" dirty="0" smtClean="0"/>
          </a:p>
          <a:p>
            <a:pPr eaLnBrk="1" hangingPunct="1"/>
            <a:r>
              <a:rPr lang="zh-CN" altLang="en-US" sz="2100" dirty="0" smtClean="0"/>
              <a:t>观察结论</a:t>
            </a:r>
            <a:r>
              <a:rPr lang="en-US" altLang="zh-CN" sz="2100" dirty="0" smtClean="0"/>
              <a:t>3.1 </a:t>
            </a:r>
            <a:r>
              <a:rPr lang="zh-CN" altLang="en-US" sz="2100" dirty="0" smtClean="0"/>
              <a:t>在二叉树中，第</a:t>
            </a:r>
            <a:r>
              <a:rPr lang="en-US" altLang="zh-CN" sz="2100" dirty="0" smtClean="0"/>
              <a:t>j</a:t>
            </a:r>
            <a:r>
              <a:rPr lang="zh-CN" altLang="en-US" sz="2100" dirty="0" smtClean="0"/>
              <a:t>层的顶点数最多是</a:t>
            </a:r>
            <a:r>
              <a:rPr lang="en-US" altLang="zh-CN" sz="2100" dirty="0" err="1" smtClean="0"/>
              <a:t>2</a:t>
            </a:r>
            <a:r>
              <a:rPr lang="en-US" altLang="zh-CN" sz="2100" baseline="30000" dirty="0" err="1" smtClean="0"/>
              <a:t>j</a:t>
            </a:r>
            <a:r>
              <a:rPr lang="zh-CN" altLang="en-US" sz="2100" dirty="0" smtClean="0"/>
              <a:t>。</a:t>
            </a:r>
            <a:endParaRPr lang="en-US" altLang="zh-CN" sz="2100" dirty="0" smtClean="0"/>
          </a:p>
          <a:p>
            <a:pPr eaLnBrk="1" hangingPunct="1"/>
            <a:r>
              <a:rPr lang="zh-CN" altLang="en-US" sz="2100" dirty="0" smtClean="0"/>
              <a:t>观察结论</a:t>
            </a:r>
            <a:r>
              <a:rPr lang="en-US" altLang="zh-CN" sz="2100" dirty="0" smtClean="0"/>
              <a:t>3.2 </a:t>
            </a:r>
            <a:r>
              <a:rPr lang="zh-CN" altLang="en-US" sz="2100" dirty="0" smtClean="0"/>
              <a:t>令二叉树</a:t>
            </a:r>
            <a:r>
              <a:rPr lang="en-US" altLang="zh-CN" sz="2100" dirty="0" smtClean="0"/>
              <a:t>T</a:t>
            </a:r>
            <a:r>
              <a:rPr lang="zh-CN" altLang="en-US" sz="2100" dirty="0" smtClean="0"/>
              <a:t>的顶点数是</a:t>
            </a:r>
            <a:r>
              <a:rPr lang="en-US" altLang="zh-CN" sz="2100" dirty="0" smtClean="0"/>
              <a:t>n</a:t>
            </a:r>
            <a:r>
              <a:rPr lang="zh-CN" altLang="en-US" sz="2100" dirty="0" smtClean="0"/>
              <a:t>，高度是</a:t>
            </a:r>
            <a:r>
              <a:rPr lang="en-US" altLang="zh-CN" sz="2100" dirty="0" smtClean="0"/>
              <a:t>k</a:t>
            </a:r>
            <a:r>
              <a:rPr lang="zh-CN" altLang="en-US" sz="2100" dirty="0" smtClean="0"/>
              <a:t>，那么：</a:t>
            </a:r>
            <a:endParaRPr lang="en-US" altLang="zh-CN" sz="2100" dirty="0" smtClean="0"/>
          </a:p>
        </p:txBody>
      </p:sp>
      <p:graphicFrame>
        <p:nvGraphicFramePr>
          <p:cNvPr id="111628" name="Object 12"/>
          <p:cNvGraphicFramePr>
            <a:graphicFrameLocks noGrp="1" noChangeAspect="1"/>
          </p:cNvGraphicFramePr>
          <p:nvPr>
            <p:ph sz="half" idx="2"/>
          </p:nvPr>
        </p:nvGraphicFramePr>
        <p:xfrm>
          <a:off x="3141737" y="3217540"/>
          <a:ext cx="2438400" cy="546100"/>
        </p:xfrm>
        <a:graphic>
          <a:graphicData uri="http://schemas.openxmlformats.org/presentationml/2006/ole">
            <mc:AlternateContent xmlns:mc="http://schemas.openxmlformats.org/markup-compatibility/2006">
              <mc:Choice xmlns:v="urn:schemas-microsoft-com:vml" Requires="v">
                <p:oleObj spid="_x0000_s46090" name="公式" r:id="rId1" imgW="1358265" imgH="304800" progId="Equation.3">
                  <p:embed/>
                </p:oleObj>
              </mc:Choice>
              <mc:Fallback>
                <p:oleObj name="公式" r:id="rId1" imgW="1358265" imgH="304800" progId="Equation.3">
                  <p:embed/>
                  <p:pic>
                    <p:nvPicPr>
                      <p:cNvPr id="0" name="Object 1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41737" y="3217540"/>
                        <a:ext cx="2438400" cy="546100"/>
                      </a:xfrm>
                      <a:prstGeom prst="rect">
                        <a:avLst/>
                      </a:prstGeom>
                    </p:spPr>
                  </p:pic>
                </p:oleObj>
              </mc:Fallback>
            </mc:AlternateContent>
          </a:graphicData>
        </a:graphic>
      </p:graphicFrame>
      <p:sp>
        <p:nvSpPr>
          <p:cNvPr id="24582" name="Rectangle 14"/>
          <p:cNvSpPr>
            <a:spLocks noChangeArrowheads="1"/>
          </p:cNvSpPr>
          <p:nvPr/>
        </p:nvSpPr>
        <p:spPr bwMode="auto">
          <a:xfrm>
            <a:off x="827162" y="3789040"/>
            <a:ext cx="8064500" cy="2160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20000"/>
              </a:spcBef>
            </a:pPr>
            <a:r>
              <a:rPr lang="zh-CN" altLang="en-US" sz="2100">
                <a:solidFill>
                  <a:schemeClr val="accent2"/>
                </a:solidFill>
                <a:latin typeface="Times New Roman" panose="02020503050405090304" pitchFamily="18" charset="0"/>
                <a:ea typeface="华文楷体" panose="02010600040101010101" pitchFamily="2" charset="-122"/>
              </a:rPr>
              <a:t>如果</a:t>
            </a:r>
            <a:r>
              <a:rPr lang="en-US" altLang="zh-CN" sz="2100">
                <a:solidFill>
                  <a:schemeClr val="accent2"/>
                </a:solidFill>
                <a:latin typeface="Times New Roman" panose="02020503050405090304" pitchFamily="18" charset="0"/>
                <a:ea typeface="华文楷体" panose="02010600040101010101" pitchFamily="2" charset="-122"/>
              </a:rPr>
              <a:t>T</a:t>
            </a:r>
            <a:r>
              <a:rPr lang="zh-CN" altLang="en-US" sz="2100">
                <a:solidFill>
                  <a:schemeClr val="accent2"/>
                </a:solidFill>
                <a:latin typeface="Times New Roman" panose="02020503050405090304" pitchFamily="18" charset="0"/>
                <a:ea typeface="华文楷体" panose="02010600040101010101" pitchFamily="2" charset="-122"/>
              </a:rPr>
              <a:t>是完全的，等号成立。如果</a:t>
            </a:r>
            <a:r>
              <a:rPr lang="en-US" altLang="zh-CN" sz="2100">
                <a:solidFill>
                  <a:schemeClr val="accent2"/>
                </a:solidFill>
                <a:latin typeface="Times New Roman" panose="02020503050405090304" pitchFamily="18" charset="0"/>
                <a:ea typeface="华文楷体" panose="02010600040101010101" pitchFamily="2" charset="-122"/>
              </a:rPr>
              <a:t>T</a:t>
            </a:r>
            <a:r>
              <a:rPr lang="zh-CN" altLang="en-US" sz="2100">
                <a:solidFill>
                  <a:schemeClr val="accent2"/>
                </a:solidFill>
                <a:latin typeface="Times New Roman" panose="02020503050405090304" pitchFamily="18" charset="0"/>
                <a:ea typeface="华文楷体" panose="02010600040101010101" pitchFamily="2" charset="-122"/>
              </a:rPr>
              <a:t>是几乎完全的，那么有</a:t>
            </a:r>
            <a:endParaRPr lang="en-US" altLang="zh-CN" sz="2100">
              <a:solidFill>
                <a:schemeClr val="accent2"/>
              </a:solidFill>
              <a:latin typeface="Times New Roman" panose="02020503050405090304" pitchFamily="18" charset="0"/>
              <a:ea typeface="华文楷体" panose="02010600040101010101" pitchFamily="2" charset="-122"/>
            </a:endParaRPr>
          </a:p>
          <a:p>
            <a:pPr eaLnBrk="1" hangingPunct="1">
              <a:spcBef>
                <a:spcPct val="20000"/>
              </a:spcBef>
            </a:pPr>
            <a:r>
              <a:rPr lang="en-US" altLang="zh-CN" sz="2100">
                <a:solidFill>
                  <a:schemeClr val="accent2"/>
                </a:solidFill>
                <a:latin typeface="Times New Roman" panose="02020503050405090304" pitchFamily="18" charset="0"/>
                <a:ea typeface="华文楷体" panose="02010600040101010101" pitchFamily="2" charset="-122"/>
              </a:rPr>
              <a:t>                                            2</a:t>
            </a:r>
            <a:r>
              <a:rPr lang="en-US" altLang="zh-CN" sz="2100" baseline="30000">
                <a:solidFill>
                  <a:schemeClr val="accent2"/>
                </a:solidFill>
                <a:latin typeface="Times New Roman" panose="02020503050405090304" pitchFamily="18" charset="0"/>
                <a:ea typeface="华文楷体" panose="02010600040101010101" pitchFamily="2" charset="-122"/>
              </a:rPr>
              <a:t>k</a:t>
            </a:r>
            <a:r>
              <a:rPr lang="en-US" altLang="zh-CN" sz="2100">
                <a:solidFill>
                  <a:schemeClr val="accent2"/>
                </a:solidFill>
                <a:latin typeface="Times New Roman" panose="02020503050405090304" pitchFamily="18" charset="0"/>
                <a:ea typeface="华文楷体" panose="02010600040101010101" pitchFamily="2" charset="-122"/>
              </a:rPr>
              <a:t>≤n ≤2</a:t>
            </a:r>
            <a:r>
              <a:rPr lang="en-US" altLang="zh-CN" sz="2100" baseline="30000">
                <a:solidFill>
                  <a:schemeClr val="accent2"/>
                </a:solidFill>
                <a:latin typeface="Times New Roman" panose="02020503050405090304" pitchFamily="18" charset="0"/>
                <a:ea typeface="华文楷体" panose="02010600040101010101" pitchFamily="2" charset="-122"/>
              </a:rPr>
              <a:t>k+1</a:t>
            </a:r>
            <a:r>
              <a:rPr lang="en-US" altLang="zh-CN" sz="2100">
                <a:solidFill>
                  <a:schemeClr val="accent2"/>
                </a:solidFill>
                <a:latin typeface="Times New Roman" panose="02020503050405090304" pitchFamily="18" charset="0"/>
                <a:ea typeface="华文楷体" panose="02010600040101010101" pitchFamily="2" charset="-122"/>
              </a:rPr>
              <a:t>-1.</a:t>
            </a:r>
            <a:endParaRPr lang="en-US" altLang="zh-CN" sz="2100">
              <a:solidFill>
                <a:schemeClr val="accent2"/>
              </a:solidFill>
              <a:latin typeface="Times New Roman" panose="02020503050405090304" pitchFamily="18" charset="0"/>
              <a:ea typeface="华文楷体" panose="02010600040101010101" pitchFamily="2" charset="-122"/>
            </a:endParaRPr>
          </a:p>
          <a:p>
            <a:pPr eaLnBrk="1" hangingPunct="1">
              <a:spcBef>
                <a:spcPct val="20000"/>
              </a:spcBef>
            </a:pPr>
            <a:endParaRPr lang="en-US" altLang="zh-CN" sz="2100">
              <a:solidFill>
                <a:schemeClr val="accent2"/>
              </a:solidFill>
              <a:latin typeface="Times New Roman" panose="02020503050405090304" pitchFamily="18" charset="0"/>
              <a:ea typeface="华文楷体" panose="02010600040101010101" pitchFamily="2" charset="-122"/>
            </a:endParaRPr>
          </a:p>
          <a:p>
            <a:pPr eaLnBrk="1" hangingPunct="1">
              <a:spcBef>
                <a:spcPct val="20000"/>
              </a:spcBef>
            </a:pPr>
            <a:r>
              <a:rPr lang="zh-CN" altLang="en-US" sz="2100">
                <a:solidFill>
                  <a:schemeClr val="accent2"/>
                </a:solidFill>
                <a:latin typeface="Times New Roman" panose="02020503050405090304" pitchFamily="18" charset="0"/>
                <a:ea typeface="华文楷体" panose="02010600040101010101" pitchFamily="2" charset="-122"/>
              </a:rPr>
              <a:t>其他观察结论见 </a:t>
            </a:r>
            <a:r>
              <a:rPr lang="en-US" altLang="zh-CN" sz="2100">
                <a:solidFill>
                  <a:schemeClr val="accent2"/>
                </a:solidFill>
                <a:latin typeface="Times New Roman" panose="02020503050405090304" pitchFamily="18" charset="0"/>
                <a:ea typeface="华文楷体" panose="02010600040101010101" pitchFamily="2" charset="-122"/>
              </a:rPr>
              <a:t>P72</a:t>
            </a:r>
            <a:endParaRPr lang="en-US" altLang="zh-CN" sz="2100">
              <a:solidFill>
                <a:schemeClr val="accent2"/>
              </a:solidFill>
              <a:latin typeface="Times New Roman" panose="02020503050405090304" pitchFamily="18" charset="0"/>
              <a:ea typeface="华文楷体" panose="02010600040101010101" pitchFamily="2" charset="-122"/>
            </a:endParaRPr>
          </a:p>
          <a:p>
            <a:pPr eaLnBrk="1" hangingPunct="1">
              <a:spcBef>
                <a:spcPct val="20000"/>
              </a:spcBef>
              <a:buFontTx/>
              <a:buChar char="•"/>
            </a:pPr>
            <a:endParaRPr lang="en-US" altLang="zh-CN" sz="2100">
              <a:solidFill>
                <a:schemeClr val="accent2"/>
              </a:solidFill>
              <a:latin typeface="Times New Roman" panose="02020503050405090304" pitchFamily="18" charset="0"/>
              <a:ea typeface="华文楷体" panose="02010600040101010101" pitchFamily="2" charset="-122"/>
            </a:endParaRPr>
          </a:p>
        </p:txBody>
      </p:sp>
      <p:sp>
        <p:nvSpPr>
          <p:cNvPr id="9" name="Rectangle 2"/>
          <p:cNvSpPr txBox="1">
            <a:spLocks noChangeArrowheads="1"/>
          </p:cNvSpPr>
          <p:nvPr/>
        </p:nvSpPr>
        <p:spPr bwMode="auto">
          <a:xfrm>
            <a:off x="857250" y="457200"/>
            <a:ext cx="7829550" cy="642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l" rtl="0" eaLnBrk="0" fontAlgn="base" hangingPunct="0">
              <a:spcBef>
                <a:spcPct val="0"/>
              </a:spcBef>
              <a:spcAft>
                <a:spcPct val="0"/>
              </a:spcAft>
              <a:defRPr sz="3200">
                <a:solidFill>
                  <a:schemeClr val="accent2"/>
                </a:solidFill>
                <a:latin typeface="+mj-lt"/>
                <a:ea typeface="+mj-ea"/>
                <a:cs typeface="+mj-cs"/>
              </a:defRPr>
            </a:lvl1pPr>
            <a:lvl2pPr algn="l" rtl="0" eaLnBrk="0" fontAlgn="base" hangingPunct="0">
              <a:spcBef>
                <a:spcPct val="0"/>
              </a:spcBef>
              <a:spcAft>
                <a:spcPct val="0"/>
              </a:spcAft>
              <a:defRPr sz="3200">
                <a:solidFill>
                  <a:schemeClr val="accent2"/>
                </a:solidFill>
                <a:latin typeface="Garamond" pitchFamily="18" charset="0"/>
                <a:ea typeface="宋体" pitchFamily="2" charset="-122"/>
              </a:defRPr>
            </a:lvl2pPr>
            <a:lvl3pPr algn="l" rtl="0" eaLnBrk="0" fontAlgn="base" hangingPunct="0">
              <a:spcBef>
                <a:spcPct val="0"/>
              </a:spcBef>
              <a:spcAft>
                <a:spcPct val="0"/>
              </a:spcAft>
              <a:defRPr sz="3200">
                <a:solidFill>
                  <a:schemeClr val="accent2"/>
                </a:solidFill>
                <a:latin typeface="Garamond" pitchFamily="18" charset="0"/>
                <a:ea typeface="宋体" pitchFamily="2" charset="-122"/>
              </a:defRPr>
            </a:lvl3pPr>
            <a:lvl4pPr algn="l" rtl="0" eaLnBrk="0" fontAlgn="base" hangingPunct="0">
              <a:spcBef>
                <a:spcPct val="0"/>
              </a:spcBef>
              <a:spcAft>
                <a:spcPct val="0"/>
              </a:spcAft>
              <a:defRPr sz="3200">
                <a:solidFill>
                  <a:schemeClr val="accent2"/>
                </a:solidFill>
                <a:latin typeface="Garamond" pitchFamily="18" charset="0"/>
                <a:ea typeface="宋体" pitchFamily="2" charset="-122"/>
              </a:defRPr>
            </a:lvl4pPr>
            <a:lvl5pPr algn="l" rtl="0" eaLnBrk="0" fontAlgn="base" hangingPunct="0">
              <a:spcBef>
                <a:spcPct val="0"/>
              </a:spcBef>
              <a:spcAft>
                <a:spcPct val="0"/>
              </a:spcAft>
              <a:defRPr sz="3200">
                <a:solidFill>
                  <a:schemeClr val="accent2"/>
                </a:solidFill>
                <a:latin typeface="Garamond" pitchFamily="18" charset="0"/>
                <a:ea typeface="宋体" pitchFamily="2" charset="-122"/>
              </a:defRPr>
            </a:lvl5pPr>
            <a:lvl6pPr marL="457200" algn="l" rtl="0" fontAlgn="base">
              <a:spcBef>
                <a:spcPct val="0"/>
              </a:spcBef>
              <a:spcAft>
                <a:spcPct val="0"/>
              </a:spcAft>
              <a:defRPr sz="3200">
                <a:solidFill>
                  <a:schemeClr val="accent2"/>
                </a:solidFill>
                <a:latin typeface="Garamond" pitchFamily="18" charset="0"/>
                <a:ea typeface="宋体" pitchFamily="2" charset="-122"/>
              </a:defRPr>
            </a:lvl6pPr>
            <a:lvl7pPr marL="914400" algn="l" rtl="0" fontAlgn="base">
              <a:spcBef>
                <a:spcPct val="0"/>
              </a:spcBef>
              <a:spcAft>
                <a:spcPct val="0"/>
              </a:spcAft>
              <a:defRPr sz="3200">
                <a:solidFill>
                  <a:schemeClr val="accent2"/>
                </a:solidFill>
                <a:latin typeface="Garamond" pitchFamily="18" charset="0"/>
                <a:ea typeface="宋体" pitchFamily="2" charset="-122"/>
              </a:defRPr>
            </a:lvl7pPr>
            <a:lvl8pPr marL="1371600" algn="l" rtl="0" fontAlgn="base">
              <a:spcBef>
                <a:spcPct val="0"/>
              </a:spcBef>
              <a:spcAft>
                <a:spcPct val="0"/>
              </a:spcAft>
              <a:defRPr sz="3200">
                <a:solidFill>
                  <a:schemeClr val="accent2"/>
                </a:solidFill>
                <a:latin typeface="Garamond" pitchFamily="18" charset="0"/>
                <a:ea typeface="宋体" pitchFamily="2" charset="-122"/>
              </a:defRPr>
            </a:lvl8pPr>
            <a:lvl9pPr marL="1828800" algn="l" rtl="0" fontAlgn="base">
              <a:spcBef>
                <a:spcPct val="0"/>
              </a:spcBef>
              <a:spcAft>
                <a:spcPct val="0"/>
              </a:spcAft>
              <a:defRPr sz="3200">
                <a:solidFill>
                  <a:schemeClr val="accent2"/>
                </a:solidFill>
                <a:latin typeface="Garamond" pitchFamily="18" charset="0"/>
                <a:ea typeface="宋体" pitchFamily="2" charset="-122"/>
              </a:defRPr>
            </a:lvl9pPr>
          </a:lstStyle>
          <a:p>
            <a:pPr eaLnBrk="1" hangingPunct="1"/>
            <a:r>
              <a:rPr lang="en-US" altLang="zh-CN" kern="0" dirty="0" smtClean="0">
                <a:solidFill>
                  <a:srgbClr val="333399"/>
                </a:solidFill>
              </a:rPr>
              <a:t>1.4.</a:t>
            </a:r>
            <a:r>
              <a:rPr lang="en-US" altLang="zh-CN" kern="0" dirty="0" smtClean="0"/>
              <a:t>6 </a:t>
            </a:r>
            <a:r>
              <a:rPr lang="zh-CN" altLang="en-US" kern="0" dirty="0" smtClean="0"/>
              <a:t>树、根树、</a:t>
            </a:r>
            <a:r>
              <a:rPr lang="zh-CN" altLang="en-US" b="1" u="sng" kern="0" dirty="0" smtClean="0"/>
              <a:t>二叉树</a:t>
            </a:r>
            <a:endParaRPr lang="en-US" altLang="zh-CN" kern="0" dirty="0" smtClean="0"/>
          </a:p>
        </p:txBody>
      </p:sp>
    </p:spTree>
  </p:cSld>
  <p:clrMapOvr>
    <a:masterClrMapping/>
  </p:clrMapOvr>
  <p:timing>
    <p:tnLst>
      <p:par>
        <p:cTn id="1" dur="indefinite" restart="never" nodeType="tmRoot"/>
      </p:par>
    </p:tnLst>
  </p:timing>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84996" name="Rectangle 3"/>
          <p:cNvSpPr>
            <a:spLocks noGrp="1" noChangeArrowheads="1"/>
          </p:cNvSpPr>
          <p:nvPr>
            <p:ph type="body" idx="1"/>
          </p:nvPr>
        </p:nvSpPr>
        <p:spPr>
          <a:xfrm>
            <a:off x="903586" y="1245965"/>
            <a:ext cx="7786687" cy="2532063"/>
          </a:xfrm>
        </p:spPr>
        <p:txBody>
          <a:bodyPr/>
          <a:lstStyle/>
          <a:p>
            <a:pPr marL="0" indent="0">
              <a:buNone/>
            </a:pPr>
            <a:r>
              <a:rPr lang="zh-CN" altLang="en-US" sz="2800" b="1" dirty="0"/>
              <a:t>二叉搜索树</a:t>
            </a:r>
            <a:endParaRPr lang="en-US" altLang="zh-CN" sz="2800" b="1" dirty="0"/>
          </a:p>
          <a:p>
            <a:r>
              <a:rPr lang="zh-CN" altLang="en-US" dirty="0" smtClean="0"/>
              <a:t>事实上，二分查找的过程，隐含地对应一棵二叉树形，但这样的二叉树形仅是逻辑上的，不能进行插入和删除操作。 如果用二叉树形来组织表，则我们将会得到较好的动态查找算法。 </a:t>
            </a:r>
            <a:endParaRPr lang="zh-CN" altLang="en-US" dirty="0" smtClean="0"/>
          </a:p>
          <a:p>
            <a:r>
              <a:rPr lang="zh-CN" altLang="en-US" dirty="0" smtClean="0"/>
              <a:t>    一般来说，二叉树结构可以显著地改善搜索的性能，因为达到一个树的路径最长不超过树深度。</a:t>
            </a:r>
            <a:endParaRPr lang="zh-CN" altLang="en-US" dirty="0" smtClean="0"/>
          </a:p>
        </p:txBody>
      </p:sp>
      <p:pic>
        <p:nvPicPr>
          <p:cNvPr id="84997"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843808" y="4221088"/>
            <a:ext cx="3257550" cy="203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ectangle 2"/>
          <p:cNvSpPr txBox="1">
            <a:spLocks noChangeArrowheads="1"/>
          </p:cNvSpPr>
          <p:nvPr/>
        </p:nvSpPr>
        <p:spPr bwMode="auto">
          <a:xfrm>
            <a:off x="857250" y="457200"/>
            <a:ext cx="7829550" cy="642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l" rtl="0" eaLnBrk="0" fontAlgn="base" hangingPunct="0">
              <a:spcBef>
                <a:spcPct val="0"/>
              </a:spcBef>
              <a:spcAft>
                <a:spcPct val="0"/>
              </a:spcAft>
              <a:defRPr sz="3200">
                <a:solidFill>
                  <a:schemeClr val="accent2"/>
                </a:solidFill>
                <a:latin typeface="+mj-lt"/>
                <a:ea typeface="+mj-ea"/>
                <a:cs typeface="+mj-cs"/>
              </a:defRPr>
            </a:lvl1pPr>
            <a:lvl2pPr algn="l" rtl="0" eaLnBrk="0" fontAlgn="base" hangingPunct="0">
              <a:spcBef>
                <a:spcPct val="0"/>
              </a:spcBef>
              <a:spcAft>
                <a:spcPct val="0"/>
              </a:spcAft>
              <a:defRPr sz="3200">
                <a:solidFill>
                  <a:schemeClr val="accent2"/>
                </a:solidFill>
                <a:latin typeface="Garamond" pitchFamily="18" charset="0"/>
                <a:ea typeface="宋体" pitchFamily="2" charset="-122"/>
              </a:defRPr>
            </a:lvl2pPr>
            <a:lvl3pPr algn="l" rtl="0" eaLnBrk="0" fontAlgn="base" hangingPunct="0">
              <a:spcBef>
                <a:spcPct val="0"/>
              </a:spcBef>
              <a:spcAft>
                <a:spcPct val="0"/>
              </a:spcAft>
              <a:defRPr sz="3200">
                <a:solidFill>
                  <a:schemeClr val="accent2"/>
                </a:solidFill>
                <a:latin typeface="Garamond" pitchFamily="18" charset="0"/>
                <a:ea typeface="宋体" pitchFamily="2" charset="-122"/>
              </a:defRPr>
            </a:lvl3pPr>
            <a:lvl4pPr algn="l" rtl="0" eaLnBrk="0" fontAlgn="base" hangingPunct="0">
              <a:spcBef>
                <a:spcPct val="0"/>
              </a:spcBef>
              <a:spcAft>
                <a:spcPct val="0"/>
              </a:spcAft>
              <a:defRPr sz="3200">
                <a:solidFill>
                  <a:schemeClr val="accent2"/>
                </a:solidFill>
                <a:latin typeface="Garamond" pitchFamily="18" charset="0"/>
                <a:ea typeface="宋体" pitchFamily="2" charset="-122"/>
              </a:defRPr>
            </a:lvl4pPr>
            <a:lvl5pPr algn="l" rtl="0" eaLnBrk="0" fontAlgn="base" hangingPunct="0">
              <a:spcBef>
                <a:spcPct val="0"/>
              </a:spcBef>
              <a:spcAft>
                <a:spcPct val="0"/>
              </a:spcAft>
              <a:defRPr sz="3200">
                <a:solidFill>
                  <a:schemeClr val="accent2"/>
                </a:solidFill>
                <a:latin typeface="Garamond" pitchFamily="18" charset="0"/>
                <a:ea typeface="宋体" pitchFamily="2" charset="-122"/>
              </a:defRPr>
            </a:lvl5pPr>
            <a:lvl6pPr marL="457200" algn="l" rtl="0" fontAlgn="base">
              <a:spcBef>
                <a:spcPct val="0"/>
              </a:spcBef>
              <a:spcAft>
                <a:spcPct val="0"/>
              </a:spcAft>
              <a:defRPr sz="3200">
                <a:solidFill>
                  <a:schemeClr val="accent2"/>
                </a:solidFill>
                <a:latin typeface="Garamond" pitchFamily="18" charset="0"/>
                <a:ea typeface="宋体" pitchFamily="2" charset="-122"/>
              </a:defRPr>
            </a:lvl6pPr>
            <a:lvl7pPr marL="914400" algn="l" rtl="0" fontAlgn="base">
              <a:spcBef>
                <a:spcPct val="0"/>
              </a:spcBef>
              <a:spcAft>
                <a:spcPct val="0"/>
              </a:spcAft>
              <a:defRPr sz="3200">
                <a:solidFill>
                  <a:schemeClr val="accent2"/>
                </a:solidFill>
                <a:latin typeface="Garamond" pitchFamily="18" charset="0"/>
                <a:ea typeface="宋体" pitchFamily="2" charset="-122"/>
              </a:defRPr>
            </a:lvl7pPr>
            <a:lvl8pPr marL="1371600" algn="l" rtl="0" fontAlgn="base">
              <a:spcBef>
                <a:spcPct val="0"/>
              </a:spcBef>
              <a:spcAft>
                <a:spcPct val="0"/>
              </a:spcAft>
              <a:defRPr sz="3200">
                <a:solidFill>
                  <a:schemeClr val="accent2"/>
                </a:solidFill>
                <a:latin typeface="Garamond" pitchFamily="18" charset="0"/>
                <a:ea typeface="宋体" pitchFamily="2" charset="-122"/>
              </a:defRPr>
            </a:lvl8pPr>
            <a:lvl9pPr marL="1828800" algn="l" rtl="0" fontAlgn="base">
              <a:spcBef>
                <a:spcPct val="0"/>
              </a:spcBef>
              <a:spcAft>
                <a:spcPct val="0"/>
              </a:spcAft>
              <a:defRPr sz="3200">
                <a:solidFill>
                  <a:schemeClr val="accent2"/>
                </a:solidFill>
                <a:latin typeface="Garamond" pitchFamily="18" charset="0"/>
                <a:ea typeface="宋体" pitchFamily="2" charset="-122"/>
              </a:defRPr>
            </a:lvl9pPr>
          </a:lstStyle>
          <a:p>
            <a:pPr eaLnBrk="1" hangingPunct="1"/>
            <a:r>
              <a:rPr lang="en-US" altLang="zh-CN" kern="0" dirty="0" smtClean="0">
                <a:solidFill>
                  <a:srgbClr val="333399"/>
                </a:solidFill>
              </a:rPr>
              <a:t>1.4.</a:t>
            </a:r>
            <a:r>
              <a:rPr lang="en-US" altLang="zh-CN" kern="0" dirty="0" smtClean="0"/>
              <a:t>6 </a:t>
            </a:r>
            <a:r>
              <a:rPr lang="zh-CN" altLang="en-US" kern="0" dirty="0" smtClean="0"/>
              <a:t>树、根树、</a:t>
            </a:r>
            <a:r>
              <a:rPr lang="zh-CN" altLang="en-US" b="1" u="sng" kern="0" dirty="0" smtClean="0"/>
              <a:t>二叉树</a:t>
            </a:r>
            <a:endParaRPr lang="en-US" altLang="zh-CN" kern="0" dirty="0" smtClean="0"/>
          </a:p>
        </p:txBody>
      </p:sp>
    </p:spTree>
  </p:cSld>
  <p:clrMapOvr>
    <a:masterClrMapping/>
  </p:clrMapOvr>
  <p:timing>
    <p:tnLst>
      <p:par>
        <p:cTn id="1" dur="indefinite" restart="never" nodeType="tmRoot"/>
      </p:par>
    </p:tn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
        <p:nvSpPr>
          <p:cNvPr id="86020" name="Rectangle 3"/>
          <p:cNvSpPr>
            <a:spLocks noGrp="1" noChangeArrowheads="1"/>
          </p:cNvSpPr>
          <p:nvPr>
            <p:ph type="body" idx="1"/>
          </p:nvPr>
        </p:nvSpPr>
        <p:spPr/>
        <p:txBody>
          <a:bodyPr/>
          <a:lstStyle/>
          <a:p>
            <a:pPr eaLnBrk="1" hangingPunct="1"/>
            <a:r>
              <a:rPr lang="zh-CN" altLang="en-US" dirty="0" smtClean="0"/>
              <a:t>二叉搜索树是顶点用线序集中的元素来标记的一种二叉树，标记的方法是：所有存储在顶点</a:t>
            </a:r>
            <a:r>
              <a:rPr lang="en-US" altLang="zh-CN" dirty="0" smtClean="0"/>
              <a:t>v</a:t>
            </a:r>
            <a:r>
              <a:rPr lang="zh-CN" altLang="en-US" dirty="0" smtClean="0"/>
              <a:t>的左子树中的元素都小于存储在</a:t>
            </a:r>
            <a:r>
              <a:rPr lang="en-US" altLang="zh-CN" dirty="0" smtClean="0"/>
              <a:t>v</a:t>
            </a:r>
            <a:r>
              <a:rPr lang="zh-CN" altLang="en-US" dirty="0" smtClean="0"/>
              <a:t>中的元素，所有存储在顶点</a:t>
            </a:r>
            <a:r>
              <a:rPr lang="en-US" altLang="zh-CN" dirty="0" smtClean="0"/>
              <a:t>v</a:t>
            </a:r>
            <a:r>
              <a:rPr lang="zh-CN" altLang="en-US" dirty="0" smtClean="0"/>
              <a:t>中的右子树中的元素都大于存储在</a:t>
            </a:r>
            <a:r>
              <a:rPr lang="en-US" altLang="zh-CN" dirty="0" smtClean="0"/>
              <a:t>v</a:t>
            </a:r>
            <a:r>
              <a:rPr lang="zh-CN" altLang="en-US" dirty="0" smtClean="0"/>
              <a:t>中的元素。</a:t>
            </a:r>
            <a:endParaRPr lang="en-US" altLang="zh-CN" dirty="0" smtClean="0"/>
          </a:p>
          <a:p>
            <a:pPr eaLnBrk="1" hangingPunct="1"/>
            <a:r>
              <a:rPr lang="zh-CN" altLang="en-US" dirty="0" smtClean="0"/>
              <a:t>用二叉搜索树来表示一个集合并不是唯一的，最坏的情况它可能是一棵退化的树，即这棵树的每一个内部顶点都恰好有一个儿子。</a:t>
            </a:r>
            <a:endParaRPr lang="en-US" altLang="zh-CN" dirty="0" smtClean="0"/>
          </a:p>
          <a:p>
            <a:pPr eaLnBrk="1" hangingPunct="1"/>
            <a:r>
              <a:rPr lang="zh-CN" altLang="en-US" dirty="0" smtClean="0"/>
              <a:t>这种数据结构支持的操作有插入、删除、测试成员身份和检索最大或最小值。</a:t>
            </a:r>
            <a:endParaRPr lang="en-US" altLang="zh-CN" dirty="0" smtClean="0"/>
          </a:p>
          <a:p>
            <a:pPr eaLnBrk="1" hangingPunct="1"/>
            <a:r>
              <a:rPr lang="en-US" altLang="zh-CN" dirty="0" err="1" smtClean="0"/>
              <a:t>P72</a:t>
            </a:r>
            <a:endParaRPr lang="en-US" altLang="zh-CN" dirty="0" smtClean="0"/>
          </a:p>
        </p:txBody>
      </p:sp>
      <p:sp>
        <p:nvSpPr>
          <p:cNvPr id="5" name="Rectangle 2"/>
          <p:cNvSpPr txBox="1">
            <a:spLocks noChangeArrowheads="1"/>
          </p:cNvSpPr>
          <p:nvPr/>
        </p:nvSpPr>
        <p:spPr bwMode="auto">
          <a:xfrm>
            <a:off x="857250" y="457200"/>
            <a:ext cx="7829550" cy="642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l" rtl="0" eaLnBrk="0" fontAlgn="base" hangingPunct="0">
              <a:spcBef>
                <a:spcPct val="0"/>
              </a:spcBef>
              <a:spcAft>
                <a:spcPct val="0"/>
              </a:spcAft>
              <a:defRPr sz="3200">
                <a:solidFill>
                  <a:schemeClr val="accent2"/>
                </a:solidFill>
                <a:latin typeface="+mj-lt"/>
                <a:ea typeface="+mj-ea"/>
                <a:cs typeface="+mj-cs"/>
              </a:defRPr>
            </a:lvl1pPr>
            <a:lvl2pPr algn="l" rtl="0" eaLnBrk="0" fontAlgn="base" hangingPunct="0">
              <a:spcBef>
                <a:spcPct val="0"/>
              </a:spcBef>
              <a:spcAft>
                <a:spcPct val="0"/>
              </a:spcAft>
              <a:defRPr sz="3200">
                <a:solidFill>
                  <a:schemeClr val="accent2"/>
                </a:solidFill>
                <a:latin typeface="Garamond" pitchFamily="18" charset="0"/>
                <a:ea typeface="宋体" pitchFamily="2" charset="-122"/>
              </a:defRPr>
            </a:lvl2pPr>
            <a:lvl3pPr algn="l" rtl="0" eaLnBrk="0" fontAlgn="base" hangingPunct="0">
              <a:spcBef>
                <a:spcPct val="0"/>
              </a:spcBef>
              <a:spcAft>
                <a:spcPct val="0"/>
              </a:spcAft>
              <a:defRPr sz="3200">
                <a:solidFill>
                  <a:schemeClr val="accent2"/>
                </a:solidFill>
                <a:latin typeface="Garamond" pitchFamily="18" charset="0"/>
                <a:ea typeface="宋体" pitchFamily="2" charset="-122"/>
              </a:defRPr>
            </a:lvl3pPr>
            <a:lvl4pPr algn="l" rtl="0" eaLnBrk="0" fontAlgn="base" hangingPunct="0">
              <a:spcBef>
                <a:spcPct val="0"/>
              </a:spcBef>
              <a:spcAft>
                <a:spcPct val="0"/>
              </a:spcAft>
              <a:defRPr sz="3200">
                <a:solidFill>
                  <a:schemeClr val="accent2"/>
                </a:solidFill>
                <a:latin typeface="Garamond" pitchFamily="18" charset="0"/>
                <a:ea typeface="宋体" pitchFamily="2" charset="-122"/>
              </a:defRPr>
            </a:lvl4pPr>
            <a:lvl5pPr algn="l" rtl="0" eaLnBrk="0" fontAlgn="base" hangingPunct="0">
              <a:spcBef>
                <a:spcPct val="0"/>
              </a:spcBef>
              <a:spcAft>
                <a:spcPct val="0"/>
              </a:spcAft>
              <a:defRPr sz="3200">
                <a:solidFill>
                  <a:schemeClr val="accent2"/>
                </a:solidFill>
                <a:latin typeface="Garamond" pitchFamily="18" charset="0"/>
                <a:ea typeface="宋体" pitchFamily="2" charset="-122"/>
              </a:defRPr>
            </a:lvl5pPr>
            <a:lvl6pPr marL="457200" algn="l" rtl="0" fontAlgn="base">
              <a:spcBef>
                <a:spcPct val="0"/>
              </a:spcBef>
              <a:spcAft>
                <a:spcPct val="0"/>
              </a:spcAft>
              <a:defRPr sz="3200">
                <a:solidFill>
                  <a:schemeClr val="accent2"/>
                </a:solidFill>
                <a:latin typeface="Garamond" pitchFamily="18" charset="0"/>
                <a:ea typeface="宋体" pitchFamily="2" charset="-122"/>
              </a:defRPr>
            </a:lvl6pPr>
            <a:lvl7pPr marL="914400" algn="l" rtl="0" fontAlgn="base">
              <a:spcBef>
                <a:spcPct val="0"/>
              </a:spcBef>
              <a:spcAft>
                <a:spcPct val="0"/>
              </a:spcAft>
              <a:defRPr sz="3200">
                <a:solidFill>
                  <a:schemeClr val="accent2"/>
                </a:solidFill>
                <a:latin typeface="Garamond" pitchFamily="18" charset="0"/>
                <a:ea typeface="宋体" pitchFamily="2" charset="-122"/>
              </a:defRPr>
            </a:lvl7pPr>
            <a:lvl8pPr marL="1371600" algn="l" rtl="0" fontAlgn="base">
              <a:spcBef>
                <a:spcPct val="0"/>
              </a:spcBef>
              <a:spcAft>
                <a:spcPct val="0"/>
              </a:spcAft>
              <a:defRPr sz="3200">
                <a:solidFill>
                  <a:schemeClr val="accent2"/>
                </a:solidFill>
                <a:latin typeface="Garamond" pitchFamily="18" charset="0"/>
                <a:ea typeface="宋体" pitchFamily="2" charset="-122"/>
              </a:defRPr>
            </a:lvl8pPr>
            <a:lvl9pPr marL="1828800" algn="l" rtl="0" fontAlgn="base">
              <a:spcBef>
                <a:spcPct val="0"/>
              </a:spcBef>
              <a:spcAft>
                <a:spcPct val="0"/>
              </a:spcAft>
              <a:defRPr sz="3200">
                <a:solidFill>
                  <a:schemeClr val="accent2"/>
                </a:solidFill>
                <a:latin typeface="Garamond" pitchFamily="18" charset="0"/>
                <a:ea typeface="宋体" pitchFamily="2" charset="-122"/>
              </a:defRPr>
            </a:lvl9pPr>
          </a:lstStyle>
          <a:p>
            <a:pPr eaLnBrk="1" hangingPunct="1"/>
            <a:r>
              <a:rPr lang="en-US" altLang="zh-CN" kern="0" dirty="0" smtClean="0">
                <a:solidFill>
                  <a:srgbClr val="333399"/>
                </a:solidFill>
              </a:rPr>
              <a:t>1.4.</a:t>
            </a:r>
            <a:r>
              <a:rPr lang="en-US" altLang="zh-CN" kern="0" dirty="0" smtClean="0"/>
              <a:t>6 </a:t>
            </a:r>
            <a:r>
              <a:rPr lang="zh-CN" altLang="en-US" kern="0" dirty="0" smtClean="0"/>
              <a:t>树、根树、</a:t>
            </a:r>
            <a:r>
              <a:rPr lang="zh-CN" altLang="en-US" b="1" u="sng" kern="0" dirty="0" smtClean="0"/>
              <a:t>二叉树</a:t>
            </a:r>
            <a:endParaRPr lang="en-US" altLang="zh-CN" kern="0" dirty="0" smtClean="0"/>
          </a:p>
        </p:txBody>
      </p:sp>
    </p:spTree>
  </p:cSld>
  <p:clrMapOvr>
    <a:masterClrMapping/>
  </p:clrMapOvr>
  <p:timing>
    <p:tnLst>
      <p:par>
        <p:cTn id="1" dur="indefinite" restart="never" nodeType="tmRoot"/>
      </p:par>
    </p:tnLst>
  </p:timing>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2"/>
          <p:cNvSpPr>
            <a:spLocks noGrp="1" noChangeArrowheads="1"/>
          </p:cNvSpPr>
          <p:nvPr>
            <p:ph type="title"/>
          </p:nvPr>
        </p:nvSpPr>
        <p:spPr>
          <a:xfrm>
            <a:off x="899592" y="409575"/>
            <a:ext cx="7758112" cy="762000"/>
          </a:xfrm>
        </p:spPr>
        <p:txBody>
          <a:bodyPr/>
          <a:lstStyle/>
          <a:p>
            <a:r>
              <a:rPr lang="en-US" altLang="zh-CN" dirty="0">
                <a:solidFill>
                  <a:srgbClr val="333399"/>
                </a:solidFill>
              </a:rPr>
              <a:t>1.4.</a:t>
            </a:r>
            <a:r>
              <a:rPr lang="en-US" altLang="zh-CN" dirty="0" smtClean="0"/>
              <a:t>7 </a:t>
            </a:r>
            <a:r>
              <a:rPr lang="zh-CN" altLang="en-US" dirty="0" smtClean="0"/>
              <a:t>赫夫曼树及其应用</a:t>
            </a:r>
            <a:endParaRPr lang="zh-CN" altLang="en-US" dirty="0" smtClean="0"/>
          </a:p>
        </p:txBody>
      </p:sp>
      <p:sp>
        <p:nvSpPr>
          <p:cNvPr id="25604" name="Rectangle 3"/>
          <p:cNvSpPr>
            <a:spLocks noGrp="1" noChangeArrowheads="1"/>
          </p:cNvSpPr>
          <p:nvPr>
            <p:ph type="body" sz="half" idx="1"/>
          </p:nvPr>
        </p:nvSpPr>
        <p:spPr>
          <a:xfrm>
            <a:off x="602184" y="1296937"/>
            <a:ext cx="8650336" cy="4562475"/>
          </a:xfrm>
        </p:spPr>
        <p:txBody>
          <a:bodyPr/>
          <a:lstStyle/>
          <a:p>
            <a:pPr marL="179705" indent="-179705">
              <a:lnSpc>
                <a:spcPct val="90000"/>
              </a:lnSpc>
            </a:pPr>
            <a:r>
              <a:rPr lang="zh-CN" altLang="en-US" sz="2400" dirty="0" smtClean="0">
                <a:solidFill>
                  <a:srgbClr val="FF0000"/>
                </a:solidFill>
              </a:rPr>
              <a:t>赫夫曼树</a:t>
            </a:r>
            <a:r>
              <a:rPr lang="zh-CN" altLang="en-US" sz="2400" dirty="0" smtClean="0"/>
              <a:t>：带权路径长度最短的树称为赫夫曼树或最优树。</a:t>
            </a:r>
            <a:endParaRPr lang="zh-CN" altLang="en-US" sz="2400" dirty="0" smtClean="0"/>
          </a:p>
          <a:p>
            <a:pPr marL="179705" indent="-179705">
              <a:lnSpc>
                <a:spcPct val="90000"/>
              </a:lnSpc>
            </a:pPr>
            <a:r>
              <a:rPr lang="zh-CN" altLang="en-US" sz="2400" dirty="0" smtClean="0">
                <a:solidFill>
                  <a:srgbClr val="FF0000"/>
                </a:solidFill>
              </a:rPr>
              <a:t>路径</a:t>
            </a:r>
            <a:r>
              <a:rPr lang="zh-CN" altLang="en-US" sz="2400" dirty="0" smtClean="0"/>
              <a:t>：树的根结点到其余结点的分支。 </a:t>
            </a:r>
            <a:endParaRPr lang="zh-CN" altLang="en-US" sz="2400" dirty="0" smtClean="0"/>
          </a:p>
          <a:p>
            <a:pPr marL="179705" indent="-179705">
              <a:lnSpc>
                <a:spcPct val="90000"/>
              </a:lnSpc>
            </a:pPr>
            <a:r>
              <a:rPr lang="zh-CN" altLang="en-US" sz="2400" dirty="0" smtClean="0">
                <a:solidFill>
                  <a:srgbClr val="FF0000"/>
                </a:solidFill>
              </a:rPr>
              <a:t>结点的路径长度</a:t>
            </a:r>
            <a:r>
              <a:rPr lang="zh-CN" altLang="en-US" sz="2400" dirty="0" smtClean="0"/>
              <a:t>：从根结点到该结点的路径上分支的数目。</a:t>
            </a:r>
            <a:endParaRPr lang="zh-CN" altLang="en-US" sz="2400" dirty="0" smtClean="0"/>
          </a:p>
          <a:p>
            <a:pPr marL="179705" indent="-179705">
              <a:lnSpc>
                <a:spcPct val="90000"/>
              </a:lnSpc>
            </a:pPr>
            <a:r>
              <a:rPr lang="zh-CN" altLang="en-US" sz="2400" dirty="0" smtClean="0">
                <a:solidFill>
                  <a:srgbClr val="FF0000"/>
                </a:solidFill>
              </a:rPr>
              <a:t>结点的带权路径长度</a:t>
            </a:r>
            <a:r>
              <a:rPr lang="zh-CN" altLang="en-US" sz="2400" dirty="0" smtClean="0"/>
              <a:t>：从树根到该结点之间的路径长度与该结点上所带权值的乘积。</a:t>
            </a:r>
            <a:endParaRPr lang="zh-CN" altLang="en-US" sz="2400" dirty="0" smtClean="0"/>
          </a:p>
          <a:p>
            <a:pPr marL="179705" indent="-179705">
              <a:lnSpc>
                <a:spcPct val="90000"/>
              </a:lnSpc>
            </a:pPr>
            <a:r>
              <a:rPr lang="zh-CN" altLang="en-US" sz="2400" dirty="0" smtClean="0">
                <a:solidFill>
                  <a:srgbClr val="FF0000"/>
                </a:solidFill>
              </a:rPr>
              <a:t>树的带权路径长度</a:t>
            </a:r>
            <a:r>
              <a:rPr lang="zh-CN" altLang="en-US" sz="2400" dirty="0" smtClean="0"/>
              <a:t>：树中所有叶子结点的带权路径长度之和。</a:t>
            </a:r>
            <a:endParaRPr lang="zh-CN" altLang="en-US" sz="2400" dirty="0" smtClean="0"/>
          </a:p>
          <a:p>
            <a:pPr marL="179705" indent="-179705">
              <a:lnSpc>
                <a:spcPct val="90000"/>
              </a:lnSpc>
            </a:pPr>
            <a:endParaRPr lang="en-US" altLang="zh-CN" sz="2400" dirty="0" smtClean="0"/>
          </a:p>
          <a:p>
            <a:pPr marL="179705" indent="-179705">
              <a:lnSpc>
                <a:spcPct val="90000"/>
              </a:lnSpc>
            </a:pPr>
            <a:endParaRPr lang="zh-CN" altLang="en-US" sz="2400" dirty="0" smtClean="0"/>
          </a:p>
          <a:p>
            <a:pPr marL="179705" indent="-179705">
              <a:lnSpc>
                <a:spcPct val="90000"/>
              </a:lnSpc>
            </a:pPr>
            <a:r>
              <a:rPr lang="zh-CN" altLang="en-US" sz="2400" dirty="0" smtClean="0"/>
              <a:t>在所有含</a:t>
            </a:r>
            <a:r>
              <a:rPr lang="en-US" altLang="zh-CN" sz="2400" i="1" dirty="0" smtClean="0"/>
              <a:t>n</a:t>
            </a:r>
            <a:r>
              <a:rPr lang="zh-CN" altLang="en-US" sz="2400" dirty="0" smtClean="0"/>
              <a:t>个叶子结点、并带相同权值的</a:t>
            </a:r>
            <a:r>
              <a:rPr lang="en-US" altLang="zh-CN" sz="2400" dirty="0" smtClean="0"/>
              <a:t>m</a:t>
            </a:r>
            <a:r>
              <a:rPr lang="zh-CN" altLang="en-US" sz="2400" dirty="0" smtClean="0"/>
              <a:t>叉树中，必存在一棵其带权路径长度取最小值的树，称为“</a:t>
            </a:r>
            <a:r>
              <a:rPr lang="zh-CN" altLang="en-US" sz="2400" dirty="0" smtClean="0">
                <a:solidFill>
                  <a:srgbClr val="FF0000"/>
                </a:solidFill>
              </a:rPr>
              <a:t>最优树</a:t>
            </a:r>
            <a:r>
              <a:rPr lang="zh-CN" altLang="en-US" sz="2400" dirty="0" smtClean="0"/>
              <a:t>”</a:t>
            </a:r>
            <a:endParaRPr lang="zh-CN" altLang="en-US" sz="2400" dirty="0" smtClean="0"/>
          </a:p>
        </p:txBody>
      </p:sp>
      <p:graphicFrame>
        <p:nvGraphicFramePr>
          <p:cNvPr id="25602" name="Object 2"/>
          <p:cNvGraphicFramePr>
            <a:graphicFrameLocks noGrp="1" noChangeAspect="1"/>
          </p:cNvGraphicFramePr>
          <p:nvPr>
            <p:ph sz="half" idx="2"/>
          </p:nvPr>
        </p:nvGraphicFramePr>
        <p:xfrm>
          <a:off x="2339752" y="3578174"/>
          <a:ext cx="2066925" cy="776288"/>
        </p:xfrm>
        <a:graphic>
          <a:graphicData uri="http://schemas.openxmlformats.org/presentationml/2006/ole">
            <mc:AlternateContent xmlns:mc="http://schemas.openxmlformats.org/markup-compatibility/2006">
              <mc:Choice xmlns:v="urn:schemas-microsoft-com:vml" Requires="v">
                <p:oleObj spid="_x0000_s47114" name="公式" r:id="rId1" imgW="914400" imgH="431800" progId="Equation.3">
                  <p:embed/>
                </p:oleObj>
              </mc:Choice>
              <mc:Fallback>
                <p:oleObj name="公式" r:id="rId1" imgW="914400" imgH="431800" progId="Equation.3">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39752" y="3578174"/>
                        <a:ext cx="2066925" cy="776288"/>
                      </a:xfrm>
                      <a:prstGeom prst="rect">
                        <a:avLst/>
                      </a:prstGeom>
                      <a:solidFill>
                        <a:srgbClr val="CCFFFF"/>
                      </a:solidFill>
                      <a:ln>
                        <a:noFill/>
                      </a:ln>
                      <a:effectLst/>
                      <a:extLs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25605"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Tree>
  </p:cSld>
  <p:clrMapOvr>
    <a:masterClrMapping/>
  </p:clrMapOvr>
  <p:transition/>
  <p:timing>
    <p:tnLst>
      <p:par>
        <p:cTn id="1" dur="indefinite" restart="never" nodeType="tmRoot"/>
      </p:par>
    </p:tn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8" name="Rectangle 55"/>
          <p:cNvSpPr>
            <a:spLocks noGrp="1" noChangeArrowheads="1"/>
          </p:cNvSpPr>
          <p:nvPr>
            <p:ph type="title"/>
          </p:nvPr>
        </p:nvSpPr>
        <p:spPr/>
        <p:txBody>
          <a:bodyPr/>
          <a:lstStyle/>
          <a:p>
            <a:endParaRPr lang="zh-CN" altLang="zh-CN" smtClean="0"/>
          </a:p>
        </p:txBody>
      </p:sp>
      <p:graphicFrame>
        <p:nvGraphicFramePr>
          <p:cNvPr id="26626" name="Object 2"/>
          <p:cNvGraphicFramePr>
            <a:graphicFrameLocks noGrp="1" noChangeAspect="1"/>
          </p:cNvGraphicFramePr>
          <p:nvPr>
            <p:ph sz="half" idx="1"/>
          </p:nvPr>
        </p:nvGraphicFramePr>
        <p:xfrm>
          <a:off x="792163" y="471488"/>
          <a:ext cx="7305675" cy="4352925"/>
        </p:xfrm>
        <a:graphic>
          <a:graphicData uri="http://schemas.openxmlformats.org/presentationml/2006/ole">
            <mc:AlternateContent xmlns:mc="http://schemas.openxmlformats.org/markup-compatibility/2006">
              <mc:Choice xmlns:v="urn:schemas-microsoft-com:vml" Requires="v">
                <p:oleObj spid="_x0000_s48146" name="位图图像" r:id="rId1" imgW="2466975" imgH="1800225" progId="PBrush">
                  <p:embed/>
                </p:oleObj>
              </mc:Choice>
              <mc:Fallback>
                <p:oleObj name="位图图像" r:id="rId1" imgW="2466975" imgH="1800225" progId="PBrush">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2163" y="471488"/>
                        <a:ext cx="7305675" cy="43529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2674742" name="Object 3"/>
          <p:cNvGraphicFramePr>
            <a:graphicFrameLocks noGrp="1" noChangeAspect="1"/>
          </p:cNvGraphicFramePr>
          <p:nvPr>
            <p:ph sz="half" idx="2"/>
          </p:nvPr>
        </p:nvGraphicFramePr>
        <p:xfrm>
          <a:off x="1103313" y="4883150"/>
          <a:ext cx="6530975" cy="1327150"/>
        </p:xfrm>
        <a:graphic>
          <a:graphicData uri="http://schemas.openxmlformats.org/presentationml/2006/ole">
            <mc:AlternateContent xmlns:mc="http://schemas.openxmlformats.org/markup-compatibility/2006">
              <mc:Choice xmlns:v="urn:schemas-microsoft-com:vml" Requires="v">
                <p:oleObj spid="_x0000_s48147" name="位图图像" r:id="rId3" imgW="3390900" imgH="571500" progId="PBrush">
                  <p:embed/>
                </p:oleObj>
              </mc:Choice>
              <mc:Fallback>
                <p:oleObj name="位图图像" r:id="rId3" imgW="3390900" imgH="571500" progId="PBrush">
                  <p:embed/>
                  <p:pic>
                    <p:nvPicPr>
                      <p:cNvPr id="0" name="Object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03313" y="4883150"/>
                        <a:ext cx="6530975" cy="1327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26629"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674742"/>
                                        </p:tgtEl>
                                        <p:attrNameLst>
                                          <p:attrName>style.visibility</p:attrName>
                                        </p:attrNameLst>
                                      </p:cBhvr>
                                      <p:to>
                                        <p:strVal val="visible"/>
                                      </p:to>
                                    </p:set>
                                    <p:anim calcmode="lin" valueType="num">
                                      <p:cBhvr additive="base">
                                        <p:cTn id="7" dur="500" fill="hold"/>
                                        <p:tgtEl>
                                          <p:spTgt spid="2674742"/>
                                        </p:tgtEl>
                                        <p:attrNameLst>
                                          <p:attrName>ppt_x</p:attrName>
                                        </p:attrNameLst>
                                      </p:cBhvr>
                                      <p:tavLst>
                                        <p:tav tm="0">
                                          <p:val>
                                            <p:strVal val="#ppt_x"/>
                                          </p:val>
                                        </p:tav>
                                        <p:tav tm="100000">
                                          <p:val>
                                            <p:strVal val="#ppt_x"/>
                                          </p:val>
                                        </p:tav>
                                      </p:tavLst>
                                    </p:anim>
                                    <p:anim calcmode="lin" valueType="num">
                                      <p:cBhvr additive="base">
                                        <p:cTn id="8" dur="500" fill="hold"/>
                                        <p:tgtEl>
                                          <p:spTgt spid="267474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Rectangle 2"/>
          <p:cNvSpPr>
            <a:spLocks noGrp="1" noChangeArrowheads="1"/>
          </p:cNvSpPr>
          <p:nvPr>
            <p:ph type="title"/>
          </p:nvPr>
        </p:nvSpPr>
        <p:spPr>
          <a:xfrm>
            <a:off x="857250" y="457200"/>
            <a:ext cx="7829550" cy="762000"/>
          </a:xfrm>
        </p:spPr>
        <p:txBody>
          <a:bodyPr/>
          <a:lstStyle/>
          <a:p>
            <a:r>
              <a:rPr lang="en-US" altLang="zh-CN" dirty="0">
                <a:solidFill>
                  <a:srgbClr val="333399"/>
                </a:solidFill>
              </a:rPr>
              <a:t>1.4.</a:t>
            </a:r>
            <a:r>
              <a:rPr lang="en-US" altLang="zh-CN" dirty="0" smtClean="0"/>
              <a:t>7 </a:t>
            </a:r>
            <a:r>
              <a:rPr lang="zh-CN" altLang="en-US" dirty="0" smtClean="0"/>
              <a:t>赫夫曼树及其应用</a:t>
            </a:r>
            <a:endParaRPr lang="zh-CN" altLang="en-US" dirty="0" smtClean="0"/>
          </a:p>
        </p:txBody>
      </p:sp>
      <p:sp>
        <p:nvSpPr>
          <p:cNvPr id="87043" name="Rectangle 3"/>
          <p:cNvSpPr>
            <a:spLocks noGrp="1" noChangeArrowheads="1"/>
          </p:cNvSpPr>
          <p:nvPr>
            <p:ph type="body" sz="half" idx="1"/>
          </p:nvPr>
        </p:nvSpPr>
        <p:spPr>
          <a:xfrm>
            <a:off x="857250" y="1250851"/>
            <a:ext cx="8179246" cy="4562475"/>
          </a:xfrm>
        </p:spPr>
        <p:txBody>
          <a:bodyPr/>
          <a:lstStyle/>
          <a:p>
            <a:pPr>
              <a:buFont typeface="Wingdings" panose="05000000000000000000" pitchFamily="2" charset="2"/>
              <a:buNone/>
            </a:pPr>
            <a:r>
              <a:rPr lang="zh-CN" altLang="en-US" sz="2800" b="1" dirty="0"/>
              <a:t>赫夫</a:t>
            </a:r>
            <a:r>
              <a:rPr lang="zh-CN" altLang="en-US" sz="2800" b="1" dirty="0" smtClean="0"/>
              <a:t>曼树的构造</a:t>
            </a:r>
            <a:r>
              <a:rPr lang="zh-CN" altLang="en-US" sz="2400" dirty="0" smtClean="0"/>
              <a:t>：</a:t>
            </a:r>
            <a:endParaRPr lang="en-US" altLang="zh-CN" sz="2400" dirty="0" smtClean="0"/>
          </a:p>
          <a:p>
            <a:pPr>
              <a:buFont typeface="Wingdings" panose="05000000000000000000" pitchFamily="2" charset="2"/>
              <a:buNone/>
            </a:pPr>
            <a:r>
              <a:rPr lang="en-US" altLang="zh-CN" sz="2400" dirty="0" smtClean="0"/>
              <a:t>(1) </a:t>
            </a:r>
            <a:r>
              <a:rPr lang="zh-CN" altLang="en-US" sz="2400" dirty="0" smtClean="0"/>
              <a:t>根据给定的</a:t>
            </a:r>
            <a:r>
              <a:rPr lang="en-US" altLang="zh-CN" sz="2400" i="1" dirty="0" smtClean="0"/>
              <a:t>n</a:t>
            </a:r>
            <a:r>
              <a:rPr lang="zh-CN" altLang="en-US" sz="2400" dirty="0" smtClean="0"/>
              <a:t>个权值</a:t>
            </a:r>
            <a:r>
              <a:rPr lang="en-US" altLang="zh-CN" sz="2400" dirty="0" smtClean="0"/>
              <a:t>{</a:t>
            </a:r>
            <a:r>
              <a:rPr lang="en-US" altLang="zh-CN" sz="2400" i="1" dirty="0" err="1" smtClean="0"/>
              <a:t>w1</a:t>
            </a:r>
            <a:r>
              <a:rPr lang="en-US" altLang="zh-CN" sz="2400" i="1" dirty="0" smtClean="0"/>
              <a:t>, </a:t>
            </a:r>
            <a:r>
              <a:rPr lang="en-US" altLang="zh-CN" sz="2400" i="1" dirty="0" err="1" smtClean="0"/>
              <a:t>w2</a:t>
            </a:r>
            <a:r>
              <a:rPr lang="en-US" altLang="zh-CN" sz="2400" i="1" dirty="0" smtClean="0"/>
              <a:t>, …, </a:t>
            </a:r>
            <a:r>
              <a:rPr lang="en-US" altLang="zh-CN" sz="2400" i="1" dirty="0" err="1" smtClean="0"/>
              <a:t>wn</a:t>
            </a:r>
            <a:r>
              <a:rPr lang="en-US" altLang="zh-CN" sz="2400" dirty="0" smtClean="0"/>
              <a:t>}</a:t>
            </a:r>
            <a:r>
              <a:rPr lang="zh-CN" altLang="en-US" sz="2400" dirty="0" smtClean="0"/>
              <a:t>，构造</a:t>
            </a:r>
            <a:r>
              <a:rPr lang="en-US" altLang="zh-CN" sz="2400" i="1" dirty="0" smtClean="0"/>
              <a:t>n</a:t>
            </a:r>
            <a:r>
              <a:rPr lang="zh-CN" altLang="en-US" sz="2400" dirty="0" smtClean="0"/>
              <a:t>棵二叉树的集合</a:t>
            </a:r>
            <a:r>
              <a:rPr lang="en-US" altLang="zh-CN" sz="2400" i="1" dirty="0" smtClean="0"/>
              <a:t>F</a:t>
            </a:r>
            <a:r>
              <a:rPr lang="en-US" altLang="zh-CN" sz="2400" dirty="0" smtClean="0"/>
              <a:t> = {</a:t>
            </a:r>
            <a:r>
              <a:rPr lang="en-US" altLang="zh-CN" sz="2400" dirty="0" err="1" smtClean="0"/>
              <a:t>T1</a:t>
            </a:r>
            <a:r>
              <a:rPr lang="en-US" altLang="zh-CN" sz="2400" dirty="0" smtClean="0"/>
              <a:t>, </a:t>
            </a:r>
            <a:r>
              <a:rPr lang="en-US" altLang="zh-CN" sz="2400" dirty="0" err="1" smtClean="0"/>
              <a:t>T2</a:t>
            </a:r>
            <a:r>
              <a:rPr lang="en-US" altLang="zh-CN" sz="2400" dirty="0" smtClean="0"/>
              <a:t>, …, </a:t>
            </a:r>
            <a:r>
              <a:rPr lang="en-US" altLang="zh-CN" sz="2400" dirty="0" err="1" smtClean="0"/>
              <a:t>Tn</a:t>
            </a:r>
            <a:r>
              <a:rPr lang="en-US" altLang="zh-CN" sz="2400" dirty="0" smtClean="0"/>
              <a:t>}</a:t>
            </a:r>
            <a:r>
              <a:rPr lang="zh-CN" altLang="en-US" sz="2400" dirty="0" smtClean="0"/>
              <a:t>，其中每棵二叉树中均只含一个带权值为</a:t>
            </a:r>
            <a:r>
              <a:rPr lang="en-US" altLang="zh-CN" sz="2400" i="1" dirty="0" err="1" smtClean="0"/>
              <a:t>wi</a:t>
            </a:r>
            <a:r>
              <a:rPr lang="zh-CN" altLang="en-US" sz="2400" dirty="0" smtClean="0"/>
              <a:t>的根结点</a:t>
            </a:r>
            <a:r>
              <a:rPr lang="en-US" altLang="zh-CN" sz="2400" dirty="0" smtClean="0"/>
              <a:t>,</a:t>
            </a:r>
            <a:r>
              <a:rPr lang="zh-CN" altLang="en-US" sz="2400" dirty="0" smtClean="0"/>
              <a:t>其左、右子树为空树</a:t>
            </a:r>
            <a:r>
              <a:rPr lang="en-US" altLang="zh-CN" sz="2400" dirty="0" smtClean="0"/>
              <a:t>;</a:t>
            </a:r>
            <a:endParaRPr lang="en-US" altLang="zh-CN" sz="2400" dirty="0" smtClean="0"/>
          </a:p>
          <a:p>
            <a:pPr>
              <a:buFont typeface="Wingdings" panose="05000000000000000000" pitchFamily="2" charset="2"/>
              <a:buNone/>
            </a:pPr>
            <a:r>
              <a:rPr lang="en-US" altLang="zh-CN" sz="2400" dirty="0" smtClean="0"/>
              <a:t>(2) </a:t>
            </a:r>
            <a:r>
              <a:rPr lang="zh-CN" altLang="en-US" sz="2400" dirty="0" smtClean="0"/>
              <a:t>在</a:t>
            </a:r>
            <a:r>
              <a:rPr lang="en-US" altLang="zh-CN" sz="2400" i="1" dirty="0" smtClean="0"/>
              <a:t>F</a:t>
            </a:r>
            <a:r>
              <a:rPr lang="zh-CN" altLang="en-US" sz="2400" dirty="0" smtClean="0"/>
              <a:t>中选取其根结点的权值为最小的两棵二叉树，分别作为左、右子树构造一棵新的二叉树，并置这棵新的二叉树根结点的权值为其左、右子树根结点的权值之和</a:t>
            </a:r>
            <a:r>
              <a:rPr lang="en-US" altLang="zh-CN" sz="2400" dirty="0" smtClean="0"/>
              <a:t>;</a:t>
            </a:r>
            <a:r>
              <a:rPr lang="zh-CN" altLang="en-US" sz="2400" dirty="0" smtClean="0"/>
              <a:t>（根结点的权值</a:t>
            </a:r>
            <a:r>
              <a:rPr lang="en-US" altLang="zh-CN" sz="2400" dirty="0" smtClean="0"/>
              <a:t>=</a:t>
            </a:r>
            <a:r>
              <a:rPr lang="zh-CN" altLang="en-US" sz="2400" dirty="0" smtClean="0"/>
              <a:t>左右孩子权值之和，叶结点的权值</a:t>
            </a:r>
            <a:r>
              <a:rPr lang="en-US" altLang="zh-CN" sz="2400" dirty="0" smtClean="0"/>
              <a:t>= Wi)</a:t>
            </a:r>
            <a:r>
              <a:rPr lang="zh-CN" altLang="en-US" sz="2400" dirty="0" smtClean="0"/>
              <a:t>。</a:t>
            </a:r>
            <a:endParaRPr lang="en-US" altLang="zh-CN" sz="2400" dirty="0" smtClean="0"/>
          </a:p>
          <a:p>
            <a:pPr>
              <a:buFont typeface="Wingdings" panose="05000000000000000000" pitchFamily="2" charset="2"/>
              <a:buNone/>
            </a:pPr>
            <a:r>
              <a:rPr lang="en-US" altLang="zh-CN" sz="2400" dirty="0" smtClean="0"/>
              <a:t>(3) </a:t>
            </a:r>
            <a:r>
              <a:rPr lang="zh-CN" altLang="en-US" sz="2400" dirty="0" smtClean="0"/>
              <a:t>从</a:t>
            </a:r>
            <a:r>
              <a:rPr lang="en-US" altLang="zh-CN" sz="2400" i="1" dirty="0" smtClean="0"/>
              <a:t>F</a:t>
            </a:r>
            <a:r>
              <a:rPr lang="zh-CN" altLang="en-US" sz="2400" dirty="0" smtClean="0"/>
              <a:t>中删去这两棵树，同时加入刚生成的新树</a:t>
            </a:r>
            <a:r>
              <a:rPr lang="en-US" altLang="zh-CN" sz="2400" dirty="0" smtClean="0"/>
              <a:t>;</a:t>
            </a:r>
            <a:endParaRPr lang="en-US" altLang="zh-CN" sz="2400" dirty="0" smtClean="0"/>
          </a:p>
          <a:p>
            <a:pPr>
              <a:buFont typeface="Wingdings" panose="05000000000000000000" pitchFamily="2" charset="2"/>
              <a:buNone/>
            </a:pPr>
            <a:r>
              <a:rPr lang="en-US" altLang="zh-CN" sz="2400" dirty="0" smtClean="0"/>
              <a:t>(4) </a:t>
            </a:r>
            <a:r>
              <a:rPr lang="zh-CN" altLang="en-US" sz="2400" dirty="0" smtClean="0"/>
              <a:t>重复</a:t>
            </a:r>
            <a:r>
              <a:rPr lang="en-US" altLang="zh-CN" sz="2400" dirty="0" smtClean="0"/>
              <a:t>(2)</a:t>
            </a:r>
            <a:r>
              <a:rPr lang="zh-CN" altLang="en-US" sz="2400" dirty="0" smtClean="0"/>
              <a:t>和</a:t>
            </a:r>
            <a:r>
              <a:rPr lang="en-US" altLang="zh-CN" sz="2400" dirty="0" smtClean="0"/>
              <a:t>(3)</a:t>
            </a:r>
            <a:r>
              <a:rPr lang="zh-CN" altLang="en-US" sz="2400" dirty="0" smtClean="0"/>
              <a:t>两步，直至</a:t>
            </a:r>
            <a:r>
              <a:rPr lang="en-US" altLang="zh-CN" sz="2400" i="1" dirty="0" smtClean="0"/>
              <a:t>F</a:t>
            </a:r>
            <a:r>
              <a:rPr lang="zh-CN" altLang="en-US" sz="2400" dirty="0" smtClean="0"/>
              <a:t>中只含一棵树为止</a:t>
            </a:r>
            <a:r>
              <a:rPr lang="zh-CN" altLang="en-US" sz="2800" b="1" dirty="0" smtClean="0">
                <a:latin typeface="仿宋_GB2312" pitchFamily="49" charset="-122"/>
                <a:ea typeface="仿宋_GB2312" pitchFamily="49" charset="-122"/>
              </a:rPr>
              <a:t>。</a:t>
            </a:r>
            <a:endParaRPr lang="zh-CN" altLang="en-US" sz="2800" b="1" dirty="0" smtClean="0">
              <a:latin typeface="仿宋_GB2312" pitchFamily="49" charset="-122"/>
              <a:ea typeface="仿宋_GB2312" pitchFamily="49" charset="-122"/>
            </a:endParaRPr>
          </a:p>
        </p:txBody>
      </p:sp>
      <p:sp>
        <p:nvSpPr>
          <p:cNvPr id="87044"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Tree>
  </p:cSld>
  <p:clrMapOvr>
    <a:masterClrMapping/>
  </p:clrMapOvr>
  <p:transition/>
  <p:timing>
    <p:tnLst>
      <p:par>
        <p:cTn id="1" dur="indefinite" restart="never" nodeType="tmRoot"/>
      </p:par>
    </p:tnLst>
  </p:timing>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4"/>
          <p:cNvGrpSpPr/>
          <p:nvPr/>
        </p:nvGrpSpPr>
        <p:grpSpPr bwMode="auto">
          <a:xfrm>
            <a:off x="1143000" y="1143000"/>
            <a:ext cx="3030538" cy="300038"/>
            <a:chOff x="756" y="567"/>
            <a:chExt cx="1909" cy="189"/>
          </a:xfrm>
        </p:grpSpPr>
        <p:sp>
          <p:nvSpPr>
            <p:cNvPr id="88243" name="Oval 5"/>
            <p:cNvSpPr>
              <a:spLocks noChangeArrowheads="1"/>
            </p:cNvSpPr>
            <p:nvPr/>
          </p:nvSpPr>
          <p:spPr bwMode="auto">
            <a:xfrm>
              <a:off x="756" y="567"/>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5</a:t>
              </a:r>
              <a:endParaRPr kumimoji="1" lang="en-US" altLang="zh-CN" sz="2000">
                <a:solidFill>
                  <a:schemeClr val="bg1"/>
                </a:solidFill>
                <a:latin typeface="Times New Roman" panose="02020503050405090304" pitchFamily="18" charset="0"/>
              </a:endParaRPr>
            </a:p>
          </p:txBody>
        </p:sp>
        <p:sp>
          <p:nvSpPr>
            <p:cNvPr id="88244" name="Oval 6"/>
            <p:cNvSpPr>
              <a:spLocks noChangeArrowheads="1"/>
            </p:cNvSpPr>
            <p:nvPr/>
          </p:nvSpPr>
          <p:spPr bwMode="auto">
            <a:xfrm>
              <a:off x="1738" y="567"/>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14</a:t>
              </a:r>
              <a:endParaRPr kumimoji="1" lang="en-US" altLang="zh-CN" sz="2000">
                <a:solidFill>
                  <a:schemeClr val="bg1"/>
                </a:solidFill>
                <a:latin typeface="Times New Roman" panose="02020503050405090304" pitchFamily="18" charset="0"/>
              </a:endParaRPr>
            </a:p>
          </p:txBody>
        </p:sp>
        <p:sp>
          <p:nvSpPr>
            <p:cNvPr id="88245" name="Oval 7"/>
            <p:cNvSpPr>
              <a:spLocks noChangeArrowheads="1"/>
            </p:cNvSpPr>
            <p:nvPr/>
          </p:nvSpPr>
          <p:spPr bwMode="auto">
            <a:xfrm>
              <a:off x="1001" y="567"/>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29</a:t>
              </a:r>
              <a:endParaRPr kumimoji="1" lang="en-US" altLang="zh-CN" sz="2000">
                <a:solidFill>
                  <a:schemeClr val="bg1"/>
                </a:solidFill>
                <a:latin typeface="Times New Roman" panose="02020503050405090304" pitchFamily="18" charset="0"/>
              </a:endParaRPr>
            </a:p>
          </p:txBody>
        </p:sp>
        <p:sp>
          <p:nvSpPr>
            <p:cNvPr id="88246" name="Oval 8"/>
            <p:cNvSpPr>
              <a:spLocks noChangeArrowheads="1"/>
            </p:cNvSpPr>
            <p:nvPr/>
          </p:nvSpPr>
          <p:spPr bwMode="auto">
            <a:xfrm>
              <a:off x="1247" y="567"/>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7</a:t>
              </a:r>
              <a:endParaRPr kumimoji="1" lang="en-US" altLang="zh-CN" sz="2000">
                <a:solidFill>
                  <a:schemeClr val="bg1"/>
                </a:solidFill>
                <a:latin typeface="Times New Roman" panose="02020503050405090304" pitchFamily="18" charset="0"/>
              </a:endParaRPr>
            </a:p>
          </p:txBody>
        </p:sp>
        <p:sp>
          <p:nvSpPr>
            <p:cNvPr id="88247" name="Oval 9"/>
            <p:cNvSpPr>
              <a:spLocks noChangeArrowheads="1"/>
            </p:cNvSpPr>
            <p:nvPr/>
          </p:nvSpPr>
          <p:spPr bwMode="auto">
            <a:xfrm>
              <a:off x="1493" y="567"/>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8</a:t>
              </a:r>
              <a:endParaRPr kumimoji="1" lang="en-US" altLang="zh-CN" sz="2000">
                <a:solidFill>
                  <a:schemeClr val="bg1"/>
                </a:solidFill>
                <a:latin typeface="Times New Roman" panose="02020503050405090304" pitchFamily="18" charset="0"/>
              </a:endParaRPr>
            </a:p>
          </p:txBody>
        </p:sp>
        <p:sp>
          <p:nvSpPr>
            <p:cNvPr id="88248" name="Oval 10"/>
            <p:cNvSpPr>
              <a:spLocks noChangeArrowheads="1"/>
            </p:cNvSpPr>
            <p:nvPr/>
          </p:nvSpPr>
          <p:spPr bwMode="auto">
            <a:xfrm>
              <a:off x="1984" y="567"/>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23</a:t>
              </a:r>
              <a:endParaRPr kumimoji="1" lang="en-US" altLang="zh-CN" sz="2000">
                <a:solidFill>
                  <a:schemeClr val="bg1"/>
                </a:solidFill>
                <a:latin typeface="Times New Roman" panose="02020503050405090304" pitchFamily="18" charset="0"/>
              </a:endParaRPr>
            </a:p>
          </p:txBody>
        </p:sp>
        <p:sp>
          <p:nvSpPr>
            <p:cNvPr id="88249" name="Oval 11"/>
            <p:cNvSpPr>
              <a:spLocks noChangeArrowheads="1"/>
            </p:cNvSpPr>
            <p:nvPr/>
          </p:nvSpPr>
          <p:spPr bwMode="auto">
            <a:xfrm>
              <a:off x="2230" y="567"/>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3</a:t>
              </a:r>
              <a:endParaRPr kumimoji="1" lang="en-US" altLang="zh-CN" sz="2000">
                <a:solidFill>
                  <a:schemeClr val="bg1"/>
                </a:solidFill>
                <a:latin typeface="Times New Roman" panose="02020503050405090304" pitchFamily="18" charset="0"/>
              </a:endParaRPr>
            </a:p>
          </p:txBody>
        </p:sp>
        <p:sp>
          <p:nvSpPr>
            <p:cNvPr id="88250" name="Oval 12"/>
            <p:cNvSpPr>
              <a:spLocks noChangeArrowheads="1"/>
            </p:cNvSpPr>
            <p:nvPr/>
          </p:nvSpPr>
          <p:spPr bwMode="auto">
            <a:xfrm>
              <a:off x="2476" y="567"/>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11</a:t>
              </a:r>
              <a:endParaRPr kumimoji="1" lang="en-US" altLang="zh-CN" sz="2000">
                <a:solidFill>
                  <a:schemeClr val="bg1"/>
                </a:solidFill>
                <a:latin typeface="Times New Roman" panose="02020503050405090304" pitchFamily="18" charset="0"/>
              </a:endParaRPr>
            </a:p>
          </p:txBody>
        </p:sp>
      </p:grpSp>
      <p:grpSp>
        <p:nvGrpSpPr>
          <p:cNvPr id="3" name="Group 13"/>
          <p:cNvGrpSpPr/>
          <p:nvPr/>
        </p:nvGrpSpPr>
        <p:grpSpPr bwMode="auto">
          <a:xfrm>
            <a:off x="1154113" y="1714500"/>
            <a:ext cx="2792412" cy="733425"/>
            <a:chOff x="674" y="1452"/>
            <a:chExt cx="1759" cy="462"/>
          </a:xfrm>
        </p:grpSpPr>
        <p:sp>
          <p:nvSpPr>
            <p:cNvPr id="88231" name="Oval 14"/>
            <p:cNvSpPr>
              <a:spLocks noChangeArrowheads="1"/>
            </p:cNvSpPr>
            <p:nvPr/>
          </p:nvSpPr>
          <p:spPr bwMode="auto">
            <a:xfrm>
              <a:off x="1411" y="1452"/>
              <a:ext cx="189" cy="189"/>
            </a:xfrm>
            <a:prstGeom prst="ellipse">
              <a:avLst/>
            </a:prstGeom>
            <a:solidFill>
              <a:srgbClr val="9900FF"/>
            </a:solidFill>
            <a:ln w="9525">
              <a:solidFill>
                <a:schemeClr val="hlink"/>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14</a:t>
              </a:r>
              <a:endParaRPr kumimoji="1" lang="en-US" altLang="zh-CN" sz="2000">
                <a:solidFill>
                  <a:schemeClr val="bg1"/>
                </a:solidFill>
                <a:latin typeface="Times New Roman" panose="02020503050405090304" pitchFamily="18" charset="0"/>
              </a:endParaRPr>
            </a:p>
          </p:txBody>
        </p:sp>
        <p:sp>
          <p:nvSpPr>
            <p:cNvPr id="88232" name="Oval 15"/>
            <p:cNvSpPr>
              <a:spLocks noChangeArrowheads="1"/>
            </p:cNvSpPr>
            <p:nvPr/>
          </p:nvSpPr>
          <p:spPr bwMode="auto">
            <a:xfrm>
              <a:off x="674" y="1452"/>
              <a:ext cx="189" cy="189"/>
            </a:xfrm>
            <a:prstGeom prst="ellipse">
              <a:avLst/>
            </a:prstGeom>
            <a:solidFill>
              <a:srgbClr val="9900FF"/>
            </a:solidFill>
            <a:ln w="9525">
              <a:solidFill>
                <a:schemeClr val="hlink"/>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29</a:t>
              </a:r>
              <a:endParaRPr kumimoji="1" lang="en-US" altLang="zh-CN" sz="2000">
                <a:solidFill>
                  <a:schemeClr val="bg1"/>
                </a:solidFill>
                <a:latin typeface="Times New Roman" panose="02020503050405090304" pitchFamily="18" charset="0"/>
              </a:endParaRPr>
            </a:p>
          </p:txBody>
        </p:sp>
        <p:sp>
          <p:nvSpPr>
            <p:cNvPr id="88233" name="Oval 16"/>
            <p:cNvSpPr>
              <a:spLocks noChangeArrowheads="1"/>
            </p:cNvSpPr>
            <p:nvPr/>
          </p:nvSpPr>
          <p:spPr bwMode="auto">
            <a:xfrm>
              <a:off x="920" y="1452"/>
              <a:ext cx="189" cy="189"/>
            </a:xfrm>
            <a:prstGeom prst="ellipse">
              <a:avLst/>
            </a:prstGeom>
            <a:solidFill>
              <a:srgbClr val="9900FF"/>
            </a:solidFill>
            <a:ln w="9525">
              <a:solidFill>
                <a:schemeClr val="hlink"/>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7</a:t>
              </a:r>
              <a:endParaRPr kumimoji="1" lang="en-US" altLang="zh-CN" sz="2000">
                <a:solidFill>
                  <a:schemeClr val="bg1"/>
                </a:solidFill>
                <a:latin typeface="Times New Roman" panose="02020503050405090304" pitchFamily="18" charset="0"/>
              </a:endParaRPr>
            </a:p>
          </p:txBody>
        </p:sp>
        <p:sp>
          <p:nvSpPr>
            <p:cNvPr id="88234" name="Oval 17"/>
            <p:cNvSpPr>
              <a:spLocks noChangeArrowheads="1"/>
            </p:cNvSpPr>
            <p:nvPr/>
          </p:nvSpPr>
          <p:spPr bwMode="auto">
            <a:xfrm>
              <a:off x="1166" y="1452"/>
              <a:ext cx="189" cy="189"/>
            </a:xfrm>
            <a:prstGeom prst="ellipse">
              <a:avLst/>
            </a:prstGeom>
            <a:solidFill>
              <a:srgbClr val="9900FF"/>
            </a:solidFill>
            <a:ln w="9525">
              <a:solidFill>
                <a:schemeClr val="hlink"/>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8</a:t>
              </a:r>
              <a:endParaRPr kumimoji="1" lang="en-US" altLang="zh-CN" sz="2000">
                <a:solidFill>
                  <a:schemeClr val="bg1"/>
                </a:solidFill>
                <a:latin typeface="Times New Roman" panose="02020503050405090304" pitchFamily="18" charset="0"/>
              </a:endParaRPr>
            </a:p>
          </p:txBody>
        </p:sp>
        <p:sp>
          <p:nvSpPr>
            <p:cNvPr id="88235" name="Oval 18"/>
            <p:cNvSpPr>
              <a:spLocks noChangeArrowheads="1"/>
            </p:cNvSpPr>
            <p:nvPr/>
          </p:nvSpPr>
          <p:spPr bwMode="auto">
            <a:xfrm>
              <a:off x="1657" y="1452"/>
              <a:ext cx="189" cy="189"/>
            </a:xfrm>
            <a:prstGeom prst="ellipse">
              <a:avLst/>
            </a:prstGeom>
            <a:solidFill>
              <a:srgbClr val="9900FF"/>
            </a:solidFill>
            <a:ln w="9525">
              <a:solidFill>
                <a:schemeClr val="hlink"/>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23</a:t>
              </a:r>
              <a:endParaRPr kumimoji="1" lang="en-US" altLang="zh-CN" sz="2000">
                <a:solidFill>
                  <a:schemeClr val="bg1"/>
                </a:solidFill>
                <a:latin typeface="Times New Roman" panose="02020503050405090304" pitchFamily="18" charset="0"/>
              </a:endParaRPr>
            </a:p>
          </p:txBody>
        </p:sp>
        <p:sp>
          <p:nvSpPr>
            <p:cNvPr id="88236" name="Oval 19"/>
            <p:cNvSpPr>
              <a:spLocks noChangeArrowheads="1"/>
            </p:cNvSpPr>
            <p:nvPr/>
          </p:nvSpPr>
          <p:spPr bwMode="auto">
            <a:xfrm>
              <a:off x="1893" y="1452"/>
              <a:ext cx="189" cy="189"/>
            </a:xfrm>
            <a:prstGeom prst="ellipse">
              <a:avLst/>
            </a:prstGeom>
            <a:solidFill>
              <a:srgbClr val="9900FF"/>
            </a:solidFill>
            <a:ln w="9525">
              <a:solidFill>
                <a:schemeClr val="hlink"/>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11</a:t>
              </a:r>
              <a:endParaRPr kumimoji="1" lang="en-US" altLang="zh-CN" sz="2000">
                <a:solidFill>
                  <a:schemeClr val="bg1"/>
                </a:solidFill>
                <a:latin typeface="Times New Roman" panose="02020503050405090304" pitchFamily="18" charset="0"/>
              </a:endParaRPr>
            </a:p>
          </p:txBody>
        </p:sp>
        <p:grpSp>
          <p:nvGrpSpPr>
            <p:cNvPr id="88237" name="Group 20"/>
            <p:cNvGrpSpPr/>
            <p:nvPr/>
          </p:nvGrpSpPr>
          <p:grpSpPr bwMode="auto">
            <a:xfrm>
              <a:off x="1926" y="1455"/>
              <a:ext cx="507" cy="459"/>
              <a:chOff x="1596" y="1881"/>
              <a:chExt cx="507" cy="459"/>
            </a:xfrm>
          </p:grpSpPr>
          <p:sp>
            <p:nvSpPr>
              <p:cNvPr id="88238" name="Oval 21"/>
              <p:cNvSpPr>
                <a:spLocks noChangeArrowheads="1"/>
              </p:cNvSpPr>
              <p:nvPr/>
            </p:nvSpPr>
            <p:spPr bwMode="auto">
              <a:xfrm>
                <a:off x="1914" y="2151"/>
                <a:ext cx="189" cy="189"/>
              </a:xfrm>
              <a:prstGeom prst="ellipse">
                <a:avLst/>
              </a:prstGeom>
              <a:solidFill>
                <a:srgbClr val="9900FF"/>
              </a:solidFill>
              <a:ln w="9525">
                <a:solidFill>
                  <a:schemeClr val="hlink"/>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3</a:t>
                </a:r>
                <a:endParaRPr kumimoji="1" lang="en-US" altLang="zh-CN" sz="2000">
                  <a:solidFill>
                    <a:schemeClr val="bg1"/>
                  </a:solidFill>
                  <a:latin typeface="Times New Roman" panose="02020503050405090304" pitchFamily="18" charset="0"/>
                </a:endParaRPr>
              </a:p>
            </p:txBody>
          </p:sp>
          <p:sp>
            <p:nvSpPr>
              <p:cNvPr id="88239" name="Oval 22"/>
              <p:cNvSpPr>
                <a:spLocks noChangeArrowheads="1"/>
              </p:cNvSpPr>
              <p:nvPr/>
            </p:nvSpPr>
            <p:spPr bwMode="auto">
              <a:xfrm>
                <a:off x="1596" y="2151"/>
                <a:ext cx="189" cy="189"/>
              </a:xfrm>
              <a:prstGeom prst="ellipse">
                <a:avLst/>
              </a:prstGeom>
              <a:solidFill>
                <a:srgbClr val="9900FF"/>
              </a:solidFill>
              <a:ln w="9525">
                <a:solidFill>
                  <a:schemeClr val="hlink"/>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5</a:t>
                </a:r>
                <a:endParaRPr kumimoji="1" lang="en-US" altLang="zh-CN" sz="2000">
                  <a:solidFill>
                    <a:schemeClr val="bg1"/>
                  </a:solidFill>
                  <a:latin typeface="Times New Roman" panose="02020503050405090304" pitchFamily="18" charset="0"/>
                </a:endParaRPr>
              </a:p>
            </p:txBody>
          </p:sp>
          <p:sp>
            <p:nvSpPr>
              <p:cNvPr id="88240" name="Oval 23"/>
              <p:cNvSpPr>
                <a:spLocks noChangeArrowheads="1"/>
              </p:cNvSpPr>
              <p:nvPr/>
            </p:nvSpPr>
            <p:spPr bwMode="auto">
              <a:xfrm>
                <a:off x="1792" y="1881"/>
                <a:ext cx="189" cy="189"/>
              </a:xfrm>
              <a:prstGeom prst="ellipse">
                <a:avLst/>
              </a:prstGeom>
              <a:solidFill>
                <a:srgbClr val="9900FF"/>
              </a:solidFill>
              <a:ln w="9525">
                <a:solidFill>
                  <a:schemeClr val="hlink"/>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8</a:t>
                </a:r>
                <a:endParaRPr kumimoji="1" lang="en-US" altLang="zh-CN" sz="2000">
                  <a:solidFill>
                    <a:schemeClr val="bg1"/>
                  </a:solidFill>
                  <a:latin typeface="Times New Roman" panose="02020503050405090304" pitchFamily="18" charset="0"/>
                </a:endParaRPr>
              </a:p>
            </p:txBody>
          </p:sp>
          <p:sp>
            <p:nvSpPr>
              <p:cNvPr id="88241" name="Line 24"/>
              <p:cNvSpPr>
                <a:spLocks noChangeShapeType="1"/>
              </p:cNvSpPr>
              <p:nvPr/>
            </p:nvSpPr>
            <p:spPr bwMode="auto">
              <a:xfrm flipH="1">
                <a:off x="1745" y="2033"/>
                <a:ext cx="66" cy="145"/>
              </a:xfrm>
              <a:prstGeom prst="line">
                <a:avLst/>
              </a:prstGeom>
              <a:noFill/>
              <a:ln w="9525">
                <a:solidFill>
                  <a:schemeClr val="hlink"/>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88242" name="Line 25"/>
              <p:cNvSpPr>
                <a:spLocks noChangeShapeType="1"/>
              </p:cNvSpPr>
              <p:nvPr/>
            </p:nvSpPr>
            <p:spPr bwMode="auto">
              <a:xfrm>
                <a:off x="1945" y="2033"/>
                <a:ext cx="55" cy="122"/>
              </a:xfrm>
              <a:prstGeom prst="line">
                <a:avLst/>
              </a:prstGeom>
              <a:noFill/>
              <a:ln w="9525">
                <a:solidFill>
                  <a:schemeClr val="hlink"/>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grpSp>
      </p:grpSp>
      <p:grpSp>
        <p:nvGrpSpPr>
          <p:cNvPr id="5" name="Group 26"/>
          <p:cNvGrpSpPr/>
          <p:nvPr/>
        </p:nvGrpSpPr>
        <p:grpSpPr bwMode="auto">
          <a:xfrm>
            <a:off x="1147763" y="2719388"/>
            <a:ext cx="2913062" cy="747712"/>
            <a:chOff x="714" y="2169"/>
            <a:chExt cx="1835" cy="471"/>
          </a:xfrm>
        </p:grpSpPr>
        <p:grpSp>
          <p:nvGrpSpPr>
            <p:cNvPr id="88215" name="Group 27"/>
            <p:cNvGrpSpPr/>
            <p:nvPr/>
          </p:nvGrpSpPr>
          <p:grpSpPr bwMode="auto">
            <a:xfrm>
              <a:off x="2042" y="2181"/>
              <a:ext cx="507" cy="459"/>
              <a:chOff x="1596" y="1881"/>
              <a:chExt cx="507" cy="459"/>
            </a:xfrm>
          </p:grpSpPr>
          <p:sp>
            <p:nvSpPr>
              <p:cNvPr id="88226" name="Oval 28"/>
              <p:cNvSpPr>
                <a:spLocks noChangeArrowheads="1"/>
              </p:cNvSpPr>
              <p:nvPr/>
            </p:nvSpPr>
            <p:spPr bwMode="auto">
              <a:xfrm>
                <a:off x="1914" y="215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8</a:t>
                </a:r>
                <a:endParaRPr kumimoji="1" lang="en-US" altLang="zh-CN" sz="2000">
                  <a:solidFill>
                    <a:schemeClr val="bg1"/>
                  </a:solidFill>
                  <a:latin typeface="Times New Roman" panose="02020503050405090304" pitchFamily="18" charset="0"/>
                </a:endParaRPr>
              </a:p>
            </p:txBody>
          </p:sp>
          <p:sp>
            <p:nvSpPr>
              <p:cNvPr id="88227" name="Oval 29"/>
              <p:cNvSpPr>
                <a:spLocks noChangeArrowheads="1"/>
              </p:cNvSpPr>
              <p:nvPr/>
            </p:nvSpPr>
            <p:spPr bwMode="auto">
              <a:xfrm>
                <a:off x="1596" y="215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7</a:t>
                </a:r>
                <a:endParaRPr kumimoji="1" lang="en-US" altLang="zh-CN" sz="2000">
                  <a:solidFill>
                    <a:schemeClr val="bg1"/>
                  </a:solidFill>
                  <a:latin typeface="Times New Roman" panose="02020503050405090304" pitchFamily="18" charset="0"/>
                </a:endParaRPr>
              </a:p>
            </p:txBody>
          </p:sp>
          <p:sp>
            <p:nvSpPr>
              <p:cNvPr id="88228" name="Oval 30"/>
              <p:cNvSpPr>
                <a:spLocks noChangeArrowheads="1"/>
              </p:cNvSpPr>
              <p:nvPr/>
            </p:nvSpPr>
            <p:spPr bwMode="auto">
              <a:xfrm>
                <a:off x="1792" y="188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15</a:t>
                </a:r>
                <a:endParaRPr kumimoji="1" lang="en-US" altLang="zh-CN" sz="2000">
                  <a:solidFill>
                    <a:schemeClr val="bg1"/>
                  </a:solidFill>
                  <a:latin typeface="Times New Roman" panose="02020503050405090304" pitchFamily="18" charset="0"/>
                </a:endParaRPr>
              </a:p>
            </p:txBody>
          </p:sp>
          <p:sp>
            <p:nvSpPr>
              <p:cNvPr id="88229" name="Line 31"/>
              <p:cNvSpPr>
                <a:spLocks noChangeShapeType="1"/>
              </p:cNvSpPr>
              <p:nvPr/>
            </p:nvSpPr>
            <p:spPr bwMode="auto">
              <a:xfrm flipH="1">
                <a:off x="1745" y="2033"/>
                <a:ext cx="66" cy="145"/>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88230" name="Line 32"/>
              <p:cNvSpPr>
                <a:spLocks noChangeShapeType="1"/>
              </p:cNvSpPr>
              <p:nvPr/>
            </p:nvSpPr>
            <p:spPr bwMode="auto">
              <a:xfrm>
                <a:off x="1945" y="2033"/>
                <a:ext cx="55" cy="122"/>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grpSp>
        <p:sp>
          <p:nvSpPr>
            <p:cNvPr id="88216" name="Oval 33"/>
            <p:cNvSpPr>
              <a:spLocks noChangeArrowheads="1"/>
            </p:cNvSpPr>
            <p:nvPr/>
          </p:nvSpPr>
          <p:spPr bwMode="auto">
            <a:xfrm>
              <a:off x="940" y="2170"/>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14</a:t>
              </a:r>
              <a:endParaRPr kumimoji="1" lang="en-US" altLang="zh-CN" sz="2000">
                <a:solidFill>
                  <a:schemeClr val="bg1"/>
                </a:solidFill>
                <a:latin typeface="Times New Roman" panose="02020503050405090304" pitchFamily="18" charset="0"/>
              </a:endParaRPr>
            </a:p>
          </p:txBody>
        </p:sp>
        <p:sp>
          <p:nvSpPr>
            <p:cNvPr id="88217" name="Oval 34"/>
            <p:cNvSpPr>
              <a:spLocks noChangeArrowheads="1"/>
            </p:cNvSpPr>
            <p:nvPr/>
          </p:nvSpPr>
          <p:spPr bwMode="auto">
            <a:xfrm>
              <a:off x="714" y="2170"/>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29</a:t>
              </a:r>
              <a:endParaRPr kumimoji="1" lang="en-US" altLang="zh-CN" sz="2000">
                <a:solidFill>
                  <a:schemeClr val="bg1"/>
                </a:solidFill>
                <a:latin typeface="Times New Roman" panose="02020503050405090304" pitchFamily="18" charset="0"/>
              </a:endParaRPr>
            </a:p>
          </p:txBody>
        </p:sp>
        <p:sp>
          <p:nvSpPr>
            <p:cNvPr id="88218" name="Oval 35"/>
            <p:cNvSpPr>
              <a:spLocks noChangeArrowheads="1"/>
            </p:cNvSpPr>
            <p:nvPr/>
          </p:nvSpPr>
          <p:spPr bwMode="auto">
            <a:xfrm>
              <a:off x="1186" y="2170"/>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23</a:t>
              </a:r>
              <a:endParaRPr kumimoji="1" lang="en-US" altLang="zh-CN" sz="2000">
                <a:solidFill>
                  <a:schemeClr val="bg1"/>
                </a:solidFill>
                <a:latin typeface="Times New Roman" panose="02020503050405090304" pitchFamily="18" charset="0"/>
              </a:endParaRPr>
            </a:p>
          </p:txBody>
        </p:sp>
        <p:grpSp>
          <p:nvGrpSpPr>
            <p:cNvPr id="88219" name="Group 36"/>
            <p:cNvGrpSpPr/>
            <p:nvPr/>
          </p:nvGrpSpPr>
          <p:grpSpPr bwMode="auto">
            <a:xfrm>
              <a:off x="1496" y="2169"/>
              <a:ext cx="507" cy="459"/>
              <a:chOff x="1596" y="1881"/>
              <a:chExt cx="507" cy="459"/>
            </a:xfrm>
          </p:grpSpPr>
          <p:sp>
            <p:nvSpPr>
              <p:cNvPr id="88221" name="Oval 37"/>
              <p:cNvSpPr>
                <a:spLocks noChangeArrowheads="1"/>
              </p:cNvSpPr>
              <p:nvPr/>
            </p:nvSpPr>
            <p:spPr bwMode="auto">
              <a:xfrm>
                <a:off x="1914" y="215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3</a:t>
                </a:r>
                <a:endParaRPr kumimoji="1" lang="en-US" altLang="zh-CN" sz="2000">
                  <a:solidFill>
                    <a:schemeClr val="bg1"/>
                  </a:solidFill>
                  <a:latin typeface="Times New Roman" panose="02020503050405090304" pitchFamily="18" charset="0"/>
                </a:endParaRPr>
              </a:p>
            </p:txBody>
          </p:sp>
          <p:sp>
            <p:nvSpPr>
              <p:cNvPr id="88222" name="Oval 38"/>
              <p:cNvSpPr>
                <a:spLocks noChangeArrowheads="1"/>
              </p:cNvSpPr>
              <p:nvPr/>
            </p:nvSpPr>
            <p:spPr bwMode="auto">
              <a:xfrm>
                <a:off x="1596" y="215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5</a:t>
                </a:r>
                <a:endParaRPr kumimoji="1" lang="en-US" altLang="zh-CN" sz="2000">
                  <a:solidFill>
                    <a:schemeClr val="bg1"/>
                  </a:solidFill>
                  <a:latin typeface="Times New Roman" panose="02020503050405090304" pitchFamily="18" charset="0"/>
                </a:endParaRPr>
              </a:p>
            </p:txBody>
          </p:sp>
          <p:sp>
            <p:nvSpPr>
              <p:cNvPr id="88223" name="Oval 39"/>
              <p:cNvSpPr>
                <a:spLocks noChangeArrowheads="1"/>
              </p:cNvSpPr>
              <p:nvPr/>
            </p:nvSpPr>
            <p:spPr bwMode="auto">
              <a:xfrm>
                <a:off x="1792" y="188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8</a:t>
                </a:r>
                <a:endParaRPr kumimoji="1" lang="en-US" altLang="zh-CN" sz="2000">
                  <a:solidFill>
                    <a:schemeClr val="bg1"/>
                  </a:solidFill>
                  <a:latin typeface="Times New Roman" panose="02020503050405090304" pitchFamily="18" charset="0"/>
                </a:endParaRPr>
              </a:p>
            </p:txBody>
          </p:sp>
          <p:sp>
            <p:nvSpPr>
              <p:cNvPr id="88224" name="Line 40"/>
              <p:cNvSpPr>
                <a:spLocks noChangeShapeType="1"/>
              </p:cNvSpPr>
              <p:nvPr/>
            </p:nvSpPr>
            <p:spPr bwMode="auto">
              <a:xfrm flipH="1">
                <a:off x="1745" y="2033"/>
                <a:ext cx="66" cy="145"/>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88225" name="Line 41"/>
              <p:cNvSpPr>
                <a:spLocks noChangeShapeType="1"/>
              </p:cNvSpPr>
              <p:nvPr/>
            </p:nvSpPr>
            <p:spPr bwMode="auto">
              <a:xfrm>
                <a:off x="1945" y="2033"/>
                <a:ext cx="55" cy="122"/>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grpSp>
        <p:sp>
          <p:nvSpPr>
            <p:cNvPr id="88220" name="Oval 42"/>
            <p:cNvSpPr>
              <a:spLocks noChangeArrowheads="1"/>
            </p:cNvSpPr>
            <p:nvPr/>
          </p:nvSpPr>
          <p:spPr bwMode="auto">
            <a:xfrm>
              <a:off x="1433" y="2170"/>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11</a:t>
              </a:r>
              <a:endParaRPr kumimoji="1" lang="en-US" altLang="zh-CN" sz="2000">
                <a:solidFill>
                  <a:schemeClr val="bg1"/>
                </a:solidFill>
                <a:latin typeface="Times New Roman" panose="02020503050405090304" pitchFamily="18" charset="0"/>
              </a:endParaRPr>
            </a:p>
          </p:txBody>
        </p:sp>
      </p:grpSp>
      <p:grpSp>
        <p:nvGrpSpPr>
          <p:cNvPr id="8" name="Group 43"/>
          <p:cNvGrpSpPr/>
          <p:nvPr/>
        </p:nvGrpSpPr>
        <p:grpSpPr bwMode="auto">
          <a:xfrm>
            <a:off x="1192213" y="3738563"/>
            <a:ext cx="2798762" cy="1231900"/>
            <a:chOff x="709" y="2867"/>
            <a:chExt cx="1763" cy="776"/>
          </a:xfrm>
        </p:grpSpPr>
        <p:grpSp>
          <p:nvGrpSpPr>
            <p:cNvPr id="88195" name="Group 44"/>
            <p:cNvGrpSpPr/>
            <p:nvPr/>
          </p:nvGrpSpPr>
          <p:grpSpPr bwMode="auto">
            <a:xfrm>
              <a:off x="1766" y="2867"/>
              <a:ext cx="706" cy="776"/>
              <a:chOff x="1633" y="2900"/>
              <a:chExt cx="706" cy="776"/>
            </a:xfrm>
          </p:grpSpPr>
          <p:sp>
            <p:nvSpPr>
              <p:cNvPr id="88205" name="Oval 45"/>
              <p:cNvSpPr>
                <a:spLocks noChangeArrowheads="1"/>
              </p:cNvSpPr>
              <p:nvPr/>
            </p:nvSpPr>
            <p:spPr bwMode="auto">
              <a:xfrm>
                <a:off x="1633" y="3192"/>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11</a:t>
                </a:r>
                <a:endParaRPr kumimoji="1" lang="en-US" altLang="zh-CN" sz="2000">
                  <a:solidFill>
                    <a:schemeClr val="bg1"/>
                  </a:solidFill>
                  <a:latin typeface="Times New Roman" panose="02020503050405090304" pitchFamily="18" charset="0"/>
                </a:endParaRPr>
              </a:p>
            </p:txBody>
          </p:sp>
          <p:grpSp>
            <p:nvGrpSpPr>
              <p:cNvPr id="88206" name="Group 46"/>
              <p:cNvGrpSpPr/>
              <p:nvPr/>
            </p:nvGrpSpPr>
            <p:grpSpPr bwMode="auto">
              <a:xfrm>
                <a:off x="1832" y="3217"/>
                <a:ext cx="507" cy="459"/>
                <a:chOff x="1596" y="1881"/>
                <a:chExt cx="507" cy="459"/>
              </a:xfrm>
            </p:grpSpPr>
            <p:sp>
              <p:nvSpPr>
                <p:cNvPr id="88210" name="Oval 47"/>
                <p:cNvSpPr>
                  <a:spLocks noChangeArrowheads="1"/>
                </p:cNvSpPr>
                <p:nvPr/>
              </p:nvSpPr>
              <p:spPr bwMode="auto">
                <a:xfrm>
                  <a:off x="1914" y="215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3</a:t>
                  </a:r>
                  <a:endParaRPr kumimoji="1" lang="en-US" altLang="zh-CN" sz="2000">
                    <a:solidFill>
                      <a:schemeClr val="bg1"/>
                    </a:solidFill>
                    <a:latin typeface="Times New Roman" panose="02020503050405090304" pitchFamily="18" charset="0"/>
                  </a:endParaRPr>
                </a:p>
              </p:txBody>
            </p:sp>
            <p:sp>
              <p:nvSpPr>
                <p:cNvPr id="88211" name="Oval 48"/>
                <p:cNvSpPr>
                  <a:spLocks noChangeArrowheads="1"/>
                </p:cNvSpPr>
                <p:nvPr/>
              </p:nvSpPr>
              <p:spPr bwMode="auto">
                <a:xfrm>
                  <a:off x="1596" y="215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5</a:t>
                  </a:r>
                  <a:endParaRPr kumimoji="1" lang="en-US" altLang="zh-CN" sz="2000">
                    <a:solidFill>
                      <a:schemeClr val="bg1"/>
                    </a:solidFill>
                    <a:latin typeface="Times New Roman" panose="02020503050405090304" pitchFamily="18" charset="0"/>
                  </a:endParaRPr>
                </a:p>
              </p:txBody>
            </p:sp>
            <p:sp>
              <p:nvSpPr>
                <p:cNvPr id="88212" name="Oval 49"/>
                <p:cNvSpPr>
                  <a:spLocks noChangeArrowheads="1"/>
                </p:cNvSpPr>
                <p:nvPr/>
              </p:nvSpPr>
              <p:spPr bwMode="auto">
                <a:xfrm>
                  <a:off x="1792" y="188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8</a:t>
                  </a:r>
                  <a:endParaRPr kumimoji="1" lang="en-US" altLang="zh-CN" sz="2000">
                    <a:solidFill>
                      <a:schemeClr val="bg1"/>
                    </a:solidFill>
                    <a:latin typeface="Times New Roman" panose="02020503050405090304" pitchFamily="18" charset="0"/>
                  </a:endParaRPr>
                </a:p>
              </p:txBody>
            </p:sp>
            <p:sp>
              <p:nvSpPr>
                <p:cNvPr id="88213" name="Line 50"/>
                <p:cNvSpPr>
                  <a:spLocks noChangeShapeType="1"/>
                </p:cNvSpPr>
                <p:nvPr/>
              </p:nvSpPr>
              <p:spPr bwMode="auto">
                <a:xfrm flipH="1">
                  <a:off x="1745" y="2033"/>
                  <a:ext cx="66" cy="145"/>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88214" name="Line 51"/>
                <p:cNvSpPr>
                  <a:spLocks noChangeShapeType="1"/>
                </p:cNvSpPr>
                <p:nvPr/>
              </p:nvSpPr>
              <p:spPr bwMode="auto">
                <a:xfrm>
                  <a:off x="1945" y="2033"/>
                  <a:ext cx="55" cy="122"/>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grpSp>
          <p:sp>
            <p:nvSpPr>
              <p:cNvPr id="88207" name="Oval 52"/>
              <p:cNvSpPr>
                <a:spLocks noChangeArrowheads="1"/>
              </p:cNvSpPr>
              <p:nvPr/>
            </p:nvSpPr>
            <p:spPr bwMode="auto">
              <a:xfrm>
                <a:off x="1851" y="2900"/>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19</a:t>
                </a:r>
                <a:endParaRPr kumimoji="1" lang="en-US" altLang="zh-CN" sz="2000">
                  <a:solidFill>
                    <a:schemeClr val="bg1"/>
                  </a:solidFill>
                  <a:latin typeface="Times New Roman" panose="02020503050405090304" pitchFamily="18" charset="0"/>
                </a:endParaRPr>
              </a:p>
            </p:txBody>
          </p:sp>
          <p:sp>
            <p:nvSpPr>
              <p:cNvPr id="88208" name="Line 53"/>
              <p:cNvSpPr>
                <a:spLocks noChangeShapeType="1"/>
              </p:cNvSpPr>
              <p:nvPr/>
            </p:nvSpPr>
            <p:spPr bwMode="auto">
              <a:xfrm flipH="1">
                <a:off x="1800" y="3066"/>
                <a:ext cx="89" cy="134"/>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88209" name="Line 54"/>
              <p:cNvSpPr>
                <a:spLocks noChangeShapeType="1"/>
              </p:cNvSpPr>
              <p:nvPr/>
            </p:nvSpPr>
            <p:spPr bwMode="auto">
              <a:xfrm>
                <a:off x="1978" y="3078"/>
                <a:ext cx="100" cy="144"/>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grpSp>
        <p:sp>
          <p:nvSpPr>
            <p:cNvPr id="88196" name="Oval 55"/>
            <p:cNvSpPr>
              <a:spLocks noChangeArrowheads="1"/>
            </p:cNvSpPr>
            <p:nvPr/>
          </p:nvSpPr>
          <p:spPr bwMode="auto">
            <a:xfrm>
              <a:off x="935" y="2877"/>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14</a:t>
              </a:r>
              <a:endParaRPr kumimoji="1" lang="en-US" altLang="zh-CN" sz="2000">
                <a:solidFill>
                  <a:schemeClr val="bg1"/>
                </a:solidFill>
                <a:latin typeface="Times New Roman" panose="02020503050405090304" pitchFamily="18" charset="0"/>
              </a:endParaRPr>
            </a:p>
          </p:txBody>
        </p:sp>
        <p:sp>
          <p:nvSpPr>
            <p:cNvPr id="88197" name="Oval 56"/>
            <p:cNvSpPr>
              <a:spLocks noChangeArrowheads="1"/>
            </p:cNvSpPr>
            <p:nvPr/>
          </p:nvSpPr>
          <p:spPr bwMode="auto">
            <a:xfrm>
              <a:off x="709" y="2877"/>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29</a:t>
              </a:r>
              <a:endParaRPr kumimoji="1" lang="en-US" altLang="zh-CN" sz="2000">
                <a:solidFill>
                  <a:schemeClr val="bg1"/>
                </a:solidFill>
                <a:latin typeface="Times New Roman" panose="02020503050405090304" pitchFamily="18" charset="0"/>
              </a:endParaRPr>
            </a:p>
          </p:txBody>
        </p:sp>
        <p:sp>
          <p:nvSpPr>
            <p:cNvPr id="88198" name="Oval 57"/>
            <p:cNvSpPr>
              <a:spLocks noChangeArrowheads="1"/>
            </p:cNvSpPr>
            <p:nvPr/>
          </p:nvSpPr>
          <p:spPr bwMode="auto">
            <a:xfrm>
              <a:off x="1181" y="2877"/>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23</a:t>
              </a:r>
              <a:endParaRPr kumimoji="1" lang="en-US" altLang="zh-CN" sz="2000">
                <a:solidFill>
                  <a:schemeClr val="bg1"/>
                </a:solidFill>
                <a:latin typeface="Times New Roman" panose="02020503050405090304" pitchFamily="18" charset="0"/>
              </a:endParaRPr>
            </a:p>
          </p:txBody>
        </p:sp>
        <p:grpSp>
          <p:nvGrpSpPr>
            <p:cNvPr id="88199" name="Group 58"/>
            <p:cNvGrpSpPr/>
            <p:nvPr/>
          </p:nvGrpSpPr>
          <p:grpSpPr bwMode="auto">
            <a:xfrm>
              <a:off x="1227" y="2888"/>
              <a:ext cx="507" cy="459"/>
              <a:chOff x="1596" y="1881"/>
              <a:chExt cx="507" cy="459"/>
            </a:xfrm>
          </p:grpSpPr>
          <p:sp>
            <p:nvSpPr>
              <p:cNvPr id="88200" name="Oval 59"/>
              <p:cNvSpPr>
                <a:spLocks noChangeArrowheads="1"/>
              </p:cNvSpPr>
              <p:nvPr/>
            </p:nvSpPr>
            <p:spPr bwMode="auto">
              <a:xfrm>
                <a:off x="1914" y="215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8</a:t>
                </a:r>
                <a:endParaRPr kumimoji="1" lang="en-US" altLang="zh-CN" sz="2000">
                  <a:solidFill>
                    <a:schemeClr val="bg1"/>
                  </a:solidFill>
                  <a:latin typeface="Times New Roman" panose="02020503050405090304" pitchFamily="18" charset="0"/>
                </a:endParaRPr>
              </a:p>
            </p:txBody>
          </p:sp>
          <p:sp>
            <p:nvSpPr>
              <p:cNvPr id="88201" name="Oval 60"/>
              <p:cNvSpPr>
                <a:spLocks noChangeArrowheads="1"/>
              </p:cNvSpPr>
              <p:nvPr/>
            </p:nvSpPr>
            <p:spPr bwMode="auto">
              <a:xfrm>
                <a:off x="1596" y="215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7</a:t>
                </a:r>
                <a:endParaRPr kumimoji="1" lang="en-US" altLang="zh-CN" sz="2000">
                  <a:solidFill>
                    <a:schemeClr val="bg1"/>
                  </a:solidFill>
                  <a:latin typeface="Times New Roman" panose="02020503050405090304" pitchFamily="18" charset="0"/>
                </a:endParaRPr>
              </a:p>
            </p:txBody>
          </p:sp>
          <p:sp>
            <p:nvSpPr>
              <p:cNvPr id="88202" name="Oval 61"/>
              <p:cNvSpPr>
                <a:spLocks noChangeArrowheads="1"/>
              </p:cNvSpPr>
              <p:nvPr/>
            </p:nvSpPr>
            <p:spPr bwMode="auto">
              <a:xfrm>
                <a:off x="1792" y="188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15</a:t>
                </a:r>
                <a:endParaRPr kumimoji="1" lang="en-US" altLang="zh-CN" sz="2000">
                  <a:solidFill>
                    <a:schemeClr val="bg1"/>
                  </a:solidFill>
                  <a:latin typeface="Times New Roman" panose="02020503050405090304" pitchFamily="18" charset="0"/>
                </a:endParaRPr>
              </a:p>
            </p:txBody>
          </p:sp>
          <p:sp>
            <p:nvSpPr>
              <p:cNvPr id="88203" name="Line 62"/>
              <p:cNvSpPr>
                <a:spLocks noChangeShapeType="1"/>
              </p:cNvSpPr>
              <p:nvPr/>
            </p:nvSpPr>
            <p:spPr bwMode="auto">
              <a:xfrm flipH="1">
                <a:off x="1745" y="2033"/>
                <a:ext cx="66" cy="145"/>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88204" name="Line 63"/>
              <p:cNvSpPr>
                <a:spLocks noChangeShapeType="1"/>
              </p:cNvSpPr>
              <p:nvPr/>
            </p:nvSpPr>
            <p:spPr bwMode="auto">
              <a:xfrm>
                <a:off x="1945" y="2033"/>
                <a:ext cx="55" cy="122"/>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grpSp>
      </p:grpSp>
      <p:grpSp>
        <p:nvGrpSpPr>
          <p:cNvPr id="12" name="Group 64"/>
          <p:cNvGrpSpPr/>
          <p:nvPr/>
        </p:nvGrpSpPr>
        <p:grpSpPr bwMode="auto">
          <a:xfrm>
            <a:off x="1150938" y="5241925"/>
            <a:ext cx="2705100" cy="1235075"/>
            <a:chOff x="3228" y="363"/>
            <a:chExt cx="1704" cy="778"/>
          </a:xfrm>
        </p:grpSpPr>
        <p:grpSp>
          <p:nvGrpSpPr>
            <p:cNvPr id="88171" name="Group 65"/>
            <p:cNvGrpSpPr/>
            <p:nvPr/>
          </p:nvGrpSpPr>
          <p:grpSpPr bwMode="auto">
            <a:xfrm>
              <a:off x="3563" y="365"/>
              <a:ext cx="706" cy="776"/>
              <a:chOff x="1633" y="2900"/>
              <a:chExt cx="706" cy="776"/>
            </a:xfrm>
          </p:grpSpPr>
          <p:sp>
            <p:nvSpPr>
              <p:cNvPr id="88185" name="Oval 66"/>
              <p:cNvSpPr>
                <a:spLocks noChangeArrowheads="1"/>
              </p:cNvSpPr>
              <p:nvPr/>
            </p:nvSpPr>
            <p:spPr bwMode="auto">
              <a:xfrm>
                <a:off x="1633" y="3192"/>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11</a:t>
                </a:r>
                <a:endParaRPr kumimoji="1" lang="en-US" altLang="zh-CN" sz="2000">
                  <a:solidFill>
                    <a:schemeClr val="bg1"/>
                  </a:solidFill>
                  <a:latin typeface="Times New Roman" panose="02020503050405090304" pitchFamily="18" charset="0"/>
                </a:endParaRPr>
              </a:p>
            </p:txBody>
          </p:sp>
          <p:grpSp>
            <p:nvGrpSpPr>
              <p:cNvPr id="88186" name="Group 67"/>
              <p:cNvGrpSpPr/>
              <p:nvPr/>
            </p:nvGrpSpPr>
            <p:grpSpPr bwMode="auto">
              <a:xfrm>
                <a:off x="1832" y="3217"/>
                <a:ext cx="507" cy="459"/>
                <a:chOff x="1596" y="1881"/>
                <a:chExt cx="507" cy="459"/>
              </a:xfrm>
            </p:grpSpPr>
            <p:sp>
              <p:nvSpPr>
                <p:cNvPr id="88190" name="Oval 68"/>
                <p:cNvSpPr>
                  <a:spLocks noChangeArrowheads="1"/>
                </p:cNvSpPr>
                <p:nvPr/>
              </p:nvSpPr>
              <p:spPr bwMode="auto">
                <a:xfrm>
                  <a:off x="1914" y="215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3</a:t>
                  </a:r>
                  <a:endParaRPr kumimoji="1" lang="en-US" altLang="zh-CN" sz="2000">
                    <a:solidFill>
                      <a:schemeClr val="bg1"/>
                    </a:solidFill>
                    <a:latin typeface="Times New Roman" panose="02020503050405090304" pitchFamily="18" charset="0"/>
                  </a:endParaRPr>
                </a:p>
              </p:txBody>
            </p:sp>
            <p:sp>
              <p:nvSpPr>
                <p:cNvPr id="88191" name="Oval 69"/>
                <p:cNvSpPr>
                  <a:spLocks noChangeArrowheads="1"/>
                </p:cNvSpPr>
                <p:nvPr/>
              </p:nvSpPr>
              <p:spPr bwMode="auto">
                <a:xfrm>
                  <a:off x="1596" y="215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5</a:t>
                  </a:r>
                  <a:endParaRPr kumimoji="1" lang="en-US" altLang="zh-CN" sz="2000">
                    <a:solidFill>
                      <a:schemeClr val="bg1"/>
                    </a:solidFill>
                    <a:latin typeface="Times New Roman" panose="02020503050405090304" pitchFamily="18" charset="0"/>
                  </a:endParaRPr>
                </a:p>
              </p:txBody>
            </p:sp>
            <p:sp>
              <p:nvSpPr>
                <p:cNvPr id="88192" name="Oval 70"/>
                <p:cNvSpPr>
                  <a:spLocks noChangeArrowheads="1"/>
                </p:cNvSpPr>
                <p:nvPr/>
              </p:nvSpPr>
              <p:spPr bwMode="auto">
                <a:xfrm>
                  <a:off x="1792" y="188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8</a:t>
                  </a:r>
                  <a:endParaRPr kumimoji="1" lang="en-US" altLang="zh-CN" sz="2000">
                    <a:solidFill>
                      <a:schemeClr val="bg1"/>
                    </a:solidFill>
                    <a:latin typeface="Times New Roman" panose="02020503050405090304" pitchFamily="18" charset="0"/>
                  </a:endParaRPr>
                </a:p>
              </p:txBody>
            </p:sp>
            <p:sp>
              <p:nvSpPr>
                <p:cNvPr id="88193" name="Line 71"/>
                <p:cNvSpPr>
                  <a:spLocks noChangeShapeType="1"/>
                </p:cNvSpPr>
                <p:nvPr/>
              </p:nvSpPr>
              <p:spPr bwMode="auto">
                <a:xfrm flipH="1">
                  <a:off x="1745" y="2033"/>
                  <a:ext cx="66" cy="145"/>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88194" name="Line 72"/>
                <p:cNvSpPr>
                  <a:spLocks noChangeShapeType="1"/>
                </p:cNvSpPr>
                <p:nvPr/>
              </p:nvSpPr>
              <p:spPr bwMode="auto">
                <a:xfrm>
                  <a:off x="1945" y="2033"/>
                  <a:ext cx="55" cy="122"/>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grpSp>
          <p:sp>
            <p:nvSpPr>
              <p:cNvPr id="88187" name="Oval 73"/>
              <p:cNvSpPr>
                <a:spLocks noChangeArrowheads="1"/>
              </p:cNvSpPr>
              <p:nvPr/>
            </p:nvSpPr>
            <p:spPr bwMode="auto">
              <a:xfrm>
                <a:off x="1851" y="2900"/>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19</a:t>
                </a:r>
                <a:endParaRPr kumimoji="1" lang="en-US" altLang="zh-CN" sz="2000">
                  <a:solidFill>
                    <a:schemeClr val="bg1"/>
                  </a:solidFill>
                  <a:latin typeface="Times New Roman" panose="02020503050405090304" pitchFamily="18" charset="0"/>
                </a:endParaRPr>
              </a:p>
            </p:txBody>
          </p:sp>
          <p:sp>
            <p:nvSpPr>
              <p:cNvPr id="88188" name="Line 74"/>
              <p:cNvSpPr>
                <a:spLocks noChangeShapeType="1"/>
              </p:cNvSpPr>
              <p:nvPr/>
            </p:nvSpPr>
            <p:spPr bwMode="auto">
              <a:xfrm flipH="1">
                <a:off x="1800" y="3066"/>
                <a:ext cx="89" cy="134"/>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88189" name="Line 75"/>
              <p:cNvSpPr>
                <a:spLocks noChangeShapeType="1"/>
              </p:cNvSpPr>
              <p:nvPr/>
            </p:nvSpPr>
            <p:spPr bwMode="auto">
              <a:xfrm>
                <a:off x="1978" y="3078"/>
                <a:ext cx="100" cy="144"/>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grpSp>
        <p:sp>
          <p:nvSpPr>
            <p:cNvPr id="88172" name="Oval 76"/>
            <p:cNvSpPr>
              <a:spLocks noChangeArrowheads="1"/>
            </p:cNvSpPr>
            <p:nvPr/>
          </p:nvSpPr>
          <p:spPr bwMode="auto">
            <a:xfrm>
              <a:off x="3228" y="363"/>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29</a:t>
              </a:r>
              <a:endParaRPr kumimoji="1" lang="en-US" altLang="zh-CN" sz="2000">
                <a:solidFill>
                  <a:schemeClr val="bg1"/>
                </a:solidFill>
                <a:latin typeface="Times New Roman" panose="02020503050405090304" pitchFamily="18" charset="0"/>
              </a:endParaRPr>
            </a:p>
          </p:txBody>
        </p:sp>
        <p:sp>
          <p:nvSpPr>
            <p:cNvPr id="88173" name="Oval 77"/>
            <p:cNvSpPr>
              <a:spLocks noChangeArrowheads="1"/>
            </p:cNvSpPr>
            <p:nvPr/>
          </p:nvSpPr>
          <p:spPr bwMode="auto">
            <a:xfrm>
              <a:off x="3489" y="363"/>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23</a:t>
              </a:r>
              <a:endParaRPr kumimoji="1" lang="en-US" altLang="zh-CN" sz="2000">
                <a:solidFill>
                  <a:schemeClr val="bg1"/>
                </a:solidFill>
                <a:latin typeface="Times New Roman" panose="02020503050405090304" pitchFamily="18" charset="0"/>
              </a:endParaRPr>
            </a:p>
          </p:txBody>
        </p:sp>
        <p:grpSp>
          <p:nvGrpSpPr>
            <p:cNvPr id="88174" name="Group 78"/>
            <p:cNvGrpSpPr/>
            <p:nvPr/>
          </p:nvGrpSpPr>
          <p:grpSpPr bwMode="auto">
            <a:xfrm>
              <a:off x="4244" y="381"/>
              <a:ext cx="688" cy="741"/>
              <a:chOff x="3643" y="814"/>
              <a:chExt cx="688" cy="741"/>
            </a:xfrm>
          </p:grpSpPr>
          <p:sp>
            <p:nvSpPr>
              <p:cNvPr id="88175" name="Oval 79"/>
              <p:cNvSpPr>
                <a:spLocks noChangeArrowheads="1"/>
              </p:cNvSpPr>
              <p:nvPr/>
            </p:nvSpPr>
            <p:spPr bwMode="auto">
              <a:xfrm>
                <a:off x="3643" y="1074"/>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14</a:t>
                </a:r>
                <a:endParaRPr kumimoji="1" lang="en-US" altLang="zh-CN" sz="2000">
                  <a:solidFill>
                    <a:schemeClr val="bg1"/>
                  </a:solidFill>
                  <a:latin typeface="Times New Roman" panose="02020503050405090304" pitchFamily="18" charset="0"/>
                </a:endParaRPr>
              </a:p>
            </p:txBody>
          </p:sp>
          <p:grpSp>
            <p:nvGrpSpPr>
              <p:cNvPr id="88176" name="Group 80"/>
              <p:cNvGrpSpPr/>
              <p:nvPr/>
            </p:nvGrpSpPr>
            <p:grpSpPr bwMode="auto">
              <a:xfrm>
                <a:off x="3824" y="1096"/>
                <a:ext cx="507" cy="459"/>
                <a:chOff x="1596" y="1881"/>
                <a:chExt cx="507" cy="459"/>
              </a:xfrm>
            </p:grpSpPr>
            <p:sp>
              <p:nvSpPr>
                <p:cNvPr id="88180" name="Oval 81"/>
                <p:cNvSpPr>
                  <a:spLocks noChangeArrowheads="1"/>
                </p:cNvSpPr>
                <p:nvPr/>
              </p:nvSpPr>
              <p:spPr bwMode="auto">
                <a:xfrm>
                  <a:off x="1914" y="215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8</a:t>
                  </a:r>
                  <a:endParaRPr kumimoji="1" lang="en-US" altLang="zh-CN" sz="2000">
                    <a:solidFill>
                      <a:schemeClr val="bg1"/>
                    </a:solidFill>
                    <a:latin typeface="Times New Roman" panose="02020503050405090304" pitchFamily="18" charset="0"/>
                  </a:endParaRPr>
                </a:p>
              </p:txBody>
            </p:sp>
            <p:sp>
              <p:nvSpPr>
                <p:cNvPr id="88181" name="Oval 82"/>
                <p:cNvSpPr>
                  <a:spLocks noChangeArrowheads="1"/>
                </p:cNvSpPr>
                <p:nvPr/>
              </p:nvSpPr>
              <p:spPr bwMode="auto">
                <a:xfrm>
                  <a:off x="1596" y="215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7</a:t>
                  </a:r>
                  <a:endParaRPr kumimoji="1" lang="en-US" altLang="zh-CN" sz="2000">
                    <a:solidFill>
                      <a:schemeClr val="bg1"/>
                    </a:solidFill>
                    <a:latin typeface="Times New Roman" panose="02020503050405090304" pitchFamily="18" charset="0"/>
                  </a:endParaRPr>
                </a:p>
              </p:txBody>
            </p:sp>
            <p:sp>
              <p:nvSpPr>
                <p:cNvPr id="88182" name="Oval 83"/>
                <p:cNvSpPr>
                  <a:spLocks noChangeArrowheads="1"/>
                </p:cNvSpPr>
                <p:nvPr/>
              </p:nvSpPr>
              <p:spPr bwMode="auto">
                <a:xfrm>
                  <a:off x="1792" y="188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15</a:t>
                  </a:r>
                  <a:endParaRPr kumimoji="1" lang="en-US" altLang="zh-CN" sz="2000">
                    <a:solidFill>
                      <a:schemeClr val="bg1"/>
                    </a:solidFill>
                    <a:latin typeface="Times New Roman" panose="02020503050405090304" pitchFamily="18" charset="0"/>
                  </a:endParaRPr>
                </a:p>
              </p:txBody>
            </p:sp>
            <p:sp>
              <p:nvSpPr>
                <p:cNvPr id="88183" name="Line 84"/>
                <p:cNvSpPr>
                  <a:spLocks noChangeShapeType="1"/>
                </p:cNvSpPr>
                <p:nvPr/>
              </p:nvSpPr>
              <p:spPr bwMode="auto">
                <a:xfrm flipH="1">
                  <a:off x="1745" y="2033"/>
                  <a:ext cx="66" cy="145"/>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88184" name="Line 85"/>
                <p:cNvSpPr>
                  <a:spLocks noChangeShapeType="1"/>
                </p:cNvSpPr>
                <p:nvPr/>
              </p:nvSpPr>
              <p:spPr bwMode="auto">
                <a:xfrm>
                  <a:off x="1945" y="2033"/>
                  <a:ext cx="55" cy="122"/>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grpSp>
          <p:sp>
            <p:nvSpPr>
              <p:cNvPr id="88177" name="Oval 86"/>
              <p:cNvSpPr>
                <a:spLocks noChangeArrowheads="1"/>
              </p:cNvSpPr>
              <p:nvPr/>
            </p:nvSpPr>
            <p:spPr bwMode="auto">
              <a:xfrm>
                <a:off x="3861" y="814"/>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29</a:t>
                </a:r>
                <a:endParaRPr kumimoji="1" lang="en-US" altLang="zh-CN" sz="2000">
                  <a:solidFill>
                    <a:schemeClr val="bg1"/>
                  </a:solidFill>
                  <a:latin typeface="Times New Roman" panose="02020503050405090304" pitchFamily="18" charset="0"/>
                </a:endParaRPr>
              </a:p>
            </p:txBody>
          </p:sp>
          <p:sp>
            <p:nvSpPr>
              <p:cNvPr id="88178" name="Line 87"/>
              <p:cNvSpPr>
                <a:spLocks noChangeShapeType="1"/>
              </p:cNvSpPr>
              <p:nvPr/>
            </p:nvSpPr>
            <p:spPr bwMode="auto">
              <a:xfrm flipH="1">
                <a:off x="3800" y="967"/>
                <a:ext cx="78" cy="155"/>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88179" name="Line 88"/>
              <p:cNvSpPr>
                <a:spLocks noChangeShapeType="1"/>
              </p:cNvSpPr>
              <p:nvPr/>
            </p:nvSpPr>
            <p:spPr bwMode="auto">
              <a:xfrm>
                <a:off x="4001" y="978"/>
                <a:ext cx="66" cy="133"/>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grpSp>
      </p:grpSp>
      <p:grpSp>
        <p:nvGrpSpPr>
          <p:cNvPr id="17" name="Group 89"/>
          <p:cNvGrpSpPr/>
          <p:nvPr/>
        </p:nvGrpSpPr>
        <p:grpSpPr bwMode="auto">
          <a:xfrm>
            <a:off x="5430838" y="457200"/>
            <a:ext cx="2798762" cy="1736725"/>
            <a:chOff x="3224" y="1422"/>
            <a:chExt cx="1763" cy="1094"/>
          </a:xfrm>
        </p:grpSpPr>
        <p:sp>
          <p:nvSpPr>
            <p:cNvPr id="88143" name="Oval 90"/>
            <p:cNvSpPr>
              <a:spLocks noChangeArrowheads="1"/>
            </p:cNvSpPr>
            <p:nvPr/>
          </p:nvSpPr>
          <p:spPr bwMode="auto">
            <a:xfrm>
              <a:off x="3224" y="1426"/>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29</a:t>
              </a:r>
              <a:endParaRPr kumimoji="1" lang="en-US" altLang="zh-CN" sz="2000">
                <a:solidFill>
                  <a:schemeClr val="bg1"/>
                </a:solidFill>
                <a:latin typeface="Times New Roman" panose="02020503050405090304" pitchFamily="18" charset="0"/>
              </a:endParaRPr>
            </a:p>
          </p:txBody>
        </p:sp>
        <p:grpSp>
          <p:nvGrpSpPr>
            <p:cNvPr id="88144" name="Group 91"/>
            <p:cNvGrpSpPr/>
            <p:nvPr/>
          </p:nvGrpSpPr>
          <p:grpSpPr bwMode="auto">
            <a:xfrm>
              <a:off x="3440" y="1422"/>
              <a:ext cx="688" cy="741"/>
              <a:chOff x="3643" y="814"/>
              <a:chExt cx="688" cy="741"/>
            </a:xfrm>
          </p:grpSpPr>
          <p:sp>
            <p:nvSpPr>
              <p:cNvPr id="88161" name="Oval 92"/>
              <p:cNvSpPr>
                <a:spLocks noChangeArrowheads="1"/>
              </p:cNvSpPr>
              <p:nvPr/>
            </p:nvSpPr>
            <p:spPr bwMode="auto">
              <a:xfrm>
                <a:off x="3643" y="1074"/>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14</a:t>
                </a:r>
                <a:endParaRPr kumimoji="1" lang="en-US" altLang="zh-CN" sz="2000">
                  <a:solidFill>
                    <a:schemeClr val="bg1"/>
                  </a:solidFill>
                  <a:latin typeface="Times New Roman" panose="02020503050405090304" pitchFamily="18" charset="0"/>
                </a:endParaRPr>
              </a:p>
            </p:txBody>
          </p:sp>
          <p:grpSp>
            <p:nvGrpSpPr>
              <p:cNvPr id="88162" name="Group 93"/>
              <p:cNvGrpSpPr/>
              <p:nvPr/>
            </p:nvGrpSpPr>
            <p:grpSpPr bwMode="auto">
              <a:xfrm>
                <a:off x="3824" y="1096"/>
                <a:ext cx="507" cy="459"/>
                <a:chOff x="1596" y="1881"/>
                <a:chExt cx="507" cy="459"/>
              </a:xfrm>
            </p:grpSpPr>
            <p:sp>
              <p:nvSpPr>
                <p:cNvPr id="88166" name="Oval 94"/>
                <p:cNvSpPr>
                  <a:spLocks noChangeArrowheads="1"/>
                </p:cNvSpPr>
                <p:nvPr/>
              </p:nvSpPr>
              <p:spPr bwMode="auto">
                <a:xfrm>
                  <a:off x="1914" y="215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8</a:t>
                  </a:r>
                  <a:endParaRPr kumimoji="1" lang="en-US" altLang="zh-CN" sz="2000">
                    <a:solidFill>
                      <a:schemeClr val="bg1"/>
                    </a:solidFill>
                    <a:latin typeface="Times New Roman" panose="02020503050405090304" pitchFamily="18" charset="0"/>
                  </a:endParaRPr>
                </a:p>
              </p:txBody>
            </p:sp>
            <p:sp>
              <p:nvSpPr>
                <p:cNvPr id="88167" name="Oval 95"/>
                <p:cNvSpPr>
                  <a:spLocks noChangeArrowheads="1"/>
                </p:cNvSpPr>
                <p:nvPr/>
              </p:nvSpPr>
              <p:spPr bwMode="auto">
                <a:xfrm>
                  <a:off x="1596" y="215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7</a:t>
                  </a:r>
                  <a:endParaRPr kumimoji="1" lang="en-US" altLang="zh-CN" sz="2000">
                    <a:solidFill>
                      <a:schemeClr val="bg1"/>
                    </a:solidFill>
                    <a:latin typeface="Times New Roman" panose="02020503050405090304" pitchFamily="18" charset="0"/>
                  </a:endParaRPr>
                </a:p>
              </p:txBody>
            </p:sp>
            <p:sp>
              <p:nvSpPr>
                <p:cNvPr id="88168" name="Oval 96"/>
                <p:cNvSpPr>
                  <a:spLocks noChangeArrowheads="1"/>
                </p:cNvSpPr>
                <p:nvPr/>
              </p:nvSpPr>
              <p:spPr bwMode="auto">
                <a:xfrm>
                  <a:off x="1792" y="188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15</a:t>
                  </a:r>
                  <a:endParaRPr kumimoji="1" lang="en-US" altLang="zh-CN" sz="2000">
                    <a:solidFill>
                      <a:schemeClr val="bg1"/>
                    </a:solidFill>
                    <a:latin typeface="Times New Roman" panose="02020503050405090304" pitchFamily="18" charset="0"/>
                  </a:endParaRPr>
                </a:p>
              </p:txBody>
            </p:sp>
            <p:sp>
              <p:nvSpPr>
                <p:cNvPr id="88169" name="Line 97"/>
                <p:cNvSpPr>
                  <a:spLocks noChangeShapeType="1"/>
                </p:cNvSpPr>
                <p:nvPr/>
              </p:nvSpPr>
              <p:spPr bwMode="auto">
                <a:xfrm flipH="1">
                  <a:off x="1745" y="2033"/>
                  <a:ext cx="66" cy="145"/>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88170" name="Line 98"/>
                <p:cNvSpPr>
                  <a:spLocks noChangeShapeType="1"/>
                </p:cNvSpPr>
                <p:nvPr/>
              </p:nvSpPr>
              <p:spPr bwMode="auto">
                <a:xfrm>
                  <a:off x="1945" y="2033"/>
                  <a:ext cx="55" cy="122"/>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grpSp>
          <p:sp>
            <p:nvSpPr>
              <p:cNvPr id="88163" name="Oval 99"/>
              <p:cNvSpPr>
                <a:spLocks noChangeArrowheads="1"/>
              </p:cNvSpPr>
              <p:nvPr/>
            </p:nvSpPr>
            <p:spPr bwMode="auto">
              <a:xfrm>
                <a:off x="3861" y="814"/>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29</a:t>
                </a:r>
                <a:endParaRPr kumimoji="1" lang="en-US" altLang="zh-CN" sz="2000">
                  <a:solidFill>
                    <a:schemeClr val="bg1"/>
                  </a:solidFill>
                  <a:latin typeface="Times New Roman" panose="02020503050405090304" pitchFamily="18" charset="0"/>
                </a:endParaRPr>
              </a:p>
            </p:txBody>
          </p:sp>
          <p:sp>
            <p:nvSpPr>
              <p:cNvPr id="88164" name="Line 100"/>
              <p:cNvSpPr>
                <a:spLocks noChangeShapeType="1"/>
              </p:cNvSpPr>
              <p:nvPr/>
            </p:nvSpPr>
            <p:spPr bwMode="auto">
              <a:xfrm flipH="1">
                <a:off x="3800" y="967"/>
                <a:ext cx="78" cy="155"/>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88165" name="Line 101"/>
              <p:cNvSpPr>
                <a:spLocks noChangeShapeType="1"/>
              </p:cNvSpPr>
              <p:nvPr/>
            </p:nvSpPr>
            <p:spPr bwMode="auto">
              <a:xfrm>
                <a:off x="4001" y="978"/>
                <a:ext cx="66" cy="133"/>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grpSp>
        <p:grpSp>
          <p:nvGrpSpPr>
            <p:cNvPr id="88145" name="Group 102"/>
            <p:cNvGrpSpPr/>
            <p:nvPr/>
          </p:nvGrpSpPr>
          <p:grpSpPr bwMode="auto">
            <a:xfrm>
              <a:off x="4086" y="1434"/>
              <a:ext cx="901" cy="1082"/>
              <a:chOff x="3441" y="1789"/>
              <a:chExt cx="901" cy="1082"/>
            </a:xfrm>
          </p:grpSpPr>
          <p:grpSp>
            <p:nvGrpSpPr>
              <p:cNvPr id="88146" name="Group 103"/>
              <p:cNvGrpSpPr/>
              <p:nvPr/>
            </p:nvGrpSpPr>
            <p:grpSpPr bwMode="auto">
              <a:xfrm>
                <a:off x="3636" y="2095"/>
                <a:ext cx="706" cy="776"/>
                <a:chOff x="1633" y="2900"/>
                <a:chExt cx="706" cy="776"/>
              </a:xfrm>
            </p:grpSpPr>
            <p:sp>
              <p:nvSpPr>
                <p:cNvPr id="88151" name="Oval 104"/>
                <p:cNvSpPr>
                  <a:spLocks noChangeArrowheads="1"/>
                </p:cNvSpPr>
                <p:nvPr/>
              </p:nvSpPr>
              <p:spPr bwMode="auto">
                <a:xfrm>
                  <a:off x="1633" y="3192"/>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11</a:t>
                  </a:r>
                  <a:endParaRPr kumimoji="1" lang="en-US" altLang="zh-CN" sz="2000">
                    <a:solidFill>
                      <a:schemeClr val="bg1"/>
                    </a:solidFill>
                    <a:latin typeface="Times New Roman" panose="02020503050405090304" pitchFamily="18" charset="0"/>
                  </a:endParaRPr>
                </a:p>
              </p:txBody>
            </p:sp>
            <p:grpSp>
              <p:nvGrpSpPr>
                <p:cNvPr id="88152" name="Group 105"/>
                <p:cNvGrpSpPr/>
                <p:nvPr/>
              </p:nvGrpSpPr>
              <p:grpSpPr bwMode="auto">
                <a:xfrm>
                  <a:off x="1832" y="3217"/>
                  <a:ext cx="507" cy="459"/>
                  <a:chOff x="1596" y="1881"/>
                  <a:chExt cx="507" cy="459"/>
                </a:xfrm>
              </p:grpSpPr>
              <p:sp>
                <p:nvSpPr>
                  <p:cNvPr id="88156" name="Oval 106"/>
                  <p:cNvSpPr>
                    <a:spLocks noChangeArrowheads="1"/>
                  </p:cNvSpPr>
                  <p:nvPr/>
                </p:nvSpPr>
                <p:spPr bwMode="auto">
                  <a:xfrm>
                    <a:off x="1914" y="215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3</a:t>
                    </a:r>
                    <a:endParaRPr kumimoji="1" lang="en-US" altLang="zh-CN" sz="2000">
                      <a:solidFill>
                        <a:schemeClr val="bg1"/>
                      </a:solidFill>
                      <a:latin typeface="Times New Roman" panose="02020503050405090304" pitchFamily="18" charset="0"/>
                    </a:endParaRPr>
                  </a:p>
                </p:txBody>
              </p:sp>
              <p:sp>
                <p:nvSpPr>
                  <p:cNvPr id="88157" name="Oval 107"/>
                  <p:cNvSpPr>
                    <a:spLocks noChangeArrowheads="1"/>
                  </p:cNvSpPr>
                  <p:nvPr/>
                </p:nvSpPr>
                <p:spPr bwMode="auto">
                  <a:xfrm>
                    <a:off x="1596" y="215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5</a:t>
                    </a:r>
                    <a:endParaRPr kumimoji="1" lang="en-US" altLang="zh-CN" sz="2000">
                      <a:solidFill>
                        <a:schemeClr val="bg1"/>
                      </a:solidFill>
                      <a:latin typeface="Times New Roman" panose="02020503050405090304" pitchFamily="18" charset="0"/>
                    </a:endParaRPr>
                  </a:p>
                </p:txBody>
              </p:sp>
              <p:sp>
                <p:nvSpPr>
                  <p:cNvPr id="88158" name="Oval 108"/>
                  <p:cNvSpPr>
                    <a:spLocks noChangeArrowheads="1"/>
                  </p:cNvSpPr>
                  <p:nvPr/>
                </p:nvSpPr>
                <p:spPr bwMode="auto">
                  <a:xfrm>
                    <a:off x="1792" y="188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8</a:t>
                    </a:r>
                    <a:endParaRPr kumimoji="1" lang="en-US" altLang="zh-CN" sz="2000">
                      <a:solidFill>
                        <a:schemeClr val="bg1"/>
                      </a:solidFill>
                      <a:latin typeface="Times New Roman" panose="02020503050405090304" pitchFamily="18" charset="0"/>
                    </a:endParaRPr>
                  </a:p>
                </p:txBody>
              </p:sp>
              <p:sp>
                <p:nvSpPr>
                  <p:cNvPr id="88159" name="Line 109"/>
                  <p:cNvSpPr>
                    <a:spLocks noChangeShapeType="1"/>
                  </p:cNvSpPr>
                  <p:nvPr/>
                </p:nvSpPr>
                <p:spPr bwMode="auto">
                  <a:xfrm flipH="1">
                    <a:off x="1745" y="2033"/>
                    <a:ext cx="66" cy="145"/>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88160" name="Line 110"/>
                  <p:cNvSpPr>
                    <a:spLocks noChangeShapeType="1"/>
                  </p:cNvSpPr>
                  <p:nvPr/>
                </p:nvSpPr>
                <p:spPr bwMode="auto">
                  <a:xfrm>
                    <a:off x="1945" y="2033"/>
                    <a:ext cx="55" cy="122"/>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grpSp>
            <p:sp>
              <p:nvSpPr>
                <p:cNvPr id="88153" name="Oval 111"/>
                <p:cNvSpPr>
                  <a:spLocks noChangeArrowheads="1"/>
                </p:cNvSpPr>
                <p:nvPr/>
              </p:nvSpPr>
              <p:spPr bwMode="auto">
                <a:xfrm>
                  <a:off x="1851" y="2900"/>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19</a:t>
                  </a:r>
                  <a:endParaRPr kumimoji="1" lang="en-US" altLang="zh-CN" sz="2000">
                    <a:solidFill>
                      <a:schemeClr val="bg1"/>
                    </a:solidFill>
                    <a:latin typeface="Times New Roman" panose="02020503050405090304" pitchFamily="18" charset="0"/>
                  </a:endParaRPr>
                </a:p>
              </p:txBody>
            </p:sp>
            <p:sp>
              <p:nvSpPr>
                <p:cNvPr id="88154" name="Line 112"/>
                <p:cNvSpPr>
                  <a:spLocks noChangeShapeType="1"/>
                </p:cNvSpPr>
                <p:nvPr/>
              </p:nvSpPr>
              <p:spPr bwMode="auto">
                <a:xfrm flipH="1">
                  <a:off x="1800" y="3066"/>
                  <a:ext cx="89" cy="134"/>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88155" name="Line 113"/>
                <p:cNvSpPr>
                  <a:spLocks noChangeShapeType="1"/>
                </p:cNvSpPr>
                <p:nvPr/>
              </p:nvSpPr>
              <p:spPr bwMode="auto">
                <a:xfrm>
                  <a:off x="1978" y="3078"/>
                  <a:ext cx="100" cy="144"/>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grpSp>
          <p:sp>
            <p:nvSpPr>
              <p:cNvPr id="88147" name="Oval 114"/>
              <p:cNvSpPr>
                <a:spLocks noChangeArrowheads="1"/>
              </p:cNvSpPr>
              <p:nvPr/>
            </p:nvSpPr>
            <p:spPr bwMode="auto">
              <a:xfrm>
                <a:off x="3441" y="207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23</a:t>
                </a:r>
                <a:endParaRPr kumimoji="1" lang="en-US" altLang="zh-CN" sz="2000">
                  <a:solidFill>
                    <a:schemeClr val="bg1"/>
                  </a:solidFill>
                  <a:latin typeface="Times New Roman" panose="02020503050405090304" pitchFamily="18" charset="0"/>
                </a:endParaRPr>
              </a:p>
            </p:txBody>
          </p:sp>
          <p:sp>
            <p:nvSpPr>
              <p:cNvPr id="88148" name="Oval 115"/>
              <p:cNvSpPr>
                <a:spLocks noChangeArrowheads="1"/>
              </p:cNvSpPr>
              <p:nvPr/>
            </p:nvSpPr>
            <p:spPr bwMode="auto">
              <a:xfrm>
                <a:off x="3693" y="1789"/>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42</a:t>
                </a:r>
                <a:endParaRPr kumimoji="1" lang="en-US" altLang="zh-CN" sz="2000">
                  <a:solidFill>
                    <a:schemeClr val="bg1"/>
                  </a:solidFill>
                  <a:latin typeface="Times New Roman" panose="02020503050405090304" pitchFamily="18" charset="0"/>
                </a:endParaRPr>
              </a:p>
            </p:txBody>
          </p:sp>
          <p:sp>
            <p:nvSpPr>
              <p:cNvPr id="88149" name="Line 116"/>
              <p:cNvSpPr>
                <a:spLocks noChangeShapeType="1"/>
              </p:cNvSpPr>
              <p:nvPr/>
            </p:nvSpPr>
            <p:spPr bwMode="auto">
              <a:xfrm flipH="1">
                <a:off x="3612" y="1933"/>
                <a:ext cx="100" cy="167"/>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88150" name="Line 117"/>
              <p:cNvSpPr>
                <a:spLocks noChangeShapeType="1"/>
              </p:cNvSpPr>
              <p:nvPr/>
            </p:nvSpPr>
            <p:spPr bwMode="auto">
              <a:xfrm>
                <a:off x="3823" y="1955"/>
                <a:ext cx="78" cy="156"/>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grpSp>
      </p:grpSp>
      <p:grpSp>
        <p:nvGrpSpPr>
          <p:cNvPr id="23" name="Group 118"/>
          <p:cNvGrpSpPr/>
          <p:nvPr/>
        </p:nvGrpSpPr>
        <p:grpSpPr bwMode="auto">
          <a:xfrm>
            <a:off x="5430838" y="2305050"/>
            <a:ext cx="2763837" cy="1717675"/>
            <a:chOff x="3038" y="2475"/>
            <a:chExt cx="1741" cy="1082"/>
          </a:xfrm>
        </p:grpSpPr>
        <p:grpSp>
          <p:nvGrpSpPr>
            <p:cNvPr id="88111" name="Group 119"/>
            <p:cNvGrpSpPr/>
            <p:nvPr/>
          </p:nvGrpSpPr>
          <p:grpSpPr bwMode="auto">
            <a:xfrm>
              <a:off x="3038" y="2475"/>
              <a:ext cx="901" cy="1082"/>
              <a:chOff x="3441" y="1789"/>
              <a:chExt cx="901" cy="1082"/>
            </a:xfrm>
          </p:grpSpPr>
          <p:grpSp>
            <p:nvGrpSpPr>
              <p:cNvPr id="88128" name="Group 120"/>
              <p:cNvGrpSpPr/>
              <p:nvPr/>
            </p:nvGrpSpPr>
            <p:grpSpPr bwMode="auto">
              <a:xfrm>
                <a:off x="3636" y="2095"/>
                <a:ext cx="706" cy="776"/>
                <a:chOff x="1633" y="2900"/>
                <a:chExt cx="706" cy="776"/>
              </a:xfrm>
            </p:grpSpPr>
            <p:sp>
              <p:nvSpPr>
                <p:cNvPr id="88133" name="Oval 121"/>
                <p:cNvSpPr>
                  <a:spLocks noChangeArrowheads="1"/>
                </p:cNvSpPr>
                <p:nvPr/>
              </p:nvSpPr>
              <p:spPr bwMode="auto">
                <a:xfrm>
                  <a:off x="1633" y="3192"/>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11</a:t>
                  </a:r>
                  <a:endParaRPr kumimoji="1" lang="en-US" altLang="zh-CN" sz="2000">
                    <a:solidFill>
                      <a:schemeClr val="bg1"/>
                    </a:solidFill>
                    <a:latin typeface="Times New Roman" panose="02020503050405090304" pitchFamily="18" charset="0"/>
                  </a:endParaRPr>
                </a:p>
              </p:txBody>
            </p:sp>
            <p:grpSp>
              <p:nvGrpSpPr>
                <p:cNvPr id="88134" name="Group 122"/>
                <p:cNvGrpSpPr/>
                <p:nvPr/>
              </p:nvGrpSpPr>
              <p:grpSpPr bwMode="auto">
                <a:xfrm>
                  <a:off x="1832" y="3217"/>
                  <a:ext cx="507" cy="459"/>
                  <a:chOff x="1596" y="1881"/>
                  <a:chExt cx="507" cy="459"/>
                </a:xfrm>
              </p:grpSpPr>
              <p:sp>
                <p:nvSpPr>
                  <p:cNvPr id="88138" name="Oval 123"/>
                  <p:cNvSpPr>
                    <a:spLocks noChangeArrowheads="1"/>
                  </p:cNvSpPr>
                  <p:nvPr/>
                </p:nvSpPr>
                <p:spPr bwMode="auto">
                  <a:xfrm>
                    <a:off x="1914" y="215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3</a:t>
                    </a:r>
                    <a:endParaRPr kumimoji="1" lang="en-US" altLang="zh-CN" sz="2000">
                      <a:solidFill>
                        <a:schemeClr val="bg1"/>
                      </a:solidFill>
                      <a:latin typeface="Times New Roman" panose="02020503050405090304" pitchFamily="18" charset="0"/>
                    </a:endParaRPr>
                  </a:p>
                </p:txBody>
              </p:sp>
              <p:sp>
                <p:nvSpPr>
                  <p:cNvPr id="88139" name="Oval 124"/>
                  <p:cNvSpPr>
                    <a:spLocks noChangeArrowheads="1"/>
                  </p:cNvSpPr>
                  <p:nvPr/>
                </p:nvSpPr>
                <p:spPr bwMode="auto">
                  <a:xfrm>
                    <a:off x="1596" y="215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5</a:t>
                    </a:r>
                    <a:endParaRPr kumimoji="1" lang="en-US" altLang="zh-CN" sz="2000">
                      <a:solidFill>
                        <a:schemeClr val="bg1"/>
                      </a:solidFill>
                      <a:latin typeface="Times New Roman" panose="02020503050405090304" pitchFamily="18" charset="0"/>
                    </a:endParaRPr>
                  </a:p>
                </p:txBody>
              </p:sp>
              <p:sp>
                <p:nvSpPr>
                  <p:cNvPr id="88140" name="Oval 125"/>
                  <p:cNvSpPr>
                    <a:spLocks noChangeArrowheads="1"/>
                  </p:cNvSpPr>
                  <p:nvPr/>
                </p:nvSpPr>
                <p:spPr bwMode="auto">
                  <a:xfrm>
                    <a:off x="1792" y="188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8</a:t>
                    </a:r>
                    <a:endParaRPr kumimoji="1" lang="en-US" altLang="zh-CN" sz="2000">
                      <a:solidFill>
                        <a:schemeClr val="bg1"/>
                      </a:solidFill>
                      <a:latin typeface="Times New Roman" panose="02020503050405090304" pitchFamily="18" charset="0"/>
                    </a:endParaRPr>
                  </a:p>
                </p:txBody>
              </p:sp>
              <p:sp>
                <p:nvSpPr>
                  <p:cNvPr id="88141" name="Line 126"/>
                  <p:cNvSpPr>
                    <a:spLocks noChangeShapeType="1"/>
                  </p:cNvSpPr>
                  <p:nvPr/>
                </p:nvSpPr>
                <p:spPr bwMode="auto">
                  <a:xfrm flipH="1">
                    <a:off x="1745" y="2033"/>
                    <a:ext cx="66" cy="145"/>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88142" name="Line 127"/>
                  <p:cNvSpPr>
                    <a:spLocks noChangeShapeType="1"/>
                  </p:cNvSpPr>
                  <p:nvPr/>
                </p:nvSpPr>
                <p:spPr bwMode="auto">
                  <a:xfrm>
                    <a:off x="1945" y="2033"/>
                    <a:ext cx="55" cy="122"/>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grpSp>
            <p:sp>
              <p:nvSpPr>
                <p:cNvPr id="88135" name="Oval 128"/>
                <p:cNvSpPr>
                  <a:spLocks noChangeArrowheads="1"/>
                </p:cNvSpPr>
                <p:nvPr/>
              </p:nvSpPr>
              <p:spPr bwMode="auto">
                <a:xfrm>
                  <a:off x="1851" y="2900"/>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19</a:t>
                  </a:r>
                  <a:endParaRPr kumimoji="1" lang="en-US" altLang="zh-CN" sz="2000">
                    <a:solidFill>
                      <a:schemeClr val="bg1"/>
                    </a:solidFill>
                    <a:latin typeface="Times New Roman" panose="02020503050405090304" pitchFamily="18" charset="0"/>
                  </a:endParaRPr>
                </a:p>
              </p:txBody>
            </p:sp>
            <p:sp>
              <p:nvSpPr>
                <p:cNvPr id="88136" name="Line 129"/>
                <p:cNvSpPr>
                  <a:spLocks noChangeShapeType="1"/>
                </p:cNvSpPr>
                <p:nvPr/>
              </p:nvSpPr>
              <p:spPr bwMode="auto">
                <a:xfrm flipH="1">
                  <a:off x="1800" y="3066"/>
                  <a:ext cx="89" cy="134"/>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88137" name="Line 130"/>
                <p:cNvSpPr>
                  <a:spLocks noChangeShapeType="1"/>
                </p:cNvSpPr>
                <p:nvPr/>
              </p:nvSpPr>
              <p:spPr bwMode="auto">
                <a:xfrm>
                  <a:off x="1978" y="3078"/>
                  <a:ext cx="100" cy="144"/>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grpSp>
          <p:sp>
            <p:nvSpPr>
              <p:cNvPr id="88129" name="Oval 131"/>
              <p:cNvSpPr>
                <a:spLocks noChangeArrowheads="1"/>
              </p:cNvSpPr>
              <p:nvPr/>
            </p:nvSpPr>
            <p:spPr bwMode="auto">
              <a:xfrm>
                <a:off x="3441" y="207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23</a:t>
                </a:r>
                <a:endParaRPr kumimoji="1" lang="en-US" altLang="zh-CN" sz="2000">
                  <a:solidFill>
                    <a:schemeClr val="bg1"/>
                  </a:solidFill>
                  <a:latin typeface="Times New Roman" panose="02020503050405090304" pitchFamily="18" charset="0"/>
                </a:endParaRPr>
              </a:p>
            </p:txBody>
          </p:sp>
          <p:sp>
            <p:nvSpPr>
              <p:cNvPr id="88130" name="Oval 132"/>
              <p:cNvSpPr>
                <a:spLocks noChangeArrowheads="1"/>
              </p:cNvSpPr>
              <p:nvPr/>
            </p:nvSpPr>
            <p:spPr bwMode="auto">
              <a:xfrm>
                <a:off x="3693" y="1789"/>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42</a:t>
                </a:r>
                <a:endParaRPr kumimoji="1" lang="en-US" altLang="zh-CN" sz="2000">
                  <a:solidFill>
                    <a:schemeClr val="bg1"/>
                  </a:solidFill>
                  <a:latin typeface="Times New Roman" panose="02020503050405090304" pitchFamily="18" charset="0"/>
                </a:endParaRPr>
              </a:p>
            </p:txBody>
          </p:sp>
          <p:sp>
            <p:nvSpPr>
              <p:cNvPr id="88131" name="Line 133"/>
              <p:cNvSpPr>
                <a:spLocks noChangeShapeType="1"/>
              </p:cNvSpPr>
              <p:nvPr/>
            </p:nvSpPr>
            <p:spPr bwMode="auto">
              <a:xfrm flipH="1">
                <a:off x="3612" y="1933"/>
                <a:ext cx="100" cy="167"/>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88132" name="Line 134"/>
              <p:cNvSpPr>
                <a:spLocks noChangeShapeType="1"/>
              </p:cNvSpPr>
              <p:nvPr/>
            </p:nvSpPr>
            <p:spPr bwMode="auto">
              <a:xfrm>
                <a:off x="3823" y="1955"/>
                <a:ext cx="78" cy="156"/>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grpSp>
        <p:grpSp>
          <p:nvGrpSpPr>
            <p:cNvPr id="88112" name="Group 135"/>
            <p:cNvGrpSpPr/>
            <p:nvPr/>
          </p:nvGrpSpPr>
          <p:grpSpPr bwMode="auto">
            <a:xfrm>
              <a:off x="3875" y="2485"/>
              <a:ext cx="904" cy="1064"/>
              <a:chOff x="3309" y="2529"/>
              <a:chExt cx="904" cy="1064"/>
            </a:xfrm>
          </p:grpSpPr>
          <p:sp>
            <p:nvSpPr>
              <p:cNvPr id="88113" name="Oval 136"/>
              <p:cNvSpPr>
                <a:spLocks noChangeArrowheads="1"/>
              </p:cNvSpPr>
              <p:nvPr/>
            </p:nvSpPr>
            <p:spPr bwMode="auto">
              <a:xfrm>
                <a:off x="3309" y="2856"/>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29</a:t>
                </a:r>
                <a:endParaRPr kumimoji="1" lang="en-US" altLang="zh-CN" sz="2000">
                  <a:solidFill>
                    <a:schemeClr val="bg1"/>
                  </a:solidFill>
                  <a:latin typeface="Times New Roman" panose="02020503050405090304" pitchFamily="18" charset="0"/>
                </a:endParaRPr>
              </a:p>
            </p:txBody>
          </p:sp>
          <p:grpSp>
            <p:nvGrpSpPr>
              <p:cNvPr id="88114" name="Group 137"/>
              <p:cNvGrpSpPr/>
              <p:nvPr/>
            </p:nvGrpSpPr>
            <p:grpSpPr bwMode="auto">
              <a:xfrm>
                <a:off x="3525" y="2852"/>
                <a:ext cx="688" cy="741"/>
                <a:chOff x="3643" y="814"/>
                <a:chExt cx="688" cy="741"/>
              </a:xfrm>
            </p:grpSpPr>
            <p:sp>
              <p:nvSpPr>
                <p:cNvPr id="88118" name="Oval 138"/>
                <p:cNvSpPr>
                  <a:spLocks noChangeArrowheads="1"/>
                </p:cNvSpPr>
                <p:nvPr/>
              </p:nvSpPr>
              <p:spPr bwMode="auto">
                <a:xfrm>
                  <a:off x="3643" y="1074"/>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14</a:t>
                  </a:r>
                  <a:endParaRPr kumimoji="1" lang="en-US" altLang="zh-CN" sz="2000">
                    <a:solidFill>
                      <a:schemeClr val="bg1"/>
                    </a:solidFill>
                    <a:latin typeface="Times New Roman" panose="02020503050405090304" pitchFamily="18" charset="0"/>
                  </a:endParaRPr>
                </a:p>
              </p:txBody>
            </p:sp>
            <p:grpSp>
              <p:nvGrpSpPr>
                <p:cNvPr id="88119" name="Group 139"/>
                <p:cNvGrpSpPr/>
                <p:nvPr/>
              </p:nvGrpSpPr>
              <p:grpSpPr bwMode="auto">
                <a:xfrm>
                  <a:off x="3824" y="1096"/>
                  <a:ext cx="507" cy="459"/>
                  <a:chOff x="1596" y="1881"/>
                  <a:chExt cx="507" cy="459"/>
                </a:xfrm>
              </p:grpSpPr>
              <p:sp>
                <p:nvSpPr>
                  <p:cNvPr id="88123" name="Oval 140"/>
                  <p:cNvSpPr>
                    <a:spLocks noChangeArrowheads="1"/>
                  </p:cNvSpPr>
                  <p:nvPr/>
                </p:nvSpPr>
                <p:spPr bwMode="auto">
                  <a:xfrm>
                    <a:off x="1914" y="215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8</a:t>
                    </a:r>
                    <a:endParaRPr kumimoji="1" lang="en-US" altLang="zh-CN" sz="2000">
                      <a:solidFill>
                        <a:schemeClr val="bg1"/>
                      </a:solidFill>
                      <a:latin typeface="Times New Roman" panose="02020503050405090304" pitchFamily="18" charset="0"/>
                    </a:endParaRPr>
                  </a:p>
                </p:txBody>
              </p:sp>
              <p:sp>
                <p:nvSpPr>
                  <p:cNvPr id="88124" name="Oval 141"/>
                  <p:cNvSpPr>
                    <a:spLocks noChangeArrowheads="1"/>
                  </p:cNvSpPr>
                  <p:nvPr/>
                </p:nvSpPr>
                <p:spPr bwMode="auto">
                  <a:xfrm>
                    <a:off x="1596" y="215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7</a:t>
                    </a:r>
                    <a:endParaRPr kumimoji="1" lang="en-US" altLang="zh-CN" sz="2000">
                      <a:solidFill>
                        <a:schemeClr val="bg1"/>
                      </a:solidFill>
                      <a:latin typeface="Times New Roman" panose="02020503050405090304" pitchFamily="18" charset="0"/>
                    </a:endParaRPr>
                  </a:p>
                </p:txBody>
              </p:sp>
              <p:sp>
                <p:nvSpPr>
                  <p:cNvPr id="88125" name="Oval 142"/>
                  <p:cNvSpPr>
                    <a:spLocks noChangeArrowheads="1"/>
                  </p:cNvSpPr>
                  <p:nvPr/>
                </p:nvSpPr>
                <p:spPr bwMode="auto">
                  <a:xfrm>
                    <a:off x="1792" y="188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15</a:t>
                    </a:r>
                    <a:endParaRPr kumimoji="1" lang="en-US" altLang="zh-CN" sz="2000">
                      <a:solidFill>
                        <a:schemeClr val="bg1"/>
                      </a:solidFill>
                      <a:latin typeface="Times New Roman" panose="02020503050405090304" pitchFamily="18" charset="0"/>
                    </a:endParaRPr>
                  </a:p>
                </p:txBody>
              </p:sp>
              <p:sp>
                <p:nvSpPr>
                  <p:cNvPr id="88126" name="Line 143"/>
                  <p:cNvSpPr>
                    <a:spLocks noChangeShapeType="1"/>
                  </p:cNvSpPr>
                  <p:nvPr/>
                </p:nvSpPr>
                <p:spPr bwMode="auto">
                  <a:xfrm flipH="1">
                    <a:off x="1745" y="2033"/>
                    <a:ext cx="66" cy="145"/>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88127" name="Line 144"/>
                  <p:cNvSpPr>
                    <a:spLocks noChangeShapeType="1"/>
                  </p:cNvSpPr>
                  <p:nvPr/>
                </p:nvSpPr>
                <p:spPr bwMode="auto">
                  <a:xfrm>
                    <a:off x="1945" y="2033"/>
                    <a:ext cx="55" cy="122"/>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grpSp>
            <p:sp>
              <p:nvSpPr>
                <p:cNvPr id="88120" name="Oval 145"/>
                <p:cNvSpPr>
                  <a:spLocks noChangeArrowheads="1"/>
                </p:cNvSpPr>
                <p:nvPr/>
              </p:nvSpPr>
              <p:spPr bwMode="auto">
                <a:xfrm>
                  <a:off x="3861" y="814"/>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29</a:t>
                  </a:r>
                  <a:endParaRPr kumimoji="1" lang="en-US" altLang="zh-CN" sz="2000">
                    <a:solidFill>
                      <a:schemeClr val="bg1"/>
                    </a:solidFill>
                    <a:latin typeface="Times New Roman" panose="02020503050405090304" pitchFamily="18" charset="0"/>
                  </a:endParaRPr>
                </a:p>
              </p:txBody>
            </p:sp>
            <p:sp>
              <p:nvSpPr>
                <p:cNvPr id="88121" name="Line 146"/>
                <p:cNvSpPr>
                  <a:spLocks noChangeShapeType="1"/>
                </p:cNvSpPr>
                <p:nvPr/>
              </p:nvSpPr>
              <p:spPr bwMode="auto">
                <a:xfrm flipH="1">
                  <a:off x="3800" y="967"/>
                  <a:ext cx="78" cy="155"/>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88122" name="Line 147"/>
                <p:cNvSpPr>
                  <a:spLocks noChangeShapeType="1"/>
                </p:cNvSpPr>
                <p:nvPr/>
              </p:nvSpPr>
              <p:spPr bwMode="auto">
                <a:xfrm>
                  <a:off x="4001" y="978"/>
                  <a:ext cx="66" cy="133"/>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grpSp>
          <p:sp>
            <p:nvSpPr>
              <p:cNvPr id="88115" name="Oval 148"/>
              <p:cNvSpPr>
                <a:spLocks noChangeArrowheads="1"/>
              </p:cNvSpPr>
              <p:nvPr/>
            </p:nvSpPr>
            <p:spPr bwMode="auto">
              <a:xfrm>
                <a:off x="3539" y="2529"/>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58</a:t>
                </a:r>
                <a:endParaRPr kumimoji="1" lang="en-US" altLang="zh-CN" sz="2000">
                  <a:solidFill>
                    <a:schemeClr val="bg1"/>
                  </a:solidFill>
                  <a:latin typeface="Times New Roman" panose="02020503050405090304" pitchFamily="18" charset="0"/>
                </a:endParaRPr>
              </a:p>
            </p:txBody>
          </p:sp>
          <p:sp>
            <p:nvSpPr>
              <p:cNvPr id="88116" name="Line 149"/>
              <p:cNvSpPr>
                <a:spLocks noChangeShapeType="1"/>
              </p:cNvSpPr>
              <p:nvPr/>
            </p:nvSpPr>
            <p:spPr bwMode="auto">
              <a:xfrm flipH="1">
                <a:off x="3467" y="2711"/>
                <a:ext cx="111" cy="167"/>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88117" name="Line 150"/>
              <p:cNvSpPr>
                <a:spLocks noChangeShapeType="1"/>
              </p:cNvSpPr>
              <p:nvPr/>
            </p:nvSpPr>
            <p:spPr bwMode="auto">
              <a:xfrm>
                <a:off x="3678" y="2689"/>
                <a:ext cx="100" cy="166"/>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grpSp>
      </p:grpSp>
      <p:grpSp>
        <p:nvGrpSpPr>
          <p:cNvPr id="30" name="Group 151"/>
          <p:cNvGrpSpPr/>
          <p:nvPr/>
        </p:nvGrpSpPr>
        <p:grpSpPr bwMode="auto">
          <a:xfrm>
            <a:off x="5076825" y="4135438"/>
            <a:ext cx="2640013" cy="2314575"/>
            <a:chOff x="3190" y="2862"/>
            <a:chExt cx="1663" cy="1458"/>
          </a:xfrm>
        </p:grpSpPr>
        <p:grpSp>
          <p:nvGrpSpPr>
            <p:cNvPr id="88076" name="Group 152"/>
            <p:cNvGrpSpPr/>
            <p:nvPr/>
          </p:nvGrpSpPr>
          <p:grpSpPr bwMode="auto">
            <a:xfrm>
              <a:off x="3190" y="3238"/>
              <a:ext cx="901" cy="1082"/>
              <a:chOff x="3441" y="1789"/>
              <a:chExt cx="901" cy="1082"/>
            </a:xfrm>
          </p:grpSpPr>
          <p:grpSp>
            <p:nvGrpSpPr>
              <p:cNvPr id="88096" name="Group 153"/>
              <p:cNvGrpSpPr/>
              <p:nvPr/>
            </p:nvGrpSpPr>
            <p:grpSpPr bwMode="auto">
              <a:xfrm>
                <a:off x="3636" y="2095"/>
                <a:ext cx="706" cy="776"/>
                <a:chOff x="1633" y="2900"/>
                <a:chExt cx="706" cy="776"/>
              </a:xfrm>
            </p:grpSpPr>
            <p:sp>
              <p:nvSpPr>
                <p:cNvPr id="88101" name="Oval 154"/>
                <p:cNvSpPr>
                  <a:spLocks noChangeArrowheads="1"/>
                </p:cNvSpPr>
                <p:nvPr/>
              </p:nvSpPr>
              <p:spPr bwMode="auto">
                <a:xfrm>
                  <a:off x="1633" y="3192"/>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11</a:t>
                  </a:r>
                  <a:endParaRPr kumimoji="1" lang="en-US" altLang="zh-CN" sz="2000">
                    <a:solidFill>
                      <a:schemeClr val="bg1"/>
                    </a:solidFill>
                    <a:latin typeface="Times New Roman" panose="02020503050405090304" pitchFamily="18" charset="0"/>
                  </a:endParaRPr>
                </a:p>
              </p:txBody>
            </p:sp>
            <p:grpSp>
              <p:nvGrpSpPr>
                <p:cNvPr id="88102" name="Group 155"/>
                <p:cNvGrpSpPr/>
                <p:nvPr/>
              </p:nvGrpSpPr>
              <p:grpSpPr bwMode="auto">
                <a:xfrm>
                  <a:off x="1832" y="3217"/>
                  <a:ext cx="507" cy="459"/>
                  <a:chOff x="1596" y="1881"/>
                  <a:chExt cx="507" cy="459"/>
                </a:xfrm>
              </p:grpSpPr>
              <p:sp>
                <p:nvSpPr>
                  <p:cNvPr id="88106" name="Oval 156"/>
                  <p:cNvSpPr>
                    <a:spLocks noChangeArrowheads="1"/>
                  </p:cNvSpPr>
                  <p:nvPr/>
                </p:nvSpPr>
                <p:spPr bwMode="auto">
                  <a:xfrm>
                    <a:off x="1914" y="215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3</a:t>
                    </a:r>
                    <a:endParaRPr kumimoji="1" lang="en-US" altLang="zh-CN" sz="2000">
                      <a:solidFill>
                        <a:schemeClr val="bg1"/>
                      </a:solidFill>
                      <a:latin typeface="Times New Roman" panose="02020503050405090304" pitchFamily="18" charset="0"/>
                    </a:endParaRPr>
                  </a:p>
                </p:txBody>
              </p:sp>
              <p:sp>
                <p:nvSpPr>
                  <p:cNvPr id="88107" name="Oval 157"/>
                  <p:cNvSpPr>
                    <a:spLocks noChangeArrowheads="1"/>
                  </p:cNvSpPr>
                  <p:nvPr/>
                </p:nvSpPr>
                <p:spPr bwMode="auto">
                  <a:xfrm>
                    <a:off x="1596" y="215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5</a:t>
                    </a:r>
                    <a:endParaRPr kumimoji="1" lang="en-US" altLang="zh-CN" sz="2000">
                      <a:solidFill>
                        <a:schemeClr val="bg1"/>
                      </a:solidFill>
                      <a:latin typeface="Times New Roman" panose="02020503050405090304" pitchFamily="18" charset="0"/>
                    </a:endParaRPr>
                  </a:p>
                </p:txBody>
              </p:sp>
              <p:sp>
                <p:nvSpPr>
                  <p:cNvPr id="88108" name="Oval 158"/>
                  <p:cNvSpPr>
                    <a:spLocks noChangeArrowheads="1"/>
                  </p:cNvSpPr>
                  <p:nvPr/>
                </p:nvSpPr>
                <p:spPr bwMode="auto">
                  <a:xfrm>
                    <a:off x="1792" y="188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8</a:t>
                    </a:r>
                    <a:endParaRPr kumimoji="1" lang="en-US" altLang="zh-CN" sz="2000">
                      <a:solidFill>
                        <a:schemeClr val="bg1"/>
                      </a:solidFill>
                      <a:latin typeface="Times New Roman" panose="02020503050405090304" pitchFamily="18" charset="0"/>
                    </a:endParaRPr>
                  </a:p>
                </p:txBody>
              </p:sp>
              <p:sp>
                <p:nvSpPr>
                  <p:cNvPr id="88109" name="Line 159"/>
                  <p:cNvSpPr>
                    <a:spLocks noChangeShapeType="1"/>
                  </p:cNvSpPr>
                  <p:nvPr/>
                </p:nvSpPr>
                <p:spPr bwMode="auto">
                  <a:xfrm flipH="1">
                    <a:off x="1745" y="2033"/>
                    <a:ext cx="66" cy="145"/>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88110" name="Line 160"/>
                  <p:cNvSpPr>
                    <a:spLocks noChangeShapeType="1"/>
                  </p:cNvSpPr>
                  <p:nvPr/>
                </p:nvSpPr>
                <p:spPr bwMode="auto">
                  <a:xfrm>
                    <a:off x="1945" y="2033"/>
                    <a:ext cx="55" cy="122"/>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grpSp>
            <p:sp>
              <p:nvSpPr>
                <p:cNvPr id="88103" name="Oval 161"/>
                <p:cNvSpPr>
                  <a:spLocks noChangeArrowheads="1"/>
                </p:cNvSpPr>
                <p:nvPr/>
              </p:nvSpPr>
              <p:spPr bwMode="auto">
                <a:xfrm>
                  <a:off x="1851" y="2900"/>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19</a:t>
                  </a:r>
                  <a:endParaRPr kumimoji="1" lang="en-US" altLang="zh-CN" sz="2000">
                    <a:solidFill>
                      <a:schemeClr val="bg1"/>
                    </a:solidFill>
                    <a:latin typeface="Times New Roman" panose="02020503050405090304" pitchFamily="18" charset="0"/>
                  </a:endParaRPr>
                </a:p>
              </p:txBody>
            </p:sp>
            <p:sp>
              <p:nvSpPr>
                <p:cNvPr id="88104" name="Line 162"/>
                <p:cNvSpPr>
                  <a:spLocks noChangeShapeType="1"/>
                </p:cNvSpPr>
                <p:nvPr/>
              </p:nvSpPr>
              <p:spPr bwMode="auto">
                <a:xfrm flipH="1">
                  <a:off x="1800" y="3066"/>
                  <a:ext cx="89" cy="134"/>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88105" name="Line 163"/>
                <p:cNvSpPr>
                  <a:spLocks noChangeShapeType="1"/>
                </p:cNvSpPr>
                <p:nvPr/>
              </p:nvSpPr>
              <p:spPr bwMode="auto">
                <a:xfrm>
                  <a:off x="1978" y="3078"/>
                  <a:ext cx="100" cy="144"/>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grpSp>
          <p:sp>
            <p:nvSpPr>
              <p:cNvPr id="88097" name="Oval 164"/>
              <p:cNvSpPr>
                <a:spLocks noChangeArrowheads="1"/>
              </p:cNvSpPr>
              <p:nvPr/>
            </p:nvSpPr>
            <p:spPr bwMode="auto">
              <a:xfrm>
                <a:off x="3441" y="207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23</a:t>
                </a:r>
                <a:endParaRPr kumimoji="1" lang="en-US" altLang="zh-CN" sz="2000">
                  <a:solidFill>
                    <a:schemeClr val="bg1"/>
                  </a:solidFill>
                  <a:latin typeface="Times New Roman" panose="02020503050405090304" pitchFamily="18" charset="0"/>
                </a:endParaRPr>
              </a:p>
            </p:txBody>
          </p:sp>
          <p:sp>
            <p:nvSpPr>
              <p:cNvPr id="88098" name="Oval 165"/>
              <p:cNvSpPr>
                <a:spLocks noChangeArrowheads="1"/>
              </p:cNvSpPr>
              <p:nvPr/>
            </p:nvSpPr>
            <p:spPr bwMode="auto">
              <a:xfrm>
                <a:off x="3693" y="1789"/>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42</a:t>
                </a:r>
                <a:endParaRPr kumimoji="1" lang="en-US" altLang="zh-CN" sz="2000">
                  <a:solidFill>
                    <a:schemeClr val="bg1"/>
                  </a:solidFill>
                  <a:latin typeface="Times New Roman" panose="02020503050405090304" pitchFamily="18" charset="0"/>
                </a:endParaRPr>
              </a:p>
            </p:txBody>
          </p:sp>
          <p:sp>
            <p:nvSpPr>
              <p:cNvPr id="88099" name="Line 166"/>
              <p:cNvSpPr>
                <a:spLocks noChangeShapeType="1"/>
              </p:cNvSpPr>
              <p:nvPr/>
            </p:nvSpPr>
            <p:spPr bwMode="auto">
              <a:xfrm flipH="1">
                <a:off x="3612" y="1933"/>
                <a:ext cx="100" cy="167"/>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88100" name="Line 167"/>
              <p:cNvSpPr>
                <a:spLocks noChangeShapeType="1"/>
              </p:cNvSpPr>
              <p:nvPr/>
            </p:nvSpPr>
            <p:spPr bwMode="auto">
              <a:xfrm>
                <a:off x="3823" y="1955"/>
                <a:ext cx="78" cy="156"/>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grpSp>
        <p:grpSp>
          <p:nvGrpSpPr>
            <p:cNvPr id="88077" name="Group 168"/>
            <p:cNvGrpSpPr/>
            <p:nvPr/>
          </p:nvGrpSpPr>
          <p:grpSpPr bwMode="auto">
            <a:xfrm>
              <a:off x="3949" y="3256"/>
              <a:ext cx="904" cy="1064"/>
              <a:chOff x="3309" y="2529"/>
              <a:chExt cx="904" cy="1064"/>
            </a:xfrm>
          </p:grpSpPr>
          <p:sp>
            <p:nvSpPr>
              <p:cNvPr id="88081" name="Oval 169"/>
              <p:cNvSpPr>
                <a:spLocks noChangeArrowheads="1"/>
              </p:cNvSpPr>
              <p:nvPr/>
            </p:nvSpPr>
            <p:spPr bwMode="auto">
              <a:xfrm>
                <a:off x="3309" y="2856"/>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29</a:t>
                </a:r>
                <a:endParaRPr kumimoji="1" lang="en-US" altLang="zh-CN" sz="2000">
                  <a:solidFill>
                    <a:schemeClr val="bg1"/>
                  </a:solidFill>
                  <a:latin typeface="Times New Roman" panose="02020503050405090304" pitchFamily="18" charset="0"/>
                </a:endParaRPr>
              </a:p>
            </p:txBody>
          </p:sp>
          <p:grpSp>
            <p:nvGrpSpPr>
              <p:cNvPr id="88082" name="Group 170"/>
              <p:cNvGrpSpPr/>
              <p:nvPr/>
            </p:nvGrpSpPr>
            <p:grpSpPr bwMode="auto">
              <a:xfrm>
                <a:off x="3525" y="2852"/>
                <a:ext cx="688" cy="741"/>
                <a:chOff x="3643" y="814"/>
                <a:chExt cx="688" cy="741"/>
              </a:xfrm>
            </p:grpSpPr>
            <p:sp>
              <p:nvSpPr>
                <p:cNvPr id="88086" name="Oval 171"/>
                <p:cNvSpPr>
                  <a:spLocks noChangeArrowheads="1"/>
                </p:cNvSpPr>
                <p:nvPr/>
              </p:nvSpPr>
              <p:spPr bwMode="auto">
                <a:xfrm>
                  <a:off x="3643" y="1074"/>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14</a:t>
                  </a:r>
                  <a:endParaRPr kumimoji="1" lang="en-US" altLang="zh-CN" sz="2000">
                    <a:solidFill>
                      <a:schemeClr val="bg1"/>
                    </a:solidFill>
                    <a:latin typeface="Times New Roman" panose="02020503050405090304" pitchFamily="18" charset="0"/>
                  </a:endParaRPr>
                </a:p>
              </p:txBody>
            </p:sp>
            <p:grpSp>
              <p:nvGrpSpPr>
                <p:cNvPr id="88087" name="Group 172"/>
                <p:cNvGrpSpPr/>
                <p:nvPr/>
              </p:nvGrpSpPr>
              <p:grpSpPr bwMode="auto">
                <a:xfrm>
                  <a:off x="3824" y="1096"/>
                  <a:ext cx="507" cy="459"/>
                  <a:chOff x="1596" y="1881"/>
                  <a:chExt cx="507" cy="459"/>
                </a:xfrm>
              </p:grpSpPr>
              <p:sp>
                <p:nvSpPr>
                  <p:cNvPr id="88091" name="Oval 173"/>
                  <p:cNvSpPr>
                    <a:spLocks noChangeArrowheads="1"/>
                  </p:cNvSpPr>
                  <p:nvPr/>
                </p:nvSpPr>
                <p:spPr bwMode="auto">
                  <a:xfrm>
                    <a:off x="1914" y="215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8</a:t>
                    </a:r>
                    <a:endParaRPr kumimoji="1" lang="en-US" altLang="zh-CN" sz="2000">
                      <a:solidFill>
                        <a:schemeClr val="bg1"/>
                      </a:solidFill>
                      <a:latin typeface="Times New Roman" panose="02020503050405090304" pitchFamily="18" charset="0"/>
                    </a:endParaRPr>
                  </a:p>
                </p:txBody>
              </p:sp>
              <p:sp>
                <p:nvSpPr>
                  <p:cNvPr id="88092" name="Oval 174"/>
                  <p:cNvSpPr>
                    <a:spLocks noChangeArrowheads="1"/>
                  </p:cNvSpPr>
                  <p:nvPr/>
                </p:nvSpPr>
                <p:spPr bwMode="auto">
                  <a:xfrm>
                    <a:off x="1596" y="215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7</a:t>
                    </a:r>
                    <a:endParaRPr kumimoji="1" lang="en-US" altLang="zh-CN" sz="2000">
                      <a:solidFill>
                        <a:schemeClr val="bg1"/>
                      </a:solidFill>
                      <a:latin typeface="Times New Roman" panose="02020503050405090304" pitchFamily="18" charset="0"/>
                    </a:endParaRPr>
                  </a:p>
                </p:txBody>
              </p:sp>
              <p:sp>
                <p:nvSpPr>
                  <p:cNvPr id="88093" name="Oval 175"/>
                  <p:cNvSpPr>
                    <a:spLocks noChangeArrowheads="1"/>
                  </p:cNvSpPr>
                  <p:nvPr/>
                </p:nvSpPr>
                <p:spPr bwMode="auto">
                  <a:xfrm>
                    <a:off x="1792" y="1881"/>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15</a:t>
                    </a:r>
                    <a:endParaRPr kumimoji="1" lang="en-US" altLang="zh-CN" sz="2000">
                      <a:solidFill>
                        <a:schemeClr val="bg1"/>
                      </a:solidFill>
                      <a:latin typeface="Times New Roman" panose="02020503050405090304" pitchFamily="18" charset="0"/>
                    </a:endParaRPr>
                  </a:p>
                </p:txBody>
              </p:sp>
              <p:sp>
                <p:nvSpPr>
                  <p:cNvPr id="88094" name="Line 176"/>
                  <p:cNvSpPr>
                    <a:spLocks noChangeShapeType="1"/>
                  </p:cNvSpPr>
                  <p:nvPr/>
                </p:nvSpPr>
                <p:spPr bwMode="auto">
                  <a:xfrm flipH="1">
                    <a:off x="1745" y="2033"/>
                    <a:ext cx="66" cy="145"/>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88095" name="Line 177"/>
                  <p:cNvSpPr>
                    <a:spLocks noChangeShapeType="1"/>
                  </p:cNvSpPr>
                  <p:nvPr/>
                </p:nvSpPr>
                <p:spPr bwMode="auto">
                  <a:xfrm>
                    <a:off x="1945" y="2033"/>
                    <a:ext cx="55" cy="122"/>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grpSp>
            <p:sp>
              <p:nvSpPr>
                <p:cNvPr id="88088" name="Oval 178"/>
                <p:cNvSpPr>
                  <a:spLocks noChangeArrowheads="1"/>
                </p:cNvSpPr>
                <p:nvPr/>
              </p:nvSpPr>
              <p:spPr bwMode="auto">
                <a:xfrm>
                  <a:off x="3861" y="814"/>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29</a:t>
                  </a:r>
                  <a:endParaRPr kumimoji="1" lang="en-US" altLang="zh-CN" sz="2000">
                    <a:solidFill>
                      <a:schemeClr val="bg1"/>
                    </a:solidFill>
                    <a:latin typeface="Times New Roman" panose="02020503050405090304" pitchFamily="18" charset="0"/>
                  </a:endParaRPr>
                </a:p>
              </p:txBody>
            </p:sp>
            <p:sp>
              <p:nvSpPr>
                <p:cNvPr id="88089" name="Line 179"/>
                <p:cNvSpPr>
                  <a:spLocks noChangeShapeType="1"/>
                </p:cNvSpPr>
                <p:nvPr/>
              </p:nvSpPr>
              <p:spPr bwMode="auto">
                <a:xfrm flipH="1">
                  <a:off x="3800" y="967"/>
                  <a:ext cx="78" cy="155"/>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88090" name="Line 180"/>
                <p:cNvSpPr>
                  <a:spLocks noChangeShapeType="1"/>
                </p:cNvSpPr>
                <p:nvPr/>
              </p:nvSpPr>
              <p:spPr bwMode="auto">
                <a:xfrm>
                  <a:off x="4001" y="978"/>
                  <a:ext cx="66" cy="133"/>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grpSp>
          <p:sp>
            <p:nvSpPr>
              <p:cNvPr id="88083" name="Oval 181"/>
              <p:cNvSpPr>
                <a:spLocks noChangeArrowheads="1"/>
              </p:cNvSpPr>
              <p:nvPr/>
            </p:nvSpPr>
            <p:spPr bwMode="auto">
              <a:xfrm>
                <a:off x="3539" y="2529"/>
                <a:ext cx="189" cy="189"/>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58</a:t>
                </a:r>
                <a:endParaRPr kumimoji="1" lang="en-US" altLang="zh-CN" sz="2000">
                  <a:solidFill>
                    <a:schemeClr val="bg1"/>
                  </a:solidFill>
                  <a:latin typeface="Times New Roman" panose="02020503050405090304" pitchFamily="18" charset="0"/>
                </a:endParaRPr>
              </a:p>
            </p:txBody>
          </p:sp>
          <p:sp>
            <p:nvSpPr>
              <p:cNvPr id="88084" name="Line 182"/>
              <p:cNvSpPr>
                <a:spLocks noChangeShapeType="1"/>
              </p:cNvSpPr>
              <p:nvPr/>
            </p:nvSpPr>
            <p:spPr bwMode="auto">
              <a:xfrm flipH="1">
                <a:off x="3467" y="2711"/>
                <a:ext cx="111" cy="167"/>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sp>
            <p:nvSpPr>
              <p:cNvPr id="88085" name="Line 183"/>
              <p:cNvSpPr>
                <a:spLocks noChangeShapeType="1"/>
              </p:cNvSpPr>
              <p:nvPr/>
            </p:nvSpPr>
            <p:spPr bwMode="auto">
              <a:xfrm>
                <a:off x="3678" y="2689"/>
                <a:ext cx="100" cy="166"/>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spAutoFit/>
              </a:bodyPr>
              <a:lstStyle/>
              <a:p>
                <a:endParaRPr lang="zh-CN" altLang="en-US"/>
              </a:p>
            </p:txBody>
          </p:sp>
        </p:grpSp>
        <p:sp>
          <p:nvSpPr>
            <p:cNvPr id="88078" name="Oval 184"/>
            <p:cNvSpPr>
              <a:spLocks noChangeArrowheads="1"/>
            </p:cNvSpPr>
            <p:nvPr/>
          </p:nvSpPr>
          <p:spPr bwMode="auto">
            <a:xfrm>
              <a:off x="3805" y="2862"/>
              <a:ext cx="245" cy="256"/>
            </a:xfrm>
            <a:prstGeom prst="ellipse">
              <a:avLst/>
            </a:prstGeom>
            <a:solidFill>
              <a:srgbClr val="9900FF"/>
            </a:solidFill>
            <a:ln w="9525">
              <a:solidFill>
                <a:srgbClr val="FF0000"/>
              </a:solidFill>
              <a:round/>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kumimoji="1" lang="en-US" altLang="zh-CN" sz="2000">
                  <a:solidFill>
                    <a:schemeClr val="bg1"/>
                  </a:solidFill>
                  <a:latin typeface="Times New Roman" panose="02020503050405090304" pitchFamily="18" charset="0"/>
                </a:rPr>
                <a:t>100</a:t>
              </a:r>
              <a:endParaRPr kumimoji="1" lang="en-US" altLang="zh-CN" sz="2000">
                <a:solidFill>
                  <a:schemeClr val="bg1"/>
                </a:solidFill>
                <a:latin typeface="Times New Roman" panose="02020503050405090304" pitchFamily="18" charset="0"/>
              </a:endParaRPr>
            </a:p>
          </p:txBody>
        </p:sp>
        <p:sp>
          <p:nvSpPr>
            <p:cNvPr id="88079" name="Line 185"/>
            <p:cNvSpPr>
              <a:spLocks noChangeShapeType="1"/>
            </p:cNvSpPr>
            <p:nvPr/>
          </p:nvSpPr>
          <p:spPr bwMode="auto">
            <a:xfrm flipH="1">
              <a:off x="3634" y="3100"/>
              <a:ext cx="222" cy="166"/>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88080" name="Line 186"/>
            <p:cNvSpPr>
              <a:spLocks noChangeShapeType="1"/>
            </p:cNvSpPr>
            <p:nvPr/>
          </p:nvSpPr>
          <p:spPr bwMode="auto">
            <a:xfrm>
              <a:off x="3978" y="3100"/>
              <a:ext cx="245" cy="200"/>
            </a:xfrm>
            <a:prstGeom prst="line">
              <a:avLst/>
            </a:prstGeom>
            <a:noFill/>
            <a:ln w="9525">
              <a:solidFill>
                <a:srgbClr val="FF0000"/>
              </a:solidFill>
              <a:round/>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88074" name="Text Box 188"/>
          <p:cNvSpPr txBox="1">
            <a:spLocks noChangeArrowheads="1"/>
          </p:cNvSpPr>
          <p:nvPr/>
        </p:nvSpPr>
        <p:spPr bwMode="auto">
          <a:xfrm>
            <a:off x="611188" y="476250"/>
            <a:ext cx="429895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kumimoji="1" lang="zh-CN" altLang="en-US" sz="2800" b="1" dirty="0">
                <a:latin typeface="隶书" panose="02010509060101010101" pitchFamily="49" charset="-122"/>
                <a:ea typeface="隶书" panose="02010509060101010101" pitchFamily="49" charset="-122"/>
              </a:rPr>
              <a:t>例</a:t>
            </a:r>
            <a:r>
              <a:rPr kumimoji="1" lang="zh-CN" altLang="en-US" sz="2400" b="1" dirty="0">
                <a:latin typeface="Times New Roman" panose="02020503050405090304" pitchFamily="18" charset="0"/>
              </a:rPr>
              <a:t>   </a:t>
            </a:r>
            <a:r>
              <a:rPr kumimoji="1" lang="en-US" altLang="zh-CN" sz="2400" b="1" dirty="0">
                <a:latin typeface="Times New Roman" panose="02020503050405090304" pitchFamily="18" charset="0"/>
              </a:rPr>
              <a:t>w={5, 29, 7, 8, 14, 23, 3, 11}</a:t>
            </a:r>
            <a:endParaRPr kumimoji="1" lang="en-US" altLang="zh-CN" sz="2400" b="1" dirty="0">
              <a:latin typeface="Times New Roman" panose="02020503050405090304" pitchFamily="18" charset="0"/>
            </a:endParaRPr>
          </a:p>
        </p:txBody>
      </p:sp>
      <p:sp>
        <p:nvSpPr>
          <p:cNvPr id="88075" name="Text Box 189">
            <a:hlinkClick r:id="rId1" action="ppaction://hlinkfile"/>
          </p:cNvPr>
          <p:cNvSpPr txBox="1">
            <a:spLocks noChangeArrowheads="1"/>
          </p:cNvSpPr>
          <p:nvPr/>
        </p:nvSpPr>
        <p:spPr bwMode="auto">
          <a:xfrm>
            <a:off x="7956550" y="6165850"/>
            <a:ext cx="1008063"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spcBef>
                <a:spcPct val="50000"/>
              </a:spcBef>
            </a:pPr>
            <a:r>
              <a:rPr lang="zh-CN" altLang="en-US" b="1" u="sng">
                <a:solidFill>
                  <a:srgbClr val="FF3300"/>
                </a:solidFill>
                <a:hlinkClick r:id="rId1" action="ppaction://hlinkfile"/>
              </a:rPr>
              <a:t>演　示</a:t>
            </a:r>
            <a:endParaRPr lang="zh-CN" altLang="en-US" b="1" u="sng">
              <a:solidFill>
                <a:srgbClr val="FF33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499"/>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499"/>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499"/>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499"/>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499"/>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499"/>
                                          </p:stCondLst>
                                        </p:cTn>
                                        <p:tgtEl>
                                          <p:spTgt spid="2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499"/>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2"/>
          <p:cNvSpPr>
            <a:spLocks noGrp="1" noChangeArrowheads="1"/>
          </p:cNvSpPr>
          <p:nvPr>
            <p:ph type="body" idx="1"/>
          </p:nvPr>
        </p:nvSpPr>
        <p:spPr>
          <a:xfrm>
            <a:off x="899592" y="1238250"/>
            <a:ext cx="8134672" cy="2195512"/>
          </a:xfrm>
        </p:spPr>
        <p:txBody>
          <a:bodyPr/>
          <a:lstStyle/>
          <a:p>
            <a:pPr>
              <a:spcAft>
                <a:spcPts val="1200"/>
              </a:spcAft>
            </a:pPr>
            <a:r>
              <a:rPr lang="en-US" altLang="zh-CN" sz="2400" dirty="0" smtClean="0"/>
              <a:t>1.</a:t>
            </a:r>
            <a:r>
              <a:rPr lang="zh-CN" altLang="en-US" sz="2400" dirty="0" smtClean="0"/>
              <a:t>判定树</a:t>
            </a:r>
            <a:endParaRPr lang="zh-CN" altLang="en-US" sz="2400" dirty="0" smtClean="0"/>
          </a:p>
          <a:p>
            <a:pPr>
              <a:buFont typeface="Wingdings" panose="05000000000000000000" pitchFamily="2" charset="2"/>
              <a:buNone/>
            </a:pPr>
            <a:r>
              <a:rPr lang="zh-CN" altLang="en-US" sz="2400" dirty="0" smtClean="0"/>
              <a:t>	在很多问题的处理过程中，需要进行大量的条件判断，这些判断结构的设计直接影响着程序的执行效率。</a:t>
            </a:r>
            <a:endParaRPr lang="zh-CN" altLang="en-US" sz="2400" dirty="0" smtClean="0"/>
          </a:p>
          <a:p>
            <a:r>
              <a:rPr lang="zh-CN" altLang="en-US" sz="2400" dirty="0" smtClean="0"/>
              <a:t>例如，编制一个程序，将百分制转换成五个等级输出。一种形式如下：</a:t>
            </a:r>
            <a:endParaRPr lang="zh-CN" altLang="en-US" sz="2400" dirty="0" smtClean="0"/>
          </a:p>
          <a:p>
            <a:pPr>
              <a:buFont typeface="Wingdings" panose="05000000000000000000" pitchFamily="2" charset="2"/>
              <a:buNone/>
            </a:pPr>
            <a:r>
              <a:rPr lang="zh-CN" altLang="en-US" sz="2400" dirty="0" smtClean="0"/>
              <a:t>   </a:t>
            </a:r>
            <a:r>
              <a:rPr lang="en-US" altLang="zh-CN" sz="2400" dirty="0" smtClean="0"/>
              <a:t>if (</a:t>
            </a:r>
            <a:r>
              <a:rPr lang="en-US" altLang="zh-CN" sz="2400" dirty="0" err="1" smtClean="0"/>
              <a:t>socre</a:t>
            </a:r>
            <a:r>
              <a:rPr lang="en-US" altLang="zh-CN" sz="2400" dirty="0" smtClean="0"/>
              <a:t>&lt;60) </a:t>
            </a:r>
            <a:r>
              <a:rPr lang="en-US" altLang="zh-CN" sz="2400" dirty="0" err="1" smtClean="0"/>
              <a:t>printf</a:t>
            </a:r>
            <a:r>
              <a:rPr lang="en-US" altLang="zh-CN" sz="2400" dirty="0" smtClean="0"/>
              <a:t>(“bad”);                      </a:t>
            </a:r>
            <a:endParaRPr lang="en-US" altLang="zh-CN" sz="2400" dirty="0" smtClean="0"/>
          </a:p>
          <a:p>
            <a:pPr>
              <a:buFont typeface="Wingdings" panose="05000000000000000000" pitchFamily="2" charset="2"/>
              <a:buNone/>
            </a:pPr>
            <a:r>
              <a:rPr lang="en-US" altLang="zh-CN" sz="2400" dirty="0" smtClean="0"/>
              <a:t>   else if (</a:t>
            </a:r>
            <a:r>
              <a:rPr lang="en-US" altLang="zh-CN" sz="2400" dirty="0" err="1" smtClean="0"/>
              <a:t>socre</a:t>
            </a:r>
            <a:r>
              <a:rPr lang="en-US" altLang="zh-CN" sz="2400" dirty="0" smtClean="0"/>
              <a:t>&lt;70) </a:t>
            </a:r>
            <a:r>
              <a:rPr lang="en-US" altLang="zh-CN" sz="2400" dirty="0" err="1" smtClean="0"/>
              <a:t>printf</a:t>
            </a:r>
            <a:r>
              <a:rPr lang="en-US" altLang="zh-CN" sz="2400" dirty="0" smtClean="0"/>
              <a:t>(“pass”)                         </a:t>
            </a:r>
            <a:endParaRPr lang="en-US" altLang="zh-CN" sz="2400" dirty="0" smtClean="0"/>
          </a:p>
          <a:p>
            <a:pPr>
              <a:buFont typeface="Wingdings" panose="05000000000000000000" pitchFamily="2" charset="2"/>
              <a:buNone/>
            </a:pPr>
            <a:r>
              <a:rPr lang="en-US" altLang="zh-CN" sz="2400" dirty="0" smtClean="0"/>
              <a:t>   else if (score&lt;80) </a:t>
            </a:r>
            <a:r>
              <a:rPr lang="en-US" altLang="zh-CN" sz="2400" dirty="0" err="1" smtClean="0"/>
              <a:t>printf</a:t>
            </a:r>
            <a:r>
              <a:rPr lang="en-US" altLang="zh-CN" sz="2400" dirty="0" smtClean="0"/>
              <a:t>(“general”);</a:t>
            </a:r>
            <a:endParaRPr lang="en-US" altLang="zh-CN" sz="2400" dirty="0" smtClean="0"/>
          </a:p>
          <a:p>
            <a:pPr>
              <a:buFont typeface="Wingdings" panose="05000000000000000000" pitchFamily="2" charset="2"/>
              <a:buNone/>
            </a:pPr>
            <a:r>
              <a:rPr lang="en-US" altLang="zh-CN" sz="2400" dirty="0" smtClean="0"/>
              <a:t>   else if (score&lt;90) </a:t>
            </a:r>
            <a:r>
              <a:rPr lang="en-US" altLang="zh-CN" sz="2400" dirty="0" err="1" smtClean="0"/>
              <a:t>printf</a:t>
            </a:r>
            <a:r>
              <a:rPr lang="en-US" altLang="zh-CN" sz="2400" dirty="0" smtClean="0"/>
              <a:t>(“good”); </a:t>
            </a:r>
            <a:endParaRPr lang="en-US" altLang="zh-CN" sz="2400" dirty="0" smtClean="0"/>
          </a:p>
          <a:p>
            <a:pPr>
              <a:buFont typeface="Wingdings" panose="05000000000000000000" pitchFamily="2" charset="2"/>
              <a:buNone/>
            </a:pPr>
            <a:r>
              <a:rPr lang="en-US" altLang="zh-CN" sz="2400" dirty="0"/>
              <a:t> </a:t>
            </a:r>
            <a:r>
              <a:rPr lang="en-US" altLang="zh-CN" sz="2400" dirty="0" smtClean="0"/>
              <a:t>  else </a:t>
            </a:r>
            <a:r>
              <a:rPr lang="en-US" altLang="zh-CN" sz="2400" dirty="0" err="1" smtClean="0"/>
              <a:t>printf</a:t>
            </a:r>
            <a:r>
              <a:rPr lang="en-US" altLang="zh-CN" sz="2400" dirty="0" smtClean="0"/>
              <a:t>(“very good”);</a:t>
            </a:r>
            <a:endParaRPr lang="en-US" altLang="zh-CN" sz="2400" dirty="0" smtClean="0"/>
          </a:p>
        </p:txBody>
      </p:sp>
      <p:sp>
        <p:nvSpPr>
          <p:cNvPr id="89091" name="Rectangle 5"/>
          <p:cNvSpPr>
            <a:spLocks noGrp="1" noChangeArrowheads="1"/>
          </p:cNvSpPr>
          <p:nvPr>
            <p:ph type="title"/>
          </p:nvPr>
        </p:nvSpPr>
        <p:spPr>
          <a:xfrm>
            <a:off x="1000125" y="457200"/>
            <a:ext cx="7686675" cy="762000"/>
          </a:xfrm>
        </p:spPr>
        <p:txBody>
          <a:bodyPr/>
          <a:lstStyle/>
          <a:p>
            <a:r>
              <a:rPr lang="en-US" altLang="zh-CN" sz="3600" dirty="0">
                <a:solidFill>
                  <a:srgbClr val="333399"/>
                </a:solidFill>
              </a:rPr>
              <a:t>1.4.</a:t>
            </a:r>
            <a:r>
              <a:rPr lang="en-US" altLang="zh-CN" sz="3600" dirty="0" smtClean="0"/>
              <a:t>7 </a:t>
            </a:r>
            <a:r>
              <a:rPr lang="zh-CN" altLang="en-US" sz="3600" dirty="0" smtClean="0"/>
              <a:t>赫夫曼树及其应用</a:t>
            </a:r>
            <a:endParaRPr lang="zh-CN" altLang="en-US" sz="3600" dirty="0" smtClean="0"/>
          </a:p>
        </p:txBody>
      </p:sp>
      <p:sp>
        <p:nvSpPr>
          <p:cNvPr id="89092"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Tree>
  </p:cSld>
  <p:clrMapOvr>
    <a:masterClrMapping/>
  </p:clrMapOvr>
  <p:transition/>
  <p:timing>
    <p:tnLst>
      <p:par>
        <p:cTn id="1" dur="indefinite" restart="never" nodeType="tmRoot"/>
      </p:par>
    </p:tnLst>
  </p:timing>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1" name="页脚占位符 4"/>
          <p:cNvSpPr>
            <a:spLocks noGrp="1"/>
          </p:cNvSpPr>
          <p:nvPr>
            <p:ph type="ftr" sz="quarter" idx="10"/>
          </p:nvPr>
        </p:nvSpPr>
        <p:spPr>
          <a:xfrm>
            <a:off x="3352800" y="5664200"/>
            <a:ext cx="2895600" cy="4572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zh-CN" altLang="en-US" smtClean="0"/>
              <a:t>-</a:t>
            </a:r>
            <a:fld id="{ADFD60FF-AFDB-40E1-A647-86AC0AA95A8D}" type="slidenum">
              <a:rPr lang="zh-CN" altLang="en-US" smtClean="0"/>
            </a:fld>
            <a:r>
              <a:rPr lang="en-US" altLang="zh-CN" smtClean="0"/>
              <a:t>-</a:t>
            </a:r>
            <a:endParaRPr lang="en-US" altLang="zh-CN" smtClean="0"/>
          </a:p>
        </p:txBody>
      </p:sp>
      <p:sp>
        <p:nvSpPr>
          <p:cNvPr id="27652" name="Rectangle 2"/>
          <p:cNvSpPr>
            <a:spLocks noGrp="1" noChangeArrowheads="1"/>
          </p:cNvSpPr>
          <p:nvPr>
            <p:ph type="title"/>
          </p:nvPr>
        </p:nvSpPr>
        <p:spPr/>
        <p:txBody>
          <a:bodyPr/>
          <a:lstStyle/>
          <a:p>
            <a:r>
              <a:rPr lang="en-US" altLang="zh-CN" sz="3600" dirty="0">
                <a:solidFill>
                  <a:srgbClr val="333399"/>
                </a:solidFill>
              </a:rPr>
              <a:t>1.4.</a:t>
            </a:r>
            <a:r>
              <a:rPr lang="en-US" altLang="zh-CN" sz="3600" dirty="0" smtClean="0"/>
              <a:t>7 </a:t>
            </a:r>
            <a:r>
              <a:rPr lang="zh-CN" altLang="en-US" sz="3600" dirty="0" smtClean="0"/>
              <a:t>赫夫曼树及其应用</a:t>
            </a:r>
            <a:endParaRPr lang="en-US" altLang="zh-CN" sz="2000" dirty="0" smtClean="0"/>
          </a:p>
        </p:txBody>
      </p:sp>
      <p:sp>
        <p:nvSpPr>
          <p:cNvPr id="27653" name="Rectangle 3"/>
          <p:cNvSpPr>
            <a:spLocks noGrp="1" noChangeArrowheads="1"/>
          </p:cNvSpPr>
          <p:nvPr>
            <p:ph type="body" idx="1"/>
          </p:nvPr>
        </p:nvSpPr>
        <p:spPr>
          <a:xfrm>
            <a:off x="1066800" y="1357313"/>
            <a:ext cx="7924800" cy="496887"/>
          </a:xfrm>
        </p:spPr>
        <p:txBody>
          <a:bodyPr/>
          <a:lstStyle/>
          <a:p>
            <a:pPr>
              <a:lnSpc>
                <a:spcPct val="90000"/>
              </a:lnSpc>
            </a:pPr>
            <a:r>
              <a:rPr lang="zh-CN" altLang="en-US" sz="2800" smtClean="0"/>
              <a:t>赫夫曼树的应用——最佳判定算法</a:t>
            </a:r>
            <a:endParaRPr lang="zh-CN" altLang="en-US" sz="2800" smtClean="0"/>
          </a:p>
        </p:txBody>
      </p:sp>
      <p:graphicFrame>
        <p:nvGraphicFramePr>
          <p:cNvPr id="27650" name="Object 2"/>
          <p:cNvGraphicFramePr>
            <a:graphicFrameLocks noChangeAspect="1"/>
          </p:cNvGraphicFramePr>
          <p:nvPr/>
        </p:nvGraphicFramePr>
        <p:xfrm>
          <a:off x="4514850" y="2660650"/>
          <a:ext cx="114300" cy="215900"/>
        </p:xfrm>
        <a:graphic>
          <a:graphicData uri="http://schemas.openxmlformats.org/presentationml/2006/ole">
            <mc:AlternateContent xmlns:mc="http://schemas.openxmlformats.org/markup-compatibility/2006">
              <mc:Choice xmlns:v="urn:schemas-microsoft-com:vml" Requires="v">
                <p:oleObj spid="_x0000_s49162" name="Equation" r:id="rId1" imgW="114300" imgH="215900" progId="Equation.3">
                  <p:embed/>
                </p:oleObj>
              </mc:Choice>
              <mc:Fallback>
                <p:oleObj name="Equation" r:id="rId1" imgW="114300" imgH="215900" progId="Equation.3">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14850" y="2660650"/>
                        <a:ext cx="114300" cy="215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12326" name="Group 6"/>
          <p:cNvGraphicFramePr>
            <a:graphicFrameLocks noGrp="1"/>
          </p:cNvGraphicFramePr>
          <p:nvPr/>
        </p:nvGraphicFramePr>
        <p:xfrm>
          <a:off x="1371600" y="1854200"/>
          <a:ext cx="6477000" cy="1235075"/>
        </p:xfrm>
        <a:graphic>
          <a:graphicData uri="http://schemas.openxmlformats.org/drawingml/2006/table">
            <a:tbl>
              <a:tblPr/>
              <a:tblGrid>
                <a:gridCol w="1054100"/>
                <a:gridCol w="1054100"/>
                <a:gridCol w="1054100"/>
                <a:gridCol w="1054100"/>
                <a:gridCol w="1054100"/>
                <a:gridCol w="1206500"/>
              </a:tblGrid>
              <a:tr h="432022">
                <a:tc>
                  <a:txBody>
                    <a:body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pPr>
                      <a:r>
                        <a:rPr kumimoji="1" lang="zh-CN" altLang="en-US" sz="2000" b="1" i="0" u="none" strike="noStrike" cap="none" normalizeH="0" baseline="0" dirty="0" smtClean="0">
                          <a:ln>
                            <a:noFill/>
                          </a:ln>
                          <a:solidFill>
                            <a:schemeClr val="tx1"/>
                          </a:solidFill>
                          <a:effectLst/>
                          <a:latin typeface="Tahoma" panose="020B0604030504040204" pitchFamily="34" charset="0"/>
                          <a:ea typeface="宋体" pitchFamily="2" charset="-122"/>
                        </a:rPr>
                        <a:t>分数</a:t>
                      </a:r>
                      <a:endParaRPr kumimoji="1" lang="zh-CN" altLang="en-US" sz="2000" b="1" i="0" u="none" strike="noStrike" cap="none" normalizeH="0" baseline="0" dirty="0" smtClean="0">
                        <a:ln>
                          <a:noFill/>
                        </a:ln>
                        <a:solidFill>
                          <a:schemeClr val="tx1"/>
                        </a:solidFill>
                        <a:effectLst/>
                        <a:latin typeface="Tahoma" panose="020B0604030504040204" pitchFamily="34" charset="0"/>
                        <a:ea typeface="宋体" pitchFamily="2" charset="-122"/>
                      </a:endParaRPr>
                    </a:p>
                  </a:txBody>
                  <a:tcPr marT="45744" marB="4574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solidFill>
                  </a:tcPr>
                </a:tc>
                <a:tc>
                  <a:txBody>
                    <a:body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pPr>
                      <a:r>
                        <a:rPr kumimoji="1" lang="zh-CN" altLang="en-US" sz="2000" b="1" i="0" u="none" strike="noStrike" cap="none" normalizeH="0" baseline="0" smtClean="0">
                          <a:ln>
                            <a:noFill/>
                          </a:ln>
                          <a:solidFill>
                            <a:schemeClr val="tx1"/>
                          </a:solidFill>
                          <a:effectLst/>
                          <a:latin typeface="Tahoma" panose="020B0604030504040204" pitchFamily="34" charset="0"/>
                          <a:ea typeface="宋体" pitchFamily="2" charset="-122"/>
                        </a:rPr>
                        <a:t>0~59</a:t>
                      </a:r>
                      <a:endParaRPr kumimoji="1" lang="zh-CN" altLang="en-US" sz="2000" b="1" i="0" u="none" strike="noStrike" cap="none" normalizeH="0" baseline="0" smtClean="0">
                        <a:ln>
                          <a:noFill/>
                        </a:ln>
                        <a:solidFill>
                          <a:schemeClr val="tx1"/>
                        </a:solidFill>
                        <a:effectLst/>
                        <a:latin typeface="Tahoma" panose="020B0604030504040204" pitchFamily="34" charset="0"/>
                        <a:ea typeface="宋体" pitchFamily="2" charset="-122"/>
                      </a:endParaRPr>
                    </a:p>
                  </a:txBody>
                  <a:tcPr marT="45744" marB="4574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solidFill>
                  </a:tcPr>
                </a:tc>
                <a:tc>
                  <a:txBody>
                    <a:body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pPr>
                      <a:r>
                        <a:rPr kumimoji="1" lang="zh-CN" altLang="en-US" sz="2000" b="1" i="0" u="none" strike="noStrike" cap="none" normalizeH="0" baseline="0" smtClean="0">
                          <a:ln>
                            <a:noFill/>
                          </a:ln>
                          <a:solidFill>
                            <a:schemeClr val="tx1"/>
                          </a:solidFill>
                          <a:effectLst/>
                          <a:latin typeface="Tahoma" panose="020B0604030504040204" pitchFamily="34" charset="0"/>
                          <a:ea typeface="宋体" pitchFamily="2" charset="-122"/>
                        </a:rPr>
                        <a:t>60~69</a:t>
                      </a:r>
                      <a:endParaRPr kumimoji="1" lang="zh-CN" altLang="en-US" sz="2000" b="1" i="0" u="none" strike="noStrike" cap="none" normalizeH="0" baseline="0" smtClean="0">
                        <a:ln>
                          <a:noFill/>
                        </a:ln>
                        <a:solidFill>
                          <a:schemeClr val="tx1"/>
                        </a:solidFill>
                        <a:effectLst/>
                        <a:latin typeface="Tahoma" panose="020B0604030504040204" pitchFamily="34" charset="0"/>
                        <a:ea typeface="宋体" pitchFamily="2" charset="-122"/>
                      </a:endParaRPr>
                    </a:p>
                  </a:txBody>
                  <a:tcPr marT="45744" marB="4574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solidFill>
                  </a:tcPr>
                </a:tc>
                <a:tc>
                  <a:txBody>
                    <a:body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pPr>
                      <a:r>
                        <a:rPr kumimoji="1" lang="zh-CN" altLang="en-US" sz="2000" b="1" i="0" u="none" strike="noStrike" cap="none" normalizeH="0" baseline="0" smtClean="0">
                          <a:ln>
                            <a:noFill/>
                          </a:ln>
                          <a:solidFill>
                            <a:schemeClr val="tx1"/>
                          </a:solidFill>
                          <a:effectLst/>
                          <a:latin typeface="Tahoma" panose="020B0604030504040204" pitchFamily="34" charset="0"/>
                          <a:ea typeface="宋体" pitchFamily="2" charset="-122"/>
                        </a:rPr>
                        <a:t>70~79</a:t>
                      </a:r>
                      <a:endParaRPr kumimoji="1" lang="zh-CN" altLang="en-US" sz="2000" b="1" i="0" u="none" strike="noStrike" cap="none" normalizeH="0" baseline="0" smtClean="0">
                        <a:ln>
                          <a:noFill/>
                        </a:ln>
                        <a:solidFill>
                          <a:schemeClr val="tx1"/>
                        </a:solidFill>
                        <a:effectLst/>
                        <a:latin typeface="Tahoma" panose="020B0604030504040204" pitchFamily="34" charset="0"/>
                        <a:ea typeface="宋体" pitchFamily="2" charset="-122"/>
                      </a:endParaRPr>
                    </a:p>
                  </a:txBody>
                  <a:tcPr marT="45744" marB="4574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solidFill>
                  </a:tcPr>
                </a:tc>
                <a:tc>
                  <a:txBody>
                    <a:body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pPr>
                      <a:r>
                        <a:rPr kumimoji="1" lang="zh-CN" altLang="en-US" sz="2000" b="1" i="0" u="none" strike="noStrike" cap="none" normalizeH="0" baseline="0" smtClean="0">
                          <a:ln>
                            <a:noFill/>
                          </a:ln>
                          <a:solidFill>
                            <a:schemeClr val="tx1"/>
                          </a:solidFill>
                          <a:effectLst/>
                          <a:latin typeface="Tahoma" panose="020B0604030504040204" pitchFamily="34" charset="0"/>
                          <a:ea typeface="宋体" pitchFamily="2" charset="-122"/>
                        </a:rPr>
                        <a:t>80~89</a:t>
                      </a:r>
                      <a:endParaRPr kumimoji="1" lang="zh-CN" altLang="en-US" sz="2000" b="1" i="0" u="none" strike="noStrike" cap="none" normalizeH="0" baseline="0" smtClean="0">
                        <a:ln>
                          <a:noFill/>
                        </a:ln>
                        <a:solidFill>
                          <a:schemeClr val="tx1"/>
                        </a:solidFill>
                        <a:effectLst/>
                        <a:latin typeface="Tahoma" panose="020B0604030504040204" pitchFamily="34" charset="0"/>
                        <a:ea typeface="宋体" pitchFamily="2" charset="-122"/>
                      </a:endParaRPr>
                    </a:p>
                  </a:txBody>
                  <a:tcPr marT="45744" marB="4574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solidFill>
                  </a:tcPr>
                </a:tc>
                <a:tc>
                  <a:txBody>
                    <a:body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pPr>
                      <a:r>
                        <a:rPr kumimoji="1" lang="zh-CN" altLang="en-US" sz="2000" b="1" i="0" u="none" strike="noStrike" cap="none" normalizeH="0" baseline="0" smtClean="0">
                          <a:ln>
                            <a:noFill/>
                          </a:ln>
                          <a:solidFill>
                            <a:schemeClr val="tx1"/>
                          </a:solidFill>
                          <a:effectLst/>
                          <a:latin typeface="Tahoma" panose="020B0604030504040204" pitchFamily="34" charset="0"/>
                          <a:ea typeface="宋体" pitchFamily="2" charset="-122"/>
                        </a:rPr>
                        <a:t>90~100</a:t>
                      </a:r>
                      <a:endParaRPr kumimoji="1" lang="zh-CN" altLang="en-US" sz="2000" b="1" i="0" u="none" strike="noStrike" cap="none" normalizeH="0" baseline="0" smtClean="0">
                        <a:ln>
                          <a:noFill/>
                        </a:ln>
                        <a:solidFill>
                          <a:schemeClr val="tx1"/>
                        </a:solidFill>
                        <a:effectLst/>
                        <a:latin typeface="Tahoma" panose="020B0604030504040204" pitchFamily="34" charset="0"/>
                        <a:ea typeface="宋体" pitchFamily="2" charset="-122"/>
                      </a:endParaRPr>
                    </a:p>
                  </a:txBody>
                  <a:tcPr marT="45744" marB="4574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solidFill>
                  </a:tcPr>
                </a:tc>
              </a:tr>
              <a:tr h="406609">
                <a:tc>
                  <a:txBody>
                    <a:body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pPr>
                      <a:r>
                        <a:rPr kumimoji="1" lang="zh-CN" altLang="en-US" sz="2000" b="1" i="0" u="none" strike="noStrike" cap="none" normalizeH="0" baseline="0" smtClean="0">
                          <a:ln>
                            <a:noFill/>
                          </a:ln>
                          <a:solidFill>
                            <a:schemeClr val="tx1"/>
                          </a:solidFill>
                          <a:effectLst/>
                          <a:latin typeface="Tahoma" panose="020B0604030504040204" pitchFamily="34" charset="0"/>
                          <a:ea typeface="宋体" pitchFamily="2" charset="-122"/>
                        </a:rPr>
                        <a:t>比例</a:t>
                      </a:r>
                      <a:endParaRPr kumimoji="1" lang="zh-CN" altLang="en-US" sz="2000" b="1" i="0" u="none" strike="noStrike" cap="none" normalizeH="0" baseline="0" smtClean="0">
                        <a:ln>
                          <a:noFill/>
                        </a:ln>
                        <a:solidFill>
                          <a:schemeClr val="tx1"/>
                        </a:solidFill>
                        <a:effectLst/>
                        <a:latin typeface="Tahoma" panose="020B0604030504040204" pitchFamily="34" charset="0"/>
                        <a:ea typeface="宋体" pitchFamily="2" charset="-122"/>
                      </a:endParaRPr>
                    </a:p>
                  </a:txBody>
                  <a:tcPr marT="45744" marB="4574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solidFill>
                  </a:tcPr>
                </a:tc>
                <a:tc>
                  <a:txBody>
                    <a:body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pPr>
                      <a:r>
                        <a:rPr kumimoji="1" lang="zh-CN" altLang="en-US" sz="2000" b="1" i="0" u="none" strike="noStrike" cap="none" normalizeH="0" baseline="0" smtClean="0">
                          <a:ln>
                            <a:noFill/>
                          </a:ln>
                          <a:solidFill>
                            <a:schemeClr val="tx1"/>
                          </a:solidFill>
                          <a:effectLst/>
                          <a:latin typeface="Tahoma" panose="020B0604030504040204" pitchFamily="34" charset="0"/>
                          <a:ea typeface="宋体" pitchFamily="2" charset="-122"/>
                        </a:rPr>
                        <a:t>0.05</a:t>
                      </a:r>
                      <a:endParaRPr kumimoji="1" lang="zh-CN" altLang="en-US" sz="2000" b="1" i="0" u="none" strike="noStrike" cap="none" normalizeH="0" baseline="0" smtClean="0">
                        <a:ln>
                          <a:noFill/>
                        </a:ln>
                        <a:solidFill>
                          <a:schemeClr val="tx1"/>
                        </a:solidFill>
                        <a:effectLst/>
                        <a:latin typeface="Tahoma" panose="020B0604030504040204" pitchFamily="34" charset="0"/>
                        <a:ea typeface="宋体" pitchFamily="2" charset="-122"/>
                      </a:endParaRPr>
                    </a:p>
                  </a:txBody>
                  <a:tcPr marT="45744" marB="4574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solidFill>
                  </a:tcPr>
                </a:tc>
                <a:tc>
                  <a:txBody>
                    <a:body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pPr>
                      <a:r>
                        <a:rPr kumimoji="1" lang="zh-CN" altLang="en-US" sz="2000" b="1" i="0" u="none" strike="noStrike" cap="none" normalizeH="0" baseline="0" smtClean="0">
                          <a:ln>
                            <a:noFill/>
                          </a:ln>
                          <a:solidFill>
                            <a:schemeClr val="tx1"/>
                          </a:solidFill>
                          <a:effectLst/>
                          <a:latin typeface="Tahoma" panose="020B0604030504040204" pitchFamily="34" charset="0"/>
                          <a:ea typeface="宋体" pitchFamily="2" charset="-122"/>
                        </a:rPr>
                        <a:t>0.15</a:t>
                      </a:r>
                      <a:endParaRPr kumimoji="1" lang="zh-CN" altLang="en-US" sz="2000" b="1" i="0" u="none" strike="noStrike" cap="none" normalizeH="0" baseline="0" smtClean="0">
                        <a:ln>
                          <a:noFill/>
                        </a:ln>
                        <a:solidFill>
                          <a:schemeClr val="tx1"/>
                        </a:solidFill>
                        <a:effectLst/>
                        <a:latin typeface="Tahoma" panose="020B0604030504040204" pitchFamily="34" charset="0"/>
                        <a:ea typeface="宋体" pitchFamily="2" charset="-122"/>
                      </a:endParaRPr>
                    </a:p>
                  </a:txBody>
                  <a:tcPr marT="45744" marB="4574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solidFill>
                  </a:tcPr>
                </a:tc>
                <a:tc>
                  <a:txBody>
                    <a:body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pPr>
                      <a:r>
                        <a:rPr kumimoji="1" lang="zh-CN" altLang="en-US" sz="2000" b="1" i="0" u="none" strike="noStrike" cap="none" normalizeH="0" baseline="0" smtClean="0">
                          <a:ln>
                            <a:noFill/>
                          </a:ln>
                          <a:solidFill>
                            <a:schemeClr val="tx1"/>
                          </a:solidFill>
                          <a:effectLst/>
                          <a:latin typeface="Tahoma" panose="020B0604030504040204" pitchFamily="34" charset="0"/>
                          <a:ea typeface="宋体" pitchFamily="2" charset="-122"/>
                        </a:rPr>
                        <a:t>0.40</a:t>
                      </a:r>
                      <a:endParaRPr kumimoji="1" lang="zh-CN" altLang="en-US" sz="2000" b="1" i="0" u="none" strike="noStrike" cap="none" normalizeH="0" baseline="0" smtClean="0">
                        <a:ln>
                          <a:noFill/>
                        </a:ln>
                        <a:solidFill>
                          <a:schemeClr val="tx1"/>
                        </a:solidFill>
                        <a:effectLst/>
                        <a:latin typeface="Tahoma" panose="020B0604030504040204" pitchFamily="34" charset="0"/>
                        <a:ea typeface="宋体" pitchFamily="2" charset="-122"/>
                      </a:endParaRPr>
                    </a:p>
                  </a:txBody>
                  <a:tcPr marT="45744" marB="4574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solidFill>
                  </a:tcPr>
                </a:tc>
                <a:tc>
                  <a:txBody>
                    <a:body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pPr>
                      <a:r>
                        <a:rPr kumimoji="1" lang="zh-CN" altLang="en-US" sz="2000" b="1" i="0" u="none" strike="noStrike" cap="none" normalizeH="0" baseline="0" smtClean="0">
                          <a:ln>
                            <a:noFill/>
                          </a:ln>
                          <a:solidFill>
                            <a:schemeClr val="tx1"/>
                          </a:solidFill>
                          <a:effectLst/>
                          <a:latin typeface="Tahoma" panose="020B0604030504040204" pitchFamily="34" charset="0"/>
                          <a:ea typeface="宋体" pitchFamily="2" charset="-122"/>
                        </a:rPr>
                        <a:t>0.30</a:t>
                      </a:r>
                      <a:endParaRPr kumimoji="1" lang="zh-CN" altLang="en-US" sz="2000" b="1" i="0" u="none" strike="noStrike" cap="none" normalizeH="0" baseline="0" smtClean="0">
                        <a:ln>
                          <a:noFill/>
                        </a:ln>
                        <a:solidFill>
                          <a:schemeClr val="tx1"/>
                        </a:solidFill>
                        <a:effectLst/>
                        <a:latin typeface="Tahoma" panose="020B0604030504040204" pitchFamily="34" charset="0"/>
                        <a:ea typeface="宋体" pitchFamily="2" charset="-122"/>
                      </a:endParaRPr>
                    </a:p>
                  </a:txBody>
                  <a:tcPr marT="45744" marB="4574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solidFill>
                  </a:tcPr>
                </a:tc>
                <a:tc>
                  <a:txBody>
                    <a:body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pPr>
                      <a:r>
                        <a:rPr kumimoji="1" lang="zh-CN" altLang="en-US" sz="2000" b="1" i="0" u="none" strike="noStrike" cap="none" normalizeH="0" baseline="0" smtClean="0">
                          <a:ln>
                            <a:noFill/>
                          </a:ln>
                          <a:solidFill>
                            <a:schemeClr val="tx1"/>
                          </a:solidFill>
                          <a:effectLst/>
                          <a:latin typeface="Tahoma" panose="020B0604030504040204" pitchFamily="34" charset="0"/>
                          <a:ea typeface="宋体" pitchFamily="2" charset="-122"/>
                        </a:rPr>
                        <a:t>0.10</a:t>
                      </a:r>
                      <a:endParaRPr kumimoji="1" lang="zh-CN" altLang="en-US" sz="2000" b="1" i="0" u="none" strike="noStrike" cap="none" normalizeH="0" baseline="0" smtClean="0">
                        <a:ln>
                          <a:noFill/>
                        </a:ln>
                        <a:solidFill>
                          <a:schemeClr val="tx1"/>
                        </a:solidFill>
                        <a:effectLst/>
                        <a:latin typeface="Tahoma" panose="020B0604030504040204" pitchFamily="34" charset="0"/>
                        <a:ea typeface="宋体" pitchFamily="2" charset="-122"/>
                      </a:endParaRPr>
                    </a:p>
                  </a:txBody>
                  <a:tcPr marT="45744" marB="4574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solidFill>
                  </a:tcPr>
                </a:tc>
              </a:tr>
              <a:tr h="396444">
                <a:tc>
                  <a:txBody>
                    <a:body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pPr>
                      <a:r>
                        <a:rPr kumimoji="1" lang="zh-CN" altLang="en-US" sz="2000" b="1" i="0" u="none" strike="noStrike" cap="none" normalizeH="0" baseline="0" smtClean="0">
                          <a:ln>
                            <a:noFill/>
                          </a:ln>
                          <a:solidFill>
                            <a:schemeClr val="tx1"/>
                          </a:solidFill>
                          <a:effectLst/>
                          <a:latin typeface="Tahoma" panose="020B0604030504040204" pitchFamily="34" charset="0"/>
                          <a:ea typeface="宋体" pitchFamily="2" charset="-122"/>
                        </a:rPr>
                        <a:t>等级</a:t>
                      </a:r>
                      <a:endParaRPr kumimoji="1" lang="zh-CN" altLang="en-US" sz="2000" b="1" i="0" u="none" strike="noStrike" cap="none" normalizeH="0" baseline="0" smtClean="0">
                        <a:ln>
                          <a:noFill/>
                        </a:ln>
                        <a:solidFill>
                          <a:schemeClr val="tx1"/>
                        </a:solidFill>
                        <a:effectLst/>
                        <a:latin typeface="Tahoma" panose="020B0604030504040204" pitchFamily="34" charset="0"/>
                        <a:ea typeface="宋体" pitchFamily="2" charset="-122"/>
                      </a:endParaRPr>
                    </a:p>
                  </a:txBody>
                  <a:tcPr marT="45744" marB="4574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solidFill>
                  </a:tcPr>
                </a:tc>
                <a:tc>
                  <a:txBody>
                    <a:body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pPr>
                      <a:r>
                        <a:rPr kumimoji="1" lang="zh-CN" altLang="en-US" sz="2000" b="1" i="0" u="none" strike="noStrike" cap="none" normalizeH="0" baseline="0" smtClean="0">
                          <a:ln>
                            <a:noFill/>
                          </a:ln>
                          <a:solidFill>
                            <a:schemeClr val="tx1"/>
                          </a:solidFill>
                          <a:effectLst/>
                          <a:latin typeface="Tahoma" panose="020B0604030504040204" pitchFamily="34" charset="0"/>
                          <a:ea typeface="宋体" pitchFamily="2" charset="-122"/>
                        </a:rPr>
                        <a:t>不及格</a:t>
                      </a:r>
                      <a:endParaRPr kumimoji="1" lang="zh-CN" altLang="en-US" sz="2000" b="1" i="0" u="none" strike="noStrike" cap="none" normalizeH="0" baseline="0" smtClean="0">
                        <a:ln>
                          <a:noFill/>
                        </a:ln>
                        <a:solidFill>
                          <a:schemeClr val="tx1"/>
                        </a:solidFill>
                        <a:effectLst/>
                        <a:latin typeface="Tahoma" panose="020B0604030504040204" pitchFamily="34" charset="0"/>
                        <a:ea typeface="宋体" pitchFamily="2" charset="-122"/>
                      </a:endParaRPr>
                    </a:p>
                  </a:txBody>
                  <a:tcPr marT="45744" marB="4574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solidFill>
                  </a:tcPr>
                </a:tc>
                <a:tc>
                  <a:txBody>
                    <a:body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pPr>
                      <a:r>
                        <a:rPr kumimoji="1" lang="zh-CN" altLang="en-US" sz="2000" b="1" i="0" u="none" strike="noStrike" cap="none" normalizeH="0" baseline="0" smtClean="0">
                          <a:ln>
                            <a:noFill/>
                          </a:ln>
                          <a:solidFill>
                            <a:schemeClr val="tx1"/>
                          </a:solidFill>
                          <a:effectLst/>
                          <a:latin typeface="Tahoma" panose="020B0604030504040204" pitchFamily="34" charset="0"/>
                          <a:ea typeface="宋体" pitchFamily="2" charset="-122"/>
                        </a:rPr>
                        <a:t>及格</a:t>
                      </a:r>
                      <a:endParaRPr kumimoji="1" lang="zh-CN" altLang="en-US" sz="2000" b="1" i="0" u="none" strike="noStrike" cap="none" normalizeH="0" baseline="0" smtClean="0">
                        <a:ln>
                          <a:noFill/>
                        </a:ln>
                        <a:solidFill>
                          <a:schemeClr val="tx1"/>
                        </a:solidFill>
                        <a:effectLst/>
                        <a:latin typeface="Tahoma" panose="020B0604030504040204" pitchFamily="34" charset="0"/>
                        <a:ea typeface="宋体" pitchFamily="2" charset="-122"/>
                      </a:endParaRPr>
                    </a:p>
                  </a:txBody>
                  <a:tcPr marT="45744" marB="4574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solidFill>
                  </a:tcPr>
                </a:tc>
                <a:tc>
                  <a:txBody>
                    <a:body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pPr>
                      <a:r>
                        <a:rPr kumimoji="1" lang="zh-CN" altLang="en-US" sz="2000" b="1" i="0" u="none" strike="noStrike" cap="none" normalizeH="0" baseline="0" dirty="0" smtClean="0">
                          <a:ln>
                            <a:noFill/>
                          </a:ln>
                          <a:solidFill>
                            <a:schemeClr val="tx1"/>
                          </a:solidFill>
                          <a:effectLst/>
                          <a:latin typeface="Tahoma" panose="020B0604030504040204" pitchFamily="34" charset="0"/>
                          <a:ea typeface="宋体" pitchFamily="2" charset="-122"/>
                        </a:rPr>
                        <a:t>中等</a:t>
                      </a:r>
                      <a:endParaRPr kumimoji="1" lang="zh-CN" altLang="en-US" sz="2000" b="1" i="0" u="none" strike="noStrike" cap="none" normalizeH="0" baseline="0" dirty="0" smtClean="0">
                        <a:ln>
                          <a:noFill/>
                        </a:ln>
                        <a:solidFill>
                          <a:schemeClr val="tx1"/>
                        </a:solidFill>
                        <a:effectLst/>
                        <a:latin typeface="Tahoma" panose="020B0604030504040204" pitchFamily="34" charset="0"/>
                        <a:ea typeface="宋体" pitchFamily="2" charset="-122"/>
                      </a:endParaRPr>
                    </a:p>
                  </a:txBody>
                  <a:tcPr marT="45744" marB="4574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solidFill>
                  </a:tcPr>
                </a:tc>
                <a:tc>
                  <a:txBody>
                    <a:body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pPr>
                      <a:r>
                        <a:rPr kumimoji="1" lang="zh-CN" altLang="en-US" sz="2000" b="1" i="0" u="none" strike="noStrike" cap="none" normalizeH="0" baseline="0" smtClean="0">
                          <a:ln>
                            <a:noFill/>
                          </a:ln>
                          <a:solidFill>
                            <a:schemeClr val="tx1"/>
                          </a:solidFill>
                          <a:effectLst/>
                          <a:latin typeface="Tahoma" panose="020B0604030504040204" pitchFamily="34" charset="0"/>
                          <a:ea typeface="宋体" pitchFamily="2" charset="-122"/>
                        </a:rPr>
                        <a:t>良好</a:t>
                      </a:r>
                      <a:endParaRPr kumimoji="1" lang="zh-CN" altLang="en-US" sz="2000" b="1" i="0" u="none" strike="noStrike" cap="none" normalizeH="0" baseline="0" smtClean="0">
                        <a:ln>
                          <a:noFill/>
                        </a:ln>
                        <a:solidFill>
                          <a:schemeClr val="tx1"/>
                        </a:solidFill>
                        <a:effectLst/>
                        <a:latin typeface="Tahoma" panose="020B0604030504040204" pitchFamily="34" charset="0"/>
                        <a:ea typeface="宋体" pitchFamily="2" charset="-122"/>
                      </a:endParaRPr>
                    </a:p>
                  </a:txBody>
                  <a:tcPr marT="45744" marB="4574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solidFill>
                  </a:tcPr>
                </a:tc>
                <a:tc>
                  <a:txBody>
                    <a:body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pPr>
                      <a:r>
                        <a:rPr kumimoji="1" lang="zh-CN" altLang="en-US" sz="2000" b="1" i="0" u="none" strike="noStrike" cap="none" normalizeH="0" baseline="0" smtClean="0">
                          <a:ln>
                            <a:noFill/>
                          </a:ln>
                          <a:solidFill>
                            <a:schemeClr val="tx1"/>
                          </a:solidFill>
                          <a:effectLst/>
                          <a:latin typeface="Tahoma" panose="020B0604030504040204" pitchFamily="34" charset="0"/>
                          <a:ea typeface="宋体" pitchFamily="2" charset="-122"/>
                        </a:rPr>
                        <a:t>优秀</a:t>
                      </a:r>
                      <a:endParaRPr kumimoji="1" lang="zh-CN" altLang="en-US" sz="2000" b="1" i="0" u="none" strike="noStrike" cap="none" normalizeH="0" baseline="0" smtClean="0">
                        <a:ln>
                          <a:noFill/>
                        </a:ln>
                        <a:solidFill>
                          <a:schemeClr val="tx1"/>
                        </a:solidFill>
                        <a:effectLst/>
                        <a:latin typeface="Tahoma" panose="020B0604030504040204" pitchFamily="34" charset="0"/>
                        <a:ea typeface="宋体" pitchFamily="2" charset="-122"/>
                      </a:endParaRPr>
                    </a:p>
                  </a:txBody>
                  <a:tcPr marT="45744" marB="45744"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FF"/>
                    </a:solidFill>
                  </a:tcPr>
                </a:tc>
              </a:tr>
            </a:tbl>
          </a:graphicData>
        </a:graphic>
      </p:graphicFrame>
      <p:sp>
        <p:nvSpPr>
          <p:cNvPr id="27684" name="Line 36"/>
          <p:cNvSpPr>
            <a:spLocks noChangeShapeType="1"/>
          </p:cNvSpPr>
          <p:nvPr/>
        </p:nvSpPr>
        <p:spPr bwMode="auto">
          <a:xfrm flipH="1">
            <a:off x="5029200" y="5207000"/>
            <a:ext cx="457200" cy="0"/>
          </a:xfrm>
          <a:prstGeom prst="line">
            <a:avLst/>
          </a:prstGeom>
          <a:noFill/>
          <a:ln w="38100">
            <a:solidFill>
              <a:srgbClr val="009900"/>
            </a:solidFill>
            <a:rou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85" name="Line 37"/>
          <p:cNvSpPr>
            <a:spLocks noChangeShapeType="1"/>
          </p:cNvSpPr>
          <p:nvPr/>
        </p:nvSpPr>
        <p:spPr bwMode="auto">
          <a:xfrm flipH="1">
            <a:off x="5715000" y="4673600"/>
            <a:ext cx="457200" cy="0"/>
          </a:xfrm>
          <a:prstGeom prst="line">
            <a:avLst/>
          </a:prstGeom>
          <a:noFill/>
          <a:ln w="38100">
            <a:solidFill>
              <a:srgbClr val="009900"/>
            </a:solidFill>
            <a:rou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86" name="Line 38"/>
          <p:cNvSpPr>
            <a:spLocks noChangeShapeType="1"/>
          </p:cNvSpPr>
          <p:nvPr/>
        </p:nvSpPr>
        <p:spPr bwMode="auto">
          <a:xfrm>
            <a:off x="6172200" y="4673600"/>
            <a:ext cx="0" cy="304800"/>
          </a:xfrm>
          <a:prstGeom prst="line">
            <a:avLst/>
          </a:prstGeom>
          <a:noFill/>
          <a:ln w="38100">
            <a:solidFill>
              <a:srgbClr val="009900"/>
            </a:solidFill>
            <a:round/>
            <a:tailEnd type="triangl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87" name="Line 39"/>
          <p:cNvSpPr>
            <a:spLocks noChangeShapeType="1"/>
          </p:cNvSpPr>
          <p:nvPr/>
        </p:nvSpPr>
        <p:spPr bwMode="auto">
          <a:xfrm flipH="1">
            <a:off x="3886200" y="4673600"/>
            <a:ext cx="457200" cy="0"/>
          </a:xfrm>
          <a:prstGeom prst="line">
            <a:avLst/>
          </a:prstGeom>
          <a:noFill/>
          <a:ln w="38100">
            <a:solidFill>
              <a:srgbClr val="009900"/>
            </a:solidFill>
            <a:rou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88" name="Line 40"/>
          <p:cNvSpPr>
            <a:spLocks noChangeShapeType="1"/>
          </p:cNvSpPr>
          <p:nvPr/>
        </p:nvSpPr>
        <p:spPr bwMode="auto">
          <a:xfrm flipH="1">
            <a:off x="2743200" y="4140200"/>
            <a:ext cx="457200" cy="0"/>
          </a:xfrm>
          <a:prstGeom prst="line">
            <a:avLst/>
          </a:prstGeom>
          <a:noFill/>
          <a:ln w="38100">
            <a:solidFill>
              <a:srgbClr val="009900"/>
            </a:solidFill>
            <a:rou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89" name="Line 41"/>
          <p:cNvSpPr>
            <a:spLocks noChangeShapeType="1"/>
          </p:cNvSpPr>
          <p:nvPr/>
        </p:nvSpPr>
        <p:spPr bwMode="auto">
          <a:xfrm flipH="1">
            <a:off x="3429000" y="3606800"/>
            <a:ext cx="457200" cy="0"/>
          </a:xfrm>
          <a:prstGeom prst="line">
            <a:avLst/>
          </a:prstGeom>
          <a:noFill/>
          <a:ln w="38100">
            <a:solidFill>
              <a:srgbClr val="009900"/>
            </a:solidFill>
            <a:rou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90" name="Line 42"/>
          <p:cNvSpPr>
            <a:spLocks noChangeShapeType="1"/>
          </p:cNvSpPr>
          <p:nvPr/>
        </p:nvSpPr>
        <p:spPr bwMode="auto">
          <a:xfrm flipH="1">
            <a:off x="1676400" y="3606800"/>
            <a:ext cx="457200" cy="0"/>
          </a:xfrm>
          <a:prstGeom prst="line">
            <a:avLst/>
          </a:prstGeom>
          <a:noFill/>
          <a:ln w="38100">
            <a:solidFill>
              <a:srgbClr val="009900"/>
            </a:solidFill>
            <a:rou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91" name="AutoShape 43"/>
          <p:cNvSpPr>
            <a:spLocks noChangeArrowheads="1"/>
          </p:cNvSpPr>
          <p:nvPr/>
        </p:nvSpPr>
        <p:spPr bwMode="auto">
          <a:xfrm>
            <a:off x="2101850" y="3378200"/>
            <a:ext cx="1403350" cy="457200"/>
          </a:xfrm>
          <a:prstGeom prst="flowChartDecision">
            <a:avLst/>
          </a:prstGeom>
          <a:gradFill rotWithShape="0">
            <a:gsLst>
              <a:gs pos="0">
                <a:srgbClr val="DDEBCF"/>
              </a:gs>
              <a:gs pos="50000">
                <a:srgbClr val="9CB86E"/>
              </a:gs>
              <a:gs pos="100000">
                <a:srgbClr val="156B13"/>
              </a:gs>
            </a:gsLst>
            <a:lin ang="5400000" scaled="1"/>
          </a:gradFill>
          <a:ln w="12700">
            <a:solidFill>
              <a:srgbClr val="009900"/>
            </a:solidFill>
            <a:miter lim="800000"/>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kumimoji="1" lang="en-US" altLang="zh-CN" sz="2400" b="1" i="1">
                <a:latin typeface="Times New Roman" panose="02020503050405090304" pitchFamily="18" charset="0"/>
              </a:rPr>
              <a:t>a</a:t>
            </a:r>
            <a:r>
              <a:rPr kumimoji="1" lang="en-US" altLang="zh-CN" sz="2400" b="1">
                <a:latin typeface="Times New Roman" panose="02020503050405090304" pitchFamily="18" charset="0"/>
              </a:rPr>
              <a:t>&lt;60?</a:t>
            </a:r>
            <a:endParaRPr kumimoji="1" lang="en-US" altLang="zh-CN" sz="2400" b="1">
              <a:latin typeface="Times New Roman" panose="02020503050405090304" pitchFamily="18" charset="0"/>
            </a:endParaRPr>
          </a:p>
        </p:txBody>
      </p:sp>
      <p:sp>
        <p:nvSpPr>
          <p:cNvPr id="27692" name="Line 44"/>
          <p:cNvSpPr>
            <a:spLocks noChangeShapeType="1"/>
          </p:cNvSpPr>
          <p:nvPr/>
        </p:nvSpPr>
        <p:spPr bwMode="auto">
          <a:xfrm>
            <a:off x="2819400" y="3073400"/>
            <a:ext cx="0" cy="304800"/>
          </a:xfrm>
          <a:prstGeom prst="line">
            <a:avLst/>
          </a:prstGeom>
          <a:noFill/>
          <a:ln w="38100">
            <a:solidFill>
              <a:srgbClr val="009900"/>
            </a:solidFill>
            <a:round/>
            <a:tailEnd type="triangl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93" name="Line 45"/>
          <p:cNvSpPr>
            <a:spLocks noChangeShapeType="1"/>
          </p:cNvSpPr>
          <p:nvPr/>
        </p:nvSpPr>
        <p:spPr bwMode="auto">
          <a:xfrm>
            <a:off x="1676400" y="3606800"/>
            <a:ext cx="0" cy="304800"/>
          </a:xfrm>
          <a:prstGeom prst="line">
            <a:avLst/>
          </a:prstGeom>
          <a:noFill/>
          <a:ln w="38100">
            <a:solidFill>
              <a:srgbClr val="009900"/>
            </a:solidFill>
            <a:round/>
            <a:tailEnd type="triangl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312366" name="Text Box 46"/>
          <p:cNvSpPr txBox="1">
            <a:spLocks noChangeArrowheads="1"/>
          </p:cNvSpPr>
          <p:nvPr/>
        </p:nvSpPr>
        <p:spPr bwMode="auto">
          <a:xfrm>
            <a:off x="1200150" y="3892550"/>
            <a:ext cx="912813" cy="404813"/>
          </a:xfrm>
          <a:prstGeom prst="rect">
            <a:avLst/>
          </a:prstGeom>
          <a:noFill/>
          <a:ln w="38100">
            <a:solidFill>
              <a:srgbClr val="009900"/>
            </a:solidFill>
            <a:miter lim="800000"/>
          </a:ln>
          <a:effectLst/>
        </p:spPr>
        <p:txBody>
          <a:bodyPr wrap="none" anchor="ctr">
            <a:spAutoFit/>
          </a:bodyPr>
          <a:lstStyle/>
          <a:p>
            <a:pPr>
              <a:defRPr/>
            </a:pPr>
            <a:r>
              <a:rPr kumimoji="1" lang="zh-CN" altLang="en-US" b="1">
                <a:solidFill>
                  <a:srgbClr val="660066"/>
                </a:solidFill>
                <a:effectLst>
                  <a:outerShdw blurRad="38100" dist="38100" dir="2700000" algn="tl">
                    <a:srgbClr val="C0C0C0"/>
                  </a:outerShdw>
                </a:effectLst>
                <a:latin typeface="Times New Roman" panose="02020503050405090304" pitchFamily="18" charset="0"/>
              </a:rPr>
              <a:t>不及格</a:t>
            </a:r>
            <a:endParaRPr kumimoji="1" lang="zh-CN" altLang="en-US">
              <a:solidFill>
                <a:srgbClr val="660066"/>
              </a:solidFill>
              <a:latin typeface="Times New Roman" panose="02020503050405090304" pitchFamily="18" charset="0"/>
            </a:endParaRPr>
          </a:p>
        </p:txBody>
      </p:sp>
      <p:sp>
        <p:nvSpPr>
          <p:cNvPr id="27695" name="Line 47"/>
          <p:cNvSpPr>
            <a:spLocks noChangeShapeType="1"/>
          </p:cNvSpPr>
          <p:nvPr/>
        </p:nvSpPr>
        <p:spPr bwMode="auto">
          <a:xfrm>
            <a:off x="3886200" y="3606800"/>
            <a:ext cx="0" cy="304800"/>
          </a:xfrm>
          <a:prstGeom prst="line">
            <a:avLst/>
          </a:prstGeom>
          <a:noFill/>
          <a:ln w="38100">
            <a:solidFill>
              <a:srgbClr val="009900"/>
            </a:solidFill>
            <a:round/>
            <a:tailEnd type="triangl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96" name="Line 48"/>
          <p:cNvSpPr>
            <a:spLocks noChangeShapeType="1"/>
          </p:cNvSpPr>
          <p:nvPr/>
        </p:nvSpPr>
        <p:spPr bwMode="auto">
          <a:xfrm>
            <a:off x="2743200" y="4140200"/>
            <a:ext cx="0" cy="304800"/>
          </a:xfrm>
          <a:prstGeom prst="line">
            <a:avLst/>
          </a:prstGeom>
          <a:noFill/>
          <a:ln w="38100">
            <a:solidFill>
              <a:srgbClr val="009900"/>
            </a:solidFill>
            <a:round/>
            <a:tailEnd type="triangl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97" name="Line 49"/>
          <p:cNvSpPr>
            <a:spLocks noChangeShapeType="1"/>
          </p:cNvSpPr>
          <p:nvPr/>
        </p:nvSpPr>
        <p:spPr bwMode="auto">
          <a:xfrm flipH="1">
            <a:off x="4572000" y="4140200"/>
            <a:ext cx="457200" cy="0"/>
          </a:xfrm>
          <a:prstGeom prst="line">
            <a:avLst/>
          </a:prstGeom>
          <a:noFill/>
          <a:ln w="38100">
            <a:solidFill>
              <a:srgbClr val="009900"/>
            </a:solidFill>
            <a:rou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98" name="Line 50"/>
          <p:cNvSpPr>
            <a:spLocks noChangeShapeType="1"/>
          </p:cNvSpPr>
          <p:nvPr/>
        </p:nvSpPr>
        <p:spPr bwMode="auto">
          <a:xfrm>
            <a:off x="5029200" y="4140200"/>
            <a:ext cx="0" cy="304800"/>
          </a:xfrm>
          <a:prstGeom prst="line">
            <a:avLst/>
          </a:prstGeom>
          <a:noFill/>
          <a:ln w="38100">
            <a:solidFill>
              <a:srgbClr val="009900"/>
            </a:solidFill>
            <a:round/>
            <a:tailEnd type="triangl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699" name="Line 51"/>
          <p:cNvSpPr>
            <a:spLocks noChangeShapeType="1"/>
          </p:cNvSpPr>
          <p:nvPr/>
        </p:nvSpPr>
        <p:spPr bwMode="auto">
          <a:xfrm>
            <a:off x="3886200" y="4673600"/>
            <a:ext cx="0" cy="304800"/>
          </a:xfrm>
          <a:prstGeom prst="line">
            <a:avLst/>
          </a:prstGeom>
          <a:noFill/>
          <a:ln w="38100">
            <a:solidFill>
              <a:srgbClr val="009900"/>
            </a:solidFill>
            <a:round/>
            <a:tailEnd type="triangl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700" name="Line 52"/>
          <p:cNvSpPr>
            <a:spLocks noChangeShapeType="1"/>
          </p:cNvSpPr>
          <p:nvPr/>
        </p:nvSpPr>
        <p:spPr bwMode="auto">
          <a:xfrm>
            <a:off x="5029200" y="5207000"/>
            <a:ext cx="0" cy="304800"/>
          </a:xfrm>
          <a:prstGeom prst="line">
            <a:avLst/>
          </a:prstGeom>
          <a:noFill/>
          <a:ln w="38100">
            <a:solidFill>
              <a:srgbClr val="009900"/>
            </a:solidFill>
            <a:round/>
            <a:tailEnd type="triangl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701" name="Line 53"/>
          <p:cNvSpPr>
            <a:spLocks noChangeShapeType="1"/>
          </p:cNvSpPr>
          <p:nvPr/>
        </p:nvSpPr>
        <p:spPr bwMode="auto">
          <a:xfrm flipH="1">
            <a:off x="6858000" y="5207000"/>
            <a:ext cx="457200" cy="0"/>
          </a:xfrm>
          <a:prstGeom prst="line">
            <a:avLst/>
          </a:prstGeom>
          <a:noFill/>
          <a:ln w="38100">
            <a:solidFill>
              <a:srgbClr val="009900"/>
            </a:solidFill>
            <a:round/>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702" name="Line 54"/>
          <p:cNvSpPr>
            <a:spLocks noChangeShapeType="1"/>
          </p:cNvSpPr>
          <p:nvPr/>
        </p:nvSpPr>
        <p:spPr bwMode="auto">
          <a:xfrm>
            <a:off x="7315200" y="5207000"/>
            <a:ext cx="0" cy="304800"/>
          </a:xfrm>
          <a:prstGeom prst="line">
            <a:avLst/>
          </a:prstGeom>
          <a:noFill/>
          <a:ln w="38100">
            <a:solidFill>
              <a:srgbClr val="009900"/>
            </a:solidFill>
            <a:round/>
            <a:tailEnd type="triangle" w="sm" len="sm"/>
          </a:ln>
          <a:extLst>
            <a:ext uri="{909E8E84-426E-40DD-AFC4-6F175D3DCCD1}">
              <a14:hiddenFill xmlns:a14="http://schemas.microsoft.com/office/drawing/2010/main">
                <a:noFill/>
              </a14:hiddenFill>
            </a:ext>
          </a:extLst>
        </p:spPr>
        <p:txBody>
          <a:bodyPr wrap="none" anchor="ctr"/>
          <a:lstStyle/>
          <a:p>
            <a:endParaRPr lang="zh-CN" altLang="en-US"/>
          </a:p>
        </p:txBody>
      </p:sp>
      <p:sp>
        <p:nvSpPr>
          <p:cNvPr id="27703" name="Text Box 55"/>
          <p:cNvSpPr txBox="1">
            <a:spLocks noChangeArrowheads="1"/>
          </p:cNvSpPr>
          <p:nvPr/>
        </p:nvSpPr>
        <p:spPr bwMode="auto">
          <a:xfrm>
            <a:off x="1371600" y="4292600"/>
            <a:ext cx="62865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kumimoji="1" lang="zh-CN" altLang="en-US" sz="2000" b="1">
                <a:solidFill>
                  <a:srgbClr val="000099"/>
                </a:solidFill>
                <a:latin typeface="Times New Roman" panose="02020503050405090304" pitchFamily="18" charset="0"/>
              </a:rPr>
              <a:t>0.05</a:t>
            </a:r>
            <a:endParaRPr kumimoji="1" lang="zh-CN" altLang="en-US">
              <a:latin typeface="Times New Roman" panose="02020503050405090304" pitchFamily="18" charset="0"/>
            </a:endParaRPr>
          </a:p>
        </p:txBody>
      </p:sp>
      <p:sp>
        <p:nvSpPr>
          <p:cNvPr id="27704" name="Text Box 56"/>
          <p:cNvSpPr txBox="1">
            <a:spLocks noChangeArrowheads="1"/>
          </p:cNvSpPr>
          <p:nvPr/>
        </p:nvSpPr>
        <p:spPr bwMode="auto">
          <a:xfrm>
            <a:off x="2438400" y="4826000"/>
            <a:ext cx="62865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kumimoji="1" lang="zh-CN" altLang="en-US" sz="2000" b="1">
                <a:solidFill>
                  <a:srgbClr val="000099"/>
                </a:solidFill>
                <a:latin typeface="Times New Roman" panose="02020503050405090304" pitchFamily="18" charset="0"/>
              </a:rPr>
              <a:t>0.15</a:t>
            </a:r>
            <a:endParaRPr kumimoji="1" lang="zh-CN" altLang="en-US">
              <a:latin typeface="Times New Roman" panose="02020503050405090304" pitchFamily="18" charset="0"/>
            </a:endParaRPr>
          </a:p>
        </p:txBody>
      </p:sp>
      <p:sp>
        <p:nvSpPr>
          <p:cNvPr id="27705" name="Text Box 57"/>
          <p:cNvSpPr txBox="1">
            <a:spLocks noChangeArrowheads="1"/>
          </p:cNvSpPr>
          <p:nvPr/>
        </p:nvSpPr>
        <p:spPr bwMode="auto">
          <a:xfrm>
            <a:off x="3657600" y="5359400"/>
            <a:ext cx="62865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kumimoji="1" lang="zh-CN" altLang="en-US" sz="2000" b="1">
                <a:solidFill>
                  <a:srgbClr val="000099"/>
                </a:solidFill>
                <a:latin typeface="Times New Roman" panose="02020503050405090304" pitchFamily="18" charset="0"/>
              </a:rPr>
              <a:t>0.40</a:t>
            </a:r>
            <a:endParaRPr kumimoji="1" lang="zh-CN" altLang="en-US">
              <a:latin typeface="Times New Roman" panose="02020503050405090304" pitchFamily="18" charset="0"/>
            </a:endParaRPr>
          </a:p>
        </p:txBody>
      </p:sp>
      <p:sp>
        <p:nvSpPr>
          <p:cNvPr id="27706" name="Text Box 58"/>
          <p:cNvSpPr txBox="1">
            <a:spLocks noChangeArrowheads="1"/>
          </p:cNvSpPr>
          <p:nvPr/>
        </p:nvSpPr>
        <p:spPr bwMode="auto">
          <a:xfrm>
            <a:off x="4724400" y="5800725"/>
            <a:ext cx="62865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kumimoji="1" lang="zh-CN" altLang="en-US" sz="2000" b="1">
                <a:solidFill>
                  <a:srgbClr val="000099"/>
                </a:solidFill>
                <a:latin typeface="Times New Roman" panose="02020503050405090304" pitchFamily="18" charset="0"/>
              </a:rPr>
              <a:t>0.30</a:t>
            </a:r>
            <a:endParaRPr kumimoji="1" lang="zh-CN" altLang="en-US">
              <a:latin typeface="Times New Roman" panose="02020503050405090304" pitchFamily="18" charset="0"/>
            </a:endParaRPr>
          </a:p>
        </p:txBody>
      </p:sp>
      <p:sp>
        <p:nvSpPr>
          <p:cNvPr id="27707" name="Text Box 59"/>
          <p:cNvSpPr txBox="1">
            <a:spLocks noChangeArrowheads="1"/>
          </p:cNvSpPr>
          <p:nvPr/>
        </p:nvSpPr>
        <p:spPr bwMode="auto">
          <a:xfrm>
            <a:off x="7086600" y="5800725"/>
            <a:ext cx="62865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kumimoji="1" lang="zh-CN" altLang="en-US" sz="2000" b="1">
                <a:solidFill>
                  <a:srgbClr val="000099"/>
                </a:solidFill>
                <a:latin typeface="Times New Roman" panose="02020503050405090304" pitchFamily="18" charset="0"/>
              </a:rPr>
              <a:t>0.10</a:t>
            </a:r>
            <a:endParaRPr kumimoji="1" lang="zh-CN" altLang="en-US">
              <a:latin typeface="Times New Roman" panose="02020503050405090304" pitchFamily="18" charset="0"/>
            </a:endParaRPr>
          </a:p>
        </p:txBody>
      </p:sp>
      <p:sp>
        <p:nvSpPr>
          <p:cNvPr id="312380" name="Text Box 60"/>
          <p:cNvSpPr txBox="1">
            <a:spLocks noChangeArrowheads="1"/>
          </p:cNvSpPr>
          <p:nvPr/>
        </p:nvSpPr>
        <p:spPr bwMode="auto">
          <a:xfrm>
            <a:off x="3536950" y="3225800"/>
            <a:ext cx="349250" cy="366713"/>
          </a:xfrm>
          <a:prstGeom prst="rect">
            <a:avLst/>
          </a:prstGeom>
          <a:noFill/>
          <a:ln w="38100">
            <a:noFill/>
            <a:miter lim="800000"/>
          </a:ln>
          <a:effectLst/>
        </p:spPr>
        <p:txBody>
          <a:bodyPr wrap="none"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kumimoji="1" lang="en-US" altLang="zh-CN" b="1">
                <a:solidFill>
                  <a:srgbClr val="000099"/>
                </a:solidFill>
                <a:effectLst>
                  <a:outerShdw blurRad="38100" dist="38100" dir="2700000" algn="tl">
                    <a:srgbClr val="C0C0C0"/>
                  </a:outerShdw>
                </a:effectLst>
                <a:latin typeface="Times New Roman" panose="02020503050405090304" pitchFamily="18" charset="0"/>
              </a:rPr>
              <a:t>N</a:t>
            </a:r>
            <a:endParaRPr kumimoji="1" lang="en-US" altLang="zh-CN" b="1">
              <a:solidFill>
                <a:srgbClr val="000099"/>
              </a:solidFill>
              <a:effectLst>
                <a:outerShdw blurRad="38100" dist="38100" dir="2700000" algn="tl">
                  <a:srgbClr val="C0C0C0"/>
                </a:outerShdw>
              </a:effectLst>
              <a:latin typeface="Times New Roman" panose="02020503050405090304" pitchFamily="18" charset="0"/>
            </a:endParaRPr>
          </a:p>
        </p:txBody>
      </p:sp>
      <p:sp>
        <p:nvSpPr>
          <p:cNvPr id="312381" name="Text Box 61"/>
          <p:cNvSpPr txBox="1">
            <a:spLocks noChangeArrowheads="1"/>
          </p:cNvSpPr>
          <p:nvPr/>
        </p:nvSpPr>
        <p:spPr bwMode="auto">
          <a:xfrm>
            <a:off x="4603750" y="3835400"/>
            <a:ext cx="349250" cy="366713"/>
          </a:xfrm>
          <a:prstGeom prst="rect">
            <a:avLst/>
          </a:prstGeom>
          <a:noFill/>
          <a:ln w="38100">
            <a:noFill/>
            <a:miter lim="800000"/>
          </a:ln>
          <a:effectLst/>
        </p:spPr>
        <p:txBody>
          <a:bodyPr wrap="none"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kumimoji="1" lang="en-US" altLang="zh-CN" b="1">
                <a:solidFill>
                  <a:srgbClr val="000099"/>
                </a:solidFill>
                <a:effectLst>
                  <a:outerShdw blurRad="38100" dist="38100" dir="2700000" algn="tl">
                    <a:srgbClr val="C0C0C0"/>
                  </a:outerShdw>
                </a:effectLst>
                <a:latin typeface="Times New Roman" panose="02020503050405090304" pitchFamily="18" charset="0"/>
              </a:rPr>
              <a:t>N</a:t>
            </a:r>
            <a:endParaRPr kumimoji="1" lang="en-US" altLang="zh-CN" b="1">
              <a:solidFill>
                <a:srgbClr val="000099"/>
              </a:solidFill>
              <a:effectLst>
                <a:outerShdw blurRad="38100" dist="38100" dir="2700000" algn="tl">
                  <a:srgbClr val="C0C0C0"/>
                </a:outerShdw>
              </a:effectLst>
              <a:latin typeface="Times New Roman" panose="02020503050405090304" pitchFamily="18" charset="0"/>
            </a:endParaRPr>
          </a:p>
        </p:txBody>
      </p:sp>
      <p:sp>
        <p:nvSpPr>
          <p:cNvPr id="312382" name="Text Box 62"/>
          <p:cNvSpPr txBox="1">
            <a:spLocks noChangeArrowheads="1"/>
          </p:cNvSpPr>
          <p:nvPr/>
        </p:nvSpPr>
        <p:spPr bwMode="auto">
          <a:xfrm>
            <a:off x="5746750" y="4338638"/>
            <a:ext cx="349250" cy="366712"/>
          </a:xfrm>
          <a:prstGeom prst="rect">
            <a:avLst/>
          </a:prstGeom>
          <a:noFill/>
          <a:ln w="38100">
            <a:noFill/>
            <a:miter lim="800000"/>
          </a:ln>
          <a:effectLst/>
        </p:spPr>
        <p:txBody>
          <a:bodyPr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kumimoji="1" lang="en-US" altLang="zh-CN" b="1">
                <a:solidFill>
                  <a:srgbClr val="000099"/>
                </a:solidFill>
                <a:effectLst>
                  <a:outerShdw blurRad="38100" dist="38100" dir="2700000" algn="tl">
                    <a:srgbClr val="C0C0C0"/>
                  </a:outerShdw>
                </a:effectLst>
                <a:latin typeface="Times New Roman" panose="02020503050405090304" pitchFamily="18" charset="0"/>
              </a:rPr>
              <a:t>N</a:t>
            </a:r>
            <a:endParaRPr kumimoji="1" lang="en-US" altLang="zh-CN" b="1">
              <a:solidFill>
                <a:srgbClr val="000099"/>
              </a:solidFill>
              <a:effectLst>
                <a:outerShdw blurRad="38100" dist="38100" dir="2700000" algn="tl">
                  <a:srgbClr val="C0C0C0"/>
                </a:outerShdw>
              </a:effectLst>
              <a:latin typeface="Times New Roman" panose="02020503050405090304" pitchFamily="18" charset="0"/>
            </a:endParaRPr>
          </a:p>
        </p:txBody>
      </p:sp>
      <p:sp>
        <p:nvSpPr>
          <p:cNvPr id="312383" name="Text Box 63"/>
          <p:cNvSpPr txBox="1">
            <a:spLocks noChangeArrowheads="1"/>
          </p:cNvSpPr>
          <p:nvPr/>
        </p:nvSpPr>
        <p:spPr bwMode="auto">
          <a:xfrm>
            <a:off x="6897688" y="4875213"/>
            <a:ext cx="349250" cy="366712"/>
          </a:xfrm>
          <a:prstGeom prst="rect">
            <a:avLst/>
          </a:prstGeom>
          <a:noFill/>
          <a:ln w="38100">
            <a:noFill/>
            <a:miter lim="800000"/>
          </a:ln>
          <a:effectLst/>
        </p:spPr>
        <p:txBody>
          <a:bodyPr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kumimoji="1" lang="en-US" altLang="zh-CN" b="1">
                <a:solidFill>
                  <a:srgbClr val="000099"/>
                </a:solidFill>
                <a:effectLst>
                  <a:outerShdw blurRad="38100" dist="38100" dir="2700000" algn="tl">
                    <a:srgbClr val="C0C0C0"/>
                  </a:outerShdw>
                </a:effectLst>
                <a:latin typeface="Times New Roman" panose="02020503050405090304" pitchFamily="18" charset="0"/>
              </a:rPr>
              <a:t>N</a:t>
            </a:r>
            <a:endParaRPr kumimoji="1" lang="en-US" altLang="zh-CN" b="1">
              <a:solidFill>
                <a:srgbClr val="000099"/>
              </a:solidFill>
              <a:effectLst>
                <a:outerShdw blurRad="38100" dist="38100" dir="2700000" algn="tl">
                  <a:srgbClr val="C0C0C0"/>
                </a:outerShdw>
              </a:effectLst>
              <a:latin typeface="Times New Roman" panose="02020503050405090304" pitchFamily="18" charset="0"/>
            </a:endParaRPr>
          </a:p>
        </p:txBody>
      </p:sp>
      <p:sp>
        <p:nvSpPr>
          <p:cNvPr id="312384" name="Text Box 64"/>
          <p:cNvSpPr txBox="1">
            <a:spLocks noChangeArrowheads="1"/>
          </p:cNvSpPr>
          <p:nvPr/>
        </p:nvSpPr>
        <p:spPr bwMode="auto">
          <a:xfrm>
            <a:off x="5114925" y="4864100"/>
            <a:ext cx="368300" cy="396875"/>
          </a:xfrm>
          <a:prstGeom prst="rect">
            <a:avLst/>
          </a:prstGeom>
          <a:noFill/>
          <a:ln w="38100">
            <a:noFill/>
            <a:miter lim="800000"/>
          </a:ln>
          <a:effectLst/>
        </p:spPr>
        <p:txBody>
          <a:bodyPr anchor="ctr">
            <a:spAutoFit/>
          </a:bodyPr>
          <a:lstStyle/>
          <a:p>
            <a:pPr>
              <a:defRPr/>
            </a:pPr>
            <a:r>
              <a:rPr kumimoji="1" lang="en-US" altLang="zh-CN" sz="2000" b="1">
                <a:solidFill>
                  <a:srgbClr val="000099"/>
                </a:solidFill>
                <a:effectLst>
                  <a:outerShdw blurRad="38100" dist="38100" dir="2700000" algn="tl">
                    <a:srgbClr val="C0C0C0"/>
                  </a:outerShdw>
                </a:effectLst>
                <a:latin typeface="Times New Roman" panose="02020503050405090304" pitchFamily="18" charset="0"/>
              </a:rPr>
              <a:t>Y</a:t>
            </a:r>
            <a:endParaRPr kumimoji="1" lang="en-US" altLang="zh-CN" b="1">
              <a:solidFill>
                <a:srgbClr val="000099"/>
              </a:solidFill>
              <a:effectLst>
                <a:outerShdw blurRad="38100" dist="38100" dir="2700000" algn="tl">
                  <a:srgbClr val="C0C0C0"/>
                </a:outerShdw>
              </a:effectLst>
              <a:latin typeface="Times New Roman" panose="02020503050405090304" pitchFamily="18" charset="0"/>
            </a:endParaRPr>
          </a:p>
        </p:txBody>
      </p:sp>
      <p:sp>
        <p:nvSpPr>
          <p:cNvPr id="312385" name="Text Box 65"/>
          <p:cNvSpPr txBox="1">
            <a:spLocks noChangeArrowheads="1"/>
          </p:cNvSpPr>
          <p:nvPr/>
        </p:nvSpPr>
        <p:spPr bwMode="auto">
          <a:xfrm>
            <a:off x="3940175" y="4322763"/>
            <a:ext cx="368300" cy="396875"/>
          </a:xfrm>
          <a:prstGeom prst="rect">
            <a:avLst/>
          </a:prstGeom>
          <a:noFill/>
          <a:ln w="38100">
            <a:noFill/>
            <a:miter lim="800000"/>
          </a:ln>
          <a:effectLst/>
        </p:spPr>
        <p:txBody>
          <a:bodyPr anchor="ctr">
            <a:spAutoFit/>
          </a:bodyPr>
          <a:lstStyle/>
          <a:p>
            <a:pPr>
              <a:defRPr/>
            </a:pPr>
            <a:r>
              <a:rPr kumimoji="1" lang="en-US" altLang="zh-CN" sz="2000" b="1">
                <a:solidFill>
                  <a:srgbClr val="000099"/>
                </a:solidFill>
                <a:effectLst>
                  <a:outerShdw blurRad="38100" dist="38100" dir="2700000" algn="tl">
                    <a:srgbClr val="C0C0C0"/>
                  </a:outerShdw>
                </a:effectLst>
                <a:latin typeface="Times New Roman" panose="02020503050405090304" pitchFamily="18" charset="0"/>
              </a:rPr>
              <a:t>Y</a:t>
            </a:r>
            <a:endParaRPr kumimoji="1" lang="en-US" altLang="zh-CN" b="1">
              <a:solidFill>
                <a:srgbClr val="000099"/>
              </a:solidFill>
              <a:effectLst>
                <a:outerShdw blurRad="38100" dist="38100" dir="2700000" algn="tl">
                  <a:srgbClr val="C0C0C0"/>
                </a:outerShdw>
              </a:effectLst>
              <a:latin typeface="Times New Roman" panose="02020503050405090304" pitchFamily="18" charset="0"/>
            </a:endParaRPr>
          </a:p>
        </p:txBody>
      </p:sp>
      <p:sp>
        <p:nvSpPr>
          <p:cNvPr id="312386" name="Text Box 66"/>
          <p:cNvSpPr txBox="1">
            <a:spLocks noChangeArrowheads="1"/>
          </p:cNvSpPr>
          <p:nvPr/>
        </p:nvSpPr>
        <p:spPr bwMode="auto">
          <a:xfrm>
            <a:off x="2800350" y="3819525"/>
            <a:ext cx="368300" cy="396875"/>
          </a:xfrm>
          <a:prstGeom prst="rect">
            <a:avLst/>
          </a:prstGeom>
          <a:noFill/>
          <a:ln w="38100">
            <a:noFill/>
            <a:miter lim="800000"/>
          </a:ln>
          <a:effectLst/>
        </p:spPr>
        <p:txBody>
          <a:bodyPr wrap="none" anchor="ctr">
            <a:spAutoFit/>
          </a:bodyPr>
          <a:lstStyle/>
          <a:p>
            <a:pPr>
              <a:defRPr/>
            </a:pPr>
            <a:r>
              <a:rPr kumimoji="1" lang="en-US" altLang="zh-CN" sz="2000" b="1">
                <a:solidFill>
                  <a:srgbClr val="000099"/>
                </a:solidFill>
                <a:effectLst>
                  <a:outerShdw blurRad="38100" dist="38100" dir="2700000" algn="tl">
                    <a:srgbClr val="C0C0C0"/>
                  </a:outerShdw>
                </a:effectLst>
                <a:latin typeface="Times New Roman" panose="02020503050405090304" pitchFamily="18" charset="0"/>
              </a:rPr>
              <a:t>Y</a:t>
            </a:r>
            <a:endParaRPr kumimoji="1" lang="en-US" altLang="zh-CN" b="1">
              <a:solidFill>
                <a:srgbClr val="000099"/>
              </a:solidFill>
              <a:effectLst>
                <a:outerShdw blurRad="38100" dist="38100" dir="2700000" algn="tl">
                  <a:srgbClr val="C0C0C0"/>
                </a:outerShdw>
              </a:effectLst>
              <a:latin typeface="Times New Roman" panose="02020503050405090304" pitchFamily="18" charset="0"/>
            </a:endParaRPr>
          </a:p>
        </p:txBody>
      </p:sp>
      <p:sp>
        <p:nvSpPr>
          <p:cNvPr id="312387" name="Text Box 67"/>
          <p:cNvSpPr txBox="1">
            <a:spLocks noChangeArrowheads="1"/>
          </p:cNvSpPr>
          <p:nvPr/>
        </p:nvSpPr>
        <p:spPr bwMode="auto">
          <a:xfrm>
            <a:off x="1730375" y="3286125"/>
            <a:ext cx="368300" cy="396875"/>
          </a:xfrm>
          <a:prstGeom prst="rect">
            <a:avLst/>
          </a:prstGeom>
          <a:noFill/>
          <a:ln w="38100">
            <a:noFill/>
            <a:miter lim="800000"/>
          </a:ln>
          <a:effectLst/>
        </p:spPr>
        <p:txBody>
          <a:bodyPr wrap="none" anchor="ctr">
            <a:spAutoFit/>
          </a:bodyPr>
          <a:lstStyle/>
          <a:p>
            <a:pPr>
              <a:defRPr/>
            </a:pPr>
            <a:r>
              <a:rPr kumimoji="1" lang="en-US" altLang="zh-CN" sz="2000" b="1">
                <a:solidFill>
                  <a:srgbClr val="000099"/>
                </a:solidFill>
                <a:effectLst>
                  <a:outerShdw blurRad="38100" dist="38100" dir="2700000" algn="tl">
                    <a:srgbClr val="C0C0C0"/>
                  </a:outerShdw>
                </a:effectLst>
                <a:latin typeface="Times New Roman" panose="02020503050405090304" pitchFamily="18" charset="0"/>
              </a:rPr>
              <a:t>Y</a:t>
            </a:r>
            <a:endParaRPr kumimoji="1" lang="en-US" altLang="zh-CN" b="1">
              <a:solidFill>
                <a:srgbClr val="000099"/>
              </a:solidFill>
              <a:effectLst>
                <a:outerShdw blurRad="38100" dist="38100" dir="2700000" algn="tl">
                  <a:srgbClr val="C0C0C0"/>
                </a:outerShdw>
              </a:effectLst>
              <a:latin typeface="Times New Roman" panose="02020503050405090304" pitchFamily="18" charset="0"/>
            </a:endParaRPr>
          </a:p>
        </p:txBody>
      </p:sp>
      <p:sp>
        <p:nvSpPr>
          <p:cNvPr id="27716" name="AutoShape 68"/>
          <p:cNvSpPr>
            <a:spLocks noChangeArrowheads="1"/>
          </p:cNvSpPr>
          <p:nvPr/>
        </p:nvSpPr>
        <p:spPr bwMode="auto">
          <a:xfrm>
            <a:off x="3200400" y="3911600"/>
            <a:ext cx="1403350" cy="457200"/>
          </a:xfrm>
          <a:prstGeom prst="flowChartDecision">
            <a:avLst/>
          </a:prstGeom>
          <a:gradFill rotWithShape="0">
            <a:gsLst>
              <a:gs pos="0">
                <a:srgbClr val="DDEBCF"/>
              </a:gs>
              <a:gs pos="50000">
                <a:srgbClr val="9CB86E"/>
              </a:gs>
              <a:gs pos="100000">
                <a:srgbClr val="156B13"/>
              </a:gs>
            </a:gsLst>
            <a:lin ang="5400000" scaled="1"/>
          </a:gradFill>
          <a:ln w="12700">
            <a:solidFill>
              <a:srgbClr val="009900"/>
            </a:solidFill>
            <a:miter lim="800000"/>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kumimoji="1" lang="en-US" altLang="zh-CN" sz="2400" b="1" i="1">
                <a:latin typeface="Times New Roman" panose="02020503050405090304" pitchFamily="18" charset="0"/>
              </a:rPr>
              <a:t>a</a:t>
            </a:r>
            <a:r>
              <a:rPr kumimoji="1" lang="en-US" altLang="zh-CN" sz="2400" b="1">
                <a:latin typeface="Times New Roman" panose="02020503050405090304" pitchFamily="18" charset="0"/>
              </a:rPr>
              <a:t>&lt;70?</a:t>
            </a:r>
            <a:endParaRPr kumimoji="1" lang="en-US" altLang="zh-CN" sz="2400" b="1">
              <a:latin typeface="Times New Roman" panose="02020503050405090304" pitchFamily="18" charset="0"/>
            </a:endParaRPr>
          </a:p>
        </p:txBody>
      </p:sp>
      <p:sp>
        <p:nvSpPr>
          <p:cNvPr id="27717" name="AutoShape 69"/>
          <p:cNvSpPr>
            <a:spLocks noChangeArrowheads="1"/>
          </p:cNvSpPr>
          <p:nvPr/>
        </p:nvSpPr>
        <p:spPr bwMode="auto">
          <a:xfrm>
            <a:off x="4311650" y="4445000"/>
            <a:ext cx="1403350" cy="457200"/>
          </a:xfrm>
          <a:prstGeom prst="flowChartDecision">
            <a:avLst/>
          </a:prstGeom>
          <a:gradFill rotWithShape="0">
            <a:gsLst>
              <a:gs pos="0">
                <a:srgbClr val="DDEBCF"/>
              </a:gs>
              <a:gs pos="50000">
                <a:srgbClr val="9CB86E"/>
              </a:gs>
              <a:gs pos="100000">
                <a:srgbClr val="156B13"/>
              </a:gs>
            </a:gsLst>
            <a:lin ang="5400000" scaled="1"/>
          </a:gradFill>
          <a:ln w="12700">
            <a:solidFill>
              <a:srgbClr val="009900"/>
            </a:solidFill>
            <a:miter lim="800000"/>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kumimoji="1" lang="en-US" altLang="zh-CN" sz="2400" b="1" i="1">
                <a:latin typeface="Times New Roman" panose="02020503050405090304" pitchFamily="18" charset="0"/>
              </a:rPr>
              <a:t>a</a:t>
            </a:r>
            <a:r>
              <a:rPr kumimoji="1" lang="en-US" altLang="zh-CN" sz="2400" b="1">
                <a:latin typeface="Times New Roman" panose="02020503050405090304" pitchFamily="18" charset="0"/>
              </a:rPr>
              <a:t>&lt;80?</a:t>
            </a:r>
            <a:endParaRPr kumimoji="1" lang="en-US" altLang="zh-CN" sz="2400" b="1">
              <a:latin typeface="Times New Roman" panose="02020503050405090304" pitchFamily="18" charset="0"/>
            </a:endParaRPr>
          </a:p>
        </p:txBody>
      </p:sp>
      <p:sp>
        <p:nvSpPr>
          <p:cNvPr id="312390" name="Text Box 70"/>
          <p:cNvSpPr txBox="1">
            <a:spLocks noChangeArrowheads="1"/>
          </p:cNvSpPr>
          <p:nvPr/>
        </p:nvSpPr>
        <p:spPr bwMode="auto">
          <a:xfrm>
            <a:off x="2381250" y="4425950"/>
            <a:ext cx="682625" cy="404813"/>
          </a:xfrm>
          <a:prstGeom prst="rect">
            <a:avLst/>
          </a:prstGeom>
          <a:noFill/>
          <a:ln w="38100">
            <a:solidFill>
              <a:srgbClr val="009900"/>
            </a:solidFill>
            <a:miter lim="800000"/>
          </a:ln>
          <a:effectLst/>
        </p:spPr>
        <p:txBody>
          <a:bodyPr wrap="none" anchor="ctr">
            <a:spAutoFit/>
          </a:bodyPr>
          <a:lstStyle/>
          <a:p>
            <a:pPr>
              <a:defRPr/>
            </a:pPr>
            <a:r>
              <a:rPr kumimoji="1" lang="zh-CN" altLang="en-US" b="1">
                <a:solidFill>
                  <a:srgbClr val="660066"/>
                </a:solidFill>
                <a:effectLst>
                  <a:outerShdw blurRad="38100" dist="38100" dir="2700000" algn="tl">
                    <a:srgbClr val="C0C0C0"/>
                  </a:outerShdw>
                </a:effectLst>
                <a:latin typeface="Times New Roman" panose="02020503050405090304" pitchFamily="18" charset="0"/>
              </a:rPr>
              <a:t>及格</a:t>
            </a:r>
            <a:endParaRPr kumimoji="1" lang="zh-CN" altLang="en-US">
              <a:solidFill>
                <a:srgbClr val="660066"/>
              </a:solidFill>
              <a:latin typeface="Times New Roman" panose="02020503050405090304" pitchFamily="18" charset="0"/>
            </a:endParaRPr>
          </a:p>
        </p:txBody>
      </p:sp>
      <p:sp>
        <p:nvSpPr>
          <p:cNvPr id="27719" name="AutoShape 71"/>
          <p:cNvSpPr>
            <a:spLocks noChangeArrowheads="1"/>
          </p:cNvSpPr>
          <p:nvPr/>
        </p:nvSpPr>
        <p:spPr bwMode="auto">
          <a:xfrm>
            <a:off x="5486400" y="4978400"/>
            <a:ext cx="1403350" cy="457200"/>
          </a:xfrm>
          <a:prstGeom prst="flowChartDecision">
            <a:avLst/>
          </a:prstGeom>
          <a:gradFill rotWithShape="0">
            <a:gsLst>
              <a:gs pos="0">
                <a:srgbClr val="DDEBCF"/>
              </a:gs>
              <a:gs pos="50000">
                <a:srgbClr val="9CB86E"/>
              </a:gs>
              <a:gs pos="100000">
                <a:srgbClr val="156B13"/>
              </a:gs>
            </a:gsLst>
            <a:lin ang="5400000" scaled="1"/>
          </a:gradFill>
          <a:ln w="12700">
            <a:solidFill>
              <a:srgbClr val="009900"/>
            </a:solidFill>
            <a:miter lim="800000"/>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kumimoji="1" lang="en-US" altLang="zh-CN" sz="2400" b="1" i="1">
                <a:latin typeface="Times New Roman" panose="02020503050405090304" pitchFamily="18" charset="0"/>
              </a:rPr>
              <a:t>a</a:t>
            </a:r>
            <a:r>
              <a:rPr kumimoji="1" lang="en-US" altLang="zh-CN" sz="2400" b="1">
                <a:latin typeface="Times New Roman" panose="02020503050405090304" pitchFamily="18" charset="0"/>
              </a:rPr>
              <a:t>&lt;90?</a:t>
            </a:r>
            <a:endParaRPr kumimoji="1" lang="en-US" altLang="zh-CN" sz="2400" b="1">
              <a:latin typeface="Times New Roman" panose="02020503050405090304" pitchFamily="18" charset="0"/>
            </a:endParaRPr>
          </a:p>
        </p:txBody>
      </p:sp>
      <p:sp>
        <p:nvSpPr>
          <p:cNvPr id="312392" name="Text Box 72"/>
          <p:cNvSpPr txBox="1">
            <a:spLocks noChangeArrowheads="1"/>
          </p:cNvSpPr>
          <p:nvPr/>
        </p:nvSpPr>
        <p:spPr bwMode="auto">
          <a:xfrm>
            <a:off x="3562350" y="4959350"/>
            <a:ext cx="682625" cy="404813"/>
          </a:xfrm>
          <a:prstGeom prst="rect">
            <a:avLst/>
          </a:prstGeom>
          <a:noFill/>
          <a:ln w="38100">
            <a:solidFill>
              <a:srgbClr val="009900"/>
            </a:solidFill>
            <a:miter lim="800000"/>
          </a:ln>
          <a:effectLst/>
        </p:spPr>
        <p:txBody>
          <a:bodyPr wrap="none" anchor="ctr">
            <a:spAutoFit/>
          </a:bodyPr>
          <a:lstStyle/>
          <a:p>
            <a:pPr>
              <a:defRPr/>
            </a:pPr>
            <a:r>
              <a:rPr kumimoji="1" lang="zh-CN" altLang="en-US" b="1">
                <a:solidFill>
                  <a:srgbClr val="660066"/>
                </a:solidFill>
                <a:effectLst>
                  <a:outerShdw blurRad="38100" dist="38100" dir="2700000" algn="tl">
                    <a:srgbClr val="C0C0C0"/>
                  </a:outerShdw>
                </a:effectLst>
                <a:latin typeface="Times New Roman" panose="02020503050405090304" pitchFamily="18" charset="0"/>
              </a:rPr>
              <a:t>中等</a:t>
            </a:r>
            <a:endParaRPr kumimoji="1" lang="zh-CN" altLang="en-US">
              <a:solidFill>
                <a:srgbClr val="660066"/>
              </a:solidFill>
              <a:latin typeface="Times New Roman" panose="02020503050405090304" pitchFamily="18" charset="0"/>
            </a:endParaRPr>
          </a:p>
        </p:txBody>
      </p:sp>
      <p:sp>
        <p:nvSpPr>
          <p:cNvPr id="312393" name="Text Box 73"/>
          <p:cNvSpPr txBox="1">
            <a:spLocks noChangeArrowheads="1"/>
          </p:cNvSpPr>
          <p:nvPr/>
        </p:nvSpPr>
        <p:spPr bwMode="auto">
          <a:xfrm>
            <a:off x="4629150" y="5492750"/>
            <a:ext cx="682625" cy="404813"/>
          </a:xfrm>
          <a:prstGeom prst="rect">
            <a:avLst/>
          </a:prstGeom>
          <a:noFill/>
          <a:ln w="38100">
            <a:solidFill>
              <a:srgbClr val="009900"/>
            </a:solidFill>
            <a:miter lim="800000"/>
          </a:ln>
          <a:effectLst/>
        </p:spPr>
        <p:txBody>
          <a:bodyPr wrap="none" anchor="ctr">
            <a:spAutoFit/>
          </a:bodyPr>
          <a:lstStyle/>
          <a:p>
            <a:pPr>
              <a:defRPr/>
            </a:pPr>
            <a:r>
              <a:rPr kumimoji="1" lang="zh-CN" altLang="en-US" b="1">
                <a:solidFill>
                  <a:srgbClr val="660066"/>
                </a:solidFill>
                <a:effectLst>
                  <a:outerShdw blurRad="38100" dist="38100" dir="2700000" algn="tl">
                    <a:srgbClr val="C0C0C0"/>
                  </a:outerShdw>
                </a:effectLst>
                <a:latin typeface="Times New Roman" panose="02020503050405090304" pitchFamily="18" charset="0"/>
              </a:rPr>
              <a:t>良好</a:t>
            </a:r>
            <a:endParaRPr kumimoji="1" lang="zh-CN" altLang="en-US">
              <a:solidFill>
                <a:srgbClr val="660066"/>
              </a:solidFill>
              <a:latin typeface="Times New Roman" panose="02020503050405090304" pitchFamily="18" charset="0"/>
            </a:endParaRPr>
          </a:p>
        </p:txBody>
      </p:sp>
      <p:sp>
        <p:nvSpPr>
          <p:cNvPr id="312394" name="Text Box 74"/>
          <p:cNvSpPr txBox="1">
            <a:spLocks noChangeArrowheads="1"/>
          </p:cNvSpPr>
          <p:nvPr/>
        </p:nvSpPr>
        <p:spPr bwMode="auto">
          <a:xfrm>
            <a:off x="6991350" y="5492750"/>
            <a:ext cx="682625" cy="404813"/>
          </a:xfrm>
          <a:prstGeom prst="rect">
            <a:avLst/>
          </a:prstGeom>
          <a:noFill/>
          <a:ln w="38100">
            <a:solidFill>
              <a:srgbClr val="009900"/>
            </a:solidFill>
            <a:miter lim="800000"/>
          </a:ln>
          <a:effectLst/>
        </p:spPr>
        <p:txBody>
          <a:bodyPr wrap="none" anchor="ctr">
            <a:spAutoFit/>
          </a:bodyPr>
          <a:lstStyle/>
          <a:p>
            <a:pPr>
              <a:defRPr/>
            </a:pPr>
            <a:r>
              <a:rPr kumimoji="1" lang="zh-CN" altLang="en-US" b="1">
                <a:solidFill>
                  <a:srgbClr val="660066"/>
                </a:solidFill>
                <a:effectLst>
                  <a:outerShdw blurRad="38100" dist="38100" dir="2700000" algn="tl">
                    <a:srgbClr val="C0C0C0"/>
                  </a:outerShdw>
                </a:effectLst>
                <a:latin typeface="Times New Roman" panose="02020503050405090304" pitchFamily="18" charset="0"/>
              </a:rPr>
              <a:t>优秀</a:t>
            </a:r>
            <a:endParaRPr kumimoji="1" lang="zh-CN" altLang="en-US">
              <a:solidFill>
                <a:srgbClr val="660066"/>
              </a:solidFill>
              <a:latin typeface="Times New Roman" panose="02020503050405090304" pitchFamily="18" charset="0"/>
            </a:endParaRPr>
          </a:p>
        </p:txBody>
      </p:sp>
      <p:sp>
        <p:nvSpPr>
          <p:cNvPr id="312395" name="AutoShape 75"/>
          <p:cNvSpPr>
            <a:spLocks noChangeArrowheads="1"/>
          </p:cNvSpPr>
          <p:nvPr/>
        </p:nvSpPr>
        <p:spPr bwMode="auto">
          <a:xfrm>
            <a:off x="6477000" y="3683000"/>
            <a:ext cx="1752600" cy="533400"/>
          </a:xfrm>
          <a:prstGeom prst="wedgeRoundRectCallout">
            <a:avLst>
              <a:gd name="adj1" fmla="val -54708"/>
              <a:gd name="adj2" fmla="val 99106"/>
              <a:gd name="adj3" fmla="val 16667"/>
            </a:avLst>
          </a:prstGeom>
          <a:solidFill>
            <a:srgbClr val="CCFF66"/>
          </a:solidFill>
          <a:ln w="28575">
            <a:solidFill>
              <a:schemeClr val="tx2"/>
            </a:solidFill>
            <a:miter lim="800000"/>
          </a:ln>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kumimoji="1" lang="en-US" altLang="zh-CN" sz="2400" b="1">
                <a:solidFill>
                  <a:srgbClr val="0000FF"/>
                </a:solidFill>
                <a:latin typeface="Times New Roman" panose="02020503050405090304" pitchFamily="18" charset="0"/>
              </a:rPr>
              <a:t>WPL=3.15</a:t>
            </a:r>
            <a:endParaRPr kumimoji="1" lang="en-US" altLang="zh-CN" sz="2400" b="1">
              <a:solidFill>
                <a:srgbClr val="0000FF"/>
              </a:solidFill>
              <a:latin typeface="Times New Roman" panose="02020503050405090304" pitchFamily="18" charset="0"/>
            </a:endParaRPr>
          </a:p>
        </p:txBody>
      </p:sp>
      <p:sp>
        <p:nvSpPr>
          <p:cNvPr id="27724" name="页脚占位符 3"/>
          <p:cNvSpPr txBox="1">
            <a:spLocks noGrp="1"/>
          </p:cNvSpPr>
          <p:nvPr/>
        </p:nvSpPr>
        <p:spPr bwMode="auto">
          <a:xfrm>
            <a:off x="3492500" y="6381750"/>
            <a:ext cx="3816350"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r>
              <a:rPr lang="en-US" altLang="zh-CN" sz="1400"/>
              <a:t>Algorithms Design Techniques and Analysis</a:t>
            </a:r>
            <a:endParaRPr lang="en-US" altLang="zh-CN" sz="14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8" presetClass="entr" presetSubtype="3" fill="hold" grpId="0" nodeType="clickEffect">
                                  <p:stCondLst>
                                    <p:cond delay="0"/>
                                  </p:stCondLst>
                                  <p:childTnLst>
                                    <p:set>
                                      <p:cBhvr>
                                        <p:cTn id="6" dur="1" fill="hold">
                                          <p:stCondLst>
                                            <p:cond delay="0"/>
                                          </p:stCondLst>
                                        </p:cTn>
                                        <p:tgtEl>
                                          <p:spTgt spid="312395"/>
                                        </p:tgtEl>
                                        <p:attrNameLst>
                                          <p:attrName>style.visibility</p:attrName>
                                        </p:attrNameLst>
                                      </p:cBhvr>
                                      <p:to>
                                        <p:strVal val="visible"/>
                                      </p:to>
                                    </p:set>
                                    <p:animEffect transition="in" filter="strips(upRight)">
                                      <p:cBhvr>
                                        <p:cTn id="7" dur="500"/>
                                        <p:tgtEl>
                                          <p:spTgt spid="31239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2395" grpId="0" animBg="1" autoUpdateAnimBg="0"/>
    </p:bldLst>
  </p:timing>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2"/>
          <p:cNvSpPr>
            <a:spLocks noGrp="1" noChangeArrowheads="1"/>
          </p:cNvSpPr>
          <p:nvPr>
            <p:ph type="title"/>
          </p:nvPr>
        </p:nvSpPr>
        <p:spPr/>
        <p:txBody>
          <a:bodyPr/>
          <a:lstStyle/>
          <a:p>
            <a:r>
              <a:rPr lang="en-US" altLang="zh-CN" sz="3600" dirty="0">
                <a:solidFill>
                  <a:srgbClr val="333399"/>
                </a:solidFill>
              </a:rPr>
              <a:t>1.4.</a:t>
            </a:r>
            <a:r>
              <a:rPr lang="en-US" altLang="zh-CN" sz="3600" dirty="0" smtClean="0"/>
              <a:t>7 </a:t>
            </a:r>
            <a:r>
              <a:rPr lang="zh-CN" altLang="en-US" sz="3600" dirty="0" smtClean="0"/>
              <a:t>赫夫曼树及其应用</a:t>
            </a:r>
            <a:endParaRPr lang="en-US" altLang="zh-CN" sz="2000" dirty="0" smtClean="0"/>
          </a:p>
        </p:txBody>
      </p:sp>
      <p:sp>
        <p:nvSpPr>
          <p:cNvPr id="28676" name="Rectangle 3"/>
          <p:cNvSpPr>
            <a:spLocks noGrp="1" noChangeArrowheads="1"/>
          </p:cNvSpPr>
          <p:nvPr>
            <p:ph type="body" idx="1"/>
          </p:nvPr>
        </p:nvSpPr>
        <p:spPr>
          <a:xfrm>
            <a:off x="1066800" y="1285875"/>
            <a:ext cx="7924800" cy="496888"/>
          </a:xfrm>
        </p:spPr>
        <p:txBody>
          <a:bodyPr/>
          <a:lstStyle/>
          <a:p>
            <a:pPr>
              <a:lnSpc>
                <a:spcPct val="90000"/>
              </a:lnSpc>
            </a:pPr>
            <a:r>
              <a:rPr lang="zh-CN" altLang="en-US" sz="2800" smtClean="0"/>
              <a:t>赫夫曼树的应用——最佳判定算法</a:t>
            </a:r>
            <a:endParaRPr lang="zh-CN" altLang="en-US" sz="2800" smtClean="0"/>
          </a:p>
        </p:txBody>
      </p:sp>
      <p:graphicFrame>
        <p:nvGraphicFramePr>
          <p:cNvPr id="28674" name="Object 2"/>
          <p:cNvGraphicFramePr>
            <a:graphicFrameLocks noChangeAspect="1"/>
          </p:cNvGraphicFramePr>
          <p:nvPr/>
        </p:nvGraphicFramePr>
        <p:xfrm>
          <a:off x="4514850" y="2589213"/>
          <a:ext cx="114300" cy="215900"/>
        </p:xfrm>
        <a:graphic>
          <a:graphicData uri="http://schemas.openxmlformats.org/presentationml/2006/ole">
            <mc:AlternateContent xmlns:mc="http://schemas.openxmlformats.org/markup-compatibility/2006">
              <mc:Choice xmlns:v="urn:schemas-microsoft-com:vml" Requires="v">
                <p:oleObj spid="_x0000_s50186" name="Equation" r:id="rId1" imgW="114300" imgH="215900" progId="Equation.3">
                  <p:embed/>
                </p:oleObj>
              </mc:Choice>
              <mc:Fallback>
                <p:oleObj name="Equation" r:id="rId1" imgW="114300" imgH="215900" progId="Equation.3">
                  <p:embed/>
                  <p:pic>
                    <p:nvPicPr>
                      <p:cNvPr id="0" name="Object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14850" y="2589213"/>
                        <a:ext cx="114300" cy="215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13350" name="Text Box 6"/>
          <p:cNvSpPr txBox="1">
            <a:spLocks noChangeArrowheads="1"/>
          </p:cNvSpPr>
          <p:nvPr/>
        </p:nvSpPr>
        <p:spPr bwMode="auto">
          <a:xfrm>
            <a:off x="5238750" y="4964113"/>
            <a:ext cx="912813" cy="404812"/>
          </a:xfrm>
          <a:prstGeom prst="rect">
            <a:avLst/>
          </a:prstGeom>
          <a:noFill/>
          <a:ln w="38100">
            <a:solidFill>
              <a:srgbClr val="009900"/>
            </a:solidFill>
            <a:miter lim="800000"/>
          </a:ln>
          <a:effectLst/>
        </p:spPr>
        <p:txBody>
          <a:bodyPr wrap="none" anchor="ctr">
            <a:spAutoFit/>
          </a:bodyPr>
          <a:lstStyle/>
          <a:p>
            <a:pPr>
              <a:defRPr/>
            </a:pPr>
            <a:r>
              <a:rPr kumimoji="1" lang="zh-CN" altLang="en-US" b="1">
                <a:solidFill>
                  <a:srgbClr val="660066"/>
                </a:solidFill>
                <a:effectLst>
                  <a:outerShdw blurRad="38100" dist="38100" dir="2700000" algn="tl">
                    <a:srgbClr val="C0C0C0"/>
                  </a:outerShdw>
                </a:effectLst>
                <a:latin typeface="Times New Roman" panose="02020503050405090304" pitchFamily="18" charset="0"/>
              </a:rPr>
              <a:t>不及格</a:t>
            </a:r>
            <a:endParaRPr kumimoji="1" lang="zh-CN" altLang="en-US">
              <a:solidFill>
                <a:srgbClr val="660066"/>
              </a:solidFill>
              <a:latin typeface="Times New Roman" panose="02020503050405090304" pitchFamily="18" charset="0"/>
            </a:endParaRPr>
          </a:p>
        </p:txBody>
      </p:sp>
      <p:sp>
        <p:nvSpPr>
          <p:cNvPr id="28678" name="Text Box 7"/>
          <p:cNvSpPr txBox="1">
            <a:spLocks noChangeArrowheads="1"/>
          </p:cNvSpPr>
          <p:nvPr/>
        </p:nvSpPr>
        <p:spPr bwMode="auto">
          <a:xfrm>
            <a:off x="5410200" y="5364163"/>
            <a:ext cx="62865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kumimoji="1" lang="zh-CN" altLang="en-US" sz="2000" b="1">
                <a:solidFill>
                  <a:srgbClr val="000099"/>
                </a:solidFill>
                <a:latin typeface="Times New Roman" panose="02020503050405090304" pitchFamily="18" charset="0"/>
              </a:rPr>
              <a:t>0.05</a:t>
            </a:r>
            <a:endParaRPr kumimoji="1" lang="zh-CN" altLang="en-US">
              <a:latin typeface="Times New Roman" panose="02020503050405090304" pitchFamily="18" charset="0"/>
            </a:endParaRPr>
          </a:p>
        </p:txBody>
      </p:sp>
      <p:sp>
        <p:nvSpPr>
          <p:cNvPr id="28679" name="Text Box 8"/>
          <p:cNvSpPr txBox="1">
            <a:spLocks noChangeArrowheads="1"/>
          </p:cNvSpPr>
          <p:nvPr/>
        </p:nvSpPr>
        <p:spPr bwMode="auto">
          <a:xfrm>
            <a:off x="6515100" y="4602163"/>
            <a:ext cx="62865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kumimoji="1" lang="zh-CN" altLang="en-US" sz="2000" b="1">
                <a:solidFill>
                  <a:srgbClr val="000099"/>
                </a:solidFill>
                <a:latin typeface="Times New Roman" panose="02020503050405090304" pitchFamily="18" charset="0"/>
              </a:rPr>
              <a:t>0.15</a:t>
            </a:r>
            <a:endParaRPr kumimoji="1" lang="zh-CN" altLang="en-US">
              <a:latin typeface="Times New Roman" panose="02020503050405090304" pitchFamily="18" charset="0"/>
            </a:endParaRPr>
          </a:p>
        </p:txBody>
      </p:sp>
      <p:sp>
        <p:nvSpPr>
          <p:cNvPr id="28680" name="Text Box 9"/>
          <p:cNvSpPr txBox="1">
            <a:spLocks noChangeArrowheads="1"/>
          </p:cNvSpPr>
          <p:nvPr/>
        </p:nvSpPr>
        <p:spPr bwMode="auto">
          <a:xfrm>
            <a:off x="2743200" y="3062288"/>
            <a:ext cx="62865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kumimoji="1" lang="zh-CN" altLang="en-US" sz="2000" b="1">
                <a:solidFill>
                  <a:srgbClr val="000099"/>
                </a:solidFill>
                <a:latin typeface="Times New Roman" panose="02020503050405090304" pitchFamily="18" charset="0"/>
              </a:rPr>
              <a:t>0.40</a:t>
            </a:r>
            <a:endParaRPr kumimoji="1" lang="zh-CN" altLang="en-US">
              <a:latin typeface="Times New Roman" panose="02020503050405090304" pitchFamily="18" charset="0"/>
            </a:endParaRPr>
          </a:p>
        </p:txBody>
      </p:sp>
      <p:sp>
        <p:nvSpPr>
          <p:cNvPr id="28681" name="Text Box 10"/>
          <p:cNvSpPr txBox="1">
            <a:spLocks noChangeArrowheads="1"/>
          </p:cNvSpPr>
          <p:nvPr/>
        </p:nvSpPr>
        <p:spPr bwMode="auto">
          <a:xfrm>
            <a:off x="3581400" y="3824288"/>
            <a:ext cx="62865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kumimoji="1" lang="zh-CN" altLang="en-US" sz="2000" b="1">
                <a:solidFill>
                  <a:srgbClr val="000099"/>
                </a:solidFill>
                <a:latin typeface="Times New Roman" panose="02020503050405090304" pitchFamily="18" charset="0"/>
              </a:rPr>
              <a:t>0.30</a:t>
            </a:r>
            <a:endParaRPr kumimoji="1" lang="zh-CN" altLang="en-US">
              <a:latin typeface="Times New Roman" panose="02020503050405090304" pitchFamily="18" charset="0"/>
            </a:endParaRPr>
          </a:p>
        </p:txBody>
      </p:sp>
      <p:sp>
        <p:nvSpPr>
          <p:cNvPr id="28682" name="Text Box 11"/>
          <p:cNvSpPr txBox="1">
            <a:spLocks noChangeArrowheads="1"/>
          </p:cNvSpPr>
          <p:nvPr/>
        </p:nvSpPr>
        <p:spPr bwMode="auto">
          <a:xfrm>
            <a:off x="3733800" y="5348288"/>
            <a:ext cx="62865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0000"/>
                </a:solidFill>
                <a:miter lim="800000"/>
                <a:headEnd/>
                <a:tailEnd/>
              </a14:hiddenLine>
            </a:ext>
          </a:extLst>
        </p:spPr>
        <p:txBody>
          <a:bodyPr wrap="none" anchor="ctr">
            <a:spAutoFit/>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kumimoji="1" lang="zh-CN" altLang="en-US" sz="2000" b="1">
                <a:solidFill>
                  <a:srgbClr val="000099"/>
                </a:solidFill>
                <a:latin typeface="Times New Roman" panose="02020503050405090304" pitchFamily="18" charset="0"/>
              </a:rPr>
              <a:t>0.10</a:t>
            </a:r>
            <a:endParaRPr kumimoji="1" lang="zh-CN" altLang="en-US">
              <a:latin typeface="Times New Roman" panose="02020503050405090304" pitchFamily="18" charset="0"/>
            </a:endParaRPr>
          </a:p>
        </p:txBody>
      </p:sp>
      <p:sp>
        <p:nvSpPr>
          <p:cNvPr id="313356" name="Text Box 12"/>
          <p:cNvSpPr txBox="1">
            <a:spLocks noChangeArrowheads="1"/>
          </p:cNvSpPr>
          <p:nvPr/>
        </p:nvSpPr>
        <p:spPr bwMode="auto">
          <a:xfrm>
            <a:off x="6457950" y="4202113"/>
            <a:ext cx="682625" cy="404812"/>
          </a:xfrm>
          <a:prstGeom prst="rect">
            <a:avLst/>
          </a:prstGeom>
          <a:noFill/>
          <a:ln w="38100">
            <a:solidFill>
              <a:srgbClr val="009900"/>
            </a:solidFill>
            <a:miter lim="800000"/>
          </a:ln>
          <a:effectLst/>
        </p:spPr>
        <p:txBody>
          <a:bodyPr wrap="none" anchor="ctr">
            <a:spAutoFit/>
          </a:bodyPr>
          <a:lstStyle/>
          <a:p>
            <a:pPr>
              <a:defRPr/>
            </a:pPr>
            <a:r>
              <a:rPr kumimoji="1" lang="zh-CN" altLang="en-US" b="1">
                <a:solidFill>
                  <a:srgbClr val="660066"/>
                </a:solidFill>
                <a:effectLst>
                  <a:outerShdw blurRad="38100" dist="38100" dir="2700000" algn="tl">
                    <a:srgbClr val="C0C0C0"/>
                  </a:outerShdw>
                </a:effectLst>
                <a:latin typeface="Times New Roman" panose="02020503050405090304" pitchFamily="18" charset="0"/>
              </a:rPr>
              <a:t>及格</a:t>
            </a:r>
            <a:endParaRPr kumimoji="1" lang="zh-CN" altLang="en-US">
              <a:solidFill>
                <a:srgbClr val="660066"/>
              </a:solidFill>
              <a:latin typeface="Times New Roman" panose="02020503050405090304" pitchFamily="18" charset="0"/>
            </a:endParaRPr>
          </a:p>
        </p:txBody>
      </p:sp>
      <p:sp>
        <p:nvSpPr>
          <p:cNvPr id="313357" name="Text Box 13"/>
          <p:cNvSpPr txBox="1">
            <a:spLocks noChangeArrowheads="1"/>
          </p:cNvSpPr>
          <p:nvPr/>
        </p:nvSpPr>
        <p:spPr bwMode="auto">
          <a:xfrm>
            <a:off x="2647950" y="2662238"/>
            <a:ext cx="682625" cy="404812"/>
          </a:xfrm>
          <a:prstGeom prst="rect">
            <a:avLst/>
          </a:prstGeom>
          <a:noFill/>
          <a:ln w="38100">
            <a:solidFill>
              <a:srgbClr val="009900"/>
            </a:solidFill>
            <a:miter lim="800000"/>
          </a:ln>
          <a:effectLst/>
        </p:spPr>
        <p:txBody>
          <a:bodyPr wrap="none" anchor="ctr">
            <a:spAutoFit/>
          </a:bodyPr>
          <a:lstStyle/>
          <a:p>
            <a:pPr>
              <a:defRPr/>
            </a:pPr>
            <a:r>
              <a:rPr kumimoji="1" lang="zh-CN" altLang="en-US" b="1">
                <a:solidFill>
                  <a:srgbClr val="660066"/>
                </a:solidFill>
                <a:effectLst>
                  <a:outerShdw blurRad="38100" dist="38100" dir="2700000" algn="tl">
                    <a:srgbClr val="C0C0C0"/>
                  </a:outerShdw>
                </a:effectLst>
                <a:latin typeface="Times New Roman" panose="02020503050405090304" pitchFamily="18" charset="0"/>
              </a:rPr>
              <a:t>中等</a:t>
            </a:r>
            <a:endParaRPr kumimoji="1" lang="zh-CN" altLang="en-US">
              <a:solidFill>
                <a:srgbClr val="660066"/>
              </a:solidFill>
              <a:latin typeface="Times New Roman" panose="02020503050405090304" pitchFamily="18" charset="0"/>
            </a:endParaRPr>
          </a:p>
        </p:txBody>
      </p:sp>
      <p:sp>
        <p:nvSpPr>
          <p:cNvPr id="313358" name="Text Box 14"/>
          <p:cNvSpPr txBox="1">
            <a:spLocks noChangeArrowheads="1"/>
          </p:cNvSpPr>
          <p:nvPr/>
        </p:nvSpPr>
        <p:spPr bwMode="auto">
          <a:xfrm>
            <a:off x="3562350" y="3440113"/>
            <a:ext cx="682625" cy="404812"/>
          </a:xfrm>
          <a:prstGeom prst="rect">
            <a:avLst/>
          </a:prstGeom>
          <a:noFill/>
          <a:ln w="38100">
            <a:solidFill>
              <a:srgbClr val="009900"/>
            </a:solidFill>
            <a:miter lim="800000"/>
          </a:ln>
          <a:effectLst/>
        </p:spPr>
        <p:txBody>
          <a:bodyPr wrap="none" anchor="ctr">
            <a:spAutoFit/>
          </a:bodyPr>
          <a:lstStyle/>
          <a:p>
            <a:pPr>
              <a:defRPr/>
            </a:pPr>
            <a:r>
              <a:rPr kumimoji="1" lang="zh-CN" altLang="en-US" b="1">
                <a:solidFill>
                  <a:srgbClr val="660066"/>
                </a:solidFill>
                <a:effectLst>
                  <a:outerShdw blurRad="38100" dist="38100" dir="2700000" algn="tl">
                    <a:srgbClr val="C0C0C0"/>
                  </a:outerShdw>
                </a:effectLst>
                <a:latin typeface="Times New Roman" panose="02020503050405090304" pitchFamily="18" charset="0"/>
              </a:rPr>
              <a:t>良好</a:t>
            </a:r>
            <a:endParaRPr kumimoji="1" lang="zh-CN" altLang="en-US">
              <a:solidFill>
                <a:srgbClr val="660066"/>
              </a:solidFill>
              <a:latin typeface="Times New Roman" panose="02020503050405090304" pitchFamily="18" charset="0"/>
            </a:endParaRPr>
          </a:p>
        </p:txBody>
      </p:sp>
      <p:sp>
        <p:nvSpPr>
          <p:cNvPr id="313359" name="Text Box 15"/>
          <p:cNvSpPr txBox="1">
            <a:spLocks noChangeArrowheads="1"/>
          </p:cNvSpPr>
          <p:nvPr/>
        </p:nvSpPr>
        <p:spPr bwMode="auto">
          <a:xfrm>
            <a:off x="3695700" y="4964113"/>
            <a:ext cx="682625" cy="404812"/>
          </a:xfrm>
          <a:prstGeom prst="rect">
            <a:avLst/>
          </a:prstGeom>
          <a:noFill/>
          <a:ln w="38100">
            <a:solidFill>
              <a:srgbClr val="009900"/>
            </a:solidFill>
            <a:miter lim="800000"/>
          </a:ln>
          <a:effectLst/>
        </p:spPr>
        <p:txBody>
          <a:bodyPr wrap="none" anchor="ctr">
            <a:spAutoFit/>
          </a:bodyPr>
          <a:lstStyle/>
          <a:p>
            <a:pPr>
              <a:defRPr/>
            </a:pPr>
            <a:r>
              <a:rPr kumimoji="1" lang="zh-CN" altLang="en-US" b="1">
                <a:solidFill>
                  <a:srgbClr val="660066"/>
                </a:solidFill>
                <a:effectLst>
                  <a:outerShdw blurRad="38100" dist="38100" dir="2700000" algn="tl">
                    <a:srgbClr val="C0C0C0"/>
                  </a:outerShdw>
                </a:effectLst>
                <a:latin typeface="Times New Roman" panose="02020503050405090304" pitchFamily="18" charset="0"/>
              </a:rPr>
              <a:t>优秀</a:t>
            </a:r>
            <a:endParaRPr kumimoji="1" lang="zh-CN" altLang="en-US">
              <a:solidFill>
                <a:srgbClr val="660066"/>
              </a:solidFill>
              <a:latin typeface="Times New Roman" panose="02020503050405090304" pitchFamily="18" charset="0"/>
            </a:endParaRPr>
          </a:p>
        </p:txBody>
      </p:sp>
      <p:sp>
        <p:nvSpPr>
          <p:cNvPr id="313360" name="AutoShape 16"/>
          <p:cNvSpPr>
            <a:spLocks noChangeArrowheads="1"/>
          </p:cNvSpPr>
          <p:nvPr/>
        </p:nvSpPr>
        <p:spPr bwMode="auto">
          <a:xfrm>
            <a:off x="1295400" y="4221163"/>
            <a:ext cx="1752600" cy="533400"/>
          </a:xfrm>
          <a:prstGeom prst="wedgeRoundRectCallout">
            <a:avLst>
              <a:gd name="adj1" fmla="val 60690"/>
              <a:gd name="adj2" fmla="val -104764"/>
              <a:gd name="adj3" fmla="val 16667"/>
            </a:avLst>
          </a:prstGeom>
          <a:solidFill>
            <a:srgbClr val="CCFF66"/>
          </a:solidFill>
          <a:ln w="28575">
            <a:solidFill>
              <a:schemeClr val="tx2"/>
            </a:solidFill>
            <a:miter lim="800000"/>
          </a:ln>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kumimoji="1" lang="en-US" altLang="zh-CN" sz="2400" b="1">
                <a:solidFill>
                  <a:srgbClr val="0000FF"/>
                </a:solidFill>
                <a:latin typeface="Times New Roman" panose="02020503050405090304" pitchFamily="18" charset="0"/>
              </a:rPr>
              <a:t>WPL=2.05</a:t>
            </a:r>
            <a:endParaRPr kumimoji="1" lang="en-US" altLang="zh-CN" sz="2400" b="1">
              <a:solidFill>
                <a:srgbClr val="0000FF"/>
              </a:solidFill>
              <a:latin typeface="Times New Roman" panose="02020503050405090304" pitchFamily="18" charset="0"/>
            </a:endParaRPr>
          </a:p>
        </p:txBody>
      </p:sp>
      <p:sp>
        <p:nvSpPr>
          <p:cNvPr id="28688" name="AutoShape 17"/>
          <p:cNvSpPr>
            <a:spLocks noChangeArrowheads="1"/>
          </p:cNvSpPr>
          <p:nvPr/>
        </p:nvSpPr>
        <p:spPr bwMode="auto">
          <a:xfrm>
            <a:off x="3276600" y="1935163"/>
            <a:ext cx="1676400" cy="381000"/>
          </a:xfrm>
          <a:prstGeom prst="hexagon">
            <a:avLst>
              <a:gd name="adj" fmla="val 110000"/>
              <a:gd name="vf" fmla="val 115470"/>
            </a:avLst>
          </a:prstGeom>
          <a:gradFill rotWithShape="0">
            <a:gsLst>
              <a:gs pos="0">
                <a:srgbClr val="DDEBCF"/>
              </a:gs>
              <a:gs pos="50000">
                <a:srgbClr val="9CB86E"/>
              </a:gs>
              <a:gs pos="100000">
                <a:srgbClr val="156B13"/>
              </a:gs>
            </a:gsLst>
            <a:lin ang="5400000" scaled="1"/>
          </a:gradFill>
          <a:ln w="28575">
            <a:solidFill>
              <a:srgbClr val="009900"/>
            </a:solidFill>
            <a:miter lim="800000"/>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kumimoji="1" lang="zh-CN" altLang="en-US" sz="2400" b="1">
                <a:latin typeface="Times New Roman" panose="02020503050405090304" pitchFamily="18" charset="0"/>
              </a:rPr>
              <a:t>70≤</a:t>
            </a:r>
            <a:r>
              <a:rPr kumimoji="1" lang="en-US" altLang="zh-CN" sz="2400" b="1" i="1">
                <a:latin typeface="Times New Roman" panose="02020503050405090304" pitchFamily="18" charset="0"/>
              </a:rPr>
              <a:t>a</a:t>
            </a:r>
            <a:r>
              <a:rPr kumimoji="1" lang="en-US" altLang="zh-CN" sz="2400" b="1">
                <a:latin typeface="Times New Roman" panose="02020503050405090304" pitchFamily="18" charset="0"/>
              </a:rPr>
              <a:t>&lt;80</a:t>
            </a:r>
            <a:endParaRPr kumimoji="1" lang="en-US" altLang="zh-CN" sz="2400" b="1">
              <a:latin typeface="Times New Roman" panose="02020503050405090304" pitchFamily="18" charset="0"/>
            </a:endParaRPr>
          </a:p>
        </p:txBody>
      </p:sp>
      <p:sp>
        <p:nvSpPr>
          <p:cNvPr id="28689" name="AutoShape 18"/>
          <p:cNvSpPr>
            <a:spLocks noChangeArrowheads="1"/>
          </p:cNvSpPr>
          <p:nvPr/>
        </p:nvSpPr>
        <p:spPr bwMode="auto">
          <a:xfrm>
            <a:off x="4114800" y="2697163"/>
            <a:ext cx="1676400" cy="381000"/>
          </a:xfrm>
          <a:prstGeom prst="hexagon">
            <a:avLst>
              <a:gd name="adj" fmla="val 110000"/>
              <a:gd name="vf" fmla="val 115470"/>
            </a:avLst>
          </a:prstGeom>
          <a:gradFill rotWithShape="0">
            <a:gsLst>
              <a:gs pos="0">
                <a:srgbClr val="DDEBCF"/>
              </a:gs>
              <a:gs pos="50000">
                <a:srgbClr val="9CB86E"/>
              </a:gs>
              <a:gs pos="100000">
                <a:srgbClr val="156B13"/>
              </a:gs>
            </a:gsLst>
            <a:lin ang="5400000" scaled="1"/>
          </a:gradFill>
          <a:ln w="28575">
            <a:solidFill>
              <a:srgbClr val="009900"/>
            </a:solidFill>
            <a:miter lim="800000"/>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kumimoji="1" lang="zh-CN" altLang="en-US" sz="2400" b="1">
                <a:latin typeface="Times New Roman" panose="02020503050405090304" pitchFamily="18" charset="0"/>
              </a:rPr>
              <a:t>80≤</a:t>
            </a:r>
            <a:r>
              <a:rPr kumimoji="1" lang="en-US" altLang="zh-CN" sz="2400" b="1" i="1">
                <a:latin typeface="Times New Roman" panose="02020503050405090304" pitchFamily="18" charset="0"/>
              </a:rPr>
              <a:t>a</a:t>
            </a:r>
            <a:r>
              <a:rPr kumimoji="1" lang="en-US" altLang="zh-CN" sz="2400" b="1">
                <a:latin typeface="Times New Roman" panose="02020503050405090304" pitchFamily="18" charset="0"/>
              </a:rPr>
              <a:t>&lt;90</a:t>
            </a:r>
            <a:endParaRPr kumimoji="1" lang="en-US" altLang="zh-CN" sz="2400" b="1">
              <a:latin typeface="Times New Roman" panose="02020503050405090304" pitchFamily="18" charset="0"/>
            </a:endParaRPr>
          </a:p>
        </p:txBody>
      </p:sp>
      <p:sp>
        <p:nvSpPr>
          <p:cNvPr id="28690" name="Line 19"/>
          <p:cNvSpPr>
            <a:spLocks noChangeShapeType="1"/>
          </p:cNvSpPr>
          <p:nvPr/>
        </p:nvSpPr>
        <p:spPr bwMode="auto">
          <a:xfrm flipH="1">
            <a:off x="3124200" y="2316163"/>
            <a:ext cx="533400" cy="381000"/>
          </a:xfrm>
          <a:prstGeom prst="line">
            <a:avLst/>
          </a:prstGeom>
          <a:noFill/>
          <a:ln w="38100">
            <a:solidFill>
              <a:srgbClr val="009900"/>
            </a:solidFill>
            <a:round/>
          </a:ln>
          <a:extLst>
            <a:ext uri="{909E8E84-426E-40DD-AFC4-6F175D3DCCD1}">
              <a14:hiddenFill xmlns:a14="http://schemas.microsoft.com/office/drawing/2010/main">
                <a:noFill/>
              </a14:hiddenFill>
            </a:ext>
          </a:extLst>
        </p:spPr>
        <p:txBody>
          <a:bodyPr/>
          <a:lstStyle/>
          <a:p>
            <a:endParaRPr lang="zh-CN" altLang="en-US"/>
          </a:p>
        </p:txBody>
      </p:sp>
      <p:sp>
        <p:nvSpPr>
          <p:cNvPr id="28691" name="Line 20"/>
          <p:cNvSpPr>
            <a:spLocks noChangeShapeType="1"/>
          </p:cNvSpPr>
          <p:nvPr/>
        </p:nvSpPr>
        <p:spPr bwMode="auto">
          <a:xfrm>
            <a:off x="4572000" y="2316163"/>
            <a:ext cx="457200" cy="381000"/>
          </a:xfrm>
          <a:prstGeom prst="line">
            <a:avLst/>
          </a:prstGeom>
          <a:noFill/>
          <a:ln w="38100">
            <a:solidFill>
              <a:srgbClr val="009900"/>
            </a:solidFill>
            <a:round/>
          </a:ln>
          <a:extLst>
            <a:ext uri="{909E8E84-426E-40DD-AFC4-6F175D3DCCD1}">
              <a14:hiddenFill xmlns:a14="http://schemas.microsoft.com/office/drawing/2010/main">
                <a:noFill/>
              </a14:hiddenFill>
            </a:ext>
          </a:extLst>
        </p:spPr>
        <p:txBody>
          <a:bodyPr/>
          <a:lstStyle/>
          <a:p>
            <a:endParaRPr lang="zh-CN" altLang="en-US"/>
          </a:p>
        </p:txBody>
      </p:sp>
      <p:sp>
        <p:nvSpPr>
          <p:cNvPr id="313365" name="Text Box 21"/>
          <p:cNvSpPr txBox="1">
            <a:spLocks noChangeArrowheads="1"/>
          </p:cNvSpPr>
          <p:nvPr/>
        </p:nvSpPr>
        <p:spPr bwMode="auto">
          <a:xfrm>
            <a:off x="3048000" y="2239963"/>
            <a:ext cx="368300" cy="396875"/>
          </a:xfrm>
          <a:prstGeom prst="rect">
            <a:avLst/>
          </a:prstGeom>
          <a:noFill/>
          <a:ln w="38100">
            <a:noFill/>
            <a:miter lim="800000"/>
          </a:ln>
          <a:effectLst/>
        </p:spPr>
        <p:txBody>
          <a:bodyPr wrap="none" anchor="ctr">
            <a:spAutoFit/>
          </a:bodyPr>
          <a:lstStyle/>
          <a:p>
            <a:pPr>
              <a:defRPr/>
            </a:pPr>
            <a:r>
              <a:rPr kumimoji="1" lang="en-US" altLang="zh-CN" sz="2000" b="1">
                <a:solidFill>
                  <a:srgbClr val="000099"/>
                </a:solidFill>
                <a:effectLst>
                  <a:outerShdw blurRad="38100" dist="38100" dir="2700000" algn="tl">
                    <a:srgbClr val="C0C0C0"/>
                  </a:outerShdw>
                </a:effectLst>
                <a:latin typeface="Times New Roman" panose="02020503050405090304" pitchFamily="18" charset="0"/>
              </a:rPr>
              <a:t>Y</a:t>
            </a:r>
            <a:endParaRPr kumimoji="1" lang="en-US" altLang="zh-CN" b="1">
              <a:solidFill>
                <a:srgbClr val="000099"/>
              </a:solidFill>
              <a:effectLst>
                <a:outerShdw blurRad="38100" dist="38100" dir="2700000" algn="tl">
                  <a:srgbClr val="C0C0C0"/>
                </a:outerShdw>
              </a:effectLst>
              <a:latin typeface="Times New Roman" panose="02020503050405090304" pitchFamily="18" charset="0"/>
            </a:endParaRPr>
          </a:p>
        </p:txBody>
      </p:sp>
      <p:sp>
        <p:nvSpPr>
          <p:cNvPr id="313366" name="Text Box 22"/>
          <p:cNvSpPr txBox="1">
            <a:spLocks noChangeArrowheads="1"/>
          </p:cNvSpPr>
          <p:nvPr/>
        </p:nvSpPr>
        <p:spPr bwMode="auto">
          <a:xfrm>
            <a:off x="4800600" y="2239963"/>
            <a:ext cx="368300" cy="396875"/>
          </a:xfrm>
          <a:prstGeom prst="rect">
            <a:avLst/>
          </a:prstGeom>
          <a:noFill/>
          <a:ln w="38100">
            <a:noFill/>
            <a:miter lim="800000"/>
          </a:ln>
          <a:effectLst/>
        </p:spPr>
        <p:txBody>
          <a:bodyPr wrap="none" anchor="ctr">
            <a:spAutoFit/>
          </a:bodyPr>
          <a:lstStyle/>
          <a:p>
            <a:pPr>
              <a:defRPr/>
            </a:pPr>
            <a:r>
              <a:rPr kumimoji="1" lang="en-US" altLang="zh-CN" sz="2000" b="1">
                <a:solidFill>
                  <a:srgbClr val="000099"/>
                </a:solidFill>
                <a:effectLst>
                  <a:outerShdw blurRad="38100" dist="38100" dir="2700000" algn="tl">
                    <a:srgbClr val="C0C0C0"/>
                  </a:outerShdw>
                </a:effectLst>
                <a:latin typeface="Times New Roman" panose="02020503050405090304" pitchFamily="18" charset="0"/>
              </a:rPr>
              <a:t>N</a:t>
            </a:r>
            <a:endParaRPr kumimoji="1" lang="en-US" altLang="zh-CN" b="1">
              <a:solidFill>
                <a:srgbClr val="000099"/>
              </a:solidFill>
              <a:effectLst>
                <a:outerShdw blurRad="38100" dist="38100" dir="2700000" algn="tl">
                  <a:srgbClr val="C0C0C0"/>
                </a:outerShdw>
              </a:effectLst>
              <a:latin typeface="Times New Roman" panose="02020503050405090304" pitchFamily="18" charset="0"/>
            </a:endParaRPr>
          </a:p>
        </p:txBody>
      </p:sp>
      <p:sp>
        <p:nvSpPr>
          <p:cNvPr id="28694" name="AutoShape 23"/>
          <p:cNvSpPr>
            <a:spLocks noChangeArrowheads="1"/>
          </p:cNvSpPr>
          <p:nvPr/>
        </p:nvSpPr>
        <p:spPr bwMode="auto">
          <a:xfrm>
            <a:off x="5029200" y="3459163"/>
            <a:ext cx="1676400" cy="381000"/>
          </a:xfrm>
          <a:prstGeom prst="hexagon">
            <a:avLst>
              <a:gd name="adj" fmla="val 110000"/>
              <a:gd name="vf" fmla="val 115470"/>
            </a:avLst>
          </a:prstGeom>
          <a:gradFill rotWithShape="0">
            <a:gsLst>
              <a:gs pos="0">
                <a:srgbClr val="DDEBCF"/>
              </a:gs>
              <a:gs pos="50000">
                <a:srgbClr val="9CB86E"/>
              </a:gs>
              <a:gs pos="100000">
                <a:srgbClr val="156B13"/>
              </a:gs>
            </a:gsLst>
            <a:lin ang="5400000" scaled="1"/>
          </a:gradFill>
          <a:ln w="28575">
            <a:solidFill>
              <a:srgbClr val="009900"/>
            </a:solidFill>
            <a:miter lim="800000"/>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kumimoji="1" lang="zh-CN" altLang="en-US" sz="2400" b="1">
                <a:latin typeface="Times New Roman" panose="02020503050405090304" pitchFamily="18" charset="0"/>
              </a:rPr>
              <a:t>60≤</a:t>
            </a:r>
            <a:r>
              <a:rPr kumimoji="1" lang="en-US" altLang="zh-CN" sz="2400" b="1" i="1">
                <a:latin typeface="Times New Roman" panose="02020503050405090304" pitchFamily="18" charset="0"/>
              </a:rPr>
              <a:t>a</a:t>
            </a:r>
            <a:r>
              <a:rPr kumimoji="1" lang="en-US" altLang="zh-CN" sz="2400" b="1">
                <a:latin typeface="Times New Roman" panose="02020503050405090304" pitchFamily="18" charset="0"/>
              </a:rPr>
              <a:t>&lt;70</a:t>
            </a:r>
            <a:endParaRPr kumimoji="1" lang="en-US" altLang="zh-CN" sz="2400" b="1">
              <a:latin typeface="Times New Roman" panose="02020503050405090304" pitchFamily="18" charset="0"/>
            </a:endParaRPr>
          </a:p>
        </p:txBody>
      </p:sp>
      <p:sp>
        <p:nvSpPr>
          <p:cNvPr id="28695" name="Line 24"/>
          <p:cNvSpPr>
            <a:spLocks noChangeShapeType="1"/>
          </p:cNvSpPr>
          <p:nvPr/>
        </p:nvSpPr>
        <p:spPr bwMode="auto">
          <a:xfrm flipH="1">
            <a:off x="3962400" y="3078163"/>
            <a:ext cx="533400" cy="381000"/>
          </a:xfrm>
          <a:prstGeom prst="line">
            <a:avLst/>
          </a:prstGeom>
          <a:noFill/>
          <a:ln w="38100">
            <a:solidFill>
              <a:srgbClr val="009900"/>
            </a:solidFill>
            <a:round/>
          </a:ln>
          <a:extLst>
            <a:ext uri="{909E8E84-426E-40DD-AFC4-6F175D3DCCD1}">
              <a14:hiddenFill xmlns:a14="http://schemas.microsoft.com/office/drawing/2010/main">
                <a:noFill/>
              </a14:hiddenFill>
            </a:ext>
          </a:extLst>
        </p:spPr>
        <p:txBody>
          <a:bodyPr/>
          <a:lstStyle/>
          <a:p>
            <a:endParaRPr lang="zh-CN" altLang="en-US"/>
          </a:p>
        </p:txBody>
      </p:sp>
      <p:sp>
        <p:nvSpPr>
          <p:cNvPr id="28696" name="Line 25"/>
          <p:cNvSpPr>
            <a:spLocks noChangeShapeType="1"/>
          </p:cNvSpPr>
          <p:nvPr/>
        </p:nvSpPr>
        <p:spPr bwMode="auto">
          <a:xfrm>
            <a:off x="5410200" y="3078163"/>
            <a:ext cx="457200" cy="381000"/>
          </a:xfrm>
          <a:prstGeom prst="line">
            <a:avLst/>
          </a:prstGeom>
          <a:noFill/>
          <a:ln w="38100">
            <a:solidFill>
              <a:srgbClr val="009900"/>
            </a:solidFill>
            <a:round/>
          </a:ln>
          <a:extLst>
            <a:ext uri="{909E8E84-426E-40DD-AFC4-6F175D3DCCD1}">
              <a14:hiddenFill xmlns:a14="http://schemas.microsoft.com/office/drawing/2010/main">
                <a:noFill/>
              </a14:hiddenFill>
            </a:ext>
          </a:extLst>
        </p:spPr>
        <p:txBody>
          <a:bodyPr/>
          <a:lstStyle/>
          <a:p>
            <a:endParaRPr lang="zh-CN" altLang="en-US"/>
          </a:p>
        </p:txBody>
      </p:sp>
      <p:sp>
        <p:nvSpPr>
          <p:cNvPr id="313370" name="Text Box 26"/>
          <p:cNvSpPr txBox="1">
            <a:spLocks noChangeArrowheads="1"/>
          </p:cNvSpPr>
          <p:nvPr/>
        </p:nvSpPr>
        <p:spPr bwMode="auto">
          <a:xfrm>
            <a:off x="3886200" y="3001963"/>
            <a:ext cx="368300" cy="396875"/>
          </a:xfrm>
          <a:prstGeom prst="rect">
            <a:avLst/>
          </a:prstGeom>
          <a:noFill/>
          <a:ln w="38100">
            <a:noFill/>
            <a:miter lim="800000"/>
          </a:ln>
          <a:effectLst/>
        </p:spPr>
        <p:txBody>
          <a:bodyPr wrap="none" anchor="ctr">
            <a:spAutoFit/>
          </a:bodyPr>
          <a:lstStyle/>
          <a:p>
            <a:pPr>
              <a:defRPr/>
            </a:pPr>
            <a:r>
              <a:rPr kumimoji="1" lang="en-US" altLang="zh-CN" sz="2000" b="1">
                <a:solidFill>
                  <a:srgbClr val="000099"/>
                </a:solidFill>
                <a:effectLst>
                  <a:outerShdw blurRad="38100" dist="38100" dir="2700000" algn="tl">
                    <a:srgbClr val="C0C0C0"/>
                  </a:outerShdw>
                </a:effectLst>
                <a:latin typeface="Times New Roman" panose="02020503050405090304" pitchFamily="18" charset="0"/>
              </a:rPr>
              <a:t>Y</a:t>
            </a:r>
            <a:endParaRPr kumimoji="1" lang="en-US" altLang="zh-CN" b="1">
              <a:solidFill>
                <a:srgbClr val="000099"/>
              </a:solidFill>
              <a:effectLst>
                <a:outerShdw blurRad="38100" dist="38100" dir="2700000" algn="tl">
                  <a:srgbClr val="C0C0C0"/>
                </a:outerShdw>
              </a:effectLst>
              <a:latin typeface="Times New Roman" panose="02020503050405090304" pitchFamily="18" charset="0"/>
            </a:endParaRPr>
          </a:p>
        </p:txBody>
      </p:sp>
      <p:sp>
        <p:nvSpPr>
          <p:cNvPr id="313371" name="Text Box 27"/>
          <p:cNvSpPr txBox="1">
            <a:spLocks noChangeArrowheads="1"/>
          </p:cNvSpPr>
          <p:nvPr/>
        </p:nvSpPr>
        <p:spPr bwMode="auto">
          <a:xfrm>
            <a:off x="5638800" y="3001963"/>
            <a:ext cx="368300" cy="396875"/>
          </a:xfrm>
          <a:prstGeom prst="rect">
            <a:avLst/>
          </a:prstGeom>
          <a:noFill/>
          <a:ln w="38100">
            <a:noFill/>
            <a:miter lim="800000"/>
          </a:ln>
          <a:effectLst/>
        </p:spPr>
        <p:txBody>
          <a:bodyPr wrap="none" anchor="ctr">
            <a:spAutoFit/>
          </a:bodyPr>
          <a:lstStyle/>
          <a:p>
            <a:pPr>
              <a:defRPr/>
            </a:pPr>
            <a:r>
              <a:rPr kumimoji="1" lang="en-US" altLang="zh-CN" sz="2000" b="1">
                <a:solidFill>
                  <a:srgbClr val="000099"/>
                </a:solidFill>
                <a:effectLst>
                  <a:outerShdw blurRad="38100" dist="38100" dir="2700000" algn="tl">
                    <a:srgbClr val="C0C0C0"/>
                  </a:outerShdw>
                </a:effectLst>
                <a:latin typeface="Times New Roman" panose="02020503050405090304" pitchFamily="18" charset="0"/>
              </a:rPr>
              <a:t>N</a:t>
            </a:r>
            <a:endParaRPr kumimoji="1" lang="en-US" altLang="zh-CN" b="1">
              <a:solidFill>
                <a:srgbClr val="000099"/>
              </a:solidFill>
              <a:effectLst>
                <a:outerShdw blurRad="38100" dist="38100" dir="2700000" algn="tl">
                  <a:srgbClr val="C0C0C0"/>
                </a:outerShdw>
              </a:effectLst>
              <a:latin typeface="Times New Roman" panose="02020503050405090304" pitchFamily="18" charset="0"/>
            </a:endParaRPr>
          </a:p>
        </p:txBody>
      </p:sp>
      <p:sp>
        <p:nvSpPr>
          <p:cNvPr id="28699" name="AutoShape 28"/>
          <p:cNvSpPr>
            <a:spLocks noChangeArrowheads="1"/>
          </p:cNvSpPr>
          <p:nvPr/>
        </p:nvSpPr>
        <p:spPr bwMode="auto">
          <a:xfrm>
            <a:off x="4343400" y="4221163"/>
            <a:ext cx="1066800" cy="381000"/>
          </a:xfrm>
          <a:prstGeom prst="hexagon">
            <a:avLst>
              <a:gd name="adj" fmla="val 70000"/>
              <a:gd name="vf" fmla="val 115470"/>
            </a:avLst>
          </a:prstGeom>
          <a:gradFill rotWithShape="0">
            <a:gsLst>
              <a:gs pos="0">
                <a:srgbClr val="DDEBCF"/>
              </a:gs>
              <a:gs pos="50000">
                <a:srgbClr val="9CB86E"/>
              </a:gs>
              <a:gs pos="100000">
                <a:srgbClr val="156B13"/>
              </a:gs>
            </a:gsLst>
            <a:lin ang="5400000" scaled="1"/>
          </a:gradFill>
          <a:ln w="28575">
            <a:solidFill>
              <a:srgbClr val="009900"/>
            </a:solidFill>
            <a:miter lim="800000"/>
          </a:ln>
        </p:spPr>
        <p:txBody>
          <a:bodyPr wrap="none" anchor="ct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kumimoji="1" lang="en-US" altLang="zh-CN" sz="2400" b="1" i="1">
                <a:latin typeface="Times New Roman" panose="02020503050405090304" pitchFamily="18" charset="0"/>
              </a:rPr>
              <a:t>a</a:t>
            </a:r>
            <a:r>
              <a:rPr kumimoji="1" lang="en-US" altLang="zh-CN" sz="2400" b="1">
                <a:latin typeface="Times New Roman" panose="02020503050405090304" pitchFamily="18" charset="0"/>
              </a:rPr>
              <a:t>&lt;60</a:t>
            </a:r>
            <a:endParaRPr kumimoji="1" lang="en-US" altLang="zh-CN" sz="2400" b="1">
              <a:latin typeface="Times New Roman" panose="02020503050405090304" pitchFamily="18" charset="0"/>
            </a:endParaRPr>
          </a:p>
        </p:txBody>
      </p:sp>
      <p:sp>
        <p:nvSpPr>
          <p:cNvPr id="28700" name="Line 29"/>
          <p:cNvSpPr>
            <a:spLocks noChangeShapeType="1"/>
          </p:cNvSpPr>
          <p:nvPr/>
        </p:nvSpPr>
        <p:spPr bwMode="auto">
          <a:xfrm flipH="1">
            <a:off x="4876800" y="3840163"/>
            <a:ext cx="533400" cy="381000"/>
          </a:xfrm>
          <a:prstGeom prst="line">
            <a:avLst/>
          </a:prstGeom>
          <a:noFill/>
          <a:ln w="38100">
            <a:solidFill>
              <a:srgbClr val="009900"/>
            </a:solidFill>
            <a:round/>
          </a:ln>
          <a:extLst>
            <a:ext uri="{909E8E84-426E-40DD-AFC4-6F175D3DCCD1}">
              <a14:hiddenFill xmlns:a14="http://schemas.microsoft.com/office/drawing/2010/main">
                <a:noFill/>
              </a14:hiddenFill>
            </a:ext>
          </a:extLst>
        </p:spPr>
        <p:txBody>
          <a:bodyPr/>
          <a:lstStyle/>
          <a:p>
            <a:endParaRPr lang="zh-CN" altLang="en-US"/>
          </a:p>
        </p:txBody>
      </p:sp>
      <p:sp>
        <p:nvSpPr>
          <p:cNvPr id="28701" name="Line 30"/>
          <p:cNvSpPr>
            <a:spLocks noChangeShapeType="1"/>
          </p:cNvSpPr>
          <p:nvPr/>
        </p:nvSpPr>
        <p:spPr bwMode="auto">
          <a:xfrm>
            <a:off x="6324600" y="3840163"/>
            <a:ext cx="457200" cy="381000"/>
          </a:xfrm>
          <a:prstGeom prst="line">
            <a:avLst/>
          </a:prstGeom>
          <a:noFill/>
          <a:ln w="38100">
            <a:solidFill>
              <a:srgbClr val="009900"/>
            </a:solidFill>
            <a:round/>
          </a:ln>
          <a:extLst>
            <a:ext uri="{909E8E84-426E-40DD-AFC4-6F175D3DCCD1}">
              <a14:hiddenFill xmlns:a14="http://schemas.microsoft.com/office/drawing/2010/main">
                <a:noFill/>
              </a14:hiddenFill>
            </a:ext>
          </a:extLst>
        </p:spPr>
        <p:txBody>
          <a:bodyPr/>
          <a:lstStyle/>
          <a:p>
            <a:endParaRPr lang="zh-CN" altLang="en-US"/>
          </a:p>
        </p:txBody>
      </p:sp>
      <p:sp>
        <p:nvSpPr>
          <p:cNvPr id="313375" name="Text Box 31"/>
          <p:cNvSpPr txBox="1">
            <a:spLocks noChangeArrowheads="1"/>
          </p:cNvSpPr>
          <p:nvPr/>
        </p:nvSpPr>
        <p:spPr bwMode="auto">
          <a:xfrm>
            <a:off x="4800600" y="3763963"/>
            <a:ext cx="368300" cy="396875"/>
          </a:xfrm>
          <a:prstGeom prst="rect">
            <a:avLst/>
          </a:prstGeom>
          <a:noFill/>
          <a:ln w="38100">
            <a:noFill/>
            <a:miter lim="800000"/>
          </a:ln>
          <a:effectLst/>
        </p:spPr>
        <p:txBody>
          <a:bodyPr wrap="none" anchor="ctr">
            <a:spAutoFit/>
          </a:bodyPr>
          <a:lstStyle/>
          <a:p>
            <a:pPr>
              <a:defRPr/>
            </a:pPr>
            <a:r>
              <a:rPr kumimoji="1" lang="en-US" altLang="zh-CN" sz="2000" b="1">
                <a:solidFill>
                  <a:srgbClr val="000099"/>
                </a:solidFill>
                <a:effectLst>
                  <a:outerShdw blurRad="38100" dist="38100" dir="2700000" algn="tl">
                    <a:srgbClr val="C0C0C0"/>
                  </a:outerShdw>
                </a:effectLst>
                <a:latin typeface="Times New Roman" panose="02020503050405090304" pitchFamily="18" charset="0"/>
              </a:rPr>
              <a:t>N</a:t>
            </a:r>
            <a:endParaRPr kumimoji="1" lang="en-US" altLang="zh-CN" b="1">
              <a:solidFill>
                <a:srgbClr val="000099"/>
              </a:solidFill>
              <a:effectLst>
                <a:outerShdw blurRad="38100" dist="38100" dir="2700000" algn="tl">
                  <a:srgbClr val="C0C0C0"/>
                </a:outerShdw>
              </a:effectLst>
              <a:latin typeface="Times New Roman" panose="02020503050405090304" pitchFamily="18" charset="0"/>
            </a:endParaRPr>
          </a:p>
        </p:txBody>
      </p:sp>
      <p:sp>
        <p:nvSpPr>
          <p:cNvPr id="313376" name="Text Box 32"/>
          <p:cNvSpPr txBox="1">
            <a:spLocks noChangeArrowheads="1"/>
          </p:cNvSpPr>
          <p:nvPr/>
        </p:nvSpPr>
        <p:spPr bwMode="auto">
          <a:xfrm>
            <a:off x="6553200" y="3763963"/>
            <a:ext cx="368300" cy="396875"/>
          </a:xfrm>
          <a:prstGeom prst="rect">
            <a:avLst/>
          </a:prstGeom>
          <a:noFill/>
          <a:ln w="38100">
            <a:noFill/>
            <a:miter lim="800000"/>
          </a:ln>
          <a:effectLst/>
        </p:spPr>
        <p:txBody>
          <a:bodyPr wrap="none" anchor="ctr">
            <a:spAutoFit/>
          </a:bodyPr>
          <a:lstStyle/>
          <a:p>
            <a:pPr>
              <a:defRPr/>
            </a:pPr>
            <a:r>
              <a:rPr kumimoji="1" lang="en-US" altLang="zh-CN" sz="2000" b="1">
                <a:solidFill>
                  <a:srgbClr val="000099"/>
                </a:solidFill>
                <a:effectLst>
                  <a:outerShdw blurRad="38100" dist="38100" dir="2700000" algn="tl">
                    <a:srgbClr val="C0C0C0"/>
                  </a:outerShdw>
                </a:effectLst>
                <a:latin typeface="Times New Roman" panose="02020503050405090304" pitchFamily="18" charset="0"/>
              </a:rPr>
              <a:t>Y</a:t>
            </a:r>
            <a:endParaRPr kumimoji="1" lang="en-US" altLang="zh-CN" b="1">
              <a:solidFill>
                <a:srgbClr val="000099"/>
              </a:solidFill>
              <a:effectLst>
                <a:outerShdw blurRad="38100" dist="38100" dir="2700000" algn="tl">
                  <a:srgbClr val="C0C0C0"/>
                </a:outerShdw>
              </a:effectLst>
              <a:latin typeface="Times New Roman" panose="02020503050405090304" pitchFamily="18" charset="0"/>
            </a:endParaRPr>
          </a:p>
        </p:txBody>
      </p:sp>
      <p:sp>
        <p:nvSpPr>
          <p:cNvPr id="28704" name="Line 33"/>
          <p:cNvSpPr>
            <a:spLocks noChangeShapeType="1"/>
          </p:cNvSpPr>
          <p:nvPr/>
        </p:nvSpPr>
        <p:spPr bwMode="auto">
          <a:xfrm flipH="1">
            <a:off x="4038600" y="4602163"/>
            <a:ext cx="533400" cy="381000"/>
          </a:xfrm>
          <a:prstGeom prst="line">
            <a:avLst/>
          </a:prstGeom>
          <a:noFill/>
          <a:ln w="38100">
            <a:solidFill>
              <a:srgbClr val="009900"/>
            </a:solidFill>
            <a:round/>
          </a:ln>
          <a:extLst>
            <a:ext uri="{909E8E84-426E-40DD-AFC4-6F175D3DCCD1}">
              <a14:hiddenFill xmlns:a14="http://schemas.microsoft.com/office/drawing/2010/main">
                <a:noFill/>
              </a14:hiddenFill>
            </a:ext>
          </a:extLst>
        </p:spPr>
        <p:txBody>
          <a:bodyPr/>
          <a:lstStyle/>
          <a:p>
            <a:endParaRPr lang="zh-CN" altLang="en-US"/>
          </a:p>
        </p:txBody>
      </p:sp>
      <p:sp>
        <p:nvSpPr>
          <p:cNvPr id="28705" name="Line 34"/>
          <p:cNvSpPr>
            <a:spLocks noChangeShapeType="1"/>
          </p:cNvSpPr>
          <p:nvPr/>
        </p:nvSpPr>
        <p:spPr bwMode="auto">
          <a:xfrm>
            <a:off x="5181600" y="4602163"/>
            <a:ext cx="457200" cy="381000"/>
          </a:xfrm>
          <a:prstGeom prst="line">
            <a:avLst/>
          </a:prstGeom>
          <a:noFill/>
          <a:ln w="38100">
            <a:solidFill>
              <a:srgbClr val="009900"/>
            </a:solidFill>
            <a:round/>
          </a:ln>
          <a:extLst>
            <a:ext uri="{909E8E84-426E-40DD-AFC4-6F175D3DCCD1}">
              <a14:hiddenFill xmlns:a14="http://schemas.microsoft.com/office/drawing/2010/main">
                <a:noFill/>
              </a14:hiddenFill>
            </a:ext>
          </a:extLst>
        </p:spPr>
        <p:txBody>
          <a:bodyPr/>
          <a:lstStyle/>
          <a:p>
            <a:endParaRPr lang="zh-CN" altLang="en-US"/>
          </a:p>
        </p:txBody>
      </p:sp>
      <p:sp>
        <p:nvSpPr>
          <p:cNvPr id="313379" name="Text Box 35"/>
          <p:cNvSpPr txBox="1">
            <a:spLocks noChangeArrowheads="1"/>
          </p:cNvSpPr>
          <p:nvPr/>
        </p:nvSpPr>
        <p:spPr bwMode="auto">
          <a:xfrm>
            <a:off x="3962400" y="4525963"/>
            <a:ext cx="368300" cy="396875"/>
          </a:xfrm>
          <a:prstGeom prst="rect">
            <a:avLst/>
          </a:prstGeom>
          <a:noFill/>
          <a:ln w="38100">
            <a:noFill/>
            <a:miter lim="800000"/>
          </a:ln>
          <a:effectLst/>
        </p:spPr>
        <p:txBody>
          <a:bodyPr wrap="none" anchor="ctr">
            <a:spAutoFit/>
          </a:bodyPr>
          <a:lstStyle/>
          <a:p>
            <a:pPr>
              <a:defRPr/>
            </a:pPr>
            <a:r>
              <a:rPr kumimoji="1" lang="en-US" altLang="zh-CN" sz="2000" b="1">
                <a:solidFill>
                  <a:srgbClr val="000099"/>
                </a:solidFill>
                <a:effectLst>
                  <a:outerShdw blurRad="38100" dist="38100" dir="2700000" algn="tl">
                    <a:srgbClr val="C0C0C0"/>
                  </a:outerShdw>
                </a:effectLst>
                <a:latin typeface="Times New Roman" panose="02020503050405090304" pitchFamily="18" charset="0"/>
              </a:rPr>
              <a:t>N</a:t>
            </a:r>
            <a:endParaRPr kumimoji="1" lang="en-US" altLang="zh-CN" b="1">
              <a:solidFill>
                <a:srgbClr val="000099"/>
              </a:solidFill>
              <a:effectLst>
                <a:outerShdw blurRad="38100" dist="38100" dir="2700000" algn="tl">
                  <a:srgbClr val="C0C0C0"/>
                </a:outerShdw>
              </a:effectLst>
              <a:latin typeface="Times New Roman" panose="02020503050405090304" pitchFamily="18" charset="0"/>
            </a:endParaRPr>
          </a:p>
        </p:txBody>
      </p:sp>
      <p:sp>
        <p:nvSpPr>
          <p:cNvPr id="313380" name="Text Box 36"/>
          <p:cNvSpPr txBox="1">
            <a:spLocks noChangeArrowheads="1"/>
          </p:cNvSpPr>
          <p:nvPr/>
        </p:nvSpPr>
        <p:spPr bwMode="auto">
          <a:xfrm>
            <a:off x="5410200" y="4525963"/>
            <a:ext cx="368300" cy="396875"/>
          </a:xfrm>
          <a:prstGeom prst="rect">
            <a:avLst/>
          </a:prstGeom>
          <a:noFill/>
          <a:ln w="38100">
            <a:noFill/>
            <a:miter lim="800000"/>
          </a:ln>
          <a:effectLst/>
        </p:spPr>
        <p:txBody>
          <a:bodyPr wrap="none" anchor="ctr">
            <a:spAutoFit/>
          </a:bodyPr>
          <a:lstStyle/>
          <a:p>
            <a:pPr>
              <a:defRPr/>
            </a:pPr>
            <a:r>
              <a:rPr kumimoji="1" lang="en-US" altLang="zh-CN" sz="2000" b="1">
                <a:solidFill>
                  <a:srgbClr val="000099"/>
                </a:solidFill>
                <a:effectLst>
                  <a:outerShdw blurRad="38100" dist="38100" dir="2700000" algn="tl">
                    <a:srgbClr val="C0C0C0"/>
                  </a:outerShdw>
                </a:effectLst>
                <a:latin typeface="Times New Roman" panose="02020503050405090304" pitchFamily="18" charset="0"/>
              </a:rPr>
              <a:t>Y</a:t>
            </a:r>
            <a:endParaRPr kumimoji="1" lang="en-US" altLang="zh-CN" b="1">
              <a:solidFill>
                <a:srgbClr val="000099"/>
              </a:solidFill>
              <a:effectLst>
                <a:outerShdw blurRad="38100" dist="38100" dir="2700000" algn="tl">
                  <a:srgbClr val="C0C0C0"/>
                </a:outerShdw>
              </a:effectLst>
              <a:latin typeface="Times New Roman" panose="02020503050405090304" pitchFamily="18" charset="0"/>
            </a:endParaRPr>
          </a:p>
        </p:txBody>
      </p:sp>
      <p:sp>
        <p:nvSpPr>
          <p:cNvPr id="28708" name="页脚占位符 3"/>
          <p:cNvSpPr>
            <a:spLocks noGrp="1"/>
          </p:cNvSpPr>
          <p:nvPr>
            <p:ph type="ftr" sz="quarter" idx="10"/>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Algorithms Design Techniques and Analysis</a:t>
            </a:r>
            <a:endParaRPr lang="en-US" altLang="zh-CN" smtClean="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8" presetClass="entr" presetSubtype="12" fill="hold" grpId="0" nodeType="clickEffect">
                                  <p:stCondLst>
                                    <p:cond delay="0"/>
                                  </p:stCondLst>
                                  <p:childTnLst>
                                    <p:set>
                                      <p:cBhvr>
                                        <p:cTn id="6" dur="1" fill="hold">
                                          <p:stCondLst>
                                            <p:cond delay="0"/>
                                          </p:stCondLst>
                                        </p:cTn>
                                        <p:tgtEl>
                                          <p:spTgt spid="313360"/>
                                        </p:tgtEl>
                                        <p:attrNameLst>
                                          <p:attrName>style.visibility</p:attrName>
                                        </p:attrNameLst>
                                      </p:cBhvr>
                                      <p:to>
                                        <p:strVal val="visible"/>
                                      </p:to>
                                    </p:set>
                                    <p:animEffect transition="in" filter="strips(downLeft)">
                                      <p:cBhvr>
                                        <p:cTn id="7" dur="500"/>
                                        <p:tgtEl>
                                          <p:spTgt spid="3133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3360" grpId="0" animBg="1" autoUpdateAnimBg="0"/>
    </p:bldLst>
  </p:timing>
</p:sld>
</file>

<file path=ppt/slides/slide20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93186" name="日期占位符 3"/>
          <p:cNvSpPr>
            <a:spLocks noGrp="1"/>
          </p:cNvSpPr>
          <p:nvPr>
            <p:ph type="dt" sz="quarter" idx="4294967295"/>
          </p:nvPr>
        </p:nvSpPr>
        <p:spPr bwMode="auto">
          <a:xfrm>
            <a:off x="3492500" y="6381750"/>
            <a:ext cx="3816350" cy="4318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algn="ctr" eaLnBrk="1" hangingPunct="1"/>
            <a:fld id="{D3BAE431-2679-414D-9DBC-32D98AED3B8A}" type="datetime1">
              <a:rPr lang="zh-CN" altLang="en-US" sz="1400"/>
            </a:fld>
            <a:endParaRPr lang="en-US" altLang="zh-CN" sz="1400"/>
          </a:p>
        </p:txBody>
      </p:sp>
      <p:sp>
        <p:nvSpPr>
          <p:cNvPr id="93187" name="页脚占位符 4"/>
          <p:cNvSpPr>
            <a:spLocks noGrp="1"/>
          </p:cNvSpPr>
          <p:nvPr>
            <p:ph type="ftr" sz="quarter" idx="10"/>
          </p:nvPr>
        </p:nvSpPr>
        <p:spPr>
          <a:xfrm>
            <a:off x="3352800" y="6324600"/>
            <a:ext cx="2895600" cy="4572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en-US" altLang="zh-CN" smtClean="0"/>
              <a:t>第七章 图</a:t>
            </a:r>
            <a:endParaRPr lang="en-US" altLang="zh-CN" smtClean="0"/>
          </a:p>
        </p:txBody>
      </p:sp>
      <p:sp>
        <p:nvSpPr>
          <p:cNvPr id="93188" name="灯片编号占位符 5"/>
          <p:cNvSpPr>
            <a:spLocks noGrp="1"/>
          </p:cNvSpPr>
          <p:nvPr>
            <p:ph type="sldNum" sz="quarter" idx="4294967295"/>
          </p:nvPr>
        </p:nvSpPr>
        <p:spPr bwMode="auto">
          <a:xfrm>
            <a:off x="6781800" y="6324600"/>
            <a:ext cx="1905000" cy="4572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90204" pitchFamily="34" charset="0"/>
                <a:ea typeface="宋体" pitchFamily="2" charset="-122"/>
              </a:defRPr>
            </a:lvl1pPr>
            <a:lvl2pPr marL="742950" indent="-285750" eaLnBrk="0" hangingPunct="0">
              <a:defRPr>
                <a:solidFill>
                  <a:schemeClr val="tx1"/>
                </a:solidFill>
                <a:latin typeface="Arial" panose="020B0604020202090204" pitchFamily="34" charset="0"/>
                <a:ea typeface="宋体" pitchFamily="2" charset="-122"/>
              </a:defRPr>
            </a:lvl2pPr>
            <a:lvl3pPr marL="1143000" indent="-228600" eaLnBrk="0" hangingPunct="0">
              <a:defRPr>
                <a:solidFill>
                  <a:schemeClr val="tx1"/>
                </a:solidFill>
                <a:latin typeface="Arial" panose="020B0604020202090204" pitchFamily="34" charset="0"/>
                <a:ea typeface="宋体" pitchFamily="2" charset="-122"/>
              </a:defRPr>
            </a:lvl3pPr>
            <a:lvl4pPr marL="1600200" indent="-228600" eaLnBrk="0" hangingPunct="0">
              <a:defRPr>
                <a:solidFill>
                  <a:schemeClr val="tx1"/>
                </a:solidFill>
                <a:latin typeface="Arial" panose="020B0604020202090204" pitchFamily="34" charset="0"/>
                <a:ea typeface="宋体" pitchFamily="2" charset="-122"/>
              </a:defRPr>
            </a:lvl4pPr>
            <a:lvl5pPr marL="2057400" indent="-228600" eaLnBrk="0" hangingPunct="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fld id="{0A9049FC-686B-497D-997D-63765AEB927A}" type="slidenum">
              <a:rPr lang="en-US" altLang="zh-CN"/>
            </a:fld>
            <a:endParaRPr lang="en-US" altLang="zh-CN"/>
          </a:p>
        </p:txBody>
      </p:sp>
      <p:sp>
        <p:nvSpPr>
          <p:cNvPr id="93189" name="Rectangle 2"/>
          <p:cNvSpPr>
            <a:spLocks noGrp="1" noChangeArrowheads="1"/>
          </p:cNvSpPr>
          <p:nvPr>
            <p:ph type="title"/>
          </p:nvPr>
        </p:nvSpPr>
        <p:spPr>
          <a:xfrm>
            <a:off x="914400" y="404664"/>
            <a:ext cx="7772400" cy="762000"/>
          </a:xfrm>
        </p:spPr>
        <p:txBody>
          <a:bodyPr/>
          <a:lstStyle/>
          <a:p>
            <a:r>
              <a:rPr lang="en-US" altLang="zh-CN" dirty="0" smtClean="0">
                <a:solidFill>
                  <a:srgbClr val="333399"/>
                </a:solidFill>
              </a:rPr>
              <a:t>1.4.</a:t>
            </a:r>
            <a:r>
              <a:rPr lang="en-US" altLang="zh-CN" dirty="0"/>
              <a:t>8</a:t>
            </a:r>
            <a:r>
              <a:rPr lang="en-US" altLang="zh-CN" dirty="0" smtClean="0"/>
              <a:t> </a:t>
            </a:r>
            <a:r>
              <a:rPr lang="zh-CN" altLang="en-US" dirty="0" smtClean="0"/>
              <a:t>最短路径</a:t>
            </a:r>
            <a:endParaRPr lang="zh-CN" altLang="en-US" dirty="0" smtClean="0"/>
          </a:p>
        </p:txBody>
      </p:sp>
      <p:sp>
        <p:nvSpPr>
          <p:cNvPr id="279555" name="Rectangle 3"/>
          <p:cNvSpPr>
            <a:spLocks noGrp="1" noChangeArrowheads="1"/>
          </p:cNvSpPr>
          <p:nvPr>
            <p:ph type="body" idx="1"/>
          </p:nvPr>
        </p:nvSpPr>
        <p:spPr>
          <a:xfrm>
            <a:off x="750987" y="1344960"/>
            <a:ext cx="7935813" cy="5181600"/>
          </a:xfrm>
        </p:spPr>
        <p:txBody>
          <a:bodyPr/>
          <a:lstStyle/>
          <a:p>
            <a:pPr>
              <a:lnSpc>
                <a:spcPct val="90000"/>
              </a:lnSpc>
              <a:buFont typeface="Wingdings" panose="05000000000000000000" pitchFamily="2" charset="2"/>
              <a:buChar char="v"/>
            </a:pPr>
            <a:r>
              <a:rPr lang="zh-CN" altLang="en-US" sz="2200" dirty="0" smtClean="0"/>
              <a:t>我们研究带权图，一个重要的内容就是寻找某类</a:t>
            </a:r>
            <a:r>
              <a:rPr lang="zh-CN" altLang="en-US" sz="2200" dirty="0" smtClean="0">
                <a:solidFill>
                  <a:srgbClr val="FF0000"/>
                </a:solidFill>
              </a:rPr>
              <a:t>具有最小（最大）权的子图</a:t>
            </a:r>
            <a:r>
              <a:rPr lang="zh-CN" altLang="en-US" sz="2200" dirty="0" smtClean="0"/>
              <a:t>，其中之一就是最短路问题，例如：给定一个连接各城市的铁路网络（连通的带权图），在这个网络中的两个指定的城市之间确定一条最短路。</a:t>
            </a:r>
            <a:endParaRPr lang="en-US" altLang="zh-CN" sz="2200" dirty="0" smtClean="0"/>
          </a:p>
          <a:p>
            <a:pPr>
              <a:lnSpc>
                <a:spcPct val="90000"/>
              </a:lnSpc>
              <a:buFont typeface="Wingdings" panose="05000000000000000000" pitchFamily="2" charset="2"/>
              <a:buChar char="v"/>
            </a:pPr>
            <a:r>
              <a:rPr lang="zh-CN" altLang="en-US" sz="2200" dirty="0" smtClean="0"/>
              <a:t>所谓</a:t>
            </a:r>
            <a:r>
              <a:rPr lang="zh-CN" altLang="en-US" sz="2200" dirty="0" smtClean="0">
                <a:solidFill>
                  <a:srgbClr val="FF0000"/>
                </a:solidFill>
              </a:rPr>
              <a:t>最短路径</a:t>
            </a:r>
            <a:r>
              <a:rPr lang="zh-CN" altLang="en-US" sz="2200" dirty="0" smtClean="0"/>
              <a:t>（</a:t>
            </a:r>
            <a:r>
              <a:rPr lang="en-US" altLang="zh-CN" sz="2200" dirty="0" smtClean="0"/>
              <a:t>shortest path</a:t>
            </a:r>
            <a:r>
              <a:rPr lang="zh-CN" altLang="en-US" sz="2200" dirty="0" smtClean="0"/>
              <a:t>）问题指的是：如果从图中某顶点出发（此点称为源点），经图的边到达另一顶点（称为终点）的路径不止一条，如何找到一条路径使沿此路径上各边的权值之和为最小。</a:t>
            </a:r>
            <a:endParaRPr lang="zh-CN" altLang="en-US" sz="2200" dirty="0" smtClean="0"/>
          </a:p>
          <a:p>
            <a:pPr>
              <a:lnSpc>
                <a:spcPct val="90000"/>
              </a:lnSpc>
              <a:buFont typeface="Wingdings" panose="05000000000000000000" pitchFamily="2" charset="2"/>
              <a:buChar char="v"/>
            </a:pPr>
            <a:r>
              <a:rPr lang="zh-CN" altLang="en-US" sz="2200" dirty="0" smtClean="0"/>
              <a:t>设一有向网络</a:t>
            </a:r>
            <a:r>
              <a:rPr lang="en-US" altLang="zh-CN" sz="2200" dirty="0" smtClean="0"/>
              <a:t>G =</a:t>
            </a:r>
            <a:r>
              <a:rPr lang="zh-CN" altLang="en-US" sz="2200" dirty="0" smtClean="0"/>
              <a:t>（</a:t>
            </a:r>
            <a:r>
              <a:rPr lang="en-US" altLang="zh-CN" sz="2200" dirty="0" err="1" smtClean="0"/>
              <a:t>V,E</a:t>
            </a:r>
            <a:r>
              <a:rPr lang="zh-CN" altLang="en-US" sz="2200" dirty="0" smtClean="0"/>
              <a:t>），已知各边的权值，并设每边的权均大于零，以某指定</a:t>
            </a:r>
            <a:r>
              <a:rPr lang="en-US" altLang="zh-CN" sz="2200" dirty="0" err="1" smtClean="0"/>
              <a:t>V</a:t>
            </a:r>
            <a:r>
              <a:rPr lang="en-US" altLang="zh-CN" sz="2200" baseline="-30000" dirty="0" err="1" smtClean="0"/>
              <a:t>0</a:t>
            </a:r>
            <a:r>
              <a:rPr lang="zh-CN" altLang="en-US" sz="2200" dirty="0" smtClean="0"/>
              <a:t>为源点，求从</a:t>
            </a:r>
            <a:r>
              <a:rPr lang="en-US" altLang="zh-CN" sz="2200" dirty="0" err="1" smtClean="0"/>
              <a:t>V</a:t>
            </a:r>
            <a:r>
              <a:rPr lang="en-US" altLang="zh-CN" sz="2200" baseline="-30000" dirty="0" err="1" smtClean="0"/>
              <a:t>0</a:t>
            </a:r>
            <a:r>
              <a:rPr lang="zh-CN" altLang="en-US" sz="2200" dirty="0" smtClean="0"/>
              <a:t>到图的其余各点的最短路径。</a:t>
            </a:r>
            <a:endParaRPr lang="zh-CN" altLang="en-US" sz="2200" dirty="0" smtClean="0"/>
          </a:p>
        </p:txBody>
      </p:sp>
    </p:spTree>
  </p:cSld>
  <p:clrMapOvr>
    <a:masterClrMapping/>
  </p:clrMapOvr>
  <p:transition>
    <p:strips dir="ld"/>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9555">
                                            <p:txEl>
                                              <p:pRg st="0" end="0"/>
                                            </p:txEl>
                                          </p:spTgt>
                                        </p:tgtEl>
                                        <p:attrNameLst>
                                          <p:attrName>style.visibility</p:attrName>
                                        </p:attrNameLst>
                                      </p:cBhvr>
                                      <p:to>
                                        <p:strVal val="visible"/>
                                      </p:to>
                                    </p:set>
                                    <p:animEffect transition="in" filter="wipe(left)">
                                      <p:cBhvr>
                                        <p:cTn id="7" dur="500"/>
                                        <p:tgtEl>
                                          <p:spTgt spid="27955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79555">
                                            <p:txEl>
                                              <p:pRg st="1" end="1"/>
                                            </p:txEl>
                                          </p:spTgt>
                                        </p:tgtEl>
                                        <p:attrNameLst>
                                          <p:attrName>style.visibility</p:attrName>
                                        </p:attrNameLst>
                                      </p:cBhvr>
                                      <p:to>
                                        <p:strVal val="visible"/>
                                      </p:to>
                                    </p:set>
                                    <p:animEffect transition="in" filter="wipe(left)">
                                      <p:cBhvr>
                                        <p:cTn id="12" dur="500"/>
                                        <p:tgtEl>
                                          <p:spTgt spid="279555">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279555">
                                            <p:txEl>
                                              <p:pRg st="2" end="2"/>
                                            </p:txEl>
                                          </p:spTgt>
                                        </p:tgtEl>
                                        <p:attrNameLst>
                                          <p:attrName>style.visibility</p:attrName>
                                        </p:attrNameLst>
                                      </p:cBhvr>
                                      <p:to>
                                        <p:strVal val="visible"/>
                                      </p:to>
                                    </p:set>
                                    <p:animEffect transition="in" filter="wipe(left)">
                                      <p:cBhvr>
                                        <p:cTn id="17" dur="500"/>
                                        <p:tgtEl>
                                          <p:spTgt spid="279555">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9555" grpId="0" autoUpdateAnimBg="0" build="p"/>
    </p:bldLst>
  </p:timing>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1" name="Rectangle 2"/>
          <p:cNvSpPr>
            <a:spLocks noGrp="1" noChangeArrowheads="1"/>
          </p:cNvSpPr>
          <p:nvPr>
            <p:ph type="body" idx="1"/>
          </p:nvPr>
        </p:nvSpPr>
        <p:spPr>
          <a:xfrm>
            <a:off x="940446" y="1268760"/>
            <a:ext cx="7746354" cy="5410200"/>
          </a:xfrm>
        </p:spPr>
        <p:txBody>
          <a:bodyPr/>
          <a:lstStyle/>
          <a:p>
            <a:pPr marL="179705" indent="-179705">
              <a:spcBef>
                <a:spcPct val="0"/>
              </a:spcBef>
            </a:pPr>
            <a:r>
              <a:rPr lang="zh-CN" altLang="en-US" sz="2200" dirty="0" smtClean="0">
                <a:latin typeface="宋体" pitchFamily="2" charset="-122"/>
              </a:rPr>
              <a:t>求最短路长的算法是</a:t>
            </a:r>
            <a:r>
              <a:rPr lang="en-US" altLang="zh-CN" sz="2200" dirty="0" err="1" smtClean="0"/>
              <a:t>Dijkstra</a:t>
            </a:r>
            <a:r>
              <a:rPr lang="en-US" altLang="zh-CN" sz="2200" dirty="0"/>
              <a:t>(</a:t>
            </a:r>
            <a:r>
              <a:rPr lang="zh-CN" altLang="en-US" sz="2200" dirty="0" smtClean="0"/>
              <a:t>狄克斯特拉</a:t>
            </a:r>
            <a:r>
              <a:rPr lang="en-US" altLang="zh-CN" sz="2200" dirty="0" smtClean="0"/>
              <a:t>)</a:t>
            </a:r>
            <a:r>
              <a:rPr lang="zh-CN" altLang="en-US" sz="2200" dirty="0" smtClean="0">
                <a:latin typeface="宋体" pitchFamily="2" charset="-122"/>
              </a:rPr>
              <a:t>于</a:t>
            </a:r>
            <a:r>
              <a:rPr lang="en-US" altLang="zh-CN" sz="2200" dirty="0" smtClean="0">
                <a:latin typeface="宋体" pitchFamily="2" charset="-122"/>
              </a:rPr>
              <a:t>1959</a:t>
            </a:r>
            <a:r>
              <a:rPr lang="zh-CN" altLang="en-US" sz="2200" dirty="0" smtClean="0">
                <a:latin typeface="宋体" pitchFamily="2" charset="-122"/>
              </a:rPr>
              <a:t>年提出来的，是至今公认的求最短路长的最好算法，称为</a:t>
            </a:r>
            <a:r>
              <a:rPr lang="en-US" altLang="zh-CN" sz="2200" dirty="0" err="1" smtClean="0"/>
              <a:t>Dijkstra</a:t>
            </a:r>
            <a:r>
              <a:rPr lang="zh-CN" altLang="en-US" sz="2200" dirty="0" smtClean="0">
                <a:latin typeface="宋体" pitchFamily="2" charset="-122"/>
              </a:rPr>
              <a:t>算法。</a:t>
            </a:r>
            <a:endParaRPr lang="en-US" altLang="zh-CN" sz="2200" dirty="0" smtClean="0">
              <a:latin typeface="宋体" pitchFamily="2" charset="-122"/>
            </a:endParaRPr>
          </a:p>
          <a:p>
            <a:pPr marL="179705" indent="-179705">
              <a:spcBef>
                <a:spcPct val="0"/>
              </a:spcBef>
            </a:pPr>
            <a:r>
              <a:rPr lang="en-US" altLang="zh-CN" sz="2200" dirty="0" err="1" smtClean="0"/>
              <a:t>Dijkstra</a:t>
            </a:r>
            <a:r>
              <a:rPr lang="zh-CN" altLang="en-US" sz="2200" dirty="0" smtClean="0"/>
              <a:t>算法</a:t>
            </a:r>
            <a:r>
              <a:rPr lang="zh-CN" altLang="en-US" sz="2200" b="1" dirty="0" smtClean="0"/>
              <a:t>功能</a:t>
            </a:r>
            <a:r>
              <a:rPr lang="en-US" altLang="zh-CN" sz="2200" dirty="0" smtClean="0"/>
              <a:t>: </a:t>
            </a:r>
            <a:r>
              <a:rPr lang="zh-CN" altLang="en-US" sz="2200" dirty="0" smtClean="0"/>
              <a:t>在连通的带权图中</a:t>
            </a:r>
            <a:r>
              <a:rPr lang="en-US" altLang="zh-CN" sz="2200" dirty="0" smtClean="0"/>
              <a:t>, </a:t>
            </a:r>
            <a:r>
              <a:rPr lang="zh-CN" altLang="en-US" sz="2200" dirty="0" smtClean="0"/>
              <a:t>求从</a:t>
            </a:r>
            <a:r>
              <a:rPr lang="en-US" altLang="zh-CN" sz="2200" dirty="0" err="1" smtClean="0"/>
              <a:t>v</a:t>
            </a:r>
            <a:r>
              <a:rPr lang="en-US" altLang="zh-CN" sz="2200" baseline="-25000" dirty="0" err="1" smtClean="0"/>
              <a:t>0</a:t>
            </a:r>
            <a:r>
              <a:rPr lang="zh-CN" altLang="en-US" sz="2200" dirty="0" smtClean="0"/>
              <a:t>到</a:t>
            </a:r>
            <a:r>
              <a:rPr lang="en-US" altLang="zh-CN" sz="2200" dirty="0" smtClean="0"/>
              <a:t>v</a:t>
            </a:r>
            <a:r>
              <a:rPr lang="zh-CN" altLang="en-US" sz="2200" dirty="0" smtClean="0"/>
              <a:t>的最短路的路长。</a:t>
            </a:r>
            <a:endParaRPr lang="en-US" altLang="zh-CN" sz="2200" dirty="0" smtClean="0">
              <a:latin typeface="宋体" pitchFamily="2" charset="-122"/>
            </a:endParaRPr>
          </a:p>
          <a:p>
            <a:pPr marL="179705" indent="-179705">
              <a:spcBef>
                <a:spcPct val="0"/>
              </a:spcBef>
            </a:pPr>
            <a:r>
              <a:rPr lang="en-US" altLang="zh-CN" sz="2200" dirty="0" err="1" smtClean="0"/>
              <a:t>Dijkstra</a:t>
            </a:r>
            <a:r>
              <a:rPr lang="zh-CN" altLang="en-US" sz="2200" dirty="0" smtClean="0"/>
              <a:t>算法</a:t>
            </a:r>
            <a:r>
              <a:rPr lang="zh-CN" altLang="en-US" sz="2200" b="1" dirty="0" smtClean="0"/>
              <a:t>基本思想</a:t>
            </a:r>
            <a:r>
              <a:rPr lang="zh-CN" altLang="en-US" sz="2200" dirty="0" smtClean="0"/>
              <a:t>：将图 </a:t>
            </a:r>
            <a:r>
              <a:rPr lang="en-US" altLang="zh-CN" sz="2200" dirty="0" smtClean="0"/>
              <a:t>G </a:t>
            </a:r>
            <a:r>
              <a:rPr lang="zh-CN" altLang="en-US" sz="2200" dirty="0" smtClean="0"/>
              <a:t>中结点集合 </a:t>
            </a:r>
            <a:r>
              <a:rPr lang="en-US" altLang="zh-CN" sz="2200" dirty="0" smtClean="0"/>
              <a:t>V </a:t>
            </a:r>
            <a:r>
              <a:rPr lang="zh-CN" altLang="en-US" sz="2200" dirty="0" smtClean="0"/>
              <a:t>分成两部分，一部分称为具有 </a:t>
            </a:r>
            <a:r>
              <a:rPr lang="en-US" altLang="zh-CN" sz="2200" dirty="0" smtClean="0"/>
              <a:t>P </a:t>
            </a:r>
            <a:r>
              <a:rPr lang="zh-CN" altLang="en-US" sz="2200" dirty="0" smtClean="0"/>
              <a:t>标号的集合，另一部分称为具有 </a:t>
            </a:r>
            <a:r>
              <a:rPr lang="en-US" altLang="zh-CN" sz="2200" dirty="0" smtClean="0"/>
              <a:t>T </a:t>
            </a:r>
            <a:r>
              <a:rPr lang="zh-CN" altLang="en-US" sz="2200" dirty="0" smtClean="0"/>
              <a:t>标号的集合。</a:t>
            </a:r>
            <a:endParaRPr lang="en-US" altLang="zh-CN" sz="2200" dirty="0" smtClean="0"/>
          </a:p>
          <a:p>
            <a:r>
              <a:rPr lang="zh-CN" altLang="en-US" sz="2200" dirty="0" smtClean="0"/>
              <a:t>所谓结点ａ的 </a:t>
            </a:r>
            <a:r>
              <a:rPr lang="en-US" altLang="zh-CN" sz="2200" b="1" dirty="0" smtClean="0"/>
              <a:t>P</a:t>
            </a:r>
            <a:r>
              <a:rPr lang="zh-CN" altLang="en-US" sz="2200" b="1" dirty="0" smtClean="0"/>
              <a:t>标号</a:t>
            </a:r>
            <a:r>
              <a:rPr lang="zh-CN" altLang="en-US" sz="2200" dirty="0" smtClean="0"/>
              <a:t>是指从 </a:t>
            </a:r>
            <a:r>
              <a:rPr lang="en-US" altLang="zh-CN" sz="2200" dirty="0" err="1" smtClean="0"/>
              <a:t>v0</a:t>
            </a:r>
            <a:r>
              <a:rPr lang="en-US" altLang="zh-CN" sz="2200" dirty="0" smtClean="0"/>
              <a:t> </a:t>
            </a:r>
            <a:r>
              <a:rPr lang="zh-CN" altLang="en-US" sz="2200" dirty="0" smtClean="0"/>
              <a:t>到ａ的最短路的路长，而结点ｂ的</a:t>
            </a:r>
            <a:r>
              <a:rPr lang="zh-CN" altLang="en-US" sz="2200" b="1" dirty="0"/>
              <a:t>Ｔ标号</a:t>
            </a:r>
            <a:r>
              <a:rPr lang="zh-CN" altLang="en-US" sz="2200" dirty="0" smtClean="0"/>
              <a:t>是指从 </a:t>
            </a:r>
            <a:r>
              <a:rPr lang="en-US" altLang="zh-CN" sz="2200" dirty="0" err="1" smtClean="0"/>
              <a:t>v0</a:t>
            </a:r>
            <a:r>
              <a:rPr lang="en-US" altLang="zh-CN" sz="2200" dirty="0" smtClean="0"/>
              <a:t> </a:t>
            </a:r>
            <a:r>
              <a:rPr lang="zh-CN" altLang="en-US" sz="2200" dirty="0" smtClean="0"/>
              <a:t>到ｂ的某条路径的长度。</a:t>
            </a:r>
            <a:endParaRPr lang="en-US" altLang="zh-CN" sz="2200" dirty="0" smtClean="0"/>
          </a:p>
          <a:p>
            <a:r>
              <a:rPr lang="en-US" altLang="zh-CN" sz="2200" dirty="0" err="1" smtClean="0"/>
              <a:t>Dijkstra</a:t>
            </a:r>
            <a:r>
              <a:rPr lang="zh-CN" altLang="en-US" sz="2200" dirty="0" smtClean="0"/>
              <a:t>算法中首先将 </a:t>
            </a:r>
            <a:r>
              <a:rPr lang="en-US" altLang="zh-CN" sz="2200" dirty="0" err="1" smtClean="0"/>
              <a:t>v0</a:t>
            </a:r>
            <a:r>
              <a:rPr lang="en-US" altLang="zh-CN" sz="2200" dirty="0" smtClean="0"/>
              <a:t> </a:t>
            </a:r>
            <a:r>
              <a:rPr lang="zh-CN" altLang="en-US" sz="2200" dirty="0" smtClean="0"/>
              <a:t>取为 </a:t>
            </a:r>
            <a:r>
              <a:rPr lang="en-US" altLang="zh-CN" sz="2200" dirty="0" smtClean="0"/>
              <a:t>P </a:t>
            </a:r>
            <a:r>
              <a:rPr lang="zh-CN" altLang="en-US" sz="2200" dirty="0" smtClean="0"/>
              <a:t>标号结点，其余的点均为 </a:t>
            </a:r>
            <a:r>
              <a:rPr lang="en-US" altLang="zh-CN" sz="2200" dirty="0" smtClean="0"/>
              <a:t>T </a:t>
            </a:r>
            <a:r>
              <a:rPr lang="zh-CN" altLang="en-US" sz="2200" dirty="0" smtClean="0"/>
              <a:t>标号结点，然后逐步地将具有 </a:t>
            </a:r>
            <a:r>
              <a:rPr lang="en-US" altLang="zh-CN" sz="2200" dirty="0" smtClean="0"/>
              <a:t>T </a:t>
            </a:r>
            <a:r>
              <a:rPr lang="zh-CN" altLang="en-US" sz="2200" dirty="0" smtClean="0"/>
              <a:t>标号的结点改为 </a:t>
            </a:r>
            <a:r>
              <a:rPr lang="en-US" altLang="zh-CN" sz="2200" dirty="0" smtClean="0"/>
              <a:t>P </a:t>
            </a:r>
            <a:r>
              <a:rPr lang="zh-CN" altLang="en-US" sz="2200" dirty="0" smtClean="0"/>
              <a:t>标号结点，当结点 </a:t>
            </a:r>
            <a:r>
              <a:rPr lang="en-US" altLang="zh-CN" sz="2200" dirty="0" smtClean="0"/>
              <a:t>v </a:t>
            </a:r>
            <a:r>
              <a:rPr lang="zh-CN" altLang="en-US" sz="2200" dirty="0" smtClean="0"/>
              <a:t>也被改为 </a:t>
            </a:r>
            <a:r>
              <a:rPr lang="en-US" altLang="zh-CN" sz="2200" dirty="0" smtClean="0"/>
              <a:t>P </a:t>
            </a:r>
            <a:r>
              <a:rPr lang="zh-CN" altLang="en-US" sz="2200" dirty="0" smtClean="0"/>
              <a:t>标号时，就找到了从 </a:t>
            </a:r>
            <a:r>
              <a:rPr lang="en-US" altLang="zh-CN" sz="2200" dirty="0" err="1" smtClean="0"/>
              <a:t>v0</a:t>
            </a:r>
            <a:r>
              <a:rPr lang="en-US" altLang="zh-CN" sz="2200" dirty="0" smtClean="0"/>
              <a:t> </a:t>
            </a:r>
            <a:r>
              <a:rPr lang="zh-CN" altLang="en-US" sz="2200" dirty="0" smtClean="0"/>
              <a:t>到</a:t>
            </a:r>
            <a:r>
              <a:rPr lang="en-US" altLang="zh-CN" sz="2200" dirty="0" smtClean="0"/>
              <a:t>v </a:t>
            </a:r>
            <a:r>
              <a:rPr lang="zh-CN" altLang="en-US" sz="2200" dirty="0" smtClean="0"/>
              <a:t>的最短路径的长度。</a:t>
            </a:r>
            <a:endParaRPr lang="zh-CN" altLang="en-US" sz="2200" dirty="0" smtClean="0"/>
          </a:p>
          <a:p>
            <a:pPr marL="179705" indent="-179705">
              <a:lnSpc>
                <a:spcPct val="120000"/>
              </a:lnSpc>
              <a:spcBef>
                <a:spcPct val="0"/>
              </a:spcBef>
            </a:pPr>
            <a:endParaRPr lang="en-US" altLang="zh-CN" sz="2200" dirty="0" smtClean="0"/>
          </a:p>
          <a:p>
            <a:pPr marL="179705" indent="-179705" algn="just"/>
            <a:endParaRPr lang="zh-CN" altLang="en-US" sz="2200" dirty="0" smtClean="0"/>
          </a:p>
        </p:txBody>
      </p:sp>
      <p:sp>
        <p:nvSpPr>
          <p:cNvPr id="4" name="Rectangle 2"/>
          <p:cNvSpPr>
            <a:spLocks noGrp="1" noChangeArrowheads="1"/>
          </p:cNvSpPr>
          <p:nvPr>
            <p:ph type="title"/>
          </p:nvPr>
        </p:nvSpPr>
        <p:spPr>
          <a:xfrm>
            <a:off x="914400" y="404664"/>
            <a:ext cx="7772400" cy="762000"/>
          </a:xfrm>
        </p:spPr>
        <p:txBody>
          <a:bodyPr/>
          <a:lstStyle/>
          <a:p>
            <a:r>
              <a:rPr lang="en-US" altLang="zh-CN" dirty="0" smtClean="0">
                <a:solidFill>
                  <a:srgbClr val="333399"/>
                </a:solidFill>
              </a:rPr>
              <a:t>1.4.</a:t>
            </a:r>
            <a:r>
              <a:rPr lang="en-US" altLang="zh-CN" dirty="0"/>
              <a:t>8</a:t>
            </a:r>
            <a:r>
              <a:rPr lang="en-US" altLang="zh-CN" dirty="0" smtClean="0"/>
              <a:t> </a:t>
            </a:r>
            <a:r>
              <a:rPr lang="zh-CN" altLang="en-US" dirty="0" smtClean="0"/>
              <a:t>最短路径</a:t>
            </a:r>
            <a:endParaRPr lang="zh-CN" altLang="en-US" dirty="0" smtClean="0"/>
          </a:p>
        </p:txBody>
      </p:sp>
    </p:spTree>
  </p:cSld>
  <p:clrMapOvr>
    <a:masterClrMapping/>
  </p:clrMapOvr>
  <p:timing>
    <p:tnLst>
      <p:par>
        <p:cTn id="1" dur="indefinite" restart="never" nodeType="tmRoot"/>
      </p:par>
    </p:tnLst>
  </p:timing>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solidFill>
                  <a:srgbClr val="333399"/>
                </a:solidFill>
              </a:rPr>
              <a:t>1.4.</a:t>
            </a:r>
            <a:r>
              <a:rPr lang="en-US" altLang="zh-CN" dirty="0" smtClean="0"/>
              <a:t>8 </a:t>
            </a:r>
            <a:r>
              <a:rPr lang="zh-CN" altLang="en-US" dirty="0" smtClean="0"/>
              <a:t>最短路径</a:t>
            </a:r>
            <a:endParaRPr lang="zh-CN" altLang="en-US" dirty="0"/>
          </a:p>
        </p:txBody>
      </p:sp>
      <p:sp>
        <p:nvSpPr>
          <p:cNvPr id="3" name="内容占位符 2"/>
          <p:cNvSpPr>
            <a:spLocks noGrp="1"/>
          </p:cNvSpPr>
          <p:nvPr>
            <p:ph idx="1"/>
          </p:nvPr>
        </p:nvSpPr>
        <p:spPr>
          <a:xfrm>
            <a:off x="900113" y="1268413"/>
            <a:ext cx="8064375" cy="4525962"/>
          </a:xfrm>
        </p:spPr>
        <p:txBody>
          <a:bodyPr/>
          <a:lstStyle/>
          <a:p>
            <a:pPr marL="179705" indent="-179705" algn="just"/>
            <a:r>
              <a:rPr lang="en-US" altLang="zh-CN" sz="2400" dirty="0" err="1" smtClean="0"/>
              <a:t>Dijkstra</a:t>
            </a:r>
            <a:r>
              <a:rPr lang="zh-CN" altLang="en-US" sz="2400" dirty="0" smtClean="0"/>
              <a:t>算法</a:t>
            </a:r>
            <a:r>
              <a:rPr lang="zh-CN" altLang="en-US" sz="2400" b="1" dirty="0" smtClean="0"/>
              <a:t>步骤</a:t>
            </a:r>
            <a:r>
              <a:rPr lang="zh-CN" altLang="en-US" sz="2400" dirty="0" smtClean="0"/>
              <a:t>：</a:t>
            </a:r>
            <a:endParaRPr lang="zh-CN" altLang="en-US" sz="2400" dirty="0" smtClean="0"/>
          </a:p>
          <a:p>
            <a:pPr marL="179705" indent="-179705">
              <a:buFontTx/>
              <a:buNone/>
            </a:pPr>
            <a:r>
              <a:rPr lang="en-US" altLang="zh-CN" sz="2400" dirty="0" smtClean="0"/>
              <a:t>	</a:t>
            </a:r>
            <a:r>
              <a:rPr lang="zh-CN" altLang="en-US" sz="2400" dirty="0" smtClean="0"/>
              <a:t>（</a:t>
            </a:r>
            <a:r>
              <a:rPr lang="en-US" altLang="zh-CN" sz="2400" dirty="0" smtClean="0"/>
              <a:t>1</a:t>
            </a:r>
            <a:r>
              <a:rPr lang="zh-CN" altLang="en-US" sz="2400" dirty="0" smtClean="0"/>
              <a:t>）初始时，</a:t>
            </a:r>
            <a:r>
              <a:rPr lang="en-US" altLang="zh-CN" sz="2400" dirty="0" smtClean="0"/>
              <a:t>S</a:t>
            </a:r>
            <a:r>
              <a:rPr lang="zh-CN" altLang="en-US" sz="2400" dirty="0" smtClean="0"/>
              <a:t>只包含源点，即</a:t>
            </a:r>
            <a:r>
              <a:rPr lang="en-US" altLang="zh-CN" sz="2400" dirty="0" smtClean="0"/>
              <a:t>S</a:t>
            </a:r>
            <a:r>
              <a:rPr lang="zh-CN" altLang="en-US" sz="2400" dirty="0" smtClean="0"/>
              <a:t>＝</a:t>
            </a:r>
            <a:r>
              <a:rPr lang="en-US" altLang="zh-CN" sz="2400" dirty="0" smtClean="0"/>
              <a:t>v</a:t>
            </a:r>
            <a:r>
              <a:rPr lang="zh-CN" altLang="en-US" sz="2400" dirty="0" smtClean="0"/>
              <a:t>的距离为</a:t>
            </a:r>
            <a:r>
              <a:rPr lang="en-US" altLang="zh-CN" sz="2400" dirty="0" smtClean="0"/>
              <a:t>0</a:t>
            </a:r>
            <a:r>
              <a:rPr lang="zh-CN" altLang="en-US" sz="2400" dirty="0" smtClean="0"/>
              <a:t>。</a:t>
            </a:r>
            <a:r>
              <a:rPr lang="en-US" altLang="zh-CN" sz="2400" dirty="0" smtClean="0"/>
              <a:t>U</a:t>
            </a:r>
            <a:r>
              <a:rPr lang="zh-CN" altLang="en-US" sz="2400" dirty="0" smtClean="0"/>
              <a:t>包含除</a:t>
            </a:r>
            <a:r>
              <a:rPr lang="en-US" altLang="zh-CN" sz="2400" dirty="0" smtClean="0"/>
              <a:t>v</a:t>
            </a:r>
            <a:r>
              <a:rPr lang="zh-CN" altLang="en-US" sz="2400" dirty="0" smtClean="0"/>
              <a:t>外的其他顶点，</a:t>
            </a:r>
            <a:r>
              <a:rPr lang="en-US" altLang="zh-CN" sz="2400" dirty="0" smtClean="0"/>
              <a:t>v</a:t>
            </a:r>
            <a:r>
              <a:rPr lang="zh-CN" altLang="en-US" sz="2400" dirty="0" smtClean="0"/>
              <a:t>到</a:t>
            </a:r>
            <a:r>
              <a:rPr lang="en-US" altLang="zh-CN" sz="2400" dirty="0" smtClean="0"/>
              <a:t>U</a:t>
            </a:r>
            <a:r>
              <a:rPr lang="zh-CN" altLang="en-US" sz="2400" dirty="0" smtClean="0"/>
              <a:t>中顶点</a:t>
            </a:r>
            <a:r>
              <a:rPr lang="en-US" altLang="zh-CN" sz="2400" dirty="0" smtClean="0"/>
              <a:t>u</a:t>
            </a:r>
            <a:r>
              <a:rPr lang="zh-CN" altLang="en-US" sz="2400" dirty="0" smtClean="0"/>
              <a:t>的距离为</a:t>
            </a:r>
            <a:r>
              <a:rPr lang="en-US" altLang="zh-CN" sz="2400" dirty="0" smtClean="0"/>
              <a:t>v</a:t>
            </a:r>
            <a:r>
              <a:rPr lang="zh-CN" altLang="en-US" sz="2400" dirty="0" smtClean="0"/>
              <a:t>到</a:t>
            </a:r>
            <a:r>
              <a:rPr lang="en-US" altLang="zh-CN" sz="2400" dirty="0" smtClean="0"/>
              <a:t>u</a:t>
            </a:r>
            <a:r>
              <a:rPr lang="zh-CN" altLang="en-US" sz="2400" dirty="0" smtClean="0"/>
              <a:t>边上的权。</a:t>
            </a:r>
            <a:endParaRPr lang="zh-CN" altLang="en-US" sz="2400" dirty="0" smtClean="0"/>
          </a:p>
          <a:p>
            <a:pPr marL="179705" indent="-179705">
              <a:buFontTx/>
              <a:buNone/>
            </a:pPr>
            <a:r>
              <a:rPr lang="en-US" altLang="zh-CN" sz="2400" dirty="0" smtClean="0"/>
              <a:t>	</a:t>
            </a:r>
            <a:r>
              <a:rPr lang="zh-CN" altLang="en-US" sz="2400" dirty="0" smtClean="0"/>
              <a:t>（</a:t>
            </a:r>
            <a:r>
              <a:rPr lang="en-US" altLang="zh-CN" sz="2400" dirty="0" smtClean="0"/>
              <a:t>2</a:t>
            </a:r>
            <a:r>
              <a:rPr lang="zh-CN" altLang="en-US" sz="2400" dirty="0" smtClean="0"/>
              <a:t>）从</a:t>
            </a:r>
            <a:r>
              <a:rPr lang="en-US" altLang="zh-CN" sz="2400" dirty="0" smtClean="0"/>
              <a:t>U</a:t>
            </a:r>
            <a:r>
              <a:rPr lang="zh-CN" altLang="en-US" sz="2400" dirty="0" smtClean="0"/>
              <a:t>中选取一个距离</a:t>
            </a:r>
            <a:r>
              <a:rPr lang="en-US" altLang="zh-CN" sz="2400" dirty="0" smtClean="0"/>
              <a:t>v</a:t>
            </a:r>
            <a:r>
              <a:rPr lang="zh-CN" altLang="en-US" sz="2400" dirty="0" smtClean="0"/>
              <a:t>最小的顶点</a:t>
            </a:r>
            <a:r>
              <a:rPr lang="en-US" altLang="zh-CN" sz="2400" dirty="0" smtClean="0"/>
              <a:t>k</a:t>
            </a:r>
            <a:r>
              <a:rPr lang="zh-CN" altLang="en-US" sz="2400" dirty="0" smtClean="0"/>
              <a:t>，把</a:t>
            </a:r>
            <a:r>
              <a:rPr lang="en-US" altLang="zh-CN" sz="2400" dirty="0" smtClean="0"/>
              <a:t>k</a:t>
            </a:r>
            <a:r>
              <a:rPr lang="zh-CN" altLang="en-US" sz="2400" dirty="0" smtClean="0"/>
              <a:t>加入</a:t>
            </a:r>
            <a:r>
              <a:rPr lang="en-US" altLang="zh-CN" sz="2400" dirty="0" smtClean="0"/>
              <a:t>S</a:t>
            </a:r>
            <a:r>
              <a:rPr lang="zh-CN" altLang="en-US" sz="2400" dirty="0" smtClean="0"/>
              <a:t>中（该选定的距离就是</a:t>
            </a:r>
            <a:r>
              <a:rPr lang="en-US" altLang="zh-CN" sz="2400" dirty="0" smtClean="0"/>
              <a:t>v</a:t>
            </a:r>
            <a:r>
              <a:rPr lang="zh-CN" altLang="en-US" sz="2400" dirty="0" smtClean="0"/>
              <a:t>到</a:t>
            </a:r>
            <a:r>
              <a:rPr lang="en-US" altLang="zh-CN" sz="2400" dirty="0" smtClean="0"/>
              <a:t>k</a:t>
            </a:r>
            <a:r>
              <a:rPr lang="zh-CN" altLang="en-US" sz="2400" dirty="0" smtClean="0"/>
              <a:t>的最短路径长度）。</a:t>
            </a:r>
            <a:endParaRPr lang="zh-CN" altLang="en-US" sz="2400" dirty="0" smtClean="0"/>
          </a:p>
          <a:p>
            <a:pPr marL="179705" indent="-179705">
              <a:buFontTx/>
              <a:buNone/>
            </a:pPr>
            <a:r>
              <a:rPr lang="en-US" altLang="zh-CN" sz="2400" dirty="0" smtClean="0"/>
              <a:t>	</a:t>
            </a:r>
            <a:r>
              <a:rPr lang="zh-CN" altLang="en-US" sz="2400" dirty="0" smtClean="0"/>
              <a:t>（</a:t>
            </a:r>
            <a:r>
              <a:rPr lang="en-US" altLang="zh-CN" sz="2400" dirty="0" smtClean="0"/>
              <a:t>3</a:t>
            </a:r>
            <a:r>
              <a:rPr lang="zh-CN" altLang="en-US" sz="2400" dirty="0" smtClean="0"/>
              <a:t>）以</a:t>
            </a:r>
            <a:r>
              <a:rPr lang="en-US" altLang="zh-CN" sz="2400" dirty="0" smtClean="0"/>
              <a:t>k</a:t>
            </a:r>
            <a:r>
              <a:rPr lang="zh-CN" altLang="en-US" sz="2400" dirty="0" smtClean="0"/>
              <a:t>为新考虑的中间点，修改</a:t>
            </a:r>
            <a:r>
              <a:rPr lang="en-US" altLang="zh-CN" sz="2400" dirty="0" smtClean="0"/>
              <a:t>U</a:t>
            </a:r>
            <a:r>
              <a:rPr lang="zh-CN" altLang="en-US" sz="2400" dirty="0" smtClean="0"/>
              <a:t>中各顶点的距离；若从源点</a:t>
            </a:r>
            <a:r>
              <a:rPr lang="en-US" altLang="zh-CN" sz="2400" dirty="0" smtClean="0"/>
              <a:t>v</a:t>
            </a:r>
            <a:r>
              <a:rPr lang="zh-CN" altLang="en-US" sz="2400" dirty="0" smtClean="0"/>
              <a:t>到顶点</a:t>
            </a:r>
            <a:r>
              <a:rPr lang="en-US" altLang="zh-CN" sz="2400" dirty="0" smtClean="0"/>
              <a:t>u</a:t>
            </a:r>
            <a:r>
              <a:rPr lang="zh-CN" altLang="en-US" sz="2400" dirty="0" smtClean="0"/>
              <a:t>（</a:t>
            </a:r>
            <a:r>
              <a:rPr lang="en-US" altLang="zh-CN" sz="2400" dirty="0" smtClean="0"/>
              <a:t>u ∈ U</a:t>
            </a:r>
            <a:r>
              <a:rPr lang="zh-CN" altLang="en-US" sz="2400" dirty="0" smtClean="0"/>
              <a:t>）的距离（经过顶点</a:t>
            </a:r>
            <a:r>
              <a:rPr lang="en-US" altLang="zh-CN" sz="2400" dirty="0" smtClean="0"/>
              <a:t>k</a:t>
            </a:r>
            <a:r>
              <a:rPr lang="zh-CN" altLang="en-US" sz="2400" dirty="0" smtClean="0"/>
              <a:t>）比原来距离（不经过顶点</a:t>
            </a:r>
            <a:r>
              <a:rPr lang="en-US" altLang="zh-CN" sz="2400" dirty="0" smtClean="0"/>
              <a:t>k</a:t>
            </a:r>
            <a:r>
              <a:rPr lang="zh-CN" altLang="en-US" sz="2400" dirty="0" smtClean="0"/>
              <a:t>）短，则修改顶点</a:t>
            </a:r>
            <a:r>
              <a:rPr lang="en-US" altLang="zh-CN" sz="2400" dirty="0" smtClean="0"/>
              <a:t>u</a:t>
            </a:r>
            <a:r>
              <a:rPr lang="zh-CN" altLang="en-US" sz="2400" dirty="0" smtClean="0"/>
              <a:t>的距离值。</a:t>
            </a:r>
            <a:endParaRPr lang="zh-CN" altLang="en-US" sz="2400" dirty="0" smtClean="0"/>
          </a:p>
          <a:p>
            <a:pPr marL="179705" indent="-179705">
              <a:buFontTx/>
              <a:buNone/>
            </a:pPr>
            <a:r>
              <a:rPr lang="en-US" altLang="zh-CN" sz="2400" dirty="0" smtClean="0"/>
              <a:t>	</a:t>
            </a:r>
            <a:r>
              <a:rPr lang="zh-CN" altLang="en-US" sz="2400" dirty="0" smtClean="0"/>
              <a:t>（</a:t>
            </a:r>
            <a:r>
              <a:rPr lang="en-US" altLang="zh-CN" sz="2400" dirty="0" smtClean="0"/>
              <a:t>4</a:t>
            </a:r>
            <a:r>
              <a:rPr lang="zh-CN" altLang="en-US" sz="2400" dirty="0" smtClean="0"/>
              <a:t>）重复步骤（</a:t>
            </a:r>
            <a:r>
              <a:rPr lang="en-US" altLang="zh-CN" sz="2400" dirty="0" smtClean="0"/>
              <a:t>2</a:t>
            </a:r>
            <a:r>
              <a:rPr lang="zh-CN" altLang="en-US" sz="2400" dirty="0" smtClean="0"/>
              <a:t>）和（</a:t>
            </a:r>
            <a:r>
              <a:rPr lang="en-US" altLang="zh-CN" sz="2400" dirty="0" smtClean="0"/>
              <a:t>3</a:t>
            </a:r>
            <a:r>
              <a:rPr lang="zh-CN" altLang="en-US" sz="2400" dirty="0" smtClean="0"/>
              <a:t>）直到所有顶点都包含在</a:t>
            </a:r>
            <a:r>
              <a:rPr lang="en-US" altLang="zh-CN" sz="2400" dirty="0" smtClean="0"/>
              <a:t>S</a:t>
            </a:r>
            <a:r>
              <a:rPr lang="zh-CN" altLang="en-US" sz="2400" dirty="0" smtClean="0"/>
              <a:t>中。</a:t>
            </a:r>
            <a:endParaRPr lang="zh-CN" altLang="en-US" sz="2400" dirty="0" smtClean="0"/>
          </a:p>
          <a:p>
            <a:endParaRPr lang="zh-CN" altLang="en-US" sz="2400" dirty="0"/>
          </a:p>
        </p:txBody>
      </p:sp>
      <p:sp>
        <p:nvSpPr>
          <p:cNvPr id="4" name="页脚占位符 3"/>
          <p:cNvSpPr>
            <a:spLocks noGrp="1"/>
          </p:cNvSpPr>
          <p:nvPr>
            <p:ph type="ftr" sz="quarter" idx="10"/>
          </p:nvPr>
        </p:nvSpPr>
        <p:spPr/>
        <p:txBody>
          <a:bodyPr/>
          <a:lstStyle/>
          <a:p>
            <a:pPr>
              <a:defRPr/>
            </a:pPr>
            <a:r>
              <a:rPr lang="en-US" altLang="zh-CN" smtClean="0"/>
              <a:t>Algorithms Design Techniques and Analysis</a:t>
            </a:r>
            <a:endParaRPr lang="en-US" altLang="zh-CN"/>
          </a:p>
        </p:txBody>
      </p:sp>
    </p:spTree>
  </p:cSld>
  <p:clrMapOvr>
    <a:masterClrMapping/>
  </p:clrMapOvr>
  <p:timing>
    <p:tnLst>
      <p:par>
        <p:cTn id="1" dur="indefinite" restart="never" nodeType="tmRoot"/>
      </p:par>
    </p:tnLst>
  </p:timing>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2"/>
          <p:cNvSpPr>
            <a:spLocks noGrp="1" noChangeArrowheads="1"/>
          </p:cNvSpPr>
          <p:nvPr>
            <p:ph type="body" idx="1"/>
          </p:nvPr>
        </p:nvSpPr>
        <p:spPr>
          <a:xfrm>
            <a:off x="642938" y="428625"/>
            <a:ext cx="8501062" cy="6429375"/>
          </a:xfrm>
        </p:spPr>
        <p:txBody>
          <a:bodyPr/>
          <a:lstStyle/>
          <a:p>
            <a:pPr algn="just">
              <a:buFontTx/>
              <a:buNone/>
            </a:pPr>
            <a:r>
              <a:rPr lang="en-US" altLang="zh-CN" sz="2400" smtClean="0"/>
              <a:t> </a:t>
            </a:r>
            <a:endParaRPr lang="en-US" altLang="zh-CN" sz="2400" smtClean="0"/>
          </a:p>
        </p:txBody>
      </p:sp>
      <p:pic>
        <p:nvPicPr>
          <p:cNvPr id="94211" name="Picture 4"/>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928938" y="0"/>
            <a:ext cx="3219450" cy="1905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4212"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4313" y="1960563"/>
            <a:ext cx="8929687" cy="4540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2"/>
          <p:cNvSpPr>
            <a:spLocks noGrp="1" noChangeArrowheads="1"/>
          </p:cNvSpPr>
          <p:nvPr>
            <p:ph type="body" idx="1"/>
          </p:nvPr>
        </p:nvSpPr>
        <p:spPr>
          <a:xfrm>
            <a:off x="642938" y="428625"/>
            <a:ext cx="8501062" cy="6429375"/>
          </a:xfrm>
        </p:spPr>
        <p:txBody>
          <a:bodyPr/>
          <a:lstStyle/>
          <a:p>
            <a:pPr algn="just">
              <a:buFontTx/>
              <a:buNone/>
            </a:pPr>
            <a:r>
              <a:rPr lang="en-US" altLang="zh-CN" sz="2400" smtClean="0"/>
              <a:t> </a:t>
            </a:r>
            <a:endParaRPr lang="en-US" altLang="zh-CN" sz="2400" smtClean="0"/>
          </a:p>
        </p:txBody>
      </p:sp>
      <p:pic>
        <p:nvPicPr>
          <p:cNvPr id="95235"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071813" y="0"/>
            <a:ext cx="3219450" cy="1905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5236"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0" y="2000250"/>
            <a:ext cx="9053513" cy="3786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theme/theme1.xml><?xml version="1.0" encoding="utf-8"?>
<a:theme xmlns:a="http://schemas.openxmlformats.org/drawingml/2006/main" name="2_template">
  <a:themeElements>
    <a:clrScheme name="1_template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template">
      <a:majorFont>
        <a:latin typeface="Garamond"/>
        <a:ea typeface="宋体"/>
        <a:cs typeface=""/>
      </a:majorFont>
      <a:minorFont>
        <a:latin typeface="Times New Roman"/>
        <a:ea typeface="华文楷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7938"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altLang="en-US" sz="1800" b="0" i="0" u="none" strike="noStrike" cap="none" normalizeH="0" baseline="0" smtClean="0">
            <a:ln>
              <a:noFill/>
            </a:ln>
            <a:solidFill>
              <a:schemeClr val="tx1"/>
            </a:solidFill>
            <a:effectLst/>
            <a:latin typeface="Arial" panose="020B0604020202090204" pitchFamily="34" charset="0"/>
            <a:ea typeface="宋体" pitchFamily="2" charset="-122"/>
          </a:defRPr>
        </a:defPPr>
      </a:lstStyle>
    </a:spDef>
    <a:lnDef>
      <a:spPr bwMode="auto">
        <a:xfrm>
          <a:off x="0" y="0"/>
          <a:ext cx="1" cy="1"/>
        </a:xfrm>
        <a:custGeom>
          <a:avLst/>
          <a:gdLst/>
          <a:ahLst/>
          <a:cxnLst/>
          <a:rect l="0" t="0" r="0" b="0"/>
          <a:pathLst/>
        </a:custGeom>
        <a:solidFill>
          <a:schemeClr val="accent1"/>
        </a:solidFill>
        <a:ln w="7938"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altLang="en-US" sz="1800" b="0" i="0" u="none" strike="noStrike" cap="none" normalizeH="0" baseline="0" smtClean="0">
            <a:ln>
              <a:noFill/>
            </a:ln>
            <a:solidFill>
              <a:schemeClr val="tx1"/>
            </a:solidFill>
            <a:effectLst/>
            <a:latin typeface="Arial" panose="020B0604020202090204" pitchFamily="34" charset="0"/>
            <a:ea typeface="宋体" pitchFamily="2" charset="-122"/>
          </a:defRPr>
        </a:defPPr>
      </a:lstStyle>
    </a:lnDef>
  </a:objectDefaults>
  <a:extraClrSchemeLst>
    <a:extraClrScheme>
      <a:clrScheme name="1_template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template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template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template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template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template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template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template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template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template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template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template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43012</Words>
  <Application>WPS 演示</Application>
  <PresentationFormat>全屏显示(4:3)</PresentationFormat>
  <Paragraphs>2827</Paragraphs>
  <Slides>213</Slides>
  <Notes>147</Notes>
  <HiddenSlides>0</HiddenSlides>
  <MMClips>0</MMClips>
  <ScaleCrop>false</ScaleCrop>
  <HeadingPairs>
    <vt:vector size="8" baseType="variant">
      <vt:variant>
        <vt:lpstr>已用的字体</vt:lpstr>
      </vt:variant>
      <vt:variant>
        <vt:i4>37</vt:i4>
      </vt:variant>
      <vt:variant>
        <vt:lpstr>主题</vt:lpstr>
      </vt:variant>
      <vt:variant>
        <vt:i4>1</vt:i4>
      </vt:variant>
      <vt:variant>
        <vt:lpstr>嵌入 OLE 服务器</vt:lpstr>
      </vt:variant>
      <vt:variant>
        <vt:i4>82</vt:i4>
      </vt:variant>
      <vt:variant>
        <vt:lpstr>幻灯片标题</vt:lpstr>
      </vt:variant>
      <vt:variant>
        <vt:i4>213</vt:i4>
      </vt:variant>
    </vt:vector>
  </HeadingPairs>
  <TitlesOfParts>
    <vt:vector size="333" baseType="lpstr">
      <vt:lpstr>Arial</vt:lpstr>
      <vt:lpstr>宋体</vt:lpstr>
      <vt:lpstr>Wingdings</vt:lpstr>
      <vt:lpstr>汉仪书宋二KW</vt:lpstr>
      <vt:lpstr>Garamond</vt:lpstr>
      <vt:lpstr>苹方-简</vt:lpstr>
      <vt:lpstr>华文行楷</vt:lpstr>
      <vt:lpstr>行楷-简</vt:lpstr>
      <vt:lpstr>Times New Roman</vt:lpstr>
      <vt:lpstr>华文楷体</vt:lpstr>
      <vt:lpstr>黑体</vt:lpstr>
      <vt:lpstr>楷体</vt:lpstr>
      <vt:lpstr>汉仪中黑KW</vt:lpstr>
      <vt:lpstr>微软雅黑</vt:lpstr>
      <vt:lpstr>汉仪旗黑</vt:lpstr>
      <vt:lpstr>宋体</vt:lpstr>
      <vt:lpstr>Arial Unicode MS</vt:lpstr>
      <vt:lpstr>等线</vt:lpstr>
      <vt:lpstr>汉仪中等线KW</vt:lpstr>
      <vt:lpstr>楷体_GB2312</vt:lpstr>
      <vt:lpstr>汉仪楷体简</vt:lpstr>
      <vt:lpstr>Times New Roman Bold</vt:lpstr>
      <vt:lpstr>Symbol</vt:lpstr>
      <vt:lpstr>Kingsoft Sign</vt:lpstr>
      <vt:lpstr>DejaVu Math TeX Gyre</vt:lpstr>
      <vt:lpstr>SymbolMT</vt:lpstr>
      <vt:lpstr>Garamond</vt:lpstr>
      <vt:lpstr>Thonburi</vt:lpstr>
      <vt:lpstr>宋体</vt:lpstr>
      <vt:lpstr>Times New Roman</vt:lpstr>
      <vt:lpstr>Monotype Sorts</vt:lpstr>
      <vt:lpstr>仿宋_GB2312</vt:lpstr>
      <vt:lpstr>方正仿宋_GBK</vt:lpstr>
      <vt:lpstr>隶书</vt:lpstr>
      <vt:lpstr>报隶-简</vt:lpstr>
      <vt:lpstr>Tahoma</vt:lpstr>
      <vt:lpstr>汉仪楷体KW</vt:lpstr>
      <vt:lpstr>2_template</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Equation.3</vt:lpstr>
      <vt:lpstr>Word.Document.8</vt:lpstr>
      <vt:lpstr>Equation.3</vt:lpstr>
      <vt:lpstr>Visio.Drawing.11</vt:lpstr>
      <vt:lpstr>Visio.Drawing.11</vt:lpstr>
      <vt:lpstr>Visio.Drawing.11</vt:lpstr>
      <vt:lpstr>Visio.Drawing.11</vt:lpstr>
      <vt:lpstr>Visio.Drawing.11</vt:lpstr>
      <vt:lpstr>Visio.Drawing.11</vt:lpstr>
      <vt:lpstr>Visio.Drawing.11</vt:lpstr>
      <vt:lpstr>Visio.Drawing.11</vt:lpstr>
      <vt:lpstr>Word.Picture.8</vt:lpstr>
      <vt:lpstr>Word.Picture.8</vt:lpstr>
      <vt:lpstr>Equation.3</vt:lpstr>
      <vt:lpstr>Word.Picture.8</vt:lpstr>
      <vt:lpstr>Word.Picture.8</vt:lpstr>
      <vt:lpstr>Word.Picture.8</vt:lpstr>
      <vt:lpstr>Equation.3</vt:lpstr>
      <vt:lpstr>Word.Picture.8</vt:lpstr>
      <vt:lpstr>Word.Picture.8</vt:lpstr>
      <vt:lpstr>Word.Picture.8</vt:lpstr>
      <vt:lpstr>Word.Picture.8</vt:lpstr>
      <vt:lpstr>Word.Picture.8</vt:lpstr>
      <vt:lpstr>Word.Picture.8</vt:lpstr>
      <vt:lpstr>Equation.3</vt:lpstr>
      <vt:lpstr>Word.Picture.8</vt:lpstr>
      <vt:lpstr>Word.Picture.8</vt:lpstr>
      <vt:lpstr>PBrush</vt:lpstr>
      <vt:lpstr>Word.Document.8</vt:lpstr>
      <vt:lpstr>PBrush</vt:lpstr>
      <vt:lpstr>PBrush</vt:lpstr>
      <vt:lpstr>PBrush</vt:lpstr>
      <vt:lpstr>Equation.3</vt:lpstr>
      <vt:lpstr>Equation.3</vt:lpstr>
      <vt:lpstr>PBrush</vt:lpstr>
      <vt:lpstr>Equation.3</vt:lpstr>
      <vt:lpstr>PBrush</vt:lpstr>
      <vt:lpstr>Equation.3</vt:lpstr>
      <vt:lpstr>Equation.3</vt:lpstr>
      <vt:lpstr>Equation.3</vt:lpstr>
      <vt:lpstr>算法设计与分析</vt:lpstr>
      <vt:lpstr>第一章</vt:lpstr>
      <vt:lpstr>主要内容</vt:lpstr>
      <vt:lpstr>主要内容</vt:lpstr>
      <vt:lpstr>1.1.1 算法的一般描述</vt:lpstr>
      <vt:lpstr>1.1.1 算法的一般描述</vt:lpstr>
      <vt:lpstr>1.1.2 算法的基本特性</vt:lpstr>
      <vt:lpstr>1.1.3 算法与计算机程序的关系</vt:lpstr>
      <vt:lpstr>1.1.4 算法与过程的关系</vt:lpstr>
      <vt:lpstr>1.1.5 为什么要进行算法设计</vt:lpstr>
      <vt:lpstr>1.1.6 算法与数据结构的关系</vt:lpstr>
      <vt:lpstr>主要内容</vt:lpstr>
      <vt:lpstr>主要内容</vt:lpstr>
      <vt:lpstr>1.2.1 算法分析的目的</vt:lpstr>
      <vt:lpstr>1.2.2 算法分析的基本方法</vt:lpstr>
      <vt:lpstr>1.2.3 时间复杂度</vt:lpstr>
      <vt:lpstr>1.2.3 时间复杂度——基本操作</vt:lpstr>
      <vt:lpstr>1.2.3 时间复杂度——频度</vt:lpstr>
      <vt:lpstr>1.2.3 时间复杂度——构成</vt:lpstr>
      <vt:lpstr>1.2.3 时间复杂度——构成</vt:lpstr>
      <vt:lpstr>1.2.3 时间复杂度——构成</vt:lpstr>
      <vt:lpstr>1.2.3 时间复杂度——例1：寻找最大元素</vt:lpstr>
      <vt:lpstr>1.2.3 时间复杂度——例1：寻找最大元素</vt:lpstr>
      <vt:lpstr>1.2.3 时间复杂度—— 	例2：计算 a[0:n-1]中元素的排名 </vt:lpstr>
      <vt:lpstr>1.2.3 时间复杂度—— 	例2：计算 a[0:n-1] 中元素的排名 </vt:lpstr>
      <vt:lpstr>1.2.3 时间复杂度—— 	例3：对数组 a[0:n-1] 进行选择排序</vt:lpstr>
      <vt:lpstr>1.2.3 时间复杂度—— 	例3：对数组 a[0:n-1] 进行选择排序</vt:lpstr>
      <vt:lpstr>1.2.3 时间复杂度—— 	最好、最坏、平均情况分析</vt:lpstr>
      <vt:lpstr>1.2.3 时间复杂度—— 	最好、最坏、平均情况分析</vt:lpstr>
      <vt:lpstr>1.2.3 时间复杂度—— 	例4：顺序查找算法</vt:lpstr>
      <vt:lpstr>1.2.3 时间复杂度—— 	例4：顺序查找算法</vt:lpstr>
      <vt:lpstr>1.2.3 时间复杂度——渐进表示</vt:lpstr>
      <vt:lpstr>渐进表示——大 O-记号（渐近上界记号）</vt:lpstr>
      <vt:lpstr>渐进表示——大 O-记号（渐近上界记号）</vt:lpstr>
      <vt:lpstr>渐进表示——大 O-记号（渐近上界记号）</vt:lpstr>
      <vt:lpstr>渐进表示——大 O-记号（渐近上界记号）</vt:lpstr>
      <vt:lpstr>渐进表示—— -记号（渐近下界记号）</vt:lpstr>
      <vt:lpstr>渐进表示—— -记号（紧渐近界记号）</vt:lpstr>
      <vt:lpstr>渐进表示—— -记号（紧渐近界记号）</vt:lpstr>
      <vt:lpstr>PowerPoint 演示文稿</vt:lpstr>
      <vt:lpstr>渐进表示—— -记号（例：折半查找）</vt:lpstr>
      <vt:lpstr>渐进表示—— -记号（例：折半查找）</vt:lpstr>
      <vt:lpstr>渐进表示——小o-记号（非紧上界记号）</vt:lpstr>
      <vt:lpstr>渐进表示——小 -记号（非紧下界记号）</vt:lpstr>
      <vt:lpstr>渐近记号在等式和不等式中的意义</vt:lpstr>
      <vt:lpstr>渐近记号的若干性质</vt:lpstr>
      <vt:lpstr>渐近记号的若干性质</vt:lpstr>
      <vt:lpstr>渐近记号的若干性质</vt:lpstr>
      <vt:lpstr>常用阶的比较</vt:lpstr>
      <vt:lpstr>1.2.4 空间复杂度</vt:lpstr>
      <vt:lpstr>1.2.4 空间复杂度</vt:lpstr>
      <vt:lpstr>1.2.4 空间复杂度——程序所需要的空间</vt:lpstr>
      <vt:lpstr>1.2.4 空间复杂度——程序所需要的空间</vt:lpstr>
      <vt:lpstr>1.2.4 空间复杂度——程序所需要的空间</vt:lpstr>
      <vt:lpstr>1.2.4 空间复杂度——程序所需要的空间</vt:lpstr>
      <vt:lpstr>1.2.4 空间复杂度——字节数</vt:lpstr>
      <vt:lpstr>1.2.4 空间复杂度——程序所需要的空间</vt:lpstr>
      <vt:lpstr>1.2.4 空间复杂度——例1  利用应用参数</vt:lpstr>
      <vt:lpstr>1.2.4 空间复杂度——例2   顺序查找</vt:lpstr>
      <vt:lpstr>1.2.4 空间复杂度——例2   顺序查找</vt:lpstr>
      <vt:lpstr>1.2.5 最优算法</vt:lpstr>
      <vt:lpstr>1.2.6 算法正确性证明方法</vt:lpstr>
      <vt:lpstr>1.2.6 算法正确性证明——反证法</vt:lpstr>
      <vt:lpstr>1.2.6 算法正确性证明——反证法</vt:lpstr>
      <vt:lpstr>1.2.6 算法正确性证明——数学归纳法</vt:lpstr>
      <vt:lpstr>1.2.6 算法正确性证明——数学归纳法</vt:lpstr>
      <vt:lpstr>主要内容</vt:lpstr>
      <vt:lpstr>主要内容</vt:lpstr>
      <vt:lpstr>1.3.1 集合、关系、函数</vt:lpstr>
      <vt:lpstr>1.3.1 集合、关系、函数</vt:lpstr>
      <vt:lpstr>1.3.1 集合、关系、函数</vt:lpstr>
      <vt:lpstr>1.3.1 集合、关系、函数</vt:lpstr>
      <vt:lpstr>1.3.1 集合、关系、函数</vt:lpstr>
      <vt:lpstr>1.3.1 集合、关系、函数</vt:lpstr>
      <vt:lpstr>1.3.1 集合、关系、函数</vt:lpstr>
      <vt:lpstr>1.3.1 集合、关系、函数</vt:lpstr>
      <vt:lpstr>1.3.1 集合、关系、函数</vt:lpstr>
      <vt:lpstr>1.3.1 集合、关系、函数</vt:lpstr>
      <vt:lpstr>1.3.1 集合、关系、函数</vt:lpstr>
      <vt:lpstr>1.3.1 集合、关系、函数</vt:lpstr>
      <vt:lpstr>1.3.1 集合、关系、函数</vt:lpstr>
      <vt:lpstr>1.3.1 集合、关系、函数</vt:lpstr>
      <vt:lpstr>1.3.1 集合、关系、函数</vt:lpstr>
      <vt:lpstr>1.3.1 集合、关系、函数</vt:lpstr>
      <vt:lpstr>1.3.1 集合、关系、函数</vt:lpstr>
      <vt:lpstr>1.3.2 证明方法</vt:lpstr>
      <vt:lpstr>1.3.2 证明方法——直接证明</vt:lpstr>
      <vt:lpstr>1.3.2 证明方法——间接证明</vt:lpstr>
      <vt:lpstr>1.3.2 证明方法——间接证明</vt:lpstr>
      <vt:lpstr>1.3.2 证明方法——间接证明</vt:lpstr>
      <vt:lpstr>1.3.2 证明方法——间接证明</vt:lpstr>
      <vt:lpstr>1.3.2 证明方法——间接证明</vt:lpstr>
      <vt:lpstr>1.3.2 证明方法——数学归纳法</vt:lpstr>
      <vt:lpstr>1.3.2 证明方法——数学归纳法</vt:lpstr>
      <vt:lpstr>1.3.3 对数</vt:lpstr>
      <vt:lpstr>1.3.4 底函数、顶函数</vt:lpstr>
      <vt:lpstr>1.3.5 阶乘和二项式系数</vt:lpstr>
      <vt:lpstr>1.3.5 阶乘和二项式系数</vt:lpstr>
      <vt:lpstr>1.3.5 阶乘和二项式系数</vt:lpstr>
      <vt:lpstr>1.3.5 阶乘和二项式系数</vt:lpstr>
      <vt:lpstr>1.3.6 鸽巢原理</vt:lpstr>
      <vt:lpstr>1.3.6 鸽巢原理</vt:lpstr>
      <vt:lpstr>1.3.6 鸽巢原理</vt:lpstr>
      <vt:lpstr>1.3.7 和式</vt:lpstr>
      <vt:lpstr>1.3.7 和式</vt:lpstr>
      <vt:lpstr>1.3.8 递推关系</vt:lpstr>
      <vt:lpstr>1.3.8 递推关系</vt:lpstr>
      <vt:lpstr>1.3.8 递推关系</vt:lpstr>
      <vt:lpstr>1.3.8 递推关系——线性齐次递推式的求解</vt:lpstr>
      <vt:lpstr>1.3.8 递推关系——线性齐次递推式的求解</vt:lpstr>
      <vt:lpstr>1.3.8 递推关系</vt:lpstr>
      <vt:lpstr>1.3.8 递推关系——Fibonacci序列</vt:lpstr>
      <vt:lpstr>1.3.8 递推关系——非齐次递推关系的解</vt:lpstr>
      <vt:lpstr>PowerPoint 演示文稿</vt:lpstr>
      <vt:lpstr>PowerPoint 演示文稿</vt:lpstr>
      <vt:lpstr>1.3.8 递推关系——分治递推关系的解</vt:lpstr>
      <vt:lpstr>1.3.8 递推关系——展开递推式</vt:lpstr>
      <vt:lpstr>1.3.8 递推关系——展开递推式</vt:lpstr>
      <vt:lpstr>1.3.8 递推关系——展开递推式</vt:lpstr>
      <vt:lpstr>1.3.8 递推关系——展开递推式</vt:lpstr>
      <vt:lpstr>1.3.8 递推关系——展开递推式</vt:lpstr>
      <vt:lpstr>1.3.8 递推关系——展开递推式</vt:lpstr>
      <vt:lpstr>1.3.8 递推关系——代入法</vt:lpstr>
      <vt:lpstr>1.3.8 递推关系——代入法</vt:lpstr>
      <vt:lpstr>PowerPoint 演示文稿</vt:lpstr>
      <vt:lpstr>1.3.8 递推关系——代入法</vt:lpstr>
      <vt:lpstr>1.3.8 递推关系——代入法</vt:lpstr>
      <vt:lpstr>1.3.8 递推关系——代入法</vt:lpstr>
      <vt:lpstr>1.3.8 递推关系——更换变元</vt:lpstr>
      <vt:lpstr>1.3.8 递推关系——更换变元</vt:lpstr>
      <vt:lpstr>PowerPoint 演示文稿</vt:lpstr>
      <vt:lpstr>PowerPoint 演示文稿</vt:lpstr>
      <vt:lpstr>主要内容</vt:lpstr>
      <vt:lpstr>本章内容</vt:lpstr>
      <vt:lpstr> 1.4.1 基本概念和术语</vt:lpstr>
      <vt:lpstr> 1.4.1 基本概念和术语</vt:lpstr>
      <vt:lpstr>PowerPoint 演示文稿</vt:lpstr>
      <vt:lpstr>PowerPoint 演示文稿</vt:lpstr>
      <vt:lpstr>PowerPoint 演示文稿</vt:lpstr>
      <vt:lpstr>1.4.3 链表</vt:lpstr>
      <vt:lpstr>PowerPoint 演示文稿</vt:lpstr>
      <vt:lpstr>PowerPoint 演示文稿</vt:lpstr>
      <vt:lpstr>PowerPoint 演示文稿</vt:lpstr>
      <vt:lpstr>PowerPoint 演示文稿</vt:lpstr>
      <vt:lpstr>PowerPoint 演示文稿</vt:lpstr>
      <vt:lpstr>1.4.3 链表</vt:lpstr>
      <vt:lpstr>1.4.3 链表</vt:lpstr>
      <vt:lpstr>1.4.3 链表</vt:lpstr>
      <vt:lpstr>1.4.3 链表</vt:lpstr>
      <vt:lpstr>1.4.3 链表——2个主要操作</vt:lpstr>
      <vt:lpstr>1.4.3 链表——插入</vt:lpstr>
      <vt:lpstr>1.4.3 链表——插入</vt:lpstr>
      <vt:lpstr>1.4.3 链表——删除</vt:lpstr>
      <vt:lpstr>1.4.3 链表——删除</vt:lpstr>
      <vt:lpstr>PowerPoint 演示文稿</vt:lpstr>
      <vt:lpstr>1.4.4 堆栈和队列</vt:lpstr>
      <vt:lpstr>1.4.4 堆栈和队列</vt:lpstr>
      <vt:lpstr>PowerPoint 演示文稿</vt:lpstr>
      <vt:lpstr>1.4.4 堆栈和队列</vt:lpstr>
      <vt:lpstr>1.4.4 堆栈和队列</vt:lpstr>
      <vt:lpstr>1.4.4 堆栈和队列</vt:lpstr>
      <vt:lpstr>1.4.4 堆栈和队列</vt:lpstr>
      <vt:lpstr>1.4.4 堆栈和队列</vt:lpstr>
      <vt:lpstr>1.4.4 堆栈和队列</vt:lpstr>
      <vt:lpstr>1.4.4 堆栈和队列</vt:lpstr>
      <vt:lpstr>1.4.4 堆栈和队列</vt:lpstr>
      <vt:lpstr>1.4.4 堆栈和队列</vt:lpstr>
      <vt:lpstr>1.4.5 图</vt:lpstr>
      <vt:lpstr>1.4.5 图</vt:lpstr>
      <vt:lpstr>1.4.5 图</vt:lpstr>
      <vt:lpstr>1.4.5 图</vt:lpstr>
      <vt:lpstr>1.4.5 图</vt:lpstr>
      <vt:lpstr>1.4.5 图</vt:lpstr>
      <vt:lpstr>1.4.5 图——表示方法</vt:lpstr>
      <vt:lpstr>1.4.5 图——邻接矩阵</vt:lpstr>
      <vt:lpstr> 1.4.5 图——无向图的邻接矩阵</vt:lpstr>
      <vt:lpstr> 1.4.5 图——有向图的邻接矩阵</vt:lpstr>
      <vt:lpstr> 1.4.5 图——邻接矩阵的若干说明</vt:lpstr>
      <vt:lpstr> 1.4.5 图——邻接表</vt:lpstr>
      <vt:lpstr>1.4.5 图——无向图、有向图</vt:lpstr>
      <vt:lpstr>1.4.5 图——无向图的邻接表</vt:lpstr>
      <vt:lpstr>1.4.5 图——有向图的邻接表</vt:lpstr>
      <vt:lpstr>1.4.5 图——邻接表的若干说明</vt:lpstr>
      <vt:lpstr>1.4.5 图——平面图</vt:lpstr>
      <vt:lpstr>1.4.5 图——重要关系</vt:lpstr>
      <vt:lpstr>1.4.6 树、根树、二叉树</vt:lpstr>
      <vt:lpstr>1.4.6 树、根树、二叉树</vt:lpstr>
      <vt:lpstr>1.4.6 树、根树、二叉树</vt:lpstr>
      <vt:lpstr>1.4.6 树、根树、二叉树</vt:lpstr>
      <vt:lpstr>1.4.6 树、根树、二叉树</vt:lpstr>
      <vt:lpstr>1.4.6 树、根树、二叉树</vt:lpstr>
      <vt:lpstr>PowerPoint 演示文稿</vt:lpstr>
      <vt:lpstr>1.4.6 树、根树、二叉树</vt:lpstr>
      <vt:lpstr>1.4.6 树、根树、二叉树</vt:lpstr>
      <vt:lpstr>1.4.6 树、根树、二叉树</vt:lpstr>
      <vt:lpstr>二叉树的顺序存储结构:</vt:lpstr>
      <vt:lpstr>1.4.6 树、根树、二叉树</vt:lpstr>
      <vt:lpstr>1.4.6 树、根树、二叉树</vt:lpstr>
      <vt:lpstr>PowerPoint 演示文稿</vt:lpstr>
      <vt:lpstr>PowerPoint 演示文稿</vt:lpstr>
      <vt:lpstr>PowerPoint 演示文稿</vt:lpstr>
      <vt:lpstr>1.4.7 赫夫曼树及其应用</vt:lpstr>
      <vt:lpstr>PowerPoint 演示文稿</vt:lpstr>
      <vt:lpstr>1.4.7 赫夫曼树及其应用</vt:lpstr>
      <vt:lpstr>PowerPoint 演示文稿</vt:lpstr>
      <vt:lpstr>1.4.7 赫夫曼树及其应用</vt:lpstr>
      <vt:lpstr>1.4.7 赫夫曼树及其应用</vt:lpstr>
      <vt:lpstr>1.4.7 赫夫曼树及其应用</vt:lpstr>
      <vt:lpstr>1.4.8 最短路径</vt:lpstr>
      <vt:lpstr>1.4.8 最短路径</vt:lpstr>
      <vt:lpstr>1.4.8 最短路径</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算法设计与分析</dc:title>
  <dc:creator>空阶</dc:creator>
  <cp:lastModifiedBy>刘斌</cp:lastModifiedBy>
  <cp:revision>157</cp:revision>
  <dcterms:created xsi:type="dcterms:W3CDTF">2025-09-02T07:54:31Z</dcterms:created>
  <dcterms:modified xsi:type="dcterms:W3CDTF">2025-09-02T07:54:31Z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D8FDB04D36209F90DBC7016502AC9332_42</vt:lpwstr>
  </property>
  <property fmtid="{D5CDD505-2E9C-101B-9397-08002B2CF9AE}" pid="3" name="KSOProductBuildVer">
    <vt:lpwstr>2052-6.7.1.8828</vt:lpwstr>
  </property>
</Properties>
</file>